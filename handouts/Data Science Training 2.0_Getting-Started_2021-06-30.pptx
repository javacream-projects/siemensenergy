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48"/>
  </p:notesMasterIdLst>
  <p:handoutMasterIdLst>
    <p:handoutMasterId r:id="rId49"/>
  </p:handoutMasterIdLst>
  <p:sldIdLst>
    <p:sldId id="256" r:id="rId4"/>
    <p:sldId id="1912" r:id="rId5"/>
    <p:sldId id="5527" r:id="rId6"/>
    <p:sldId id="1453" r:id="rId7"/>
    <p:sldId id="937" r:id="rId8"/>
    <p:sldId id="1939" r:id="rId9"/>
    <p:sldId id="1464" r:id="rId10"/>
    <p:sldId id="1441" r:id="rId11"/>
    <p:sldId id="1443" r:id="rId12"/>
    <p:sldId id="1442" r:id="rId13"/>
    <p:sldId id="1418" r:id="rId14"/>
    <p:sldId id="5528" r:id="rId15"/>
    <p:sldId id="1410" r:id="rId16"/>
    <p:sldId id="1391" r:id="rId17"/>
    <p:sldId id="1417" r:id="rId18"/>
    <p:sldId id="1409" r:id="rId19"/>
    <p:sldId id="258" r:id="rId20"/>
    <p:sldId id="1445" r:id="rId21"/>
    <p:sldId id="925" r:id="rId22"/>
    <p:sldId id="930" r:id="rId23"/>
    <p:sldId id="932" r:id="rId24"/>
    <p:sldId id="927" r:id="rId25"/>
    <p:sldId id="928" r:id="rId26"/>
    <p:sldId id="933" r:id="rId27"/>
    <p:sldId id="1446" r:id="rId28"/>
    <p:sldId id="1447" r:id="rId29"/>
    <p:sldId id="1456" r:id="rId30"/>
    <p:sldId id="1444" r:id="rId31"/>
    <p:sldId id="938" r:id="rId32"/>
    <p:sldId id="939" r:id="rId33"/>
    <p:sldId id="940" r:id="rId34"/>
    <p:sldId id="941" r:id="rId35"/>
    <p:sldId id="1448" r:id="rId36"/>
    <p:sldId id="1176" r:id="rId37"/>
    <p:sldId id="1463" r:id="rId38"/>
    <p:sldId id="1459" r:id="rId39"/>
    <p:sldId id="1460" r:id="rId40"/>
    <p:sldId id="1461" r:id="rId41"/>
    <p:sldId id="1458" r:id="rId42"/>
    <p:sldId id="5522" r:id="rId43"/>
    <p:sldId id="5523" r:id="rId44"/>
    <p:sldId id="5524" r:id="rId45"/>
    <p:sldId id="1449" r:id="rId46"/>
    <p:sldId id="1128" r:id="rId47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755084-B889-4915-A5A6-921C728A7AE2}">
          <p14:sldIdLst>
            <p14:sldId id="256"/>
          </p14:sldIdLst>
        </p14:section>
        <p14:section name="Chapter divider" id="{A5AEA8D7-4C84-4607-81B0-2981ABC4704A}">
          <p14:sldIdLst>
            <p14:sldId id="1912"/>
            <p14:sldId id="5527"/>
            <p14:sldId id="1453"/>
            <p14:sldId id="937"/>
            <p14:sldId id="1939"/>
            <p14:sldId id="1464"/>
            <p14:sldId id="1441"/>
            <p14:sldId id="1443"/>
            <p14:sldId id="1442"/>
            <p14:sldId id="1418"/>
            <p14:sldId id="5528"/>
            <p14:sldId id="1410"/>
            <p14:sldId id="1391"/>
            <p14:sldId id="1417"/>
            <p14:sldId id="1409"/>
            <p14:sldId id="258"/>
            <p14:sldId id="1445"/>
            <p14:sldId id="925"/>
            <p14:sldId id="930"/>
            <p14:sldId id="932"/>
            <p14:sldId id="927"/>
            <p14:sldId id="928"/>
            <p14:sldId id="933"/>
            <p14:sldId id="1446"/>
            <p14:sldId id="1447"/>
            <p14:sldId id="1456"/>
            <p14:sldId id="1444"/>
            <p14:sldId id="938"/>
            <p14:sldId id="939"/>
            <p14:sldId id="940"/>
            <p14:sldId id="941"/>
            <p14:sldId id="1448"/>
            <p14:sldId id="1176"/>
            <p14:sldId id="1463"/>
            <p14:sldId id="1459"/>
            <p14:sldId id="1460"/>
            <p14:sldId id="1461"/>
            <p14:sldId id="1458"/>
            <p14:sldId id="5522"/>
            <p14:sldId id="5523"/>
            <p14:sldId id="5524"/>
            <p14:sldId id="1449"/>
            <p14:sldId id="112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oh, Matthias (SE GP G QPI QM P)" initials="GM(GGQQP" lastIdx="17" clrIdx="0">
    <p:extLst>
      <p:ext uri="{19B8F6BF-5375-455C-9EA6-DF929625EA0E}">
        <p15:presenceInfo xmlns:p15="http://schemas.microsoft.com/office/powerpoint/2012/main" userId="S::groh.matthias@siemens.com::ddc073b7-8241-4ed4-b512-823751bae4d7" providerId="AD"/>
      </p:ext>
    </p:extLst>
  </p:cmAuthor>
  <p:cmAuthor id="2" name="Singhof, Nils (SE GP G LRE LSU CSS LP)" initials="SN(GGLLCL" lastIdx="1" clrIdx="1">
    <p:extLst>
      <p:ext uri="{19B8F6BF-5375-455C-9EA6-DF929625EA0E}">
        <p15:presenceInfo xmlns:p15="http://schemas.microsoft.com/office/powerpoint/2012/main" userId="Singhof, Nils (SE GP G LRE LSU CSS LP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B9B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0225E-026B-4FFE-9D90-D4A5EFAA9A99}" v="2" dt="2021-07-23T20:54:21.874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of, Nils (SE GP G LRE LSU CSS LP)" userId="5bc7e31e-ed38-4338-a7f0-28487854fd92" providerId="ADAL" clId="{AFCB1E2B-3EFF-4C9E-88A7-1D6B70E9588D}"/>
    <pc:docChg chg="undo custSel modSld">
      <pc:chgData name="Singhof, Nils (SE GP G LRE LSU CSS LP)" userId="5bc7e31e-ed38-4338-a7f0-28487854fd92" providerId="ADAL" clId="{AFCB1E2B-3EFF-4C9E-88A7-1D6B70E9588D}" dt="2021-07-05T10:28:17.006" v="224" actId="14734"/>
      <pc:docMkLst>
        <pc:docMk/>
      </pc:docMkLst>
      <pc:sldChg chg="addSp delSp modSp mod">
        <pc:chgData name="Singhof, Nils (SE GP G LRE LSU CSS LP)" userId="5bc7e31e-ed38-4338-a7f0-28487854fd92" providerId="ADAL" clId="{AFCB1E2B-3EFF-4C9E-88A7-1D6B70E9588D}" dt="2021-07-01T11:52:03.676" v="174" actId="1076"/>
        <pc:sldMkLst>
          <pc:docMk/>
          <pc:sldMk cId="3771218048" sldId="1128"/>
        </pc:sldMkLst>
        <pc:spChg chg="mod">
          <ac:chgData name="Singhof, Nils (SE GP G LRE LSU CSS LP)" userId="5bc7e31e-ed38-4338-a7f0-28487854fd92" providerId="ADAL" clId="{AFCB1E2B-3EFF-4C9E-88A7-1D6B70E9588D}" dt="2021-07-01T11:31:07.667" v="0" actId="20577"/>
          <ac:spMkLst>
            <pc:docMk/>
            <pc:sldMk cId="3771218048" sldId="1128"/>
            <ac:spMk id="2" creationId="{00000000-0000-0000-0000-000000000000}"/>
          </ac:spMkLst>
        </pc:spChg>
        <pc:spChg chg="add del mod">
          <ac:chgData name="Singhof, Nils (SE GP G LRE LSU CSS LP)" userId="5bc7e31e-ed38-4338-a7f0-28487854fd92" providerId="ADAL" clId="{AFCB1E2B-3EFF-4C9E-88A7-1D6B70E9588D}" dt="2021-07-01T11:40:54.955" v="4" actId="767"/>
          <ac:spMkLst>
            <pc:docMk/>
            <pc:sldMk cId="3771218048" sldId="1128"/>
            <ac:spMk id="3" creationId="{ACEB7C3D-CF87-4725-A7F3-9B832E901B38}"/>
          </ac:spMkLst>
        </pc:spChg>
        <pc:spChg chg="add mod">
          <ac:chgData name="Singhof, Nils (SE GP G LRE LSU CSS LP)" userId="5bc7e31e-ed38-4338-a7f0-28487854fd92" providerId="ADAL" clId="{AFCB1E2B-3EFF-4C9E-88A7-1D6B70E9588D}" dt="2021-07-01T11:42:11.368" v="38" actId="1076"/>
          <ac:spMkLst>
            <pc:docMk/>
            <pc:sldMk cId="3771218048" sldId="1128"/>
            <ac:spMk id="4" creationId="{5597E39C-DF8A-47BD-B900-BFE4071184FE}"/>
          </ac:spMkLst>
        </pc:spChg>
        <pc:spChg chg="add mod">
          <ac:chgData name="Singhof, Nils (SE GP G LRE LSU CSS LP)" userId="5bc7e31e-ed38-4338-a7f0-28487854fd92" providerId="ADAL" clId="{AFCB1E2B-3EFF-4C9E-88A7-1D6B70E9588D}" dt="2021-07-01T11:52:03.676" v="174" actId="1076"/>
          <ac:spMkLst>
            <pc:docMk/>
            <pc:sldMk cId="3771218048" sldId="1128"/>
            <ac:spMk id="5" creationId="{E2CB877B-3C66-44C7-B240-B36A1127A575}"/>
          </ac:spMkLst>
        </pc:spChg>
        <pc:spChg chg="mod">
          <ac:chgData name="Singhof, Nils (SE GP G LRE LSU CSS LP)" userId="5bc7e31e-ed38-4338-a7f0-28487854fd92" providerId="ADAL" clId="{AFCB1E2B-3EFF-4C9E-88A7-1D6B70E9588D}" dt="2021-07-01T11:49:17.541" v="142" actId="20577"/>
          <ac:spMkLst>
            <pc:docMk/>
            <pc:sldMk cId="3771218048" sldId="1128"/>
            <ac:spMk id="6" creationId="{00000000-0000-0000-0000-000000000000}"/>
          </ac:spMkLst>
        </pc:spChg>
        <pc:spChg chg="mod">
          <ac:chgData name="Singhof, Nils (SE GP G LRE LSU CSS LP)" userId="5bc7e31e-ed38-4338-a7f0-28487854fd92" providerId="ADAL" clId="{AFCB1E2B-3EFF-4C9E-88A7-1D6B70E9588D}" dt="2021-07-01T11:49:20.963" v="143" actId="20577"/>
          <ac:spMkLst>
            <pc:docMk/>
            <pc:sldMk cId="3771218048" sldId="1128"/>
            <ac:spMk id="7" creationId="{00000000-0000-0000-0000-000000000000}"/>
          </ac:spMkLst>
        </pc:spChg>
        <pc:spChg chg="mod">
          <ac:chgData name="Singhof, Nils (SE GP G LRE LSU CSS LP)" userId="5bc7e31e-ed38-4338-a7f0-28487854fd92" providerId="ADAL" clId="{AFCB1E2B-3EFF-4C9E-88A7-1D6B70E9588D}" dt="2021-07-01T11:49:16.277" v="141" actId="20577"/>
          <ac:spMkLst>
            <pc:docMk/>
            <pc:sldMk cId="3771218048" sldId="1128"/>
            <ac:spMk id="8" creationId="{00000000-0000-0000-0000-000000000000}"/>
          </ac:spMkLst>
        </pc:spChg>
        <pc:spChg chg="mod">
          <ac:chgData name="Singhof, Nils (SE GP G LRE LSU CSS LP)" userId="5bc7e31e-ed38-4338-a7f0-28487854fd92" providerId="ADAL" clId="{AFCB1E2B-3EFF-4C9E-88A7-1D6B70E9588D}" dt="2021-07-01T11:48:59.243" v="133" actId="14100"/>
          <ac:spMkLst>
            <pc:docMk/>
            <pc:sldMk cId="3771218048" sldId="1128"/>
            <ac:spMk id="9" creationId="{00000000-0000-0000-0000-000000000000}"/>
          </ac:spMkLst>
        </pc:spChg>
        <pc:spChg chg="mod">
          <ac:chgData name="Singhof, Nils (SE GP G LRE LSU CSS LP)" userId="5bc7e31e-ed38-4338-a7f0-28487854fd92" providerId="ADAL" clId="{AFCB1E2B-3EFF-4C9E-88A7-1D6B70E9588D}" dt="2021-07-01T11:49:07.874" v="138" actId="14100"/>
          <ac:spMkLst>
            <pc:docMk/>
            <pc:sldMk cId="3771218048" sldId="1128"/>
            <ac:spMk id="10" creationId="{00000000-0000-0000-0000-000000000000}"/>
          </ac:spMkLst>
        </pc:spChg>
        <pc:spChg chg="mod">
          <ac:chgData name="Singhof, Nils (SE GP G LRE LSU CSS LP)" userId="5bc7e31e-ed38-4338-a7f0-28487854fd92" providerId="ADAL" clId="{AFCB1E2B-3EFF-4C9E-88A7-1D6B70E9588D}" dt="2021-07-01T11:49:25.923" v="144" actId="20577"/>
          <ac:spMkLst>
            <pc:docMk/>
            <pc:sldMk cId="3771218048" sldId="1128"/>
            <ac:spMk id="11" creationId="{00000000-0000-0000-0000-000000000000}"/>
          </ac:spMkLst>
        </pc:spChg>
        <pc:picChg chg="mod">
          <ac:chgData name="Singhof, Nils (SE GP G LRE LSU CSS LP)" userId="5bc7e31e-ed38-4338-a7f0-28487854fd92" providerId="ADAL" clId="{AFCB1E2B-3EFF-4C9E-88A7-1D6B70E9588D}" dt="2021-07-01T11:40:35.218" v="2" actId="1076"/>
          <ac:picMkLst>
            <pc:docMk/>
            <pc:sldMk cId="3771218048" sldId="1128"/>
            <ac:picMk id="56323" creationId="{00000000-0000-0000-0000-000000000000}"/>
          </ac:picMkLst>
        </pc:picChg>
      </pc:sldChg>
      <pc:sldChg chg="modSp mod">
        <pc:chgData name="Singhof, Nils (SE GP G LRE LSU CSS LP)" userId="5bc7e31e-ed38-4338-a7f0-28487854fd92" providerId="ADAL" clId="{AFCB1E2B-3EFF-4C9E-88A7-1D6B70E9588D}" dt="2021-07-05T10:28:17.006" v="224" actId="14734"/>
        <pc:sldMkLst>
          <pc:docMk/>
          <pc:sldMk cId="1007033581" sldId="5528"/>
        </pc:sldMkLst>
        <pc:graphicFrameChg chg="mod modGraphic">
          <ac:chgData name="Singhof, Nils (SE GP G LRE LSU CSS LP)" userId="5bc7e31e-ed38-4338-a7f0-28487854fd92" providerId="ADAL" clId="{AFCB1E2B-3EFF-4C9E-88A7-1D6B70E9588D}" dt="2021-07-05T10:28:17.006" v="224" actId="14734"/>
          <ac:graphicFrameMkLst>
            <pc:docMk/>
            <pc:sldMk cId="1007033581" sldId="5528"/>
            <ac:graphicFrameMk id="4" creationId="{0FD0066D-7D32-4705-9135-DB38E60EDFDF}"/>
          </ac:graphicFrameMkLst>
        </pc:graphicFrameChg>
      </pc:sldChg>
    </pc:docChg>
  </pc:docChgLst>
  <pc:docChgLst>
    <pc:chgData name="Groh, Matthias (SE GP G QPI QM P)" userId="99494288-5ce4-4766-a240-287ba2f562d7" providerId="ADAL" clId="{11BA33FD-F0E3-4B12-B5A9-C618F26EC9E4}"/>
    <pc:docChg chg="undo custSel modSld">
      <pc:chgData name="Groh, Matthias (SE GP G QPI QM P)" userId="99494288-5ce4-4766-a240-287ba2f562d7" providerId="ADAL" clId="{11BA33FD-F0E3-4B12-B5A9-C618F26EC9E4}" dt="2021-06-30T09:18:28.309" v="464" actId="20577"/>
      <pc:docMkLst>
        <pc:docMk/>
      </pc:docMkLst>
      <pc:sldChg chg="modSp mod modShow">
        <pc:chgData name="Groh, Matthias (SE GP G QPI QM P)" userId="99494288-5ce4-4766-a240-287ba2f562d7" providerId="ADAL" clId="{11BA33FD-F0E3-4B12-B5A9-C618F26EC9E4}" dt="2021-06-30T08:47:25.243" v="420" actId="115"/>
        <pc:sldMkLst>
          <pc:docMk/>
          <pc:sldMk cId="3539552514" sldId="925"/>
        </pc:sldMkLst>
        <pc:spChg chg="mod">
          <ac:chgData name="Groh, Matthias (SE GP G QPI QM P)" userId="99494288-5ce4-4766-a240-287ba2f562d7" providerId="ADAL" clId="{11BA33FD-F0E3-4B12-B5A9-C618F26EC9E4}" dt="2021-06-30T08:47:25.243" v="420" actId="115"/>
          <ac:spMkLst>
            <pc:docMk/>
            <pc:sldMk cId="3539552514" sldId="925"/>
            <ac:spMk id="8" creationId="{00000000-0000-0000-0000-000000000000}"/>
          </ac:spMkLst>
        </pc:spChg>
      </pc:sldChg>
      <pc:sldChg chg="modSp mod">
        <pc:chgData name="Groh, Matthias (SE GP G QPI QM P)" userId="99494288-5ce4-4766-a240-287ba2f562d7" providerId="ADAL" clId="{11BA33FD-F0E3-4B12-B5A9-C618F26EC9E4}" dt="2021-06-30T09:14:20.313" v="445" actId="20577"/>
        <pc:sldMkLst>
          <pc:docMk/>
          <pc:sldMk cId="1133391917" sldId="937"/>
        </pc:sldMkLst>
        <pc:graphicFrameChg chg="mod modGraphic">
          <ac:chgData name="Groh, Matthias (SE GP G QPI QM P)" userId="99494288-5ce4-4766-a240-287ba2f562d7" providerId="ADAL" clId="{11BA33FD-F0E3-4B12-B5A9-C618F26EC9E4}" dt="2021-06-30T09:14:20.313" v="445" actId="20577"/>
          <ac:graphicFrameMkLst>
            <pc:docMk/>
            <pc:sldMk cId="1133391917" sldId="937"/>
            <ac:graphicFrameMk id="4" creationId="{2073493E-1A5A-4F63-B63F-87AE2BF4D868}"/>
          </ac:graphicFrameMkLst>
        </pc:graphicFrameChg>
      </pc:sldChg>
      <pc:sldChg chg="modSp mod">
        <pc:chgData name="Groh, Matthias (SE GP G QPI QM P)" userId="99494288-5ce4-4766-a240-287ba2f562d7" providerId="ADAL" clId="{11BA33FD-F0E3-4B12-B5A9-C618F26EC9E4}" dt="2021-06-30T08:52:31.045" v="435" actId="20577"/>
        <pc:sldMkLst>
          <pc:docMk/>
          <pc:sldMk cId="2916617704" sldId="1176"/>
        </pc:sldMkLst>
        <pc:spChg chg="mod">
          <ac:chgData name="Groh, Matthias (SE GP G QPI QM P)" userId="99494288-5ce4-4766-a240-287ba2f562d7" providerId="ADAL" clId="{11BA33FD-F0E3-4B12-B5A9-C618F26EC9E4}" dt="2021-06-30T08:52:31.045" v="435" actId="20577"/>
          <ac:spMkLst>
            <pc:docMk/>
            <pc:sldMk cId="2916617704" sldId="1176"/>
            <ac:spMk id="7" creationId="{57A24EDA-A6DD-43BC-999C-E0B167ECB7F7}"/>
          </ac:spMkLst>
        </pc:spChg>
      </pc:sldChg>
      <pc:sldChg chg="mod modShow">
        <pc:chgData name="Groh, Matthias (SE GP G QPI QM P)" userId="99494288-5ce4-4766-a240-287ba2f562d7" providerId="ADAL" clId="{11BA33FD-F0E3-4B12-B5A9-C618F26EC9E4}" dt="2021-06-30T08:45:54.484" v="414" actId="729"/>
        <pc:sldMkLst>
          <pc:docMk/>
          <pc:sldMk cId="3170951313" sldId="1409"/>
        </pc:sldMkLst>
      </pc:sldChg>
      <pc:sldChg chg="mod modShow">
        <pc:chgData name="Groh, Matthias (SE GP G QPI QM P)" userId="99494288-5ce4-4766-a240-287ba2f562d7" providerId="ADAL" clId="{11BA33FD-F0E3-4B12-B5A9-C618F26EC9E4}" dt="2021-06-30T08:45:25.509" v="413" actId="729"/>
        <pc:sldMkLst>
          <pc:docMk/>
          <pc:sldMk cId="1674556149" sldId="1410"/>
        </pc:sldMkLst>
      </pc:sldChg>
      <pc:sldChg chg="mod modShow">
        <pc:chgData name="Groh, Matthias (SE GP G QPI QM P)" userId="99494288-5ce4-4766-a240-287ba2f562d7" providerId="ADAL" clId="{11BA33FD-F0E3-4B12-B5A9-C618F26EC9E4}" dt="2021-06-30T08:45:54.484" v="414" actId="729"/>
        <pc:sldMkLst>
          <pc:docMk/>
          <pc:sldMk cId="2115212403" sldId="1417"/>
        </pc:sldMkLst>
      </pc:sldChg>
      <pc:sldChg chg="mod modShow">
        <pc:chgData name="Groh, Matthias (SE GP G QPI QM P)" userId="99494288-5ce4-4766-a240-287ba2f562d7" providerId="ADAL" clId="{11BA33FD-F0E3-4B12-B5A9-C618F26EC9E4}" dt="2021-06-30T08:45:11.059" v="412" actId="729"/>
        <pc:sldMkLst>
          <pc:docMk/>
          <pc:sldMk cId="262552978" sldId="1418"/>
        </pc:sldMkLst>
      </pc:sldChg>
      <pc:sldChg chg="mod modShow">
        <pc:chgData name="Groh, Matthias (SE GP G QPI QM P)" userId="99494288-5ce4-4766-a240-287ba2f562d7" providerId="ADAL" clId="{11BA33FD-F0E3-4B12-B5A9-C618F26EC9E4}" dt="2021-06-30T08:45:11.059" v="412" actId="729"/>
        <pc:sldMkLst>
          <pc:docMk/>
          <pc:sldMk cId="823125269" sldId="1442"/>
        </pc:sldMkLst>
      </pc:sldChg>
      <pc:sldChg chg="modSp mod">
        <pc:chgData name="Groh, Matthias (SE GP G QPI QM P)" userId="99494288-5ce4-4766-a240-287ba2f562d7" providerId="ADAL" clId="{11BA33FD-F0E3-4B12-B5A9-C618F26EC9E4}" dt="2021-06-30T08:22:23.911" v="30" actId="20577"/>
        <pc:sldMkLst>
          <pc:docMk/>
          <pc:sldMk cId="1147567193" sldId="1453"/>
        </pc:sldMkLst>
        <pc:spChg chg="mod">
          <ac:chgData name="Groh, Matthias (SE GP G QPI QM P)" userId="99494288-5ce4-4766-a240-287ba2f562d7" providerId="ADAL" clId="{11BA33FD-F0E3-4B12-B5A9-C618F26EC9E4}" dt="2021-06-30T08:22:23.911" v="30" actId="20577"/>
          <ac:spMkLst>
            <pc:docMk/>
            <pc:sldMk cId="1147567193" sldId="1453"/>
            <ac:spMk id="3" creationId="{85182A86-9E47-49F2-A59F-0A3791544C2F}"/>
          </ac:spMkLst>
        </pc:spChg>
      </pc:sldChg>
      <pc:sldChg chg="modSp mod">
        <pc:chgData name="Groh, Matthias (SE GP G QPI QM P)" userId="99494288-5ce4-4766-a240-287ba2f562d7" providerId="ADAL" clId="{11BA33FD-F0E3-4B12-B5A9-C618F26EC9E4}" dt="2021-06-30T08:42:43.197" v="410" actId="5793"/>
        <pc:sldMkLst>
          <pc:docMk/>
          <pc:sldMk cId="2801680733" sldId="1464"/>
        </pc:sldMkLst>
        <pc:spChg chg="mod">
          <ac:chgData name="Groh, Matthias (SE GP G QPI QM P)" userId="99494288-5ce4-4766-a240-287ba2f562d7" providerId="ADAL" clId="{11BA33FD-F0E3-4B12-B5A9-C618F26EC9E4}" dt="2021-06-30T08:42:43.197" v="410" actId="5793"/>
          <ac:spMkLst>
            <pc:docMk/>
            <pc:sldMk cId="2801680733" sldId="1464"/>
            <ac:spMk id="3" creationId="{85182A86-9E47-49F2-A59F-0A3791544C2F}"/>
          </ac:spMkLst>
        </pc:spChg>
      </pc:sldChg>
      <pc:sldChg chg="mod modShow">
        <pc:chgData name="Groh, Matthias (SE GP G QPI QM P)" userId="99494288-5ce4-4766-a240-287ba2f562d7" providerId="ADAL" clId="{11BA33FD-F0E3-4B12-B5A9-C618F26EC9E4}" dt="2021-06-30T08:44:20.825" v="411" actId="729"/>
        <pc:sldMkLst>
          <pc:docMk/>
          <pc:sldMk cId="1050089378" sldId="1912"/>
        </pc:sldMkLst>
      </pc:sldChg>
      <pc:sldChg chg="modSp mod">
        <pc:chgData name="Groh, Matthias (SE GP G QPI QM P)" userId="99494288-5ce4-4766-a240-287ba2f562d7" providerId="ADAL" clId="{11BA33FD-F0E3-4B12-B5A9-C618F26EC9E4}" dt="2021-06-30T09:18:28.309" v="464" actId="20577"/>
        <pc:sldMkLst>
          <pc:docMk/>
          <pc:sldMk cId="642603943" sldId="1939"/>
        </pc:sldMkLst>
        <pc:spChg chg="mod">
          <ac:chgData name="Groh, Matthias (SE GP G QPI QM P)" userId="99494288-5ce4-4766-a240-287ba2f562d7" providerId="ADAL" clId="{11BA33FD-F0E3-4B12-B5A9-C618F26EC9E4}" dt="2021-06-30T09:18:28.309" v="464" actId="20577"/>
          <ac:spMkLst>
            <pc:docMk/>
            <pc:sldMk cId="642603943" sldId="1939"/>
            <ac:spMk id="3" creationId="{24CE9D69-D6B0-4824-A6E4-E95FE89F0A0C}"/>
          </ac:spMkLst>
        </pc:spChg>
      </pc:sldChg>
    </pc:docChg>
  </pc:docChgLst>
  <pc:docChgLst>
    <pc:chgData name="Groh, Matthias (SE GP G QPI QM P)" userId="99494288-5ce4-4766-a240-287ba2f562d7" providerId="ADAL" clId="{F7E6E491-508D-4A70-B96B-6A6101DE4BC0}"/>
    <pc:docChg chg="undo custSel modSld">
      <pc:chgData name="Groh, Matthias (SE GP G QPI QM P)" userId="99494288-5ce4-4766-a240-287ba2f562d7" providerId="ADAL" clId="{F7E6E491-508D-4A70-B96B-6A6101DE4BC0}" dt="2021-06-24T14:09:32.199" v="136" actId="1592"/>
      <pc:docMkLst>
        <pc:docMk/>
      </pc:docMkLst>
      <pc:sldChg chg="addSp delSp modSp mod delCm">
        <pc:chgData name="Groh, Matthias (SE GP G QPI QM P)" userId="99494288-5ce4-4766-a240-287ba2f562d7" providerId="ADAL" clId="{F7E6E491-508D-4A70-B96B-6A6101DE4BC0}" dt="2021-06-24T14:09:32.199" v="136" actId="1592"/>
        <pc:sldMkLst>
          <pc:docMk/>
          <pc:sldMk cId="1007033581" sldId="5528"/>
        </pc:sldMkLst>
        <pc:spChg chg="mod">
          <ac:chgData name="Groh, Matthias (SE GP G QPI QM P)" userId="99494288-5ce4-4766-a240-287ba2f562d7" providerId="ADAL" clId="{F7E6E491-508D-4A70-B96B-6A6101DE4BC0}" dt="2021-06-24T13:45:18.671" v="132" actId="1076"/>
          <ac:spMkLst>
            <pc:docMk/>
            <pc:sldMk cId="1007033581" sldId="5528"/>
            <ac:spMk id="2" creationId="{CB8E31DB-1896-4162-9DA2-8E739E10DCE6}"/>
          </ac:spMkLst>
        </pc:spChg>
        <pc:graphicFrameChg chg="mod modGraphic">
          <ac:chgData name="Groh, Matthias (SE GP G QPI QM P)" userId="99494288-5ce4-4766-a240-287ba2f562d7" providerId="ADAL" clId="{F7E6E491-508D-4A70-B96B-6A6101DE4BC0}" dt="2021-06-24T13:45:11.482" v="130" actId="207"/>
          <ac:graphicFrameMkLst>
            <pc:docMk/>
            <pc:sldMk cId="1007033581" sldId="5528"/>
            <ac:graphicFrameMk id="4" creationId="{0FD0066D-7D32-4705-9135-DB38E60EDFDF}"/>
          </ac:graphicFrameMkLst>
        </pc:graphicFrame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5" creationId="{EA555366-06E2-4688-8FD3-9938FB10E809}"/>
          </ac:picMkLst>
        </pc:pic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6" creationId="{5B550280-5C9A-4A09-8BA4-3ECE6F79FD87}"/>
          </ac:picMkLst>
        </pc:pic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7" creationId="{C16D7A36-6883-41BC-B7D4-8CBCFB0DD946}"/>
          </ac:picMkLst>
        </pc:pic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8" creationId="{E328754D-E07E-49F9-851E-C13A502C7B17}"/>
          </ac:picMkLst>
        </pc:pic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9" creationId="{ACC1AA6B-9138-4858-BA3F-6521B465A6A5}"/>
          </ac:picMkLst>
        </pc:picChg>
        <pc:picChg chg="mod">
          <ac:chgData name="Groh, Matthias (SE GP G QPI QM P)" userId="99494288-5ce4-4766-a240-287ba2f562d7" providerId="ADAL" clId="{F7E6E491-508D-4A70-B96B-6A6101DE4BC0}" dt="2021-06-24T13:44:50.074" v="129" actId="1037"/>
          <ac:picMkLst>
            <pc:docMk/>
            <pc:sldMk cId="1007033581" sldId="5528"/>
            <ac:picMk id="10" creationId="{BB263CAB-F5F4-4119-B3B6-42FCD0596378}"/>
          </ac:picMkLst>
        </pc:picChg>
        <pc:picChg chg="add del mod">
          <ac:chgData name="Groh, Matthias (SE GP G QPI QM P)" userId="99494288-5ce4-4766-a240-287ba2f562d7" providerId="ADAL" clId="{F7E6E491-508D-4A70-B96B-6A6101DE4BC0}" dt="2021-06-24T14:09:10.975" v="135" actId="478"/>
          <ac:picMkLst>
            <pc:docMk/>
            <pc:sldMk cId="1007033581" sldId="5528"/>
            <ac:picMk id="11" creationId="{4232CD6B-1842-484B-A3FF-2E495ADE1FC9}"/>
          </ac:picMkLst>
        </pc:picChg>
      </pc:sldChg>
    </pc:docChg>
  </pc:docChgLst>
  <pc:docChgLst>
    <pc:chgData name="Groh, Matthias (SE GP G QPI QM P)" userId="99494288-5ce4-4766-a240-287ba2f562d7" providerId="ADAL" clId="{12BF5C79-0A7C-425B-AD18-D16FB3232FDF}"/>
    <pc:docChg chg="undo custSel addSld delSld modSld">
      <pc:chgData name="Groh, Matthias (SE GP G QPI QM P)" userId="99494288-5ce4-4766-a240-287ba2f562d7" providerId="ADAL" clId="{12BF5C79-0A7C-425B-AD18-D16FB3232FDF}" dt="2021-06-29T11:52:51.532" v="282" actId="20577"/>
      <pc:docMkLst>
        <pc:docMk/>
      </pc:docMkLst>
      <pc:sldChg chg="addSp delSp modSp add del mod modClrScheme chgLayout">
        <pc:chgData name="Groh, Matthias (SE GP G QPI QM P)" userId="99494288-5ce4-4766-a240-287ba2f562d7" providerId="ADAL" clId="{12BF5C79-0A7C-425B-AD18-D16FB3232FDF}" dt="2021-06-29T11:52:51.532" v="282" actId="20577"/>
        <pc:sldMkLst>
          <pc:docMk/>
          <pc:sldMk cId="3771218048" sldId="1128"/>
        </pc:sldMkLst>
        <pc:spChg chg="mod ord">
          <ac:chgData name="Groh, Matthias (SE GP G QPI QM P)" userId="99494288-5ce4-4766-a240-287ba2f562d7" providerId="ADAL" clId="{12BF5C79-0A7C-425B-AD18-D16FB3232FDF}" dt="2021-06-29T11:52:51.532" v="282" actId="20577"/>
          <ac:spMkLst>
            <pc:docMk/>
            <pc:sldMk cId="3771218048" sldId="1128"/>
            <ac:spMk id="2" creationId="{00000000-0000-0000-0000-000000000000}"/>
          </ac:spMkLst>
        </pc:spChg>
        <pc:spChg chg="del mod ord">
          <ac:chgData name="Groh, Matthias (SE GP G QPI QM P)" userId="99494288-5ce4-4766-a240-287ba2f562d7" providerId="ADAL" clId="{12BF5C79-0A7C-425B-AD18-D16FB3232FDF}" dt="2021-06-29T11:48:46.468" v="4" actId="478"/>
          <ac:spMkLst>
            <pc:docMk/>
            <pc:sldMk cId="3771218048" sldId="1128"/>
            <ac:spMk id="4" creationId="{00000000-0000-0000-0000-000000000000}"/>
          </ac:spMkLst>
        </pc:spChg>
        <pc:spChg chg="add del mod">
          <ac:chgData name="Groh, Matthias (SE GP G QPI QM P)" userId="99494288-5ce4-4766-a240-287ba2f562d7" providerId="ADAL" clId="{12BF5C79-0A7C-425B-AD18-D16FB3232FDF}" dt="2021-06-29T11:49:06.998" v="5" actId="478"/>
          <ac:spMkLst>
            <pc:docMk/>
            <pc:sldMk cId="3771218048" sldId="1128"/>
            <ac:spMk id="5" creationId="{91F8FFC6-CBB3-41DA-8AB8-BA5965A5F274}"/>
          </ac:spMkLst>
        </pc:spChg>
        <pc:spChg chg="mod">
          <ac:chgData name="Groh, Matthias (SE GP G QPI QM P)" userId="99494288-5ce4-4766-a240-287ba2f562d7" providerId="ADAL" clId="{12BF5C79-0A7C-425B-AD18-D16FB3232FDF}" dt="2021-06-29T11:52:27.884" v="280"/>
          <ac:spMkLst>
            <pc:docMk/>
            <pc:sldMk cId="3771218048" sldId="1128"/>
            <ac:spMk id="6" creationId="{00000000-0000-0000-0000-000000000000}"/>
          </ac:spMkLst>
        </pc:spChg>
        <pc:spChg chg="mod">
          <ac:chgData name="Groh, Matthias (SE GP G QPI QM P)" userId="99494288-5ce4-4766-a240-287ba2f562d7" providerId="ADAL" clId="{12BF5C79-0A7C-425B-AD18-D16FB3232FDF}" dt="2021-06-29T11:52:21.501" v="279" actId="20577"/>
          <ac:spMkLst>
            <pc:docMk/>
            <pc:sldMk cId="3771218048" sldId="1128"/>
            <ac:spMk id="8" creationId="{00000000-0000-0000-0000-000000000000}"/>
          </ac:spMkLst>
        </pc:spChg>
      </pc:sldChg>
    </pc:docChg>
  </pc:docChgLst>
  <pc:docChgLst>
    <pc:chgData name="Mazzotta, Tim (SE GP G QPI QM P)" userId="32cdfb0a-f1e9-4dcc-9361-9c9032f79aa6" providerId="ADAL" clId="{6650225E-026B-4FFE-9D90-D4A5EFAA9A99}"/>
    <pc:docChg chg="custSel modSld">
      <pc:chgData name="Mazzotta, Tim (SE GP G QPI QM P)" userId="32cdfb0a-f1e9-4dcc-9361-9c9032f79aa6" providerId="ADAL" clId="{6650225E-026B-4FFE-9D90-D4A5EFAA9A99}" dt="2021-07-23T20:54:21.874" v="2"/>
      <pc:docMkLst>
        <pc:docMk/>
      </pc:docMkLst>
      <pc:sldChg chg="addSp delSp modSp mod">
        <pc:chgData name="Mazzotta, Tim (SE GP G QPI QM P)" userId="32cdfb0a-f1e9-4dcc-9361-9c9032f79aa6" providerId="ADAL" clId="{6650225E-026B-4FFE-9D90-D4A5EFAA9A99}" dt="2021-07-23T20:54:21.874" v="2"/>
        <pc:sldMkLst>
          <pc:docMk/>
          <pc:sldMk cId="776129892" sldId="5527"/>
        </pc:sldMkLst>
        <pc:picChg chg="add mod">
          <ac:chgData name="Mazzotta, Tim (SE GP G QPI QM P)" userId="32cdfb0a-f1e9-4dcc-9361-9c9032f79aa6" providerId="ADAL" clId="{6650225E-026B-4FFE-9D90-D4A5EFAA9A99}" dt="2021-07-23T20:54:21.874" v="2"/>
          <ac:picMkLst>
            <pc:docMk/>
            <pc:sldMk cId="776129892" sldId="5527"/>
            <ac:picMk id="23" creationId="{D5DEBB5F-1867-4C26-8A68-EDD01DB474A2}"/>
          </ac:picMkLst>
        </pc:picChg>
        <pc:picChg chg="del">
          <ac:chgData name="Mazzotta, Tim (SE GP G QPI QM P)" userId="32cdfb0a-f1e9-4dcc-9361-9c9032f79aa6" providerId="ADAL" clId="{6650225E-026B-4FFE-9D90-D4A5EFAA9A99}" dt="2021-07-23T20:54:15.056" v="1" actId="478"/>
          <ac:picMkLst>
            <pc:docMk/>
            <pc:sldMk cId="776129892" sldId="5527"/>
            <ac:picMk id="34" creationId="{A0718BE3-7457-4844-9AE5-8410B47D4D0B}"/>
          </ac:picMkLst>
        </pc:picChg>
      </pc:sldChg>
      <pc:sldChg chg="delSp">
        <pc:chgData name="Mazzotta, Tim (SE GP G QPI QM P)" userId="32cdfb0a-f1e9-4dcc-9361-9c9032f79aa6" providerId="ADAL" clId="{6650225E-026B-4FFE-9D90-D4A5EFAA9A99}" dt="2021-07-23T20:37:42.818" v="0" actId="478"/>
        <pc:sldMkLst>
          <pc:docMk/>
          <pc:sldMk cId="1007033581" sldId="5528"/>
        </pc:sldMkLst>
        <pc:spChg chg="del">
          <ac:chgData name="Mazzotta, Tim (SE GP G QPI QM P)" userId="32cdfb0a-f1e9-4dcc-9361-9c9032f79aa6" providerId="ADAL" clId="{6650225E-026B-4FFE-9D90-D4A5EFAA9A99}" dt="2021-07-23T20:37:42.818" v="0" actId="478"/>
          <ac:spMkLst>
            <pc:docMk/>
            <pc:sldMk cId="1007033581" sldId="5528"/>
            <ac:spMk id="3" creationId="{FF59561E-AA55-4E27-B225-92E8662D1652}"/>
          </ac:spMkLst>
        </pc:spChg>
      </pc:sldChg>
    </pc:docChg>
  </pc:docChgLst>
  <pc:docChgLst>
    <pc:chgData name="Singhof, Nils (SE GP G LRE LSU CSS LP)" userId="5bc7e31e-ed38-4338-a7f0-28487854fd92" providerId="ADAL" clId="{CEA9EDD2-04E9-4F01-8915-C4C178A890DC}"/>
    <pc:docChg chg="undo redo custSel modSld">
      <pc:chgData name="Singhof, Nils (SE GP G LRE LSU CSS LP)" userId="5bc7e31e-ed38-4338-a7f0-28487854fd92" providerId="ADAL" clId="{CEA9EDD2-04E9-4F01-8915-C4C178A890DC}" dt="2021-06-24T14:00:19.802" v="99"/>
      <pc:docMkLst>
        <pc:docMk/>
      </pc:docMkLst>
      <pc:sldChg chg="modSp mod addCm modCm">
        <pc:chgData name="Singhof, Nils (SE GP G LRE LSU CSS LP)" userId="5bc7e31e-ed38-4338-a7f0-28487854fd92" providerId="ADAL" clId="{CEA9EDD2-04E9-4F01-8915-C4C178A890DC}" dt="2021-06-24T14:00:19.802" v="99"/>
        <pc:sldMkLst>
          <pc:docMk/>
          <pc:sldMk cId="1007033581" sldId="5528"/>
        </pc:sldMkLst>
        <pc:graphicFrameChg chg="mod modGraphic">
          <ac:chgData name="Singhof, Nils (SE GP G LRE LSU CSS LP)" userId="5bc7e31e-ed38-4338-a7f0-28487854fd92" providerId="ADAL" clId="{CEA9EDD2-04E9-4F01-8915-C4C178A890DC}" dt="2021-06-24T13:58:52.991" v="91" actId="14100"/>
          <ac:graphicFrameMkLst>
            <pc:docMk/>
            <pc:sldMk cId="1007033581" sldId="5528"/>
            <ac:graphicFrameMk id="4" creationId="{0FD0066D-7D32-4705-9135-DB38E60EDFDF}"/>
          </ac:graphicFrameMkLst>
        </pc:graphicFrameChg>
        <pc:picChg chg="mod">
          <ac:chgData name="Singhof, Nils (SE GP G LRE LSU CSS LP)" userId="5bc7e31e-ed38-4338-a7f0-28487854fd92" providerId="ADAL" clId="{CEA9EDD2-04E9-4F01-8915-C4C178A890DC}" dt="2021-06-24T13:59:20.654" v="95" actId="1076"/>
          <ac:picMkLst>
            <pc:docMk/>
            <pc:sldMk cId="1007033581" sldId="5528"/>
            <ac:picMk id="5" creationId="{EA555366-06E2-4688-8FD3-9938FB10E809}"/>
          </ac:picMkLst>
        </pc:picChg>
        <pc:picChg chg="mod">
          <ac:chgData name="Singhof, Nils (SE GP G LRE LSU CSS LP)" userId="5bc7e31e-ed38-4338-a7f0-28487854fd92" providerId="ADAL" clId="{CEA9EDD2-04E9-4F01-8915-C4C178A890DC}" dt="2021-06-24T13:59:14.649" v="93" actId="1076"/>
          <ac:picMkLst>
            <pc:docMk/>
            <pc:sldMk cId="1007033581" sldId="5528"/>
            <ac:picMk id="6" creationId="{5B550280-5C9A-4A09-8BA4-3ECE6F79FD87}"/>
          </ac:picMkLst>
        </pc:picChg>
        <pc:picChg chg="mod">
          <ac:chgData name="Singhof, Nils (SE GP G LRE LSU CSS LP)" userId="5bc7e31e-ed38-4338-a7f0-28487854fd92" providerId="ADAL" clId="{CEA9EDD2-04E9-4F01-8915-C4C178A890DC}" dt="2021-06-24T13:59:17.069" v="94" actId="1076"/>
          <ac:picMkLst>
            <pc:docMk/>
            <pc:sldMk cId="1007033581" sldId="5528"/>
            <ac:picMk id="8" creationId="{E328754D-E07E-49F9-851E-C13A502C7B17}"/>
          </ac:picMkLst>
        </pc:picChg>
        <pc:picChg chg="mod">
          <ac:chgData name="Singhof, Nils (SE GP G LRE LSU CSS LP)" userId="5bc7e31e-ed38-4338-a7f0-28487854fd92" providerId="ADAL" clId="{CEA9EDD2-04E9-4F01-8915-C4C178A890DC}" dt="2021-06-24T13:59:28.642" v="96" actId="1076"/>
          <ac:picMkLst>
            <pc:docMk/>
            <pc:sldMk cId="1007033581" sldId="5528"/>
            <ac:picMk id="11" creationId="{4232CD6B-1842-484B-A3FF-2E495ADE1FC9}"/>
          </ac:picMkLst>
        </pc:picChg>
      </pc:sldChg>
    </pc:docChg>
  </pc:docChgLst>
  <pc:docChgLst>
    <pc:chgData name="Singhof, Nils (SE GP G LRE LSU CSS LP)" userId="S::nils.singhof@siemens-energy.com::5bc7e31e-ed38-4338-a7f0-28487854fd92" providerId="AD" clId="Web-{C6BAB50A-A2FE-C321-71CB-19821C4BB0E7}"/>
    <pc:docChg chg="modSld">
      <pc:chgData name="Singhof, Nils (SE GP G LRE LSU CSS LP)" userId="S::nils.singhof@siemens-energy.com::5bc7e31e-ed38-4338-a7f0-28487854fd92" providerId="AD" clId="Web-{C6BAB50A-A2FE-C321-71CB-19821C4BB0E7}" dt="2021-06-24T12:46:47.056" v="2"/>
      <pc:docMkLst>
        <pc:docMk/>
      </pc:docMkLst>
      <pc:sldChg chg="addSp delSp modSp">
        <pc:chgData name="Singhof, Nils (SE GP G LRE LSU CSS LP)" userId="S::nils.singhof@siemens-energy.com::5bc7e31e-ed38-4338-a7f0-28487854fd92" providerId="AD" clId="Web-{C6BAB50A-A2FE-C321-71CB-19821C4BB0E7}" dt="2021-06-24T12:46:47.056" v="2"/>
        <pc:sldMkLst>
          <pc:docMk/>
          <pc:sldMk cId="1007033581" sldId="5528"/>
        </pc:sldMkLst>
        <pc:picChg chg="add del mod">
          <ac:chgData name="Singhof, Nils (SE GP G LRE LSU CSS LP)" userId="S::nils.singhof@siemens-energy.com::5bc7e31e-ed38-4338-a7f0-28487854fd92" providerId="AD" clId="Web-{C6BAB50A-A2FE-C321-71CB-19821C4BB0E7}" dt="2021-06-24T12:46:47.056" v="2"/>
          <ac:picMkLst>
            <pc:docMk/>
            <pc:sldMk cId="1007033581" sldId="5528"/>
            <ac:picMk id="11" creationId="{D19BD1D8-380A-4046-9180-131CEE2336C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975238A-E77C-4161-8153-559CAAFF08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63C429-307D-46CA-9A12-06D8698F75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ADE2EF3F-42B8-4B9D-A37E-11A4D443AA0D}" type="datetimeFigureOut">
              <a:rPr lang="en-US" sz="1000"/>
              <a:t>11/5/2021</a:t>
            </a:fld>
            <a:endParaRPr lang="en-US" sz="100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65EB52-C1D0-4343-AE68-5103D2F419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6198C1-5F95-4924-98B6-9E9A0B40AE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r>
              <a:rPr lang="en-US" sz="1000" b="1"/>
              <a:t>Handout</a:t>
            </a:r>
            <a:r>
              <a:rPr lang="en-US" sz="1000"/>
              <a:t> </a:t>
            </a:r>
            <a:fld id="{FE9D864B-9634-41E7-BDAB-3BBEEED548E4}" type="slidenum">
              <a:rPr lang="en-US" sz="1000"/>
              <a:t>‹Nr.›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53600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000"/>
            </a:lvl1pPr>
          </a:lstStyle>
          <a:p>
            <a:endParaRPr lang="en-US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000"/>
            </a:lvl1pPr>
          </a:lstStyle>
          <a:p>
            <a:fld id="{B121E240-E9EA-40DE-8EFF-BE00DCAC0262}" type="datetimeFigureOut">
              <a:rPr lang="en-US" noProof="0" smtClean="0"/>
              <a:pPr/>
              <a:t>11/5/2021</a:t>
            </a:fld>
            <a:endParaRPr lang="en-US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en-US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58718" y="4777194"/>
            <a:ext cx="5880239" cy="39086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noProof="0"/>
              <a:t>Formatvorlagen des Textmasters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000"/>
            </a:lvl1pPr>
          </a:lstStyle>
          <a:p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000"/>
            </a:lvl1pPr>
          </a:lstStyle>
          <a:p>
            <a:r>
              <a:rPr lang="en-US" b="1" noProof="0"/>
              <a:t>Notice </a:t>
            </a:r>
            <a:fld id="{84EE17C3-51E0-4A9C-B3A8-E6548E6A9E95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147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 noProof="0"/>
              <a:t>Notice </a:t>
            </a:r>
            <a:fld id="{84EE17C3-51E0-4A9C-B3A8-E6548E6A9E95}" type="slidenum">
              <a:rPr lang="en-US" noProof="0" smtClean="0"/>
              <a:pPr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7510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5</a:t>
            </a:fld>
            <a:endParaRPr lang="de-D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808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10</a:t>
            </a:fld>
            <a:endParaRPr lang="de-D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27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11</a:t>
            </a:fld>
            <a:endParaRPr lang="de-D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02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 noProof="0"/>
              <a:t>Notice </a:t>
            </a:r>
            <a:fld id="{84EE17C3-51E0-4A9C-B3A8-E6548E6A9E95}" type="slidenum">
              <a:rPr lang="en-US" noProof="0" smtClean="0"/>
              <a:pPr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8111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9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9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54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9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9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025" y="749300"/>
            <a:ext cx="6648450" cy="3740150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54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31</a:t>
            </a:fld>
            <a:endParaRPr lang="de-D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58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DF1554-9B01-47C4-824C-A8473144F5D3}" type="datetime1">
              <a:rPr lang="en-US" smtClean="0"/>
              <a:t>11/5/2021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44</a:t>
            </a:fld>
            <a:endParaRPr lang="de-D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33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iemens-energy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7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customXml" Target="../../customXml/item2.xml"/><Relationship Id="rId4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customXml" Target="../../customXml/item1.xml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239D0E4B-66A6-4FE5-BA27-541046B3DA99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DE6CC66-01ED-4C38-82FB-6CE0F487EF1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76370656-D639-4E4F-858E-95D5F039AB4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5CE1A5C-9916-4F19-AAA4-EDA02A87A1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41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990571EA-906B-4464-A50B-507D49D861B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BB81BE19-DE56-4F9F-AB66-D4BBF7C270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52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4BDFE179-90A8-4E57-BD6D-D55F6E97F6BE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78ABE4E0-FB97-4BF6-9DC1-70C0630092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2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color fil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extLst>
              <a:ext uri="{FF2B5EF4-FFF2-40B4-BE49-F238E27FC236}">
                <a16:creationId xmlns:a16="http://schemas.microsoft.com/office/drawing/2014/main" id="{FA11A8A9-D061-4109-B5C4-C3047D9ED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8207374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43B07ABE-0FDD-4360-94CB-BE49F6F0B457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8" name="License statement">
            <a:extLst>
              <a:ext uri="{FF2B5EF4-FFF2-40B4-BE49-F238E27FC236}">
                <a16:creationId xmlns:a16="http://schemas.microsoft.com/office/drawing/2014/main" id="{C0045C3A-1F21-44D0-8D93-8AC33A04C18C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B76785D-9D19-41C9-8176-187EE5D79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8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B5D6BABE-C707-41BC-BD10-0E77470B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0108D4AB-9688-41D1-B0EE-85800E67392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1" name="License statement">
            <a:extLst>
              <a:ext uri="{FF2B5EF4-FFF2-40B4-BE49-F238E27FC236}">
                <a16:creationId xmlns:a16="http://schemas.microsoft.com/office/drawing/2014/main" id="{212F44C2-86F0-4F8F-80A6-4ED7F591836A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1DC56BA1-A850-4AE0-A568-3D4B1B2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4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048807C0-F913-457F-BC6F-5FF8BB950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1DE39B38-513C-4C4B-9F03-FC4B2D20074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B1801D01-5487-4711-ADA6-1F6955CFB9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DBB9C8C-1FFC-4C10-8923-5BB14464CD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21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">
            <a:extLst>
              <a:ext uri="{FF2B5EF4-FFF2-40B4-BE49-F238E27FC236}">
                <a16:creationId xmlns:a16="http://schemas.microsoft.com/office/drawing/2014/main" id="{53CB57DE-2231-4FB5-89CE-5E957E5B7E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DB1A54EC-A3D1-455B-9B10-BD6E66386C62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856ED8E8-9807-4F50-A174-877DAAC140D0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6610667-D1F1-4DB1-8951-934EF4B90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5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CDC7F29D-098B-44AE-92AB-834812CDDF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6087BB6B-DC15-4BC4-A21C-1782CB4DA41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E9F4ECED-AAEC-41AE-AE05-A9B81D388383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F208A3C6-5ED3-47CD-95C4-12C8971DEF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02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7" name="License statement">
            <a:extLst>
              <a:ext uri="{FF2B5EF4-FFF2-40B4-BE49-F238E27FC236}">
                <a16:creationId xmlns:a16="http://schemas.microsoft.com/office/drawing/2014/main" id="{D0DCD031-C87D-4337-8B6F-81915A0662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774ED4C-2CE3-4F97-9292-1D483D04AB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35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5EEEC47E-29AF-4B44-A9C9-06E5C6518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21" name="Author | Department">
            <a:extLst>
              <a:ext uri="{FF2B5EF4-FFF2-40B4-BE49-F238E27FC236}">
                <a16:creationId xmlns:a16="http://schemas.microsoft.com/office/drawing/2014/main" id="{D68DCDC5-4F2B-44B6-8F0F-820176DFF1B3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7F37D979-5873-43CB-B2A0-7F29413E1A8E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23" name="Page">
            <a:extLst>
              <a:ext uri="{FF2B5EF4-FFF2-40B4-BE49-F238E27FC236}">
                <a16:creationId xmlns:a16="http://schemas.microsoft.com/office/drawing/2014/main" id="{03A6209B-0B23-4B14-8B9F-CD213A6E096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135B676A-1967-447F-9CAE-69D52FC83DD5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9FD4DA83-51C4-4A4B-A278-BEF26AF8F17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87AABCF-4385-4691-9A06-00F20F9065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1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8417E295-392C-44FE-8176-B174ED9A229B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of presentation,</a:t>
            </a:r>
            <a:br>
              <a:rPr lang="en-US"/>
            </a:br>
            <a:r>
              <a:rPr lang="en-US"/>
              <a:t>English, Month 2020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26DFA7DF-409A-4EF9-98B8-082D9F0DFFA2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FBB07F48-7C23-4EE9-98FE-9F1E3B2F0CF9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729C0801-E71C-4366-8677-B076F4D6C490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82BE5B3D-7992-492A-8060-97136D5B397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4" name="License statement">
            <a:extLst>
              <a:ext uri="{FF2B5EF4-FFF2-40B4-BE49-F238E27FC236}">
                <a16:creationId xmlns:a16="http://schemas.microsoft.com/office/drawing/2014/main" id="{B7CADBCA-4DE1-404E-BF7C-ADF2A140AC0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87C015F-913C-48DD-99E5-F1AEE0B2AC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1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F1C3F0AE-B730-4CA9-92F6-C1C6E95677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123" t="21730" r="42206" b="36603"/>
          <a:stretch/>
        </p:blipFill>
        <p:spPr bwMode="invGray">
          <a:xfrm>
            <a:off x="1360" y="425"/>
            <a:ext cx="12193200" cy="6858000"/>
          </a:xfrm>
          <a:prstGeom prst="rect">
            <a:avLst/>
          </a:prstGeom>
        </p:spPr>
      </p:pic>
      <p:sp>
        <p:nvSpPr>
          <p:cNvPr id="2" name="Table of contents">
            <a:extLst>
              <a:ext uri="{FF2B5EF4-FFF2-40B4-BE49-F238E27FC236}">
                <a16:creationId xmlns:a16="http://schemas.microsoft.com/office/drawing/2014/main" id="{989931F3-BF65-40DB-9BE0-80167D2EB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Table of contents</a:t>
            </a:r>
          </a:p>
        </p:txBody>
      </p:sp>
      <p:sp>
        <p:nvSpPr>
          <p:cNvPr id="8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Table</a:t>
            </a:r>
          </a:p>
        </p:txBody>
      </p:sp>
      <p:sp>
        <p:nvSpPr>
          <p:cNvPr id="6" name="Author | Department">
            <a:extLst>
              <a:ext uri="{FF2B5EF4-FFF2-40B4-BE49-F238E27FC236}">
                <a16:creationId xmlns:a16="http://schemas.microsoft.com/office/drawing/2014/main" id="{F1D626C4-116E-471D-A183-678A72706E84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78B59CFA-AFE0-4473-A60A-D84A1A90AE4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EFC6F67A-D89D-43AA-A5C1-18FB7E52FD1F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F6C6E93D-807F-4E17-B486-DCE68B9A6AD6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580109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41ED7A8-59A7-4A1B-85AB-660A43EF3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Table of contents</a:t>
            </a:r>
            <a:endParaRPr lang="en-US"/>
          </a:p>
        </p:txBody>
      </p:sp>
      <p:sp>
        <p:nvSpPr>
          <p:cNvPr id="4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5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919499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310531E-0CC7-4528-B1E6-9F819FD0E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Table of contents</a:t>
            </a:r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3EF4C540-3305-446C-B3A6-5230FE8E1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  <p:sp>
        <p:nvSpPr>
          <p:cNvPr id="14" name="Chapter 2">
            <a:extLst>
              <a:ext uri="{FF2B5EF4-FFF2-40B4-BE49-F238E27FC236}">
                <a16:creationId xmlns:a16="http://schemas.microsoft.com/office/drawing/2014/main" id="{F65B1E50-0024-482D-BD5A-7064672F6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30732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  <p:sp>
        <p:nvSpPr>
          <p:cNvPr id="15" name="Chapter 3">
            <a:extLst>
              <a:ext uri="{FF2B5EF4-FFF2-40B4-BE49-F238E27FC236}">
                <a16:creationId xmlns:a16="http://schemas.microsoft.com/office/drawing/2014/main" id="{8AC85E50-79A3-4CC2-85A0-1E361742F5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400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  <p:sp>
        <p:nvSpPr>
          <p:cNvPr id="16" name="Chapter 4">
            <a:extLst>
              <a:ext uri="{FF2B5EF4-FFF2-40B4-BE49-F238E27FC236}">
                <a16:creationId xmlns:a16="http://schemas.microsoft.com/office/drawing/2014/main" id="{6AEF1AD1-4DDB-4DBA-8C94-A0DA12F1A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63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  <p:sp>
        <p:nvSpPr>
          <p:cNvPr id="17" name="Chapter 5">
            <a:extLst>
              <a:ext uri="{FF2B5EF4-FFF2-40B4-BE49-F238E27FC236}">
                <a16:creationId xmlns:a16="http://schemas.microsoft.com/office/drawing/2014/main" id="{018C79BC-8598-41F5-B6E1-0DB86A5FC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0732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  <p:sp>
        <p:nvSpPr>
          <p:cNvPr id="18" name="Chapter 6">
            <a:extLst>
              <a:ext uri="{FF2B5EF4-FFF2-40B4-BE49-F238E27FC236}">
                <a16:creationId xmlns:a16="http://schemas.microsoft.com/office/drawing/2014/main" id="{92BB5C0A-7CAC-4620-92E5-253BEFF2D6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34400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/>
              <a:t>No.</a:t>
            </a:r>
          </a:p>
          <a:p>
            <a:pPr lvl="1"/>
            <a:r>
              <a:rPr lang="en-US" noProof="0"/>
              <a:t>Chapter</a:t>
            </a:r>
          </a:p>
          <a:p>
            <a:pPr lvl="2"/>
            <a:r>
              <a:rPr lang="en-US" noProof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17609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0A4C4D-EAF6-4487-9B40-402A1831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8012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A44E71F-B859-4008-8A5B-83A328EBFCDD}"/>
              </a:ext>
            </a:extLst>
          </p:cNvPr>
          <p:cNvSpPr/>
          <p:nvPr userDrawn="1"/>
        </p:nvSpPr>
        <p:spPr>
          <a:xfrm>
            <a:off x="0" y="1414800"/>
            <a:ext cx="12191999" cy="475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8BA2A0-402B-4423-B445-CE1431A1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7190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1999" cy="4752975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ACECF9-920E-4760-B49D-8F292064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633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large image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2000" cy="5443199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694A34-C7CA-48AB-8D23-B8EABFB0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6953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/>
            </a:lvl1pPr>
          </a:lstStyle>
          <a:p>
            <a:r>
              <a:rPr lang="en-US"/>
              <a:t>Click on the icon to add a </a:t>
            </a:r>
            <a:br>
              <a:rPr lang="en-US"/>
            </a:br>
            <a:r>
              <a:rPr lang="en-US"/>
              <a:t>sufficiently high-contrast image </a:t>
            </a:r>
            <a:br>
              <a:rPr lang="en-US"/>
            </a:br>
            <a:r>
              <a:rPr lang="en-US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C12949-F421-4D93-A5FF-4A495FF4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1681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on the icon to add a </a:t>
            </a:r>
            <a:br>
              <a:rPr lang="en-US"/>
            </a:br>
            <a:r>
              <a:rPr lang="en-US"/>
              <a:t>sufficiently high-contrast image </a:t>
            </a:r>
            <a:br>
              <a:rPr lang="en-US"/>
            </a:br>
            <a:r>
              <a:rPr lang="en-US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B7679BF-476B-4936-B87E-CF0BADD38D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" y="4798"/>
            <a:ext cx="6235700" cy="5873715"/>
          </a:xfrm>
          <a:noFill/>
        </p:spPr>
        <p:txBody>
          <a:bodyPr lIns="626400" tIns="900000" rIns="0" bIns="0" anchor="t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Big statement on a full size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9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96FC1D-DB7A-4E51-83A7-D7995F9E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884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09201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License statement">
            <a:extLst>
              <a:ext uri="{FF2B5EF4-FFF2-40B4-BE49-F238E27FC236}">
                <a16:creationId xmlns:a16="http://schemas.microsoft.com/office/drawing/2014/main" id="{8A8BFD76-D6D8-4CF7-9953-B1C9C522963C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4DD39686-C426-4B02-B953-AC0AC4016A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696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3AF9F3-C036-494E-93A9-EEB85375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112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48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45272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6F8B4D2-6F05-469C-8BE4-52BAC6D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49" y="1414800"/>
            <a:ext cx="547200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49" y="3862725"/>
            <a:ext cx="547200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11631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8888810-CDD3-4B31-A4AB-CEA6DE3D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ltGray">
          <a:xfrm>
            <a:off x="0" y="1414800"/>
            <a:ext cx="6099176" cy="4752975"/>
          </a:xfrm>
          <a:gradFill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</a:gradFill>
        </p:spPr>
        <p:txBody>
          <a:bodyPr lIns="626400" tIns="252000" rIns="144000" bIns="25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50" y="1414800"/>
            <a:ext cx="594995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50" y="3862725"/>
            <a:ext cx="594995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4954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ECFA6D-1332-4048-BA8C-6F8F3DE9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" y="1414800"/>
            <a:ext cx="8834437" cy="2305050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" y="3862800"/>
            <a:ext cx="8834437" cy="2305049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3565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4DED40-DA39-4014-8DEE-94AA5379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48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041062-6E58-45A3-B6A1-92507B39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Image 1">
            <a:extLst>
              <a:ext uri="{FF2B5EF4-FFF2-40B4-BE49-F238E27FC236}">
                <a16:creationId xmlns:a16="http://schemas.microsoft.com/office/drawing/2014/main" id="{D7FB36E4-9D48-40F9-8766-C9A9EB7072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06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Image 2">
            <a:extLst>
              <a:ext uri="{FF2B5EF4-FFF2-40B4-BE49-F238E27FC236}">
                <a16:creationId xmlns:a16="http://schemas.microsoft.com/office/drawing/2014/main" id="{DB7AA95A-85B0-4FB5-A5A1-EA4243663C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7061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5530F297-3088-4E70-982A-604343177B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4163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6904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AC4C64-3556-4D13-9B77-531CC35C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50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7063" y="3862388"/>
            <a:ext cx="5472112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py 4">
            <a:extLst>
              <a:ext uri="{FF2B5EF4-FFF2-40B4-BE49-F238E27FC236}">
                <a16:creationId xmlns:a16="http://schemas.microsoft.com/office/drawing/2014/main" id="{5ABA1728-CE60-4862-A32A-3E1550DB81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2050" y="3862388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8334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4621446-925E-4A5C-BB97-799E6B8386D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359290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 (with logo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4621446-925E-4A5C-BB97-799E6B8386D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DE1CCC5F-D082-4285-B0D2-D44B0385F4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9" name="License statement">
            <a:extLst>
              <a:ext uri="{FF2B5EF4-FFF2-40B4-BE49-F238E27FC236}">
                <a16:creationId xmlns:a16="http://schemas.microsoft.com/office/drawing/2014/main" id="{F7180AC6-B789-4E8E-A386-018ABF4ECC8C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333590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3B8F676D-0405-45AE-9B8F-716387B4760E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256BF8-2AEF-4ECB-8D5E-2926EB05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CA3F32E1-BC1C-475E-99E6-0E8AF47DA2D2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39F2375B-D22F-4C21-B117-6F14EB872B3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DCCDEAC1-13C2-4322-816D-0489681B6D17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276739E7-354E-4450-8E41-F018556F4A4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93637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7" t="-4" r="1" b="-1"/>
          <a:stretch/>
        </p:blipFill>
        <p:spPr bwMode="invGray">
          <a:xfrm>
            <a:off x="6242050" y="0"/>
            <a:ext cx="5949950" cy="685757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69754322-9D76-4652-BA00-A16E0E8B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5468935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68800" y="1702800"/>
            <a:ext cx="4845363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bg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bg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1"/>
                </a:solidFill>
              </a:rPr>
              <a:t>‹Nr.›</a:t>
            </a:fld>
            <a:endParaRPr lang="en-US" sz="1000" b="1" noProof="0">
              <a:solidFill>
                <a:schemeClr val="bg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269700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26" userDrawn="1">
          <p15:clr>
            <a:srgbClr val="009999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2" y="1"/>
            <a:ext cx="6099177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bg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3C362A-A909-40CB-9FA2-3D717800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48384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24799" y="1702800"/>
            <a:ext cx="4989364" cy="4464050"/>
          </a:xfrm>
        </p:spPr>
        <p:txBody>
          <a:bodyPr lIns="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bg2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bg2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2"/>
                </a:solidFill>
              </a:rPr>
              <a:t>‹Nr.›</a:t>
            </a:fld>
            <a:endParaRPr lang="en-US" sz="1000" b="1" noProof="0">
              <a:solidFill>
                <a:schemeClr val="bg2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06345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235" userDrawn="1">
          <p15:clr>
            <a:srgbClr val="009999"/>
          </p15:clr>
        </p15:guide>
        <p15:guide id="4" pos="3445" userDrawn="1">
          <p15:clr>
            <a:srgbClr val="009999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9" t="-4" r="1" b="-1"/>
          <a:stretch/>
        </p:blipFill>
        <p:spPr bwMode="invGray">
          <a:xfrm>
            <a:off x="4225925" y="0"/>
            <a:ext cx="7966075" cy="68575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DA0C482-E794-471B-86E8-8B4BC6F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88" y="1702800"/>
            <a:ext cx="6861175" cy="4464050"/>
          </a:xfrm>
        </p:spPr>
        <p:txBody>
          <a:bodyPr lIns="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292000" y="6166800"/>
            <a:ext cx="900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bg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556039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482" userDrawn="1">
          <p15:clr>
            <a:srgbClr val="009999"/>
          </p15:clr>
        </p15:guide>
        <p15:guide id="3" pos="3057" userDrawn="1">
          <p15:clr>
            <a:srgbClr val="009999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1" y="1"/>
            <a:ext cx="4225926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06C2C1-E8E5-4190-B0E4-8D8FC817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90" y="1702800"/>
            <a:ext cx="6861174" cy="4464050"/>
          </a:xfrm>
        </p:spPr>
        <p:txBody>
          <a:bodyPr lIns="0"/>
          <a:lstStyle>
            <a:lvl1pP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bg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4247169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481" userDrawn="1">
          <p15:clr>
            <a:srgbClr val="009999"/>
          </p15:clr>
        </p15:guide>
        <p15:guide id="3" pos="3058" userDrawn="1">
          <p15:clr>
            <a:srgbClr val="009999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56"/>
          <a:stretch/>
        </p:blipFill>
        <p:spPr bwMode="invGray">
          <a:xfrm>
            <a:off x="0" y="1414463"/>
            <a:ext cx="12191999" cy="5443108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110D7BC-E7EC-4502-9248-89CD9CF4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py 1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7060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py 2">
            <a:extLst>
              <a:ext uri="{FF2B5EF4-FFF2-40B4-BE49-F238E27FC236}">
                <a16:creationId xmlns:a16="http://schemas.microsoft.com/office/drawing/2014/main" id="{99496BBF-8C93-419A-9711-E1A45A39C74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2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Copy 3">
            <a:extLst>
              <a:ext uri="{FF2B5EF4-FFF2-40B4-BE49-F238E27FC236}">
                <a16:creationId xmlns:a16="http://schemas.microsoft.com/office/drawing/2014/main" id="{F4602EF6-A996-4008-A6E7-BC21522010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Unrestricted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972842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hlinkClick r:id="rId2"/>
            <a:extLst>
              <a:ext uri="{FF2B5EF4-FFF2-40B4-BE49-F238E27FC236}">
                <a16:creationId xmlns:a16="http://schemas.microsoft.com/office/drawing/2014/main" id="{281FD3DE-3D3F-4936-81A7-AD286FE4E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971" t="33492" r="42185" b="37637"/>
          <a:stretch/>
        </p:blipFill>
        <p:spPr bwMode="invGray">
          <a:xfrm>
            <a:off x="1358" y="1414800"/>
            <a:ext cx="6098400" cy="4752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9A8A3D2-4732-49AB-8FCF-B07043C38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2049" y="1414800"/>
            <a:ext cx="5472113" cy="4752974"/>
          </a:xfrm>
        </p:spPr>
        <p:txBody>
          <a:bodyPr lIns="0"/>
          <a:lstStyle>
            <a:lvl1pPr>
              <a:spcBef>
                <a:spcPts val="600"/>
              </a:spcBef>
              <a:defRPr baseline="0"/>
            </a:lvl1pPr>
            <a:lvl2pPr marL="0" indent="0">
              <a:spcBef>
                <a:spcPts val="600"/>
              </a:spcBef>
              <a:buNone/>
              <a:defRPr b="1"/>
            </a:lvl2pPr>
            <a:lvl3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1800"/>
              </a:spcBef>
              <a:buNone/>
              <a:defRPr b="1">
                <a:solidFill>
                  <a:schemeClr val="accent2"/>
                </a:solidFill>
              </a:defRPr>
            </a:lvl4pPr>
            <a:lvl5pPr marL="216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Contact information</a:t>
            </a:r>
          </a:p>
          <a:p>
            <a:pPr lvl="1"/>
            <a:r>
              <a:rPr lang="en-US" noProof="0"/>
              <a:t>First name Last name</a:t>
            </a:r>
          </a:p>
          <a:p>
            <a:pPr lvl="2"/>
            <a:r>
              <a:rPr lang="en-US" noProof="0"/>
              <a:t>Additional information</a:t>
            </a:r>
          </a:p>
          <a:p>
            <a:pPr lvl="3"/>
            <a:r>
              <a:rPr lang="en-US" noProof="0"/>
              <a:t>Optional URL</a:t>
            </a:r>
          </a:p>
        </p:txBody>
      </p:sp>
      <p:sp>
        <p:nvSpPr>
          <p:cNvPr id="10" name="License statement">
            <a:extLst>
              <a:ext uri="{FF2B5EF4-FFF2-40B4-BE49-F238E27FC236}">
                <a16:creationId xmlns:a16="http://schemas.microsoft.com/office/drawing/2014/main" id="{7A9560F1-3DB3-46C0-AE0C-BFB3B1558722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D4FB85B-6B00-4CB9-9A3F-0DA4223A52A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695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>
  <p:cSld name="1_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-1"/>
            <a:ext cx="12192000" cy="1440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26736" y="1440000"/>
            <a:ext cx="8204689" cy="4752000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pPr lvl="0"/>
            <a:r>
              <a:rPr lang="en-US" err="1"/>
              <a:t>Textmasterformat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33"/>
          <p:cNvGrpSpPr>
            <a:grpSpLocks noChangeAspect="1"/>
          </p:cNvGrpSpPr>
          <p:nvPr userDrawn="1"/>
        </p:nvGrpSpPr>
        <p:grpSpPr bwMode="auto">
          <a:xfrm>
            <a:off x="9550189" y="323850"/>
            <a:ext cx="2157876" cy="914400"/>
            <a:chOff x="6019" y="204"/>
            <a:chExt cx="1360" cy="576"/>
          </a:xfrm>
        </p:grpSpPr>
        <p:sp>
          <p:nvSpPr>
            <p:cNvPr id="7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8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9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0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1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2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3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4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5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6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7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8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9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0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1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2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3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4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5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6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7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8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9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0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1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2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3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</p:grpSp>
    </p:spTree>
    <p:custDataLst>
      <p:custData r:id="rId1"/>
    </p:custDataLst>
    <p:extLst>
      <p:ext uri="{BB962C8B-B14F-4D97-AF65-F5344CB8AC3E}">
        <p14:creationId xmlns:p14="http://schemas.microsoft.com/office/powerpoint/2010/main" val="33832548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 + Navigation" userDrawn="1">
  <p:cSld name="Free Content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-1"/>
            <a:ext cx="12192000" cy="1440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4328" y="1440000"/>
            <a:ext cx="1295324" cy="4752000"/>
          </a:xfrm>
          <a:ln w="127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None/>
              <a:defRPr sz="1399">
                <a:solidFill>
                  <a:srgbClr val="879BAA"/>
                </a:solidFill>
              </a:defRPr>
            </a:lvl1pPr>
            <a:lvl2pPr marL="0" indent="0" algn="ctr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None/>
              <a:defRPr sz="1399">
                <a:solidFill>
                  <a:srgbClr val="641946"/>
                </a:solidFill>
              </a:defRPr>
            </a:lvl2pPr>
            <a:lvl3pPr marL="143928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None/>
              <a:defRPr sz="1399">
                <a:solidFill>
                  <a:srgbClr val="879BAA"/>
                </a:solidFill>
              </a:defRPr>
            </a:lvl3pPr>
            <a:lvl4pPr marL="143928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None/>
              <a:defRPr sz="1399">
                <a:solidFill>
                  <a:srgbClr val="641946"/>
                </a:solidFill>
              </a:defRPr>
            </a:lvl4pPr>
            <a:lvl5pPr marL="287856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None/>
              <a:defRPr sz="1399">
                <a:solidFill>
                  <a:schemeClr val="accent1"/>
                </a:solidFill>
              </a:defRPr>
            </a:lvl5pPr>
            <a:lvl6pPr marL="287856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None/>
              <a:defRPr sz="1399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/>
              <a:t>Click to edit the navigation text</a:t>
            </a:r>
          </a:p>
          <a:p>
            <a:pPr lvl="1"/>
            <a:r>
              <a:rPr lang="en-US" noProof="0"/>
              <a:t>active chapter</a:t>
            </a:r>
          </a:p>
          <a:p>
            <a:pPr lvl="2"/>
            <a:r>
              <a:rPr lang="en-US" noProof="0"/>
              <a:t>subchapter</a:t>
            </a:r>
          </a:p>
          <a:p>
            <a:pPr lvl="3"/>
            <a:r>
              <a:rPr lang="en-US" noProof="0"/>
              <a:t>active subchapter</a:t>
            </a:r>
          </a:p>
          <a:p>
            <a:pPr lvl="4"/>
            <a:r>
              <a:rPr lang="en-US" noProof="0"/>
              <a:t>subchapter</a:t>
            </a:r>
          </a:p>
          <a:p>
            <a:pPr lvl="5"/>
            <a:r>
              <a:rPr lang="en-US" noProof="0"/>
              <a:t>active subchapter</a:t>
            </a:r>
            <a:endParaRPr lang="en-US"/>
          </a:p>
        </p:txBody>
      </p:sp>
      <p:grpSp>
        <p:nvGrpSpPr>
          <p:cNvPr id="7" name="Group 33"/>
          <p:cNvGrpSpPr>
            <a:grpSpLocks noChangeAspect="1"/>
          </p:cNvGrpSpPr>
          <p:nvPr userDrawn="1"/>
        </p:nvGrpSpPr>
        <p:grpSpPr bwMode="auto">
          <a:xfrm>
            <a:off x="9550189" y="323850"/>
            <a:ext cx="2157876" cy="914400"/>
            <a:chOff x="6019" y="204"/>
            <a:chExt cx="1360" cy="576"/>
          </a:xfrm>
        </p:grpSpPr>
        <p:sp>
          <p:nvSpPr>
            <p:cNvPr id="8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9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0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1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2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3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4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5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6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7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8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19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0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1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2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3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4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5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6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7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8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29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0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1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2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3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4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</p:grpSp>
      <p:pic>
        <p:nvPicPr>
          <p:cNvPr id="35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069" y="1528738"/>
            <a:ext cx="480763" cy="488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22055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6C5D22-2D05-436C-B3FF-684C0326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3E46A9A-BF3F-41A6-ABFA-1F80C067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414800"/>
            <a:ext cx="8207375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47D1BF6C-5F09-4F64-A9AC-A5B1F1AC9DC5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/>
              <a:t>Siemens Energy | Improvement Projects</a:t>
            </a:r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C256CC5F-2E32-487E-8F3C-5F626C2236B3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/>
              <a:t>Unrestricted © Siemens Energy, 2020</a:t>
            </a: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ADCE6DE1-D72A-4960-AD36-50AAB9FC6372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/>
              <a:t>‹Nr.›</a:t>
            </a:fld>
            <a:endParaRPr lang="en-US" sz="1000" b="1" noProof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00B4D258-65B1-4091-875A-AE678469BF4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/>
              <a:t>2020-07-28</a:t>
            </a:r>
          </a:p>
        </p:txBody>
      </p:sp>
    </p:spTree>
    <p:extLst>
      <p:ext uri="{BB962C8B-B14F-4D97-AF65-F5344CB8AC3E}">
        <p14:creationId xmlns:p14="http://schemas.microsoft.com/office/powerpoint/2010/main" val="26369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4" r:id="rId2"/>
    <p:sldLayoutId id="2147483686" r:id="rId3"/>
    <p:sldLayoutId id="2147483687" r:id="rId4"/>
    <p:sldLayoutId id="2147483649" r:id="rId5"/>
    <p:sldLayoutId id="2147483661" r:id="rId6"/>
    <p:sldLayoutId id="2147483689" r:id="rId7"/>
    <p:sldLayoutId id="2147483691" r:id="rId8"/>
    <p:sldLayoutId id="2147483692" r:id="rId9"/>
    <p:sldLayoutId id="2147483662" r:id="rId10"/>
    <p:sldLayoutId id="2147483681" r:id="rId11"/>
    <p:sldLayoutId id="2147483682" r:id="rId12"/>
    <p:sldLayoutId id="2147483663" r:id="rId13"/>
    <p:sldLayoutId id="2147483664" r:id="rId14"/>
    <p:sldLayoutId id="2147483683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88" r:id="rId21"/>
    <p:sldLayoutId id="2147483650" r:id="rId22"/>
    <p:sldLayoutId id="2147483671" r:id="rId23"/>
    <p:sldLayoutId id="2147483700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0" r:id="rId32"/>
    <p:sldLayoutId id="2147483701" r:id="rId33"/>
    <p:sldLayoutId id="2147483680" r:id="rId34"/>
    <p:sldLayoutId id="2147483698" r:id="rId35"/>
    <p:sldLayoutId id="2147483699" r:id="rId36"/>
    <p:sldLayoutId id="2147483696" r:id="rId37"/>
    <p:sldLayoutId id="2147483697" r:id="rId38"/>
    <p:sldLayoutId id="2147483693" r:id="rId39"/>
    <p:sldLayoutId id="2147483679" r:id="rId40"/>
    <p:sldLayoutId id="2147483703" r:id="rId41"/>
    <p:sldLayoutId id="2147483704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009999"/>
          </p15:clr>
        </p15:guide>
        <p15:guide id="2" pos="2662">
          <p15:clr>
            <a:srgbClr val="009999"/>
          </p15:clr>
        </p15:guide>
        <p15:guide id="3" pos="3842">
          <p15:clr>
            <a:srgbClr val="009999"/>
          </p15:clr>
        </p15:guide>
        <p15:guide id="4" pos="3932">
          <p15:clr>
            <a:srgbClr val="009999"/>
          </p15:clr>
        </p15:guide>
        <p15:guide id="5" pos="5565">
          <p15:clr>
            <a:srgbClr val="009999"/>
          </p15:clr>
        </p15:guide>
        <p15:guide id="6" pos="6087">
          <p15:clr>
            <a:srgbClr val="009999"/>
          </p15:clr>
        </p15:guide>
        <p15:guide id="7" pos="7379">
          <p15:clr>
            <a:srgbClr val="009999"/>
          </p15:clr>
        </p15:guide>
        <p15:guide id="9" orient="horz" pos="891">
          <p15:clr>
            <a:srgbClr val="009999"/>
          </p15:clr>
        </p15:guide>
        <p15:guide id="10" orient="horz" pos="1073">
          <p15:clr>
            <a:srgbClr val="009999"/>
          </p15:clr>
        </p15:guide>
        <p15:guide id="11" orient="horz" pos="2343">
          <p15:clr>
            <a:srgbClr val="009999"/>
          </p15:clr>
        </p15:guide>
        <p15:guide id="12" orient="horz" pos="2433">
          <p15:clr>
            <a:srgbClr val="009999"/>
          </p15:clr>
        </p15:guide>
        <p15:guide id="13" orient="horz" pos="3703">
          <p15:clr>
            <a:srgbClr val="009999"/>
          </p15:clr>
        </p15:guide>
        <p15:guide id="14" orient="horz" pos="3885">
          <p15:clr>
            <a:srgbClr val="00999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roh.matthias@siemens.com" TargetMode="External"/><Relationship Id="rId2" Type="http://schemas.openxmlformats.org/officeDocument/2006/relationships/hyperlink" Target="mailto:datasciencesupport.energy@siemens.com" TargetMode="Externa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datacamp.com/courses/data-manipulation-with-panda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learn.datacamp.com/courses/data-manipulation-with-pandas" TargetMode="Externa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Pages/ResponsePage.aspx?id=PqlLJW8f80iQ5uJ2ZmS0d-5LdjYRShZEhN3YmsD7St9UREFCNlJTVlRaMVVLNkVOVTNaN09IMTA3MC4u" TargetMode="External"/><Relationship Id="rId2" Type="http://schemas.openxmlformats.org/officeDocument/2006/relationships/hyperlink" Target="https://web.yammer.com/main/groups/eyJfdHlwZSI6Ikdyb3VwIiwiaWQiOiIxMzAyMjM3MTg0MSJ9/all" TargetMode="Externa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energyai.siemens.cloud/home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camp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datacamp.com/community/tutorials/data-structures-python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se10.siemens-energy.com/content/P0002338/_layouts/15/xlviewer.aspx?id=/content/P0002338/Documents/Data_Request_Helper.xlsx" TargetMode="Externa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se10.siemens-energy.com/content/P0002338/_layouts/15/xlviewer.aspx?id=/content/P0002338/Documents/Data_Tool_Comparer.xls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se10.siemens-energy.com/content/P0002338/Documents/Go-to_People.xlsx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anaconda.com/distribution/" TargetMode="Externa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.xml"/><Relationship Id="rId5" Type="http://schemas.openxmlformats.org/officeDocument/2006/relationships/hyperlink" Target="https://forum.energyai.siemens.cloud/categories" TargetMode="External"/><Relationship Id="rId4" Type="http://schemas.openxmlformats.org/officeDocument/2006/relationships/hyperlink" Target="https://energyai.siemens.cloud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atahub.mindsphere.siemens.com/" TargetMode="Externa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1.xml"/><Relationship Id="rId5" Type="http://schemas.microsoft.com/office/2007/relationships/hdphoto" Target="../media/hdphoto2.wdp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38E72CC-385E-4BD8-8999-AEE4C70B8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Data-Science</a:t>
            </a:r>
            <a:br>
              <a:rPr lang="en-US" noProof="0"/>
            </a:br>
            <a:r>
              <a:rPr lang="en-US" noProof="0"/>
              <a:t>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270027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668A4-B447-449D-A470-58FDFEA3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Matthias Groh @ SE GP G QPI QM 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087F08-43EF-4FDE-85CD-50AA49F3E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736" y="1452957"/>
            <a:ext cx="7736335" cy="4749526"/>
          </a:xfrm>
        </p:spPr>
        <p:txBody>
          <a:bodyPr/>
          <a:lstStyle/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Department “Improvement Projects” of SE Generation Quality 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Data Science consultant 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Six Sigma Master Black Belt</a:t>
            </a:r>
          </a:p>
          <a:p>
            <a:pPr>
              <a:spcAft>
                <a:spcPts val="600"/>
              </a:spcAft>
            </a:pPr>
            <a:r>
              <a:rPr lang="en-US" sz="1399" b="1"/>
              <a:t>Previous engagements: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Senior Lean Expert focusing on administration processes </a:t>
            </a:r>
            <a:br>
              <a:rPr lang="en-US" sz="1399"/>
            </a:br>
            <a:r>
              <a:rPr lang="en-US" sz="1399"/>
              <a:t>@ Siemens Energy Fossil Products, Berlin, Germany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Director Six Sigma @ IIL, New York, NY, USA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99"/>
              <a:t>Six Sigma Black Belt @ Deutsche Bahn, Frankfurt, Germany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99"/>
          </a:p>
          <a:p>
            <a:pPr>
              <a:spcAft>
                <a:spcPts val="600"/>
              </a:spcAft>
            </a:pPr>
            <a:r>
              <a:rPr lang="en-US" sz="1399" b="1"/>
              <a:t>Professional degrees in: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Precision Mechanics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Mathematics</a:t>
            </a:r>
          </a:p>
          <a:p>
            <a:pPr marL="285607" indent="-285607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Psychology</a:t>
            </a:r>
          </a:p>
          <a:p>
            <a:endParaRPr lang="en-US" sz="1399"/>
          </a:p>
          <a:p>
            <a:endParaRPr lang="en-US" sz="1399"/>
          </a:p>
          <a:p>
            <a:r>
              <a:rPr lang="en-US" sz="1399"/>
              <a:t>If you need help, please contact our support mail box: </a:t>
            </a:r>
            <a:r>
              <a:rPr lang="en-US" sz="1399" u="sng">
                <a:hlinkClick r:id="rId2"/>
              </a:rPr>
              <a:t>dataScienceSupport.energy@siemens.com</a:t>
            </a:r>
            <a:endParaRPr lang="en-US" sz="1399"/>
          </a:p>
          <a:p>
            <a:r>
              <a:rPr lang="en-US" sz="1399"/>
              <a:t>To contact me personally, email me at </a:t>
            </a:r>
            <a:r>
              <a:rPr lang="en-US" sz="1399">
                <a:hlinkClick r:id="rId3"/>
              </a:rPr>
              <a:t>groh.matthias@siemens-energy.com</a:t>
            </a:r>
            <a:r>
              <a:rPr lang="en-US" sz="1399"/>
              <a:t> </a:t>
            </a:r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144F3A7C-60A7-4A38-B547-F4F898292B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0680" y="1441035"/>
            <a:ext cx="3100399" cy="4039126"/>
          </a:xfr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FC09AA-1E02-4FDE-A38E-BBEE71F843CE}"/>
              </a:ext>
            </a:extLst>
          </p:cNvPr>
          <p:cNvSpPr txBox="1"/>
          <p:nvPr/>
        </p:nvSpPr>
        <p:spPr>
          <a:xfrm>
            <a:off x="3649003" y="4148705"/>
            <a:ext cx="6318537" cy="143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1399" b="1"/>
              <a:t>Additional qualifications:</a:t>
            </a:r>
          </a:p>
          <a:p>
            <a:pPr marL="285607" indent="-285607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Certified Group Facilitator and Trainer (ABF)</a:t>
            </a:r>
          </a:p>
          <a:p>
            <a:pPr marL="285607" indent="-285607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Certified Six Sigma Master Black Belt (IIL)</a:t>
            </a:r>
          </a:p>
          <a:p>
            <a:pPr marL="285607" indent="-285607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Certified Project Management Professional (PMI)</a:t>
            </a:r>
          </a:p>
          <a:p>
            <a:pPr marL="285607" indent="-285607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Certified Senior Lean Expert (LMI)</a:t>
            </a:r>
          </a:p>
        </p:txBody>
      </p:sp>
    </p:spTree>
    <p:extLst>
      <p:ext uri="{BB962C8B-B14F-4D97-AF65-F5344CB8AC3E}">
        <p14:creationId xmlns:p14="http://schemas.microsoft.com/office/powerpoint/2010/main" val="105008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36143-FFB5-4C5C-8AA9-BB34BFBE647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Introduction: Data Science</a:t>
            </a:r>
            <a:br>
              <a:rPr lang="en-US"/>
            </a:br>
            <a:r>
              <a:rPr lang="en-US"/>
              <a:t>@ </a:t>
            </a:r>
            <a:r>
              <a:rPr lang="pt-BR"/>
              <a:t>SE GP G QPI QM P </a:t>
            </a:r>
            <a:r>
              <a:rPr lang="en-US"/>
              <a:t>Improvement Projects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63950F-84E4-494D-A975-91DD1B18F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414800"/>
            <a:ext cx="7257453" cy="4752975"/>
          </a:xfrm>
        </p:spPr>
        <p:txBody>
          <a:bodyPr/>
          <a:lstStyle/>
          <a:p>
            <a:pPr>
              <a:lnSpc>
                <a:spcPct val="130000"/>
              </a:lnSpc>
              <a:tabLst>
                <a:tab pos="982663" algn="l"/>
              </a:tabLst>
            </a:pPr>
            <a:r>
              <a:rPr lang="en-US" sz="1600" b="1">
                <a:latin typeface="+mj-lt"/>
              </a:rPr>
              <a:t>We help your employees getting the skills for the digital future</a:t>
            </a:r>
            <a:r>
              <a:rPr lang="en-US" sz="1400" b="1">
                <a:latin typeface="+mj-lt"/>
              </a:rPr>
              <a:t>:</a:t>
            </a:r>
          </a:p>
          <a:p>
            <a:pPr lvl="1" fontAlgn="base">
              <a:lnSpc>
                <a:spcPct val="130000"/>
              </a:lnSpc>
            </a:pPr>
            <a:r>
              <a:rPr lang="en-US" sz="1400">
                <a:solidFill>
                  <a:srgbClr val="1B1534"/>
                </a:solidFill>
                <a:latin typeface="+mj-lt"/>
              </a:rPr>
              <a:t>Global Data Science Skill Network (with Matt Bryan, LGT R&amp;D)</a:t>
            </a:r>
          </a:p>
          <a:p>
            <a:pPr lvl="1" fontAlgn="base">
              <a:lnSpc>
                <a:spcPct val="130000"/>
              </a:lnSpc>
            </a:pPr>
            <a:r>
              <a:rPr lang="en-US" sz="1400" b="0" i="0" u="none" strike="noStrike">
                <a:solidFill>
                  <a:srgbClr val="1B1534"/>
                </a:solidFill>
                <a:effectLst/>
                <a:latin typeface="+mj-lt"/>
              </a:rPr>
              <a:t>Data Science and Machine Learning trainings (with several partners):</a:t>
            </a:r>
          </a:p>
          <a:p>
            <a:pPr lvl="4" fontAlgn="base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1B1534"/>
                </a:solidFill>
                <a:latin typeface="+mj-lt"/>
              </a:rPr>
              <a:t>Currently 11 trainings developed and executed</a:t>
            </a:r>
          </a:p>
          <a:p>
            <a:pPr lvl="4" fontAlgn="base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1B1534"/>
                </a:solidFill>
                <a:latin typeface="+mj-lt"/>
              </a:rPr>
              <a:t>Attended by &gt;</a:t>
            </a:r>
            <a:r>
              <a:rPr lang="en-US" sz="1400" b="0" i="0" u="none" strike="noStrike">
                <a:solidFill>
                  <a:srgbClr val="1B1534"/>
                </a:solidFill>
                <a:effectLst/>
                <a:latin typeface="+mj-lt"/>
              </a:rPr>
              <a:t>500 participants mostly from R&amp;D</a:t>
            </a:r>
          </a:p>
          <a:p>
            <a:pPr lvl="1" fontAlgn="base">
              <a:lnSpc>
                <a:spcPct val="130000"/>
              </a:lnSpc>
            </a:pPr>
            <a:r>
              <a:rPr lang="en-US" sz="1400">
                <a:solidFill>
                  <a:srgbClr val="1B1534"/>
                </a:solidFill>
                <a:latin typeface="+mj-lt"/>
              </a:rPr>
              <a:t>Analytic services in specific improvement projects</a:t>
            </a:r>
          </a:p>
          <a:p>
            <a:pPr lvl="1" fontAlgn="base">
              <a:lnSpc>
                <a:spcPct val="130000"/>
              </a:lnSpc>
            </a:pPr>
            <a:r>
              <a:rPr lang="en-US" sz="1400" b="0" i="0" u="none" strike="noStrike">
                <a:solidFill>
                  <a:srgbClr val="1B1534"/>
                </a:solidFill>
                <a:effectLst/>
                <a:latin typeface="+mj-lt"/>
              </a:rPr>
              <a:t>EAI </a:t>
            </a:r>
            <a:r>
              <a:rPr lang="en-US" sz="1400" b="0" i="0" u="none" strike="noStrike" err="1">
                <a:solidFill>
                  <a:srgbClr val="1B1534"/>
                </a:solidFill>
                <a:effectLst/>
                <a:latin typeface="+mj-lt"/>
              </a:rPr>
              <a:t>CodeShare</a:t>
            </a:r>
            <a:r>
              <a:rPr lang="en-US" sz="1400" b="0" i="0" u="none" strike="noStrike">
                <a:solidFill>
                  <a:srgbClr val="1B1534"/>
                </a:solidFill>
                <a:effectLst/>
                <a:latin typeface="+mj-lt"/>
              </a:rPr>
              <a:t> (with Thomas Buller, LGN R&amp;D)</a:t>
            </a:r>
          </a:p>
          <a:p>
            <a:pPr algn="l" rtl="0" fontAlgn="base"/>
            <a:endParaRPr lang="en-US" sz="1400" b="0" i="0" u="none" strike="noStrike">
              <a:solidFill>
                <a:srgbClr val="1B1534"/>
              </a:solidFill>
              <a:effectLst/>
              <a:latin typeface="+mj-lt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FCCE862-ADBD-45AA-AA4B-28833831406E}"/>
              </a:ext>
            </a:extLst>
          </p:cNvPr>
          <p:cNvCxnSpPr>
            <a:cxnSpLocks/>
          </p:cNvCxnSpPr>
          <p:nvPr/>
        </p:nvCxnSpPr>
        <p:spPr>
          <a:xfrm flipV="1">
            <a:off x="5358063" y="1973179"/>
            <a:ext cx="2213810" cy="162025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85716A3A-F6BC-4765-A4E7-5FDF727423B6}"/>
              </a:ext>
            </a:extLst>
          </p:cNvPr>
          <p:cNvCxnSpPr>
            <a:cxnSpLocks/>
          </p:cNvCxnSpPr>
          <p:nvPr/>
        </p:nvCxnSpPr>
        <p:spPr>
          <a:xfrm>
            <a:off x="5358063" y="5454238"/>
            <a:ext cx="2213810" cy="11763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9FD80D-D2F5-4E4B-AEAB-7B4691664612}"/>
              </a:ext>
            </a:extLst>
          </p:cNvPr>
          <p:cNvGrpSpPr/>
          <p:nvPr/>
        </p:nvGrpSpPr>
        <p:grpSpPr>
          <a:xfrm>
            <a:off x="600816" y="3724550"/>
            <a:ext cx="3905680" cy="1729688"/>
            <a:chOff x="627434" y="4140883"/>
            <a:chExt cx="4866414" cy="2147896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6852413-5167-4D6A-90DB-678BF1242108}"/>
                </a:ext>
              </a:extLst>
            </p:cNvPr>
            <p:cNvSpPr/>
            <p:nvPr/>
          </p:nvSpPr>
          <p:spPr>
            <a:xfrm>
              <a:off x="627434" y="4140883"/>
              <a:ext cx="4866414" cy="214789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DB7C11EB-BAAC-4140-8C89-FC891AA3E844}"/>
                </a:ext>
              </a:extLst>
            </p:cNvPr>
            <p:cNvSpPr/>
            <p:nvPr/>
          </p:nvSpPr>
          <p:spPr>
            <a:xfrm>
              <a:off x="746843" y="4237486"/>
              <a:ext cx="4603210" cy="2749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</a:rPr>
                <a:t>Data Science @ QPI QM P:</a:t>
              </a:r>
            </a:p>
          </p:txBody>
        </p: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F7538848-CF07-4ACB-82F7-EB92A94A6681}"/>
                </a:ext>
              </a:extLst>
            </p:cNvPr>
            <p:cNvGrpSpPr/>
            <p:nvPr/>
          </p:nvGrpSpPr>
          <p:grpSpPr>
            <a:xfrm>
              <a:off x="746843" y="4634754"/>
              <a:ext cx="2463941" cy="694781"/>
              <a:chOff x="844336" y="4568734"/>
              <a:chExt cx="2463941" cy="694781"/>
            </a:xfrm>
          </p:grpSpPr>
          <p:sp>
            <p:nvSpPr>
              <p:cNvPr id="58" name="Rectangle 21">
                <a:extLst>
                  <a:ext uri="{FF2B5EF4-FFF2-40B4-BE49-F238E27FC236}">
                    <a16:creationId xmlns:a16="http://schemas.microsoft.com/office/drawing/2014/main" id="{0799D796-0251-43D7-B0D9-1363DCA1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336" y="4568734"/>
                <a:ext cx="2102733" cy="694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tIns="71963" bIns="71963" anchor="ctr">
                <a:norm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Tx/>
                  <a:buNone/>
                </a:pPr>
                <a:endParaRPr lang="en-US" altLang="de-DE" sz="1199" b="1"/>
              </a:p>
            </p:txBody>
          </p:sp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6A648F65-CDC6-42F4-BB61-7F60F7A2F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981" y="4663963"/>
                <a:ext cx="1878296" cy="553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en-US" altLang="de-DE" sz="1000" b="1"/>
                  <a:t>Matthias Groh</a:t>
                </a:r>
                <a:br>
                  <a:rPr lang="en-US" altLang="de-DE" sz="1000" b="1"/>
                </a:br>
                <a:r>
                  <a:rPr lang="en-US" altLang="de-DE" sz="1000"/>
                  <a:t>Master Black Belt</a:t>
                </a:r>
              </a:p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de-DE" altLang="de-DE" sz="1000"/>
                  <a:t>Data Science Expert</a:t>
                </a:r>
                <a:endParaRPr lang="en-US" altLang="de-DE" sz="1000"/>
              </a:p>
            </p:txBody>
          </p:sp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9766FA50-ED48-4EB9-A8E7-0F7F9770B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129" y="4658191"/>
                <a:ext cx="413758" cy="534799"/>
              </a:xfrm>
              <a:prstGeom prst="rect">
                <a:avLst/>
              </a:prstGeom>
            </p:spPr>
          </p:pic>
        </p:grp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C59E9C68-3475-444B-A1B3-19994D674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0128" y="5457928"/>
              <a:ext cx="2099925" cy="694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71963" bIns="71963" anchor="ctr">
              <a:norm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Tx/>
                <a:buNone/>
              </a:pPr>
              <a:r>
                <a:rPr lang="en-US" altLang="de-DE" sz="1000" b="1"/>
                <a:t>Kay Toepfer</a:t>
              </a:r>
            </a:p>
            <a:p>
              <a:pPr>
                <a:lnSpc>
                  <a:spcPct val="100000"/>
                </a:lnSpc>
                <a:buFontTx/>
                <a:buNone/>
              </a:pPr>
              <a:r>
                <a:rPr lang="de-DE" altLang="de-DE" sz="1000"/>
                <a:t>Master Student</a:t>
              </a:r>
              <a:endParaRPr lang="en-US" altLang="de-DE" sz="1000" b="1"/>
            </a:p>
          </p:txBody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64080D14-767E-4E91-8D33-560A7142A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43" y="5481996"/>
              <a:ext cx="2102733" cy="694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71963" bIns="71963" anchor="ctr">
              <a:norm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Tx/>
                <a:buNone/>
              </a:pPr>
              <a:r>
                <a:rPr lang="en-US" altLang="de-DE" sz="1000" b="1"/>
                <a:t>Nicolas Schneider</a:t>
              </a:r>
            </a:p>
            <a:p>
              <a:pPr>
                <a:lnSpc>
                  <a:spcPct val="100000"/>
                </a:lnSpc>
                <a:buFontTx/>
                <a:buNone/>
              </a:pPr>
              <a:r>
                <a:rPr lang="de-DE" altLang="de-DE" sz="1000"/>
                <a:t>Coop Master Student</a:t>
              </a:r>
              <a:endParaRPr lang="en-US" altLang="de-DE" sz="1000" b="1"/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E8F2FC75-61D0-4B80-8BFF-D7D98B20C3FC}"/>
                </a:ext>
              </a:extLst>
            </p:cNvPr>
            <p:cNvGrpSpPr/>
            <p:nvPr/>
          </p:nvGrpSpPr>
          <p:grpSpPr>
            <a:xfrm>
              <a:off x="3250128" y="4644219"/>
              <a:ext cx="2209718" cy="694781"/>
              <a:chOff x="3157270" y="4578201"/>
              <a:chExt cx="2209718" cy="694781"/>
            </a:xfrm>
          </p:grpSpPr>
          <p:sp>
            <p:nvSpPr>
              <p:cNvPr id="57" name="Rectangle 21">
                <a:extLst>
                  <a:ext uri="{FF2B5EF4-FFF2-40B4-BE49-F238E27FC236}">
                    <a16:creationId xmlns:a16="http://schemas.microsoft.com/office/drawing/2014/main" id="{E328D9E2-5C7C-45D0-8472-4487B02EB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7270" y="4578201"/>
                <a:ext cx="2099925" cy="694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tIns="71963" bIns="71963" anchor="ctr">
                <a:norm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Tx/>
                  <a:buNone/>
                </a:pPr>
                <a:endParaRPr lang="en-US" altLang="de-DE" sz="1199" b="1"/>
              </a:p>
            </p:txBody>
          </p:sp>
          <p:sp>
            <p:nvSpPr>
              <p:cNvPr id="33" name="Rectangle 21">
                <a:extLst>
                  <a:ext uri="{FF2B5EF4-FFF2-40B4-BE49-F238E27FC236}">
                    <a16:creationId xmlns:a16="http://schemas.microsoft.com/office/drawing/2014/main" id="{C1B6AE3B-6257-4C68-8FD9-C686BD7FC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8055" y="4658193"/>
                <a:ext cx="1658933" cy="589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36000" anchor="t" anchorCtr="0">
                <a:noAutofit/>
              </a:bodyPr>
              <a:lstStyle>
                <a:lvl1pPr algn="l" eaLnBrk="0" hangingPunct="0">
                  <a:lnSpc>
                    <a:spcPts val="2400"/>
                  </a:lnSpc>
                  <a:buFont typeface="Wingdings" pitchFamily="2" charset="2"/>
                  <a:defRPr sz="20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algn="l" eaLnBrk="0" hangingPunct="0">
                  <a:lnSpc>
                    <a:spcPts val="2400"/>
                  </a:lnSpc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algn="l" eaLnBrk="0" hangingPunct="0">
                  <a:lnSpc>
                    <a:spcPts val="2400"/>
                  </a:lnSpc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algn="l" eaLnBrk="0" hangingPunct="0">
                  <a:lnSpc>
                    <a:spcPts val="2400"/>
                  </a:lnSpc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algn="l" eaLnBrk="0" hangingPunct="0">
                  <a:lnSpc>
                    <a:spcPts val="2400"/>
                  </a:lnSpc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lnSpc>
                    <a:spcPts val="24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lnSpc>
                    <a:spcPts val="24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lnSpc>
                    <a:spcPts val="24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lnSpc>
                    <a:spcPts val="24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de-DE" sz="1000" b="1"/>
                  <a:t>Tim Mazzotta</a:t>
                </a:r>
                <a:br>
                  <a:rPr lang="en-US" altLang="de-DE" sz="1000" b="1"/>
                </a:br>
                <a:r>
                  <a:rPr lang="en-US" altLang="de-DE" sz="1000"/>
                  <a:t>Advisory Expert</a:t>
                </a:r>
                <a:br>
                  <a:rPr lang="en-US" altLang="de-DE" sz="1000"/>
                </a:br>
                <a:r>
                  <a:rPr lang="de-DE" altLang="de-DE" sz="1000"/>
                  <a:t>Data Science Expert</a:t>
                </a:r>
                <a:endParaRPr lang="en-US" altLang="de-DE" sz="1000"/>
              </a:p>
            </p:txBody>
          </p:sp>
        </p:grp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25905CB5-9181-419B-A6F5-1F91E6063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604" y="1368971"/>
            <a:ext cx="3154953" cy="3416188"/>
          </a:xfrm>
          <a:prstGeom prst="rect">
            <a:avLst/>
          </a:prstGeom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6E2EDE2A-EB6B-4F7A-9AAF-2935413D037A}"/>
              </a:ext>
            </a:extLst>
          </p:cNvPr>
          <p:cNvSpPr/>
          <p:nvPr/>
        </p:nvSpPr>
        <p:spPr>
          <a:xfrm>
            <a:off x="8563478" y="1414462"/>
            <a:ext cx="3138911" cy="427274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1DFAF13D-A661-452F-966D-6E1C381DF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5825" y="4558572"/>
            <a:ext cx="2649314" cy="1013303"/>
          </a:xfrm>
          <a:prstGeom prst="rect">
            <a:avLst/>
          </a:prstGeom>
        </p:spPr>
      </p:pic>
      <p:sp>
        <p:nvSpPr>
          <p:cNvPr id="72" name="Textfeld 71">
            <a:extLst>
              <a:ext uri="{FF2B5EF4-FFF2-40B4-BE49-F238E27FC236}">
                <a16:creationId xmlns:a16="http://schemas.microsoft.com/office/drawing/2014/main" id="{4B49CF37-D738-45E7-B3F0-F6BA22408519}"/>
              </a:ext>
            </a:extLst>
          </p:cNvPr>
          <p:cNvSpPr txBox="1"/>
          <p:nvPr/>
        </p:nvSpPr>
        <p:spPr>
          <a:xfrm>
            <a:off x="627063" y="5817870"/>
            <a:ext cx="11091369" cy="46883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We help building the bridge between Data Science and daily engineering business.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DEBB5F-1867-4C26-8A68-EDD01DB474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437"/>
          <a:stretch/>
        </p:blipFill>
        <p:spPr>
          <a:xfrm>
            <a:off x="2780559" y="4189573"/>
            <a:ext cx="319381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63AA-BE0E-4EDA-9AEF-B91FC89E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Presenters &amp; Content Authors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2A86-9E47-49F2-A59F-0A379154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414800"/>
            <a:ext cx="4570579" cy="47529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399" noProof="0"/>
              <a:t>SE G QPI QM P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Tim Mazzotta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Matthias Groh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Kay </a:t>
            </a:r>
            <a:r>
              <a:rPr lang="en-US" sz="1399" noProof="0" err="1"/>
              <a:t>Töpfer</a:t>
            </a:r>
            <a:endParaRPr lang="en-US" sz="1399" noProof="0"/>
          </a:p>
          <a:p>
            <a:pPr marL="0" lvl="1" indent="0">
              <a:spcBef>
                <a:spcPts val="600"/>
              </a:spcBef>
              <a:buNone/>
            </a:pPr>
            <a:r>
              <a:rPr lang="en-US" sz="1399" noProof="0"/>
              <a:t>SE G LRE LGN R&amp;D GNM ELI AM</a:t>
            </a:r>
          </a:p>
          <a:p>
            <a:pPr marL="465607" lvl="2" indent="-285607">
              <a:spcBef>
                <a:spcPts val="600"/>
              </a:spcBef>
            </a:pPr>
            <a:r>
              <a:rPr lang="en-US" sz="1399" noProof="0"/>
              <a:t>Christopher Allen</a:t>
            </a:r>
          </a:p>
          <a:p>
            <a:pPr>
              <a:spcBef>
                <a:spcPts val="600"/>
              </a:spcBef>
            </a:pPr>
            <a:r>
              <a:rPr lang="en-US" sz="1399" noProof="0"/>
              <a:t>SE G LRE LGT R&amp;D MOD CWE CGER DFM/ AN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Lukas Obermeier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Michael </a:t>
            </a:r>
            <a:r>
              <a:rPr lang="en-US" sz="1399" noProof="0" err="1"/>
              <a:t>Zaky</a:t>
            </a:r>
            <a:endParaRPr lang="en-US" sz="1399" noProof="0"/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Philipp Trinh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 noProof="0"/>
              <a:t>Jan Sowa</a:t>
            </a:r>
          </a:p>
          <a:p>
            <a:pPr marL="285607" indent="-285607">
              <a:spcBef>
                <a:spcPts val="600"/>
              </a:spcBef>
            </a:pPr>
            <a:r>
              <a:rPr lang="en-US" sz="1399" noProof="0"/>
              <a:t>SE GP G SV TI EN RW TI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Melvin Wandrey </a:t>
            </a:r>
          </a:p>
          <a:p>
            <a:pPr>
              <a:spcBef>
                <a:spcPts val="600"/>
              </a:spcBef>
            </a:pPr>
            <a:r>
              <a:rPr lang="en-US" sz="1399" noProof="0"/>
              <a:t>SE GP G SV TI EN RW CRC AC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Nils Singhof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83A8AE-0BE9-4131-AE9B-72E67162E295}"/>
              </a:ext>
            </a:extLst>
          </p:cNvPr>
          <p:cNvSpPr txBox="1">
            <a:spLocks/>
          </p:cNvSpPr>
          <p:nvPr/>
        </p:nvSpPr>
        <p:spPr>
          <a:xfrm>
            <a:off x="5824704" y="1414799"/>
            <a:ext cx="4570579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399"/>
              <a:t>SE G QPI PI TIM FA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Ray Witkins</a:t>
            </a:r>
          </a:p>
          <a:p>
            <a:pPr>
              <a:spcBef>
                <a:spcPts val="600"/>
              </a:spcBef>
            </a:pPr>
            <a:r>
              <a:rPr lang="en-US" sz="1399"/>
              <a:t>SE G LRE LGN R&amp;D GNS SUP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Thomas Buller</a:t>
            </a:r>
          </a:p>
          <a:p>
            <a:pPr>
              <a:spcBef>
                <a:spcPts val="600"/>
              </a:spcBef>
            </a:pPr>
            <a:r>
              <a:rPr lang="en-US" sz="1399"/>
              <a:t>GP PGO PR R&amp;D SU CSM RTO 1: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399"/>
              <a:t>Peter </a:t>
            </a:r>
            <a:r>
              <a:rPr lang="en-US" sz="1399" err="1"/>
              <a:t>Dumstorff</a:t>
            </a:r>
            <a:endParaRPr lang="en-US" sz="1399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6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F73D1-B121-4F18-8EB1-EEAE79E1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Goal Data Science Workshops: Basic understanding how to use Python and EnergyAI to access power plant data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073493E-1A5A-4F63-B63F-87AE2BF4D8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011930"/>
              </p:ext>
            </p:extLst>
          </p:nvPr>
        </p:nvGraphicFramePr>
        <p:xfrm>
          <a:off x="618331" y="1246021"/>
          <a:ext cx="10955338" cy="50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142">
                  <a:extLst>
                    <a:ext uri="{9D8B030D-6E8A-4147-A177-3AD203B41FA5}">
                      <a16:colId xmlns:a16="http://schemas.microsoft.com/office/drawing/2014/main" val="2323007199"/>
                    </a:ext>
                  </a:extLst>
                </a:gridCol>
                <a:gridCol w="2946367">
                  <a:extLst>
                    <a:ext uri="{9D8B030D-6E8A-4147-A177-3AD203B41FA5}">
                      <a16:colId xmlns:a16="http://schemas.microsoft.com/office/drawing/2014/main" val="695213836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3968369725"/>
                    </a:ext>
                  </a:extLst>
                </a:gridCol>
                <a:gridCol w="3008789">
                  <a:extLst>
                    <a:ext uri="{9D8B030D-6E8A-4147-A177-3AD203B41FA5}">
                      <a16:colId xmlns:a16="http://schemas.microsoft.com/office/drawing/2014/main" val="1796851101"/>
                    </a:ext>
                  </a:extLst>
                </a:gridCol>
              </a:tblGrid>
              <a:tr h="517890">
                <a:tc>
                  <a:txBody>
                    <a:bodyPr/>
                    <a:lstStyle/>
                    <a:p>
                      <a:r>
                        <a:rPr lang="en-US" sz="1400"/>
                        <a:t>Workshop Module</a:t>
                      </a:r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Agenda</a:t>
                      </a:r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Goals</a:t>
                      </a:r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Our approach to teaching: 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931829546"/>
                  </a:ext>
                </a:extLst>
              </a:tr>
              <a:tr h="12277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/>
                        <a:t>DS 1 Python Basics</a:t>
                      </a:r>
                      <a:endParaRPr lang="en-US" sz="1400" b="1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Jupyter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Notebook Intro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Lists, Object Localization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Loops, Dictionaries, If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Definitions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Classes/ Objects/ Methods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 to </a:t>
                      </a: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Numpy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 ND-Arrays</a:t>
                      </a:r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392" marR="91392" marT="45696" marB="45696"/>
                </a:tc>
                <a:tc rowSpan="3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Target audience (all modules):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 engineer who needs to analyze big data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particular engineers verifying assumptions with power plant data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1" i="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Prerequisites: 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Basic programming knowledge or DS0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DS1 for DS2, DS2 for DS3 or reading through the scripts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i="0" kern="12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New For DS2: "Transforming Data“ = free chapter 1 of "Data Manipulation with Pandas" </a:t>
                      </a:r>
                      <a:r>
                        <a:rPr lang="en-US" sz="8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/>
                        </a:rPr>
                        <a:t>https://learn.datacamp.com/courses/data-manipulation-with-pandas</a:t>
                      </a:r>
                      <a:r>
                        <a:rPr lang="en-US" sz="8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i="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Teaching goals (all modules):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First steps to learn the topic is taken.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Basic concepts are understood -&gt;just enough to keep learning from online sources.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Everybody learns in the workshop, also trainers.</a:t>
                      </a:r>
                    </a:p>
                    <a:p>
                      <a:pPr marL="179388" indent="-179388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This is a teaching “Minimal Viable Product”</a:t>
                      </a:r>
                    </a:p>
                  </a:txBody>
                  <a:tcPr marL="91392" marR="91392" marT="45696" marB="45696"/>
                </a:tc>
                <a:tc rowSpan="3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0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Handling of questions: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 understanding questions ask right away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 major problems go to separate helpline Teams meeting: one of the teachers will join you as a coach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Expert discussions moved to break or afterwards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b="0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With a wide range of participant’s knowledge: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Target speed is for 20% too fast / for 50% too slow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0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We will record the session (please remind us).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i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Please give us feedback afterwards – we will improve.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605190780"/>
                  </a:ext>
                </a:extLst>
              </a:tr>
              <a:tr h="1188101">
                <a:tc>
                  <a:txBody>
                    <a:bodyPr/>
                    <a:lstStyle/>
                    <a:p>
                      <a:r>
                        <a:rPr lang="de-DE" sz="1400" b="1"/>
                        <a:t>DS2 Python: Pandas and </a:t>
                      </a:r>
                      <a:r>
                        <a:rPr lang="de-DE" sz="1400" b="1" err="1"/>
                        <a:t>Seaborn</a:t>
                      </a:r>
                      <a:endParaRPr lang="de-DE" sz="1400" b="1"/>
                    </a:p>
                    <a:p>
                      <a:endParaRPr lang="en-US" sz="1400" b="1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i="1" kern="12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Prerequisite </a:t>
                      </a:r>
                      <a:r>
                        <a:rPr lang="en-US" sz="900" i="1" kern="120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OnlineTraining</a:t>
                      </a:r>
                      <a:r>
                        <a:rPr lang="en-US" sz="900" i="1" kern="12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“Transforming Data”: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900" i="1" kern="12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 data frames + basic editing 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1" kern="12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Overview methods for data frames </a:t>
                      </a:r>
                      <a:r>
                        <a:rPr lang="en-US" sz="6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/>
                        </a:rPr>
                        <a:t>https://learn.datacamp.com/courses/data-manipulation-with-pandas</a:t>
                      </a:r>
                      <a:r>
                        <a:rPr lang="en-US" sz="600" i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en-US" sz="600" i="1" kern="12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Recap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Handling Nans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Resample and Fill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Calculation with </a:t>
                      </a: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dataframes</a:t>
                      </a: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PickleFormat</a:t>
                      </a: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Connecting </a:t>
                      </a:r>
                      <a:r>
                        <a:rPr lang="en-US" sz="1200" kern="1200" noProof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dataframes</a:t>
                      </a: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noProof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 Visualization with Seaborn</a:t>
                      </a:r>
                      <a:endParaRPr lang="en-US" sz="1200" noProof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392" marR="91392" marT="45696" marB="45696"/>
                </a:tc>
                <a:tc vMerge="1">
                  <a:txBody>
                    <a:bodyPr/>
                    <a:lstStyle/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476289"/>
                  </a:ext>
                </a:extLst>
              </a:tr>
              <a:tr h="138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strike="sngStrike" baseline="0" dirty="0"/>
                        <a:t>DS 3 Data Pulling in Energy AI</a:t>
                      </a:r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Intro Data Pulling</a:t>
                      </a: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Time Interval</a:t>
                      </a: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Plants, Units and Signals</a:t>
                      </a: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Period, Aggregation</a:t>
                      </a: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Fill, Thresholds, </a:t>
                      </a:r>
                      <a:r>
                        <a:rPr lang="en-US" sz="1200" strike="sngStrike" baseline="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Poststresholds</a:t>
                      </a:r>
                      <a:endParaRPr lang="en-US" sz="1200" strike="sngStrike" baseline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Plotting with Seaborn (cont.)</a:t>
                      </a:r>
                    </a:p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strike="sngStrike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Examples</a:t>
                      </a:r>
                    </a:p>
                  </a:txBody>
                  <a:tcPr marL="68544" marR="68544" marT="0" marB="0"/>
                </a:tc>
                <a:tc vMerge="1">
                  <a:txBody>
                    <a:bodyPr/>
                    <a:lstStyle/>
                    <a:p>
                      <a:pPr marL="179388" indent="-179388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00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39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2898E-9D0A-4F9E-B273-6673704F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This Training 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E9D69-D6B0-4824-A6E4-E95FE89F0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737" y="1441036"/>
            <a:ext cx="6440865" cy="4749526"/>
          </a:xfrm>
        </p:spPr>
        <p:txBody>
          <a:bodyPr/>
          <a:lstStyle/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Experiment, we are all learning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DS0-&gt; DS1-&gt;DS2-&gt;DS3 are </a:t>
            </a:r>
            <a:r>
              <a:rPr lang="en-US" sz="1600" err="1"/>
              <a:t>prerequisits</a:t>
            </a:r>
            <a:r>
              <a:rPr lang="en-US" sz="1600"/>
              <a:t> (enough to read through scripts)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FF0000"/>
                </a:solidFill>
              </a:rPr>
              <a:t>New For DS2: "Transforming Data“ = free chapter 1 of "Data Manipulation with Pandas“ </a:t>
            </a:r>
            <a:r>
              <a:rPr lang="en-US" sz="900">
                <a:hlinkClick r:id="rId2"/>
              </a:rPr>
              <a:t>https://learn.datacamp.com/courses/data-manipulation-with-pandas</a:t>
            </a:r>
            <a:r>
              <a:rPr lang="en-US" sz="900"/>
              <a:t>  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1x10 Min Break in each 2h block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Recording: high demand, few training seats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Based on interaction</a:t>
            </a:r>
          </a:p>
          <a:p>
            <a:pPr marL="644203" lvl="2" indent="-28560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/>
              <a:t>Discussions, Exercises + Debriefs</a:t>
            </a:r>
          </a:p>
          <a:p>
            <a:pPr marL="644203" lvl="2" indent="-28560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/>
              <a:t>Harder in Teams</a:t>
            </a:r>
          </a:p>
          <a:p>
            <a:pPr marL="644203" lvl="2" indent="-28560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/>
              <a:t>If I should not call on you, please tell us now</a:t>
            </a:r>
          </a:p>
          <a:p>
            <a:endParaRPr lang="en-US"/>
          </a:p>
        </p:txBody>
      </p:sp>
      <p:pic>
        <p:nvPicPr>
          <p:cNvPr id="6" name="Picture 8" descr="17947_dpi150">
            <a:extLst>
              <a:ext uri="{FF2B5EF4-FFF2-40B4-BE49-F238E27FC236}">
                <a16:creationId xmlns:a16="http://schemas.microsoft.com/office/drawing/2014/main" id="{4DEC0B93-4D94-4398-84D2-E081E0374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80" r="30165" b="14589"/>
          <a:stretch>
            <a:fillRect/>
          </a:stretch>
        </p:blipFill>
        <p:spPr bwMode="auto">
          <a:xfrm>
            <a:off x="7375689" y="1436064"/>
            <a:ext cx="4333850" cy="3567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60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63AA-BE0E-4EDA-9AEF-B91FC89E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2A86-9E47-49F2-A59F-0A379154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414800"/>
            <a:ext cx="11131800" cy="4752975"/>
          </a:xfrm>
        </p:spPr>
        <p:txBody>
          <a:bodyPr/>
          <a:lstStyle/>
          <a:p>
            <a:pPr marL="285607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noProof="0"/>
              <a:t>Our training yammer page: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600" noProof="0">
                <a:hlinkClick r:id="rId2"/>
              </a:rPr>
              <a:t>https://web.yammer.com/main/groups/eyJfdHlwZSI6Ikdyb3VwIiwiaWQiOiIxMzAyMjM3MTg0MSJ9/all</a:t>
            </a:r>
            <a:r>
              <a:rPr lang="en-US" sz="1600" noProof="0"/>
              <a:t> </a:t>
            </a:r>
          </a:p>
          <a:p>
            <a:pPr lvl="1" indent="0">
              <a:spcBef>
                <a:spcPts val="600"/>
              </a:spcBef>
              <a:buNone/>
            </a:pPr>
            <a:endParaRPr lang="en-US" sz="1600"/>
          </a:p>
          <a:p>
            <a:pPr marL="285607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/>
              <a:t>Evaluation:</a:t>
            </a:r>
          </a:p>
          <a:p>
            <a:pPr marL="465607" lvl="1" indent="-285607">
              <a:spcBef>
                <a:spcPts val="600"/>
              </a:spcBef>
            </a:pPr>
            <a:r>
              <a:rPr lang="en-US" sz="1600" u="sng">
                <a:hlinkClick r:id="rId3"/>
              </a:rPr>
              <a:t>https://forms.office.com/Pages/ResponsePage.aspx?id=PqlLJW8f80iQ5uJ2ZmS0d-5LdjYRShZEhN3YmsD7St9UREFCNlJTVlRaMVVLNkVOVTNaN09IMTA3MC4u</a:t>
            </a:r>
            <a:r>
              <a:rPr lang="en-US" sz="1600" u="sng"/>
              <a:t> </a:t>
            </a:r>
            <a:endParaRPr lang="en-US" sz="1400"/>
          </a:p>
          <a:p>
            <a:pPr marL="285607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noProof="0"/>
          </a:p>
          <a:p>
            <a:pPr>
              <a:spcBef>
                <a:spcPts val="600"/>
              </a:spcBef>
            </a:pPr>
            <a:endParaRPr lang="en-US" sz="1400" noProof="0"/>
          </a:p>
          <a:p>
            <a:pPr marL="285607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01680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02235-65DE-4DB3-A3B4-BF90C7E8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6020A3-D824-4A51-B6CA-D5E51EB9B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2" y="1414800"/>
            <a:ext cx="7304818" cy="4752975"/>
          </a:xfrm>
        </p:spPr>
        <p:txBody>
          <a:bodyPr/>
          <a:lstStyle/>
          <a:p>
            <a:pPr marL="342729" indent="-342729">
              <a:lnSpc>
                <a:spcPct val="150000"/>
              </a:lnSpc>
              <a:buFont typeface="+mj-lt"/>
              <a:buAutoNum type="arabicPeriod"/>
            </a:pPr>
            <a:r>
              <a:rPr lang="en-US" sz="1599" noProof="0"/>
              <a:t>Name, Department</a:t>
            </a:r>
          </a:p>
          <a:p>
            <a:pPr marL="342729" indent="-342729">
              <a:lnSpc>
                <a:spcPct val="200000"/>
              </a:lnSpc>
              <a:buFont typeface="+mj-lt"/>
              <a:buAutoNum type="arabicPeriod"/>
            </a:pPr>
            <a:r>
              <a:rPr lang="en-US" sz="1599" noProof="0"/>
              <a:t>All prerequisites fulfilled? </a:t>
            </a:r>
            <a:r>
              <a:rPr lang="en-US" sz="1599" noProof="0" err="1"/>
              <a:t>EnergyAI</a:t>
            </a:r>
            <a:r>
              <a:rPr lang="en-US" sz="1599" noProof="0"/>
              <a:t>, knowledge of previous trainings (DS0-&gt;DS1-&gt;DS2-&gt;DS3)</a:t>
            </a:r>
          </a:p>
          <a:p>
            <a:pPr marL="342729" indent="-342729">
              <a:lnSpc>
                <a:spcPct val="200000"/>
              </a:lnSpc>
              <a:buFont typeface="+mj-lt"/>
              <a:buAutoNum type="arabicPeriod"/>
            </a:pPr>
            <a:r>
              <a:rPr lang="en-US" sz="1599" noProof="0"/>
              <a:t>Preexisting knowledge program, </a:t>
            </a:r>
            <a:r>
              <a:rPr lang="en-US" sz="1599"/>
              <a:t>data science, </a:t>
            </a:r>
            <a:r>
              <a:rPr lang="en-US" sz="1599" noProof="0"/>
              <a:t>statistics, Python, R, …</a:t>
            </a:r>
          </a:p>
          <a:p>
            <a:pPr marL="342729" indent="-342729">
              <a:lnSpc>
                <a:spcPct val="200000"/>
              </a:lnSpc>
              <a:buFont typeface="+mj-lt"/>
              <a:buAutoNum type="arabicPeriod"/>
            </a:pPr>
            <a:r>
              <a:rPr lang="en-US" sz="1599" noProof="0"/>
              <a:t>Expectations</a:t>
            </a:r>
          </a:p>
          <a:p>
            <a:pPr marL="342729" indent="-342729">
              <a:lnSpc>
                <a:spcPct val="200000"/>
              </a:lnSpc>
              <a:buFont typeface="+mj-lt"/>
              <a:buAutoNum type="arabicPeriod"/>
            </a:pPr>
            <a:endParaRPr lang="en-US" sz="1599" noProof="0"/>
          </a:p>
          <a:p>
            <a:pPr>
              <a:lnSpc>
                <a:spcPct val="200000"/>
              </a:lnSpc>
            </a:pPr>
            <a:r>
              <a:rPr lang="en-US" sz="1599" b="1" noProof="0"/>
              <a:t>Side Task: 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99" noProof="0"/>
              <a:t>Go to Energy AI </a:t>
            </a:r>
            <a:r>
              <a:rPr lang="en-US" sz="1599" noProof="0">
                <a:hlinkClick r:id="rId2"/>
              </a:rPr>
              <a:t>https://energyai.siemens.cloud/home</a:t>
            </a:r>
            <a:r>
              <a:rPr lang="en-US" sz="1599" noProof="0"/>
              <a:t> and clicked on Analyze. 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99" noProof="0"/>
              <a:t>Please use Edge, Firefox or Chrome, not MS Explorer</a:t>
            </a:r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99"/>
              <a:t>Copy all Files from shared-&gt;User-&gt;</a:t>
            </a:r>
            <a:r>
              <a:rPr lang="en-US" sz="1599" err="1"/>
              <a:t>Kay.Toepfer</a:t>
            </a:r>
            <a:r>
              <a:rPr lang="en-US" sz="1599"/>
              <a:t>…-&gt;</a:t>
            </a:r>
            <a:r>
              <a:rPr lang="en-US" sz="1599" err="1"/>
              <a:t>DataScienceWorkshop</a:t>
            </a:r>
            <a:endParaRPr lang="en-US" sz="1599"/>
          </a:p>
          <a:p>
            <a:pPr marL="285607" indent="-28560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99" noProof="0"/>
              <a:t>Follow detailed</a:t>
            </a:r>
            <a:r>
              <a:rPr lang="en-US" sz="1599"/>
              <a:t> instructions starting on slide 25, if this does not work go to the helpline</a:t>
            </a:r>
            <a:endParaRPr lang="en-US" sz="1599" noProof="0"/>
          </a:p>
          <a:p>
            <a:pPr>
              <a:lnSpc>
                <a:spcPct val="200000"/>
              </a:lnSpc>
            </a:pPr>
            <a:endParaRPr lang="en-US" sz="1599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C06849E-D64F-4916-B304-8E7DE73A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342" y="2252114"/>
            <a:ext cx="3451828" cy="1963425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6077D260-7241-400F-9877-CDC281A1BD6B}"/>
              </a:ext>
            </a:extLst>
          </p:cNvPr>
          <p:cNvSpPr/>
          <p:nvPr/>
        </p:nvSpPr>
        <p:spPr bwMode="auto">
          <a:xfrm>
            <a:off x="7398289" y="2704900"/>
            <a:ext cx="1151528" cy="719705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ea typeface="Arial Unicode MS" panose="020B0604020202020204" pitchFamily="34" charset="-128"/>
                <a:cs typeface="Arial Unicode MS" panose="020B0604020202020204" pitchFamily="34" charset="-128"/>
              </a:rPr>
              <a:t>Click!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216BE73-7F63-41B5-A049-F3B361CD3F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939" b="27337"/>
          <a:stretch/>
        </p:blipFill>
        <p:spPr>
          <a:xfrm>
            <a:off x="8113111" y="3967819"/>
            <a:ext cx="3451828" cy="2635305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02947174-3163-4BA8-8E04-D8D325F235A6}"/>
              </a:ext>
            </a:extLst>
          </p:cNvPr>
          <p:cNvSpPr/>
          <p:nvPr/>
        </p:nvSpPr>
        <p:spPr bwMode="auto">
          <a:xfrm rot="10800000">
            <a:off x="9496711" y="5011377"/>
            <a:ext cx="1511381" cy="431823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223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69C143B-5883-44D8-A4A0-701F0B30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First Steps – My first Analysis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1E9BEA-7DBD-4CB9-9D3D-F65739950371}"/>
              </a:ext>
            </a:extLst>
          </p:cNvPr>
          <p:cNvSpPr/>
          <p:nvPr/>
        </p:nvSpPr>
        <p:spPr bwMode="auto">
          <a:xfrm>
            <a:off x="3613017" y="2122151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 defTabSz="913943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99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Main.ipynb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C6CF6A-289D-4067-A0FE-079C9A72476C}"/>
              </a:ext>
            </a:extLst>
          </p:cNvPr>
          <p:cNvSpPr/>
          <p:nvPr/>
        </p:nvSpPr>
        <p:spPr bwMode="auto">
          <a:xfrm>
            <a:off x="6463221" y="3681612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 defTabSz="913943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99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Python.ipynb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12A2135-C165-48C4-90C3-B4A72BCB681E}"/>
              </a:ext>
            </a:extLst>
          </p:cNvPr>
          <p:cNvSpPr/>
          <p:nvPr/>
        </p:nvSpPr>
        <p:spPr bwMode="auto">
          <a:xfrm>
            <a:off x="6463221" y="5360387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 defTabSz="913943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99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Numpy.ipynb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167A2C-3D7E-4ECB-87EB-49A39FC05A4A}"/>
              </a:ext>
            </a:extLst>
          </p:cNvPr>
          <p:cNvSpPr/>
          <p:nvPr/>
        </p:nvSpPr>
        <p:spPr bwMode="auto">
          <a:xfrm>
            <a:off x="6463221" y="4528307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 defTabSz="913943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99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Pandas.ipynb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2C00078-AD17-47D4-B1D5-54E8AB364196}"/>
              </a:ext>
            </a:extLst>
          </p:cNvPr>
          <p:cNvSpPr/>
          <p:nvPr/>
        </p:nvSpPr>
        <p:spPr bwMode="auto">
          <a:xfrm>
            <a:off x="1127939" y="3680897"/>
            <a:ext cx="2331134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 defTabSz="913943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99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Data_Pulling.ipynb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D10E194-5D04-4B7A-93C4-60D5BF79375B}"/>
              </a:ext>
            </a:extLst>
          </p:cNvPr>
          <p:cNvSpPr txBox="1"/>
          <p:nvPr/>
        </p:nvSpPr>
        <p:spPr>
          <a:xfrm>
            <a:off x="5376296" y="2122151"/>
            <a:ext cx="2554951" cy="7556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notebook Main.ipynb contains a basic example on how to pull and analyze data via EnergyAI.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2FE12F9-7801-4C6A-BAC5-CDB5E9229B01}"/>
              </a:ext>
            </a:extLst>
          </p:cNvPr>
          <p:cNvSpPr txBox="1"/>
          <p:nvPr/>
        </p:nvSpPr>
        <p:spPr>
          <a:xfrm>
            <a:off x="2279474" y="3338930"/>
            <a:ext cx="3778446" cy="3359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799" b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On Data Hub and its functions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623F3B1-D52E-49A8-8BFC-64DAB62B9629}"/>
              </a:ext>
            </a:extLst>
          </p:cNvPr>
          <p:cNvSpPr txBox="1"/>
          <p:nvPr/>
        </p:nvSpPr>
        <p:spPr>
          <a:xfrm>
            <a:off x="6463222" y="3338930"/>
            <a:ext cx="3735098" cy="3359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799" b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On Python and its libraries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4E50EF5-C5DC-4AD4-97BA-8AF99344B121}"/>
              </a:ext>
            </a:extLst>
          </p:cNvPr>
          <p:cNvCxnSpPr/>
          <p:nvPr/>
        </p:nvCxnSpPr>
        <p:spPr bwMode="auto">
          <a:xfrm>
            <a:off x="6563808" y="2937579"/>
            <a:ext cx="0" cy="401351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0B4BD156-B9DF-4DBA-92B2-6A340645906D}"/>
              </a:ext>
            </a:extLst>
          </p:cNvPr>
          <p:cNvSpPr txBox="1"/>
          <p:nvPr/>
        </p:nvSpPr>
        <p:spPr>
          <a:xfrm>
            <a:off x="3439432" y="3680897"/>
            <a:ext cx="2554951" cy="7556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Contains more detailed information about pulling data in EnergyAI. 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8162ACD-66B0-4699-949C-1C628D334582}"/>
              </a:ext>
            </a:extLst>
          </p:cNvPr>
          <p:cNvCxnSpPr/>
          <p:nvPr/>
        </p:nvCxnSpPr>
        <p:spPr bwMode="auto">
          <a:xfrm>
            <a:off x="6203956" y="3060566"/>
            <a:ext cx="0" cy="335521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5D73A3B-A36B-4EF2-A66C-D5E29E6AA189}"/>
              </a:ext>
            </a:extLst>
          </p:cNvPr>
          <p:cNvCxnSpPr/>
          <p:nvPr/>
        </p:nvCxnSpPr>
        <p:spPr bwMode="auto">
          <a:xfrm>
            <a:off x="5772133" y="2934726"/>
            <a:ext cx="0" cy="401351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360EA7BB-A852-40ED-BFD9-382D5DB69401}"/>
              </a:ext>
            </a:extLst>
          </p:cNvPr>
          <p:cNvSpPr txBox="1"/>
          <p:nvPr/>
        </p:nvSpPr>
        <p:spPr>
          <a:xfrm>
            <a:off x="8226499" y="3684416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Explains basic Python functionalities.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4B9F78F-DAAC-4ADD-9703-D81822D8A7A0}"/>
              </a:ext>
            </a:extLst>
          </p:cNvPr>
          <p:cNvSpPr txBox="1"/>
          <p:nvPr/>
        </p:nvSpPr>
        <p:spPr>
          <a:xfrm>
            <a:off x="8223337" y="4522305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statistical and data analysis Python library Pandas.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C965208-AF13-4F98-86EF-07928033F6AA}"/>
              </a:ext>
            </a:extLst>
          </p:cNvPr>
          <p:cNvSpPr txBox="1"/>
          <p:nvPr/>
        </p:nvSpPr>
        <p:spPr>
          <a:xfrm>
            <a:off x="8226499" y="5360195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 defTabSz="913943" fontAlgn="base">
              <a:lnSpc>
                <a:spcPct val="110000"/>
              </a:lnSpc>
              <a:spcAft>
                <a:spcPct val="0"/>
              </a:spcAft>
            </a:pP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1199" b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Num</a:t>
            </a: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eric </a:t>
            </a:r>
            <a:r>
              <a:rPr lang="en-US" sz="1199" b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Py</a:t>
            </a:r>
            <a:r>
              <a:rPr lang="en-US" sz="1199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thon library – for scientific computing in Python.</a:t>
            </a:r>
          </a:p>
        </p:txBody>
      </p:sp>
    </p:spTree>
    <p:extLst>
      <p:ext uri="{BB962C8B-B14F-4D97-AF65-F5344CB8AC3E}">
        <p14:creationId xmlns:p14="http://schemas.microsoft.com/office/powerpoint/2010/main" val="3124862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CF6891-20D4-42F0-B6F8-AD97F2D0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DRAFT: Data Structures in Python (Grey), Numpy (Green) </a:t>
            </a:r>
            <a:br>
              <a:rPr lang="en-US" noProof="0"/>
            </a:br>
            <a:r>
              <a:rPr lang="en-US" noProof="0"/>
              <a:t>and Pandas (Orange)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CE0C176-456D-4D82-8321-B50D9DBAF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690785"/>
              </p:ext>
            </p:extLst>
          </p:nvPr>
        </p:nvGraphicFramePr>
        <p:xfrm>
          <a:off x="627063" y="1414463"/>
          <a:ext cx="11158538" cy="4539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380">
                  <a:extLst>
                    <a:ext uri="{9D8B030D-6E8A-4147-A177-3AD203B41FA5}">
                      <a16:colId xmlns:a16="http://schemas.microsoft.com/office/drawing/2014/main" val="1400400748"/>
                    </a:ext>
                  </a:extLst>
                </a:gridCol>
                <a:gridCol w="3802204">
                  <a:extLst>
                    <a:ext uri="{9D8B030D-6E8A-4147-A177-3AD203B41FA5}">
                      <a16:colId xmlns:a16="http://schemas.microsoft.com/office/drawing/2014/main" val="3923831581"/>
                    </a:ext>
                  </a:extLst>
                </a:gridCol>
                <a:gridCol w="4323180">
                  <a:extLst>
                    <a:ext uri="{9D8B030D-6E8A-4147-A177-3AD203B41FA5}">
                      <a16:colId xmlns:a16="http://schemas.microsoft.com/office/drawing/2014/main" val="3032186572"/>
                    </a:ext>
                  </a:extLst>
                </a:gridCol>
                <a:gridCol w="1328774">
                  <a:extLst>
                    <a:ext uri="{9D8B030D-6E8A-4147-A177-3AD203B41FA5}">
                      <a16:colId xmlns:a16="http://schemas.microsoft.com/office/drawing/2014/main" val="3712941076"/>
                    </a:ext>
                  </a:extLst>
                </a:gridCol>
              </a:tblGrid>
              <a:tr h="310951">
                <a:tc>
                  <a:txBody>
                    <a:bodyPr/>
                    <a:lstStyle/>
                    <a:p>
                      <a:endParaRPr lang="en-US" sz="1400" noProof="0"/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Description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Useful for…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Example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385590"/>
                  </a:ext>
                </a:extLst>
              </a:tr>
              <a:tr h="419783">
                <a:tc>
                  <a:txBody>
                    <a:bodyPr/>
                    <a:lstStyle/>
                    <a:p>
                      <a:r>
                        <a:rPr lang="en-US" sz="1400" noProof="0"/>
                        <a:t>Lists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Store collection of heterogeneous items – immutable and mutable objects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Simple listing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Special programming techniques (Stacks, Queue, Graphs, Trees)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[item, item, item]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100036"/>
                  </a:ext>
                </a:extLst>
              </a:tr>
              <a:tr h="746281">
                <a:tc>
                  <a:txBody>
                    <a:bodyPr/>
                    <a:lstStyle/>
                    <a:p>
                      <a:r>
                        <a:rPr lang="en-US" sz="1400" noProof="0"/>
                        <a:t>Dictionaries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Collection of key-value pairs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Key: immutable objects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Value: heterogeneous items – immutable and mutable objects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Creating loops to do the same operation on many dataset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{key1:item1, key2:item2}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30860"/>
                  </a:ext>
                </a:extLst>
              </a:tr>
              <a:tr h="310951">
                <a:tc>
                  <a:txBody>
                    <a:bodyPr/>
                    <a:lstStyle/>
                    <a:p>
                      <a:r>
                        <a:rPr lang="en-US" sz="1400" noProof="0"/>
                        <a:t>Files 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Store and retrieve previously stored information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.csv, .hdf5, .xlsx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76737"/>
                  </a:ext>
                </a:extLst>
              </a:tr>
              <a:tr h="419783">
                <a:tc>
                  <a:txBody>
                    <a:bodyPr/>
                    <a:lstStyle/>
                    <a:p>
                      <a:r>
                        <a:rPr lang="en-US" sz="1400" noProof="0"/>
                        <a:t>Tuples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Tuples are data structures in which the content can not be changed after creation (no deletion, add or edit)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Prevents data manipulation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(item, item, item)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44386"/>
                  </a:ext>
                </a:extLst>
              </a:tr>
              <a:tr h="419783">
                <a:tc>
                  <a:txBody>
                    <a:bodyPr/>
                    <a:lstStyle/>
                    <a:p>
                      <a:r>
                        <a:rPr lang="en-US" sz="1400" noProof="0"/>
                        <a:t>Sets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Collection of unique objects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Creating lists that only hold unique values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Helpful when going through huge dataset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{item, item, item}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193752"/>
                  </a:ext>
                </a:extLst>
              </a:tr>
              <a:tr h="746281">
                <a:tc>
                  <a:txBody>
                    <a:bodyPr/>
                    <a:lstStyle/>
                    <a:p>
                      <a:r>
                        <a:rPr lang="en-US" sz="1400" noProof="0"/>
                        <a:t>Numpy ND-Arrays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Store collection of data of the same type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Dealing with large collection of homogeneous data types: easier to use, faster and uses lesser memory than lists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Support vectorized operations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Work efficiently with large datasets with lots of empty cells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[[1. 1. 2.]</a:t>
                      </a:r>
                    </a:p>
                    <a:p>
                      <a:r>
                        <a:rPr lang="en-US" sz="1000" noProof="0"/>
                        <a:t> [3. 5. 8.]</a:t>
                      </a:r>
                    </a:p>
                    <a:p>
                      <a:r>
                        <a:rPr lang="en-US" sz="1000" noProof="0"/>
                        <a:t> [5. 3. 2.]]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55906"/>
                  </a:ext>
                </a:extLst>
              </a:tr>
              <a:tr h="583032">
                <a:tc>
                  <a:txBody>
                    <a:bodyPr/>
                    <a:lstStyle/>
                    <a:p>
                      <a:r>
                        <a:rPr lang="en-US" sz="1400" noProof="0" err="1"/>
                        <a:t>Dataframes</a:t>
                      </a:r>
                      <a:endParaRPr lang="en-US" sz="1400" noProof="0"/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2-dimensional labeled data structure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Columns don’t have to have the same data type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Data mining / manipulation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Labeling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Multiindexing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Like this table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00347"/>
                  </a:ext>
                </a:extLst>
              </a:tr>
              <a:tr h="583032">
                <a:tc>
                  <a:txBody>
                    <a:bodyPr/>
                    <a:lstStyle/>
                    <a:p>
                      <a:r>
                        <a:rPr lang="en-US" sz="1400" noProof="0"/>
                        <a:t>Series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One-dimensional labeled array capable of holding any data types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noProof="0"/>
                        <a:t>Axis labels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a 1</a:t>
                      </a:r>
                    </a:p>
                    <a:p>
                      <a:r>
                        <a:rPr lang="en-US" sz="1000" noProof="0"/>
                        <a:t>b 2</a:t>
                      </a:r>
                    </a:p>
                    <a:p>
                      <a:r>
                        <a:rPr lang="en-US" sz="1000" noProof="0"/>
                        <a:t>c 3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32996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05F4383E-ADD2-4C9D-9E32-ECD6D2DC55E2}"/>
              </a:ext>
            </a:extLst>
          </p:cNvPr>
          <p:cNvSpPr txBox="1"/>
          <p:nvPr/>
        </p:nvSpPr>
        <p:spPr>
          <a:xfrm>
            <a:off x="627062" y="6112071"/>
            <a:ext cx="9174663" cy="3127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Source: </a:t>
            </a: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  <a:hlinkClick r:id="rId3"/>
              </a:rPr>
              <a:t>www.datacamp.com</a:t>
            </a: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, pandas.pydata.org; Also see: </a:t>
            </a:r>
            <a:r>
              <a:rPr lang="en-US" sz="1199">
                <a:hlinkClick r:id="rId4"/>
              </a:rPr>
              <a:t>https://www.datacamp.com/community/tutorials/data-structures-python</a:t>
            </a:r>
            <a:r>
              <a:rPr lang="en-US" sz="1199"/>
              <a:t> </a:t>
            </a:r>
          </a:p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312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CF6891-20D4-42F0-B6F8-AD97F2D0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DRAFT: A Selection of Important Libraries in Python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CE0C176-456D-4D82-8321-B50D9DBAF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07174"/>
              </p:ext>
            </p:extLst>
          </p:nvPr>
        </p:nvGraphicFramePr>
        <p:xfrm>
          <a:off x="627062" y="1414463"/>
          <a:ext cx="11091695" cy="4582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064">
                  <a:extLst>
                    <a:ext uri="{9D8B030D-6E8A-4147-A177-3AD203B41FA5}">
                      <a16:colId xmlns:a16="http://schemas.microsoft.com/office/drawing/2014/main" val="3346373133"/>
                    </a:ext>
                  </a:extLst>
                </a:gridCol>
                <a:gridCol w="2370064">
                  <a:extLst>
                    <a:ext uri="{9D8B030D-6E8A-4147-A177-3AD203B41FA5}">
                      <a16:colId xmlns:a16="http://schemas.microsoft.com/office/drawing/2014/main" val="1400400748"/>
                    </a:ext>
                  </a:extLst>
                </a:gridCol>
                <a:gridCol w="4428248">
                  <a:extLst>
                    <a:ext uri="{9D8B030D-6E8A-4147-A177-3AD203B41FA5}">
                      <a16:colId xmlns:a16="http://schemas.microsoft.com/office/drawing/2014/main" val="3923831581"/>
                    </a:ext>
                  </a:extLst>
                </a:gridCol>
                <a:gridCol w="1923319">
                  <a:extLst>
                    <a:ext uri="{9D8B030D-6E8A-4147-A177-3AD203B41FA5}">
                      <a16:colId xmlns:a16="http://schemas.microsoft.com/office/drawing/2014/main" val="3712941076"/>
                    </a:ext>
                  </a:extLst>
                </a:gridCol>
              </a:tblGrid>
              <a:tr h="416035">
                <a:tc>
                  <a:txBody>
                    <a:bodyPr/>
                    <a:lstStyle/>
                    <a:p>
                      <a:r>
                        <a:rPr lang="en-US" sz="1400" noProof="0"/>
                        <a:t>Category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Name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Description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Link</a:t>
                      </a:r>
                    </a:p>
                  </a:txBody>
                  <a:tcPr marL="91392" marR="91392" marT="45696" marB="45696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385590"/>
                  </a:ext>
                </a:extLst>
              </a:tr>
              <a:tr h="461629">
                <a:tc rowSpan="3">
                  <a:txBody>
                    <a:bodyPr/>
                    <a:lstStyle/>
                    <a:p>
                      <a:r>
                        <a:rPr lang="en-US" sz="1400" noProof="0"/>
                        <a:t>Data Handling Libraries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Numpy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Basic Library for scientific computing in Python (linear algebra, numerical functionalities etc.)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https://numpy.org/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100036"/>
                  </a:ext>
                </a:extLst>
              </a:tr>
              <a:tr h="41603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Pandas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Package especially built for data analysis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https://pandas.pydata.org/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30860"/>
                  </a:ext>
                </a:extLst>
              </a:tr>
              <a:tr h="461629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Scipy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Mathematical and engineering functions (e.g. optimization and fits, numerical integration…)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https://www.scipy.org/</a:t>
                      </a:r>
                    </a:p>
                  </a:txBody>
                  <a:tcPr marL="91392" marR="91392" marT="45696" marB="456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76737"/>
                  </a:ext>
                </a:extLst>
              </a:tr>
              <a:tr h="416035">
                <a:tc rowSpan="3">
                  <a:txBody>
                    <a:bodyPr/>
                    <a:lstStyle/>
                    <a:p>
                      <a:r>
                        <a:rPr lang="en-US" sz="1400" noProof="0"/>
                        <a:t>Plotting Libraries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Matplotlib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2D plotting library for basic plotting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https://matplotlib.org/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51365"/>
                  </a:ext>
                </a:extLst>
              </a:tr>
              <a:tr h="341947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Seaborn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Is built on top of matplotlib, thus offers more functionalities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https://seaborn.pydata.org/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00347"/>
                  </a:ext>
                </a:extLst>
              </a:tr>
              <a:tr h="341947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Plotly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Is built for interactive graphs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https://plot.ly/python/</a:t>
                      </a:r>
                    </a:p>
                  </a:txBody>
                  <a:tcPr marL="91392" marR="91392" marT="45696" marB="45696">
                    <a:solidFill>
                      <a:srgbClr val="C7D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621418"/>
                  </a:ext>
                </a:extLst>
              </a:tr>
              <a:tr h="341947">
                <a:tc rowSpan="2">
                  <a:txBody>
                    <a:bodyPr/>
                    <a:lstStyle/>
                    <a:p>
                      <a:r>
                        <a:rPr lang="en-US" sz="1400" noProof="0"/>
                        <a:t>Machine Learning Libraries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TensorFlow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For machine learning applications (e.g. voice recognition)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https://www.tensorflow.org/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497407"/>
                  </a:ext>
                </a:extLst>
              </a:tr>
              <a:tr h="461629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SciKit-Learn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For machine learning applications (e.g. regression models, clustering, vector-machines…)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https://scikit-learn.org/stable/</a:t>
                      </a:r>
                    </a:p>
                  </a:txBody>
                  <a:tcPr marL="91392" marR="91392" marT="45696" marB="456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13803"/>
                  </a:ext>
                </a:extLst>
              </a:tr>
              <a:tr h="461629">
                <a:tc rowSpan="2">
                  <a:txBody>
                    <a:bodyPr/>
                    <a:lstStyle/>
                    <a:p>
                      <a:r>
                        <a:rPr lang="en-US" sz="1400" noProof="0"/>
                        <a:t>Other Useful Libraries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Time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Provides all time-related functions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https://docs.python.org/3/library/time.html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36694"/>
                  </a:ext>
                </a:extLst>
              </a:tr>
              <a:tr h="461629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Sys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For interaction with interpreter (advanced)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https://docs.python.org/3/library/sys.html</a:t>
                      </a:r>
                    </a:p>
                  </a:txBody>
                  <a:tcPr marL="91392" marR="91392" marT="45696" marB="45696">
                    <a:solidFill>
                      <a:srgbClr val="FFE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225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5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8E31DB-1896-4162-9DA2-8E739E10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Overview: Essential Graphs of Seaborn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D0066D-7D32-4705-9135-DB38E60ED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05501"/>
              </p:ext>
            </p:extLst>
          </p:nvPr>
        </p:nvGraphicFramePr>
        <p:xfrm>
          <a:off x="539809" y="1140572"/>
          <a:ext cx="8222451" cy="5561366"/>
        </p:xfrm>
        <a:graphic>
          <a:graphicData uri="http://schemas.openxmlformats.org/drawingml/2006/table">
            <a:tbl>
              <a:tblPr firstRow="1"/>
              <a:tblGrid>
                <a:gridCol w="1706934">
                  <a:extLst>
                    <a:ext uri="{9D8B030D-6E8A-4147-A177-3AD203B41FA5}">
                      <a16:colId xmlns:a16="http://schemas.microsoft.com/office/drawing/2014/main" val="3901641565"/>
                    </a:ext>
                  </a:extLst>
                </a:gridCol>
                <a:gridCol w="799399">
                  <a:extLst>
                    <a:ext uri="{9D8B030D-6E8A-4147-A177-3AD203B41FA5}">
                      <a16:colId xmlns:a16="http://schemas.microsoft.com/office/drawing/2014/main" val="3013576979"/>
                    </a:ext>
                  </a:extLst>
                </a:gridCol>
                <a:gridCol w="1642813">
                  <a:extLst>
                    <a:ext uri="{9D8B030D-6E8A-4147-A177-3AD203B41FA5}">
                      <a16:colId xmlns:a16="http://schemas.microsoft.com/office/drawing/2014/main" val="4220453358"/>
                    </a:ext>
                  </a:extLst>
                </a:gridCol>
                <a:gridCol w="1881963">
                  <a:extLst>
                    <a:ext uri="{9D8B030D-6E8A-4147-A177-3AD203B41FA5}">
                      <a16:colId xmlns:a16="http://schemas.microsoft.com/office/drawing/2014/main" val="3171551376"/>
                    </a:ext>
                  </a:extLst>
                </a:gridCol>
                <a:gridCol w="1531089">
                  <a:extLst>
                    <a:ext uri="{9D8B030D-6E8A-4147-A177-3AD203B41FA5}">
                      <a16:colId xmlns:a16="http://schemas.microsoft.com/office/drawing/2014/main" val="1381693247"/>
                    </a:ext>
                  </a:extLst>
                </a:gridCol>
                <a:gridCol w="660253">
                  <a:extLst>
                    <a:ext uri="{9D8B030D-6E8A-4147-A177-3AD203B41FA5}">
                      <a16:colId xmlns:a16="http://schemas.microsoft.com/office/drawing/2014/main" val="3708271897"/>
                    </a:ext>
                  </a:extLst>
                </a:gridCol>
              </a:tblGrid>
              <a:tr h="385739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noProof="0">
                          <a:latin typeface="Siemens Sans" pitchFamily="2" charset="0"/>
                        </a:rPr>
                        <a:t>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noProof="0">
                          <a:latin typeface="Siemens Sans" pitchFamily="2" charset="0"/>
                        </a:rPr>
                        <a:t>In SNS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Useful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noProof="0">
                          <a:latin typeface="Siemens Sans" pitchFamily="2" charset="0"/>
                        </a:rPr>
                        <a:t>Plot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noProof="0">
                          <a:latin typeface="Siemens Sans" pitchFamily="2" charset="0"/>
                        </a:rPr>
                        <a:t>Relative to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Target variable</a:t>
                      </a:r>
                      <a:endParaRPr kumimoji="0" lang="en-US" altLang="de-DE" sz="10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663134"/>
                  </a:ext>
                </a:extLst>
              </a:tr>
              <a:tr h="950901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de-DE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Histogram</a:t>
                      </a:r>
                      <a:endParaRPr lang="en-US" sz="13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.</a:t>
                      </a:r>
                      <a:r>
                        <a:rPr lang="en-US" sz="1300" b="1" noProof="0" err="1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histplot</a:t>
                      </a: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()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Central tendency 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Spread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Distribution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Outliers</a:t>
                      </a:r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0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Continuous</a:t>
                      </a:r>
                      <a:r>
                        <a:rPr kumimoji="0" lang="de-DE" altLang="de-DE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 </a:t>
                      </a:r>
                      <a:r>
                        <a:rPr kumimoji="0" lang="de-DE" altLang="de-DE" sz="10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data</a:t>
                      </a:r>
                      <a:endParaRPr kumimoji="0" lang="en-US" altLang="de-DE" sz="10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emens Sans" pitchFamily="2" charset="0"/>
                      </a:endParaRP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09211"/>
                  </a:ext>
                </a:extLst>
              </a:tr>
              <a:tr h="8428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Scatterplot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b="1" noProof="0" dirty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.</a:t>
                      </a:r>
                      <a:r>
                        <a:rPr lang="en-US" sz="1300" b="1" noProof="0" dirty="0" err="1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relplot</a:t>
                      </a:r>
                      <a:r>
                        <a:rPr lang="en-US" sz="1300" b="1" noProof="0" dirty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()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b="0" noProof="0" dirty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X-Axis is continuous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Correlation 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Outliers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… other continuous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390503"/>
                  </a:ext>
                </a:extLst>
              </a:tr>
              <a:tr h="84284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de-DE" sz="13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Lineplot</a:t>
                      </a:r>
                      <a:endParaRPr lang="en-US" sz="13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Time effect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Spread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Outliers</a:t>
                      </a:r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…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084079"/>
                  </a:ext>
                </a:extLst>
              </a:tr>
              <a:tr h="84284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de-DE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Boxplot</a:t>
                      </a:r>
                      <a:endParaRPr lang="en-US" sz="13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.</a:t>
                      </a:r>
                      <a:r>
                        <a:rPr lang="en-US" sz="1300" b="1" noProof="0" err="1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catplot</a:t>
                      </a: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()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b="0" noProof="0">
                          <a:solidFill>
                            <a:schemeClr val="tx1"/>
                          </a:solidFill>
                          <a:latin typeface="Siemens Sans" pitchFamily="2" charset="0"/>
                        </a:rPr>
                        <a:t>X-Axis is categorical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Group effects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Central tendency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Spread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Distribution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Outliers</a:t>
                      </a:r>
                      <a:endParaRPr lang="en-US" sz="11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… categorical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494061"/>
                  </a:ext>
                </a:extLst>
              </a:tr>
              <a:tr h="84284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de-DE" sz="13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Swarmplot</a:t>
                      </a:r>
                      <a:endParaRPr lang="en-US" sz="13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32958"/>
                  </a:ext>
                </a:extLst>
              </a:tr>
              <a:tr h="84284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de-DE" sz="13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Countplot</a:t>
                      </a:r>
                      <a:endParaRPr lang="en-US" sz="1300" b="1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de-DE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Counts group effects</a:t>
                      </a:r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>
                        <a:latin typeface="Siemens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… categorical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33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de-DE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emens Sans" pitchFamily="2" charset="0"/>
                        </a:rPr>
                        <a:t>Quantitative data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151195"/>
                  </a:ext>
                </a:extLst>
              </a:tr>
            </a:tbl>
          </a:graphicData>
        </a:graphic>
      </p:graphicFrame>
      <p:pic>
        <p:nvPicPr>
          <p:cNvPr id="5" name="Grafik 5">
            <a:extLst>
              <a:ext uri="{FF2B5EF4-FFF2-40B4-BE49-F238E27FC236}">
                <a16:creationId xmlns:a16="http://schemas.microsoft.com/office/drawing/2014/main" id="{EA555366-06E2-4688-8FD3-9938FB10E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64" t="6092" r="7283" b="3672"/>
          <a:stretch/>
        </p:blipFill>
        <p:spPr>
          <a:xfrm>
            <a:off x="4861074" y="3352310"/>
            <a:ext cx="1497907" cy="77541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Grafik 3">
            <a:extLst>
              <a:ext uri="{FF2B5EF4-FFF2-40B4-BE49-F238E27FC236}">
                <a16:creationId xmlns:a16="http://schemas.microsoft.com/office/drawing/2014/main" id="{5B550280-5C9A-4A09-8BA4-3ECE6F79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750" y="1622594"/>
            <a:ext cx="1493021" cy="77541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Grafik 7">
            <a:extLst>
              <a:ext uri="{FF2B5EF4-FFF2-40B4-BE49-F238E27FC236}">
                <a16:creationId xmlns:a16="http://schemas.microsoft.com/office/drawing/2014/main" id="{C16D7A36-6883-41BC-B7D4-8CBCFB0DD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421" y="5053516"/>
            <a:ext cx="1497907" cy="77541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Grafik 9">
            <a:extLst>
              <a:ext uri="{FF2B5EF4-FFF2-40B4-BE49-F238E27FC236}">
                <a16:creationId xmlns:a16="http://schemas.microsoft.com/office/drawing/2014/main" id="{E328754D-E07E-49F9-851E-C13A502C7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306" y="2520441"/>
            <a:ext cx="1497907" cy="77541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ACC1AA6B-9138-4858-BA3F-6521B465A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420" y="5916019"/>
            <a:ext cx="1497907" cy="77541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263CAB-F5F4-4119-B3B6-42FCD0596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421" y="4193707"/>
            <a:ext cx="1497907" cy="76801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00703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D52DA-7508-4AB4-9AD6-884B6B4B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noProof="0"/>
              <a:t>Definition Data Science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0CB79D-10B0-4000-B950-5CD065CEC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noProof="0"/>
              <a:t>Data science is a multi-disciplinary field that uses scientific methods, processes, algorithms and systems to extract knowledge and insights from structured and unstructured data. </a:t>
            </a:r>
            <a:r>
              <a:rPr lang="en-US" baseline="30000" noProof="0"/>
              <a:t>[1]</a:t>
            </a:r>
          </a:p>
          <a:p>
            <a:pPr>
              <a:spcBef>
                <a:spcPts val="600"/>
              </a:spcBef>
            </a:pPr>
            <a:endParaRPr lang="en-US" baseline="30000" noProof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F8C594B-020C-4BF6-B8B1-141479724EA5}"/>
              </a:ext>
            </a:extLst>
          </p:cNvPr>
          <p:cNvGrpSpPr/>
          <p:nvPr/>
        </p:nvGrpSpPr>
        <p:grpSpPr>
          <a:xfrm>
            <a:off x="7175558" y="1953604"/>
            <a:ext cx="3887233" cy="3380971"/>
            <a:chOff x="5847147" y="941422"/>
            <a:chExt cx="4950866" cy="4791834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5177FB9-F4CF-44E8-9D6C-EE6007D731FA}"/>
                </a:ext>
              </a:extLst>
            </p:cNvPr>
            <p:cNvSpPr/>
            <p:nvPr/>
          </p:nvSpPr>
          <p:spPr bwMode="auto">
            <a:xfrm>
              <a:off x="5847147" y="944461"/>
              <a:ext cx="3420000" cy="3384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799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6AFA4F16-D498-461F-8B64-8242DFDF77AE}"/>
                </a:ext>
              </a:extLst>
            </p:cNvPr>
            <p:cNvSpPr/>
            <p:nvPr/>
          </p:nvSpPr>
          <p:spPr bwMode="auto">
            <a:xfrm>
              <a:off x="7378013" y="941422"/>
              <a:ext cx="3420000" cy="3384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799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D409DF1-6511-4085-986A-33ABC3E9F550}"/>
                </a:ext>
              </a:extLst>
            </p:cNvPr>
            <p:cNvSpPr/>
            <p:nvPr/>
          </p:nvSpPr>
          <p:spPr bwMode="auto">
            <a:xfrm>
              <a:off x="6612580" y="2349256"/>
              <a:ext cx="3420000" cy="3384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799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C1C3D27-3C89-4901-AAF3-D2F845E40426}"/>
                </a:ext>
              </a:extLst>
            </p:cNvPr>
            <p:cNvSpPr txBox="1"/>
            <p:nvPr/>
          </p:nvSpPr>
          <p:spPr>
            <a:xfrm>
              <a:off x="6239348" y="2098188"/>
              <a:ext cx="1073667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Math, Stats, Algorithms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737BC11B-F7DD-4124-A3FF-D2998A12B2B0}"/>
                </a:ext>
              </a:extLst>
            </p:cNvPr>
            <p:cNvSpPr txBox="1"/>
            <p:nvPr/>
          </p:nvSpPr>
          <p:spPr>
            <a:xfrm>
              <a:off x="7621694" y="4547087"/>
              <a:ext cx="1401767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Communication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673F2FCB-A999-4CEA-8440-1910D0A1CD00}"/>
                </a:ext>
              </a:extLst>
            </p:cNvPr>
            <p:cNvSpPr txBox="1"/>
            <p:nvPr/>
          </p:nvSpPr>
          <p:spPr>
            <a:xfrm>
              <a:off x="9391566" y="2098188"/>
              <a:ext cx="1114222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Software Engineering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13B624F-882F-49DE-B493-F11BF3358803}"/>
                </a:ext>
              </a:extLst>
            </p:cNvPr>
            <p:cNvSpPr txBox="1"/>
            <p:nvPr/>
          </p:nvSpPr>
          <p:spPr>
            <a:xfrm>
              <a:off x="6677657" y="3701569"/>
              <a:ext cx="1105166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Analyst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F4F9193-9E54-4EAE-8B3A-F5217D0ACAE3}"/>
                </a:ext>
              </a:extLst>
            </p:cNvPr>
            <p:cNvSpPr txBox="1"/>
            <p:nvPr/>
          </p:nvSpPr>
          <p:spPr>
            <a:xfrm>
              <a:off x="7865379" y="1737669"/>
              <a:ext cx="914400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Engineer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68FBC5C-73AB-48CF-B804-CB54D2A3DBCB}"/>
                </a:ext>
              </a:extLst>
            </p:cNvPr>
            <p:cNvSpPr txBox="1"/>
            <p:nvPr/>
          </p:nvSpPr>
          <p:spPr>
            <a:xfrm>
              <a:off x="7488535" y="2946665"/>
              <a:ext cx="1668085" cy="324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Scientist</a:t>
              </a:r>
            </a:p>
          </p:txBody>
        </p:sp>
      </p:grpSp>
      <p:sp>
        <p:nvSpPr>
          <p:cNvPr id="17" name="Titel 1">
            <a:extLst>
              <a:ext uri="{FF2B5EF4-FFF2-40B4-BE49-F238E27FC236}">
                <a16:creationId xmlns:a16="http://schemas.microsoft.com/office/drawing/2014/main" id="{65246779-6C00-405A-9480-668B78EA6A81}"/>
              </a:ext>
            </a:extLst>
          </p:cNvPr>
          <p:cNvSpPr txBox="1">
            <a:spLocks/>
          </p:cNvSpPr>
          <p:nvPr/>
        </p:nvSpPr>
        <p:spPr bwMode="auto">
          <a:xfrm>
            <a:off x="629069" y="5613681"/>
            <a:ext cx="11082914" cy="57688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179906" tIns="431775" rIns="179906" bIns="431775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646E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en-US" sz="1799" kern="0"/>
              <a:t>Data science includes “new” (Machine Learning) and “old” (conventional analytics).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EFE104-AA26-437F-A43C-E93800614642}"/>
              </a:ext>
            </a:extLst>
          </p:cNvPr>
          <p:cNvSpPr txBox="1"/>
          <p:nvPr/>
        </p:nvSpPr>
        <p:spPr>
          <a:xfrm>
            <a:off x="1620253" y="6237241"/>
            <a:ext cx="8084429" cy="2345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99" baseline="30000"/>
              <a:t>[1] en.wikipedia.org/wiki/Data_science</a:t>
            </a:r>
          </a:p>
          <a:p>
            <a:pPr>
              <a:lnSpc>
                <a:spcPct val="110000"/>
              </a:lnSpc>
            </a:pPr>
            <a:endParaRPr lang="en-US" sz="11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37EE0CD-E9E6-4235-8511-96FE699E16C5}"/>
              </a:ext>
            </a:extLst>
          </p:cNvPr>
          <p:cNvSpPr/>
          <p:nvPr/>
        </p:nvSpPr>
        <p:spPr bwMode="auto">
          <a:xfrm>
            <a:off x="6976007" y="1455072"/>
            <a:ext cx="4337856" cy="3987459"/>
          </a:xfrm>
          <a:prstGeom prst="rect">
            <a:avLst/>
          </a:prstGeom>
          <a:noFill/>
          <a:ln>
            <a:solidFill>
              <a:srgbClr val="00646E"/>
            </a:solidFill>
          </a:ln>
          <a:effectLst/>
        </p:spPr>
        <p:txBody>
          <a:bodyPr wrap="square" lIns="107944" tIns="53972" rIns="107944" bIns="53972" numCol="1" spcCol="72000" rtlCol="0" anchor="t">
            <a:noAutofit/>
          </a:bodyPr>
          <a:lstStyle/>
          <a:p>
            <a:pPr algn="ctr">
              <a:lnSpc>
                <a:spcPct val="110000"/>
              </a:lnSpc>
            </a:pPr>
            <a:endParaRPr lang="en-US" sz="800">
              <a:ea typeface="Arial Unicode MS" panose="020B0604020202020204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</a:rPr>
              <a:t>Technical Domain Knowhow</a:t>
            </a:r>
          </a:p>
        </p:txBody>
      </p:sp>
    </p:spTree>
    <p:extLst>
      <p:ext uri="{BB962C8B-B14F-4D97-AF65-F5344CB8AC3E}">
        <p14:creationId xmlns:p14="http://schemas.microsoft.com/office/powerpoint/2010/main" val="167455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00FC-F6FA-442A-B717-9468BF7A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noProof="0"/>
              <a:t>Our focus in the digitalization world is Data Science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1C27725D-D437-4821-9504-6CB88F6AD93F}"/>
              </a:ext>
            </a:extLst>
          </p:cNvPr>
          <p:cNvSpPr txBox="1">
            <a:spLocks/>
          </p:cNvSpPr>
          <p:nvPr/>
        </p:nvSpPr>
        <p:spPr bwMode="auto">
          <a:xfrm>
            <a:off x="626786" y="5794768"/>
            <a:ext cx="11082914" cy="39579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179906" tIns="431775" rIns="179906" bIns="431775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646E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en-US" sz="1799"/>
              <a:t>Of course everybody needs a bit of both data types, but without focusing nobody gets anywhere…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4B8FF6A-C0B3-4FB7-941F-D5825247317C}"/>
              </a:ext>
            </a:extLst>
          </p:cNvPr>
          <p:cNvGrpSpPr/>
          <p:nvPr/>
        </p:nvGrpSpPr>
        <p:grpSpPr>
          <a:xfrm>
            <a:off x="626787" y="2097545"/>
            <a:ext cx="5325226" cy="3541511"/>
            <a:chOff x="627063" y="2826270"/>
            <a:chExt cx="11088685" cy="2016002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446252E-1AF3-464D-B68B-62212512A01D}"/>
                </a:ext>
              </a:extLst>
            </p:cNvPr>
            <p:cNvSpPr/>
            <p:nvPr/>
          </p:nvSpPr>
          <p:spPr bwMode="auto">
            <a:xfrm>
              <a:off x="627063" y="2826272"/>
              <a:ext cx="11088685" cy="20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7944" tIns="53972" rIns="107944" bIns="53972" numCol="1" spcCol="72000" rtlCol="0" anchor="t">
              <a:normAutofit/>
            </a:bodyPr>
            <a:lstStyle/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599"/>
            </a:p>
            <a:p>
              <a:pPr>
                <a:spcBef>
                  <a:spcPts val="600"/>
                </a:spcBef>
              </a:pPr>
              <a:endParaRPr lang="en-US" sz="1599"/>
            </a:p>
            <a:p>
              <a:pPr>
                <a:spcBef>
                  <a:spcPts val="600"/>
                </a:spcBef>
              </a:pPr>
              <a:endParaRPr lang="en-US" sz="200"/>
            </a:p>
            <a:p>
              <a:pPr marL="285607" indent="-285607">
                <a:buFont typeface="Arial" panose="020B0604020202020204" pitchFamily="34" charset="0"/>
                <a:buChar char="•"/>
              </a:pPr>
              <a:r>
                <a:rPr lang="en-US" sz="1399"/>
                <a:t>Focus on quantitative data</a:t>
              </a:r>
            </a:p>
            <a:p>
              <a:pPr marL="285607" indent="-285607">
                <a:buFont typeface="Arial" panose="020B0604020202020204" pitchFamily="34" charset="0"/>
                <a:buChar char="•"/>
              </a:pPr>
              <a:endParaRPr lang="en-US" sz="1399"/>
            </a:p>
            <a:p>
              <a:pPr>
                <a:lnSpc>
                  <a:spcPct val="100000"/>
                </a:lnSpc>
              </a:pPr>
              <a:r>
                <a:rPr lang="en-US" sz="1399"/>
                <a:t>For Example:</a:t>
              </a:r>
            </a:p>
            <a:p>
              <a:pPr marL="285607" indent="-285607">
                <a:buFont typeface="Arial" panose="020B0604020202020204" pitchFamily="34" charset="0"/>
                <a:buChar char="•"/>
              </a:pPr>
              <a:r>
                <a:rPr lang="en-US" sz="1399"/>
                <a:t>Power plant sensor data</a:t>
              </a:r>
            </a:p>
            <a:p>
              <a:pPr marL="285607" indent="-285607">
                <a:buFont typeface="Arial" panose="020B0604020202020204" pitchFamily="34" charset="0"/>
                <a:buChar char="•"/>
              </a:pPr>
              <a:r>
                <a:rPr lang="en-US" sz="1399"/>
                <a:t>Manufacturing data</a:t>
              </a:r>
            </a:p>
            <a:p>
              <a:pPr marL="285607" indent="-285607">
                <a:buFont typeface="Arial" panose="020B0604020202020204" pitchFamily="34" charset="0"/>
                <a:buChar char="•"/>
              </a:pPr>
              <a:r>
                <a:rPr lang="en-US" sz="1399"/>
                <a:t>Component design analysis data (FE, CFD, CHT, …)</a:t>
              </a:r>
            </a:p>
            <a:p>
              <a:pPr marL="285607" indent="-285607">
                <a:buFont typeface="Arial" panose="020B0604020202020204" pitchFamily="34" charset="0"/>
                <a:buChar char="•"/>
              </a:pPr>
              <a:r>
                <a:rPr lang="en-US" sz="1399"/>
                <a:t>Test rig data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de-DE" sz="1199" b="1">
                <a:ea typeface="Arial Unicode MS" panose="020B0604020202020204" pitchFamily="34" charset="-128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C37B771-14D1-4729-960B-C96CBE644CD2}"/>
                </a:ext>
              </a:extLst>
            </p:cNvPr>
            <p:cNvSpPr/>
            <p:nvPr/>
          </p:nvSpPr>
          <p:spPr bwMode="auto">
            <a:xfrm>
              <a:off x="627063" y="2826270"/>
              <a:ext cx="11088685" cy="3600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sz="1799" b="1">
                  <a:solidFill>
                    <a:schemeClr val="bg1"/>
                  </a:solidFill>
                  <a:ea typeface="Arial Unicode MS" panose="020B0604020202020204" pitchFamily="34" charset="-128"/>
                </a:rPr>
                <a:t>Data Science</a:t>
              </a:r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D5B835A-FC4F-4401-9970-87D91C2C8FCA}"/>
              </a:ext>
            </a:extLst>
          </p:cNvPr>
          <p:cNvGrpSpPr/>
          <p:nvPr/>
        </p:nvGrpSpPr>
        <p:grpSpPr>
          <a:xfrm>
            <a:off x="6386629" y="2097546"/>
            <a:ext cx="5325226" cy="3541515"/>
            <a:chOff x="627063" y="2826270"/>
            <a:chExt cx="11106065" cy="2016002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67B9CE3-A83A-4E32-95E8-559D50F30E19}"/>
                </a:ext>
              </a:extLst>
            </p:cNvPr>
            <p:cNvSpPr/>
            <p:nvPr/>
          </p:nvSpPr>
          <p:spPr bwMode="auto">
            <a:xfrm>
              <a:off x="627063" y="2826272"/>
              <a:ext cx="11106065" cy="20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7944" tIns="53972" rIns="107944" bIns="53972" numCol="1" spcCol="72000" rtlCol="0" anchor="t">
              <a:normAutofit/>
            </a:bodyPr>
            <a:lstStyle/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599"/>
            </a:p>
            <a:p>
              <a:pPr>
                <a:spcBef>
                  <a:spcPts val="600"/>
                </a:spcBef>
              </a:pPr>
              <a:endParaRPr lang="en-US" sz="1599"/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200"/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399"/>
                <a:t>Focus on qualitative data</a:t>
              </a:r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399"/>
            </a:p>
            <a:p>
              <a:pPr>
                <a:spcBef>
                  <a:spcPts val="600"/>
                </a:spcBef>
              </a:pPr>
              <a:r>
                <a:rPr lang="en-US" sz="1399"/>
                <a:t>For Example:</a:t>
              </a:r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399"/>
                <a:t>Manufacturing and supply data in SAP</a:t>
              </a:r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399"/>
                <a:t>Qualitative fleet data (Fleet Intelligence)</a:t>
              </a:r>
            </a:p>
            <a:p>
              <a:pPr marL="285607" indent="-285607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399"/>
                <a:t>PCM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de-DE" sz="1199" b="1">
                <a:ea typeface="Arial Unicode MS" panose="020B0604020202020204" pitchFamily="34" charset="-128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6CD7FE6-6492-45BC-87FA-D77CE9BC8328}"/>
                </a:ext>
              </a:extLst>
            </p:cNvPr>
            <p:cNvSpPr/>
            <p:nvPr/>
          </p:nvSpPr>
          <p:spPr bwMode="auto">
            <a:xfrm>
              <a:off x="627063" y="2826270"/>
              <a:ext cx="11088685" cy="3600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sz="1799" b="1">
                  <a:solidFill>
                    <a:schemeClr val="bg1"/>
                  </a:solidFill>
                  <a:ea typeface="Arial Unicode MS" panose="020B0604020202020204" pitchFamily="34" charset="-128"/>
                </a:rPr>
                <a:t>Business Intelligence</a:t>
              </a:r>
            </a:p>
          </p:txBody>
        </p:sp>
      </p:grpSp>
      <p:sp>
        <p:nvSpPr>
          <p:cNvPr id="8" name="Pfeil: nach unten 7">
            <a:extLst>
              <a:ext uri="{FF2B5EF4-FFF2-40B4-BE49-F238E27FC236}">
                <a16:creationId xmlns:a16="http://schemas.microsoft.com/office/drawing/2014/main" id="{87CB8749-9249-4542-957A-06B957381046}"/>
              </a:ext>
            </a:extLst>
          </p:cNvPr>
          <p:cNvSpPr/>
          <p:nvPr/>
        </p:nvSpPr>
        <p:spPr bwMode="auto">
          <a:xfrm>
            <a:off x="1022079" y="1218944"/>
            <a:ext cx="4783294" cy="827661"/>
          </a:xfrm>
          <a:prstGeom prst="downArrow">
            <a:avLst>
              <a:gd name="adj1" fmla="val 57065"/>
              <a:gd name="adj2" fmla="val 50000"/>
            </a:avLst>
          </a:prstGeom>
          <a:solidFill>
            <a:srgbClr val="EB780A"/>
          </a:solidFill>
          <a:ln>
            <a:solidFill>
              <a:schemeClr val="accent1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ea typeface="Arial Unicode MS" panose="020B0604020202020204" pitchFamily="34" charset="-128"/>
                <a:cs typeface="Arial Unicode MS" panose="020B0604020202020204" pitchFamily="34" charset="-128"/>
              </a:rPr>
              <a:t>Our Focus</a:t>
            </a:r>
          </a:p>
        </p:txBody>
      </p:sp>
    </p:spTree>
    <p:extLst>
      <p:ext uri="{BB962C8B-B14F-4D97-AF65-F5344CB8AC3E}">
        <p14:creationId xmlns:p14="http://schemas.microsoft.com/office/powerpoint/2010/main" val="405664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DC165-BB5B-4DB0-8822-557393A3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sz="1999" noProof="0"/>
              <a:t>Data Science for Field Issues (1 of 2)</a:t>
            </a:r>
            <a:br>
              <a:rPr lang="en-US" sz="1999" noProof="0"/>
            </a:br>
            <a:r>
              <a:rPr lang="en-US" sz="1999" noProof="0"/>
              <a:t>The Data Request Helper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1F56C6-3FC8-478D-9042-2F353230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2" y="1414801"/>
            <a:ext cx="10938201" cy="17656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050">
                <a:hlinkClick r:id="rId2"/>
              </a:rPr>
              <a:t>https://wse10.siemens-energy.com/content/P0002338/_layouts/15/xlviewer.aspx?id=/content/P0002338/Documents/Data_Request_Helper.xlsx</a:t>
            </a:r>
            <a:r>
              <a:rPr lang="en-US" sz="1050"/>
              <a:t> 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733843B-4F7D-447A-A0A7-3B2073777772}"/>
              </a:ext>
            </a:extLst>
          </p:cNvPr>
          <p:cNvSpPr txBox="1">
            <a:spLocks/>
          </p:cNvSpPr>
          <p:nvPr/>
        </p:nvSpPr>
        <p:spPr bwMode="auto">
          <a:xfrm>
            <a:off x="629069" y="5614862"/>
            <a:ext cx="11082914" cy="5757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179906" tIns="431775" rIns="179906" bIns="431775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646E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en-US" sz="1799"/>
              <a:t>Our vision: Anybody at GP gets # starts for a given time within 1h, complex sensor data &lt; 2 days.</a:t>
            </a:r>
            <a:endParaRPr lang="en-US" sz="1799" kern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9A8118-9B9C-46AE-BE56-9C60FE291C07}"/>
              </a:ext>
            </a:extLst>
          </p:cNvPr>
          <p:cNvGrpSpPr/>
          <p:nvPr/>
        </p:nvGrpSpPr>
        <p:grpSpPr>
          <a:xfrm>
            <a:off x="392251" y="1689513"/>
            <a:ext cx="10358105" cy="3745560"/>
            <a:chOff x="392251" y="1513051"/>
            <a:chExt cx="10358105" cy="3745560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97BA2929-DAE4-4CE2-913E-9071B9DE3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736" y="1513051"/>
              <a:ext cx="8420056" cy="37455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6751A778-25EA-4CDC-8AA8-9D236C9AA036}"/>
                </a:ext>
              </a:extLst>
            </p:cNvPr>
            <p:cNvSpPr/>
            <p:nvPr/>
          </p:nvSpPr>
          <p:spPr bwMode="auto">
            <a:xfrm>
              <a:off x="3672962" y="3692830"/>
              <a:ext cx="5649685" cy="25189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799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09E4F94-7E28-4F1D-8379-64357362FD88}"/>
                </a:ext>
              </a:extLst>
            </p:cNvPr>
            <p:cNvSpPr/>
            <p:nvPr/>
          </p:nvSpPr>
          <p:spPr bwMode="auto">
            <a:xfrm>
              <a:off x="392251" y="3558129"/>
              <a:ext cx="3280803" cy="9623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799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9" name="Pfeil: nach unten 8">
              <a:extLst>
                <a:ext uri="{FF2B5EF4-FFF2-40B4-BE49-F238E27FC236}">
                  <a16:creationId xmlns:a16="http://schemas.microsoft.com/office/drawing/2014/main" id="{2B08A961-3E65-4742-BE3F-65ED7D21E8B6}"/>
                </a:ext>
              </a:extLst>
            </p:cNvPr>
            <p:cNvSpPr/>
            <p:nvPr/>
          </p:nvSpPr>
          <p:spPr bwMode="auto">
            <a:xfrm rot="3264701">
              <a:off x="8377296" y="2624821"/>
              <a:ext cx="3364791" cy="1381328"/>
            </a:xfrm>
            <a:prstGeom prst="downArrow">
              <a:avLst>
                <a:gd name="adj1" fmla="val 57065"/>
                <a:gd name="adj2" fmla="val 50000"/>
              </a:avLst>
            </a:prstGeom>
            <a:solidFill>
              <a:srgbClr val="EB780A"/>
            </a:solidFill>
            <a:ln>
              <a:solidFill>
                <a:schemeClr val="accent1"/>
              </a:solidFill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799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Our Focus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212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E9ACA-83B9-489B-86FF-745A2B24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sz="2399" noProof="0"/>
              <a:t>Data Science for Field Issues (2 of 2)</a:t>
            </a:r>
            <a:br>
              <a:rPr lang="en-US" sz="2399" noProof="0"/>
            </a:br>
            <a:r>
              <a:rPr lang="en-US" noProof="0"/>
              <a:t>Data Tool Comparer and Go-to People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EEC272-3A17-4BB1-91C8-0A6DC615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b="1" noProof="0"/>
              <a:t>Data Tool Comparer</a:t>
            </a:r>
          </a:p>
          <a:p>
            <a:pPr marL="285607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99" noProof="0"/>
              <a:t>Detailed view of what features each tool has with</a:t>
            </a:r>
          </a:p>
          <a:p>
            <a:pPr marL="464905" lvl="1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99" noProof="0"/>
              <a:t>Short description</a:t>
            </a:r>
          </a:p>
          <a:p>
            <a:pPr marL="464905" lvl="1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99" noProof="0"/>
              <a:t>Good for</a:t>
            </a:r>
          </a:p>
          <a:p>
            <a:pPr marL="464905" lvl="1" indent="-285607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99" noProof="0"/>
              <a:t>Limited in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hlinkClick r:id="rId3"/>
              </a:rPr>
              <a:t>https://wse10.siemens-energy.com/content/P0002338/_layouts/15/xlviewer.aspx?id=/content/P0002338/Documents/Data_Tool_Comparer.xlsx</a:t>
            </a:r>
            <a:r>
              <a:rPr lang="en-US" sz="120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351A89D-DAEF-45DE-B749-BD39148C6A7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4810" y="3964101"/>
            <a:ext cx="4479925" cy="126365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noProof="0"/>
              <a:t>Go-to People</a:t>
            </a:r>
          </a:p>
          <a:p>
            <a:pPr marL="171364" indent="-171364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99" noProof="0"/>
              <a:t>Detailed list of contacts, their skills and the tools they use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hlinkClick r:id="rId4"/>
              </a:rPr>
              <a:t>https://wse10.siemens-energy.com/content/P0002338/_layouts/15/xlviewer.aspx?id=/content/P0002338/Documents/Go-to_People.xlsx</a:t>
            </a:r>
            <a:r>
              <a:rPr lang="en-US" sz="1200"/>
              <a:t> 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7F52C39-828A-4F5C-A280-74C77DCD9347}"/>
              </a:ext>
            </a:extLst>
          </p:cNvPr>
          <p:cNvSpPr txBox="1">
            <a:spLocks/>
          </p:cNvSpPr>
          <p:nvPr/>
        </p:nvSpPr>
        <p:spPr bwMode="auto">
          <a:xfrm>
            <a:off x="629069" y="5610303"/>
            <a:ext cx="11082914" cy="5757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179906" tIns="431775" rIns="179906" bIns="431775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646E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en-US" sz="1799" kern="0"/>
              <a:t>Comparing tools and analytic services helps not only customers, but also providers.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2FFF6B2-EB5E-4A3C-8C94-12872DB93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266" y="3964101"/>
            <a:ext cx="4764880" cy="14446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AFB8160-89DA-4B09-ADC3-76B840FEB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322" y="1463665"/>
            <a:ext cx="3958329" cy="200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0951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EnergyAI </a:t>
            </a:r>
            <a:r>
              <a:rPr lang="en-US" kern="0" noProof="0"/>
              <a:t>- Getting Started</a:t>
            </a:r>
            <a:endParaRPr lang="en-US" noProof="0"/>
          </a:p>
        </p:txBody>
      </p:sp>
      <p:sp>
        <p:nvSpPr>
          <p:cNvPr id="4" name="Subhead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kern="0" noProof="0"/>
              <a:t>Power and Gas – Large Gas Turbines, Generators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96810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EB552F1-624C-47F8-9EA8-EEAB7789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Classical Package for Python: Anaconda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1EB52A-A039-4A4B-AF3F-489AC811F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>
                <a:hlinkClick r:id="rId2"/>
              </a:rPr>
              <a:t>https://www.anaconda.com/distribution/</a:t>
            </a:r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697C564-FFFE-4082-96A4-6D0A2D77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92" y="1989590"/>
            <a:ext cx="6796163" cy="42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3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Why EnergyAI?</a:t>
            </a:r>
            <a:endParaRPr lang="en-US" noProof="0">
              <a:latin typeface="Arial" pitchFamily="34" charset="0"/>
            </a:endParaRPr>
          </a:p>
        </p:txBody>
      </p:sp>
      <p:sp>
        <p:nvSpPr>
          <p:cNvPr id="8" name="cdtRectangle 3 Id114691"/>
          <p:cNvSpPr>
            <a:spLocks noGrp="1" noChangeArrowheads="1"/>
          </p:cNvSpPr>
          <p:nvPr>
            <p:ph idx="1"/>
          </p:nvPr>
        </p:nvSpPr>
        <p:spPr>
          <a:xfrm>
            <a:off x="627062" y="1414800"/>
            <a:ext cx="10650537" cy="4752975"/>
          </a:xfrm>
        </p:spPr>
        <p:txBody>
          <a:bodyPr/>
          <a:lstStyle/>
          <a:p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1599" noProof="0" err="1"/>
              <a:t>EnergyAI</a:t>
            </a:r>
            <a:r>
              <a:rPr lang="en-US" sz="1599" noProof="0"/>
              <a:t> </a:t>
            </a: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- Analysis platform…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	…offers an efficient interface to handle large data requests on multiple plants or units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	…enables the user to perform postprocessing on-the-fly,  without further data handling steps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	…provides a standardized GPN System to address signals across all plants and units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</a:rPr>
              <a:t>	…executes all operations outsourced on a server and makes results available for client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955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Getting Access to EnergyAI</a:t>
            </a:r>
            <a:endParaRPr lang="en-US" noProof="0">
              <a:latin typeface="Arial" pitchFamily="34" charset="0"/>
            </a:endParaRPr>
          </a:p>
        </p:txBody>
      </p:sp>
      <p:sp>
        <p:nvSpPr>
          <p:cNvPr id="8" name="cdtRectangle 3 Id11469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599" noProof="0"/>
              <a:t>Setting up an account for EnergyAI (Jupyter Notebook, Python, and R-based access to power plant data):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Go to </a:t>
            </a:r>
            <a:r>
              <a:rPr lang="en-US" sz="1600" noProof="0">
                <a:hlinkClick r:id="rId4"/>
              </a:rPr>
              <a:t>https://energyai.siemens.cloud/</a:t>
            </a:r>
            <a:endParaRPr lang="en-US" sz="1600" noProof="0"/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599" noProof="0">
              <a:solidFill>
                <a:srgbClr val="0070C0"/>
              </a:solidFill>
            </a:endParaRPr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99" noProof="0"/>
              <a:t>Click on "Request Access" and fill out the form. Your request will be processed within a few days and further steps will be communicated to you by e-mail</a:t>
            </a:r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599" noProof="0"/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99" noProof="0"/>
              <a:t>At the same time you get access to the Dataforum (</a:t>
            </a:r>
            <a:r>
              <a:rPr lang="en-US" sz="1600" noProof="0">
                <a:hlinkClick r:id="rId5"/>
              </a:rPr>
              <a:t>https://forum.energyai.siemens.cloud/categories</a:t>
            </a:r>
            <a:r>
              <a:rPr lang="en-US" sz="1600" noProof="0"/>
              <a:t>)</a:t>
            </a:r>
            <a:r>
              <a:rPr lang="en-US" sz="1599" noProof="0"/>
              <a:t> where you can create tickets for all problems, which are usually answered within 24 hours</a:t>
            </a:r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Use Edge, Chrome or Firefox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634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5C6C4-A9A5-4531-9B62-767080A44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764" y="1305974"/>
            <a:ext cx="7659473" cy="4846320"/>
          </a:xfrm>
          <a:prstGeom prst="rect">
            <a:avLst/>
          </a:prstGeom>
        </p:spPr>
      </p:pic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>
          <a:xfrm>
            <a:off x="1" y="-8020"/>
            <a:ext cx="9659938" cy="1414800"/>
          </a:xfrm>
        </p:spPr>
        <p:txBody>
          <a:bodyPr/>
          <a:lstStyle/>
          <a:p>
            <a:r>
              <a:rPr lang="en-US" noProof="0"/>
              <a:t>First Steps</a:t>
            </a:r>
            <a:endParaRPr lang="en-US" noProof="0">
              <a:latin typeface="Arial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9231315" y="4363160"/>
            <a:ext cx="2015174" cy="395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perform data analysis</a:t>
            </a:r>
          </a:p>
        </p:txBody>
      </p:sp>
      <p:cxnSp>
        <p:nvCxnSpPr>
          <p:cNvPr id="14" name="Gerade Verbindung mit Pfeil 13"/>
          <p:cNvCxnSpPr>
            <a:cxnSpLocks/>
          </p:cNvCxnSpPr>
          <p:nvPr/>
        </p:nvCxnSpPr>
        <p:spPr bwMode="auto">
          <a:xfrm flipH="1" flipV="1">
            <a:off x="3155313" y="4208805"/>
            <a:ext cx="5997586" cy="352275"/>
          </a:xfrm>
          <a:prstGeom prst="straightConnector1">
            <a:avLst/>
          </a:prstGeom>
          <a:solidFill>
            <a:schemeClr val="tx2"/>
          </a:solidFill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629A9833-4837-4F5B-B2CC-41462FBAD9BA}"/>
              </a:ext>
            </a:extLst>
          </p:cNvPr>
          <p:cNvSpPr/>
          <p:nvPr/>
        </p:nvSpPr>
        <p:spPr bwMode="auto">
          <a:xfrm>
            <a:off x="1545543" y="2477734"/>
            <a:ext cx="1609770" cy="1757733"/>
          </a:xfrm>
          <a:prstGeom prst="rect">
            <a:avLst/>
          </a:prstGeom>
          <a:noFill/>
          <a:ln w="34925">
            <a:solidFill>
              <a:srgbClr val="FF0000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CFCF6C7-C8C5-4C36-8770-E208B622747A}"/>
              </a:ext>
            </a:extLst>
          </p:cNvPr>
          <p:cNvSpPr/>
          <p:nvPr/>
        </p:nvSpPr>
        <p:spPr bwMode="auto">
          <a:xfrm>
            <a:off x="5079707" y="2451297"/>
            <a:ext cx="1711618" cy="1757508"/>
          </a:xfrm>
          <a:prstGeom prst="rect">
            <a:avLst/>
          </a:prstGeom>
          <a:noFill/>
          <a:ln w="34925">
            <a:solidFill>
              <a:srgbClr val="FF0000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3906DAD-24B2-4A66-BCAC-6E3429EFB430}"/>
              </a:ext>
            </a:extLst>
          </p:cNvPr>
          <p:cNvSpPr txBox="1"/>
          <p:nvPr/>
        </p:nvSpPr>
        <p:spPr>
          <a:xfrm>
            <a:off x="8996611" y="1959120"/>
            <a:ext cx="2015174" cy="395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go to data forum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02ED5C4-F1EB-4152-8DE2-13C67BACCCA7}"/>
              </a:ext>
            </a:extLst>
          </p:cNvPr>
          <p:cNvCxnSpPr>
            <a:cxnSpLocks/>
          </p:cNvCxnSpPr>
          <p:nvPr/>
        </p:nvCxnSpPr>
        <p:spPr bwMode="auto">
          <a:xfrm flipH="1">
            <a:off x="6791325" y="2099022"/>
            <a:ext cx="2047876" cy="352275"/>
          </a:xfrm>
          <a:prstGeom prst="straightConnector1">
            <a:avLst/>
          </a:prstGeom>
          <a:solidFill>
            <a:schemeClr val="tx2"/>
          </a:solidFill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89624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First Steps</a:t>
            </a:r>
            <a:endParaRPr lang="en-US" noProof="0">
              <a:latin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92103" y="1375104"/>
            <a:ext cx="10796079" cy="46780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6439057" y="2853236"/>
            <a:ext cx="3507366" cy="3238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Script-based (JupyterLab) </a:t>
            </a:r>
          </a:p>
        </p:txBody>
      </p:sp>
      <p:cxnSp>
        <p:nvCxnSpPr>
          <p:cNvPr id="6" name="Gerade Verbindung mit Pfeil 5"/>
          <p:cNvCxnSpPr/>
          <p:nvPr/>
        </p:nvCxnSpPr>
        <p:spPr bwMode="auto">
          <a:xfrm flipH="1">
            <a:off x="5793417" y="3003740"/>
            <a:ext cx="539779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feld 12"/>
          <p:cNvSpPr txBox="1"/>
          <p:nvPr/>
        </p:nvSpPr>
        <p:spPr>
          <a:xfrm>
            <a:off x="986093" y="3033162"/>
            <a:ext cx="1547366" cy="13674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File System</a:t>
            </a:r>
          </a:p>
        </p:txBody>
      </p:sp>
      <p:cxnSp>
        <p:nvCxnSpPr>
          <p:cNvPr id="14" name="Gerade Verbindung mit Pfeil 13"/>
          <p:cNvCxnSpPr/>
          <p:nvPr/>
        </p:nvCxnSpPr>
        <p:spPr bwMode="auto">
          <a:xfrm flipH="1" flipV="1">
            <a:off x="986094" y="1917619"/>
            <a:ext cx="323867" cy="862599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D842BC7-120F-48F7-8CAA-D56EE9DD8200}"/>
              </a:ext>
            </a:extLst>
          </p:cNvPr>
          <p:cNvSpPr txBox="1"/>
          <p:nvPr/>
        </p:nvSpPr>
        <p:spPr>
          <a:xfrm>
            <a:off x="6490785" y="4075079"/>
            <a:ext cx="3507366" cy="3238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Console-based 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083F555-E526-4644-AE2D-76B3EF8069BA}"/>
              </a:ext>
            </a:extLst>
          </p:cNvPr>
          <p:cNvCxnSpPr/>
          <p:nvPr/>
        </p:nvCxnSpPr>
        <p:spPr bwMode="auto">
          <a:xfrm flipH="1">
            <a:off x="5845145" y="4225583"/>
            <a:ext cx="539779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37F575CB-1613-4204-B7E0-49B18CE8F0CD}"/>
              </a:ext>
            </a:extLst>
          </p:cNvPr>
          <p:cNvSpPr txBox="1"/>
          <p:nvPr/>
        </p:nvSpPr>
        <p:spPr>
          <a:xfrm>
            <a:off x="8684635" y="4116428"/>
            <a:ext cx="2197406" cy="3238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more functionalities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0D4BF4B-6BD8-480C-9448-41E1AA7D3C6D}"/>
              </a:ext>
            </a:extLst>
          </p:cNvPr>
          <p:cNvCxnSpPr>
            <a:cxnSpLocks/>
          </p:cNvCxnSpPr>
          <p:nvPr/>
        </p:nvCxnSpPr>
        <p:spPr bwMode="auto">
          <a:xfrm flipH="1">
            <a:off x="7715337" y="4266933"/>
            <a:ext cx="863436" cy="637463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0834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First Steps – File System</a:t>
            </a:r>
            <a:endParaRPr lang="en-US" noProof="0">
              <a:latin typeface="Arial" pitchFamily="34" charset="0"/>
            </a:endParaRPr>
          </a:p>
        </p:txBody>
      </p:sp>
      <p:sp>
        <p:nvSpPr>
          <p:cNvPr id="8" name="cdtRectangle 3 Id11469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5607" indent="-285607"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Hierarchical File System as on Windows</a:t>
            </a:r>
          </a:p>
          <a:p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In ‘</a:t>
            </a:r>
            <a:r>
              <a:rPr lang="en-US" sz="1599" i="1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/shared/groups‘ </a:t>
            </a: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, it can be worked in groups (group folder has to be requested)</a:t>
            </a: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In ‘</a:t>
            </a:r>
            <a:r>
              <a:rPr lang="en-US" sz="1599" i="1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/shared/users‘ some </a:t>
            </a: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scripts of other users are visible (copy script in your shared folder to make it visible for others)</a:t>
            </a: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Go to: ‘</a:t>
            </a:r>
            <a:r>
              <a:rPr lang="en-US" sz="1599" i="1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/shared/demos‘ </a:t>
            </a: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for several demos on the usage of the datahub with R or Python</a:t>
            </a: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i="1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r>
              <a:rPr lang="en-US" sz="1599" noProof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Repositories from GitHub can be embedded in folders to simultaneously work on scripts (recommended)</a:t>
            </a: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i="1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607" indent="-285607">
              <a:buFont typeface="Arial" panose="020B0604020202020204" pitchFamily="34" charset="0"/>
              <a:buChar char="•"/>
            </a:pPr>
            <a:endParaRPr lang="en-US" sz="1599" i="1" noProof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9606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feld 21">
            <a:extLst>
              <a:ext uri="{FF2B5EF4-FFF2-40B4-BE49-F238E27FC236}">
                <a16:creationId xmlns:a16="http://schemas.microsoft.com/office/drawing/2014/main" id="{453521FF-1470-4F27-BE75-790230F6F76F}"/>
              </a:ext>
            </a:extLst>
          </p:cNvPr>
          <p:cNvSpPr txBox="1"/>
          <p:nvPr/>
        </p:nvSpPr>
        <p:spPr>
          <a:xfrm>
            <a:off x="518285" y="3205664"/>
            <a:ext cx="11241892" cy="4752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If you want more information </a:t>
            </a:r>
            <a:r>
              <a:rPr lang="en-US" sz="1199">
                <a:ea typeface="Arial Unicode MS" panose="020B0604020202020204" pitchFamily="34" charset="-128"/>
              </a:rPr>
              <a:t>about </a:t>
            </a:r>
            <a:r>
              <a:rPr lang="en-US" sz="1199">
                <a:ea typeface="Arial Unicode MS" panose="020B0604020202020204" pitchFamily="34" charset="-128"/>
                <a:sym typeface="Wingdings" panose="05000000000000000000" pitchFamily="2" charset="2"/>
              </a:rPr>
              <a:t>EnergyAI</a:t>
            </a:r>
            <a:r>
              <a:rPr lang="en-US" sz="1199">
                <a:ea typeface="Arial Unicode MS" panose="020B0604020202020204" pitchFamily="34" charset="-128"/>
              </a:rPr>
              <a:t>, data pulling in </a:t>
            </a:r>
            <a:r>
              <a:rPr lang="en-US" sz="1199">
                <a:ea typeface="Arial Unicode MS" panose="020B0604020202020204" pitchFamily="34" charset="-128"/>
                <a:sym typeface="Wingdings" panose="05000000000000000000" pitchFamily="2" charset="2"/>
              </a:rPr>
              <a:t>EnergyAI</a:t>
            </a:r>
            <a:r>
              <a:rPr lang="en-US" sz="1199">
                <a:ea typeface="Arial Unicode MS" panose="020B0604020202020204" pitchFamily="34" charset="-128"/>
              </a:rPr>
              <a:t> or Python and its libraries</a:t>
            </a: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, check out the other provided notebooks. They are referred to in the respective passage in Main.ipynb. Whatsoever, they are not required to understand Main.ipynb. They can be used to gain a deeper insight in the particular topics.</a:t>
            </a:r>
          </a:p>
          <a:p>
            <a:pPr>
              <a:lnSpc>
                <a:spcPct val="110000"/>
              </a:lnSpc>
            </a:pPr>
            <a:endParaRPr lang="en-US" sz="11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69C143B-5883-44D8-A4A0-701F0B30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First Steps – My first Analysis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1E9BEA-7DBD-4CB9-9D3D-F65739950371}"/>
              </a:ext>
            </a:extLst>
          </p:cNvPr>
          <p:cNvSpPr/>
          <p:nvPr/>
        </p:nvSpPr>
        <p:spPr bwMode="auto">
          <a:xfrm>
            <a:off x="3613017" y="2122151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Main.ipynb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D10E194-5D04-4B7A-93C4-60D5BF79375B}"/>
              </a:ext>
            </a:extLst>
          </p:cNvPr>
          <p:cNvSpPr txBox="1"/>
          <p:nvPr/>
        </p:nvSpPr>
        <p:spPr>
          <a:xfrm>
            <a:off x="5376296" y="2122151"/>
            <a:ext cx="2554951" cy="7556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The notebook Main.ipynb contains a basic example on how to pull and analyze data via EnergyAI.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9F81667-719F-4322-8CEE-979457EB7380}"/>
              </a:ext>
            </a:extLst>
          </p:cNvPr>
          <p:cNvCxnSpPr/>
          <p:nvPr/>
        </p:nvCxnSpPr>
        <p:spPr bwMode="auto">
          <a:xfrm>
            <a:off x="5592206" y="2877842"/>
            <a:ext cx="0" cy="327822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FB433BD4-9198-41A7-B6A7-763B14B8BBA6}"/>
              </a:ext>
            </a:extLst>
          </p:cNvPr>
          <p:cNvSpPr/>
          <p:nvPr/>
        </p:nvSpPr>
        <p:spPr>
          <a:xfrm>
            <a:off x="509683" y="1413826"/>
            <a:ext cx="10804180" cy="64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go to ‘shared/users/kay.Toepfer@siemens.com/Documentation‘ for an introductory example on how to analyze data via EnergyAI!</a:t>
            </a:r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598264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69C143B-5883-44D8-A4A0-701F0B30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First Steps – My first Analysis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1E9BEA-7DBD-4CB9-9D3D-F65739950371}"/>
              </a:ext>
            </a:extLst>
          </p:cNvPr>
          <p:cNvSpPr/>
          <p:nvPr/>
        </p:nvSpPr>
        <p:spPr bwMode="auto">
          <a:xfrm>
            <a:off x="3613017" y="2122151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Main.ipynb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C6CF6A-289D-4067-A0FE-079C9A72476C}"/>
              </a:ext>
            </a:extLst>
          </p:cNvPr>
          <p:cNvSpPr/>
          <p:nvPr/>
        </p:nvSpPr>
        <p:spPr bwMode="auto">
          <a:xfrm>
            <a:off x="6463221" y="3681612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Python.ipynb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12A2135-C165-48C4-90C3-B4A72BCB681E}"/>
              </a:ext>
            </a:extLst>
          </p:cNvPr>
          <p:cNvSpPr/>
          <p:nvPr/>
        </p:nvSpPr>
        <p:spPr bwMode="auto">
          <a:xfrm>
            <a:off x="6463221" y="5360387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Numpy.ipynb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167A2C-3D7E-4ECB-87EB-49A39FC05A4A}"/>
              </a:ext>
            </a:extLst>
          </p:cNvPr>
          <p:cNvSpPr/>
          <p:nvPr/>
        </p:nvSpPr>
        <p:spPr bwMode="auto">
          <a:xfrm>
            <a:off x="6463221" y="4528307"/>
            <a:ext cx="1763278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Pandas.ipynb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2C00078-AD17-47D4-B1D5-54E8AB364196}"/>
              </a:ext>
            </a:extLst>
          </p:cNvPr>
          <p:cNvSpPr/>
          <p:nvPr/>
        </p:nvSpPr>
        <p:spPr bwMode="auto">
          <a:xfrm>
            <a:off x="1127939" y="3680897"/>
            <a:ext cx="2331134" cy="7556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799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Data_Pulling.ipynb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D10E194-5D04-4B7A-93C4-60D5BF79375B}"/>
              </a:ext>
            </a:extLst>
          </p:cNvPr>
          <p:cNvSpPr txBox="1"/>
          <p:nvPr/>
        </p:nvSpPr>
        <p:spPr>
          <a:xfrm>
            <a:off x="5376296" y="2122151"/>
            <a:ext cx="2554951" cy="7556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The notebook Main.ipynb contains a basic example on how to pull and analyze data via EnergyAI.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2FE12F9-7801-4C6A-BAC5-CDB5E9229B01}"/>
              </a:ext>
            </a:extLst>
          </p:cNvPr>
          <p:cNvSpPr txBox="1"/>
          <p:nvPr/>
        </p:nvSpPr>
        <p:spPr>
          <a:xfrm>
            <a:off x="2279474" y="3338930"/>
            <a:ext cx="3778446" cy="3359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sz="17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On Data Hub and its functions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623F3B1-D52E-49A8-8BFC-64DAB62B9629}"/>
              </a:ext>
            </a:extLst>
          </p:cNvPr>
          <p:cNvSpPr txBox="1"/>
          <p:nvPr/>
        </p:nvSpPr>
        <p:spPr>
          <a:xfrm>
            <a:off x="6463222" y="3338930"/>
            <a:ext cx="3735098" cy="3359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On Python and its libraries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4E50EF5-C5DC-4AD4-97BA-8AF99344B121}"/>
              </a:ext>
            </a:extLst>
          </p:cNvPr>
          <p:cNvCxnSpPr/>
          <p:nvPr/>
        </p:nvCxnSpPr>
        <p:spPr bwMode="auto">
          <a:xfrm>
            <a:off x="6563808" y="2937579"/>
            <a:ext cx="0" cy="401351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0B4BD156-B9DF-4DBA-92B2-6A340645906D}"/>
              </a:ext>
            </a:extLst>
          </p:cNvPr>
          <p:cNvSpPr txBox="1"/>
          <p:nvPr/>
        </p:nvSpPr>
        <p:spPr>
          <a:xfrm>
            <a:off x="3439432" y="3680897"/>
            <a:ext cx="2554951" cy="7556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Contains more detailed information about pulling data in EnergyAI. 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8162ACD-66B0-4699-949C-1C628D334582}"/>
              </a:ext>
            </a:extLst>
          </p:cNvPr>
          <p:cNvCxnSpPr/>
          <p:nvPr/>
        </p:nvCxnSpPr>
        <p:spPr bwMode="auto">
          <a:xfrm>
            <a:off x="6203956" y="3060566"/>
            <a:ext cx="0" cy="335521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5D73A3B-A36B-4EF2-A66C-D5E29E6AA189}"/>
              </a:ext>
            </a:extLst>
          </p:cNvPr>
          <p:cNvCxnSpPr/>
          <p:nvPr/>
        </p:nvCxnSpPr>
        <p:spPr bwMode="auto">
          <a:xfrm>
            <a:off x="5772133" y="2934726"/>
            <a:ext cx="0" cy="401351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360EA7BB-A852-40ED-BFD9-382D5DB69401}"/>
              </a:ext>
            </a:extLst>
          </p:cNvPr>
          <p:cNvSpPr txBox="1"/>
          <p:nvPr/>
        </p:nvSpPr>
        <p:spPr>
          <a:xfrm>
            <a:off x="8226499" y="3684416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Explains basic Python functionalities.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4B9F78F-DAAC-4ADD-9703-D81822D8A7A0}"/>
              </a:ext>
            </a:extLst>
          </p:cNvPr>
          <p:cNvSpPr txBox="1"/>
          <p:nvPr/>
        </p:nvSpPr>
        <p:spPr>
          <a:xfrm>
            <a:off x="8223337" y="4522305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The statistical and data analysis Python library Pandas.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C965208-AF13-4F98-86EF-07928033F6AA}"/>
              </a:ext>
            </a:extLst>
          </p:cNvPr>
          <p:cNvSpPr txBox="1"/>
          <p:nvPr/>
        </p:nvSpPr>
        <p:spPr>
          <a:xfrm>
            <a:off x="8226499" y="5360195"/>
            <a:ext cx="2554951" cy="7616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71963" tIns="71963" rIns="71963" bIns="71963" rtlCol="0" anchor="ctr" anchorCtr="1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11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Num</a:t>
            </a: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eric </a:t>
            </a:r>
            <a:r>
              <a:rPr lang="en-US" sz="11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Py</a:t>
            </a:r>
            <a:r>
              <a:rPr lang="en-US" sz="1199">
                <a:ea typeface="Arial Unicode MS" panose="020B0604020202020204" pitchFamily="34" charset="-128"/>
                <a:cs typeface="Arial Unicode MS" panose="020B0604020202020204" pitchFamily="34" charset="-128"/>
              </a:rPr>
              <a:t>thon library – for scientific computing in Python.</a:t>
            </a:r>
          </a:p>
        </p:txBody>
      </p:sp>
    </p:spTree>
    <p:extLst>
      <p:ext uri="{BB962C8B-B14F-4D97-AF65-F5344CB8AC3E}">
        <p14:creationId xmlns:p14="http://schemas.microsoft.com/office/powerpoint/2010/main" val="3374726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5FCFF8-CA39-4942-ACBA-14721E153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688" y="1215205"/>
            <a:ext cx="7659473" cy="4846320"/>
          </a:xfrm>
          <a:prstGeom prst="rect">
            <a:avLst/>
          </a:prstGeom>
        </p:spPr>
      </p:pic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latin typeface="Arial" pitchFamily="34" charset="0"/>
              </a:rPr>
              <a:t>Go to “Analyse”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17F6723F-3710-44EB-91F3-E307CA3F29C3}"/>
              </a:ext>
            </a:extLst>
          </p:cNvPr>
          <p:cNvSpPr/>
          <p:nvPr/>
        </p:nvSpPr>
        <p:spPr bwMode="auto">
          <a:xfrm rot="1848714">
            <a:off x="1198061" y="1787531"/>
            <a:ext cx="1511381" cy="575070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5887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8986122-3C58-4014-8611-B12CC1D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Create  a folder for this class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C7F7C-F918-48EF-B0A3-584F0D521ED8}"/>
              </a:ext>
            </a:extLst>
          </p:cNvPr>
          <p:cNvSpPr txBox="1"/>
          <p:nvPr/>
        </p:nvSpPr>
        <p:spPr>
          <a:xfrm>
            <a:off x="476629" y="1941095"/>
            <a:ext cx="2443035" cy="36896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buAutoNum type="arabicParenR"/>
            </a:pPr>
            <a:r>
              <a:rPr lang="en-US"/>
              <a:t>Make sure you have the File Explorer open</a:t>
            </a:r>
          </a:p>
          <a:p>
            <a:pPr marL="342900" indent="-342900" algn="l">
              <a:buAutoNum type="arabicParenR"/>
            </a:pPr>
            <a:r>
              <a:rPr lang="en-US"/>
              <a:t>Confirm you are at the root level (~/work)</a:t>
            </a:r>
          </a:p>
          <a:p>
            <a:pPr marL="342900" indent="-342900" algn="l">
              <a:buAutoNum type="arabicParenR"/>
            </a:pPr>
            <a:r>
              <a:rPr lang="en-US"/>
              <a:t>Click the create New Folder button</a:t>
            </a:r>
          </a:p>
          <a:p>
            <a:pPr algn="l"/>
            <a:endParaRPr lang="en-US"/>
          </a:p>
          <a:p>
            <a:pPr algn="l"/>
            <a:r>
              <a:rPr lang="en-US"/>
              <a:t>Recommended name:</a:t>
            </a:r>
          </a:p>
          <a:p>
            <a:pPr algn="l"/>
            <a:r>
              <a:rPr lang="en-US"/>
              <a:t>DS-1_2020-07-28</a:t>
            </a:r>
          </a:p>
          <a:p>
            <a:pPr algn="l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C22D86-238B-465F-B542-584F655F5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885" y="1473314"/>
            <a:ext cx="831648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29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8986122-3C58-4014-8611-B12CC1D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on shared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FBF53-3DA2-4EC4-9E41-BE9842ED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25" y="1703388"/>
            <a:ext cx="6239746" cy="3620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288B4F-DD2D-4892-A40D-1DE9E791C33C}"/>
              </a:ext>
            </a:extLst>
          </p:cNvPr>
          <p:cNvSpPr txBox="1"/>
          <p:nvPr/>
        </p:nvSpPr>
        <p:spPr>
          <a:xfrm>
            <a:off x="476629" y="1941095"/>
            <a:ext cx="2443035" cy="36896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buAutoNum type="arabicParenR"/>
            </a:pPr>
            <a:r>
              <a:rPr lang="en-US"/>
              <a:t>Make sure you have the File Explorer open</a:t>
            </a:r>
          </a:p>
          <a:p>
            <a:pPr marL="342900" indent="-342900" algn="l">
              <a:buAutoNum type="arabicParenR"/>
            </a:pPr>
            <a:r>
              <a:rPr lang="en-US"/>
              <a:t>Confirm you are at the root level (~/work)</a:t>
            </a:r>
          </a:p>
          <a:p>
            <a:pPr marL="342900" indent="-342900" algn="l">
              <a:buAutoNum type="arabicParenR"/>
            </a:pPr>
            <a:r>
              <a:rPr lang="en-US"/>
              <a:t>Open the shared folder</a:t>
            </a:r>
          </a:p>
          <a:p>
            <a:pPr algn="l"/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60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6CF88-77B7-433D-96C6-5043907F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on users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376FBA2-E7B2-48F9-8BD4-D43DD64B0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37" y="1413924"/>
            <a:ext cx="8420055" cy="4798289"/>
          </a:xfrm>
          <a:prstGeom prst="rect">
            <a:avLst/>
          </a:prstGeom>
        </p:spPr>
      </p:pic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F2780CFE-59F1-4483-9DA6-91F5AEB30A1E}"/>
              </a:ext>
            </a:extLst>
          </p:cNvPr>
          <p:cNvSpPr/>
          <p:nvPr/>
        </p:nvSpPr>
        <p:spPr bwMode="auto">
          <a:xfrm rot="10800000">
            <a:off x="1237990" y="2061560"/>
            <a:ext cx="1511381" cy="431823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2618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5BD80-0FB3-4E42-9C5B-B2161037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Search for kay.toepfer@siemens.com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C851AD8-E07F-4A23-94EC-27CAD540A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37" y="1444072"/>
            <a:ext cx="8717337" cy="4713920"/>
          </a:xfrm>
          <a:prstGeom prst="rect">
            <a:avLst/>
          </a:prstGeom>
        </p:spPr>
      </p:pic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BAB904CD-BFBC-4AEA-85A9-DCE7BB523564}"/>
              </a:ext>
            </a:extLst>
          </p:cNvPr>
          <p:cNvSpPr/>
          <p:nvPr/>
        </p:nvSpPr>
        <p:spPr bwMode="auto">
          <a:xfrm rot="10800000">
            <a:off x="2092236" y="4220676"/>
            <a:ext cx="1511381" cy="431823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0779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FA76E-B6DC-4EE7-9B45-FFB85610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Go to Data Science Workshop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92A1566-1800-4639-A187-5CEAE687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3" y="1444073"/>
            <a:ext cx="8818237" cy="4721757"/>
          </a:xfrm>
          <a:prstGeom prst="rect">
            <a:avLst/>
          </a:prstGeom>
        </p:spPr>
      </p:pic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F92EC431-C204-4181-AD5C-8C235575696A}"/>
              </a:ext>
            </a:extLst>
          </p:cNvPr>
          <p:cNvSpPr/>
          <p:nvPr/>
        </p:nvSpPr>
        <p:spPr bwMode="auto">
          <a:xfrm rot="10800000">
            <a:off x="1992449" y="2241487"/>
            <a:ext cx="1511381" cy="431823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1263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56D4D-D1FC-4F94-B500-B3750EAC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Copy the modules you need in your own folder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DBD340-E480-4C9B-8529-2CCB7ABCA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939" b="27337"/>
          <a:stretch/>
        </p:blipFill>
        <p:spPr>
          <a:xfrm>
            <a:off x="626737" y="1413925"/>
            <a:ext cx="4535813" cy="34628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EFBEF939-9DAD-4A98-A2A9-3F5E770B4B1D}"/>
              </a:ext>
            </a:extLst>
          </p:cNvPr>
          <p:cNvSpPr/>
          <p:nvPr/>
        </p:nvSpPr>
        <p:spPr bwMode="auto">
          <a:xfrm rot="10800000">
            <a:off x="2319966" y="2878314"/>
            <a:ext cx="1511381" cy="431823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60409-ECB6-4847-A9C3-732C47CCD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03" y="1876131"/>
            <a:ext cx="6944694" cy="421063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48502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kern="0" noProof="0"/>
              <a:t>Application Example</a:t>
            </a:r>
            <a:endParaRPr lang="en-US" sz="2800" b="0" kern="0" noProof="0"/>
          </a:p>
        </p:txBody>
      </p:sp>
      <p:sp>
        <p:nvSpPr>
          <p:cNvPr id="4" name="Subhead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kern="0" noProof="0"/>
              <a:t>Power and Gas – Large Gas Turbines, Generators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3035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058454AC-34DD-4263-8ED9-6077B0C2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740" y="1421254"/>
            <a:ext cx="8649783" cy="192384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12D89DF-ED17-41CB-A0E4-43AA54F7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Application Example:  </a:t>
            </a:r>
            <a:r>
              <a:rPr lang="en-US" i="1" noProof="0"/>
              <a:t>Energy AI</a:t>
            </a:r>
            <a:r>
              <a:rPr lang="en-US" noProof="0"/>
              <a:t> </a:t>
            </a:r>
            <a:br>
              <a:rPr lang="en-US" noProof="0"/>
            </a:br>
            <a:r>
              <a:rPr lang="en-US" sz="1799" noProof="0"/>
              <a:t>Efficient Tuning Back Office Support and Engine Validation</a:t>
            </a:r>
            <a:endParaRPr lang="en-US" noProof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88978A-9337-4B00-88F1-9CF0C5722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8983" y="82372"/>
            <a:ext cx="1108387" cy="106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38108DC-95D3-46D8-9525-D8C13E9A7A8F}"/>
              </a:ext>
            </a:extLst>
          </p:cNvPr>
          <p:cNvSpPr txBox="1"/>
          <p:nvPr/>
        </p:nvSpPr>
        <p:spPr>
          <a:xfrm>
            <a:off x="3633353" y="5526236"/>
            <a:ext cx="8399485" cy="106307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Shown: Python script on Energy AI runs analysis of HFD activity in 8000H in terms of amplitudes and HFD activity per basket; </a:t>
            </a:r>
          </a:p>
          <a:p>
            <a:pPr>
              <a:lnSpc>
                <a:spcPct val="110000"/>
              </a:lnSpc>
            </a:pPr>
            <a:r>
              <a:rPr lang="en-US" sz="1399" b="1">
                <a:ea typeface="Arial Unicode MS" panose="020B0604020202020204" pitchFamily="34" charset="-128"/>
                <a:cs typeface="Arial Unicode MS" panose="020B0604020202020204" pitchFamily="34" charset="-128"/>
              </a:rPr>
              <a:t>Script provides analysis for 5 month period in ~60 seconds where doing the same thing for a mere two day period in conventional manner takes several hours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7A24EDA-A6DD-43BC-999C-E0B167ECB7F7}"/>
              </a:ext>
            </a:extLst>
          </p:cNvPr>
          <p:cNvSpPr txBox="1"/>
          <p:nvPr/>
        </p:nvSpPr>
        <p:spPr>
          <a:xfrm>
            <a:off x="159162" y="1473159"/>
            <a:ext cx="3273930" cy="307323"/>
          </a:xfrm>
          <a:prstGeom prst="rect">
            <a:avLst/>
          </a:prstGeom>
          <a:solidFill>
            <a:srgbClr val="A5E1E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79906" tIns="179906" rIns="179906" bIns="179906" rtlCol="0" anchor="ctr">
            <a:noAutofit/>
          </a:bodyPr>
          <a:lstStyle>
            <a:defPPr>
              <a:defRPr lang="de-DE"/>
            </a:defPPr>
            <a:lvl1pPr marL="180975" indent="-1809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marL="0" indent="0" algn="ctr">
              <a:buNone/>
            </a:pPr>
            <a:r>
              <a:rPr lang="en-US" sz="1399" b="1"/>
              <a:t>Past Situation</a:t>
            </a:r>
            <a:endParaRPr lang="en-US" sz="1399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C3EDB0-2922-40E3-9AE2-28FB3D41511B}"/>
              </a:ext>
            </a:extLst>
          </p:cNvPr>
          <p:cNvSpPr txBox="1"/>
          <p:nvPr/>
        </p:nvSpPr>
        <p:spPr>
          <a:xfrm>
            <a:off x="161234" y="4149966"/>
            <a:ext cx="3271858" cy="306094"/>
          </a:xfrm>
          <a:prstGeom prst="rect">
            <a:avLst/>
          </a:prstGeom>
          <a:solidFill>
            <a:srgbClr val="A5E1E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79906" tIns="179906" rIns="179906" bIns="179906" rtlCol="0" anchor="ctr">
            <a:noAutofit/>
          </a:bodyPr>
          <a:lstStyle>
            <a:defPPr>
              <a:defRPr lang="de-DE"/>
            </a:defPPr>
            <a:lvl1pPr marL="180975" indent="-1809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marL="0" indent="0" algn="ctr">
              <a:buNone/>
            </a:pPr>
            <a:r>
              <a:rPr lang="en-US" sz="1399" b="1"/>
              <a:t>Improvement</a:t>
            </a:r>
            <a:endParaRPr lang="en-US" sz="1399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A77E420-A418-4310-A5B5-6C3213DB0247}"/>
              </a:ext>
            </a:extLst>
          </p:cNvPr>
          <p:cNvSpPr txBox="1">
            <a:spLocks/>
          </p:cNvSpPr>
          <p:nvPr/>
        </p:nvSpPr>
        <p:spPr bwMode="auto">
          <a:xfrm>
            <a:off x="159162" y="1827990"/>
            <a:ext cx="3273929" cy="227446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251869" tIns="143925" rIns="251869" bIns="143925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177800" indent="-176213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77800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357188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357188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60363" indent="-180975" algn="l" rtl="0" eaLnBrk="1" fontAlgn="base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16779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1351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5923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Individual approach to engine data analysis w. different tools/mix of tools</a:t>
            </a:r>
          </a:p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Routine tasks require high repetitive manual effort w/o value add</a:t>
            </a:r>
          </a:p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Post processing is done locally &amp; extracted data is rarely shared</a:t>
            </a:r>
          </a:p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Local analysis strongly limited by CPU/RAM/disk space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EEF3559-9F0B-484D-9E9E-D61C6A693F5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3353" y="3416170"/>
            <a:ext cx="3981060" cy="211006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9291693-94C6-47C3-B33B-0E6830FA7D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674" y="3492345"/>
            <a:ext cx="4069683" cy="2022445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33EE9ED0-26C6-46CB-9A67-21E3E03C84EE}"/>
              </a:ext>
            </a:extLst>
          </p:cNvPr>
          <p:cNvSpPr txBox="1">
            <a:spLocks/>
          </p:cNvSpPr>
          <p:nvPr/>
        </p:nvSpPr>
        <p:spPr bwMode="auto">
          <a:xfrm>
            <a:off x="159162" y="4503568"/>
            <a:ext cx="3271858" cy="196837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251869" tIns="143925" rIns="251869" bIns="143925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177800" indent="-176213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77800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357188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357188" indent="-177800" algn="l" rtl="0" fontAlgn="base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60363" indent="-180975" algn="l" rtl="0" eaLnBrk="1" fontAlgn="base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16779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1351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592388" indent="-18891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Energy AI</a:t>
            </a:r>
            <a:r>
              <a:rPr lang="en-US" sz="1199" kern="0">
                <a:solidFill>
                  <a:schemeClr val="bg1"/>
                </a:solidFill>
              </a:rPr>
              <a:t> (a.k.a. Datahub) allows easy standardization in collaborative &amp; performant environment</a:t>
            </a:r>
          </a:p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Python scripts automate routine post processing tasks </a:t>
            </a:r>
            <a:r>
              <a:rPr lang="en-US" sz="1199" kern="0">
                <a:solidFill>
                  <a:schemeClr val="bg1"/>
                </a:solidFill>
                <a:sym typeface="Wingdings" panose="05000000000000000000" pitchFamily="2" charset="2"/>
              </a:rPr>
              <a:t> engineer can focus on value add tasks</a:t>
            </a:r>
            <a:endParaRPr lang="en-US" sz="1199" kern="0">
              <a:solidFill>
                <a:schemeClr val="bg1"/>
              </a:solidFill>
            </a:endParaRPr>
          </a:p>
          <a:p>
            <a:pPr marL="182472" indent="-182472">
              <a:buClrTx/>
              <a:buFont typeface="Arial" panose="020B0604020202020204" pitchFamily="34" charset="0"/>
              <a:buChar char="•"/>
            </a:pPr>
            <a:r>
              <a:rPr lang="en-US" sz="1199" kern="0">
                <a:solidFill>
                  <a:schemeClr val="bg1"/>
                </a:solidFill>
              </a:rPr>
              <a:t>Fast turnaround times even for large datasets</a:t>
            </a:r>
          </a:p>
        </p:txBody>
      </p:sp>
      <p:pic>
        <p:nvPicPr>
          <p:cNvPr id="3074" name="Picture 2" descr="Bildergebnis fÃ¼r jupyter notebook">
            <a:extLst>
              <a:ext uri="{FF2B5EF4-FFF2-40B4-BE49-F238E27FC236}">
                <a16:creationId xmlns:a16="http://schemas.microsoft.com/office/drawing/2014/main" id="{94BEF9D6-3668-499B-BCBA-20A238068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69886" y="2365928"/>
            <a:ext cx="914471" cy="106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EE8C142-86A5-4D22-854A-CAD05640E82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7906" y="1228221"/>
            <a:ext cx="2004094" cy="110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17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kern="0" noProof="0"/>
              <a:t>Additional Features in EnergyAI</a:t>
            </a:r>
            <a:endParaRPr lang="en-US" sz="2800" b="0" kern="0" noProof="0"/>
          </a:p>
        </p:txBody>
      </p:sp>
      <p:sp>
        <p:nvSpPr>
          <p:cNvPr id="4" name="Subhead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kern="0" noProof="0"/>
              <a:t>Power and Gas – Large Gas Turbines, Generators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59339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8986122-3C58-4014-8611-B12CC1D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Advanced Settings:</a:t>
            </a:r>
            <a:br>
              <a:rPr lang="en-US" noProof="0"/>
            </a:br>
            <a:r>
              <a:rPr lang="en-US" noProof="0"/>
              <a:t>(1 of 2) to Easier Move between Folders for Opened Notebooks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C7F7C-F918-48EF-B0A3-584F0D521ED8}"/>
              </a:ext>
            </a:extLst>
          </p:cNvPr>
          <p:cNvSpPr txBox="1"/>
          <p:nvPr/>
        </p:nvSpPr>
        <p:spPr>
          <a:xfrm>
            <a:off x="476629" y="1941095"/>
            <a:ext cx="2499327" cy="38528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buAutoNum type="arabicParenR"/>
            </a:pPr>
            <a:r>
              <a:rPr lang="en-US"/>
              <a:t>Click: Settings</a:t>
            </a:r>
          </a:p>
          <a:p>
            <a:pPr marL="342900" indent="-342900" algn="l">
              <a:buAutoNum type="arabicParenR"/>
            </a:pPr>
            <a:endParaRPr lang="en-US"/>
          </a:p>
          <a:p>
            <a:pPr marL="342900" indent="-342900" algn="l">
              <a:buAutoNum type="arabicParenR"/>
            </a:pPr>
            <a:endParaRPr lang="en-US"/>
          </a:p>
          <a:p>
            <a:pPr marL="342900" indent="-342900" algn="l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r>
              <a:rPr lang="en-US"/>
              <a:t>Click: Advanced Settings Editor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r>
              <a:rPr lang="en-US"/>
              <a:t>Click: File Browser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r>
              <a:rPr lang="en-US"/>
              <a:t>Copy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r>
              <a:rPr lang="en-US"/>
              <a:t>Paste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r>
              <a:rPr lang="en-US"/>
              <a:t>Modify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47A0D9-2F9A-42FD-9727-95858E9DE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342" y="2263796"/>
            <a:ext cx="8357029" cy="2940234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10569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8986122-3C58-4014-8611-B12CC1D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Settings:</a:t>
            </a:r>
            <a:br>
              <a:rPr lang="en-US"/>
            </a:br>
            <a:r>
              <a:rPr lang="en-US"/>
              <a:t>(2 of 2) to Shut Down Kernel Automatically when Closing Notebook</a:t>
            </a:r>
            <a:endParaRPr lang="en-US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C7F7C-F918-48EF-B0A3-584F0D521ED8}"/>
              </a:ext>
            </a:extLst>
          </p:cNvPr>
          <p:cNvSpPr txBox="1"/>
          <p:nvPr/>
        </p:nvSpPr>
        <p:spPr>
          <a:xfrm>
            <a:off x="476629" y="1941095"/>
            <a:ext cx="2499327" cy="38528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buAutoNum type="arabicParenR"/>
            </a:pPr>
            <a:endParaRPr lang="en-US"/>
          </a:p>
          <a:p>
            <a:r>
              <a:rPr lang="en-US"/>
              <a:t>7) Click: Notebook</a:t>
            </a:r>
          </a:p>
          <a:p>
            <a:endParaRPr lang="en-US"/>
          </a:p>
          <a:p>
            <a:r>
              <a:rPr lang="en-US"/>
              <a:t>8) Copy</a:t>
            </a:r>
          </a:p>
          <a:p>
            <a:endParaRPr lang="en-US"/>
          </a:p>
          <a:p>
            <a:r>
              <a:rPr lang="en-US"/>
              <a:t>9) Paste</a:t>
            </a:r>
          </a:p>
          <a:p>
            <a:endParaRPr lang="en-US"/>
          </a:p>
          <a:p>
            <a:r>
              <a:rPr lang="en-US"/>
              <a:t>10) Modify</a:t>
            </a:r>
          </a:p>
          <a:p>
            <a:pPr marL="342900" indent="-342900">
              <a:buAutoNum type="arabicParenR"/>
            </a:pPr>
            <a:endParaRPr lang="en-US"/>
          </a:p>
          <a:p>
            <a:pPr marL="342900" indent="-342900">
              <a:buAutoNum type="arabicParenR"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AFBF8-1CE3-4133-8176-41C20232C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31" y="1022464"/>
            <a:ext cx="6747950" cy="529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33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56D4D-D1FC-4F94-B500-B3750EAC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Open up a file and set up view by docking Context Help</a:t>
            </a:r>
            <a:br>
              <a:rPr lang="en-US" noProof="0"/>
            </a:br>
            <a:r>
              <a:rPr lang="en-US" noProof="0"/>
              <a:t>and Variable Inspector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FACD9-BD1A-41D4-BEB7-578D054D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88279"/>
            <a:ext cx="10166465" cy="218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24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8986122-3C58-4014-8611-B12CC1D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Trouble Shooting</a:t>
            </a:r>
            <a:br>
              <a:rPr lang="en-US" noProof="0"/>
            </a:br>
            <a:r>
              <a:rPr lang="en-US" noProof="0"/>
              <a:t>!!!  ONLY RUN IF PROBLEMS !!!!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C7F7C-F918-48EF-B0A3-584F0D521ED8}"/>
              </a:ext>
            </a:extLst>
          </p:cNvPr>
          <p:cNvSpPr txBox="1"/>
          <p:nvPr/>
        </p:nvSpPr>
        <p:spPr>
          <a:xfrm>
            <a:off x="476629" y="1941095"/>
            <a:ext cx="3568429" cy="36896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buAutoNum type="arabicParenR"/>
            </a:pPr>
            <a:r>
              <a:rPr lang="en-US"/>
              <a:t>info</a:t>
            </a:r>
          </a:p>
          <a:p>
            <a:pPr marL="342900" indent="-342900">
              <a:buAutoNum type="arabicParenR"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C54549-F8AA-422D-A0D3-0916569F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08" y="1323503"/>
            <a:ext cx="3218240" cy="4801266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DADB7E-D7EC-4693-8B07-EE9970D9E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962" y="242376"/>
            <a:ext cx="3844464" cy="2031973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EACA0-D85F-4689-8F84-D973630DC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94" y="2274349"/>
            <a:ext cx="3979454" cy="2125307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E92DA3-BD2F-4EB8-9FE4-F5FDBDEC4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962" y="4522472"/>
            <a:ext cx="3218240" cy="2216614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175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kern="0" noProof="0"/>
              <a:t>Additional Slides for </a:t>
            </a:r>
            <a:br>
              <a:rPr lang="en-US" kern="0" noProof="0"/>
            </a:br>
            <a:r>
              <a:rPr lang="en-US" kern="0" noProof="0"/>
              <a:t>Data Science 2</a:t>
            </a:r>
            <a:br>
              <a:rPr lang="en-US" kern="0" noProof="0"/>
            </a:br>
            <a:r>
              <a:rPr lang="en-US" sz="2200" kern="0" noProof="0"/>
              <a:t>Vectorized Calculations</a:t>
            </a:r>
            <a:endParaRPr lang="en-US" sz="2200" b="0" kern="0" noProof="0"/>
          </a:p>
        </p:txBody>
      </p:sp>
      <p:sp>
        <p:nvSpPr>
          <p:cNvPr id="4" name="Subhead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kern="0" noProof="0"/>
              <a:t>Power and Gas – Large Gas Turbines, Generators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93329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4050607-8A6E-4651-A4B6-13CB773A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Calculate Efficiently in Pandas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C610DE0-E8D3-411D-8BBD-FA427C8F3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8000" contrast="4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494611" y="1848666"/>
            <a:ext cx="4036365" cy="3723872"/>
          </a:xfr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4C4229E-8561-43F9-A958-7802150D6D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7000" contrast="6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 flipH="1" flipV="1">
            <a:off x="532206" y="1759732"/>
            <a:ext cx="4570128" cy="38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39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kern="0" noProof="0"/>
              <a:t>Additional Slides for </a:t>
            </a:r>
            <a:br>
              <a:rPr lang="en-US" kern="0" noProof="0"/>
            </a:br>
            <a:r>
              <a:rPr lang="en-US" kern="0" noProof="0"/>
              <a:t>Data Science 3</a:t>
            </a:r>
            <a:endParaRPr lang="en-US" sz="2800" b="0" kern="0" noProof="0"/>
          </a:p>
        </p:txBody>
      </p:sp>
      <p:sp>
        <p:nvSpPr>
          <p:cNvPr id="4" name="Subhead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kern="0" noProof="0"/>
              <a:t>Power and Gas – Large Gas Turbines, Generators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0035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150FC-D295-41AE-9284-8893BCBF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79815-5CC0-4310-8E6A-AE444612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9EBB084-7BF8-417A-83C4-7CBFCB90E5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6000" contrast="6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05785" y="1976660"/>
            <a:ext cx="5780430" cy="290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007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09" y="1968405"/>
            <a:ext cx="5359783" cy="3625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-1"/>
            <a:ext cx="9521072" cy="1440000"/>
          </a:xfrm>
        </p:spPr>
        <p:txBody>
          <a:bodyPr/>
          <a:lstStyle/>
          <a:p>
            <a:r>
              <a:rPr lang="en-US" sz="1999"/>
              <a:t>Box-Plot is a plot to show most things a Histogram shows by using much less space and therefore easy allows to compare many distributions. However, it is a bit harder to read than other graphs.</a:t>
            </a:r>
            <a:endParaRPr lang="en-US" altLang="en-US" sz="1999">
              <a:solidFill>
                <a:srgbClr val="FF0000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738865" y="3500970"/>
            <a:ext cx="2973306" cy="317335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/>
              <a:t>1. </a:t>
            </a:r>
            <a:r>
              <a:rPr lang="de-DE" altLang="de-DE" sz="1399" err="1"/>
              <a:t>quartile</a:t>
            </a:r>
            <a:r>
              <a:rPr lang="de-DE" altLang="de-DE" sz="1399"/>
              <a:t> (Q1): = 25% </a:t>
            </a:r>
            <a:r>
              <a:rPr lang="en-US" altLang="de-DE" sz="1399"/>
              <a:t>percentile</a:t>
            </a:r>
            <a:endParaRPr lang="de-DE" altLang="de-DE" sz="1399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735691" y="3105133"/>
            <a:ext cx="2973306" cy="317335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/>
              <a:t>median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738865" y="2717315"/>
            <a:ext cx="2970132" cy="317335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/>
              <a:t>3. </a:t>
            </a:r>
            <a:r>
              <a:rPr lang="de-DE" altLang="de-DE" sz="1399" err="1"/>
              <a:t>quartile</a:t>
            </a:r>
            <a:r>
              <a:rPr lang="de-DE" altLang="de-DE" sz="1399"/>
              <a:t> (Q3): = 75% </a:t>
            </a:r>
            <a:r>
              <a:rPr lang="en-US" altLang="de-DE" sz="1399"/>
              <a:t>percentile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738865" y="4292647"/>
            <a:ext cx="2973306" cy="529949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 err="1"/>
              <a:t>lowest</a:t>
            </a:r>
            <a:r>
              <a:rPr lang="de-DE" altLang="de-DE" sz="1399"/>
              <a:t> </a:t>
            </a:r>
            <a:r>
              <a:rPr lang="de-DE" altLang="de-DE" sz="1399" err="1"/>
              <a:t>value</a:t>
            </a:r>
            <a:r>
              <a:rPr lang="de-DE" altLang="de-DE" sz="1399"/>
              <a:t> in</a:t>
            </a:r>
            <a:br>
              <a:rPr lang="de-DE" altLang="de-DE" sz="1399"/>
            </a:br>
            <a:r>
              <a:rPr lang="de-DE" altLang="de-DE" sz="1399"/>
              <a:t>Q1-1.5(Q3-Q1)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6738865" y="2097546"/>
            <a:ext cx="2970132" cy="529949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 err="1"/>
              <a:t>highest</a:t>
            </a:r>
            <a:r>
              <a:rPr lang="de-DE" altLang="de-DE" sz="1399"/>
              <a:t> </a:t>
            </a:r>
            <a:r>
              <a:rPr lang="de-DE" altLang="de-DE" sz="1399" err="1"/>
              <a:t>value</a:t>
            </a:r>
            <a:r>
              <a:rPr lang="de-DE" altLang="de-DE" sz="1399"/>
              <a:t> </a:t>
            </a:r>
            <a:r>
              <a:rPr lang="de-DE" altLang="de-DE" sz="1399" err="1"/>
              <a:t>above</a:t>
            </a:r>
            <a:br>
              <a:rPr lang="de-DE" altLang="de-DE" sz="1399"/>
            </a:br>
            <a:r>
              <a:rPr lang="de-DE" altLang="de-DE" sz="1399"/>
              <a:t>Q3+1.5 (Q3-Q1)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6738865" y="4904396"/>
            <a:ext cx="2973306" cy="529949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  <a:miter lim="800000"/>
            <a:headEnd/>
            <a:tailEnd/>
          </a:ln>
        </p:spPr>
        <p:txBody>
          <a:bodyPr lIns="92027" tIns="46014" rIns="92027" bIns="46014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de-DE" sz="1399" err="1"/>
              <a:t>measured</a:t>
            </a:r>
            <a:r>
              <a:rPr lang="de-DE" altLang="de-DE" sz="1399"/>
              <a:t> </a:t>
            </a:r>
            <a:r>
              <a:rPr lang="de-DE" altLang="de-DE" sz="1399" err="1"/>
              <a:t>data</a:t>
            </a:r>
            <a:r>
              <a:rPr lang="de-DE" altLang="de-DE" sz="1399"/>
              <a:t> outside </a:t>
            </a:r>
            <a:r>
              <a:rPr lang="de-DE" altLang="de-DE" sz="1399" err="1"/>
              <a:t>of</a:t>
            </a:r>
            <a:br>
              <a:rPr lang="de-DE" altLang="de-DE" sz="1399"/>
            </a:br>
            <a:r>
              <a:rPr lang="de-DE" altLang="de-DE" sz="1399"/>
              <a:t> Q1-1.5(Q3-Q1) (so-</a:t>
            </a:r>
            <a:r>
              <a:rPr lang="de-DE" altLang="de-DE" sz="1399" err="1"/>
              <a:t>called</a:t>
            </a:r>
            <a:r>
              <a:rPr lang="de-DE" altLang="de-DE" sz="1399"/>
              <a:t> </a:t>
            </a:r>
            <a:r>
              <a:rPr lang="de-DE" altLang="de-DE" sz="1399" err="1"/>
              <a:t>outliers</a:t>
            </a:r>
            <a:r>
              <a:rPr lang="de-DE" altLang="de-DE" sz="1399"/>
              <a:t>)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4663035" y="3141119"/>
            <a:ext cx="2030942" cy="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V="1">
            <a:off x="4663035" y="2948969"/>
            <a:ext cx="2030942" cy="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V="1">
            <a:off x="3947905" y="2257179"/>
            <a:ext cx="2790959" cy="34416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663035" y="3551905"/>
            <a:ext cx="2075829" cy="8343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3828930" y="4488041"/>
            <a:ext cx="2865048" cy="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4071666" y="5169369"/>
            <a:ext cx="2664025" cy="21569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799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597E39C-DF8A-47BD-B900-BFE4071184FE}"/>
              </a:ext>
            </a:extLst>
          </p:cNvPr>
          <p:cNvSpPr txBox="1"/>
          <p:nvPr/>
        </p:nvSpPr>
        <p:spPr>
          <a:xfrm>
            <a:off x="2952183" y="2122065"/>
            <a:ext cx="1991443" cy="27022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1200" b="1"/>
              <a:t>Boxplot </a:t>
            </a:r>
            <a:r>
              <a:rPr lang="de-DE" sz="1200" b="1" err="1"/>
              <a:t>of</a:t>
            </a:r>
            <a:r>
              <a:rPr lang="de-DE" sz="1200" b="1"/>
              <a:t> Efficiency</a:t>
            </a:r>
            <a:endParaRPr lang="en-US" sz="1200" b="1" err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2CB877B-3C66-44C7-B240-B36A1127A575}"/>
              </a:ext>
            </a:extLst>
          </p:cNvPr>
          <p:cNvSpPr txBox="1"/>
          <p:nvPr/>
        </p:nvSpPr>
        <p:spPr>
          <a:xfrm>
            <a:off x="1047565" y="3560248"/>
            <a:ext cx="204186" cy="783335"/>
          </a:xfrm>
          <a:prstGeom prst="rect">
            <a:avLst/>
          </a:prstGeom>
          <a:solidFill>
            <a:schemeClr val="bg1"/>
          </a:solidFill>
        </p:spPr>
        <p:txBody>
          <a:bodyPr vert="vert270" wrap="square" lIns="0" tIns="0" rIns="0" bIns="0" rtlCol="0">
            <a:noAutofit/>
          </a:bodyPr>
          <a:lstStyle/>
          <a:p>
            <a:pPr algn="l"/>
            <a:r>
              <a:rPr lang="de-DE" sz="1200" b="1"/>
              <a:t>Efficiency</a:t>
            </a:r>
            <a:endParaRPr lang="en-US" sz="1200" b="1" err="1"/>
          </a:p>
        </p:txBody>
      </p:sp>
    </p:spTree>
    <p:extLst>
      <p:ext uri="{BB962C8B-B14F-4D97-AF65-F5344CB8AC3E}">
        <p14:creationId xmlns:p14="http://schemas.microsoft.com/office/powerpoint/2010/main" val="37712180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</p:tagLst>
</file>

<file path=ppt/theme/theme1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4D217A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gradFill>
            <a:gsLst>
              <a:gs pos="0">
                <a:schemeClr val="tx1"/>
              </a:gs>
              <a:gs pos="100000">
                <a:schemeClr val="tx1">
                  <a:alpha val="5000"/>
                </a:schemeClr>
              </a:gs>
            </a:gsLst>
            <a:lin ang="0" scaled="0"/>
          </a:gra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SE Brown 1">
      <a:srgbClr val="CFC0BE"/>
    </a:custClr>
    <a:custClr name="SE Brown 3">
      <a:srgbClr val="8F7C7A"/>
    </a:custClr>
    <a:custClr name="SE Gray 1">
      <a:srgbClr val="D7E4EE"/>
    </a:custClr>
    <a:custClr name="SE Gray 3">
      <a:srgbClr val="96B0C0"/>
    </a:custClr>
    <a:custClr name="SE Green 1">
      <a:srgbClr val="00FD79"/>
    </a:custClr>
    <a:custClr name="SE Green 3">
      <a:srgbClr val="27B66D"/>
    </a:custClr>
    <a:custClr name="SE Blue 1">
      <a:srgbClr val="6ADDFF"/>
    </a:custClr>
    <a:custClr name="SE Blue 3">
      <a:srgbClr val="0084E1"/>
    </a:custClr>
    <a:custClr name="SE Yellow 1">
      <a:srgbClr val="FFF91F"/>
    </a:custClr>
    <a:custClr name="SE Yellow 3">
      <a:srgbClr val="E2D000"/>
    </a:custClr>
    <a:custClr name="SE Brown 2">
      <a:srgbClr val="AF9E9C"/>
    </a:custClr>
    <a:custClr name="SE Brown 4">
      <a:srgbClr val="7D6766"/>
    </a:custClr>
    <a:custClr name="SE Gray 2">
      <a:srgbClr val="B8CEDB"/>
    </a:custClr>
    <a:custClr name="SE Gray 4">
      <a:srgbClr val="7B919D"/>
    </a:custClr>
    <a:custClr name="SE Green 2">
      <a:srgbClr val="14DA79"/>
    </a:custClr>
    <a:custClr name="SE Green 4">
      <a:srgbClr val="009B55"/>
    </a:custClr>
    <a:custClr name="SE Blue 2">
      <a:srgbClr val="21C0FF"/>
    </a:custClr>
    <a:custClr name="SE Blue 4">
      <a:srgbClr val="0057C6"/>
    </a:custClr>
    <a:custClr name="SE Yellow 2">
      <a:srgbClr val="F6E600"/>
    </a:custClr>
    <a:custClr name="SE Yellow 4">
      <a:srgbClr val="C6AE00"/>
    </a:custClr>
  </a:custClrLst>
</a:theme>
</file>

<file path=ppt/theme/theme2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4ppTags>
  <Name>Free Content + Navigation</Name>
  <PpLayout>32</PpLayout>
  <Index>16</Index>
</p4ppTags>
</file>

<file path=customXml/item2.xml><?xml version="1.0" encoding="utf-8"?>
<p4ppTags>
  <Name>One object (large)</Name>
  <PpLayout>16</PpLayout>
  <Index>10</Index>
</p4ppTags>
</file>

<file path=customXml/itemProps1.xml><?xml version="1.0" encoding="utf-8"?>
<ds:datastoreItem xmlns:ds="http://schemas.openxmlformats.org/officeDocument/2006/customXml" ds:itemID="{E0D45201-25B6-4C24-8926-4EE9850AAF13}">
  <ds:schemaRefs/>
</ds:datastoreItem>
</file>

<file path=customXml/itemProps2.xml><?xml version="1.0" encoding="utf-8"?>
<ds:datastoreItem xmlns:ds="http://schemas.openxmlformats.org/officeDocument/2006/customXml" ds:itemID="{80661B8B-A327-44F9-823B-4D9EE0B3EC7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Microsoft Office PowerPoint</Application>
  <PresentationFormat>Breitbild</PresentationFormat>
  <Paragraphs>486</Paragraphs>
  <Slides>44</Slides>
  <Notes>13</Notes>
  <HiddenSlides>20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0" baseType="lpstr">
      <vt:lpstr>Arial</vt:lpstr>
      <vt:lpstr>Courier New</vt:lpstr>
      <vt:lpstr>Siemens Sans</vt:lpstr>
      <vt:lpstr>Times New Roman</vt:lpstr>
      <vt:lpstr>Wingdings</vt:lpstr>
      <vt:lpstr>Siemens Energy</vt:lpstr>
      <vt:lpstr>Data-Science Getting Started</vt:lpstr>
      <vt:lpstr>Introduction Matthias Groh @ SE GP G QPI QM P</vt:lpstr>
      <vt:lpstr>Introduction: Data Science @ SE GP G QPI QM P Improvement Projects</vt:lpstr>
      <vt:lpstr>Presenters &amp; Content Authors</vt:lpstr>
      <vt:lpstr>Goal Data Science Workshops: Basic understanding how to use Python and EnergyAI to access power plant data</vt:lpstr>
      <vt:lpstr>How This Training Works</vt:lpstr>
      <vt:lpstr>Links</vt:lpstr>
      <vt:lpstr>Introduction</vt:lpstr>
      <vt:lpstr>First Steps – My first Analysis</vt:lpstr>
      <vt:lpstr>DRAFT: Data Structures in Python (Grey), Numpy (Green)  and Pandas (Orange)</vt:lpstr>
      <vt:lpstr>DRAFT: A Selection of Important Libraries in Python</vt:lpstr>
      <vt:lpstr>Overview: Essential Graphs of Seaborn</vt:lpstr>
      <vt:lpstr>Definition Data Science </vt:lpstr>
      <vt:lpstr>Our focus in the digitalization world is Data Science</vt:lpstr>
      <vt:lpstr>Data Science for Field Issues (1 of 2) The Data Request Helper</vt:lpstr>
      <vt:lpstr>Data Science for Field Issues (2 of 2) Data Tool Comparer and Go-to People</vt:lpstr>
      <vt:lpstr>EnergyAI - Getting Started</vt:lpstr>
      <vt:lpstr>Classical Package for Python: Anaconda</vt:lpstr>
      <vt:lpstr>Why EnergyAI?</vt:lpstr>
      <vt:lpstr>Getting Access to EnergyAI</vt:lpstr>
      <vt:lpstr>First Steps</vt:lpstr>
      <vt:lpstr>First Steps</vt:lpstr>
      <vt:lpstr>First Steps – File System</vt:lpstr>
      <vt:lpstr>First Steps – My first Analysis</vt:lpstr>
      <vt:lpstr>First Steps – My first Analysis</vt:lpstr>
      <vt:lpstr>Go to “Analyse”</vt:lpstr>
      <vt:lpstr>Create  a folder for this class</vt:lpstr>
      <vt:lpstr>Click on shared</vt:lpstr>
      <vt:lpstr>Click on users</vt:lpstr>
      <vt:lpstr>Search for kay.toepfer@siemens.com</vt:lpstr>
      <vt:lpstr>Go to Data Science Workshop</vt:lpstr>
      <vt:lpstr>Copy the modules you need in your own folder </vt:lpstr>
      <vt:lpstr>Application Example</vt:lpstr>
      <vt:lpstr>Application Example:  Energy AI  Efficient Tuning Back Office Support and Engine Validation</vt:lpstr>
      <vt:lpstr>Additional Features in EnergyAI</vt:lpstr>
      <vt:lpstr>Advanced Settings: (1 of 2) to Easier Move between Folders for Opened Notebooks</vt:lpstr>
      <vt:lpstr>Advanced Settings: (2 of 2) to Shut Down Kernel Automatically when Closing Notebook</vt:lpstr>
      <vt:lpstr>Open up a file and set up view by docking Context Help and Variable Inspector</vt:lpstr>
      <vt:lpstr>Trouble Shooting !!!  ONLY RUN IF PROBLEMS !!!!</vt:lpstr>
      <vt:lpstr>Additional Slides for  Data Science 2 Vectorized Calculations</vt:lpstr>
      <vt:lpstr>How to Calculate Efficiently in Pandas</vt:lpstr>
      <vt:lpstr>Additional Slides for  Data Science 3</vt:lpstr>
      <vt:lpstr>Fill</vt:lpstr>
      <vt:lpstr>Box-Plot is a plot to show most things a Histogram shows by using much less space and therefore easy allows to compare many distributions. However, it is a bit harder to read than other graphs.</vt:lpstr>
    </vt:vector>
  </TitlesOfParts>
  <Company>Siemens Gas and Power</Company>
  <LinksUpToDate>false</LinksUpToDate>
  <SharedDoc>false</SharedDoc>
  <HyperlinkBase>www.siemens-energy.com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Data-Science Getting Started</dc:title>
  <dc:creator>Mazzotta, Tim (SE G QPI QM P)</dc:creator>
  <cp:keywords>C_Unrestricted</cp:keywords>
  <dc:description>July 2020
Version 1.1</dc:description>
  <cp:lastModifiedBy>Groh, Matthias (SE GP G QPI QM P)</cp:lastModifiedBy>
  <cp:revision>2</cp:revision>
  <cp:lastPrinted>2020-09-10T11:39:39Z</cp:lastPrinted>
  <dcterms:created xsi:type="dcterms:W3CDTF">2020-03-05T14:43:26Z</dcterms:created>
  <dcterms:modified xsi:type="dcterms:W3CDTF">2021-11-05T12:38:44Z</dcterms:modified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-1818858214</vt:i4>
  </property>
  <property fmtid="{D5CDD505-2E9C-101B-9397-08002B2CF9AE}" pid="3" name="_NewReviewCycle">
    <vt:lpwstr/>
  </property>
  <property fmtid="{D5CDD505-2E9C-101B-9397-08002B2CF9AE}" pid="4" name="_EmailSubject">
    <vt:lpwstr>Timeline for change over to new Siemens Energy design/Logo/etc.</vt:lpwstr>
  </property>
  <property fmtid="{D5CDD505-2E9C-101B-9397-08002B2CF9AE}" pid="5" name="_AuthorEmail">
    <vt:lpwstr>monika.butler@siemens.com</vt:lpwstr>
  </property>
  <property fmtid="{D5CDD505-2E9C-101B-9397-08002B2CF9AE}" pid="6" name="_AuthorEmailDisplayName">
    <vt:lpwstr>Butler, Monika (SE G QPI PI TIM FA)</vt:lpwstr>
  </property>
  <property fmtid="{D5CDD505-2E9C-101B-9397-08002B2CF9AE}" pid="7" name="Document Confidentiality">
    <vt:lpwstr>Unrestricted</vt:lpwstr>
  </property>
  <property fmtid="{D5CDD505-2E9C-101B-9397-08002B2CF9AE}" pid="8" name="sodocoClasLang">
    <vt:lpwstr>Unrestricted</vt:lpwstr>
  </property>
  <property fmtid="{D5CDD505-2E9C-101B-9397-08002B2CF9AE}" pid="9" name="sodocoClasLangId">
    <vt:i4>0</vt:i4>
  </property>
  <property fmtid="{D5CDD505-2E9C-101B-9397-08002B2CF9AE}" pid="10" name="sodocoClasId">
    <vt:i4>0</vt:i4>
  </property>
  <property fmtid="{D5CDD505-2E9C-101B-9397-08002B2CF9AE}" pid="11" name="Document_Confidentiality">
    <vt:lpwstr>Unrestricted</vt:lpwstr>
  </property>
</Properties>
</file>