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9" r:id="rId2"/>
    <p:sldId id="347" r:id="rId3"/>
    <p:sldId id="257" r:id="rId4"/>
    <p:sldId id="274" r:id="rId5"/>
    <p:sldId id="346" r:id="rId6"/>
    <p:sldId id="263" r:id="rId7"/>
    <p:sldId id="348" r:id="rId8"/>
    <p:sldId id="360" r:id="rId9"/>
    <p:sldId id="356" r:id="rId10"/>
    <p:sldId id="391" r:id="rId11"/>
    <p:sldId id="390" r:id="rId12"/>
    <p:sldId id="362" r:id="rId13"/>
    <p:sldId id="363" r:id="rId14"/>
    <p:sldId id="361" r:id="rId15"/>
    <p:sldId id="349" r:id="rId16"/>
    <p:sldId id="365" r:id="rId17"/>
    <p:sldId id="392" r:id="rId18"/>
    <p:sldId id="366" r:id="rId19"/>
    <p:sldId id="367" r:id="rId20"/>
    <p:sldId id="354" r:id="rId21"/>
    <p:sldId id="394" r:id="rId22"/>
    <p:sldId id="393" r:id="rId23"/>
    <p:sldId id="395" r:id="rId24"/>
    <p:sldId id="396" r:id="rId25"/>
    <p:sldId id="397" r:id="rId26"/>
    <p:sldId id="398" r:id="rId27"/>
    <p:sldId id="399" r:id="rId28"/>
    <p:sldId id="350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355" r:id="rId37"/>
    <p:sldId id="351" r:id="rId38"/>
    <p:sldId id="375" r:id="rId39"/>
    <p:sldId id="376" r:id="rId40"/>
    <p:sldId id="377" r:id="rId41"/>
    <p:sldId id="378" r:id="rId42"/>
    <p:sldId id="357" r:id="rId43"/>
    <p:sldId id="352" r:id="rId44"/>
    <p:sldId id="379" r:id="rId45"/>
    <p:sldId id="380" r:id="rId46"/>
    <p:sldId id="381" r:id="rId47"/>
    <p:sldId id="382" r:id="rId48"/>
    <p:sldId id="383" r:id="rId49"/>
    <p:sldId id="358" r:id="rId50"/>
    <p:sldId id="353" r:id="rId51"/>
    <p:sldId id="384" r:id="rId52"/>
    <p:sldId id="386" r:id="rId53"/>
    <p:sldId id="387" r:id="rId54"/>
    <p:sldId id="388" r:id="rId55"/>
    <p:sldId id="389" r:id="rId56"/>
    <p:sldId id="359" r:id="rId57"/>
    <p:sldId id="261" r:id="rId58"/>
    <p:sldId id="385" r:id="rId59"/>
    <p:sldId id="273" r:id="rId60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4755084-B889-4915-A5A6-921C728A7AE2}">
          <p14:sldIdLst>
            <p14:sldId id="259"/>
            <p14:sldId id="347"/>
            <p14:sldId id="257"/>
            <p14:sldId id="274"/>
            <p14:sldId id="346"/>
            <p14:sldId id="263"/>
          </p14:sldIdLst>
        </p14:section>
        <p14:section name="Programming" id="{11B53064-86C5-447B-B31A-602E909B4D30}">
          <p14:sldIdLst>
            <p14:sldId id="348"/>
            <p14:sldId id="360"/>
            <p14:sldId id="356"/>
            <p14:sldId id="391"/>
            <p14:sldId id="390"/>
            <p14:sldId id="362"/>
            <p14:sldId id="363"/>
            <p14:sldId id="361"/>
          </p14:sldIdLst>
        </p14:section>
        <p14:section name="Data Types" id="{CED1FD3A-2DC7-4071-AC4E-6B86F8477DD1}">
          <p14:sldIdLst>
            <p14:sldId id="349"/>
            <p14:sldId id="365"/>
            <p14:sldId id="392"/>
            <p14:sldId id="366"/>
            <p14:sldId id="367"/>
            <p14:sldId id="354"/>
            <p14:sldId id="394"/>
            <p14:sldId id="393"/>
            <p14:sldId id="395"/>
            <p14:sldId id="396"/>
            <p14:sldId id="397"/>
            <p14:sldId id="398"/>
            <p14:sldId id="399"/>
          </p14:sldIdLst>
        </p14:section>
        <p14:section name="Basics" id="{5E3FDE0C-48F3-4F19-BBD5-3E092C749D13}">
          <p14:sldIdLst>
            <p14:sldId id="350"/>
            <p14:sldId id="368"/>
            <p14:sldId id="369"/>
            <p14:sldId id="370"/>
            <p14:sldId id="371"/>
            <p14:sldId id="372"/>
            <p14:sldId id="373"/>
            <p14:sldId id="374"/>
            <p14:sldId id="355"/>
          </p14:sldIdLst>
        </p14:section>
        <p14:section name="Data Structures" id="{EBF5DDA3-BFF3-4007-8699-0EE813DCBDB5}">
          <p14:sldIdLst>
            <p14:sldId id="351"/>
            <p14:sldId id="375"/>
            <p14:sldId id="376"/>
            <p14:sldId id="377"/>
            <p14:sldId id="378"/>
            <p14:sldId id="357"/>
          </p14:sldIdLst>
        </p14:section>
        <p14:section name="If-Statements &amp; Loops" id="{5A89114B-E6CF-4700-A1F3-7D8424BE0909}">
          <p14:sldIdLst>
            <p14:sldId id="352"/>
            <p14:sldId id="379"/>
            <p14:sldId id="380"/>
            <p14:sldId id="381"/>
            <p14:sldId id="382"/>
            <p14:sldId id="383"/>
            <p14:sldId id="358"/>
          </p14:sldIdLst>
        </p14:section>
        <p14:section name="Functions" id="{28F2ED71-C466-4461-AEB8-851ED713E239}">
          <p14:sldIdLst>
            <p14:sldId id="353"/>
            <p14:sldId id="384"/>
            <p14:sldId id="386"/>
            <p14:sldId id="387"/>
            <p14:sldId id="388"/>
            <p14:sldId id="389"/>
            <p14:sldId id="359"/>
            <p14:sldId id="261"/>
          </p14:sldIdLst>
        </p14:section>
        <p14:section name="End" id="{2AEE127E-714A-4392-9329-7F2601309D6C}">
          <p14:sldIdLst>
            <p14:sldId id="385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8FFF"/>
    <a:srgbClr val="FFFFFF"/>
    <a:srgbClr val="B88FE1"/>
    <a:srgbClr val="E9C7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F3A57-0FD0-4FA7-9DE6-832EC4B91E55}" v="1" dt="2021-11-05T12:47:06.352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8" autoAdjust="0"/>
    <p:restoredTop sz="97440" autoAdjust="0"/>
  </p:normalViewPr>
  <p:slideViewPr>
    <p:cSldViewPr snapToGrid="0">
      <p:cViewPr varScale="1">
        <p:scale>
          <a:sx n="106" d="100"/>
          <a:sy n="106" d="100"/>
        </p:scale>
        <p:origin x="108" y="558"/>
      </p:cViewPr>
      <p:guideLst/>
    </p:cSldViewPr>
  </p:slideViewPr>
  <p:outlineViewPr>
    <p:cViewPr>
      <p:scale>
        <a:sx n="33" d="100"/>
        <a:sy n="33" d="100"/>
      </p:scale>
      <p:origin x="0" y="-1077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399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975238A-E77C-4161-8153-559CAAFF08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63C429-307D-46CA-9A12-06D8698F75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2EF3F-42B8-4B9D-A37E-11A4D443AA0D}" type="datetimeFigureOut">
              <a:rPr lang="en-US" sz="1050" smtClean="0"/>
              <a:t>11/5/2021</a:t>
            </a:fld>
            <a:endParaRPr lang="en-US" sz="105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65EB52-C1D0-4343-AE68-5103D2F419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6198C1-5F95-4924-98B6-9E9A0B40AE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/>
              <a:t>Handout</a:t>
            </a:r>
            <a:r>
              <a:rPr lang="en-US" sz="1050" dirty="0"/>
              <a:t> </a:t>
            </a:r>
            <a:fld id="{FE9D864B-9634-41E7-BDAB-3BBEEED548E4}" type="slidenum">
              <a:rPr lang="en-US" sz="1050" smtClean="0"/>
              <a:t>‹Nr.›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753600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000"/>
            </a:lvl1pPr>
          </a:lstStyle>
          <a:p>
            <a:endParaRPr lang="en-US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000"/>
            </a:lvl1pPr>
          </a:lstStyle>
          <a:p>
            <a:fld id="{B121E240-E9EA-40DE-8EFF-BE00DCAC0262}" type="datetimeFigureOut">
              <a:rPr lang="en-US" noProof="0" smtClean="0"/>
              <a:pPr/>
              <a:t>11/5/2021</a:t>
            </a:fld>
            <a:endParaRPr lang="en-US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9394" y="4925407"/>
            <a:ext cx="6145276" cy="402987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noProof="0"/>
              <a:t>Formatvorlagen des Textmasters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000"/>
            </a:lvl1pPr>
          </a:lstStyle>
          <a:p>
            <a:endParaRPr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000"/>
            </a:lvl1pPr>
          </a:lstStyle>
          <a:p>
            <a:r>
              <a:rPr lang="en-US" b="1" noProof="0" dirty="0"/>
              <a:t>Notice </a:t>
            </a:r>
            <a:fld id="{84EE17C3-51E0-4A9C-B3A8-E6548E6A9E95}" type="slidenum">
              <a:rPr lang="en-US" noProof="0" smtClean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147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110000"/>
      </a:lnSpc>
      <a:spcAft>
        <a:spcPts val="300"/>
      </a:spcAft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siemens-energy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emf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322" t="21730" r="39007" b="36603"/>
          <a:stretch/>
        </p:blipFill>
        <p:spPr bwMode="invGray">
          <a:xfrm>
            <a:off x="1361" y="421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239D0E4B-66A6-4FE5-BA27-541046B3DA99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DE6CC66-01ED-4C38-82FB-6CE0F487EF1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45" t="23917" r="40484" b="34416"/>
          <a:stretch/>
        </p:blipFill>
        <p:spPr bwMode="invGray">
          <a:xfrm>
            <a:off x="0" y="636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76370656-D639-4E4F-858E-95D5F039AB42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5CE1A5C-9916-4F19-AAA4-EDA02A87A1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41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183" t="26979" r="38146" b="31354"/>
          <a:stretch/>
        </p:blipFill>
        <p:spPr bwMode="invGray">
          <a:xfrm>
            <a:off x="1358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990571EA-906B-4464-A50B-507D49D861B2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BB81BE19-DE56-4F9F-AB66-D4BBF7C270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52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">
            <a:extLst>
              <a:ext uri="{FF2B5EF4-FFF2-40B4-BE49-F238E27FC236}">
                <a16:creationId xmlns:a16="http://schemas.microsoft.com/office/drawing/2014/main" id="{6FE31343-DBA1-4E1C-B310-3652C708DB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75" t="21705" r="36127" b="36101"/>
          <a:stretch/>
        </p:blipFill>
        <p:spPr bwMode="invGray">
          <a:xfrm>
            <a:off x="0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5614986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D9F34F5F-2345-489B-AB7D-E407430D36F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9" name="License statement">
            <a:extLst>
              <a:ext uri="{FF2B5EF4-FFF2-40B4-BE49-F238E27FC236}">
                <a16:creationId xmlns:a16="http://schemas.microsoft.com/office/drawing/2014/main" id="{4BDFE179-90A8-4E57-BD6D-D55F6E97F6BE}"/>
              </a:ext>
            </a:extLst>
          </p:cNvPr>
          <p:cNvSpPr txBox="1"/>
          <p:nvPr userDrawn="1"/>
        </p:nvSpPr>
        <p:spPr>
          <a:xfrm>
            <a:off x="627063" y="6526800"/>
            <a:ext cx="5468936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78ABE4E0-FB97-4BF6-9DC1-70C06300921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2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color fil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>
            <a:extLst>
              <a:ext uri="{FF2B5EF4-FFF2-40B4-BE49-F238E27FC236}">
                <a16:creationId xmlns:a16="http://schemas.microsoft.com/office/drawing/2014/main" id="{FA11A8A9-D061-4109-B5C4-C3047D9EDE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pic>
        <p:nvPicPr>
          <p:cNvPr id="9" name="Picture 4" descr="Bildergebnis für data">
            <a:extLst>
              <a:ext uri="{FF2B5EF4-FFF2-40B4-BE49-F238E27FC236}">
                <a16:creationId xmlns:a16="http://schemas.microsoft.com/office/drawing/2014/main" id="{BC6D79C1-A7D4-46AD-943C-F960BAD4E6B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email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4324"/>
            <a:ext cx="12190410" cy="685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27064" y="4528800"/>
            <a:ext cx="8207374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15" name="Copyright">
            <a:extLst>
              <a:ext uri="{FF2B5EF4-FFF2-40B4-BE49-F238E27FC236}">
                <a16:creationId xmlns:a16="http://schemas.microsoft.com/office/drawing/2014/main" id="{43B07ABE-0FDD-4360-94CB-BE49F6F0B457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B76785D-9D19-41C9-8176-187EE5D79AE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1" name="Date">
            <a:extLst>
              <a:ext uri="{FF2B5EF4-FFF2-40B4-BE49-F238E27FC236}">
                <a16:creationId xmlns:a16="http://schemas.microsoft.com/office/drawing/2014/main" id="{9EFF3AA0-553E-44E9-9324-3AB211AC88A7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  <p:sp>
        <p:nvSpPr>
          <p:cNvPr id="12" name="License statement">
            <a:extLst>
              <a:ext uri="{FF2B5EF4-FFF2-40B4-BE49-F238E27FC236}">
                <a16:creationId xmlns:a16="http://schemas.microsoft.com/office/drawing/2014/main" id="{D080E438-4D11-48E0-AF45-70C9BAD84C4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383038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B5D6BABE-C707-41BC-BD10-0E77470B4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322" t="21730" r="39007" b="36603"/>
          <a:stretch/>
        </p:blipFill>
        <p:spPr bwMode="invGray">
          <a:xfrm>
            <a:off x="1361" y="421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0" name="Author | Department">
            <a:extLst>
              <a:ext uri="{FF2B5EF4-FFF2-40B4-BE49-F238E27FC236}">
                <a16:creationId xmlns:a16="http://schemas.microsoft.com/office/drawing/2014/main" id="{B5C9B423-8001-4689-BDBF-2B86ECB9236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/>
              <a:t>Nicolas Schneider | SE G QPI QM P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23" name="Date">
            <a:extLst>
              <a:ext uri="{FF2B5EF4-FFF2-40B4-BE49-F238E27FC236}">
                <a16:creationId xmlns:a16="http://schemas.microsoft.com/office/drawing/2014/main" id="{0108D4AB-9688-41D1-B0EE-85800E673924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  <p:sp>
        <p:nvSpPr>
          <p:cNvPr id="11" name="License statement">
            <a:extLst>
              <a:ext uri="{FF2B5EF4-FFF2-40B4-BE49-F238E27FC236}">
                <a16:creationId xmlns:a16="http://schemas.microsoft.com/office/drawing/2014/main" id="{212F44C2-86F0-4F8F-80A6-4ED7F591836A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1DC56BA1-A850-4AE0-A568-3D4B1B2442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41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">
            <a:extLst>
              <a:ext uri="{FF2B5EF4-FFF2-40B4-BE49-F238E27FC236}">
                <a16:creationId xmlns:a16="http://schemas.microsoft.com/office/drawing/2014/main" id="{048807C0-F913-457F-BC6F-5FF8BB950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45" t="23917" r="40484" b="34416"/>
          <a:stretch/>
        </p:blipFill>
        <p:spPr bwMode="invGray">
          <a:xfrm>
            <a:off x="0" y="636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B1801D01-5487-4711-ADA6-1F6955CFB9B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8DBB9C8C-1FFC-4C10-8923-5BB14464C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4" name="Author | Department">
            <a:extLst>
              <a:ext uri="{FF2B5EF4-FFF2-40B4-BE49-F238E27FC236}">
                <a16:creationId xmlns:a16="http://schemas.microsoft.com/office/drawing/2014/main" id="{E20FBD98-AF51-4CDC-ACF9-42825117DB9A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/>
              <a:t>Nicolas Schneider | SE G QPI QM P</a:t>
            </a:r>
          </a:p>
        </p:txBody>
      </p:sp>
      <p:sp>
        <p:nvSpPr>
          <p:cNvPr id="16" name="Date">
            <a:extLst>
              <a:ext uri="{FF2B5EF4-FFF2-40B4-BE49-F238E27FC236}">
                <a16:creationId xmlns:a16="http://schemas.microsoft.com/office/drawing/2014/main" id="{A35F1BFC-228F-46FF-85B6-5B88B3E2C73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3822521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">
            <a:extLst>
              <a:ext uri="{FF2B5EF4-FFF2-40B4-BE49-F238E27FC236}">
                <a16:creationId xmlns:a16="http://schemas.microsoft.com/office/drawing/2014/main" id="{53CB57DE-2231-4FB5-89CE-5E957E5B7E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183" t="26979" r="38146" b="31354"/>
          <a:stretch/>
        </p:blipFill>
        <p:spPr bwMode="invGray">
          <a:xfrm>
            <a:off x="1358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856ED8E8-9807-4F50-A174-877DAAC140D0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56610667-D1F1-4DB1-8951-934EF4B90CE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4" name="Author | Department">
            <a:extLst>
              <a:ext uri="{FF2B5EF4-FFF2-40B4-BE49-F238E27FC236}">
                <a16:creationId xmlns:a16="http://schemas.microsoft.com/office/drawing/2014/main" id="{5FA8921D-FFC6-4CEB-9E7C-2EB638EA840F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/>
              <a:t>Nicolas Schneider | SE G QPI QM P</a:t>
            </a:r>
          </a:p>
        </p:txBody>
      </p:sp>
      <p:sp>
        <p:nvSpPr>
          <p:cNvPr id="16" name="Date">
            <a:extLst>
              <a:ext uri="{FF2B5EF4-FFF2-40B4-BE49-F238E27FC236}">
                <a16:creationId xmlns:a16="http://schemas.microsoft.com/office/drawing/2014/main" id="{FCBF4656-4981-4BD7-B826-71CFDD14829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956459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">
            <a:extLst>
              <a:ext uri="{FF2B5EF4-FFF2-40B4-BE49-F238E27FC236}">
                <a16:creationId xmlns:a16="http://schemas.microsoft.com/office/drawing/2014/main" id="{CDC7F29D-098B-44AE-92AB-834812CDDF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675" t="21705" r="36127" b="36101"/>
          <a:stretch/>
        </p:blipFill>
        <p:spPr bwMode="invGray">
          <a:xfrm>
            <a:off x="0" y="424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2" y="1414800"/>
            <a:ext cx="5614988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5616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1" name="Copyright">
            <a:extLst>
              <a:ext uri="{FF2B5EF4-FFF2-40B4-BE49-F238E27FC236}">
                <a16:creationId xmlns:a16="http://schemas.microsoft.com/office/drawing/2014/main" id="{71CD5254-1CE6-48F0-ABFF-AA178A1005B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22" name="Page">
            <a:extLst>
              <a:ext uri="{FF2B5EF4-FFF2-40B4-BE49-F238E27FC236}">
                <a16:creationId xmlns:a16="http://schemas.microsoft.com/office/drawing/2014/main" id="{C287CBD3-96E7-4B61-B6DD-46430F096AD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E9F4ECED-AAEC-41AE-AE05-A9B81D388383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F208A3C6-5ED3-47CD-95C4-12C8971DEF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4" name="Author | Department">
            <a:extLst>
              <a:ext uri="{FF2B5EF4-FFF2-40B4-BE49-F238E27FC236}">
                <a16:creationId xmlns:a16="http://schemas.microsoft.com/office/drawing/2014/main" id="{D8A8CD11-016C-44C6-88AF-45545A27872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/>
              <a:t>Nicolas Schneider | SE G QPI QM P</a:t>
            </a:r>
          </a:p>
        </p:txBody>
      </p:sp>
      <p:sp>
        <p:nvSpPr>
          <p:cNvPr id="16" name="Date">
            <a:extLst>
              <a:ext uri="{FF2B5EF4-FFF2-40B4-BE49-F238E27FC236}">
                <a16:creationId xmlns:a16="http://schemas.microsoft.com/office/drawing/2014/main" id="{5853E775-B741-4D9F-8080-5A7B98160919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1766002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Bildergebnis für ai">
            <a:extLst>
              <a:ext uri="{FF2B5EF4-FFF2-40B4-BE49-F238E27FC236}">
                <a16:creationId xmlns:a16="http://schemas.microsoft.com/office/drawing/2014/main" id="{B45259CD-D553-47B6-8C5C-5ADB4C39B3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703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7" name="License statement">
            <a:extLst>
              <a:ext uri="{FF2B5EF4-FFF2-40B4-BE49-F238E27FC236}">
                <a16:creationId xmlns:a16="http://schemas.microsoft.com/office/drawing/2014/main" id="{D0DCD031-C87D-4337-8B6F-81915A0662B8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bg1"/>
                </a:solidFill>
              </a:rPr>
              <a:t>Siemens Energy is a registered trademark licensed by Siemens AG.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DE6405C0-631F-4D8A-95C2-576885B413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0" name="Author | Department">
            <a:extLst>
              <a:ext uri="{FF2B5EF4-FFF2-40B4-BE49-F238E27FC236}">
                <a16:creationId xmlns:a16="http://schemas.microsoft.com/office/drawing/2014/main" id="{0ABB3A57-9856-488A-A4B0-FC47FA6A4347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bg1"/>
                </a:solidFill>
              </a:rPr>
              <a:t>Nicolas Schneider | SE G QPI QM P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0B227200-5573-44DF-9BA8-B5B2092A6773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bg1"/>
                </a:solidFill>
              </a:rPr>
              <a:t>Intern © Siemens Energy, 2020</a:t>
            </a:r>
            <a:endParaRPr lang="en-US" sz="1000" b="0" noProof="0" dirty="0">
              <a:solidFill>
                <a:schemeClr val="bg1"/>
              </a:solidFill>
            </a:endParaRPr>
          </a:p>
        </p:txBody>
      </p:sp>
      <p:sp>
        <p:nvSpPr>
          <p:cNvPr id="12" name="Page">
            <a:extLst>
              <a:ext uri="{FF2B5EF4-FFF2-40B4-BE49-F238E27FC236}">
                <a16:creationId xmlns:a16="http://schemas.microsoft.com/office/drawing/2014/main" id="{19D9B5E4-61E0-4536-9ECF-CEAB70BE4712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bg1"/>
                </a:solidFill>
              </a:rPr>
              <a:t>‹Nr.›</a:t>
            </a:fld>
            <a:endParaRPr lang="en-US" sz="1000" b="1" noProof="0" dirty="0">
              <a:solidFill>
                <a:schemeClr val="bg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6C028054-B463-44D2-BEE8-F5A960F0A493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bg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3150235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5EEEC47E-29AF-4B44-A9C9-06E5C6518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7F37D979-5873-43CB-B2A0-7F29413E1A8E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23" name="Page">
            <a:extLst>
              <a:ext uri="{FF2B5EF4-FFF2-40B4-BE49-F238E27FC236}">
                <a16:creationId xmlns:a16="http://schemas.microsoft.com/office/drawing/2014/main" id="{03A6209B-0B23-4B14-8B9F-CD213A6E0968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5" name="License statement">
            <a:extLst>
              <a:ext uri="{FF2B5EF4-FFF2-40B4-BE49-F238E27FC236}">
                <a16:creationId xmlns:a16="http://schemas.microsoft.com/office/drawing/2014/main" id="{9FD4DA83-51C4-4A4B-A278-BEF26AF8F17F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87AABCF-4385-4691-9A06-00F20F9065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2" name="Author | Department">
            <a:extLst>
              <a:ext uri="{FF2B5EF4-FFF2-40B4-BE49-F238E27FC236}">
                <a16:creationId xmlns:a16="http://schemas.microsoft.com/office/drawing/2014/main" id="{7EF75307-C23B-4277-B6D4-9924FCFB6293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6" name="Date">
            <a:extLst>
              <a:ext uri="{FF2B5EF4-FFF2-40B4-BE49-F238E27FC236}">
                <a16:creationId xmlns:a16="http://schemas.microsoft.com/office/drawing/2014/main" id="{508BE5C7-5A07-45AE-BB0F-0E72A3C3E220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300381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8417E295-392C-44FE-8176-B174ED9A229B}"/>
              </a:ext>
            </a:extLst>
          </p:cNvPr>
          <p:cNvSpPr/>
          <p:nvPr userDrawn="1"/>
        </p:nvSpPr>
        <p:spPr bwMode="invGray">
          <a:xfrm>
            <a:off x="-2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D270123-9201-40C9-8724-1647E9A0C8F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7063" y="1414800"/>
            <a:ext cx="8207375" cy="3114000"/>
          </a:xfrm>
        </p:spPr>
        <p:txBody>
          <a:bodyPr lIns="0" tIns="0" bIns="0" anchor="b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Chapter divider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6800291B-8951-48A6-AA08-05DDABDCE8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7064" y="4528800"/>
            <a:ext cx="8208000" cy="899252"/>
          </a:xfrm>
        </p:spPr>
        <p:txBody>
          <a:bodyPr lIns="0" tIns="108000" anchor="t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of presentation,</a:t>
            </a:r>
            <a:br>
              <a:rPr lang="en-US" dirty="0"/>
            </a:br>
            <a:r>
              <a:rPr lang="en-US" dirty="0"/>
              <a:t>English, Month 2020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FBB07F48-7C23-4EE9-98FE-9F1E3B2F0CF9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9" name="Page">
            <a:extLst>
              <a:ext uri="{FF2B5EF4-FFF2-40B4-BE49-F238E27FC236}">
                <a16:creationId xmlns:a16="http://schemas.microsoft.com/office/drawing/2014/main" id="{729C0801-E71C-4366-8677-B076F4D6C490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4" name="License statement">
            <a:extLst>
              <a:ext uri="{FF2B5EF4-FFF2-40B4-BE49-F238E27FC236}">
                <a16:creationId xmlns:a16="http://schemas.microsoft.com/office/drawing/2014/main" id="{B7CADBCA-4DE1-404E-BF7C-ADF2A140AC0F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87C015F-913C-48DD-99E5-F1AEE0B2AC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3" name="Author | Department">
            <a:extLst>
              <a:ext uri="{FF2B5EF4-FFF2-40B4-BE49-F238E27FC236}">
                <a16:creationId xmlns:a16="http://schemas.microsoft.com/office/drawing/2014/main" id="{2CF6F30D-641D-48E3-A27D-1C1ACFDA18C0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DDCBB42C-C973-48E7-9D2A-326D6FF17011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388101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nde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F1C3F0AE-B730-4CA9-92F6-C1C6E95677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123" t="21730" r="42206" b="36603"/>
          <a:stretch/>
        </p:blipFill>
        <p:spPr bwMode="invGray">
          <a:xfrm>
            <a:off x="1360" y="425"/>
            <a:ext cx="12193200" cy="6858000"/>
          </a:xfrm>
          <a:prstGeom prst="rect">
            <a:avLst/>
          </a:prstGeom>
        </p:spPr>
      </p:pic>
      <p:sp>
        <p:nvSpPr>
          <p:cNvPr id="2" name="Table of contents">
            <a:extLst>
              <a:ext uri="{FF2B5EF4-FFF2-40B4-BE49-F238E27FC236}">
                <a16:creationId xmlns:a16="http://schemas.microsoft.com/office/drawing/2014/main" id="{989931F3-BF65-40DB-9BE0-80167D2EB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Table of contents</a:t>
            </a:r>
          </a:p>
        </p:txBody>
      </p:sp>
      <p:sp>
        <p:nvSpPr>
          <p:cNvPr id="8" name="Table"/>
          <p:cNvSpPr>
            <a:spLocks noGrp="1"/>
          </p:cNvSpPr>
          <p:nvPr>
            <p:ph type="tbl" sz="quarter" idx="10" hasCustomPrompt="1"/>
          </p:nvPr>
        </p:nvSpPr>
        <p:spPr>
          <a:xfrm>
            <a:off x="627062" y="1522800"/>
            <a:ext cx="8208000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78B59CFA-AFE0-4473-A60A-D84A1A90AE4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0" name="Page">
            <a:extLst>
              <a:ext uri="{FF2B5EF4-FFF2-40B4-BE49-F238E27FC236}">
                <a16:creationId xmlns:a16="http://schemas.microsoft.com/office/drawing/2014/main" id="{EFC6F67A-D89D-43AA-A5C1-18FB7E52FD1F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1" name="Author | Department">
            <a:extLst>
              <a:ext uri="{FF2B5EF4-FFF2-40B4-BE49-F238E27FC236}">
                <a16:creationId xmlns:a16="http://schemas.microsoft.com/office/drawing/2014/main" id="{E4663A30-2B9F-42DA-ABB2-237C7AB59916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F76F9C3B-E562-4669-8159-DABCCDFA498A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  <p:sp>
        <p:nvSpPr>
          <p:cNvPr id="13" name="License statement">
            <a:extLst>
              <a:ext uri="{FF2B5EF4-FFF2-40B4-BE49-F238E27FC236}">
                <a16:creationId xmlns:a16="http://schemas.microsoft.com/office/drawing/2014/main" id="{F65E3C2F-6BF9-4DDA-AC33-7A6806022693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1580109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41ED7A8-59A7-4A1B-85AB-660A43EF3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 of contents</a:t>
            </a:r>
            <a:endParaRPr lang="en-US" dirty="0"/>
          </a:p>
        </p:txBody>
      </p:sp>
      <p:sp>
        <p:nvSpPr>
          <p:cNvPr id="4" name="Table"/>
          <p:cNvSpPr>
            <a:spLocks noGrp="1"/>
          </p:cNvSpPr>
          <p:nvPr>
            <p:ph type="tbl" sz="quarter" idx="10" hasCustomPrompt="1"/>
          </p:nvPr>
        </p:nvSpPr>
        <p:spPr>
          <a:xfrm>
            <a:off x="627062" y="1522800"/>
            <a:ext cx="8208000" cy="46445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919499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nde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of contents">
            <a:extLst>
              <a:ext uri="{FF2B5EF4-FFF2-40B4-BE49-F238E27FC236}">
                <a16:creationId xmlns:a16="http://schemas.microsoft.com/office/drawing/2014/main" id="{C310531E-0CC7-4528-B1E6-9F819FD0E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Table of contents</a:t>
            </a:r>
            <a:endParaRPr lang="en-US" dirty="0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3EF4C540-3305-446C-B3A6-5230FE8E1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4" name="Chapter 2">
            <a:extLst>
              <a:ext uri="{FF2B5EF4-FFF2-40B4-BE49-F238E27FC236}">
                <a16:creationId xmlns:a16="http://schemas.microsoft.com/office/drawing/2014/main" id="{F65B1E50-0024-482D-BD5A-7064672F6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30732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5" name="Chapter 3">
            <a:extLst>
              <a:ext uri="{FF2B5EF4-FFF2-40B4-BE49-F238E27FC236}">
                <a16:creationId xmlns:a16="http://schemas.microsoft.com/office/drawing/2014/main" id="{8AC85E50-79A3-4CC2-85A0-1E361742F5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34400" y="1703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6" name="Chapter 4">
            <a:extLst>
              <a:ext uri="{FF2B5EF4-FFF2-40B4-BE49-F238E27FC236}">
                <a16:creationId xmlns:a16="http://schemas.microsoft.com/office/drawing/2014/main" id="{6AEF1AD1-4DDB-4DBA-8C94-A0DA12F1A0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63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7" name="Chapter 5">
            <a:extLst>
              <a:ext uri="{FF2B5EF4-FFF2-40B4-BE49-F238E27FC236}">
                <a16:creationId xmlns:a16="http://schemas.microsoft.com/office/drawing/2014/main" id="{018C79BC-8598-41F5-B6E1-0DB86A5FC9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30732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  <p:sp>
        <p:nvSpPr>
          <p:cNvPr id="18" name="Chapter 6">
            <a:extLst>
              <a:ext uri="{FF2B5EF4-FFF2-40B4-BE49-F238E27FC236}">
                <a16:creationId xmlns:a16="http://schemas.microsoft.com/office/drawing/2014/main" id="{92BB5C0A-7CAC-4620-92E5-253BEFF2D6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34400" y="3862388"/>
            <a:ext cx="2160000" cy="2016000"/>
          </a:xfrm>
        </p:spPr>
        <p:txBody>
          <a:bodyPr lIns="180000" tIns="108000"/>
          <a:lstStyle>
            <a:lvl1pPr>
              <a:lnSpc>
                <a:spcPct val="90000"/>
              </a:lnSpc>
              <a:spcAft>
                <a:spcPts val="1500"/>
              </a:spcAft>
              <a:defRPr sz="7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buNone/>
              <a:defRPr b="1"/>
            </a:lvl2pPr>
            <a:lvl3pPr marL="0" indent="0">
              <a:buNone/>
              <a:defRPr/>
            </a:lvl3pPr>
          </a:lstStyle>
          <a:p>
            <a:pPr lvl="0"/>
            <a:r>
              <a:rPr lang="en-US" noProof="0" dirty="0"/>
              <a:t>No.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176090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0A4C4D-EAF6-4487-9B40-402A1831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012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A44E71F-B859-4008-8A5B-83A328EBFCDD}"/>
              </a:ext>
            </a:extLst>
          </p:cNvPr>
          <p:cNvSpPr/>
          <p:nvPr userDrawn="1"/>
        </p:nvSpPr>
        <p:spPr>
          <a:xfrm>
            <a:off x="0" y="1414800"/>
            <a:ext cx="12191999" cy="4752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8BA2A0-402B-4423-B445-CE1431A1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90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1999" cy="4752975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7ACECF9-920E-4760-B49D-8F292064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33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 large image 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14800"/>
            <a:ext cx="12192000" cy="5443199"/>
          </a:xfrm>
        </p:spPr>
        <p:txBody>
          <a:bodyPr lIns="626400" tIns="252000" rIns="144000" bIns="252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694A34-C7CA-48AB-8D23-B8EABFB0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53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lIns="626400" tIns="234000" rIns="482400" bIns="626400" anchor="b" anchorCtr="0"/>
          <a:lstStyle>
            <a:lvl1pPr algn="r">
              <a:defRPr/>
            </a:lvl1pPr>
          </a:lstStyle>
          <a:p>
            <a:r>
              <a:rPr lang="en-US" dirty="0"/>
              <a:t>Click on the icon to add a </a:t>
            </a:r>
            <a:br>
              <a:rPr lang="en-US" dirty="0"/>
            </a:br>
            <a:r>
              <a:rPr lang="en-US" dirty="0"/>
              <a:t>sufficiently high-contrast image </a:t>
            </a:r>
            <a:br>
              <a:rPr lang="en-US" dirty="0"/>
            </a:br>
            <a:r>
              <a:rPr lang="en-US" dirty="0"/>
              <a:t>so that the heading is easy to read.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C12949-F421-4D93-A5FF-4A495FF4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81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">
            <a:extLst>
              <a:ext uri="{FF2B5EF4-FFF2-40B4-BE49-F238E27FC236}">
                <a16:creationId xmlns:a16="http://schemas.microsoft.com/office/drawing/2014/main" id="{A6102796-3A6D-4504-AE4D-6DAD764461A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lIns="626400" tIns="234000" rIns="482400" bIns="626400" anchor="b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icon to add a </a:t>
            </a:r>
            <a:br>
              <a:rPr lang="en-US" dirty="0"/>
            </a:br>
            <a:r>
              <a:rPr lang="en-US" dirty="0"/>
              <a:t>sufficiently high-contrast image </a:t>
            </a:r>
            <a:br>
              <a:rPr lang="en-US" dirty="0"/>
            </a:br>
            <a:r>
              <a:rPr lang="en-US" dirty="0"/>
              <a:t>so that the heading is easy to read.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B7679BF-476B-4936-B87E-CF0BADD38D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" y="4798"/>
            <a:ext cx="6235700" cy="5873715"/>
          </a:xfrm>
          <a:noFill/>
        </p:spPr>
        <p:txBody>
          <a:bodyPr lIns="626400" tIns="900000" rIns="0" bIns="0" anchor="t"/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Big statement on a full size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193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396FC1D-DB7A-4E51-83A7-D7995F9E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884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0920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A07FC25-F4AA-44AB-A199-BEA1688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3" y="1414800"/>
            <a:ext cx="691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4DD39686-C426-4B02-B953-AC0AC4016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69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3AF9F3-C036-494E-93A9-EEB85375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112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48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4527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6F8B4D2-6F05-469C-8BE4-52BAC6D3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4752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Image 1">
            <a:extLst>
              <a:ext uri="{FF2B5EF4-FFF2-40B4-BE49-F238E27FC236}">
                <a16:creationId xmlns:a16="http://schemas.microsoft.com/office/drawing/2014/main" id="{1F47DA09-C1B9-4F79-811C-47680DD13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2049" y="1414800"/>
            <a:ext cx="5472000" cy="2305049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B62DCAC0-0A0A-4FD1-9E6A-DFB48F5EAA1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2049" y="3862725"/>
            <a:ext cx="5472000" cy="2305050"/>
          </a:xfrm>
        </p:spPr>
        <p:txBody>
          <a:bodyPr lIns="144000" tIns="144000" rIns="144000" bIns="144000" anchor="b" anchorCtr="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01163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8888810-CDD3-4B31-A4AB-CEA6DE3D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ltGray">
          <a:xfrm>
            <a:off x="0" y="1414800"/>
            <a:ext cx="6099176" cy="4752975"/>
          </a:xfrm>
          <a:gradFill>
            <a:gsLst>
              <a:gs pos="0">
                <a:schemeClr val="accent2"/>
              </a:gs>
              <a:gs pos="70000">
                <a:schemeClr val="tx2"/>
              </a:gs>
            </a:gsLst>
            <a:lin ang="13500000" scaled="1"/>
          </a:gradFill>
        </p:spPr>
        <p:txBody>
          <a:bodyPr lIns="626400" tIns="252000" rIns="144000" bIns="25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Image 1">
            <a:extLst>
              <a:ext uri="{FF2B5EF4-FFF2-40B4-BE49-F238E27FC236}">
                <a16:creationId xmlns:a16="http://schemas.microsoft.com/office/drawing/2014/main" id="{1F47DA09-C1B9-4F79-811C-47680DD13F0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2050" y="1414800"/>
            <a:ext cx="5949950" cy="2305049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B62DCAC0-0A0A-4FD1-9E6A-DFB48F5EAA1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42050" y="3862725"/>
            <a:ext cx="5949950" cy="2305050"/>
          </a:xfrm>
        </p:spPr>
        <p:txBody>
          <a:bodyPr lIns="144000" tIns="144000" rIns="144000" bIns="144000" anchor="b" anchorCtr="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4954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ECFA6D-1332-4048-BA8C-6F8F3DE9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1" y="1414800"/>
            <a:ext cx="8834437" cy="2305050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" y="3862800"/>
            <a:ext cx="8834437" cy="2305049"/>
          </a:xfrm>
        </p:spPr>
        <p:txBody>
          <a:bodyPr lIns="626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3565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4DED40-DA39-4014-8DEE-94AA5379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414800"/>
            <a:ext cx="3600000" cy="4752974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484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041062-6E58-45A3-B6A1-92507B39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4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1798"/>
            <a:ext cx="3600000" cy="1584000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Image 1">
            <a:extLst>
              <a:ext uri="{FF2B5EF4-FFF2-40B4-BE49-F238E27FC236}">
                <a16:creationId xmlns:a16="http://schemas.microsoft.com/office/drawing/2014/main" id="{D7FB36E4-9D48-40F9-8766-C9A9EB70724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06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Image 2">
            <a:extLst>
              <a:ext uri="{FF2B5EF4-FFF2-40B4-BE49-F238E27FC236}">
                <a16:creationId xmlns:a16="http://schemas.microsoft.com/office/drawing/2014/main" id="{DB7AA95A-85B0-4FB5-A5A1-EA4243663C9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70614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Image 3">
            <a:extLst>
              <a:ext uri="{FF2B5EF4-FFF2-40B4-BE49-F238E27FC236}">
                <a16:creationId xmlns:a16="http://schemas.microsoft.com/office/drawing/2014/main" id="{5530F297-3088-4E70-982A-604343177BD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4163" y="3285275"/>
            <a:ext cx="3600000" cy="2593238"/>
          </a:xfrm>
        </p:spPr>
        <p:txBody>
          <a:bodyPr lIns="144000" tIns="144000" rIns="144000" bIns="144000"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69049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AC4C64-3556-4D13-9B77-531CC35C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7064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py 2">
            <a:extLst>
              <a:ext uri="{FF2B5EF4-FFF2-40B4-BE49-F238E27FC236}">
                <a16:creationId xmlns:a16="http://schemas.microsoft.com/office/drawing/2014/main" id="{CF25AA35-A10D-4021-80D5-F4E01F03217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42050" y="1414800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3">
            <a:extLst>
              <a:ext uri="{FF2B5EF4-FFF2-40B4-BE49-F238E27FC236}">
                <a16:creationId xmlns:a16="http://schemas.microsoft.com/office/drawing/2014/main" id="{7AD2072B-7BD2-4A0D-8491-4973B658502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7063" y="3862388"/>
            <a:ext cx="5472112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py 4">
            <a:extLst>
              <a:ext uri="{FF2B5EF4-FFF2-40B4-BE49-F238E27FC236}">
                <a16:creationId xmlns:a16="http://schemas.microsoft.com/office/drawing/2014/main" id="{5ABA1728-CE60-4862-A32A-3E1550DB81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42050" y="3862388"/>
            <a:ext cx="5472000" cy="2305049"/>
          </a:xfrm>
        </p:spPr>
        <p:txBody>
          <a:bodyPr l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833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AC9B5110-BC98-411C-9BCB-2AFF35E6D9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E588B75F-B996-4586-B62B-613544F2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9" name="Author | Department">
            <a:extLst>
              <a:ext uri="{FF2B5EF4-FFF2-40B4-BE49-F238E27FC236}">
                <a16:creationId xmlns:a16="http://schemas.microsoft.com/office/drawing/2014/main" id="{5C451E8C-D860-40E8-9340-7CC28B5D6D1F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86C103BC-E61D-47FA-A99B-93AB576BE118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296D856-8C72-4319-B90D-61AD2B07A821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  <p:sp>
        <p:nvSpPr>
          <p:cNvPr id="13" name="License statement">
            <a:extLst>
              <a:ext uri="{FF2B5EF4-FFF2-40B4-BE49-F238E27FC236}">
                <a16:creationId xmlns:a16="http://schemas.microsoft.com/office/drawing/2014/main" id="{4809DA44-0315-4441-A169-5E70C55CE4C2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1359290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1 (with logo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AC9B5110-BC98-411C-9BCB-2AFF35E6D9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E588B75F-B996-4586-B62B-613544F2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DE1CCC5F-D082-4285-B0D2-D44B0385F4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1" name="Author | Department">
            <a:extLst>
              <a:ext uri="{FF2B5EF4-FFF2-40B4-BE49-F238E27FC236}">
                <a16:creationId xmlns:a16="http://schemas.microsoft.com/office/drawing/2014/main" id="{D2ACA1F5-6BB5-4DD7-82BA-A05858BD03DB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77C0488B-B2BB-4F98-8DCC-0570470EDBC7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5EE6A8EE-7601-4258-BDDB-DA55FB86C5A3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  <p:sp>
        <p:nvSpPr>
          <p:cNvPr id="14" name="License statement">
            <a:extLst>
              <a:ext uri="{FF2B5EF4-FFF2-40B4-BE49-F238E27FC236}">
                <a16:creationId xmlns:a16="http://schemas.microsoft.com/office/drawing/2014/main" id="{AD33FBED-C310-4626-AF25-81876CDE3EBA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333590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color are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3B8F676D-0405-45AE-9B8F-716387B4760E}"/>
              </a:ext>
            </a:extLst>
          </p:cNvPr>
          <p:cNvSpPr/>
          <p:nvPr userDrawn="1"/>
        </p:nvSpPr>
        <p:spPr bwMode="invGray">
          <a:xfrm>
            <a:off x="-2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E256BF8-2AEF-4ECB-8D5E-2926EB05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CA3F32E1-BC1C-475E-99E6-0E8AF47DA2D2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8" name="Copyright">
            <a:extLst>
              <a:ext uri="{FF2B5EF4-FFF2-40B4-BE49-F238E27FC236}">
                <a16:creationId xmlns:a16="http://schemas.microsoft.com/office/drawing/2014/main" id="{39F2375B-D22F-4C21-B117-6F14EB872B3A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9" name="Page">
            <a:extLst>
              <a:ext uri="{FF2B5EF4-FFF2-40B4-BE49-F238E27FC236}">
                <a16:creationId xmlns:a16="http://schemas.microsoft.com/office/drawing/2014/main" id="{DCCDEAC1-13C2-4322-816D-0489681B6D17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276739E7-354E-4450-8E41-F018556F4A44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38855166-DD26-4439-85FC-EF8C1ECD7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9" name="License statement">
            <a:extLst>
              <a:ext uri="{FF2B5EF4-FFF2-40B4-BE49-F238E27FC236}">
                <a16:creationId xmlns:a16="http://schemas.microsoft.com/office/drawing/2014/main" id="{45ED7BA6-DF1F-4B10-B6A6-1891EF94A21E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rgbClr val="FFFFFF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1936371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" b="-1"/>
          <a:stretch/>
        </p:blipFill>
        <p:spPr bwMode="invGray">
          <a:xfrm>
            <a:off x="6242050" y="0"/>
            <a:ext cx="5949950" cy="685757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69754322-9D76-4652-BA00-A16E0E8B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5468935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68800" y="1702800"/>
            <a:ext cx="4845363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bg1"/>
                </a:solidFill>
              </a:rPr>
              <a:t>Intern © Siemens Energy, 2020</a:t>
            </a:r>
            <a:endParaRPr lang="en-US" sz="1000" b="0" noProof="0" dirty="0">
              <a:solidFill>
                <a:schemeClr val="bg1"/>
              </a:solidFill>
            </a:endParaRP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bg1"/>
                </a:solidFill>
              </a:rPr>
              <a:t>‹Nr.›</a:t>
            </a:fld>
            <a:endParaRPr lang="en-US" sz="1000" b="1" noProof="0" dirty="0">
              <a:solidFill>
                <a:schemeClr val="bg1"/>
              </a:solidFill>
            </a:endParaRPr>
          </a:p>
        </p:txBody>
      </p:sp>
      <p:sp>
        <p:nvSpPr>
          <p:cNvPr id="10" name="Author | Department">
            <a:extLst>
              <a:ext uri="{FF2B5EF4-FFF2-40B4-BE49-F238E27FC236}">
                <a16:creationId xmlns:a16="http://schemas.microsoft.com/office/drawing/2014/main" id="{B612EEBD-9A46-44D0-A31D-40AB74CE7E5F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bg1"/>
                </a:solidFill>
              </a:rPr>
              <a:t>Nicolas Schneider | SE G QPI QM P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0B1412A9-394E-4271-AFCC-B1966F2D64D7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2269700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326" userDrawn="1">
          <p15:clr>
            <a:srgbClr val="009999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DCAA5B86-D6D2-48E1-A718-F4740661587C}"/>
              </a:ext>
            </a:extLst>
          </p:cNvPr>
          <p:cNvSpPr/>
          <p:nvPr userDrawn="1"/>
        </p:nvSpPr>
        <p:spPr bwMode="invGray">
          <a:xfrm>
            <a:off x="-2" y="1"/>
            <a:ext cx="6099177" cy="685799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bg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F3C362A-A909-40CB-9FA2-3D717800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8400" cy="14144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4838400" cy="4464050"/>
          </a:xfr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24799" y="1702800"/>
            <a:ext cx="4989364" cy="4464050"/>
          </a:xfrm>
        </p:spPr>
        <p:txBody>
          <a:bodyPr lIns="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bg2"/>
                </a:solidFill>
              </a:rPr>
              <a:t>Intern © Siemens Energy, 2020</a:t>
            </a:r>
            <a:endParaRPr lang="en-US" sz="1000" b="0" noProof="0" dirty="0">
              <a:solidFill>
                <a:schemeClr val="bg2"/>
              </a:solidFill>
            </a:endParaRP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bg2"/>
                </a:solidFill>
              </a:rPr>
              <a:t>‹Nr.›</a:t>
            </a:fld>
            <a:endParaRPr lang="en-US" sz="1000" b="1" noProof="0" dirty="0">
              <a:solidFill>
                <a:schemeClr val="bg2"/>
              </a:solidFill>
            </a:endParaRPr>
          </a:p>
        </p:txBody>
      </p:sp>
      <p:sp>
        <p:nvSpPr>
          <p:cNvPr id="10" name="Author | Department">
            <a:extLst>
              <a:ext uri="{FF2B5EF4-FFF2-40B4-BE49-F238E27FC236}">
                <a16:creationId xmlns:a16="http://schemas.microsoft.com/office/drawing/2014/main" id="{91C5E090-FD47-4765-A9EB-658DECC26C05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bg1"/>
                </a:solidFill>
              </a:rPr>
              <a:t>Nicolas Schneider | SE G QPI QM P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CF73A862-F389-4873-A55F-D9EF430BEAA1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306345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235" userDrawn="1">
          <p15:clr>
            <a:srgbClr val="009999"/>
          </p15:clr>
        </p15:guide>
        <p15:guide id="4" pos="3445" userDrawn="1">
          <p15:clr>
            <a:srgbClr val="009999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" b="-1"/>
          <a:stretch/>
        </p:blipFill>
        <p:spPr bwMode="invGray">
          <a:xfrm>
            <a:off x="4225925" y="0"/>
            <a:ext cx="7966075" cy="68575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DA0C482-E794-471B-86E8-8B4BC6FE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88" y="1702800"/>
            <a:ext cx="6861175" cy="4464050"/>
          </a:xfrm>
        </p:spPr>
        <p:txBody>
          <a:bodyPr lIns="0"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292000" y="6166800"/>
            <a:ext cx="900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0" name="Author | Department">
            <a:extLst>
              <a:ext uri="{FF2B5EF4-FFF2-40B4-BE49-F238E27FC236}">
                <a16:creationId xmlns:a16="http://schemas.microsoft.com/office/drawing/2014/main" id="{0AF9E9FD-C167-4B9D-A856-413AA3F691CB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8B3A352-615B-4D96-8212-240B512DBDA1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bg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3556039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2482" userDrawn="1">
          <p15:clr>
            <a:srgbClr val="009999"/>
          </p15:clr>
        </p15:guide>
        <p15:guide id="3" pos="3057" userDrawn="1">
          <p15:clr>
            <a:srgbClr val="009999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DCAA5B86-D6D2-48E1-A718-F4740661587C}"/>
              </a:ext>
            </a:extLst>
          </p:cNvPr>
          <p:cNvSpPr/>
          <p:nvPr userDrawn="1"/>
        </p:nvSpPr>
        <p:spPr bwMode="invGray">
          <a:xfrm>
            <a:off x="-1" y="1"/>
            <a:ext cx="4225926" cy="685799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tx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06C2C1-E8E5-4190-B0E4-8D8FC817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25" y="1"/>
            <a:ext cx="7488238" cy="141446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py 1">
            <a:extLst>
              <a:ext uri="{FF2B5EF4-FFF2-40B4-BE49-F238E27FC236}">
                <a16:creationId xmlns:a16="http://schemas.microsoft.com/office/drawing/2014/main" id="{756262E2-8F38-4C0F-A3F9-8F59D3EABB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063" y="1702800"/>
            <a:ext cx="3312000" cy="4464050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py 2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52990" y="1702800"/>
            <a:ext cx="6861174" cy="4464050"/>
          </a:xfrm>
        </p:spPr>
        <p:txBody>
          <a:bodyPr lIns="0"/>
          <a:lstStyle>
            <a:lvl1pP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0" name="Author | Department">
            <a:extLst>
              <a:ext uri="{FF2B5EF4-FFF2-40B4-BE49-F238E27FC236}">
                <a16:creationId xmlns:a16="http://schemas.microsoft.com/office/drawing/2014/main" id="{C60E290D-D88F-460F-9373-D5A1DDCBB80F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585332F2-120C-4EE2-B392-EC766A131226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bg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4247169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481" userDrawn="1">
          <p15:clr>
            <a:srgbClr val="009999"/>
          </p15:clr>
        </p15:guide>
        <p15:guide id="3" pos="3058" userDrawn="1">
          <p15:clr>
            <a:srgbClr val="009999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ly bleed color area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1B67C6AD-42CF-4549-839D-23FD1107A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>
            <a:off x="0" y="1414463"/>
            <a:ext cx="12191999" cy="5443108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110D7BC-E7EC-4502-9248-89CD9CF4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Copy 1">
            <a:extLst>
              <a:ext uri="{FF2B5EF4-FFF2-40B4-BE49-F238E27FC236}">
                <a16:creationId xmlns:a16="http://schemas.microsoft.com/office/drawing/2014/main" id="{0C7A0882-840F-46D5-B681-43C58151C8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7060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py 2">
            <a:extLst>
              <a:ext uri="{FF2B5EF4-FFF2-40B4-BE49-F238E27FC236}">
                <a16:creationId xmlns:a16="http://schemas.microsoft.com/office/drawing/2014/main" id="{99496BBF-8C93-419A-9711-E1A45A39C74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70612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Copy 3">
            <a:extLst>
              <a:ext uri="{FF2B5EF4-FFF2-40B4-BE49-F238E27FC236}">
                <a16:creationId xmlns:a16="http://schemas.microsoft.com/office/drawing/2014/main" id="{F4602EF6-A996-4008-A6E7-BC21522010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4163" y="1702800"/>
            <a:ext cx="3600000" cy="4464050"/>
          </a:xfrm>
        </p:spPr>
        <p:txBody>
          <a:bodyPr/>
          <a:lstStyle>
            <a:lvl1pPr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6BE5120-1513-4265-A6B3-3B42254A34FF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>
                <a:solidFill>
                  <a:schemeClr val="tx1"/>
                </a:solidFill>
              </a:rPr>
              <a:t>Intern © Siemens Energy, 2020</a:t>
            </a:r>
            <a:endParaRPr lang="en-US" sz="1000" b="0" noProof="0" dirty="0">
              <a:solidFill>
                <a:schemeClr val="tx1"/>
              </a:solidFill>
            </a:endParaRP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0A81FD87-E05D-463F-95C1-4A49C99D181A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>
                <a:solidFill>
                  <a:schemeClr val="tx1"/>
                </a:solidFill>
              </a:rPr>
              <a:t>‹Nr.›</a:t>
            </a:fld>
            <a:endParaRPr lang="en-US" sz="1000" b="1" noProof="0" dirty="0">
              <a:solidFill>
                <a:schemeClr val="tx1"/>
              </a:solidFill>
            </a:endParaRPr>
          </a:p>
        </p:txBody>
      </p:sp>
      <p:sp>
        <p:nvSpPr>
          <p:cNvPr id="11" name="Author | Department">
            <a:extLst>
              <a:ext uri="{FF2B5EF4-FFF2-40B4-BE49-F238E27FC236}">
                <a16:creationId xmlns:a16="http://schemas.microsoft.com/office/drawing/2014/main" id="{DDDB9256-04D0-4F25-963D-151A7511E135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>
                <a:solidFill>
                  <a:schemeClr val="tx1"/>
                </a:solidFill>
              </a:rPr>
              <a:t>Nicolas Schneider | SE G QPI QM P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EA03FDF8-B69F-4CFD-9E6A-F936690FD16D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tx1"/>
                </a:solidFill>
              </a:rPr>
              <a:t>2020-07-17</a:t>
            </a:r>
          </a:p>
        </p:txBody>
      </p:sp>
    </p:spTree>
    <p:extLst>
      <p:ext uri="{BB962C8B-B14F-4D97-AF65-F5344CB8AC3E}">
        <p14:creationId xmlns:p14="http://schemas.microsoft.com/office/powerpoint/2010/main" val="2972842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22" userDrawn="1">
          <p15:clr>
            <a:srgbClr val="009999"/>
          </p15:clr>
        </p15:guide>
        <p15:guide id="2" pos="5112" userDrawn="1">
          <p15:clr>
            <a:srgbClr val="009999"/>
          </p15:clr>
        </p15:guide>
        <p15:guide id="4" pos="2753" userDrawn="1">
          <p15:clr>
            <a:srgbClr val="009999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>
            <a:hlinkClick r:id="rId2"/>
            <a:extLst>
              <a:ext uri="{FF2B5EF4-FFF2-40B4-BE49-F238E27FC236}">
                <a16:creationId xmlns:a16="http://schemas.microsoft.com/office/drawing/2014/main" id="{281FD3DE-3D3F-4936-81A7-AD286FE4EF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6971" t="33492" r="42185" b="37637"/>
          <a:stretch/>
        </p:blipFill>
        <p:spPr bwMode="invGray">
          <a:xfrm>
            <a:off x="1358" y="1414800"/>
            <a:ext cx="6098400" cy="4752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9A8A3D2-4732-49AB-8FCF-B07043C38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B1D90D2F-1E41-4D9A-A464-3F2D94D500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2049" y="1414800"/>
            <a:ext cx="5472113" cy="4752974"/>
          </a:xfrm>
        </p:spPr>
        <p:txBody>
          <a:bodyPr lIns="0"/>
          <a:lstStyle>
            <a:lvl1pPr>
              <a:spcBef>
                <a:spcPts val="600"/>
              </a:spcBef>
              <a:defRPr baseline="0"/>
            </a:lvl1pPr>
            <a:lvl2pPr marL="0" indent="0">
              <a:spcBef>
                <a:spcPts val="600"/>
              </a:spcBef>
              <a:buNone/>
              <a:defRPr b="1"/>
            </a:lvl2pPr>
            <a:lvl3pPr marL="180000" indent="-180000"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1800"/>
              </a:spcBef>
              <a:buNone/>
              <a:defRPr b="1">
                <a:solidFill>
                  <a:schemeClr val="accent2"/>
                </a:solidFill>
              </a:defRPr>
            </a:lvl4pPr>
            <a:lvl5pPr marL="21600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Contact information</a:t>
            </a:r>
          </a:p>
          <a:p>
            <a:pPr lvl="1"/>
            <a:r>
              <a:rPr lang="en-US" noProof="0" dirty="0"/>
              <a:t>First name Last name</a:t>
            </a:r>
          </a:p>
          <a:p>
            <a:pPr lvl="2"/>
            <a:r>
              <a:rPr lang="en-US" noProof="0" dirty="0"/>
              <a:t>Additional information</a:t>
            </a:r>
          </a:p>
          <a:p>
            <a:pPr lvl="3"/>
            <a:r>
              <a:rPr lang="en-US" noProof="0" dirty="0"/>
              <a:t>Optional URL</a:t>
            </a:r>
          </a:p>
        </p:txBody>
      </p:sp>
      <p:sp>
        <p:nvSpPr>
          <p:cNvPr id="10" name="License statement">
            <a:extLst>
              <a:ext uri="{FF2B5EF4-FFF2-40B4-BE49-F238E27FC236}">
                <a16:creationId xmlns:a16="http://schemas.microsoft.com/office/drawing/2014/main" id="{7A9560F1-3DB3-46C0-AE0C-BFB3B1558722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8D4FB85B-6B00-4CB9-9A3F-0DA4223A52A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69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F6C5D22-2D05-436C-B3FF-684C0326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  <a:prstGeom prst="rect">
            <a:avLst/>
          </a:prstGeom>
        </p:spPr>
        <p:txBody>
          <a:bodyPr vert="horz" lIns="626400" tIns="378000" rIns="0" bIns="0" rtlCol="0" anchor="t" anchorCtr="0">
            <a:noAutofit/>
          </a:bodyPr>
          <a:lstStyle/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3E46A9A-BF3F-41A6-ABFA-1F80C067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063" y="1414800"/>
            <a:ext cx="8207375" cy="4752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17" name="Author | Department">
            <a:extLst>
              <a:ext uri="{FF2B5EF4-FFF2-40B4-BE49-F238E27FC236}">
                <a16:creationId xmlns:a16="http://schemas.microsoft.com/office/drawing/2014/main" id="{47D1BF6C-5F09-4F64-A9AC-A5B1F1AC9DC5}"/>
              </a:ext>
            </a:extLst>
          </p:cNvPr>
          <p:cNvSpPr txBox="1"/>
          <p:nvPr userDrawn="1"/>
        </p:nvSpPr>
        <p:spPr>
          <a:xfrm>
            <a:off x="6242050" y="6166800"/>
            <a:ext cx="5949950" cy="360000"/>
          </a:xfrm>
          <a:prstGeom prst="rect">
            <a:avLst/>
          </a:prstGeom>
          <a:noFill/>
        </p:spPr>
        <p:txBody>
          <a:bodyPr wrap="square" lIns="0" tIns="0" rIns="835200" bIns="36000" rtlCol="0" anchor="b">
            <a:noAutofit/>
          </a:bodyPr>
          <a:lstStyle/>
          <a:p>
            <a:pPr algn="r"/>
            <a:r>
              <a:rPr lang="en-US" sz="1000" b="0" noProof="0" dirty="0"/>
              <a:t>Nicolas Schneider | SE G QPI QM P</a:t>
            </a:r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C256CC5F-2E32-487E-8F3C-5F626C2236B3}"/>
              </a:ext>
            </a:extLst>
          </p:cNvPr>
          <p:cNvSpPr txBox="1"/>
          <p:nvPr userDrawn="1"/>
        </p:nvSpPr>
        <p:spPr>
          <a:xfrm>
            <a:off x="6242050" y="6526800"/>
            <a:ext cx="5949950" cy="331200"/>
          </a:xfrm>
          <a:prstGeom prst="rect">
            <a:avLst/>
          </a:prstGeom>
          <a:noFill/>
        </p:spPr>
        <p:txBody>
          <a:bodyPr wrap="square" lIns="626400" tIns="0" rIns="482400" bIns="0" rtlCol="0" anchor="t">
            <a:noAutofit/>
          </a:bodyPr>
          <a:lstStyle/>
          <a:p>
            <a:pPr algn="r"/>
            <a:r>
              <a:rPr lang="en-US" sz="1000" b="0" noProof="0"/>
              <a:t>Intern © Siemens Energy, 2020</a:t>
            </a:r>
            <a:endParaRPr lang="en-US" sz="1000" b="0" noProof="0" dirty="0"/>
          </a:p>
        </p:txBody>
      </p:sp>
      <p:sp>
        <p:nvSpPr>
          <p:cNvPr id="16" name="Page">
            <a:extLst>
              <a:ext uri="{FF2B5EF4-FFF2-40B4-BE49-F238E27FC236}">
                <a16:creationId xmlns:a16="http://schemas.microsoft.com/office/drawing/2014/main" id="{ADCE6DE1-D72A-4960-AD36-50AAB9FC6372}"/>
              </a:ext>
            </a:extLst>
          </p:cNvPr>
          <p:cNvSpPr txBox="1"/>
          <p:nvPr userDrawn="1"/>
        </p:nvSpPr>
        <p:spPr>
          <a:xfrm>
            <a:off x="11364000" y="6166800"/>
            <a:ext cx="828000" cy="360000"/>
          </a:xfrm>
          <a:prstGeom prst="rect">
            <a:avLst/>
          </a:prstGeom>
          <a:noFill/>
        </p:spPr>
        <p:txBody>
          <a:bodyPr wrap="square" lIns="0" tIns="0" rIns="482400" bIns="36000" rtlCol="0" anchor="b">
            <a:noAutofit/>
          </a:bodyPr>
          <a:lstStyle/>
          <a:p>
            <a:pPr algn="r"/>
            <a:fld id="{6F7EFBA6-8CEB-40F4-B709-F27F7004ACFC}" type="slidenum">
              <a:rPr lang="en-US" sz="1000" b="1" noProof="0" smtClean="0"/>
              <a:t>‹Nr.›</a:t>
            </a:fld>
            <a:endParaRPr lang="en-US" sz="1000" b="1" noProof="0" dirty="0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00B4D258-65B1-4091-875A-AE678469BF41}"/>
              </a:ext>
            </a:extLst>
          </p:cNvPr>
          <p:cNvSpPr txBox="1"/>
          <p:nvPr userDrawn="1"/>
        </p:nvSpPr>
        <p:spPr>
          <a:xfrm>
            <a:off x="-1" y="6526800"/>
            <a:ext cx="1692000" cy="331200"/>
          </a:xfrm>
          <a:prstGeom prst="rect">
            <a:avLst/>
          </a:prstGeom>
          <a:noFill/>
        </p:spPr>
        <p:txBody>
          <a:bodyPr wrap="square" lIns="626400" tIns="0" rIns="0" bIns="0" rtlCol="0" anchor="t">
            <a:noAutofit/>
          </a:bodyPr>
          <a:lstStyle/>
          <a:p>
            <a:pPr algn="l"/>
            <a:r>
              <a:rPr lang="en-US" sz="1000" b="0" noProof="0" dirty="0"/>
              <a:t>2020-07-17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7092495A-A191-49CA-AD57-F51B1533CFB2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9" name="License statement">
            <a:extLst>
              <a:ext uri="{FF2B5EF4-FFF2-40B4-BE49-F238E27FC236}">
                <a16:creationId xmlns:a16="http://schemas.microsoft.com/office/drawing/2014/main" id="{FE00080A-0469-4457-BAAA-520C3FEF5701}"/>
              </a:ext>
            </a:extLst>
          </p:cNvPr>
          <p:cNvSpPr txBox="1"/>
          <p:nvPr userDrawn="1"/>
        </p:nvSpPr>
        <p:spPr>
          <a:xfrm>
            <a:off x="1692000" y="6526800"/>
            <a:ext cx="4402800" cy="33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000" b="0" noProof="0" dirty="0">
                <a:solidFill>
                  <a:schemeClr val="accent6"/>
                </a:solidFill>
              </a:rPr>
              <a:t>Siemens Energy is a registered trademark licensed by Siemens AG.</a:t>
            </a:r>
          </a:p>
        </p:txBody>
      </p:sp>
    </p:spTree>
    <p:extLst>
      <p:ext uri="{BB962C8B-B14F-4D97-AF65-F5344CB8AC3E}">
        <p14:creationId xmlns:p14="http://schemas.microsoft.com/office/powerpoint/2010/main" val="263697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4" r:id="rId2"/>
    <p:sldLayoutId id="2147483686" r:id="rId3"/>
    <p:sldLayoutId id="2147483687" r:id="rId4"/>
    <p:sldLayoutId id="2147483649" r:id="rId5"/>
    <p:sldLayoutId id="2147483661" r:id="rId6"/>
    <p:sldLayoutId id="2147483689" r:id="rId7"/>
    <p:sldLayoutId id="2147483691" r:id="rId8"/>
    <p:sldLayoutId id="2147483692" r:id="rId9"/>
    <p:sldLayoutId id="2147483662" r:id="rId10"/>
    <p:sldLayoutId id="2147483681" r:id="rId11"/>
    <p:sldLayoutId id="2147483682" r:id="rId12"/>
    <p:sldLayoutId id="2147483663" r:id="rId13"/>
    <p:sldLayoutId id="2147483664" r:id="rId14"/>
    <p:sldLayoutId id="2147483683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88" r:id="rId21"/>
    <p:sldLayoutId id="2147483650" r:id="rId22"/>
    <p:sldLayoutId id="2147483671" r:id="rId23"/>
    <p:sldLayoutId id="2147483700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0" r:id="rId32"/>
    <p:sldLayoutId id="2147483701" r:id="rId33"/>
    <p:sldLayoutId id="2147483680" r:id="rId34"/>
    <p:sldLayoutId id="2147483698" r:id="rId35"/>
    <p:sldLayoutId id="2147483699" r:id="rId36"/>
    <p:sldLayoutId id="2147483696" r:id="rId37"/>
    <p:sldLayoutId id="2147483697" r:id="rId38"/>
    <p:sldLayoutId id="2147483693" r:id="rId39"/>
    <p:sldLayoutId id="2147483679" r:id="rId4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 userDrawn="1">
          <p15:clr>
            <a:srgbClr val="009999"/>
          </p15:clr>
        </p15:guide>
        <p15:guide id="2" pos="2662">
          <p15:clr>
            <a:srgbClr val="009999"/>
          </p15:clr>
        </p15:guide>
        <p15:guide id="3" pos="3842">
          <p15:clr>
            <a:srgbClr val="009999"/>
          </p15:clr>
        </p15:guide>
        <p15:guide id="4" pos="3932">
          <p15:clr>
            <a:srgbClr val="009999"/>
          </p15:clr>
        </p15:guide>
        <p15:guide id="5" pos="5565">
          <p15:clr>
            <a:srgbClr val="009999"/>
          </p15:clr>
        </p15:guide>
        <p15:guide id="6" pos="6087">
          <p15:clr>
            <a:srgbClr val="009999"/>
          </p15:clr>
        </p15:guide>
        <p15:guide id="7" pos="7379">
          <p15:clr>
            <a:srgbClr val="009999"/>
          </p15:clr>
        </p15:guide>
        <p15:guide id="9" orient="horz" pos="891">
          <p15:clr>
            <a:srgbClr val="009999"/>
          </p15:clr>
        </p15:guide>
        <p15:guide id="10" orient="horz" pos="1073">
          <p15:clr>
            <a:srgbClr val="009999"/>
          </p15:clr>
        </p15:guide>
        <p15:guide id="11" orient="horz" pos="2343">
          <p15:clr>
            <a:srgbClr val="009999"/>
          </p15:clr>
        </p15:guide>
        <p15:guide id="12" orient="horz" pos="2433">
          <p15:clr>
            <a:srgbClr val="009999"/>
          </p15:clr>
        </p15:guide>
        <p15:guide id="13" orient="horz" pos="3703">
          <p15:clr>
            <a:srgbClr val="009999"/>
          </p15:clr>
        </p15:guide>
        <p15:guide id="14" orient="horz" pos="3885">
          <p15:clr>
            <a:srgbClr val="00999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" TargetMode="External"/><Relationship Id="rId1" Type="http://schemas.openxmlformats.org/officeDocument/2006/relationships/slideLayout" Target="../slideLayouts/slideLayout2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mailto:nicolas.schneider@siemens.com" TargetMode="Externa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ie-ppt-countdown-dynamic-petrol-16x9">
            <a:hlinkClick r:id="" action="ppaction://media"/>
            <a:extLst>
              <a:ext uri="{FF2B5EF4-FFF2-40B4-BE49-F238E27FC236}">
                <a16:creationId xmlns:a16="http://schemas.microsoft.com/office/drawing/2014/main" id="{72CD84D0-D759-4D98-979B-5EC0972FC5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3913" y="583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88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92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27BEC3CC-63EA-4FE6-A0FB-6F0B9A4C8B88}"/>
              </a:ext>
            </a:extLst>
          </p:cNvPr>
          <p:cNvSpPr txBox="1">
            <a:spLocks/>
          </p:cNvSpPr>
          <p:nvPr/>
        </p:nvSpPr>
        <p:spPr bwMode="auto">
          <a:xfrm>
            <a:off x="0" y="1268760"/>
            <a:ext cx="12198350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626400" bIns="20880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ctr"/>
            <a:r>
              <a:rPr lang="en-US" sz="13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WELCOME…</a:t>
            </a:r>
            <a:br>
              <a:rPr lang="en-US" sz="8000" kern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Let us start!</a:t>
            </a:r>
            <a:endParaRPr lang="en-US" sz="60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69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head">
            <a:extLst>
              <a:ext uri="{FF2B5EF4-FFF2-40B4-BE49-F238E27FC236}">
                <a16:creationId xmlns:a16="http://schemas.microsoft.com/office/drawing/2014/main" id="{75C10A5A-A3FB-41E8-BF5A-C06EBABD4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/>
              <a:t>Algorithms, Data Types, If-Statements, Loops, …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E3D49E9-5271-4A22-85DC-21B53A5DA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062" y="1414800"/>
            <a:ext cx="7540394" cy="3114000"/>
          </a:xfrm>
        </p:spPr>
        <p:txBody>
          <a:bodyPr/>
          <a:lstStyle/>
          <a:p>
            <a:r>
              <a:rPr lang="en-US" dirty="0"/>
              <a:t>DS0 – Introduction to Basic Programming Concepts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5207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2640939-EBCC-4E8C-A674-68563985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462"/>
          </a:xfrm>
        </p:spPr>
        <p:txBody>
          <a:bodyPr/>
          <a:lstStyle/>
          <a:p>
            <a:r>
              <a:rPr lang="en-US" sz="3600" spc="300" noProof="0" dirty="0"/>
              <a:t>Agenda</a:t>
            </a:r>
            <a:endParaRPr lang="en-US" spc="300" noProof="0" dirty="0"/>
          </a:p>
        </p:txBody>
      </p:sp>
      <p:graphicFrame>
        <p:nvGraphicFramePr>
          <p:cNvPr id="9" name="Table of contents"/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447562509"/>
              </p:ext>
            </p:extLst>
          </p:nvPr>
        </p:nvGraphicFramePr>
        <p:xfrm>
          <a:off x="627063" y="1522800"/>
          <a:ext cx="5473230" cy="488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230">
                  <a:extLst>
                    <a:ext uri="{9D8B030D-6E8A-4147-A177-3AD203B41FA5}">
                      <a16:colId xmlns:a16="http://schemas.microsoft.com/office/drawing/2014/main" val="326285423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506380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4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tabLst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Introduction: Programming &amp; Algorithms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4400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71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4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Data Types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4400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98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4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Basics – Operators &amp; Variables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4400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780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4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tabLst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Data Structures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14400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732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4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If-Statements &amp; Loops</a:t>
                      </a:r>
                    </a:p>
                  </a:txBody>
                  <a:tcPr marL="0" marR="0" marT="14400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50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4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Functions</a:t>
                      </a:r>
                    </a:p>
                  </a:txBody>
                  <a:tcPr marL="0" marR="0" marT="144000" marB="14400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184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38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  <a:endParaRPr lang="en-US" noProof="0" dirty="0"/>
          </a:p>
        </p:txBody>
      </p:sp>
      <p:sp>
        <p:nvSpPr>
          <p:cNvPr id="4" name="Subhead"/>
          <p:cNvSpPr>
            <a:spLocks noGrp="1"/>
          </p:cNvSpPr>
          <p:nvPr>
            <p:ph type="subTitle" idx="4294967295"/>
          </p:nvPr>
        </p:nvSpPr>
        <p:spPr>
          <a:xfrm>
            <a:off x="627064" y="4528800"/>
            <a:ext cx="8208000" cy="899252"/>
          </a:xfrm>
        </p:spPr>
        <p:txBody>
          <a:bodyPr/>
          <a:lstStyle/>
          <a:p>
            <a:r>
              <a:rPr lang="en-US" sz="2000" noProof="0" dirty="0">
                <a:solidFill>
                  <a:schemeClr val="bg1"/>
                </a:solidFill>
              </a:rPr>
              <a:t>After this training you should be able to …</a:t>
            </a:r>
          </a:p>
        </p:txBody>
      </p:sp>
    </p:spTree>
    <p:extLst>
      <p:ext uri="{BB962C8B-B14F-4D97-AF65-F5344CB8AC3E}">
        <p14:creationId xmlns:p14="http://schemas.microsoft.com/office/powerpoint/2010/main" val="338641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4BA40A-0C80-4482-9685-F8D3E5D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What do you should learn in this training?</a:t>
            </a:r>
            <a:endParaRPr lang="en-US" noProof="0" dirty="0"/>
          </a:p>
        </p:txBody>
      </p:sp>
      <p:sp>
        <p:nvSpPr>
          <p:cNvPr id="5" name="Copy list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30300" y="1702800"/>
            <a:ext cx="10470176" cy="4176713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You should…</a:t>
            </a:r>
          </a:p>
          <a:p>
            <a:pPr>
              <a:spcAft>
                <a:spcPts val="1200"/>
              </a:spcAft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… get an impression about the possibilities of programming.</a:t>
            </a:r>
          </a:p>
          <a:p>
            <a:pPr>
              <a:spcAft>
                <a:spcPts val="1200"/>
              </a:spcAft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… get basic understanding for the concepts of programming.</a:t>
            </a:r>
          </a:p>
          <a:p>
            <a:pPr>
              <a:spcAft>
                <a:spcPts val="1200"/>
              </a:spcAft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… know how to structure your data.</a:t>
            </a:r>
          </a:p>
          <a:p>
            <a:pPr>
              <a:spcAft>
                <a:spcPts val="1200"/>
              </a:spcAft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… know the conventions of programming.</a:t>
            </a:r>
          </a:p>
          <a:p>
            <a:pPr>
              <a:spcAft>
                <a:spcPts val="1200"/>
              </a:spcAft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… be able to write your own (small) scripts.</a:t>
            </a:r>
          </a:p>
        </p:txBody>
      </p:sp>
      <p:sp>
        <p:nvSpPr>
          <p:cNvPr id="12" name="Bullet 1">
            <a:extLst>
              <a:ext uri="{FF2B5EF4-FFF2-40B4-BE49-F238E27FC236}">
                <a16:creationId xmlns:a16="http://schemas.microsoft.com/office/drawing/2014/main" id="{1A3B940E-48AC-E74D-90EB-A7C13AF8EAD1}"/>
              </a:ext>
            </a:extLst>
          </p:cNvPr>
          <p:cNvSpPr/>
          <p:nvPr/>
        </p:nvSpPr>
        <p:spPr>
          <a:xfrm>
            <a:off x="591524" y="2109251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" name="Bullet 2">
            <a:extLst>
              <a:ext uri="{FF2B5EF4-FFF2-40B4-BE49-F238E27FC236}">
                <a16:creationId xmlns:a16="http://schemas.microsoft.com/office/drawing/2014/main" id="{1A3B940E-48AC-E74D-90EB-A7C13AF8EAD1}"/>
              </a:ext>
            </a:extLst>
          </p:cNvPr>
          <p:cNvSpPr/>
          <p:nvPr/>
        </p:nvSpPr>
        <p:spPr>
          <a:xfrm>
            <a:off x="591524" y="2564474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" name="Bullet 3">
            <a:extLst>
              <a:ext uri="{FF2B5EF4-FFF2-40B4-BE49-F238E27FC236}">
                <a16:creationId xmlns:a16="http://schemas.microsoft.com/office/drawing/2014/main" id="{1A3B940E-48AC-E74D-90EB-A7C13AF8EAD1}"/>
              </a:ext>
            </a:extLst>
          </p:cNvPr>
          <p:cNvSpPr/>
          <p:nvPr/>
        </p:nvSpPr>
        <p:spPr>
          <a:xfrm>
            <a:off x="591524" y="3019697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Bullet 2">
            <a:extLst>
              <a:ext uri="{FF2B5EF4-FFF2-40B4-BE49-F238E27FC236}">
                <a16:creationId xmlns:a16="http://schemas.microsoft.com/office/drawing/2014/main" id="{6FBB4DF6-4FB3-4E37-B0D2-AD8C9D11DFD5}"/>
              </a:ext>
            </a:extLst>
          </p:cNvPr>
          <p:cNvSpPr/>
          <p:nvPr/>
        </p:nvSpPr>
        <p:spPr>
          <a:xfrm>
            <a:off x="591524" y="3476946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" name="Bullet 3">
            <a:extLst>
              <a:ext uri="{FF2B5EF4-FFF2-40B4-BE49-F238E27FC236}">
                <a16:creationId xmlns:a16="http://schemas.microsoft.com/office/drawing/2014/main" id="{3247EE30-58CF-4703-89E1-8DAA39B128F8}"/>
              </a:ext>
            </a:extLst>
          </p:cNvPr>
          <p:cNvSpPr/>
          <p:nvPr/>
        </p:nvSpPr>
        <p:spPr>
          <a:xfrm>
            <a:off x="591524" y="3932169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99821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&amp; Algorithms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4" name="Subhead"/>
          <p:cNvSpPr>
            <a:spLocks noGrp="1"/>
          </p:cNvSpPr>
          <p:nvPr>
            <p:ph type="subTitle" idx="4294967295"/>
          </p:nvPr>
        </p:nvSpPr>
        <p:spPr>
          <a:xfrm>
            <a:off x="627064" y="4528800"/>
            <a:ext cx="8208000" cy="899252"/>
          </a:xfrm>
        </p:spPr>
        <p:txBody>
          <a:bodyPr/>
          <a:lstStyle/>
          <a:p>
            <a:r>
              <a:rPr lang="en-US" sz="2000" noProof="0" dirty="0">
                <a:solidFill>
                  <a:schemeClr val="bg1"/>
                </a:solidFill>
              </a:rPr>
              <a:t>Why we should write scripts? What is an algorithm?</a:t>
            </a:r>
          </a:p>
        </p:txBody>
      </p:sp>
    </p:spTree>
    <p:extLst>
      <p:ext uri="{BB962C8B-B14F-4D97-AF65-F5344CB8AC3E}">
        <p14:creationId xmlns:p14="http://schemas.microsoft.com/office/powerpoint/2010/main" val="2704315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A5FA6C-8273-4801-A0A0-EF50FD5575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06322" y="1334561"/>
            <a:ext cx="4407841" cy="47523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Machine Language/ Machine code</a:t>
            </a:r>
            <a:endParaRPr lang="en-US" sz="1600" dirty="0">
              <a:ea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e.g. Assembler</a:t>
            </a:r>
          </a:p>
          <a:p>
            <a:pPr>
              <a:lnSpc>
                <a:spcPct val="150000"/>
              </a:lnSpc>
            </a:pPr>
            <a:endParaRPr lang="en-US" sz="1600" dirty="0">
              <a:ea typeface="Arial Unicode MS" panose="020B0604020202020204" pitchFamily="34" charset="-128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a typeface="Arial Unicode MS" panose="020B0604020202020204" pitchFamily="34" charset="-128"/>
                <a:sym typeface="Wingdings" panose="05000000000000000000" pitchFamily="2" charset="2"/>
              </a:rPr>
              <a:t>Imperative P</a:t>
            </a:r>
            <a:r>
              <a:rPr lang="en-US" b="1" dirty="0">
                <a:ea typeface="Arial Unicode MS" panose="020B0604020202020204" pitchFamily="34" charset="-128"/>
              </a:rPr>
              <a:t>rogramming</a:t>
            </a:r>
            <a:endParaRPr lang="en-US" b="1" dirty="0">
              <a:ea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e.g. Basic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a typeface="Arial Unicode MS" panose="020B0604020202020204" pitchFamily="34" charset="-128"/>
              </a:rPr>
              <a:t>Procedural Programming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e.g. Pascal, 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a typeface="Arial Unicode MS" panose="020B0604020202020204" pitchFamily="34" charset="-128"/>
              </a:rPr>
              <a:t>Object oriented Programming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e.g. Java, JavaScript, C++, C#, Python</a:t>
            </a:r>
            <a:endParaRPr lang="en-US" dirty="0"/>
          </a:p>
        </p:txBody>
      </p:sp>
      <p:sp>
        <p:nvSpPr>
          <p:cNvPr id="16" name="Bullet 1">
            <a:extLst>
              <a:ext uri="{FF2B5EF4-FFF2-40B4-BE49-F238E27FC236}">
                <a16:creationId xmlns:a16="http://schemas.microsoft.com/office/drawing/2014/main" id="{710834B2-33A6-447F-871B-0F573F0915AF}"/>
              </a:ext>
            </a:extLst>
          </p:cNvPr>
          <p:cNvSpPr/>
          <p:nvPr/>
        </p:nvSpPr>
        <p:spPr>
          <a:xfrm>
            <a:off x="6856100" y="1402511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20" name="Bullet 1">
            <a:extLst>
              <a:ext uri="{FF2B5EF4-FFF2-40B4-BE49-F238E27FC236}">
                <a16:creationId xmlns:a16="http://schemas.microsoft.com/office/drawing/2014/main" id="{2A5D186B-6331-47C2-BE5A-BF5EA29787E1}"/>
              </a:ext>
            </a:extLst>
          </p:cNvPr>
          <p:cNvSpPr/>
          <p:nvPr/>
        </p:nvSpPr>
        <p:spPr>
          <a:xfrm>
            <a:off x="6856100" y="2594475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26" name="Title">
            <a:extLst>
              <a:ext uri="{FF2B5EF4-FFF2-40B4-BE49-F238E27FC236}">
                <a16:creationId xmlns:a16="http://schemas.microsoft.com/office/drawing/2014/main" id="{6FA267DB-F37A-456F-89D0-2F4F3CCA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258756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Programming Languages</a:t>
            </a:r>
            <a:endParaRPr lang="en-US" noProof="0" dirty="0"/>
          </a:p>
        </p:txBody>
      </p:sp>
      <p:pic>
        <p:nvPicPr>
          <p:cNvPr id="27" name="Picture 4" descr="Bildergebnis für programmiersprachen cloud">
            <a:extLst>
              <a:ext uri="{FF2B5EF4-FFF2-40B4-BE49-F238E27FC236}">
                <a16:creationId xmlns:a16="http://schemas.microsoft.com/office/drawing/2014/main" id="{2D830B48-2E7B-419A-96B4-6D6D6F23C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8129" y="1564511"/>
            <a:ext cx="4762500" cy="47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Bullet 1">
            <a:extLst>
              <a:ext uri="{FF2B5EF4-FFF2-40B4-BE49-F238E27FC236}">
                <a16:creationId xmlns:a16="http://schemas.microsoft.com/office/drawing/2014/main" id="{D3F54CB8-8051-49CC-A3DE-AC255FDB8613}"/>
              </a:ext>
            </a:extLst>
          </p:cNvPr>
          <p:cNvSpPr/>
          <p:nvPr/>
        </p:nvSpPr>
        <p:spPr>
          <a:xfrm>
            <a:off x="6856100" y="3813073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29" name="Bullet 1">
            <a:extLst>
              <a:ext uri="{FF2B5EF4-FFF2-40B4-BE49-F238E27FC236}">
                <a16:creationId xmlns:a16="http://schemas.microsoft.com/office/drawing/2014/main" id="{99120F8C-9B39-45F1-AC65-160675CB7F6D}"/>
              </a:ext>
            </a:extLst>
          </p:cNvPr>
          <p:cNvSpPr/>
          <p:nvPr/>
        </p:nvSpPr>
        <p:spPr>
          <a:xfrm>
            <a:off x="6856100" y="5048547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pic>
        <p:nvPicPr>
          <p:cNvPr id="30" name="Logo">
            <a:extLst>
              <a:ext uri="{FF2B5EF4-FFF2-40B4-BE49-F238E27FC236}">
                <a16:creationId xmlns:a16="http://schemas.microsoft.com/office/drawing/2014/main" id="{FEF47591-AB90-45B1-B9BB-C65D19E421D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51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4BA40A-0C80-4482-9685-F8D3E5D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Programming Languages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A72AD51-C8E1-4AF6-90B6-7A46D34ADB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629" y="1846036"/>
            <a:ext cx="2402122" cy="14148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CBD04AD-2385-478B-B387-6FD274320139}"/>
              </a:ext>
            </a:extLst>
          </p:cNvPr>
          <p:cNvSpPr txBox="1"/>
          <p:nvPr/>
        </p:nvSpPr>
        <p:spPr>
          <a:xfrm>
            <a:off x="584438" y="1245642"/>
            <a:ext cx="1791388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Javascript</a:t>
            </a: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75C28D4-3480-4D81-85FC-C7AFD8F902F9}"/>
              </a:ext>
            </a:extLst>
          </p:cNvPr>
          <p:cNvSpPr txBox="1"/>
          <p:nvPr/>
        </p:nvSpPr>
        <p:spPr>
          <a:xfrm>
            <a:off x="587899" y="3810776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Java: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7" name="Picture 2" descr="Java Codesnippet">
            <a:extLst>
              <a:ext uri="{FF2B5EF4-FFF2-40B4-BE49-F238E27FC236}">
                <a16:creationId xmlns:a16="http://schemas.microsoft.com/office/drawing/2014/main" id="{D560CE98-548E-4DA8-A9BA-7CCB2A3F7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217" y="4204855"/>
            <a:ext cx="2736304" cy="189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AEEB486B-42DA-4BE5-A5B4-30CB2727C5C5}"/>
              </a:ext>
            </a:extLst>
          </p:cNvPr>
          <p:cNvSpPr txBox="1"/>
          <p:nvPr/>
        </p:nvSpPr>
        <p:spPr>
          <a:xfrm>
            <a:off x="3426067" y="1261714"/>
            <a:ext cx="1296144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 and C++: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9" name="Picture 4" descr="C Codesnippet">
            <a:extLst>
              <a:ext uri="{FF2B5EF4-FFF2-40B4-BE49-F238E27FC236}">
                <a16:creationId xmlns:a16="http://schemas.microsoft.com/office/drawing/2014/main" id="{7E0AC4A3-CDC9-4251-989A-8EB82AF7C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3195" y="1700808"/>
            <a:ext cx="215000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A2B0F23C-6952-4685-B4D7-B3A5C6A6D195}"/>
              </a:ext>
            </a:extLst>
          </p:cNvPr>
          <p:cNvSpPr/>
          <p:nvPr/>
        </p:nvSpPr>
        <p:spPr bwMode="auto">
          <a:xfrm>
            <a:off x="3362871" y="1324534"/>
            <a:ext cx="2511468" cy="2380200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BA184EB-853E-45C1-B53D-E1D8857A6926}"/>
              </a:ext>
            </a:extLst>
          </p:cNvPr>
          <p:cNvSpPr/>
          <p:nvPr/>
        </p:nvSpPr>
        <p:spPr bwMode="auto">
          <a:xfrm>
            <a:off x="617978" y="1324534"/>
            <a:ext cx="2595758" cy="2380200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0EFD481-3231-4C20-808D-1329845B08AA}"/>
              </a:ext>
            </a:extLst>
          </p:cNvPr>
          <p:cNvSpPr/>
          <p:nvPr/>
        </p:nvSpPr>
        <p:spPr bwMode="auto">
          <a:xfrm>
            <a:off x="626567" y="3878332"/>
            <a:ext cx="3005970" cy="2324331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A6A8847-34A1-4C93-AE6C-26EB21CD821C}"/>
              </a:ext>
            </a:extLst>
          </p:cNvPr>
          <p:cNvSpPr txBox="1"/>
          <p:nvPr/>
        </p:nvSpPr>
        <p:spPr>
          <a:xfrm>
            <a:off x="8707550" y="1261714"/>
            <a:ext cx="1296144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C#: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4" name="Picture 6" descr="C# Codesnippet">
            <a:extLst>
              <a:ext uri="{FF2B5EF4-FFF2-40B4-BE49-F238E27FC236}">
                <a16:creationId xmlns:a16="http://schemas.microsoft.com/office/drawing/2014/main" id="{3C4AC906-C418-471E-992F-5FCBA4DCC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43594" y="1675293"/>
            <a:ext cx="2320389" cy="192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CBEC4DE9-CB31-471D-8FE1-29D2DF6F1A86}"/>
              </a:ext>
            </a:extLst>
          </p:cNvPr>
          <p:cNvSpPr/>
          <p:nvPr/>
        </p:nvSpPr>
        <p:spPr bwMode="auto">
          <a:xfrm>
            <a:off x="8672812" y="1332778"/>
            <a:ext cx="2861954" cy="2341567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8D7D570-B561-4620-8C5D-ECAC091C687B}"/>
              </a:ext>
            </a:extLst>
          </p:cNvPr>
          <p:cNvSpPr txBox="1"/>
          <p:nvPr/>
        </p:nvSpPr>
        <p:spPr>
          <a:xfrm>
            <a:off x="3826710" y="3810776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Visual Basic: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7" name="Picture 12" descr="Visual Basic Codesnippet">
            <a:extLst>
              <a:ext uri="{FF2B5EF4-FFF2-40B4-BE49-F238E27FC236}">
                <a16:creationId xmlns:a16="http://schemas.microsoft.com/office/drawing/2014/main" id="{4A19DF9B-7F83-4DD3-B382-8A719D742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0769" y="4227397"/>
            <a:ext cx="2150001" cy="197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7ED61580-5735-419F-A0B6-8C1821CCACCF}"/>
              </a:ext>
            </a:extLst>
          </p:cNvPr>
          <p:cNvSpPr/>
          <p:nvPr/>
        </p:nvSpPr>
        <p:spPr bwMode="auto">
          <a:xfrm>
            <a:off x="3848561" y="3878332"/>
            <a:ext cx="2511468" cy="2324331"/>
          </a:xfrm>
          <a:prstGeom prst="rect">
            <a:avLst/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E9C7BB0-CB70-4953-8470-552E5D56F4FC}"/>
              </a:ext>
            </a:extLst>
          </p:cNvPr>
          <p:cNvSpPr/>
          <p:nvPr/>
        </p:nvSpPr>
        <p:spPr bwMode="auto">
          <a:xfrm>
            <a:off x="6015124" y="1324535"/>
            <a:ext cx="2511468" cy="2380199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028501C-E744-402C-8BD6-DEEA747C4602}"/>
              </a:ext>
            </a:extLst>
          </p:cNvPr>
          <p:cNvSpPr txBox="1"/>
          <p:nvPr/>
        </p:nvSpPr>
        <p:spPr>
          <a:xfrm>
            <a:off x="6018393" y="1273102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Python: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1" name="Picture 14" descr="Python Codesnippet">
            <a:extLst>
              <a:ext uri="{FF2B5EF4-FFF2-40B4-BE49-F238E27FC236}">
                <a16:creationId xmlns:a16="http://schemas.microsoft.com/office/drawing/2014/main" id="{15812DCC-ABBC-4309-AAB6-1F1E9B98A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0858" y="1885794"/>
            <a:ext cx="2183129" cy="10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A54B41C0-89B3-40FE-A3C9-BADBA6B776C8}"/>
              </a:ext>
            </a:extLst>
          </p:cNvPr>
          <p:cNvSpPr txBox="1"/>
          <p:nvPr/>
        </p:nvSpPr>
        <p:spPr>
          <a:xfrm>
            <a:off x="6576053" y="3838990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Pascal: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A6ED179-91A4-4A42-9128-9AAC4611E7B2}"/>
              </a:ext>
            </a:extLst>
          </p:cNvPr>
          <p:cNvSpPr/>
          <p:nvPr/>
        </p:nvSpPr>
        <p:spPr bwMode="auto">
          <a:xfrm>
            <a:off x="6593677" y="3878332"/>
            <a:ext cx="4978106" cy="2324332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4" name="Picture 16" descr="Delphi/Object Pascal Codesnippet">
            <a:extLst>
              <a:ext uri="{FF2B5EF4-FFF2-40B4-BE49-F238E27FC236}">
                <a16:creationId xmlns:a16="http://schemas.microsoft.com/office/drawing/2014/main" id="{77C6531A-887F-4EC0-A048-FD3AA1014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9760" y="4427139"/>
            <a:ext cx="3502511" cy="166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2F17A82-8206-49F4-8EE0-F33B8F2BC005}"/>
              </a:ext>
            </a:extLst>
          </p:cNvPr>
          <p:cNvSpPr/>
          <p:nvPr/>
        </p:nvSpPr>
        <p:spPr>
          <a:xfrm>
            <a:off x="743629" y="1846036"/>
            <a:ext cx="1632197" cy="165223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A6FC953-5B54-454C-BF1A-0977055ADE83}"/>
              </a:ext>
            </a:extLst>
          </p:cNvPr>
          <p:cNvSpPr/>
          <p:nvPr/>
        </p:nvSpPr>
        <p:spPr>
          <a:xfrm>
            <a:off x="3416533" y="2081047"/>
            <a:ext cx="1632197" cy="165223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629173A-431B-47E8-86B1-7C3FD1B57B94}"/>
              </a:ext>
            </a:extLst>
          </p:cNvPr>
          <p:cNvSpPr/>
          <p:nvPr/>
        </p:nvSpPr>
        <p:spPr>
          <a:xfrm>
            <a:off x="6089126" y="1880996"/>
            <a:ext cx="1632197" cy="165223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A646D40-428F-4091-8F26-60D26A14DABC}"/>
              </a:ext>
            </a:extLst>
          </p:cNvPr>
          <p:cNvSpPr/>
          <p:nvPr/>
        </p:nvSpPr>
        <p:spPr>
          <a:xfrm>
            <a:off x="9890620" y="2178456"/>
            <a:ext cx="1221316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F494FEC-5DF6-456A-BCEE-457C47517FDC}"/>
              </a:ext>
            </a:extLst>
          </p:cNvPr>
          <p:cNvSpPr/>
          <p:nvPr/>
        </p:nvSpPr>
        <p:spPr>
          <a:xfrm>
            <a:off x="930953" y="4638784"/>
            <a:ext cx="2047139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46699E-A5BC-4167-BAB3-A1A2A65D24A7}"/>
              </a:ext>
            </a:extLst>
          </p:cNvPr>
          <p:cNvSpPr/>
          <p:nvPr/>
        </p:nvSpPr>
        <p:spPr>
          <a:xfrm>
            <a:off x="4445481" y="4613617"/>
            <a:ext cx="1428858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1F7B203-B2C6-4205-B907-750CED34A4E4}"/>
              </a:ext>
            </a:extLst>
          </p:cNvPr>
          <p:cNvSpPr/>
          <p:nvPr/>
        </p:nvSpPr>
        <p:spPr>
          <a:xfrm>
            <a:off x="6639519" y="4402281"/>
            <a:ext cx="2304075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35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4BA40A-0C80-4482-9685-F8D3E5D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Programming Languages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A72AD51-C8E1-4AF6-90B6-7A46D34ADB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629" y="1846036"/>
            <a:ext cx="2402122" cy="14148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CBD04AD-2385-478B-B387-6FD274320139}"/>
              </a:ext>
            </a:extLst>
          </p:cNvPr>
          <p:cNvSpPr txBox="1"/>
          <p:nvPr/>
        </p:nvSpPr>
        <p:spPr>
          <a:xfrm>
            <a:off x="584438" y="1245642"/>
            <a:ext cx="1791388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Javascript</a:t>
            </a: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75C28D4-3480-4D81-85FC-C7AFD8F902F9}"/>
              </a:ext>
            </a:extLst>
          </p:cNvPr>
          <p:cNvSpPr txBox="1"/>
          <p:nvPr/>
        </p:nvSpPr>
        <p:spPr>
          <a:xfrm>
            <a:off x="587899" y="3810776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Java: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7" name="Picture 2" descr="Java Codesnippet">
            <a:extLst>
              <a:ext uri="{FF2B5EF4-FFF2-40B4-BE49-F238E27FC236}">
                <a16:creationId xmlns:a16="http://schemas.microsoft.com/office/drawing/2014/main" id="{D560CE98-548E-4DA8-A9BA-7CCB2A3F7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217" y="4204855"/>
            <a:ext cx="2736304" cy="189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AEEB486B-42DA-4BE5-A5B4-30CB2727C5C5}"/>
              </a:ext>
            </a:extLst>
          </p:cNvPr>
          <p:cNvSpPr txBox="1"/>
          <p:nvPr/>
        </p:nvSpPr>
        <p:spPr>
          <a:xfrm>
            <a:off x="3426067" y="1261714"/>
            <a:ext cx="1296144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 and C++: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9" name="Picture 4" descr="C Codesnippet">
            <a:extLst>
              <a:ext uri="{FF2B5EF4-FFF2-40B4-BE49-F238E27FC236}">
                <a16:creationId xmlns:a16="http://schemas.microsoft.com/office/drawing/2014/main" id="{7E0AC4A3-CDC9-4251-989A-8EB82AF7C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3195" y="1700808"/>
            <a:ext cx="215000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A2B0F23C-6952-4685-B4D7-B3A5C6A6D195}"/>
              </a:ext>
            </a:extLst>
          </p:cNvPr>
          <p:cNvSpPr/>
          <p:nvPr/>
        </p:nvSpPr>
        <p:spPr bwMode="auto">
          <a:xfrm>
            <a:off x="3362871" y="1324534"/>
            <a:ext cx="2511468" cy="2380200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BA184EB-853E-45C1-B53D-E1D8857A6926}"/>
              </a:ext>
            </a:extLst>
          </p:cNvPr>
          <p:cNvSpPr/>
          <p:nvPr/>
        </p:nvSpPr>
        <p:spPr bwMode="auto">
          <a:xfrm>
            <a:off x="617978" y="1324534"/>
            <a:ext cx="2595758" cy="2380200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0EFD481-3231-4C20-808D-1329845B08AA}"/>
              </a:ext>
            </a:extLst>
          </p:cNvPr>
          <p:cNvSpPr/>
          <p:nvPr/>
        </p:nvSpPr>
        <p:spPr bwMode="auto">
          <a:xfrm>
            <a:off x="626567" y="3878332"/>
            <a:ext cx="3005970" cy="2324331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A6A8847-34A1-4C93-AE6C-26EB21CD821C}"/>
              </a:ext>
            </a:extLst>
          </p:cNvPr>
          <p:cNvSpPr txBox="1"/>
          <p:nvPr/>
        </p:nvSpPr>
        <p:spPr>
          <a:xfrm>
            <a:off x="8707550" y="1261714"/>
            <a:ext cx="1296144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C#: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4" name="Picture 6" descr="C# Codesnippet">
            <a:extLst>
              <a:ext uri="{FF2B5EF4-FFF2-40B4-BE49-F238E27FC236}">
                <a16:creationId xmlns:a16="http://schemas.microsoft.com/office/drawing/2014/main" id="{3C4AC906-C418-471E-992F-5FCBA4DCC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43594" y="1675293"/>
            <a:ext cx="2320389" cy="192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CBEC4DE9-CB31-471D-8FE1-29D2DF6F1A86}"/>
              </a:ext>
            </a:extLst>
          </p:cNvPr>
          <p:cNvSpPr/>
          <p:nvPr/>
        </p:nvSpPr>
        <p:spPr bwMode="auto">
          <a:xfrm>
            <a:off x="8672812" y="1332778"/>
            <a:ext cx="2861954" cy="2341567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8D7D570-B561-4620-8C5D-ECAC091C687B}"/>
              </a:ext>
            </a:extLst>
          </p:cNvPr>
          <p:cNvSpPr txBox="1"/>
          <p:nvPr/>
        </p:nvSpPr>
        <p:spPr>
          <a:xfrm>
            <a:off x="3826710" y="3810776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Visual Basic: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7" name="Picture 12" descr="Visual Basic Codesnippet">
            <a:extLst>
              <a:ext uri="{FF2B5EF4-FFF2-40B4-BE49-F238E27FC236}">
                <a16:creationId xmlns:a16="http://schemas.microsoft.com/office/drawing/2014/main" id="{4A19DF9B-7F83-4DD3-B382-8A719D742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0769" y="4227397"/>
            <a:ext cx="2150001" cy="197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7ED61580-5735-419F-A0B6-8C1821CCACCF}"/>
              </a:ext>
            </a:extLst>
          </p:cNvPr>
          <p:cNvSpPr/>
          <p:nvPr/>
        </p:nvSpPr>
        <p:spPr bwMode="auto">
          <a:xfrm>
            <a:off x="3848561" y="3878332"/>
            <a:ext cx="2511468" cy="2324331"/>
          </a:xfrm>
          <a:prstGeom prst="rect">
            <a:avLst/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E9C7BB0-CB70-4953-8470-552E5D56F4FC}"/>
              </a:ext>
            </a:extLst>
          </p:cNvPr>
          <p:cNvSpPr/>
          <p:nvPr/>
        </p:nvSpPr>
        <p:spPr bwMode="auto">
          <a:xfrm>
            <a:off x="6015124" y="1324535"/>
            <a:ext cx="2511468" cy="2380199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028501C-E744-402C-8BD6-DEEA747C4602}"/>
              </a:ext>
            </a:extLst>
          </p:cNvPr>
          <p:cNvSpPr txBox="1"/>
          <p:nvPr/>
        </p:nvSpPr>
        <p:spPr>
          <a:xfrm>
            <a:off x="6018393" y="1273102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Python: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1" name="Picture 14" descr="Python Codesnippet">
            <a:extLst>
              <a:ext uri="{FF2B5EF4-FFF2-40B4-BE49-F238E27FC236}">
                <a16:creationId xmlns:a16="http://schemas.microsoft.com/office/drawing/2014/main" id="{15812DCC-ABBC-4309-AAB6-1F1E9B98A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0858" y="1885794"/>
            <a:ext cx="2183129" cy="10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A54B41C0-89B3-40FE-A3C9-BADBA6B776C8}"/>
              </a:ext>
            </a:extLst>
          </p:cNvPr>
          <p:cNvSpPr txBox="1"/>
          <p:nvPr/>
        </p:nvSpPr>
        <p:spPr>
          <a:xfrm>
            <a:off x="6576053" y="3838990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Pascal: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A6ED179-91A4-4A42-9128-9AAC4611E7B2}"/>
              </a:ext>
            </a:extLst>
          </p:cNvPr>
          <p:cNvSpPr/>
          <p:nvPr/>
        </p:nvSpPr>
        <p:spPr bwMode="auto">
          <a:xfrm>
            <a:off x="6593677" y="3878332"/>
            <a:ext cx="4978106" cy="2324332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4" name="Picture 16" descr="Delphi/Object Pascal Codesnippet">
            <a:extLst>
              <a:ext uri="{FF2B5EF4-FFF2-40B4-BE49-F238E27FC236}">
                <a16:creationId xmlns:a16="http://schemas.microsoft.com/office/drawing/2014/main" id="{77C6531A-887F-4EC0-A048-FD3AA1014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9760" y="4427139"/>
            <a:ext cx="3502511" cy="166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2F17A82-8206-49F4-8EE0-F33B8F2BC005}"/>
              </a:ext>
            </a:extLst>
          </p:cNvPr>
          <p:cNvSpPr/>
          <p:nvPr/>
        </p:nvSpPr>
        <p:spPr>
          <a:xfrm>
            <a:off x="877132" y="2149639"/>
            <a:ext cx="2042237" cy="170930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A6FC953-5B54-454C-BF1A-0977055ADE83}"/>
              </a:ext>
            </a:extLst>
          </p:cNvPr>
          <p:cNvSpPr/>
          <p:nvPr/>
        </p:nvSpPr>
        <p:spPr>
          <a:xfrm>
            <a:off x="3550036" y="2348411"/>
            <a:ext cx="2067320" cy="193453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629173A-431B-47E8-86B1-7C3FD1B57B94}"/>
              </a:ext>
            </a:extLst>
          </p:cNvPr>
          <p:cNvSpPr/>
          <p:nvPr/>
        </p:nvSpPr>
        <p:spPr>
          <a:xfrm>
            <a:off x="6282073" y="2158942"/>
            <a:ext cx="2084626" cy="16162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A646D40-428F-4091-8F26-60D26A14DABC}"/>
              </a:ext>
            </a:extLst>
          </p:cNvPr>
          <p:cNvSpPr/>
          <p:nvPr/>
        </p:nvSpPr>
        <p:spPr>
          <a:xfrm>
            <a:off x="9127222" y="2449584"/>
            <a:ext cx="1984714" cy="167965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F494FEC-5DF6-456A-BCEE-457C47517FDC}"/>
              </a:ext>
            </a:extLst>
          </p:cNvPr>
          <p:cNvSpPr/>
          <p:nvPr/>
        </p:nvSpPr>
        <p:spPr>
          <a:xfrm>
            <a:off x="946159" y="4818939"/>
            <a:ext cx="2199592" cy="17806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46699E-A5BC-4167-BAB3-A1A2A65D24A7}"/>
              </a:ext>
            </a:extLst>
          </p:cNvPr>
          <p:cNvSpPr/>
          <p:nvPr/>
        </p:nvSpPr>
        <p:spPr>
          <a:xfrm>
            <a:off x="4188497" y="5005395"/>
            <a:ext cx="1790645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1F7B203-B2C6-4205-B907-750CED34A4E4}"/>
              </a:ext>
            </a:extLst>
          </p:cNvPr>
          <p:cNvSpPr/>
          <p:nvPr/>
        </p:nvSpPr>
        <p:spPr>
          <a:xfrm>
            <a:off x="6823147" y="5037511"/>
            <a:ext cx="2304075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702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4BA40A-0C80-4482-9685-F8D3E5D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Programming Languages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A72AD51-C8E1-4AF6-90B6-7A46D34ADB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3629" y="1846036"/>
            <a:ext cx="2402122" cy="14148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CBD04AD-2385-478B-B387-6FD274320139}"/>
              </a:ext>
            </a:extLst>
          </p:cNvPr>
          <p:cNvSpPr txBox="1"/>
          <p:nvPr/>
        </p:nvSpPr>
        <p:spPr>
          <a:xfrm>
            <a:off x="584438" y="1245642"/>
            <a:ext cx="1791388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 err="1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Javascript</a:t>
            </a: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75C28D4-3480-4D81-85FC-C7AFD8F902F9}"/>
              </a:ext>
            </a:extLst>
          </p:cNvPr>
          <p:cNvSpPr txBox="1"/>
          <p:nvPr/>
        </p:nvSpPr>
        <p:spPr>
          <a:xfrm>
            <a:off x="587899" y="3810776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Java: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7" name="Picture 2" descr="Java Codesnippet">
            <a:extLst>
              <a:ext uri="{FF2B5EF4-FFF2-40B4-BE49-F238E27FC236}">
                <a16:creationId xmlns:a16="http://schemas.microsoft.com/office/drawing/2014/main" id="{D560CE98-548E-4DA8-A9BA-7CCB2A3F7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217" y="4204855"/>
            <a:ext cx="2736304" cy="189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AEEB486B-42DA-4BE5-A5B4-30CB2727C5C5}"/>
              </a:ext>
            </a:extLst>
          </p:cNvPr>
          <p:cNvSpPr txBox="1"/>
          <p:nvPr/>
        </p:nvSpPr>
        <p:spPr>
          <a:xfrm>
            <a:off x="3426067" y="1261714"/>
            <a:ext cx="1296144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 and C++: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9" name="Picture 4" descr="C Codesnippet">
            <a:extLst>
              <a:ext uri="{FF2B5EF4-FFF2-40B4-BE49-F238E27FC236}">
                <a16:creationId xmlns:a16="http://schemas.microsoft.com/office/drawing/2014/main" id="{7E0AC4A3-CDC9-4251-989A-8EB82AF7C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3195" y="1700808"/>
            <a:ext cx="215000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A2B0F23C-6952-4685-B4D7-B3A5C6A6D195}"/>
              </a:ext>
            </a:extLst>
          </p:cNvPr>
          <p:cNvSpPr/>
          <p:nvPr/>
        </p:nvSpPr>
        <p:spPr bwMode="auto">
          <a:xfrm>
            <a:off x="3362871" y="1324534"/>
            <a:ext cx="2511468" cy="2380200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BA184EB-853E-45C1-B53D-E1D8857A6926}"/>
              </a:ext>
            </a:extLst>
          </p:cNvPr>
          <p:cNvSpPr/>
          <p:nvPr/>
        </p:nvSpPr>
        <p:spPr bwMode="auto">
          <a:xfrm>
            <a:off x="617978" y="1324534"/>
            <a:ext cx="2595758" cy="2380200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0EFD481-3231-4C20-808D-1329845B08AA}"/>
              </a:ext>
            </a:extLst>
          </p:cNvPr>
          <p:cNvSpPr/>
          <p:nvPr/>
        </p:nvSpPr>
        <p:spPr bwMode="auto">
          <a:xfrm>
            <a:off x="626567" y="3878332"/>
            <a:ext cx="3005970" cy="2324331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A6A8847-34A1-4C93-AE6C-26EB21CD821C}"/>
              </a:ext>
            </a:extLst>
          </p:cNvPr>
          <p:cNvSpPr txBox="1"/>
          <p:nvPr/>
        </p:nvSpPr>
        <p:spPr>
          <a:xfrm>
            <a:off x="8707550" y="1261714"/>
            <a:ext cx="1296144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C#: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4" name="Picture 6" descr="C# Codesnippet">
            <a:extLst>
              <a:ext uri="{FF2B5EF4-FFF2-40B4-BE49-F238E27FC236}">
                <a16:creationId xmlns:a16="http://schemas.microsoft.com/office/drawing/2014/main" id="{3C4AC906-C418-471E-992F-5FCBA4DCC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43594" y="1675293"/>
            <a:ext cx="2320389" cy="192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CBEC4DE9-CB31-471D-8FE1-29D2DF6F1A86}"/>
              </a:ext>
            </a:extLst>
          </p:cNvPr>
          <p:cNvSpPr/>
          <p:nvPr/>
        </p:nvSpPr>
        <p:spPr bwMode="auto">
          <a:xfrm>
            <a:off x="8672812" y="1332778"/>
            <a:ext cx="2861954" cy="2341567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8D7D570-B561-4620-8C5D-ECAC091C687B}"/>
              </a:ext>
            </a:extLst>
          </p:cNvPr>
          <p:cNvSpPr txBox="1"/>
          <p:nvPr/>
        </p:nvSpPr>
        <p:spPr>
          <a:xfrm>
            <a:off x="3826710" y="3810776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Visual Basic: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7" name="Picture 12" descr="Visual Basic Codesnippet">
            <a:extLst>
              <a:ext uri="{FF2B5EF4-FFF2-40B4-BE49-F238E27FC236}">
                <a16:creationId xmlns:a16="http://schemas.microsoft.com/office/drawing/2014/main" id="{4A19DF9B-7F83-4DD3-B382-8A719D742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0769" y="4227397"/>
            <a:ext cx="2150001" cy="197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7ED61580-5735-419F-A0B6-8C1821CCACCF}"/>
              </a:ext>
            </a:extLst>
          </p:cNvPr>
          <p:cNvSpPr/>
          <p:nvPr/>
        </p:nvSpPr>
        <p:spPr bwMode="auto">
          <a:xfrm>
            <a:off x="3848561" y="3878332"/>
            <a:ext cx="2511468" cy="2324331"/>
          </a:xfrm>
          <a:prstGeom prst="rect">
            <a:avLst/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E9C7BB0-CB70-4953-8470-552E5D56F4FC}"/>
              </a:ext>
            </a:extLst>
          </p:cNvPr>
          <p:cNvSpPr/>
          <p:nvPr/>
        </p:nvSpPr>
        <p:spPr bwMode="auto">
          <a:xfrm>
            <a:off x="6015124" y="1324535"/>
            <a:ext cx="2511468" cy="2380199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028501C-E744-402C-8BD6-DEEA747C4602}"/>
              </a:ext>
            </a:extLst>
          </p:cNvPr>
          <p:cNvSpPr txBox="1"/>
          <p:nvPr/>
        </p:nvSpPr>
        <p:spPr>
          <a:xfrm>
            <a:off x="6018393" y="1273102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Python: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1" name="Picture 14" descr="Python Codesnippet">
            <a:extLst>
              <a:ext uri="{FF2B5EF4-FFF2-40B4-BE49-F238E27FC236}">
                <a16:creationId xmlns:a16="http://schemas.microsoft.com/office/drawing/2014/main" id="{15812DCC-ABBC-4309-AAB6-1F1E9B98A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0858" y="1885794"/>
            <a:ext cx="2183129" cy="10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A54B41C0-89B3-40FE-A3C9-BADBA6B776C8}"/>
              </a:ext>
            </a:extLst>
          </p:cNvPr>
          <p:cNvSpPr txBox="1"/>
          <p:nvPr/>
        </p:nvSpPr>
        <p:spPr>
          <a:xfrm>
            <a:off x="6576053" y="3838990"/>
            <a:ext cx="1790646" cy="43909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de-DE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Pascal:</a:t>
            </a:r>
            <a:endParaRPr lang="en-US" sz="1600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A6ED179-91A4-4A42-9128-9AAC4611E7B2}"/>
              </a:ext>
            </a:extLst>
          </p:cNvPr>
          <p:cNvSpPr/>
          <p:nvPr/>
        </p:nvSpPr>
        <p:spPr bwMode="auto">
          <a:xfrm>
            <a:off x="6593677" y="3878332"/>
            <a:ext cx="4978106" cy="2324332"/>
          </a:xfrm>
          <a:prstGeom prst="rect">
            <a:avLst/>
          </a:prstGeom>
          <a:noFill/>
          <a:ln w="28575">
            <a:solidFill>
              <a:srgbClr val="7030A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4" name="Picture 16" descr="Delphi/Object Pascal Codesnippet">
            <a:extLst>
              <a:ext uri="{FF2B5EF4-FFF2-40B4-BE49-F238E27FC236}">
                <a16:creationId xmlns:a16="http://schemas.microsoft.com/office/drawing/2014/main" id="{77C6531A-887F-4EC0-A048-FD3AA1014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9760" y="4427139"/>
            <a:ext cx="3502511" cy="166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2F17A82-8206-49F4-8EE0-F33B8F2BC005}"/>
              </a:ext>
            </a:extLst>
          </p:cNvPr>
          <p:cNvSpPr/>
          <p:nvPr/>
        </p:nvSpPr>
        <p:spPr>
          <a:xfrm>
            <a:off x="989034" y="2298791"/>
            <a:ext cx="1989058" cy="159183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A6FC953-5B54-454C-BF1A-0977055ADE83}"/>
              </a:ext>
            </a:extLst>
          </p:cNvPr>
          <p:cNvSpPr/>
          <p:nvPr/>
        </p:nvSpPr>
        <p:spPr>
          <a:xfrm>
            <a:off x="3749103" y="2503561"/>
            <a:ext cx="1779242" cy="172953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629173A-431B-47E8-86B1-7C3FD1B57B94}"/>
              </a:ext>
            </a:extLst>
          </p:cNvPr>
          <p:cNvSpPr/>
          <p:nvPr/>
        </p:nvSpPr>
        <p:spPr>
          <a:xfrm>
            <a:off x="6454759" y="2316542"/>
            <a:ext cx="1632197" cy="165223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A646D40-428F-4091-8F26-60D26A14DABC}"/>
              </a:ext>
            </a:extLst>
          </p:cNvPr>
          <p:cNvSpPr/>
          <p:nvPr/>
        </p:nvSpPr>
        <p:spPr>
          <a:xfrm>
            <a:off x="9261446" y="2575040"/>
            <a:ext cx="1778466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F494FEC-5DF6-456A-BCEE-457C47517FDC}"/>
              </a:ext>
            </a:extLst>
          </p:cNvPr>
          <p:cNvSpPr/>
          <p:nvPr/>
        </p:nvSpPr>
        <p:spPr>
          <a:xfrm>
            <a:off x="1105982" y="4977017"/>
            <a:ext cx="2107754" cy="181726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46699E-A5BC-4167-BAB3-A1A2A65D24A7}"/>
              </a:ext>
            </a:extLst>
          </p:cNvPr>
          <p:cNvSpPr/>
          <p:nvPr/>
        </p:nvSpPr>
        <p:spPr>
          <a:xfrm>
            <a:off x="4318409" y="5158743"/>
            <a:ext cx="1555929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1F7B203-B2C6-4205-B907-750CED34A4E4}"/>
              </a:ext>
            </a:extLst>
          </p:cNvPr>
          <p:cNvSpPr/>
          <p:nvPr/>
        </p:nvSpPr>
        <p:spPr>
          <a:xfrm>
            <a:off x="6975079" y="5381951"/>
            <a:ext cx="3028615" cy="202947"/>
          </a:xfrm>
          <a:prstGeom prst="rect">
            <a:avLst/>
          </a:prstGeom>
          <a:noFill/>
          <a:ln w="28575">
            <a:solidFill>
              <a:srgbClr val="D28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498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627867"/>
            <a:ext cx="8357140" cy="20142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“</a:t>
            </a:r>
            <a:r>
              <a:rPr lang="en-US" b="1" i="1" dirty="0"/>
              <a:t>Syntax</a:t>
            </a:r>
            <a:r>
              <a:rPr lang="en-US" i="1" dirty="0"/>
              <a:t> refers to the ways symbols may be combined to create well-formed sentences (or programs) in the language. Syntax defines the formal relations between the constituents of a language, thereby providing a structural description of the various expressions that make up legal strings in the language. Syntax deals solely with the form and structure of symbols in a language without any consideration given to their meaning.”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10CC07-D054-4DF6-9F98-1696D7D6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Syntax &amp; Semantics</a:t>
            </a:r>
            <a:endParaRPr lang="en-US" noProof="0" dirty="0"/>
          </a:p>
        </p:txBody>
      </p:sp>
      <p:pic>
        <p:nvPicPr>
          <p:cNvPr id="7" name="Grafik 6" descr="Chat RNL">
            <a:extLst>
              <a:ext uri="{FF2B5EF4-FFF2-40B4-BE49-F238E27FC236}">
                <a16:creationId xmlns:a16="http://schemas.microsoft.com/office/drawing/2014/main" id="{55DC62CE-9169-4BDF-A914-E77F7011D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1265" y="1658131"/>
            <a:ext cx="1953672" cy="1953672"/>
          </a:xfrm>
          <a:prstGeom prst="rect">
            <a:avLst/>
          </a:prstGeom>
        </p:spPr>
      </p:pic>
      <p:pic>
        <p:nvPicPr>
          <p:cNvPr id="8" name="Grafik 7" descr="Chat">
            <a:extLst>
              <a:ext uri="{FF2B5EF4-FFF2-40B4-BE49-F238E27FC236}">
                <a16:creationId xmlns:a16="http://schemas.microsoft.com/office/drawing/2014/main" id="{35A26A44-C310-4D3B-8DEE-9CE7D8F61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789" y="3816816"/>
            <a:ext cx="1992207" cy="1992207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3FA43082-AE4E-4BC0-BC64-61954644F451}"/>
              </a:ext>
            </a:extLst>
          </p:cNvPr>
          <p:cNvSpPr/>
          <p:nvPr/>
        </p:nvSpPr>
        <p:spPr>
          <a:xfrm>
            <a:off x="3207797" y="3816816"/>
            <a:ext cx="83571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“</a:t>
            </a:r>
            <a:r>
              <a:rPr lang="en-US" b="1" i="1" dirty="0"/>
              <a:t>Semantics</a:t>
            </a:r>
            <a:r>
              <a:rPr lang="en-US" i="1" dirty="0"/>
              <a:t> reveals the meaning of syntactically valid strings in a language. For natural languages, this means correlating sentences and phrases with the objects, thoughts, and feelings of our experiences. For programming languages, semantics describes the behavior that a computer follows when executing a program in the language. We might disclose this behavior by describing the relationship between the input and output of a program or by a step-by-step explanation of how a program will execute on a real or an abstract machine.”</a:t>
            </a:r>
          </a:p>
        </p:txBody>
      </p:sp>
    </p:spTree>
    <p:extLst>
      <p:ext uri="{BB962C8B-B14F-4D97-AF65-F5344CB8AC3E}">
        <p14:creationId xmlns:p14="http://schemas.microsoft.com/office/powerpoint/2010/main" val="4210361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075" y="3346882"/>
            <a:ext cx="10724225" cy="2820893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Generality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	The algorithm solves a lot of the same problems, a whole class of problems.</a:t>
            </a:r>
          </a:p>
          <a:p>
            <a:pPr>
              <a:spcAft>
                <a:spcPts val="1200"/>
              </a:spcAft>
            </a:pPr>
            <a:r>
              <a:rPr lang="en-US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Repeatability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		With the same prerequisite, an algorithm always delivers the same result.</a:t>
            </a:r>
          </a:p>
          <a:p>
            <a:pPr>
              <a:spcAft>
                <a:spcPts val="1200"/>
              </a:spcAft>
            </a:pPr>
            <a:r>
              <a:rPr lang="en-US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Uniqueness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	At each point the following step is clearly defined.</a:t>
            </a:r>
          </a:p>
          <a:p>
            <a:pPr>
              <a:spcAft>
                <a:spcPts val="1200"/>
              </a:spcAft>
            </a:pPr>
            <a:r>
              <a:rPr lang="en-US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Finitude/terminality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The algorithm consists of a finite number of steps and always comes to an 			end. The sequence of statements must also be described in a finite text.</a:t>
            </a:r>
          </a:p>
          <a:p>
            <a:pPr>
              <a:spcAft>
                <a:spcPts val="1200"/>
              </a:spcAft>
            </a:pPr>
            <a:r>
              <a:rPr lang="en-US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Executability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	The instructions must also be clearly formulated and executable (Not for you, 			but for the computer).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Algorithms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64F029D-BA23-4D15-B924-5C4187071E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686" y="1478484"/>
            <a:ext cx="3428798" cy="92881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061DB24-E3DD-4FC2-9C6B-21F18486454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2991" y="1475933"/>
            <a:ext cx="6552728" cy="1088444"/>
          </a:xfrm>
          <a:prstGeom prst="rect">
            <a:avLst/>
          </a:prstGeom>
        </p:spPr>
      </p:pic>
      <p:sp>
        <p:nvSpPr>
          <p:cNvPr id="10" name="Bullet 1">
            <a:extLst>
              <a:ext uri="{FF2B5EF4-FFF2-40B4-BE49-F238E27FC236}">
                <a16:creationId xmlns:a16="http://schemas.microsoft.com/office/drawing/2014/main" id="{63320231-FC03-4DAA-AB34-81B6CA5DA903}"/>
              </a:ext>
            </a:extLst>
          </p:cNvPr>
          <p:cNvSpPr/>
          <p:nvPr/>
        </p:nvSpPr>
        <p:spPr>
          <a:xfrm>
            <a:off x="495686" y="3311370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Bullet 2">
            <a:extLst>
              <a:ext uri="{FF2B5EF4-FFF2-40B4-BE49-F238E27FC236}">
                <a16:creationId xmlns:a16="http://schemas.microsoft.com/office/drawing/2014/main" id="{B6E40D9A-8EB3-4AA1-AD6E-D5D443F9C400}"/>
              </a:ext>
            </a:extLst>
          </p:cNvPr>
          <p:cNvSpPr/>
          <p:nvPr/>
        </p:nvSpPr>
        <p:spPr>
          <a:xfrm>
            <a:off x="495686" y="3766593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Bullet 3">
            <a:extLst>
              <a:ext uri="{FF2B5EF4-FFF2-40B4-BE49-F238E27FC236}">
                <a16:creationId xmlns:a16="http://schemas.microsoft.com/office/drawing/2014/main" id="{3B526BFB-9FDA-4C1D-BAA0-9B92D150924E}"/>
              </a:ext>
            </a:extLst>
          </p:cNvPr>
          <p:cNvSpPr/>
          <p:nvPr/>
        </p:nvSpPr>
        <p:spPr>
          <a:xfrm>
            <a:off x="495686" y="4212938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" name="Bullet 2">
            <a:extLst>
              <a:ext uri="{FF2B5EF4-FFF2-40B4-BE49-F238E27FC236}">
                <a16:creationId xmlns:a16="http://schemas.microsoft.com/office/drawing/2014/main" id="{A8AC0825-1887-4BCC-A081-66ECB0A15C4A}"/>
              </a:ext>
            </a:extLst>
          </p:cNvPr>
          <p:cNvSpPr/>
          <p:nvPr/>
        </p:nvSpPr>
        <p:spPr>
          <a:xfrm>
            <a:off x="495686" y="4679065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4" name="Bullet 3">
            <a:extLst>
              <a:ext uri="{FF2B5EF4-FFF2-40B4-BE49-F238E27FC236}">
                <a16:creationId xmlns:a16="http://schemas.microsoft.com/office/drawing/2014/main" id="{805D2623-7E0C-407B-BD09-BF15C70603CD}"/>
              </a:ext>
            </a:extLst>
          </p:cNvPr>
          <p:cNvSpPr/>
          <p:nvPr/>
        </p:nvSpPr>
        <p:spPr>
          <a:xfrm>
            <a:off x="494954" y="5440963"/>
            <a:ext cx="324000" cy="32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92418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1AE6150-1C15-4D6A-81FC-F94330D03076}"/>
              </a:ext>
            </a:extLst>
          </p:cNvPr>
          <p:cNvSpPr txBox="1">
            <a:spLocks/>
          </p:cNvSpPr>
          <p:nvPr/>
        </p:nvSpPr>
        <p:spPr>
          <a:xfrm>
            <a:off x="4225771" y="1"/>
            <a:ext cx="7966228" cy="1414800"/>
          </a:xfrm>
          <a:prstGeom prst="rect">
            <a:avLst/>
          </a:prstGeom>
        </p:spPr>
        <p:txBody>
          <a:bodyPr vert="horz" lIns="626400" tIns="37800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Programming – Why?</a:t>
            </a:r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A27D9EF1-CFB7-4C7F-A084-062F7E6E3E8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pic>
        <p:nvPicPr>
          <p:cNvPr id="16" name="Grafik 15" descr="Hilfe">
            <a:extLst>
              <a:ext uri="{FF2B5EF4-FFF2-40B4-BE49-F238E27FC236}">
                <a16:creationId xmlns:a16="http://schemas.microsoft.com/office/drawing/2014/main" id="{32EF92C8-8362-4AEB-9772-FBF175349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168" y="2457635"/>
            <a:ext cx="1942730" cy="1942730"/>
          </a:xfrm>
          <a:prstGeom prst="rect">
            <a:avLst/>
          </a:prstGeom>
        </p:spPr>
      </p:pic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29E2148F-C030-4C62-A332-AE46EF22749C}"/>
              </a:ext>
            </a:extLst>
          </p:cNvPr>
          <p:cNvSpPr txBox="1">
            <a:spLocks/>
          </p:cNvSpPr>
          <p:nvPr/>
        </p:nvSpPr>
        <p:spPr>
          <a:xfrm>
            <a:off x="5344356" y="1663034"/>
            <a:ext cx="4407841" cy="4009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It‘s</a:t>
            </a:r>
            <a:r>
              <a:rPr lang="de-DE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simple and easy</a:t>
            </a:r>
          </a:p>
          <a:p>
            <a:pPr>
              <a:lnSpc>
                <a:spcPct val="150000"/>
              </a:lnSpc>
            </a:pPr>
            <a:endParaRPr lang="de-DE" dirty="0">
              <a:solidFill>
                <a:schemeClr val="accent3">
                  <a:lumMod val="50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Implement your own visions and ideas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accent3">
                  <a:lumMod val="50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Become independent of other programs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accent3">
                  <a:lumMod val="50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Understand the computer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accent3">
                  <a:lumMod val="50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You train your brain!</a:t>
            </a:r>
          </a:p>
        </p:txBody>
      </p:sp>
      <p:sp>
        <p:nvSpPr>
          <p:cNvPr id="20" name="Bullet 1">
            <a:extLst>
              <a:ext uri="{FF2B5EF4-FFF2-40B4-BE49-F238E27FC236}">
                <a16:creationId xmlns:a16="http://schemas.microsoft.com/office/drawing/2014/main" id="{503EC179-7C79-4D89-ACC3-5295D033D0DA}"/>
              </a:ext>
            </a:extLst>
          </p:cNvPr>
          <p:cNvSpPr/>
          <p:nvPr/>
        </p:nvSpPr>
        <p:spPr>
          <a:xfrm>
            <a:off x="4894134" y="1730984"/>
            <a:ext cx="324000" cy="324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1" name="Bullet 1">
            <a:extLst>
              <a:ext uri="{FF2B5EF4-FFF2-40B4-BE49-F238E27FC236}">
                <a16:creationId xmlns:a16="http://schemas.microsoft.com/office/drawing/2014/main" id="{6A46285C-167D-4FEF-B82C-FFBF4F30C64B}"/>
              </a:ext>
            </a:extLst>
          </p:cNvPr>
          <p:cNvSpPr/>
          <p:nvPr/>
        </p:nvSpPr>
        <p:spPr>
          <a:xfrm>
            <a:off x="4894134" y="2541207"/>
            <a:ext cx="324000" cy="324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2" name="Bullet 1">
            <a:extLst>
              <a:ext uri="{FF2B5EF4-FFF2-40B4-BE49-F238E27FC236}">
                <a16:creationId xmlns:a16="http://schemas.microsoft.com/office/drawing/2014/main" id="{2BF6A802-66F8-48CF-A227-0F11DAEC1B93}"/>
              </a:ext>
            </a:extLst>
          </p:cNvPr>
          <p:cNvSpPr/>
          <p:nvPr/>
        </p:nvSpPr>
        <p:spPr>
          <a:xfrm>
            <a:off x="4894134" y="3378064"/>
            <a:ext cx="324000" cy="324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3" name="Bullet 1">
            <a:extLst>
              <a:ext uri="{FF2B5EF4-FFF2-40B4-BE49-F238E27FC236}">
                <a16:creationId xmlns:a16="http://schemas.microsoft.com/office/drawing/2014/main" id="{4F0C1539-6F81-40BC-9A9E-6D4B22174D96}"/>
              </a:ext>
            </a:extLst>
          </p:cNvPr>
          <p:cNvSpPr/>
          <p:nvPr/>
        </p:nvSpPr>
        <p:spPr>
          <a:xfrm>
            <a:off x="4894134" y="4197165"/>
            <a:ext cx="324000" cy="324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24" name="Bullet 1">
            <a:extLst>
              <a:ext uri="{FF2B5EF4-FFF2-40B4-BE49-F238E27FC236}">
                <a16:creationId xmlns:a16="http://schemas.microsoft.com/office/drawing/2014/main" id="{33822169-14E9-48C0-ABE3-3E0B3B827609}"/>
              </a:ext>
            </a:extLst>
          </p:cNvPr>
          <p:cNvSpPr/>
          <p:nvPr/>
        </p:nvSpPr>
        <p:spPr>
          <a:xfrm>
            <a:off x="4894134" y="5025144"/>
            <a:ext cx="324000" cy="324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bg1"/>
                </a:solidFill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61985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Types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4" name="Subhead"/>
          <p:cNvSpPr>
            <a:spLocks noGrp="1"/>
          </p:cNvSpPr>
          <p:nvPr>
            <p:ph type="subTitle" idx="4294967295"/>
          </p:nvPr>
        </p:nvSpPr>
        <p:spPr>
          <a:xfrm>
            <a:off x="627064" y="4528800"/>
            <a:ext cx="8208000" cy="899252"/>
          </a:xfrm>
        </p:spPr>
        <p:txBody>
          <a:bodyPr/>
          <a:lstStyle/>
          <a:p>
            <a:r>
              <a:rPr lang="en-US" sz="2000" noProof="0" dirty="0">
                <a:solidFill>
                  <a:schemeClr val="bg1"/>
                </a:solidFill>
              </a:rPr>
              <a:t>Why do we need data types?</a:t>
            </a:r>
          </a:p>
        </p:txBody>
      </p:sp>
    </p:spTree>
    <p:extLst>
      <p:ext uri="{BB962C8B-B14F-4D97-AF65-F5344CB8AC3E}">
        <p14:creationId xmlns:p14="http://schemas.microsoft.com/office/powerpoint/2010/main" val="3344683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 1">
            <a:extLst>
              <a:ext uri="{FF2B5EF4-FFF2-40B4-BE49-F238E27FC236}">
                <a16:creationId xmlns:a16="http://schemas.microsoft.com/office/drawing/2014/main" id="{3ACCC108-0779-46CF-B7B8-1028A1647EB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Why do we need data types?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Every Computer has only limited capacities/ resources, but e.g. the space of integers is infinitely large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	 we have to limit the space of integers</a:t>
            </a:r>
          </a:p>
          <a:p>
            <a:pPr>
              <a:lnSpc>
                <a:spcPct val="150000"/>
              </a:lnSpc>
            </a:pPr>
            <a:endParaRPr lang="en-US" sz="1600" dirty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You have to know the characteristics of the basic data types and also their advantages and disadvantages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	 choose your data type wisely and 	adjusted to you use case</a:t>
            </a:r>
            <a:endParaRPr lang="en-US" sz="16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258756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Data Types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elle 4">
                <a:extLst>
                  <a:ext uri="{FF2B5EF4-FFF2-40B4-BE49-F238E27FC236}">
                    <a16:creationId xmlns:a16="http://schemas.microsoft.com/office/drawing/2014/main" id="{EEEB141F-30E9-4A6A-A880-8B7A4E7F66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303549"/>
                  </p:ext>
                </p:extLst>
              </p:nvPr>
            </p:nvGraphicFramePr>
            <p:xfrm>
              <a:off x="6601245" y="3387201"/>
              <a:ext cx="4838400" cy="277964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419200">
                      <a:extLst>
                        <a:ext uri="{9D8B030D-6E8A-4147-A177-3AD203B41FA5}">
                          <a16:colId xmlns:a16="http://schemas.microsoft.com/office/drawing/2014/main" val="3830455650"/>
                        </a:ext>
                      </a:extLst>
                    </a:gridCol>
                    <a:gridCol w="2419200">
                      <a:extLst>
                        <a:ext uri="{9D8B030D-6E8A-4147-A177-3AD203B41FA5}">
                          <a16:colId xmlns:a16="http://schemas.microsoft.com/office/drawing/2014/main" val="3516839469"/>
                        </a:ext>
                      </a:extLst>
                    </a:gridCol>
                  </a:tblGrid>
                  <a:tr h="2780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noProof="0" dirty="0"/>
                            <a:t>Number of </a:t>
                          </a:r>
                          <a:r>
                            <a:rPr lang="en-US" sz="1400" noProof="0" dirty="0"/>
                            <a:t>bits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noProof="0" dirty="0"/>
                            <a:t>Number of </a:t>
                          </a:r>
                          <a:r>
                            <a:rPr lang="en-US" sz="1400" b="1" noProof="0" dirty="0"/>
                            <a:t>fits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234772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5592946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3248537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109104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833390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266962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354992"/>
                      </a:ext>
                    </a:extLst>
                  </a:tr>
                  <a:tr h="2556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i</a:t>
                          </a:r>
                          <a:endParaRPr lang="en-US" sz="12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de-DE" sz="1200" b="0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5683448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…</a:t>
                          </a:r>
                          <a:endParaRPr lang="en-US" sz="12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…</a:t>
                          </a:r>
                          <a:endParaRPr lang="en-US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1928804"/>
                      </a:ext>
                    </a:extLst>
                  </a:tr>
                  <a:tr h="2502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32</a:t>
                          </a:r>
                          <a:endParaRPr lang="en-US" sz="12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4.294.967.296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8548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elle 4">
                <a:extLst>
                  <a:ext uri="{FF2B5EF4-FFF2-40B4-BE49-F238E27FC236}">
                    <a16:creationId xmlns:a16="http://schemas.microsoft.com/office/drawing/2014/main" id="{EEEB141F-30E9-4A6A-A880-8B7A4E7F66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303549"/>
                  </p:ext>
                </p:extLst>
              </p:nvPr>
            </p:nvGraphicFramePr>
            <p:xfrm>
              <a:off x="6601245" y="3387201"/>
              <a:ext cx="4838400" cy="277964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419200">
                      <a:extLst>
                        <a:ext uri="{9D8B030D-6E8A-4147-A177-3AD203B41FA5}">
                          <a16:colId xmlns:a16="http://schemas.microsoft.com/office/drawing/2014/main" val="3830455650"/>
                        </a:ext>
                      </a:extLst>
                    </a:gridCol>
                    <a:gridCol w="2419200">
                      <a:extLst>
                        <a:ext uri="{9D8B030D-6E8A-4147-A177-3AD203B41FA5}">
                          <a16:colId xmlns:a16="http://schemas.microsoft.com/office/drawing/2014/main" val="351683946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noProof="0" dirty="0"/>
                            <a:t>Number of </a:t>
                          </a:r>
                          <a:r>
                            <a:rPr lang="en-US" sz="1400" noProof="0" dirty="0"/>
                            <a:t>bits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noProof="0" dirty="0"/>
                            <a:t>Number of </a:t>
                          </a:r>
                          <a:r>
                            <a:rPr lang="en-US" sz="1400" b="1" noProof="0" dirty="0"/>
                            <a:t>fits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2347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559294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32485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1091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83339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26696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354992"/>
                      </a:ext>
                    </a:extLst>
                  </a:tr>
                  <a:tr h="2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i</a:t>
                          </a:r>
                          <a:endParaRPr lang="en-US" sz="12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504" t="-700000" r="-1008" b="-2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834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…</a:t>
                          </a:r>
                          <a:endParaRPr lang="en-US" sz="12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…</a:t>
                          </a:r>
                          <a:endParaRPr lang="en-US" sz="12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19288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/>
                            <a:t>32</a:t>
                          </a:r>
                          <a:endParaRPr lang="en-US" sz="12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noProof="0" dirty="0"/>
                            <a:t>4.294.967.296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85489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2A1F62A9-A6C5-4784-AA61-CC9A90E3C178}"/>
                  </a:ext>
                </a:extLst>
              </p:cNvPr>
              <p:cNvSpPr/>
              <p:nvPr/>
            </p:nvSpPr>
            <p:spPr>
              <a:xfrm>
                <a:off x="6258757" y="1702800"/>
                <a:ext cx="5933243" cy="15240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600" b="1" dirty="0">
                    <a:solidFill>
                      <a:schemeClr val="accent3">
                        <a:lumMod val="50000"/>
                      </a:schemeClr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All is about Bits &amp; Bytes</a:t>
                </a:r>
              </a:p>
              <a:p>
                <a:pPr marL="285750" indent="-285750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Bit: binary digit – positive Logic: 1 (True), 0 (False)</a:t>
                </a:r>
              </a:p>
              <a:p>
                <a:pPr marL="285750" indent="-285750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Byte: four bits e.g. one byte: 1011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sz="16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1 0 1 1</m:t>
                    </m:r>
                  </m:oMath>
                </a14:m>
                <a:r>
                  <a:rPr lang="de-DE" sz="1600" dirty="0">
                    <a:solidFill>
                      <a:schemeClr val="accent3">
                        <a:lumMod val="50000"/>
                      </a:schemeClr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 </a:t>
                </a:r>
                <a:r>
                  <a:rPr lang="de-DE" sz="1600" dirty="0">
                    <a:solidFill>
                      <a:schemeClr val="accent3">
                        <a:lumMod val="50000"/>
                      </a:schemeClr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de-DE" sz="16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(1∗2</m:t>
                            </m:r>
                          </m:e>
                          <m:sup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3</m:t>
                            </m:r>
                          </m:sup>
                        </m:sSup>
                        <m:r>
                          <a:rPr lang="de-DE" sz="16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+0∗</m:t>
                        </m:r>
                        <m:sSup>
                          <m:sSupPr>
                            <m:ctrlP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2</m:t>
                            </m:r>
                          </m:e>
                          <m:sup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2</m:t>
                            </m:r>
                          </m:sup>
                        </m:sSup>
                        <m:r>
                          <a:rPr lang="de-DE" sz="16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+1∗</m:t>
                        </m:r>
                        <m:sSup>
                          <m:sSupPr>
                            <m:ctrlP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2</m:t>
                            </m:r>
                          </m:e>
                          <m:sup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1</m:t>
                            </m:r>
                          </m:sup>
                        </m:sSup>
                        <m:r>
                          <a:rPr lang="de-DE" sz="16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+1∗</m:t>
                        </m:r>
                        <m:sSup>
                          <m:sSupPr>
                            <m:ctrlP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pPr>
                          <m:e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2</m:t>
                            </m:r>
                          </m:e>
                          <m:sup>
                            <m:r>
                              <a:rPr lang="de-DE" sz="1600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0</m:t>
                            </m:r>
                          </m:sup>
                        </m:sSup>
                        <m:r>
                          <a:rPr lang="de-DE" sz="16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)</m:t>
                        </m:r>
                      </m:e>
                    </m:nary>
                    <m:r>
                      <a:rPr lang="de-DE" sz="16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=11</m:t>
                    </m:r>
                  </m:oMath>
                </a14:m>
                <a:endParaRPr lang="en-US" sz="1600" dirty="0">
                  <a:solidFill>
                    <a:schemeClr val="accent3">
                      <a:lumMod val="50000"/>
                    </a:schemeClr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2A1F62A9-A6C5-4784-AA61-CC9A90E3C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757" y="1702800"/>
                <a:ext cx="5933243" cy="1524007"/>
              </a:xfrm>
              <a:prstGeom prst="rect">
                <a:avLst/>
              </a:prstGeom>
              <a:blipFill>
                <a:blip r:embed="rId4"/>
                <a:stretch>
                  <a:fillRect l="-617" b="-376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110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A5FA6C-8273-4801-A0A0-EF50FD5575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06322" y="1592013"/>
            <a:ext cx="4407841" cy="400979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>
                <a:ea typeface="Arial Unicode MS" panose="020B0604020202020204" pitchFamily="34" charset="-128"/>
                <a:cs typeface="Arial Unicode MS" panose="020B0604020202020204" pitchFamily="34" charset="-128"/>
              </a:rPr>
              <a:t>complex numbers</a:t>
            </a:r>
          </a:p>
          <a:p>
            <a:pPr>
              <a:lnSpc>
                <a:spcPct val="150000"/>
              </a:lnSpc>
            </a:pPr>
            <a:endParaRPr lang="en-US" b="1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b="1">
                <a:ea typeface="Arial Unicode MS" panose="020B0604020202020204" pitchFamily="34" charset="-128"/>
                <a:cs typeface="Arial Unicode MS" panose="020B0604020202020204" pitchFamily="34" charset="-128"/>
              </a:rPr>
              <a:t>real numbers</a:t>
            </a:r>
          </a:p>
          <a:p>
            <a:pPr>
              <a:lnSpc>
                <a:spcPct val="150000"/>
              </a:lnSpc>
            </a:pPr>
            <a:endParaRPr lang="en-US" b="1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b="1">
                <a:ea typeface="Arial Unicode MS" panose="020B0604020202020204" pitchFamily="34" charset="-128"/>
                <a:cs typeface="Arial Unicode MS" panose="020B0604020202020204" pitchFamily="34" charset="-128"/>
              </a:rPr>
              <a:t>rational numbers</a:t>
            </a:r>
          </a:p>
          <a:p>
            <a:pPr>
              <a:lnSpc>
                <a:spcPct val="150000"/>
              </a:lnSpc>
            </a:pPr>
            <a:endParaRPr lang="en-US" b="1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b="1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numbers</a:t>
            </a:r>
          </a:p>
          <a:p>
            <a:pPr>
              <a:lnSpc>
                <a:spcPct val="150000"/>
              </a:lnSpc>
            </a:pPr>
            <a:endParaRPr lang="en-US" b="1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b="1">
                <a:ea typeface="Arial Unicode MS" panose="020B0604020202020204" pitchFamily="34" charset="-128"/>
                <a:cs typeface="Arial Unicode MS" panose="020B0604020202020204" pitchFamily="34" charset="-128"/>
              </a:rPr>
              <a:t>natural numbers</a:t>
            </a:r>
          </a:p>
        </p:txBody>
      </p:sp>
      <p:sp>
        <p:nvSpPr>
          <p:cNvPr id="16" name="Bullet 1">
            <a:extLst>
              <a:ext uri="{FF2B5EF4-FFF2-40B4-BE49-F238E27FC236}">
                <a16:creationId xmlns:a16="http://schemas.microsoft.com/office/drawing/2014/main" id="{710834B2-33A6-447F-871B-0F573F0915AF}"/>
              </a:ext>
            </a:extLst>
          </p:cNvPr>
          <p:cNvSpPr/>
          <p:nvPr/>
        </p:nvSpPr>
        <p:spPr>
          <a:xfrm>
            <a:off x="6856100" y="1659963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C</a:t>
            </a:r>
          </a:p>
        </p:txBody>
      </p:sp>
      <p:sp>
        <p:nvSpPr>
          <p:cNvPr id="20" name="Bullet 1">
            <a:extLst>
              <a:ext uri="{FF2B5EF4-FFF2-40B4-BE49-F238E27FC236}">
                <a16:creationId xmlns:a16="http://schemas.microsoft.com/office/drawing/2014/main" id="{2A5D186B-6331-47C2-BE5A-BF5EA29787E1}"/>
              </a:ext>
            </a:extLst>
          </p:cNvPr>
          <p:cNvSpPr/>
          <p:nvPr/>
        </p:nvSpPr>
        <p:spPr>
          <a:xfrm>
            <a:off x="6856100" y="2470186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R</a:t>
            </a:r>
          </a:p>
        </p:txBody>
      </p:sp>
      <p:sp>
        <p:nvSpPr>
          <p:cNvPr id="26" name="Title">
            <a:extLst>
              <a:ext uri="{FF2B5EF4-FFF2-40B4-BE49-F238E27FC236}">
                <a16:creationId xmlns:a16="http://schemas.microsoft.com/office/drawing/2014/main" id="{6FA267DB-F37A-456F-89D0-2F4F3CCA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258756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Programming – Why?</a:t>
            </a:r>
            <a:endParaRPr lang="en-US" noProof="0" dirty="0"/>
          </a:p>
        </p:txBody>
      </p:sp>
      <p:sp>
        <p:nvSpPr>
          <p:cNvPr id="28" name="Bullet 1">
            <a:extLst>
              <a:ext uri="{FF2B5EF4-FFF2-40B4-BE49-F238E27FC236}">
                <a16:creationId xmlns:a16="http://schemas.microsoft.com/office/drawing/2014/main" id="{D3F54CB8-8051-49CC-A3DE-AC255FDB8613}"/>
              </a:ext>
            </a:extLst>
          </p:cNvPr>
          <p:cNvSpPr/>
          <p:nvPr/>
        </p:nvSpPr>
        <p:spPr>
          <a:xfrm>
            <a:off x="6856100" y="3307043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Q</a:t>
            </a:r>
          </a:p>
        </p:txBody>
      </p:sp>
      <p:sp>
        <p:nvSpPr>
          <p:cNvPr id="29" name="Bullet 1">
            <a:extLst>
              <a:ext uri="{FF2B5EF4-FFF2-40B4-BE49-F238E27FC236}">
                <a16:creationId xmlns:a16="http://schemas.microsoft.com/office/drawing/2014/main" id="{99120F8C-9B39-45F1-AC65-160675CB7F6D}"/>
              </a:ext>
            </a:extLst>
          </p:cNvPr>
          <p:cNvSpPr/>
          <p:nvPr/>
        </p:nvSpPr>
        <p:spPr>
          <a:xfrm>
            <a:off x="6856100" y="4126144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Z</a:t>
            </a:r>
          </a:p>
        </p:txBody>
      </p:sp>
      <p:pic>
        <p:nvPicPr>
          <p:cNvPr id="30" name="Logo">
            <a:extLst>
              <a:ext uri="{FF2B5EF4-FFF2-40B4-BE49-F238E27FC236}">
                <a16:creationId xmlns:a16="http://schemas.microsoft.com/office/drawing/2014/main" id="{FEF47591-AB90-45B1-B9BB-C65D19E421D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40000" cy="496808"/>
          </a:xfrm>
          <a:prstGeom prst="rect">
            <a:avLst/>
          </a:prstGeom>
        </p:spPr>
      </p:pic>
      <p:sp>
        <p:nvSpPr>
          <p:cNvPr id="10" name="Bullet 1">
            <a:extLst>
              <a:ext uri="{FF2B5EF4-FFF2-40B4-BE49-F238E27FC236}">
                <a16:creationId xmlns:a16="http://schemas.microsoft.com/office/drawing/2014/main" id="{15002875-24BE-4435-8745-9778EE21EFAC}"/>
              </a:ext>
            </a:extLst>
          </p:cNvPr>
          <p:cNvSpPr/>
          <p:nvPr/>
        </p:nvSpPr>
        <p:spPr>
          <a:xfrm>
            <a:off x="6856100" y="4954123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1600" b="1" dirty="0">
                <a:solidFill>
                  <a:schemeClr val="tx1"/>
                </a:solidFill>
                <a:latin typeface="+mj-lt"/>
              </a:rPr>
              <a:t>N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E1AB605-64C4-426C-B416-A92D7EF93B65}"/>
              </a:ext>
            </a:extLst>
          </p:cNvPr>
          <p:cNvGrpSpPr/>
          <p:nvPr/>
        </p:nvGrpSpPr>
        <p:grpSpPr>
          <a:xfrm>
            <a:off x="713974" y="1460509"/>
            <a:ext cx="4680000" cy="4750234"/>
            <a:chOff x="713974" y="1274077"/>
            <a:chExt cx="4680000" cy="4750234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3382DCC-D1C1-401E-AC27-74F2BC36A555}"/>
                </a:ext>
              </a:extLst>
            </p:cNvPr>
            <p:cNvSpPr/>
            <p:nvPr/>
          </p:nvSpPr>
          <p:spPr bwMode="auto">
            <a:xfrm>
              <a:off x="713974" y="1340768"/>
              <a:ext cx="4680000" cy="4680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74987508-C97E-447E-958D-4086C347C851}"/>
                </a:ext>
              </a:extLst>
            </p:cNvPr>
            <p:cNvSpPr/>
            <p:nvPr/>
          </p:nvSpPr>
          <p:spPr bwMode="auto">
            <a:xfrm>
              <a:off x="1073974" y="2064311"/>
              <a:ext cx="3960000" cy="39600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D41A57B-17A4-4811-9E1A-A96F656CE916}"/>
                </a:ext>
              </a:extLst>
            </p:cNvPr>
            <p:cNvSpPr/>
            <p:nvPr/>
          </p:nvSpPr>
          <p:spPr bwMode="auto">
            <a:xfrm>
              <a:off x="1382631" y="2784311"/>
              <a:ext cx="3240000" cy="32400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F433DF1E-360E-4AA8-86C1-AC2C1DDBA57B}"/>
                </a:ext>
              </a:extLst>
            </p:cNvPr>
            <p:cNvSpPr/>
            <p:nvPr/>
          </p:nvSpPr>
          <p:spPr bwMode="auto">
            <a:xfrm>
              <a:off x="1742631" y="3495719"/>
              <a:ext cx="2520000" cy="252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0F76E305-3164-4FA3-9759-926E8C385544}"/>
                </a:ext>
              </a:extLst>
            </p:cNvPr>
            <p:cNvSpPr/>
            <p:nvPr/>
          </p:nvSpPr>
          <p:spPr bwMode="auto">
            <a:xfrm>
              <a:off x="2102631" y="4203540"/>
              <a:ext cx="1800000" cy="18000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0E3FC291-01D9-4518-9B25-58330CA57D55}"/>
                </a:ext>
              </a:extLst>
            </p:cNvPr>
            <p:cNvSpPr txBox="1"/>
            <p:nvPr/>
          </p:nvSpPr>
          <p:spPr>
            <a:xfrm>
              <a:off x="2837974" y="1274077"/>
              <a:ext cx="432000" cy="3723284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</a:pPr>
              <a:r>
                <a:rPr lang="de-DE" sz="3200" b="1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</a:t>
              </a:r>
            </a:p>
            <a:p>
              <a:pPr algn="ctr">
                <a:lnSpc>
                  <a:spcPct val="150000"/>
                </a:lnSpc>
                <a:spcBef>
                  <a:spcPts val="0"/>
                </a:spcBef>
              </a:pPr>
              <a:r>
                <a:rPr lang="de-DE" sz="3200" b="1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</a:t>
              </a:r>
            </a:p>
            <a:p>
              <a:pPr algn="ctr">
                <a:lnSpc>
                  <a:spcPct val="150000"/>
                </a:lnSpc>
                <a:spcBef>
                  <a:spcPts val="0"/>
                </a:spcBef>
              </a:pPr>
              <a:r>
                <a:rPr lang="de-DE" sz="3200" b="1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Q</a:t>
              </a:r>
            </a:p>
            <a:p>
              <a:pPr algn="ctr">
                <a:lnSpc>
                  <a:spcPct val="150000"/>
                </a:lnSpc>
                <a:spcBef>
                  <a:spcPts val="0"/>
                </a:spcBef>
              </a:pPr>
              <a:r>
                <a:rPr lang="de-DE" sz="3200" b="1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Z</a:t>
              </a:r>
            </a:p>
            <a:p>
              <a:pPr algn="ctr">
                <a:lnSpc>
                  <a:spcPct val="150000"/>
                </a:lnSpc>
                <a:spcBef>
                  <a:spcPts val="0"/>
                </a:spcBef>
              </a:pPr>
              <a:r>
                <a:rPr lang="de-DE" sz="3200" b="1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N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B759BF5A-E38E-4C8A-BB28-64F01113CE85}"/>
                </a:ext>
              </a:extLst>
            </p:cNvPr>
            <p:cNvSpPr txBox="1"/>
            <p:nvPr/>
          </p:nvSpPr>
          <p:spPr>
            <a:xfrm rot="20593998">
              <a:off x="2273552" y="4667165"/>
              <a:ext cx="484329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D0CA25C-5F41-476D-9E76-13C2F66444FA}"/>
                </a:ext>
              </a:extLst>
            </p:cNvPr>
            <p:cNvSpPr txBox="1"/>
            <p:nvPr/>
          </p:nvSpPr>
          <p:spPr>
            <a:xfrm rot="1180126">
              <a:off x="3149733" y="5091625"/>
              <a:ext cx="668754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75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EAE330E-D65B-453D-9D33-24F6EE4F8C80}"/>
                </a:ext>
              </a:extLst>
            </p:cNvPr>
            <p:cNvSpPr txBox="1"/>
            <p:nvPr/>
          </p:nvSpPr>
          <p:spPr>
            <a:xfrm rot="20985782">
              <a:off x="2462664" y="5201605"/>
              <a:ext cx="668754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148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F4392C7D-2305-436F-9FE6-6AF365B09CE1}"/>
                </a:ext>
              </a:extLst>
            </p:cNvPr>
            <p:cNvSpPr txBox="1"/>
            <p:nvPr/>
          </p:nvSpPr>
          <p:spPr>
            <a:xfrm rot="20593998">
              <a:off x="1963152" y="3992031"/>
              <a:ext cx="484329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-1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26B11819-E7D4-46FE-8C87-831AE22EB036}"/>
                </a:ext>
              </a:extLst>
            </p:cNvPr>
            <p:cNvSpPr txBox="1"/>
            <p:nvPr/>
          </p:nvSpPr>
          <p:spPr>
            <a:xfrm rot="842636">
              <a:off x="3636498" y="4021476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87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AED87974-9C91-4D34-8CBC-F05D1853462B}"/>
                </a:ext>
              </a:extLst>
            </p:cNvPr>
            <p:cNvSpPr txBox="1"/>
            <p:nvPr/>
          </p:nvSpPr>
          <p:spPr>
            <a:xfrm rot="842636">
              <a:off x="3424915" y="3048949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¾ 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5E03A3A4-1331-4AE6-83BE-1505DA8009D2}"/>
                </a:ext>
              </a:extLst>
            </p:cNvPr>
            <p:cNvSpPr txBox="1"/>
            <p:nvPr/>
          </p:nvSpPr>
          <p:spPr>
            <a:xfrm rot="3021509">
              <a:off x="3847843" y="3403945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-½  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163B447D-F5F1-493C-A4CB-B93822B2318C}"/>
                </a:ext>
              </a:extLst>
            </p:cNvPr>
            <p:cNvSpPr txBox="1"/>
            <p:nvPr/>
          </p:nvSpPr>
          <p:spPr>
            <a:xfrm rot="20025519">
              <a:off x="2063187" y="3059671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½ 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01F4F88E-1D76-4046-8EC9-6E763B06643B}"/>
                </a:ext>
              </a:extLst>
            </p:cNvPr>
            <p:cNvSpPr txBox="1"/>
            <p:nvPr/>
          </p:nvSpPr>
          <p:spPr>
            <a:xfrm rot="19190015">
              <a:off x="1537901" y="3560260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E539E5D0-65E2-4359-87DB-53F322798C9D}"/>
                    </a:ext>
                  </a:extLst>
                </p:cNvPr>
                <p:cNvSpPr txBox="1"/>
                <p:nvPr/>
              </p:nvSpPr>
              <p:spPr>
                <a:xfrm rot="19190015">
                  <a:off x="1384558" y="2746447"/>
                  <a:ext cx="593640" cy="626663"/>
                </a:xfrm>
                <a:prstGeom prst="rect">
                  <a:avLst/>
                </a:prstGeom>
                <a:noFill/>
              </p:spPr>
              <p:txBody>
                <a:bodyPr wrap="square" lIns="108000" tIns="54000" rIns="108000" bIns="54000" rtlCol="0">
                  <a:noAutofit/>
                </a:bodyPr>
                <a:lstStyle/>
                <a:p>
                  <a:pPr>
                    <a:lnSpc>
                      <a:spcPct val="150000"/>
                    </a:lnSpc>
                    <a:spcBef>
                      <a:spcPts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de-DE" sz="20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radPr>
                          <m:deg/>
                          <m:e>
                            <m:r>
                              <a:rPr lang="de-DE" sz="2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5</m:t>
                            </m:r>
                          </m:e>
                        </m:rad>
                      </m:oMath>
                    </m:oMathPara>
                  </a14:m>
                  <a:endParaRPr lang="de-DE" sz="2000" dirty="0">
                    <a:solidFill>
                      <a:schemeClr val="bg1"/>
                    </a:solidFill>
                    <a:latin typeface="+mn-lt"/>
                    <a:ea typeface="Arial Unicode MS" panose="020B0604020202020204" pitchFamily="34" charset="-128"/>
                    <a:cs typeface="Arial Unicode MS" panose="020B0604020202020204" pitchFamily="34" charset="-128"/>
                  </a:endParaRPr>
                </a:p>
              </p:txBody>
            </p:sp>
          </mc:Choice>
          <mc:Fallback xmlns="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E539E5D0-65E2-4359-87DB-53F322798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90015">
                  <a:off x="1384558" y="2746447"/>
                  <a:ext cx="593640" cy="62666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A89B2D1D-383D-4A6F-BE41-0D92CB5DE434}"/>
                </a:ext>
              </a:extLst>
            </p:cNvPr>
            <p:cNvSpPr txBox="1"/>
            <p:nvPr/>
          </p:nvSpPr>
          <p:spPr>
            <a:xfrm rot="20149897">
              <a:off x="2129811" y="2252359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-8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A5C33D14-8943-402D-9670-05E0142ADA76}"/>
                </a:ext>
              </a:extLst>
            </p:cNvPr>
            <p:cNvSpPr txBox="1"/>
            <p:nvPr/>
          </p:nvSpPr>
          <p:spPr>
            <a:xfrm rot="2262129">
              <a:off x="3424914" y="2334070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½ 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5D1FD695-D835-4BCE-A11B-96B034ECB35C}"/>
                </a:ext>
              </a:extLst>
            </p:cNvPr>
            <p:cNvSpPr txBox="1"/>
            <p:nvPr/>
          </p:nvSpPr>
          <p:spPr>
            <a:xfrm rot="2262129">
              <a:off x="4017201" y="2661307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0731193A-47ED-4B24-A648-C7ED27475ECF}"/>
                </a:ext>
              </a:extLst>
            </p:cNvPr>
            <p:cNvSpPr txBox="1"/>
            <p:nvPr/>
          </p:nvSpPr>
          <p:spPr>
            <a:xfrm rot="3478949">
              <a:off x="4371206" y="3214078"/>
              <a:ext cx="593640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e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680E344C-940B-47CF-8B66-14260823E5B8}"/>
                </a:ext>
              </a:extLst>
            </p:cNvPr>
            <p:cNvSpPr txBox="1"/>
            <p:nvPr/>
          </p:nvSpPr>
          <p:spPr>
            <a:xfrm rot="2262129">
              <a:off x="3770059" y="1772523"/>
              <a:ext cx="774094" cy="626663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noAutofit/>
            </a:bodyPr>
            <a:lstStyle/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de-DE" sz="2000" dirty="0">
                  <a:solidFill>
                    <a:schemeClr val="bg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7j+7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C32E5ED9-BDFB-4407-B9A2-9DF4A91550F8}"/>
                    </a:ext>
                  </a:extLst>
                </p:cNvPr>
                <p:cNvSpPr txBox="1"/>
                <p:nvPr/>
              </p:nvSpPr>
              <p:spPr>
                <a:xfrm rot="20529891">
                  <a:off x="1723255" y="1660684"/>
                  <a:ext cx="774094" cy="626663"/>
                </a:xfrm>
                <a:prstGeom prst="rect">
                  <a:avLst/>
                </a:prstGeom>
                <a:noFill/>
              </p:spPr>
              <p:txBody>
                <a:bodyPr wrap="square" lIns="108000" tIns="54000" rIns="108000" bIns="54000" rtlCol="0">
                  <a:noAutofit/>
                </a:bodyPr>
                <a:lstStyle/>
                <a:p>
                  <a:pPr>
                    <a:lnSpc>
                      <a:spcPct val="150000"/>
                    </a:lnSpc>
                    <a:spcBef>
                      <a:spcPts val="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de-DE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radPr>
                          <m:deg/>
                          <m:e>
                            <m:r>
                              <a:rPr lang="de-DE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−4</m:t>
                            </m:r>
                          </m:e>
                        </m:rad>
                      </m:oMath>
                    </m:oMathPara>
                  </a14:m>
                  <a:endParaRPr lang="de-DE" sz="2000" dirty="0">
                    <a:solidFill>
                      <a:schemeClr val="bg1"/>
                    </a:solidFill>
                    <a:latin typeface="+mn-lt"/>
                    <a:ea typeface="Arial Unicode MS" panose="020B0604020202020204" pitchFamily="34" charset="-128"/>
                    <a:cs typeface="Arial Unicode MS" panose="020B0604020202020204" pitchFamily="34" charset="-128"/>
                  </a:endParaRPr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C32E5ED9-BDFB-4407-B9A2-9DF4A9155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29891">
                  <a:off x="1723255" y="1660684"/>
                  <a:ext cx="774094" cy="6266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0218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87" y="1414802"/>
            <a:ext cx="11149614" cy="47529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byte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 (8 Bit) 	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- 128 to 127</a:t>
            </a:r>
            <a:endParaRPr lang="en-US" sz="14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short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 (16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- 32 768 to 32 767</a:t>
            </a:r>
            <a:endParaRPr lang="en-US" sz="14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 (32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- 2 147 483 648 to 2 147 483 647</a:t>
            </a: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long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 (64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- 9 223 372 036 854 775 808 to 9 223 372 036 854 775 80 </a:t>
            </a: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float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number (32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-</a:t>
            </a:r>
            <a:r>
              <a:rPr lang="de-DE" sz="1400" dirty="0">
                <a:ea typeface="Arial Unicode MS" panose="020B0604020202020204" pitchFamily="34" charset="-128"/>
              </a:rPr>
              <a:t>3.4*10^38 </a:t>
            </a:r>
            <a:r>
              <a:rPr lang="de-DE" sz="1400" dirty="0" err="1">
                <a:ea typeface="Arial Unicode MS" panose="020B0604020202020204" pitchFamily="34" charset="-128"/>
              </a:rPr>
              <a:t>to</a:t>
            </a:r>
            <a:r>
              <a:rPr lang="de-DE" sz="1400" dirty="0">
                <a:ea typeface="Arial Unicode MS" panose="020B0604020202020204" pitchFamily="34" charset="-128"/>
              </a:rPr>
              <a:t> +3,4*10^38</a:t>
            </a:r>
            <a:endParaRPr lang="en-US" sz="1400" dirty="0">
              <a:ea typeface="Arial Unicode MS" panose="020B0604020202020204" pitchFamily="34" charset="-128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double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number (64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-1.7</a:t>
            </a:r>
            <a:r>
              <a:rPr lang="de-DE" sz="1400" dirty="0">
                <a:ea typeface="Arial Unicode MS" panose="020B0604020202020204" pitchFamily="34" charset="-128"/>
              </a:rPr>
              <a:t>*10^308 </a:t>
            </a:r>
            <a:r>
              <a:rPr lang="de-DE" sz="1400" dirty="0" err="1">
                <a:ea typeface="Arial Unicode MS" panose="020B0604020202020204" pitchFamily="34" charset="-128"/>
              </a:rPr>
              <a:t>to</a:t>
            </a:r>
            <a:r>
              <a:rPr lang="de-DE" sz="1400" dirty="0">
                <a:ea typeface="Arial Unicode MS" panose="020B0604020202020204" pitchFamily="34" charset="-128"/>
              </a:rPr>
              <a:t> +1.7*10^308 </a:t>
            </a:r>
          </a:p>
          <a:p>
            <a:pPr>
              <a:lnSpc>
                <a:spcPct val="150000"/>
              </a:lnSpc>
            </a:pPr>
            <a:r>
              <a:rPr lang="en-US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boolean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Only True/ False		</a:t>
            </a: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 True or False</a:t>
            </a:r>
            <a:endParaRPr lang="en-US" sz="1400" dirty="0">
              <a:ea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char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character string (16 bit)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	</a:t>
            </a: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 65 536 characters</a:t>
            </a:r>
            <a:endParaRPr lang="en-US" sz="1400" dirty="0">
              <a:ea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string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character string (no limit*)	</a:t>
            </a: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 no limit*</a:t>
            </a:r>
          </a:p>
          <a:p>
            <a:pPr>
              <a:lnSpc>
                <a:spcPct val="150000"/>
              </a:lnSpc>
            </a:pPr>
            <a:endParaRPr lang="en-US" sz="1400" dirty="0">
              <a:ea typeface="Arial Unicode MS" panose="020B0604020202020204" pitchFamily="34" charset="-128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sz="1400" dirty="0">
              <a:ea typeface="Arial Unicode MS" panose="020B0604020202020204" pitchFamily="34" charset="-128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* theoretical, limited by capacity of your computer</a:t>
            </a:r>
            <a:endParaRPr lang="en-US" sz="1400" dirty="0">
              <a:ea typeface="Arial Unicode MS" panose="020B0604020202020204" pitchFamily="34" charset="-128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Data Types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1072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87" y="1414802"/>
            <a:ext cx="11149614" cy="47529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16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RAM: 8 GB (Gigabyte)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8 GB = 8 000 </a:t>
            </a:r>
            <a:r>
              <a:rPr lang="en-US" sz="12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MegaByte</a:t>
            </a:r>
            <a:endParaRPr lang="en-US" sz="12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8 000 </a:t>
            </a:r>
            <a:r>
              <a:rPr lang="en-US" sz="12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MegaByte</a:t>
            </a:r>
            <a:r>
              <a:rPr lang="en-US" sz="12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= 8 000 000 Byte = 32 000 000 Bit</a:t>
            </a:r>
          </a:p>
          <a:p>
            <a:pPr>
              <a:lnSpc>
                <a:spcPct val="150000"/>
              </a:lnSpc>
            </a:pPr>
            <a:endParaRPr lang="en-US" sz="12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short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 (16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Two Million Variables in range of -32 768 to 32 767</a:t>
            </a:r>
            <a:endParaRPr lang="en-US" sz="14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 (32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One Million Variables in range of -2 147 483 648 to 2 147 483 647</a:t>
            </a: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long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integer number (64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Half a Million Variables in range of -9 223 372 036 854 775 808 </a:t>
            </a:r>
            <a:b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</a:b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				     to 9 223 372 036 854 775 80 </a:t>
            </a: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float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number (32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One Million Variables in range of -</a:t>
            </a:r>
            <a:r>
              <a:rPr lang="de-DE" sz="1400" dirty="0">
                <a:ea typeface="Arial Unicode MS" panose="020B0604020202020204" pitchFamily="34" charset="-128"/>
              </a:rPr>
              <a:t>3.4*10^38 </a:t>
            </a:r>
            <a:r>
              <a:rPr lang="de-DE" sz="1400" dirty="0" err="1">
                <a:ea typeface="Arial Unicode MS" panose="020B0604020202020204" pitchFamily="34" charset="-128"/>
              </a:rPr>
              <a:t>to</a:t>
            </a:r>
            <a:r>
              <a:rPr lang="de-DE" sz="1400" dirty="0">
                <a:ea typeface="Arial Unicode MS" panose="020B0604020202020204" pitchFamily="34" charset="-128"/>
              </a:rPr>
              <a:t> +3,4*10^38</a:t>
            </a:r>
            <a:endParaRPr lang="en-US" sz="1400" dirty="0">
              <a:ea typeface="Arial Unicode MS" panose="020B0604020202020204" pitchFamily="34" charset="-128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double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floating-point number (64 Bit) 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Half a Million Variables </a:t>
            </a: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-1.7</a:t>
            </a:r>
            <a:r>
              <a:rPr lang="de-DE" sz="1400" dirty="0">
                <a:ea typeface="Arial Unicode MS" panose="020B0604020202020204" pitchFamily="34" charset="-128"/>
              </a:rPr>
              <a:t>*10^308 </a:t>
            </a:r>
            <a:r>
              <a:rPr lang="de-DE" sz="1400" dirty="0" err="1">
                <a:ea typeface="Arial Unicode MS" panose="020B0604020202020204" pitchFamily="34" charset="-128"/>
              </a:rPr>
              <a:t>to</a:t>
            </a:r>
            <a:r>
              <a:rPr lang="de-DE" sz="1400" dirty="0">
                <a:ea typeface="Arial Unicode MS" panose="020B0604020202020204" pitchFamily="34" charset="-128"/>
              </a:rPr>
              <a:t> +1.7*10^308 </a:t>
            </a:r>
          </a:p>
          <a:p>
            <a:pPr>
              <a:lnSpc>
                <a:spcPct val="150000"/>
              </a:lnSpc>
            </a:pPr>
            <a:r>
              <a:rPr lang="en-US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boolean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Only True/ False		</a:t>
            </a: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 32 Million Variables with True or False</a:t>
            </a:r>
            <a:endParaRPr lang="en-US" sz="1400" dirty="0">
              <a:ea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char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character string (16 bit)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	</a:t>
            </a:r>
            <a:r>
              <a:rPr lang="en-US" sz="1400" dirty="0">
                <a:ea typeface="Arial Unicode MS" panose="020B0604020202020204" pitchFamily="34" charset="-128"/>
                <a:sym typeface="Wingdings" panose="05000000000000000000" pitchFamily="2" charset="2"/>
              </a:rPr>
              <a:t> Two Million Variables with 65 536 characters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Data Types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8124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EDC0146-08F7-4BBA-A059-C3D300382ADD}"/>
              </a:ext>
            </a:extLst>
          </p:cNvPr>
          <p:cNvSpPr txBox="1"/>
          <p:nvPr/>
        </p:nvSpPr>
        <p:spPr>
          <a:xfrm>
            <a:off x="626567" y="1191553"/>
            <a:ext cx="11089232" cy="482085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Types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the solution of the following calculations?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Please think about the solution.</a:t>
            </a: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23181"/>
              </p:ext>
            </p:extLst>
          </p:nvPr>
        </p:nvGraphicFramePr>
        <p:xfrm>
          <a:off x="764233" y="2821541"/>
          <a:ext cx="108012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358841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calculation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data type of the 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+ 7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’13’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*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7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7 * ‘s’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11535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01</a:t>
            </a:r>
            <a:endParaRPr lang="en-US" noProof="0" dirty="0"/>
          </a:p>
        </p:txBody>
      </p:sp>
      <p:pic>
        <p:nvPicPr>
          <p:cNvPr id="10" name="Grafik 9" descr="Armbanduhr">
            <a:extLst>
              <a:ext uri="{FF2B5EF4-FFF2-40B4-BE49-F238E27FC236}">
                <a16:creationId xmlns:a16="http://schemas.microsoft.com/office/drawing/2014/main" id="{FB3EE4C0-43E8-4A53-AAF5-41FA88A1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F043F3D-BCF7-4E1B-9600-999A2D767064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2429761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Pause">
            <a:extLst>
              <a:ext uri="{FF2B5EF4-FFF2-40B4-BE49-F238E27FC236}">
                <a16:creationId xmlns:a16="http://schemas.microsoft.com/office/drawing/2014/main" id="{E0EA97B4-34A0-494D-B14D-88DCCF9A2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9263" y="1734423"/>
            <a:ext cx="2993472" cy="2993472"/>
          </a:xfrm>
          <a:prstGeom prst="rect">
            <a:avLst/>
          </a:prstGeom>
        </p:spPr>
      </p:pic>
      <p:pic>
        <p:nvPicPr>
          <p:cNvPr id="8" name="Grafik 7" descr="Programmierer">
            <a:extLst>
              <a:ext uri="{FF2B5EF4-FFF2-40B4-BE49-F238E27FC236}">
                <a16:creationId xmlns:a16="http://schemas.microsoft.com/office/drawing/2014/main" id="{C3C6320A-8025-4D04-9340-F03712997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4126" y="1839286"/>
            <a:ext cx="2783747" cy="2783747"/>
          </a:xfrm>
          <a:prstGeom prst="rect">
            <a:avLst/>
          </a:prstGeom>
        </p:spPr>
      </p:pic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FF17C7A3-88E0-4515-90B1-D3D9CA9984B1}"/>
              </a:ext>
            </a:extLst>
          </p:cNvPr>
          <p:cNvSpPr/>
          <p:nvPr/>
        </p:nvSpPr>
        <p:spPr>
          <a:xfrm rot="5400000">
            <a:off x="4919441" y="2482443"/>
            <a:ext cx="2353115" cy="164843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pic>
        <p:nvPicPr>
          <p:cNvPr id="9" name="Grafik 8" descr="Programmierer">
            <a:extLst>
              <a:ext uri="{FF2B5EF4-FFF2-40B4-BE49-F238E27FC236}">
                <a16:creationId xmlns:a16="http://schemas.microsoft.com/office/drawing/2014/main" id="{51B3F4D3-B0C9-4B91-B584-72FCECD99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6526" y="1991686"/>
            <a:ext cx="2783747" cy="278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55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Filmklappe">
            <a:extLst>
              <a:ext uri="{FF2B5EF4-FFF2-40B4-BE49-F238E27FC236}">
                <a16:creationId xmlns:a16="http://schemas.microsoft.com/office/drawing/2014/main" id="{18BE41E4-202B-452A-BC4A-8F3D4EA12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815" y="490406"/>
            <a:ext cx="6112079" cy="611207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E0111C0-B42B-4EB0-B4CE-955B90AA73F7}"/>
              </a:ext>
            </a:extLst>
          </p:cNvPr>
          <p:cNvSpPr txBox="1"/>
          <p:nvPr/>
        </p:nvSpPr>
        <p:spPr>
          <a:xfrm>
            <a:off x="6610525" y="1409350"/>
            <a:ext cx="4941115" cy="457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sz="3200" dirty="0">
                <a:latin typeface="Bahnschrift" panose="020B0502040204020203" pitchFamily="34" charset="0"/>
              </a:rPr>
              <a:t>- Energy AI-Video einfügen</a:t>
            </a:r>
          </a:p>
          <a:p>
            <a:pPr algn="l"/>
            <a:endParaRPr lang="de-DE" sz="3200" dirty="0">
              <a:latin typeface="Bahnschrift" panose="020B0502040204020203" pitchFamily="34" charset="0"/>
            </a:endParaRPr>
          </a:p>
          <a:p>
            <a:pPr algn="l"/>
            <a:r>
              <a:rPr lang="de-DE" sz="3200" dirty="0">
                <a:latin typeface="Bahnschrift" panose="020B0502040204020203" pitchFamily="34" charset="0"/>
              </a:rPr>
              <a:t>- Übung vorführen</a:t>
            </a:r>
          </a:p>
        </p:txBody>
      </p:sp>
    </p:spTree>
    <p:extLst>
      <p:ext uri="{BB962C8B-B14F-4D97-AF65-F5344CB8AC3E}">
        <p14:creationId xmlns:p14="http://schemas.microsoft.com/office/powerpoint/2010/main" val="2335670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EDC0146-08F7-4BBA-A059-C3D300382ADD}"/>
              </a:ext>
            </a:extLst>
          </p:cNvPr>
          <p:cNvSpPr txBox="1"/>
          <p:nvPr/>
        </p:nvSpPr>
        <p:spPr>
          <a:xfrm>
            <a:off x="626567" y="1191553"/>
            <a:ext cx="11089232" cy="482085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Types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the solution of the following calculations?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Please think about the solution.</a:t>
            </a: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947720"/>
              </p:ext>
            </p:extLst>
          </p:nvPr>
        </p:nvGraphicFramePr>
        <p:xfrm>
          <a:off x="764233" y="2821541"/>
          <a:ext cx="108012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358841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calculation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data type of the 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+ 7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’13’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*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7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7 * ‘s’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11535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01</a:t>
            </a:r>
            <a:endParaRPr lang="en-US" noProof="0" dirty="0"/>
          </a:p>
        </p:txBody>
      </p:sp>
      <p:pic>
        <p:nvPicPr>
          <p:cNvPr id="10" name="Grafik 9" descr="Armbanduhr">
            <a:extLst>
              <a:ext uri="{FF2B5EF4-FFF2-40B4-BE49-F238E27FC236}">
                <a16:creationId xmlns:a16="http://schemas.microsoft.com/office/drawing/2014/main" id="{FB3EE4C0-43E8-4A53-AAF5-41FA88A1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F043F3D-BCF7-4E1B-9600-999A2D767064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247240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EDC0146-08F7-4BBA-A059-C3D300382ADD}"/>
              </a:ext>
            </a:extLst>
          </p:cNvPr>
          <p:cNvSpPr txBox="1"/>
          <p:nvPr/>
        </p:nvSpPr>
        <p:spPr>
          <a:xfrm>
            <a:off x="626567" y="1191553"/>
            <a:ext cx="11089232" cy="482085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Types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the solution of the following calculations?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Please think about the solution.</a:t>
            </a: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922905"/>
              </p:ext>
            </p:extLst>
          </p:nvPr>
        </p:nvGraphicFramePr>
        <p:xfrm>
          <a:off x="764233" y="2821541"/>
          <a:ext cx="108012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358841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calculation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data type of the 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+ 7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’13’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*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7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7 * ‘s’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11535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01</a:t>
            </a:r>
            <a:endParaRPr lang="en-US" noProof="0" dirty="0"/>
          </a:p>
        </p:txBody>
      </p:sp>
      <p:pic>
        <p:nvPicPr>
          <p:cNvPr id="10" name="Grafik 9" descr="Armbanduhr">
            <a:extLst>
              <a:ext uri="{FF2B5EF4-FFF2-40B4-BE49-F238E27FC236}">
                <a16:creationId xmlns:a16="http://schemas.microsoft.com/office/drawing/2014/main" id="{FB3EE4C0-43E8-4A53-AAF5-41FA88A1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F043F3D-BCF7-4E1B-9600-999A2D767064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301415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EDC0146-08F7-4BBA-A059-C3D300382ADD}"/>
              </a:ext>
            </a:extLst>
          </p:cNvPr>
          <p:cNvSpPr txBox="1"/>
          <p:nvPr/>
        </p:nvSpPr>
        <p:spPr>
          <a:xfrm>
            <a:off x="626567" y="1191553"/>
            <a:ext cx="11089232" cy="482085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Types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the solution of the following calculations?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Please think about the solution.</a:t>
            </a: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790322"/>
              </p:ext>
            </p:extLst>
          </p:nvPr>
        </p:nvGraphicFramePr>
        <p:xfrm>
          <a:off x="764233" y="2821541"/>
          <a:ext cx="108012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358841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calculation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data type of the 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+ 7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’13’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TypeError</a:t>
                      </a:r>
                      <a:r>
                        <a:rPr lang="en-US" noProof="0" dirty="0"/>
                        <a:t>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unsupported operand type(s) for +: 'int' and 'str'</a:t>
                      </a:r>
                      <a:endParaRPr lang="de-D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*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7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7 * ‘s’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11535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01</a:t>
            </a:r>
            <a:endParaRPr lang="en-US" noProof="0" dirty="0"/>
          </a:p>
        </p:txBody>
      </p:sp>
      <p:pic>
        <p:nvPicPr>
          <p:cNvPr id="10" name="Grafik 9" descr="Armbanduhr">
            <a:extLst>
              <a:ext uri="{FF2B5EF4-FFF2-40B4-BE49-F238E27FC236}">
                <a16:creationId xmlns:a16="http://schemas.microsoft.com/office/drawing/2014/main" id="{FB3EE4C0-43E8-4A53-AAF5-41FA88A1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F043F3D-BCF7-4E1B-9600-999A2D767064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2815532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EDC0146-08F7-4BBA-A059-C3D300382ADD}"/>
              </a:ext>
            </a:extLst>
          </p:cNvPr>
          <p:cNvSpPr txBox="1"/>
          <p:nvPr/>
        </p:nvSpPr>
        <p:spPr>
          <a:xfrm>
            <a:off x="626567" y="1191553"/>
            <a:ext cx="11089232" cy="482085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Types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the solution of the following calculations?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Please think about the solution.</a:t>
            </a: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59713"/>
              </p:ext>
            </p:extLst>
          </p:nvPr>
        </p:nvGraphicFramePr>
        <p:xfrm>
          <a:off x="764233" y="2821541"/>
          <a:ext cx="108012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358841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calculation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data type of the 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+ 7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’13’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TypeError</a:t>
                      </a:r>
                      <a:r>
                        <a:rPr lang="en-US" noProof="0" dirty="0"/>
                        <a:t>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unsupported operand type(s) for +: 'int' and 'str'</a:t>
                      </a:r>
                      <a:endParaRPr lang="de-D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*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7777777777777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7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7 * ‘s’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11535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01</a:t>
            </a:r>
            <a:endParaRPr lang="en-US" noProof="0" dirty="0"/>
          </a:p>
        </p:txBody>
      </p:sp>
      <p:pic>
        <p:nvPicPr>
          <p:cNvPr id="10" name="Grafik 9" descr="Armbanduhr">
            <a:extLst>
              <a:ext uri="{FF2B5EF4-FFF2-40B4-BE49-F238E27FC236}">
                <a16:creationId xmlns:a16="http://schemas.microsoft.com/office/drawing/2014/main" id="{FB3EE4C0-43E8-4A53-AAF5-41FA88A1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F043F3D-BCF7-4E1B-9600-999A2D767064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3827625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EDC0146-08F7-4BBA-A059-C3D300382ADD}"/>
              </a:ext>
            </a:extLst>
          </p:cNvPr>
          <p:cNvSpPr txBox="1"/>
          <p:nvPr/>
        </p:nvSpPr>
        <p:spPr>
          <a:xfrm>
            <a:off x="626567" y="1191553"/>
            <a:ext cx="11089232" cy="482085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Types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What is the solution of the following calculations?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Please think about the solution.</a:t>
            </a: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/>
        </p:nvGraphicFramePr>
        <p:xfrm>
          <a:off x="764233" y="2821541"/>
          <a:ext cx="108012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358841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calculation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data type of the 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+ 7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’13’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+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TypeError</a:t>
                      </a:r>
                      <a:r>
                        <a:rPr lang="en-US" noProof="0" dirty="0"/>
                        <a:t>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unsupported operand type(s) for +: 'int' and 'str'</a:t>
                      </a:r>
                      <a:endParaRPr lang="de-D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13 * ‘7’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7777777777777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7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7 * ‘s’ =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 err="1"/>
                        <a:t>sssssss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11535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01</a:t>
            </a:r>
            <a:endParaRPr lang="en-US" noProof="0" dirty="0"/>
          </a:p>
        </p:txBody>
      </p:sp>
      <p:pic>
        <p:nvPicPr>
          <p:cNvPr id="10" name="Grafik 9" descr="Armbanduhr">
            <a:extLst>
              <a:ext uri="{FF2B5EF4-FFF2-40B4-BE49-F238E27FC236}">
                <a16:creationId xmlns:a16="http://schemas.microsoft.com/office/drawing/2014/main" id="{FB3EE4C0-43E8-4A53-AAF5-41FA88A1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F043F3D-BCF7-4E1B-9600-999A2D767064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3384994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4" name="Subhead"/>
          <p:cNvSpPr>
            <a:spLocks noGrp="1"/>
          </p:cNvSpPr>
          <p:nvPr>
            <p:ph type="subTitle" idx="4294967295"/>
          </p:nvPr>
        </p:nvSpPr>
        <p:spPr>
          <a:xfrm>
            <a:off x="627064" y="4528800"/>
            <a:ext cx="8208000" cy="899252"/>
          </a:xfrm>
        </p:spPr>
        <p:txBody>
          <a:bodyPr/>
          <a:lstStyle/>
          <a:p>
            <a:r>
              <a:rPr lang="en-US" sz="2000" noProof="0" dirty="0">
                <a:solidFill>
                  <a:schemeClr val="bg1"/>
                </a:solidFill>
              </a:rPr>
              <a:t>Variables, Functions, Rules</a:t>
            </a:r>
          </a:p>
        </p:txBody>
      </p:sp>
    </p:spTree>
    <p:extLst>
      <p:ext uri="{BB962C8B-B14F-4D97-AF65-F5344CB8AC3E}">
        <p14:creationId xmlns:p14="http://schemas.microsoft.com/office/powerpoint/2010/main" val="190334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Allocation &amp; Calculation Operators</a:t>
            </a:r>
            <a:endParaRPr lang="en-US" noProof="0" dirty="0"/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C0302C9B-030D-477A-AD4C-6B3F3636E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292604"/>
              </p:ext>
            </p:extLst>
          </p:nvPr>
        </p:nvGraphicFramePr>
        <p:xfrm>
          <a:off x="635444" y="1308269"/>
          <a:ext cx="11089232" cy="48962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72308">
                  <a:extLst>
                    <a:ext uri="{9D8B030D-6E8A-4147-A177-3AD203B41FA5}">
                      <a16:colId xmlns:a16="http://schemas.microsoft.com/office/drawing/2014/main" val="3637809266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3529817587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1624629671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626456773"/>
                    </a:ext>
                  </a:extLst>
                </a:gridCol>
              </a:tblGrid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Syntax</a:t>
                      </a:r>
                      <a:endParaRPr lang="en-US" sz="13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Short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Long </a:t>
                      </a:r>
                      <a:r>
                        <a:rPr lang="en-US" sz="1600" noProof="0" dirty="0"/>
                        <a:t>Operator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975481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Allocation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/>
                        <a:t>=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600" noProof="0" dirty="0"/>
                        <a:t>x = 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611057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Addition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+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86099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Subtraction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-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09709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Multiplication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*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56537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Division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/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34382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Addition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+=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x += y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x = x + y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618026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Subtraction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-=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x -= y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x = x – y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154290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Multiplication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*=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x *= y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x = x * y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66317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Division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/=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x /= y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x = x / y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04200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Modulo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%=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x %= y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x = x % y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38602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Increase by one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/>
                        <a:t>++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x++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x = x + 1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209361"/>
                  </a:ext>
                </a:extLst>
              </a:tr>
              <a:tr h="324282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Decrease by one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/>
                        <a:t>--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x--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x = x – 1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91292"/>
                  </a:ext>
                </a:extLst>
              </a:tr>
              <a:tr h="206361">
                <a:tc gridSpan="4"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731435"/>
                  </a:ext>
                </a:extLst>
              </a:tr>
              <a:tr h="32428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Calculation Operators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/>
                        <a:t>Allocation Operators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00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660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Comparison &amp; Logical Operators</a:t>
            </a:r>
            <a:endParaRPr lang="en-US" noProof="0" dirty="0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313EC3A1-5E4F-4BB8-8C3A-77DE8931C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84226"/>
              </p:ext>
            </p:extLst>
          </p:nvPr>
        </p:nvGraphicFramePr>
        <p:xfrm>
          <a:off x="635444" y="1323876"/>
          <a:ext cx="11089232" cy="4971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72308">
                  <a:extLst>
                    <a:ext uri="{9D8B030D-6E8A-4147-A177-3AD203B41FA5}">
                      <a16:colId xmlns:a16="http://schemas.microsoft.com/office/drawing/2014/main" val="3637809266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3529817587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62462967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9754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Equal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==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5 == 5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6110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Is not equal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!=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 != “4”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860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Strict equal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===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 === 5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97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Is not strict equal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!==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 !== 4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3565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Greater than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&gt;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 &gt; 4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343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Less than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&lt;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4 &lt; 5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61802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Greater than or equal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&gt;=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 &gt;= 5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1542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Less than or equal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&lt;=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5 &lt;= 5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663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AND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&amp;&amp; (in Python AND)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(5 == 5) &amp;&amp; (4 != 5)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(5 === “5”) &amp;&amp; (5 == 5)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false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042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OR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|| (in Python OR)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(5 == 5) || (4 != 5)	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/>
                        <a:t>(5 === “5”) || (5 == 5)	</a:t>
                      </a:r>
                      <a:r>
                        <a:rPr lang="en-US" sz="1600" noProof="0" dirty="0">
                          <a:sym typeface="Wingdings" panose="05000000000000000000" pitchFamily="2" charset="2"/>
                        </a:rPr>
                        <a:t>	true</a:t>
                      </a:r>
                      <a:endParaRPr lang="en-US" sz="1600" noProof="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38602"/>
                  </a:ext>
                </a:extLst>
              </a:tr>
              <a:tr h="144456">
                <a:tc gridSpan="3"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299325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noProof="0" dirty="0"/>
                        <a:t>Comparison Operators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/>
                        <a:t>Logical Operators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41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3058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 1">
            <a:extLst>
              <a:ext uri="{FF2B5EF4-FFF2-40B4-BE49-F238E27FC236}">
                <a16:creationId xmlns:a16="http://schemas.microsoft.com/office/drawing/2014/main" id="{3ACCC108-0779-46CF-B7B8-1028A1647EB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Variables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is an abstract container for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the data is replaceable/ changeable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every variable reserves storage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258756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Variables</a:t>
            </a:r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A1F62A9-A6C5-4784-AA61-CC9A90E3C178}"/>
              </a:ext>
            </a:extLst>
          </p:cNvPr>
          <p:cNvSpPr/>
          <p:nvPr/>
        </p:nvSpPr>
        <p:spPr>
          <a:xfrm>
            <a:off x="6258757" y="1702800"/>
            <a:ext cx="5933243" cy="1600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Constants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constants are unchangeable variables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 change of a constant will occur an error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>
                  <a:lumMod val="50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4666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 1">
            <a:extLst>
              <a:ext uri="{FF2B5EF4-FFF2-40B4-BE49-F238E27FC236}">
                <a16:creationId xmlns:a16="http://schemas.microsoft.com/office/drawing/2014/main" id="{3ACCC108-0779-46CF-B7B8-1028A1647E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7063" y="1516362"/>
            <a:ext cx="4838400" cy="446405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Declaration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allocation of a name to a variable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ea typeface="Arial Unicode MS" panose="020B0604020202020204" pitchFamily="34" charset="-128"/>
              </a:rPr>
              <a:t>Definition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allocation of a memory area to a variable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Initialization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a typeface="Arial Unicode MS" panose="020B0604020202020204" pitchFamily="34" charset="-128"/>
              </a:rPr>
              <a:t>allocation of a value to a variable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ea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ea typeface="Arial Unicode MS" panose="020B0604020202020204" pitchFamily="34" charset="-128"/>
              </a:rPr>
              <a:t>(Referencing)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a typeface="Arial Unicode MS" panose="020B0604020202020204" pitchFamily="34" charset="-128"/>
              </a:rPr>
              <a:t>is not the same as an initialization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5999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Declaration, Definition, Initialization</a:t>
            </a:r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A1F62A9-A6C5-4784-AA61-CC9A90E3C178}"/>
              </a:ext>
            </a:extLst>
          </p:cNvPr>
          <p:cNvSpPr/>
          <p:nvPr/>
        </p:nvSpPr>
        <p:spPr>
          <a:xfrm>
            <a:off x="6258757" y="1516362"/>
            <a:ext cx="5933243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Declaration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</a:t>
            </a:r>
            <a:r>
              <a:rPr lang="en-US" sz="1400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Definition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</a:t>
            </a:r>
            <a:r>
              <a:rPr lang="en-US" sz="1400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=int;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</a:t>
            </a:r>
            <a:r>
              <a:rPr lang="en-US" sz="1400" dirty="0" err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=0;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(Referencing)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a = 4;</a:t>
            </a: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b = 5;</a:t>
            </a:r>
            <a:b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c = int;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 = b + a;</a:t>
            </a:r>
            <a:endParaRPr lang="en-US" sz="1100" dirty="0">
              <a:solidFill>
                <a:schemeClr val="accent3">
                  <a:lumMod val="50000"/>
                </a:schemeClr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8511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87" y="1414802"/>
            <a:ext cx="11149614" cy="475297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Declaration of variables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Naming convention depends on the used programming language, but in general the following recommendations are valid: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 name of a variables 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must be unique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variables 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must be declared 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before first usage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variables 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must not contain spaces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the first character should be an letter (it must not be a numbers or a special character)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its recommended to use 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Camel-Case Notation 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instead of underlines ‘_’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lowerCamelCase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:	</a:t>
            </a:r>
            <a:r>
              <a:rPr lang="en-US" sz="1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thisIsAnExample</a:t>
            </a: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</a:pPr>
            <a:r>
              <a:rPr lang="en-US" sz="1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UpperCamelCase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:	</a:t>
            </a:r>
            <a:r>
              <a:rPr lang="en-US" sz="1400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ThisIsAnExample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(also known as </a:t>
            </a:r>
            <a:r>
              <a:rPr lang="en-US" sz="14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Pascal Case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Recommendations for Scripting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4862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87" y="1414802"/>
            <a:ext cx="11149614" cy="475297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Declaration of variables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Naming convention depends on the used programming language, but in general the following recommendations are valid: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Constants should be written in Capital Letters e.g.: 	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				</a:t>
            </a:r>
            <a:r>
              <a:rPr lang="en-US" sz="16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EULERS_NUMBER = </a:t>
            </a:r>
            <a:r>
              <a:rPr lang="de-DE" sz="16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2,71828182845904523536 </a:t>
            </a:r>
            <a:endParaRPr lang="en-US" sz="1600" dirty="0"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do 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not use reserved words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for variables (e.g.: int, double, import, var … - depends on language)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use descriptive identifiers e.g.:	</a:t>
            </a:r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Price = </a:t>
            </a:r>
            <a:r>
              <a:rPr lang="en-US" sz="1400" dirty="0" err="1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ValueAddedTax</a:t>
            </a:r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*  </a:t>
            </a:r>
            <a:r>
              <a:rPr lang="en-US" sz="1400" dirty="0" err="1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PurchasePrice</a:t>
            </a:r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* Margin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			</a:t>
            </a: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instead of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				</a:t>
            </a:r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Factor1 = F2 * F3 * F4</a:t>
            </a:r>
            <a:endParaRPr lang="en-US" sz="1400" dirty="0">
              <a:ea typeface="Arial Unicode MS" panose="020B0604020202020204" pitchFamily="34" charset="-128"/>
              <a:cs typeface="Courier New" panose="02070309020205020404" pitchFamily="49" charset="0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Recommendations for Scripting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27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87" y="1414802"/>
            <a:ext cx="11149614" cy="1727893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Additional recommendation for writing a good script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use spaces after an operation (=, +, -, …)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use indentations for better readability and understanding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Make comments: your script will be so much easier to understand for external people (and for you in future!)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Recommendations for Scripting</a:t>
            </a:r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784A74D-DFF2-4350-9AD0-915BA010705A}"/>
              </a:ext>
            </a:extLst>
          </p:cNvPr>
          <p:cNvSpPr txBox="1"/>
          <p:nvPr/>
        </p:nvSpPr>
        <p:spPr>
          <a:xfrm>
            <a:off x="657687" y="3776347"/>
            <a:ext cx="3888432" cy="1796522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&lt;script&gt;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o=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document.getElementById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(‘o’)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for(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=0;i&lt;=6;i++){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o.innerHTML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+=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;};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&lt;/script&gt;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380B32E-92F9-4D8E-B0C1-568F4FDB2DC2}"/>
              </a:ext>
            </a:extLst>
          </p:cNvPr>
          <p:cNvSpPr txBox="1"/>
          <p:nvPr/>
        </p:nvSpPr>
        <p:spPr>
          <a:xfrm>
            <a:off x="5973984" y="3777935"/>
            <a:ext cx="5833317" cy="1796522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&lt;script&gt;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output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document.getElementById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(‘output’)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//count from 0 to 6 and write the number into an output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for(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&lt;= 6;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++)	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		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output.innerHTML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+=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		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&lt;/script&gt;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61162C45-CEBC-4950-9505-E4733019078E}"/>
              </a:ext>
            </a:extLst>
          </p:cNvPr>
          <p:cNvSpPr/>
          <p:nvPr/>
        </p:nvSpPr>
        <p:spPr bwMode="auto">
          <a:xfrm>
            <a:off x="4422819" y="4280044"/>
            <a:ext cx="1296144" cy="576064"/>
          </a:xfrm>
          <a:prstGeom prst="rightArrow">
            <a:avLst/>
          </a:prstGeom>
          <a:solidFill>
            <a:srgbClr val="92D050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400" dirty="0">
                <a:solidFill>
                  <a:schemeClr val="bg1"/>
                </a:solidFill>
                <a:latin typeface="Abadi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do it better</a:t>
            </a:r>
          </a:p>
        </p:txBody>
      </p:sp>
    </p:spTree>
    <p:extLst>
      <p:ext uri="{BB962C8B-B14F-4D97-AF65-F5344CB8AC3E}">
        <p14:creationId xmlns:p14="http://schemas.microsoft.com/office/powerpoint/2010/main" val="501826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EDC0146-08F7-4BBA-A059-C3D300382ADD}"/>
              </a:ext>
            </a:extLst>
          </p:cNvPr>
          <p:cNvSpPr txBox="1"/>
          <p:nvPr/>
        </p:nvSpPr>
        <p:spPr>
          <a:xfrm>
            <a:off x="626567" y="1191553"/>
            <a:ext cx="11089232" cy="482085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Variables &amp; Operators</a:t>
            </a: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Check if the following comparisons are </a:t>
            </a:r>
            <a:r>
              <a:rPr lang="en-US" sz="1600" b="1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true 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or </a:t>
            </a:r>
            <a:r>
              <a:rPr lang="en-US" sz="1600" b="1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false</a:t>
            </a: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894724"/>
              </p:ext>
            </p:extLst>
          </p:nvPr>
        </p:nvGraphicFramePr>
        <p:xfrm>
          <a:off x="764233" y="2821541"/>
          <a:ext cx="72008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calculation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solution</a:t>
                      </a:r>
                    </a:p>
                  </a:txBody>
                  <a:tcPr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 3 == “3” </a:t>
                      </a:r>
                      <a:r>
                        <a:rPr lang="en-US" noProof="0" dirty="0">
                          <a:sym typeface="Wingdings" panose="05000000000000000000" pitchFamily="2" charset="2"/>
                        </a:rPr>
                        <a:t></a:t>
                      </a:r>
                      <a:endParaRPr lang="en-US" noProof="0" dirty="0"/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 == int(“3”) </a:t>
                      </a:r>
                      <a:r>
                        <a:rPr lang="en-US" noProof="0" dirty="0">
                          <a:sym typeface="Wingdings" panose="05000000000000000000" pitchFamily="2" charset="2"/>
                        </a:rPr>
                        <a:t></a:t>
                      </a:r>
                      <a:endParaRPr lang="en-US" noProof="0" dirty="0"/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(3 == 4) AND (3 == 3) </a:t>
                      </a:r>
                      <a:r>
                        <a:rPr lang="en-US" noProof="0" dirty="0">
                          <a:sym typeface="Wingdings" panose="05000000000000000000" pitchFamily="2" charset="2"/>
                        </a:rPr>
                        <a:t></a:t>
                      </a:r>
                      <a:endParaRPr lang="en-US" noProof="0" dirty="0"/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5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(3 == 4) OR (3 == 3) </a:t>
                      </a:r>
                      <a:r>
                        <a:rPr lang="en-US" noProof="0" dirty="0">
                          <a:sym typeface="Wingdings" panose="05000000000000000000" pitchFamily="2" charset="2"/>
                        </a:rPr>
                        <a:t></a:t>
                      </a:r>
                      <a:endParaRPr lang="en-US" noProof="0" dirty="0"/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79919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02</a:t>
            </a:r>
            <a:endParaRPr lang="en-US" noProof="0" dirty="0"/>
          </a:p>
        </p:txBody>
      </p:sp>
      <p:pic>
        <p:nvPicPr>
          <p:cNvPr id="8" name="Grafik 7" descr="Armbanduhr">
            <a:extLst>
              <a:ext uri="{FF2B5EF4-FFF2-40B4-BE49-F238E27FC236}">
                <a16:creationId xmlns:a16="http://schemas.microsoft.com/office/drawing/2014/main" id="{6FD1E458-E11C-4DD0-B7E9-DAD4A2EF2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C4FB80E-97FD-49C6-BB38-6BEFAF71C4FF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3385366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4" name="Subhead"/>
          <p:cNvSpPr>
            <a:spLocks noGrp="1"/>
          </p:cNvSpPr>
          <p:nvPr>
            <p:ph type="subTitle" idx="4294967295"/>
          </p:nvPr>
        </p:nvSpPr>
        <p:spPr>
          <a:xfrm>
            <a:off x="627064" y="4528800"/>
            <a:ext cx="8208000" cy="899252"/>
          </a:xfrm>
        </p:spPr>
        <p:txBody>
          <a:bodyPr/>
          <a:lstStyle/>
          <a:p>
            <a:r>
              <a:rPr lang="en-US" sz="2000" noProof="0" dirty="0">
                <a:solidFill>
                  <a:schemeClr val="bg1"/>
                </a:solidFill>
              </a:rPr>
              <a:t>Why should/ must we structure our data?</a:t>
            </a:r>
          </a:p>
        </p:txBody>
      </p:sp>
    </p:spTree>
    <p:extLst>
      <p:ext uri="{BB962C8B-B14F-4D97-AF65-F5344CB8AC3E}">
        <p14:creationId xmlns:p14="http://schemas.microsoft.com/office/powerpoint/2010/main" val="50787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Data Structures - Python</a:t>
            </a:r>
            <a:endParaRPr lang="en-US" noProof="0" dirty="0"/>
          </a:p>
        </p:txBody>
      </p:sp>
      <p:graphicFrame>
        <p:nvGraphicFramePr>
          <p:cNvPr id="9" name="Inhaltsplatzhalter 3">
            <a:extLst>
              <a:ext uri="{FF2B5EF4-FFF2-40B4-BE49-F238E27FC236}">
                <a16:creationId xmlns:a16="http://schemas.microsoft.com/office/drawing/2014/main" id="{624087AA-6260-482C-BC7A-AC5D07DDEA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5623425"/>
              </p:ext>
            </p:extLst>
          </p:nvPr>
        </p:nvGraphicFramePr>
        <p:xfrm>
          <a:off x="627062" y="1412875"/>
          <a:ext cx="11088688" cy="47827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3711">
                  <a:extLst>
                    <a:ext uri="{9D8B030D-6E8A-4147-A177-3AD203B41FA5}">
                      <a16:colId xmlns:a16="http://schemas.microsoft.com/office/drawing/2014/main" val="1400400748"/>
                    </a:ext>
                  </a:extLst>
                </a:gridCol>
                <a:gridCol w="3778403">
                  <a:extLst>
                    <a:ext uri="{9D8B030D-6E8A-4147-A177-3AD203B41FA5}">
                      <a16:colId xmlns:a16="http://schemas.microsoft.com/office/drawing/2014/main" val="3923831581"/>
                    </a:ext>
                  </a:extLst>
                </a:gridCol>
                <a:gridCol w="4296118">
                  <a:extLst>
                    <a:ext uri="{9D8B030D-6E8A-4147-A177-3AD203B41FA5}">
                      <a16:colId xmlns:a16="http://schemas.microsoft.com/office/drawing/2014/main" val="3032186572"/>
                    </a:ext>
                  </a:extLst>
                </a:gridCol>
                <a:gridCol w="1320456">
                  <a:extLst>
                    <a:ext uri="{9D8B030D-6E8A-4147-A177-3AD203B41FA5}">
                      <a16:colId xmlns:a16="http://schemas.microsoft.com/office/drawing/2014/main" val="3712941076"/>
                    </a:ext>
                  </a:extLst>
                </a:gridCol>
              </a:tblGrid>
              <a:tr h="311113">
                <a:tc>
                  <a:txBody>
                    <a:bodyPr/>
                    <a:lstStyle/>
                    <a:p>
                      <a:endParaRPr lang="en-US" sz="1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Usefull for…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385590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Lists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Store collection of heterogeneous items – immutable and mutable objects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Simple listing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Special programming techniques (Stacks, Queue, Graphs, Trees)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[item, item, item]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100036"/>
                  </a:ext>
                </a:extLst>
              </a:tr>
              <a:tr h="746670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Dictionaries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Collection of key-value pairs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Key: immutable objects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Value: heterogeneous items – immutable and mutable objects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Creating loops to do the same operation on many dataset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{key1:item1, key2:item2}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230860"/>
                  </a:ext>
                </a:extLst>
              </a:tr>
              <a:tr h="311113">
                <a:tc>
                  <a:txBody>
                    <a:bodyPr/>
                    <a:lstStyle/>
                    <a:p>
                      <a:r>
                        <a:rPr lang="en-US" sz="1400" b="1" noProof="0"/>
                        <a:t>Files 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Store and retrieve previously stored information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.csv, .hdf5, .xlsx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76737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sz="1400" b="1" noProof="0"/>
                        <a:t>Tuples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Tuples are data structures in which the content can not be changed after creation (no deletion, add or edit)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Prevents data manipulation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(item, item, item)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44386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Sets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Collection of unique objects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Creating lists that only hold unique values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Helpful when going through huge dataset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{item, item, item}</a:t>
                      </a:r>
                    </a:p>
                  </a:txBody>
                  <a:tcPr>
                    <a:solidFill>
                      <a:srgbClr val="D28F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193752"/>
                  </a:ext>
                </a:extLst>
              </a:tr>
              <a:tr h="746670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Numpy ND-Arrays</a:t>
                      </a:r>
                    </a:p>
                  </a:txBody>
                  <a:tcPr>
                    <a:solidFill>
                      <a:srgbClr val="E9C7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Store collection of data of the same type</a:t>
                      </a:r>
                    </a:p>
                  </a:txBody>
                  <a:tcPr>
                    <a:solidFill>
                      <a:srgbClr val="E9C7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Dealing with large collection of homogeneous data types: easier to use, faster and uses lesser memory than lists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Support vectorized operations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Work efficiently with large datasets with lots of empty cells</a:t>
                      </a:r>
                    </a:p>
                  </a:txBody>
                  <a:tcPr>
                    <a:solidFill>
                      <a:srgbClr val="E9C7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[[1. 1. 2.]</a:t>
                      </a:r>
                    </a:p>
                    <a:p>
                      <a:r>
                        <a:rPr lang="en-US" sz="1100" noProof="0" dirty="0"/>
                        <a:t> [3. 5. 8.]</a:t>
                      </a:r>
                    </a:p>
                    <a:p>
                      <a:r>
                        <a:rPr lang="en-US" sz="1100" noProof="0" dirty="0"/>
                        <a:t> [5. 3. 2.]]</a:t>
                      </a:r>
                    </a:p>
                  </a:txBody>
                  <a:tcPr>
                    <a:solidFill>
                      <a:srgbClr val="E9C7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55906"/>
                  </a:ext>
                </a:extLst>
              </a:tr>
              <a:tr h="583336">
                <a:tc>
                  <a:txBody>
                    <a:bodyPr/>
                    <a:lstStyle/>
                    <a:p>
                      <a:r>
                        <a:rPr lang="en-US" sz="1400" b="1" noProof="0" dirty="0" err="1"/>
                        <a:t>Dataframes</a:t>
                      </a:r>
                      <a:endParaRPr lang="en-US" sz="1400" b="1" noProof="0" dirty="0"/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2-dimensional labeled data structure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Columns don’t have to have the same data type</a:t>
                      </a:r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Data mining / manipulation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Labeling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 err="1"/>
                        <a:t>Multiindexing</a:t>
                      </a:r>
                      <a:endParaRPr lang="en-US" sz="1100" noProof="0" dirty="0"/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Like this table</a:t>
                      </a:r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00347"/>
                  </a:ext>
                </a:extLst>
              </a:tr>
              <a:tr h="583336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Series</a:t>
                      </a:r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One-dimensional labeled array capable of holding any data types</a:t>
                      </a:r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noProof="0" dirty="0"/>
                        <a:t>Axis labels</a:t>
                      </a:r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a 1</a:t>
                      </a:r>
                    </a:p>
                    <a:p>
                      <a:r>
                        <a:rPr lang="en-US" sz="1100" noProof="0" dirty="0"/>
                        <a:t>b 2</a:t>
                      </a:r>
                    </a:p>
                    <a:p>
                      <a:r>
                        <a:rPr lang="en-US" sz="1100" noProof="0" dirty="0"/>
                        <a:t>c 3</a:t>
                      </a:r>
                    </a:p>
                  </a:txBody>
                  <a:tcPr>
                    <a:solidFill>
                      <a:srgbClr val="B88FE1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32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832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Data Structures - General</a:t>
            </a:r>
            <a:endParaRPr lang="en-US" noProof="0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46374376-0D9E-44F1-969B-437A385A0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87" y="1414802"/>
            <a:ext cx="11149614" cy="2491373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Arrays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Static 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fixed size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fast &amp; direct access to data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good, if the size of the Data-Storage is known &amp; fast access is needed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not good, if the size is not known and you need a flexible structure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dimension of an array is not limited</a:t>
            </a:r>
          </a:p>
        </p:txBody>
      </p:sp>
      <p:graphicFrame>
        <p:nvGraphicFramePr>
          <p:cNvPr id="5" name="Tabelle 7">
            <a:extLst>
              <a:ext uri="{FF2B5EF4-FFF2-40B4-BE49-F238E27FC236}">
                <a16:creationId xmlns:a16="http://schemas.microsoft.com/office/drawing/2014/main" id="{F97743FC-49A3-451B-B209-4CD1196E8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352530"/>
              </p:ext>
            </p:extLst>
          </p:nvPr>
        </p:nvGraphicFramePr>
        <p:xfrm>
          <a:off x="4751872" y="3889719"/>
          <a:ext cx="684076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1197299444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68620974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33669968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897294302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964055357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28182459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230649228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89420036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174290261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845864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08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512643"/>
                  </a:ext>
                </a:extLst>
              </a:tr>
            </a:tbl>
          </a:graphicData>
        </a:graphic>
      </p:graphicFrame>
      <p:graphicFrame>
        <p:nvGraphicFramePr>
          <p:cNvPr id="6" name="Tabelle 7">
            <a:extLst>
              <a:ext uri="{FF2B5EF4-FFF2-40B4-BE49-F238E27FC236}">
                <a16:creationId xmlns:a16="http://schemas.microsoft.com/office/drawing/2014/main" id="{FD963148-B72C-451F-9532-145675B81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742342"/>
              </p:ext>
            </p:extLst>
          </p:nvPr>
        </p:nvGraphicFramePr>
        <p:xfrm>
          <a:off x="4751875" y="4828007"/>
          <a:ext cx="6840757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21887">
                  <a:extLst>
                    <a:ext uri="{9D8B030D-6E8A-4147-A177-3AD203B41FA5}">
                      <a16:colId xmlns:a16="http://schemas.microsoft.com/office/drawing/2014/main" val="1996952193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1197299444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2068620974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1336699683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3897294302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1964055357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1281824593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3230649228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1894200363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2174290261"/>
                    </a:ext>
                  </a:extLst>
                </a:gridCol>
                <a:gridCol w="621887">
                  <a:extLst>
                    <a:ext uri="{9D8B030D-6E8A-4147-A177-3AD203B41FA5}">
                      <a16:colId xmlns:a16="http://schemas.microsoft.com/office/drawing/2014/main" val="1845864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08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51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7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chemeClr val="bg1"/>
                          </a:solidFill>
                        </a:rP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103250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AB45D1E5-7167-40AA-BA6A-DE1CF811475A}"/>
              </a:ext>
            </a:extLst>
          </p:cNvPr>
          <p:cNvSpPr txBox="1"/>
          <p:nvPr/>
        </p:nvSpPr>
        <p:spPr>
          <a:xfrm>
            <a:off x="630527" y="3889717"/>
            <a:ext cx="4121346" cy="741680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1D-Array: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37B81A2-451A-4E56-B8CF-0C226B5F1CD8}"/>
              </a:ext>
            </a:extLst>
          </p:cNvPr>
          <p:cNvSpPr txBox="1"/>
          <p:nvPr/>
        </p:nvSpPr>
        <p:spPr>
          <a:xfrm>
            <a:off x="630847" y="4828006"/>
            <a:ext cx="4121067" cy="1483359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2D-Array:</a:t>
            </a:r>
          </a:p>
          <a:p>
            <a:pPr algn="r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7923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Data Structures - General</a:t>
            </a:r>
            <a:endParaRPr lang="en-US" noProof="0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46374376-0D9E-44F1-969B-437A385A0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87" y="1414802"/>
            <a:ext cx="11149614" cy="2491373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Lists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Dynamic </a:t>
            </a: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size is not fixed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Concatenation of Objects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insert/delete data at beginning, at end od in middle is possible </a:t>
            </a: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 list can raise or shrink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Sequential access </a:t>
            </a: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</a:t>
            </a:r>
            <a:endParaRPr lang="en-US" sz="1600" dirty="0">
              <a:solidFill>
                <a:srgbClr val="000000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good, if the size of the Data-Storage is </a:t>
            </a:r>
            <a:r>
              <a:rPr lang="en-US" sz="1600" u="sng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not</a:t>
            </a: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known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not good, if the size is known and constant and if you need a flexible storage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Tuple:</a:t>
            </a:r>
            <a:r>
              <a:rPr lang="en-US" sz="1600" dirty="0">
                <a:solidFill>
                  <a:srgbClr val="0000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 “the constants under the lists”</a:t>
            </a:r>
          </a:p>
        </p:txBody>
      </p:sp>
      <p:graphicFrame>
        <p:nvGraphicFramePr>
          <p:cNvPr id="9" name="Tabelle 2">
            <a:extLst>
              <a:ext uri="{FF2B5EF4-FFF2-40B4-BE49-F238E27FC236}">
                <a16:creationId xmlns:a16="http://schemas.microsoft.com/office/drawing/2014/main" id="{79CF36BF-206B-4AA9-B19B-FEFFCCF6A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140"/>
              </p:ext>
            </p:extLst>
          </p:nvPr>
        </p:nvGraphicFramePr>
        <p:xfrm>
          <a:off x="770583" y="4990493"/>
          <a:ext cx="1512168" cy="58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4">
                  <a:extLst>
                    <a:ext uri="{9D8B030D-6E8A-4147-A177-3AD203B41FA5}">
                      <a16:colId xmlns:a16="http://schemas.microsoft.com/office/drawing/2014/main" val="288795606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3597752821"/>
                    </a:ext>
                  </a:extLst>
                </a:gridCol>
              </a:tblGrid>
              <a:tr h="586864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Value 1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o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13751"/>
                  </a:ext>
                </a:extLst>
              </a:tr>
            </a:tbl>
          </a:graphicData>
        </a:graphic>
      </p:graphicFrame>
      <p:graphicFrame>
        <p:nvGraphicFramePr>
          <p:cNvPr id="11" name="Tabelle 2">
            <a:extLst>
              <a:ext uri="{FF2B5EF4-FFF2-40B4-BE49-F238E27FC236}">
                <a16:creationId xmlns:a16="http://schemas.microsoft.com/office/drawing/2014/main" id="{5E840557-21C2-4A90-B090-6281B7F9D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080329"/>
              </p:ext>
            </p:extLst>
          </p:nvPr>
        </p:nvGraphicFramePr>
        <p:xfrm>
          <a:off x="2786807" y="4990493"/>
          <a:ext cx="1512168" cy="58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4">
                  <a:extLst>
                    <a:ext uri="{9D8B030D-6E8A-4147-A177-3AD203B41FA5}">
                      <a16:colId xmlns:a16="http://schemas.microsoft.com/office/drawing/2014/main" val="288795606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3597752821"/>
                    </a:ext>
                  </a:extLst>
                </a:gridCol>
              </a:tblGrid>
              <a:tr h="586864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Value 2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o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13751"/>
                  </a:ext>
                </a:extLst>
              </a:tr>
            </a:tbl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83418DE8-0A77-48DE-9429-1AC3E8CFD817}"/>
              </a:ext>
            </a:extLst>
          </p:cNvPr>
          <p:cNvSpPr/>
          <p:nvPr/>
        </p:nvSpPr>
        <p:spPr>
          <a:xfrm>
            <a:off x="698575" y="5638565"/>
            <a:ext cx="3724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>
                <a:solidFill>
                  <a:schemeClr val="accent3">
                    <a:lumMod val="50000"/>
                  </a:schemeClr>
                </a:solidFill>
              </a:rPr>
              <a:t>Example</a:t>
            </a:r>
            <a:r>
              <a:rPr lang="de-DE" dirty="0">
                <a:solidFill>
                  <a:schemeClr val="accent3">
                    <a:lumMod val="50000"/>
                  </a:schemeClr>
                </a:solidFill>
              </a:rPr>
              <a:t>: </a:t>
            </a:r>
            <a:r>
              <a:rPr lang="de-DE" dirty="0" err="1">
                <a:solidFill>
                  <a:schemeClr val="accent3">
                    <a:lumMod val="50000"/>
                  </a:schemeClr>
                </a:solidFill>
              </a:rPr>
              <a:t>single</a:t>
            </a:r>
            <a:r>
              <a:rPr lang="de-DE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3">
                    <a:lumMod val="50000"/>
                  </a:schemeClr>
                </a:solidFill>
              </a:rPr>
              <a:t>concatenated</a:t>
            </a:r>
            <a:r>
              <a:rPr lang="de-DE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3">
                    <a:lumMod val="50000"/>
                  </a:schemeClr>
                </a:solidFill>
              </a:rPr>
              <a:t>lists</a:t>
            </a:r>
            <a:endParaRPr lang="de-DE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13" name="Tabelle 2">
            <a:extLst>
              <a:ext uri="{FF2B5EF4-FFF2-40B4-BE49-F238E27FC236}">
                <a16:creationId xmlns:a16="http://schemas.microsoft.com/office/drawing/2014/main" id="{4AF02159-DDCD-4BD9-8213-5E8A468D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029547"/>
              </p:ext>
            </p:extLst>
          </p:nvPr>
        </p:nvGraphicFramePr>
        <p:xfrm>
          <a:off x="4802054" y="4983579"/>
          <a:ext cx="1512168" cy="58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4">
                  <a:extLst>
                    <a:ext uri="{9D8B030D-6E8A-4147-A177-3AD203B41FA5}">
                      <a16:colId xmlns:a16="http://schemas.microsoft.com/office/drawing/2014/main" val="288795606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3597752821"/>
                    </a:ext>
                  </a:extLst>
                </a:gridCol>
              </a:tblGrid>
              <a:tr h="586864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Value 3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o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13751"/>
                  </a:ext>
                </a:extLst>
              </a:tr>
            </a:tbl>
          </a:graphicData>
        </a:graphic>
      </p:graphicFrame>
      <p:graphicFrame>
        <p:nvGraphicFramePr>
          <p:cNvPr id="14" name="Tabelle 2">
            <a:extLst>
              <a:ext uri="{FF2B5EF4-FFF2-40B4-BE49-F238E27FC236}">
                <a16:creationId xmlns:a16="http://schemas.microsoft.com/office/drawing/2014/main" id="{24CA8290-F2A6-4D51-9E4B-4C45447E8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539662"/>
              </p:ext>
            </p:extLst>
          </p:nvPr>
        </p:nvGraphicFramePr>
        <p:xfrm>
          <a:off x="6818278" y="4983579"/>
          <a:ext cx="1512168" cy="58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4">
                  <a:extLst>
                    <a:ext uri="{9D8B030D-6E8A-4147-A177-3AD203B41FA5}">
                      <a16:colId xmlns:a16="http://schemas.microsoft.com/office/drawing/2014/main" val="288795606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3597752821"/>
                    </a:ext>
                  </a:extLst>
                </a:gridCol>
              </a:tblGrid>
              <a:tr h="586864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Value 4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o</a:t>
                      </a:r>
                    </a:p>
                  </a:txBody>
                  <a:tcPr anchor="ctr">
                    <a:solidFill>
                      <a:srgbClr val="B88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13751"/>
                  </a:ext>
                </a:extLst>
              </a:tr>
            </a:tbl>
          </a:graphicData>
        </a:graphic>
      </p:graphicFrame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0AF97B5-433E-474C-BDFC-CDD56F5C00A2}"/>
              </a:ext>
            </a:extLst>
          </p:cNvPr>
          <p:cNvCxnSpPr>
            <a:endCxn id="11" idx="1"/>
          </p:cNvCxnSpPr>
          <p:nvPr/>
        </p:nvCxnSpPr>
        <p:spPr bwMode="auto">
          <a:xfrm>
            <a:off x="1922711" y="5283925"/>
            <a:ext cx="864096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817458D-197F-48B6-8150-D53AF2202EE4}"/>
              </a:ext>
            </a:extLst>
          </p:cNvPr>
          <p:cNvCxnSpPr/>
          <p:nvPr/>
        </p:nvCxnSpPr>
        <p:spPr bwMode="auto">
          <a:xfrm>
            <a:off x="3937958" y="5283925"/>
            <a:ext cx="864096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44FA9FF-49B2-40D9-A85B-B1E482540EDE}"/>
              </a:ext>
            </a:extLst>
          </p:cNvPr>
          <p:cNvCxnSpPr/>
          <p:nvPr/>
        </p:nvCxnSpPr>
        <p:spPr bwMode="auto">
          <a:xfrm>
            <a:off x="5954182" y="5279670"/>
            <a:ext cx="864096" cy="0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5DD3A2E1-C26F-4367-A464-C43C57727D51}"/>
              </a:ext>
            </a:extLst>
          </p:cNvPr>
          <p:cNvSpPr/>
          <p:nvPr/>
        </p:nvSpPr>
        <p:spPr bwMode="auto">
          <a:xfrm>
            <a:off x="5558138" y="4983579"/>
            <a:ext cx="756084" cy="58686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FE54C47-4C15-4026-9AC4-98F5ACCBD45C}"/>
              </a:ext>
            </a:extLst>
          </p:cNvPr>
          <p:cNvSpPr txBox="1"/>
          <p:nvPr/>
        </p:nvSpPr>
        <p:spPr>
          <a:xfrm>
            <a:off x="6818276" y="5782581"/>
            <a:ext cx="2017203" cy="801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dirty="0">
                <a:solidFill>
                  <a:srgbClr val="FF0000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every object contains information about the following object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8F6D610-F89A-45ED-B1F0-DF473242F21E}"/>
              </a:ext>
            </a:extLst>
          </p:cNvPr>
          <p:cNvCxnSpPr/>
          <p:nvPr/>
        </p:nvCxnSpPr>
        <p:spPr bwMode="auto">
          <a:xfrm flipH="1" flipV="1">
            <a:off x="6313245" y="5543034"/>
            <a:ext cx="504056" cy="239547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35792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Data Structures - General</a:t>
            </a:r>
            <a:endParaRPr lang="en-US" noProof="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D7D26B9-BA56-498A-B039-47942FB7DCBC}"/>
              </a:ext>
            </a:extLst>
          </p:cNvPr>
          <p:cNvSpPr/>
          <p:nvPr/>
        </p:nvSpPr>
        <p:spPr bwMode="auto">
          <a:xfrm>
            <a:off x="3848926" y="1299166"/>
            <a:ext cx="4032448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Organize your Data!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4EB8997-DC5D-4D61-B0BB-518BAB4D7D70}"/>
              </a:ext>
            </a:extLst>
          </p:cNvPr>
          <p:cNvSpPr/>
          <p:nvPr/>
        </p:nvSpPr>
        <p:spPr bwMode="auto">
          <a:xfrm>
            <a:off x="1436658" y="3140968"/>
            <a:ext cx="2412268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Variables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526C858-C318-4490-839E-E5E4C2B39473}"/>
              </a:ext>
            </a:extLst>
          </p:cNvPr>
          <p:cNvSpPr/>
          <p:nvPr/>
        </p:nvSpPr>
        <p:spPr bwMode="auto">
          <a:xfrm>
            <a:off x="8439435" y="3203038"/>
            <a:ext cx="2412268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Structures</a:t>
            </a:r>
          </a:p>
        </p:txBody>
      </p:sp>
      <p:sp>
        <p:nvSpPr>
          <p:cNvPr id="24" name="Flussdiagramm: Verzweigung 23">
            <a:extLst>
              <a:ext uri="{FF2B5EF4-FFF2-40B4-BE49-F238E27FC236}">
                <a16:creationId xmlns:a16="http://schemas.microsoft.com/office/drawing/2014/main" id="{2077F1EB-CA7C-4DEF-A463-21C7D1B751F2}"/>
              </a:ext>
            </a:extLst>
          </p:cNvPr>
          <p:cNvSpPr/>
          <p:nvPr/>
        </p:nvSpPr>
        <p:spPr bwMode="auto">
          <a:xfrm>
            <a:off x="4352983" y="2189401"/>
            <a:ext cx="3024336" cy="648072"/>
          </a:xfrm>
          <a:prstGeom prst="flowChartDecision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4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Single Values?</a:t>
            </a:r>
          </a:p>
        </p:txBody>
      </p: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21911270-EC9A-49E4-BADC-E19D079E5FD6}"/>
              </a:ext>
            </a:extLst>
          </p:cNvPr>
          <p:cNvCxnSpPr>
            <a:stCxn id="24" idx="2"/>
            <a:endCxn id="22" idx="0"/>
          </p:cNvCxnSpPr>
          <p:nvPr/>
        </p:nvCxnSpPr>
        <p:spPr bwMode="auto">
          <a:xfrm rot="5400000">
            <a:off x="4102225" y="1378041"/>
            <a:ext cx="303495" cy="3222359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9CCE94D6-9FAD-4DEE-850A-FC9C64756EFC}"/>
              </a:ext>
            </a:extLst>
          </p:cNvPr>
          <p:cNvCxnSpPr>
            <a:stCxn id="24" idx="2"/>
            <a:endCxn id="23" idx="0"/>
          </p:cNvCxnSpPr>
          <p:nvPr/>
        </p:nvCxnSpPr>
        <p:spPr bwMode="auto">
          <a:xfrm rot="16200000" flipH="1">
            <a:off x="7572578" y="1130046"/>
            <a:ext cx="365565" cy="3780418"/>
          </a:xfrm>
          <a:prstGeom prst="bentConnector3">
            <a:avLst>
              <a:gd name="adj1" fmla="val 41274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A3B8D378-E544-41E7-BADB-10FE622E1163}"/>
              </a:ext>
            </a:extLst>
          </p:cNvPr>
          <p:cNvCxnSpPr>
            <a:stCxn id="21" idx="2"/>
            <a:endCxn id="24" idx="0"/>
          </p:cNvCxnSpPr>
          <p:nvPr/>
        </p:nvCxnSpPr>
        <p:spPr bwMode="auto">
          <a:xfrm>
            <a:off x="5865150" y="1947238"/>
            <a:ext cx="1" cy="242163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68E0D1C1-FF6C-4C82-A35E-08A1D57E4AA8}"/>
              </a:ext>
            </a:extLst>
          </p:cNvPr>
          <p:cNvSpPr/>
          <p:nvPr/>
        </p:nvSpPr>
        <p:spPr bwMode="auto">
          <a:xfrm>
            <a:off x="482551" y="5155169"/>
            <a:ext cx="1467779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Variable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B9E1F13-B0BF-4391-A450-F4BF273591DB}"/>
              </a:ext>
            </a:extLst>
          </p:cNvPr>
          <p:cNvSpPr/>
          <p:nvPr/>
        </p:nvSpPr>
        <p:spPr bwMode="auto">
          <a:xfrm>
            <a:off x="3246474" y="5155169"/>
            <a:ext cx="1467779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Constant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8929FA7-9F05-4A5E-99F5-50036AF9E593}"/>
              </a:ext>
            </a:extLst>
          </p:cNvPr>
          <p:cNvSpPr/>
          <p:nvPr/>
        </p:nvSpPr>
        <p:spPr bwMode="auto">
          <a:xfrm>
            <a:off x="6675239" y="5155169"/>
            <a:ext cx="1467779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Arrays</a:t>
            </a:r>
          </a:p>
        </p:txBody>
      </p:sp>
      <p:sp>
        <p:nvSpPr>
          <p:cNvPr id="31" name="Flussdiagramm: Verzweigung 30">
            <a:extLst>
              <a:ext uri="{FF2B5EF4-FFF2-40B4-BE49-F238E27FC236}">
                <a16:creationId xmlns:a16="http://schemas.microsoft.com/office/drawing/2014/main" id="{F0A5730B-308D-4D6C-BF37-EDBFD891E58C}"/>
              </a:ext>
            </a:extLst>
          </p:cNvPr>
          <p:cNvSpPr/>
          <p:nvPr/>
        </p:nvSpPr>
        <p:spPr bwMode="auto">
          <a:xfrm>
            <a:off x="1584867" y="4031202"/>
            <a:ext cx="2115850" cy="648072"/>
          </a:xfrm>
          <a:prstGeom prst="flowChartDecision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Changeable?</a:t>
            </a:r>
          </a:p>
        </p:txBody>
      </p: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0C50FAA2-C45C-4065-A58B-0BA0877FE209}"/>
              </a:ext>
            </a:extLst>
          </p:cNvPr>
          <p:cNvCxnSpPr>
            <a:stCxn id="31" idx="2"/>
            <a:endCxn id="28" idx="0"/>
          </p:cNvCxnSpPr>
          <p:nvPr/>
        </p:nvCxnSpPr>
        <p:spPr bwMode="auto">
          <a:xfrm rot="5400000">
            <a:off x="1691670" y="4204046"/>
            <a:ext cx="475895" cy="1426351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2A5C39B1-30C3-4D22-B0D4-5D053C35D7C2}"/>
              </a:ext>
            </a:extLst>
          </p:cNvPr>
          <p:cNvCxnSpPr>
            <a:stCxn id="31" idx="2"/>
            <a:endCxn id="29" idx="0"/>
          </p:cNvCxnSpPr>
          <p:nvPr/>
        </p:nvCxnSpPr>
        <p:spPr bwMode="auto">
          <a:xfrm rot="16200000" flipH="1">
            <a:off x="3073631" y="4248435"/>
            <a:ext cx="475895" cy="1337572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DA039AD9-BBD7-4459-A2E6-D7629103EA77}"/>
              </a:ext>
            </a:extLst>
          </p:cNvPr>
          <p:cNvCxnSpPr>
            <a:stCxn id="22" idx="2"/>
            <a:endCxn id="31" idx="0"/>
          </p:cNvCxnSpPr>
          <p:nvPr/>
        </p:nvCxnSpPr>
        <p:spPr bwMode="auto">
          <a:xfrm>
            <a:off x="2642792" y="3789040"/>
            <a:ext cx="0" cy="242162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7841BA37-BA7F-44C2-B5A5-B7681198CB05}"/>
              </a:ext>
            </a:extLst>
          </p:cNvPr>
          <p:cNvSpPr txBox="1"/>
          <p:nvPr/>
        </p:nvSpPr>
        <p:spPr>
          <a:xfrm>
            <a:off x="3380874" y="4619125"/>
            <a:ext cx="468052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no</a:t>
            </a:r>
            <a:endParaRPr lang="de-DE" sz="14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3480C46-0BAE-4844-B242-A216876054AB}"/>
              </a:ext>
            </a:extLst>
          </p:cNvPr>
          <p:cNvSpPr txBox="1"/>
          <p:nvPr/>
        </p:nvSpPr>
        <p:spPr>
          <a:xfrm>
            <a:off x="1482277" y="4619124"/>
            <a:ext cx="556833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yes</a:t>
            </a:r>
            <a:endParaRPr lang="de-DE" sz="14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1F1950C7-C673-4E6B-97E7-EBC1A13206C8}"/>
              </a:ext>
            </a:extLst>
          </p:cNvPr>
          <p:cNvSpPr txBox="1"/>
          <p:nvPr/>
        </p:nvSpPr>
        <p:spPr>
          <a:xfrm>
            <a:off x="9088736" y="2692246"/>
            <a:ext cx="556833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no</a:t>
            </a:r>
            <a:endParaRPr lang="de-DE" sz="14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5B01E494-2FBE-48BE-831C-BB38B5011BF6}"/>
              </a:ext>
            </a:extLst>
          </p:cNvPr>
          <p:cNvSpPr txBox="1"/>
          <p:nvPr/>
        </p:nvSpPr>
        <p:spPr>
          <a:xfrm>
            <a:off x="2869017" y="2692246"/>
            <a:ext cx="63787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yes</a:t>
            </a:r>
            <a:endParaRPr lang="de-DE" sz="14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9" name="Flussdiagramm: Verzweigung 38">
            <a:extLst>
              <a:ext uri="{FF2B5EF4-FFF2-40B4-BE49-F238E27FC236}">
                <a16:creationId xmlns:a16="http://schemas.microsoft.com/office/drawing/2014/main" id="{41FC9C8A-BE73-4A3A-AE3A-D27E6120EC6B}"/>
              </a:ext>
            </a:extLst>
          </p:cNvPr>
          <p:cNvSpPr/>
          <p:nvPr/>
        </p:nvSpPr>
        <p:spPr bwMode="auto">
          <a:xfrm>
            <a:off x="8590335" y="4093272"/>
            <a:ext cx="2115850" cy="648072"/>
          </a:xfrm>
          <a:prstGeom prst="flowChartDecision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1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Changeable?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E1D6678B-2475-4C10-9025-780B23A62AE7}"/>
              </a:ext>
            </a:extLst>
          </p:cNvPr>
          <p:cNvCxnSpPr>
            <a:stCxn id="23" idx="2"/>
            <a:endCxn id="39" idx="0"/>
          </p:cNvCxnSpPr>
          <p:nvPr/>
        </p:nvCxnSpPr>
        <p:spPr bwMode="auto">
          <a:xfrm>
            <a:off x="9645569" y="3851110"/>
            <a:ext cx="2691" cy="242162"/>
          </a:xfrm>
          <a:prstGeom prst="straightConnector1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0D5F85DA-D6B1-42C7-9730-1DE39310C613}"/>
              </a:ext>
            </a:extLst>
          </p:cNvPr>
          <p:cNvSpPr/>
          <p:nvPr/>
        </p:nvSpPr>
        <p:spPr bwMode="auto">
          <a:xfrm>
            <a:off x="8231796" y="5155169"/>
            <a:ext cx="1467779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Lists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2DD8D19-1315-4BC8-8AA2-28BB29F48E09}"/>
              </a:ext>
            </a:extLst>
          </p:cNvPr>
          <p:cNvSpPr/>
          <p:nvPr/>
        </p:nvSpPr>
        <p:spPr bwMode="auto">
          <a:xfrm>
            <a:off x="10044758" y="5158501"/>
            <a:ext cx="1467779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Tuples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9B8832-D93B-4DBC-8D60-288B522E9AAA}"/>
              </a:ext>
            </a:extLst>
          </p:cNvPr>
          <p:cNvSpPr/>
          <p:nvPr/>
        </p:nvSpPr>
        <p:spPr bwMode="auto">
          <a:xfrm>
            <a:off x="5118682" y="5155169"/>
            <a:ext cx="1467779" cy="648072"/>
          </a:xfrm>
          <a:prstGeom prst="rect">
            <a:avLst/>
          </a:prstGeom>
          <a:solidFill>
            <a:srgbClr val="B88F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Dictionaries</a:t>
            </a: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9538C7B3-EF26-4756-809A-83C22DE9D5F3}"/>
              </a:ext>
            </a:extLst>
          </p:cNvPr>
          <p:cNvCxnSpPr>
            <a:stCxn id="39" idx="2"/>
            <a:endCxn id="43" idx="0"/>
          </p:cNvCxnSpPr>
          <p:nvPr/>
        </p:nvCxnSpPr>
        <p:spPr bwMode="auto">
          <a:xfrm rot="5400000">
            <a:off x="7543504" y="3050412"/>
            <a:ext cx="413825" cy="3795688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EA0E0E4E-86CF-4AD2-85F5-98292ECBBD9D}"/>
              </a:ext>
            </a:extLst>
          </p:cNvPr>
          <p:cNvCxnSpPr>
            <a:stCxn id="39" idx="2"/>
            <a:endCxn id="42" idx="0"/>
          </p:cNvCxnSpPr>
          <p:nvPr/>
        </p:nvCxnSpPr>
        <p:spPr bwMode="auto">
          <a:xfrm rot="16200000" flipH="1">
            <a:off x="10004876" y="4384728"/>
            <a:ext cx="417157" cy="1130388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EF5FDC65-40E2-4688-882D-71B64AF5DA8B}"/>
              </a:ext>
            </a:extLst>
          </p:cNvPr>
          <p:cNvCxnSpPr>
            <a:stCxn id="39" idx="2"/>
            <a:endCxn id="41" idx="0"/>
          </p:cNvCxnSpPr>
          <p:nvPr/>
        </p:nvCxnSpPr>
        <p:spPr bwMode="auto">
          <a:xfrm rot="5400000">
            <a:off x="9100061" y="4606969"/>
            <a:ext cx="413825" cy="682574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Verbinder: gewinkelt 46">
            <a:extLst>
              <a:ext uri="{FF2B5EF4-FFF2-40B4-BE49-F238E27FC236}">
                <a16:creationId xmlns:a16="http://schemas.microsoft.com/office/drawing/2014/main" id="{EA01F51B-AC0D-4E10-8DE9-40B3CAA94921}"/>
              </a:ext>
            </a:extLst>
          </p:cNvPr>
          <p:cNvCxnSpPr>
            <a:stCxn id="39" idx="2"/>
            <a:endCxn id="30" idx="0"/>
          </p:cNvCxnSpPr>
          <p:nvPr/>
        </p:nvCxnSpPr>
        <p:spPr bwMode="auto">
          <a:xfrm rot="5400000">
            <a:off x="8321783" y="3828691"/>
            <a:ext cx="413825" cy="2239131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AA4D9B30-D804-4587-BB28-A009DFDB8EB6}"/>
              </a:ext>
            </a:extLst>
          </p:cNvPr>
          <p:cNvSpPr txBox="1"/>
          <p:nvPr/>
        </p:nvSpPr>
        <p:spPr>
          <a:xfrm>
            <a:off x="10028071" y="4619122"/>
            <a:ext cx="556833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no</a:t>
            </a:r>
            <a:endParaRPr lang="de-DE" sz="14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E608772-D239-415D-821A-E470F9A0876A}"/>
              </a:ext>
            </a:extLst>
          </p:cNvPr>
          <p:cNvSpPr txBox="1"/>
          <p:nvPr/>
        </p:nvSpPr>
        <p:spPr>
          <a:xfrm>
            <a:off x="6873747" y="4619123"/>
            <a:ext cx="556833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yes</a:t>
            </a:r>
            <a:endParaRPr lang="de-DE" sz="14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6395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B7B8730-5301-43BD-8F1C-1B95F792115D}"/>
              </a:ext>
            </a:extLst>
          </p:cNvPr>
          <p:cNvSpPr txBox="1"/>
          <p:nvPr/>
        </p:nvSpPr>
        <p:spPr>
          <a:xfrm>
            <a:off x="626567" y="1200430"/>
            <a:ext cx="11089232" cy="2730820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Data Structures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Use the given array to build the following string: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array = [[‘to our new’, 'Siemens Energy'],[‘Welcome’, ’company:’]]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(</a:t>
            </a:r>
            <a:r>
              <a:rPr lang="de-DE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 ‚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Welcome </a:t>
            </a:r>
            <a:r>
              <a:rPr lang="de-DE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our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company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Siemens Energy‘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1600" b="1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Example</a:t>
            </a:r>
            <a:r>
              <a:rPr lang="de-DE" sz="1600" b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: </a:t>
            </a:r>
            <a:r>
              <a:rPr lang="de-DE" sz="1600" b="1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array</a:t>
            </a:r>
            <a:r>
              <a:rPr lang="de-DE" sz="1600" b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[</a:t>
            </a:r>
            <a:r>
              <a:rPr lang="de-DE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Col</a:t>
            </a:r>
            <a:r>
              <a:rPr lang="de-DE" sz="1600" b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][</a:t>
            </a:r>
            <a:r>
              <a:rPr lang="de-DE" sz="1600" dirty="0" err="1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Row</a:t>
            </a:r>
            <a:r>
              <a:rPr lang="de-DE" sz="1600" b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]</a:t>
            </a:r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64CD9FD9-EB9F-47ED-9C61-AAC01F323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556442"/>
              </p:ext>
            </p:extLst>
          </p:nvPr>
        </p:nvGraphicFramePr>
        <p:xfrm>
          <a:off x="725010" y="3931250"/>
          <a:ext cx="5130318" cy="22564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0106">
                  <a:extLst>
                    <a:ext uri="{9D8B030D-6E8A-4147-A177-3AD203B41FA5}">
                      <a16:colId xmlns:a16="http://schemas.microsoft.com/office/drawing/2014/main" val="3208758410"/>
                    </a:ext>
                  </a:extLst>
                </a:gridCol>
                <a:gridCol w="1710106">
                  <a:extLst>
                    <a:ext uri="{9D8B030D-6E8A-4147-A177-3AD203B41FA5}">
                      <a16:colId xmlns:a16="http://schemas.microsoft.com/office/drawing/2014/main" val="4063095191"/>
                    </a:ext>
                  </a:extLst>
                </a:gridCol>
                <a:gridCol w="1710106">
                  <a:extLst>
                    <a:ext uri="{9D8B030D-6E8A-4147-A177-3AD203B41FA5}">
                      <a16:colId xmlns:a16="http://schemas.microsoft.com/office/drawing/2014/main" val="846543045"/>
                    </a:ext>
                  </a:extLst>
                </a:gridCol>
              </a:tblGrid>
              <a:tr h="752162">
                <a:tc>
                  <a:txBody>
                    <a:bodyPr/>
                    <a:lstStyle/>
                    <a:p>
                      <a:pPr algn="ctr"/>
                      <a:endParaRPr lang="en-US" b="1" noProof="0" dirty="0"/>
                    </a:p>
                  </a:txBody>
                  <a:tcPr anchor="ctr"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 anchor="ctr">
                    <a:solidFill>
                      <a:srgbClr val="FFFFFF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1</a:t>
                      </a:r>
                    </a:p>
                  </a:txBody>
                  <a:tcPr anchor="ctr">
                    <a:solidFill>
                      <a:srgbClr val="FFFFFF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747018"/>
                  </a:ext>
                </a:extLst>
              </a:tr>
              <a:tr h="752162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0</a:t>
                      </a:r>
                    </a:p>
                  </a:txBody>
                  <a:tcPr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 our 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Welcome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46850"/>
                  </a:ext>
                </a:extLst>
              </a:tr>
              <a:tr h="7521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noProof="0" dirty="0"/>
                        <a:t>1</a:t>
                      </a:r>
                    </a:p>
                  </a:txBody>
                  <a:tcPr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Siemens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company: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4329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03</a:t>
            </a:r>
            <a:endParaRPr lang="en-US" noProof="0" dirty="0"/>
          </a:p>
        </p:txBody>
      </p:sp>
      <p:pic>
        <p:nvPicPr>
          <p:cNvPr id="8" name="Grafik 7" descr="Armbanduhr">
            <a:extLst>
              <a:ext uri="{FF2B5EF4-FFF2-40B4-BE49-F238E27FC236}">
                <a16:creationId xmlns:a16="http://schemas.microsoft.com/office/drawing/2014/main" id="{6FD1E458-E11C-4DD0-B7E9-DAD4A2EF2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C4FB80E-97FD-49C6-BB38-6BEFAF71C4FF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3482557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If-Statements &amp; Loops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4" name="Subhead"/>
          <p:cNvSpPr>
            <a:spLocks noGrp="1"/>
          </p:cNvSpPr>
          <p:nvPr>
            <p:ph type="subTitle" idx="4294967295"/>
          </p:nvPr>
        </p:nvSpPr>
        <p:spPr>
          <a:xfrm>
            <a:off x="627064" y="4528800"/>
            <a:ext cx="8208000" cy="899252"/>
          </a:xfrm>
        </p:spPr>
        <p:txBody>
          <a:bodyPr/>
          <a:lstStyle/>
          <a:p>
            <a:r>
              <a:rPr lang="en-US" sz="2000" noProof="0" dirty="0">
                <a:solidFill>
                  <a:schemeClr val="bg1"/>
                </a:solidFill>
              </a:rPr>
              <a:t>What are loops used for? Why we should use them?</a:t>
            </a:r>
          </a:p>
        </p:txBody>
      </p:sp>
    </p:spTree>
    <p:extLst>
      <p:ext uri="{BB962C8B-B14F-4D97-AF65-F5344CB8AC3E}">
        <p14:creationId xmlns:p14="http://schemas.microsoft.com/office/powerpoint/2010/main" val="2053449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5999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If-Statements</a:t>
            </a:r>
            <a:endParaRPr lang="en-US" noProof="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98F5ECE-A345-4E88-9C76-5673792ACFC2}"/>
              </a:ext>
            </a:extLst>
          </p:cNvPr>
          <p:cNvSpPr txBox="1"/>
          <p:nvPr/>
        </p:nvSpPr>
        <p:spPr>
          <a:xfrm>
            <a:off x="573300" y="1516362"/>
            <a:ext cx="5522700" cy="4687566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If-Statement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Allows to skip parts of the script, if a given condition is not true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If-Else-Statement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Combination of if-statements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Example: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  <a:sym typeface="Wingdings" panose="05000000000000000000" pitchFamily="2" charset="2"/>
              </a:rPr>
              <a:t>if(hours &lt;= 18){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  <a:sym typeface="Wingdings" panose="05000000000000000000" pitchFamily="2" charset="2"/>
              </a:rPr>
              <a:t>	output = ‘Good Day’;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  <a:sym typeface="Wingdings" panose="05000000000000000000" pitchFamily="2" charset="2"/>
              </a:rPr>
              <a:t>}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  <a:sym typeface="Wingdings" panose="05000000000000000000" pitchFamily="2" charset="2"/>
              </a:rPr>
              <a:t>else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  <a:sym typeface="Wingdings" panose="05000000000000000000" pitchFamily="2" charset="2"/>
              </a:rPr>
              <a:t>	output = ‘Good Evening’;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  <a:sym typeface="Wingdings" panose="05000000000000000000" pitchFamily="2" charset="2"/>
              </a:rPr>
              <a:t>};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3481DD8-C12E-48E8-B0A8-8233435E0559}"/>
              </a:ext>
            </a:extLst>
          </p:cNvPr>
          <p:cNvGrpSpPr/>
          <p:nvPr/>
        </p:nvGrpSpPr>
        <p:grpSpPr>
          <a:xfrm>
            <a:off x="8655555" y="1084246"/>
            <a:ext cx="3060244" cy="2592000"/>
            <a:chOff x="8006566" y="2623222"/>
            <a:chExt cx="3289181" cy="2766021"/>
          </a:xfrm>
        </p:grpSpPr>
        <p:sp>
          <p:nvSpPr>
            <p:cNvPr id="11" name="Flussdiagramm: Verzweigung 10">
              <a:extLst>
                <a:ext uri="{FF2B5EF4-FFF2-40B4-BE49-F238E27FC236}">
                  <a16:creationId xmlns:a16="http://schemas.microsoft.com/office/drawing/2014/main" id="{96D413C1-F9B8-45C9-959E-11FBC0C27AE5}"/>
                </a:ext>
              </a:extLst>
            </p:cNvPr>
            <p:cNvSpPr/>
            <p:nvPr/>
          </p:nvSpPr>
          <p:spPr bwMode="auto">
            <a:xfrm>
              <a:off x="8006566" y="3065248"/>
              <a:ext cx="2100233" cy="1084553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If Condition</a:t>
              </a:r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F2B20CB1-2AAD-473A-A077-42FE8D50AB9A}"/>
                </a:ext>
              </a:extLst>
            </p:cNvPr>
            <p:cNvCxnSpPr/>
            <p:nvPr/>
          </p:nvCxnSpPr>
          <p:spPr bwMode="auto">
            <a:xfrm>
              <a:off x="9056682" y="2623222"/>
              <a:ext cx="0" cy="432048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B4F59F8-EA5F-422F-8F53-9DEA9EDD6BB4}"/>
                </a:ext>
              </a:extLst>
            </p:cNvPr>
            <p:cNvSpPr txBox="1"/>
            <p:nvPr/>
          </p:nvSpPr>
          <p:spPr>
            <a:xfrm>
              <a:off x="9051019" y="4123336"/>
              <a:ext cx="840093" cy="349638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de-DE" sz="14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True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F03961F-57E5-4F75-9A47-CF4DDA91D51E}"/>
                </a:ext>
              </a:extLst>
            </p:cNvPr>
            <p:cNvSpPr txBox="1"/>
            <p:nvPr/>
          </p:nvSpPr>
          <p:spPr>
            <a:xfrm>
              <a:off x="10034498" y="3284606"/>
              <a:ext cx="840093" cy="349638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en-US" sz="14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False</a:t>
              </a:r>
            </a:p>
          </p:txBody>
        </p: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2BBFF00-0973-4629-BD3C-11B5D18BBFB3}"/>
                </a:ext>
              </a:extLst>
            </p:cNvPr>
            <p:cNvCxnSpPr>
              <a:stCxn id="11" idx="2"/>
            </p:cNvCxnSpPr>
            <p:nvPr/>
          </p:nvCxnSpPr>
          <p:spPr bwMode="auto">
            <a:xfrm flipH="1">
              <a:off x="9056682" y="4149801"/>
              <a:ext cx="1" cy="345629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2B72FDB3-1A65-4EB1-B5BE-20EDA3B306E8}"/>
                </a:ext>
              </a:extLst>
            </p:cNvPr>
            <p:cNvSpPr/>
            <p:nvPr/>
          </p:nvSpPr>
          <p:spPr bwMode="auto">
            <a:xfrm>
              <a:off x="8017150" y="4490997"/>
              <a:ext cx="2088906" cy="5422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Instruction A</a:t>
              </a: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3970A6CA-D462-4ADB-9F91-6A78BB534F10}"/>
                </a:ext>
              </a:extLst>
            </p:cNvPr>
            <p:cNvCxnSpPr/>
            <p:nvPr/>
          </p:nvCxnSpPr>
          <p:spPr bwMode="auto">
            <a:xfrm flipH="1">
              <a:off x="9051019" y="5043614"/>
              <a:ext cx="1" cy="345629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Verbinder: gewinkelt 18">
              <a:extLst>
                <a:ext uri="{FF2B5EF4-FFF2-40B4-BE49-F238E27FC236}">
                  <a16:creationId xmlns:a16="http://schemas.microsoft.com/office/drawing/2014/main" id="{B3F4D8DF-EEB7-42EC-986D-FE4E166FA396}"/>
                </a:ext>
              </a:extLst>
            </p:cNvPr>
            <p:cNvCxnSpPr>
              <a:stCxn id="11" idx="3"/>
            </p:cNvCxnSpPr>
            <p:nvPr/>
          </p:nvCxnSpPr>
          <p:spPr bwMode="auto">
            <a:xfrm>
              <a:off x="10106799" y="3607524"/>
              <a:ext cx="1188948" cy="1762202"/>
            </a:xfrm>
            <a:prstGeom prst="bentConnector2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C1F868C-BF9E-4394-9934-CA2700B4E118}"/>
              </a:ext>
            </a:extLst>
          </p:cNvPr>
          <p:cNvGrpSpPr/>
          <p:nvPr/>
        </p:nvGrpSpPr>
        <p:grpSpPr>
          <a:xfrm>
            <a:off x="6327795" y="3870810"/>
            <a:ext cx="5391186" cy="2340000"/>
            <a:chOff x="4328072" y="3345692"/>
            <a:chExt cx="5391186" cy="2340000"/>
          </a:xfrm>
        </p:grpSpPr>
        <p:sp>
          <p:nvSpPr>
            <p:cNvPr id="21" name="Flussdiagramm: Verzweigung 20">
              <a:extLst>
                <a:ext uri="{FF2B5EF4-FFF2-40B4-BE49-F238E27FC236}">
                  <a16:creationId xmlns:a16="http://schemas.microsoft.com/office/drawing/2014/main" id="{08A37173-6174-4914-B3DC-ED0B4D265420}"/>
                </a:ext>
              </a:extLst>
            </p:cNvPr>
            <p:cNvSpPr/>
            <p:nvPr/>
          </p:nvSpPr>
          <p:spPr bwMode="auto">
            <a:xfrm>
              <a:off x="4328072" y="3719637"/>
              <a:ext cx="1954050" cy="917511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If Condition</a:t>
              </a:r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50132046-9396-4F7E-AC29-7B19814E1CEA}"/>
                </a:ext>
              </a:extLst>
            </p:cNvPr>
            <p:cNvCxnSpPr/>
            <p:nvPr/>
          </p:nvCxnSpPr>
          <p:spPr bwMode="auto">
            <a:xfrm>
              <a:off x="5305097" y="3345692"/>
              <a:ext cx="0" cy="365504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2652EA67-70BE-4FF2-AAD7-5366DC3D1A92}"/>
                </a:ext>
              </a:extLst>
            </p:cNvPr>
            <p:cNvSpPr txBox="1"/>
            <p:nvPr/>
          </p:nvSpPr>
          <p:spPr>
            <a:xfrm>
              <a:off x="5299828" y="4614759"/>
              <a:ext cx="781620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de-DE" sz="14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True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46B1B6D-03CC-4167-9B1A-B941B6C341B7}"/>
                </a:ext>
              </a:extLst>
            </p:cNvPr>
            <p:cNvSpPr txBox="1"/>
            <p:nvPr/>
          </p:nvSpPr>
          <p:spPr>
            <a:xfrm>
              <a:off x="6232265" y="3878103"/>
              <a:ext cx="781620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en-US" sz="14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False</a:t>
              </a:r>
            </a:p>
          </p:txBody>
        </p: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C52AC5CC-3854-4E19-87E0-DE4DEBFF1A39}"/>
                </a:ext>
              </a:extLst>
            </p:cNvPr>
            <p:cNvCxnSpPr>
              <a:stCxn id="21" idx="2"/>
            </p:cNvCxnSpPr>
            <p:nvPr/>
          </p:nvCxnSpPr>
          <p:spPr bwMode="auto">
            <a:xfrm flipH="1">
              <a:off x="5305097" y="4637148"/>
              <a:ext cx="1" cy="292395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83D2E71-F212-45C2-8141-DAD057AC3CE3}"/>
                </a:ext>
              </a:extLst>
            </p:cNvPr>
            <p:cNvSpPr/>
            <p:nvPr/>
          </p:nvSpPr>
          <p:spPr bwMode="auto">
            <a:xfrm>
              <a:off x="4337919" y="4925793"/>
              <a:ext cx="1943512" cy="4587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Instruction A</a:t>
              </a:r>
            </a:p>
          </p:txBody>
        </p: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19A4CA34-2DEF-4827-83C4-76E747310208}"/>
                </a:ext>
              </a:extLst>
            </p:cNvPr>
            <p:cNvCxnSpPr/>
            <p:nvPr/>
          </p:nvCxnSpPr>
          <p:spPr bwMode="auto">
            <a:xfrm flipH="1">
              <a:off x="5299828" y="5393297"/>
              <a:ext cx="1" cy="292395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2A4C69A-8735-4552-863B-5017043E5E73}"/>
                </a:ext>
              </a:extLst>
            </p:cNvPr>
            <p:cNvSpPr/>
            <p:nvPr/>
          </p:nvSpPr>
          <p:spPr bwMode="auto">
            <a:xfrm>
              <a:off x="6895938" y="4934541"/>
              <a:ext cx="1943512" cy="4587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Instruction B</a:t>
              </a:r>
            </a:p>
          </p:txBody>
        </p: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1D8C586D-701D-4DB1-911B-E2F4E9AB6FE2}"/>
                </a:ext>
              </a:extLst>
            </p:cNvPr>
            <p:cNvCxnSpPr/>
            <p:nvPr/>
          </p:nvCxnSpPr>
          <p:spPr bwMode="auto">
            <a:xfrm flipH="1">
              <a:off x="7867694" y="5389546"/>
              <a:ext cx="1" cy="292395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Flussdiagramm: Verzweigung 29">
              <a:extLst>
                <a:ext uri="{FF2B5EF4-FFF2-40B4-BE49-F238E27FC236}">
                  <a16:creationId xmlns:a16="http://schemas.microsoft.com/office/drawing/2014/main" id="{B991490E-C71B-4496-9914-C0DD4F5CDEC7}"/>
                </a:ext>
              </a:extLst>
            </p:cNvPr>
            <p:cNvSpPr/>
            <p:nvPr/>
          </p:nvSpPr>
          <p:spPr bwMode="auto">
            <a:xfrm>
              <a:off x="6895938" y="3730343"/>
              <a:ext cx="1954050" cy="917511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Else Condition</a:t>
              </a:r>
            </a:p>
          </p:txBody>
        </p: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2202474D-97FC-4697-90CC-C474C1768FA6}"/>
                </a:ext>
              </a:extLst>
            </p:cNvPr>
            <p:cNvCxnSpPr>
              <a:stCxn id="21" idx="3"/>
              <a:endCxn id="30" idx="1"/>
            </p:cNvCxnSpPr>
            <p:nvPr/>
          </p:nvCxnSpPr>
          <p:spPr bwMode="auto">
            <a:xfrm>
              <a:off x="6282122" y="4178393"/>
              <a:ext cx="613816" cy="10706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6AAD51EA-3BF7-40DD-82FF-7796029BBDEB}"/>
                </a:ext>
              </a:extLst>
            </p:cNvPr>
            <p:cNvSpPr txBox="1"/>
            <p:nvPr/>
          </p:nvSpPr>
          <p:spPr>
            <a:xfrm>
              <a:off x="8814145" y="3870810"/>
              <a:ext cx="781620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en-US" sz="14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False</a:t>
              </a:r>
            </a:p>
          </p:txBody>
        </p:sp>
        <p:cxnSp>
          <p:nvCxnSpPr>
            <p:cNvPr id="33" name="Verbinder: gewinkelt 32">
              <a:extLst>
                <a:ext uri="{FF2B5EF4-FFF2-40B4-BE49-F238E27FC236}">
                  <a16:creationId xmlns:a16="http://schemas.microsoft.com/office/drawing/2014/main" id="{15B89F39-7EC1-4C44-A434-BDC1867B2AEC}"/>
                </a:ext>
              </a:extLst>
            </p:cNvPr>
            <p:cNvCxnSpPr>
              <a:stCxn id="30" idx="3"/>
            </p:cNvCxnSpPr>
            <p:nvPr/>
          </p:nvCxnSpPr>
          <p:spPr bwMode="auto">
            <a:xfrm>
              <a:off x="8849988" y="4189099"/>
              <a:ext cx="869270" cy="1468470"/>
            </a:xfrm>
            <a:prstGeom prst="bentConnector2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663D731A-2CF2-441E-A9A7-D24AC12EA88E}"/>
                </a:ext>
              </a:extLst>
            </p:cNvPr>
            <p:cNvSpPr txBox="1"/>
            <p:nvPr/>
          </p:nvSpPr>
          <p:spPr>
            <a:xfrm>
              <a:off x="7866427" y="4621846"/>
              <a:ext cx="781620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de-DE" sz="1400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True</a:t>
              </a: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15057FC8-E54C-4CDE-95C9-83143543C101}"/>
                </a:ext>
              </a:extLst>
            </p:cNvPr>
            <p:cNvCxnSpPr/>
            <p:nvPr/>
          </p:nvCxnSpPr>
          <p:spPr bwMode="auto">
            <a:xfrm flipH="1">
              <a:off x="7871696" y="4644235"/>
              <a:ext cx="1" cy="292395"/>
            </a:xfrm>
            <a:prstGeom prst="straightConnector1">
              <a:avLst/>
            </a:prstGeom>
            <a:solidFill>
              <a:schemeClr val="tx2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127087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5999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Loops</a:t>
            </a:r>
            <a:endParaRPr lang="en-US" noProof="0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0994460-A4FB-4B0F-BE6B-37665F1A9DEC}"/>
              </a:ext>
            </a:extLst>
          </p:cNvPr>
          <p:cNvSpPr/>
          <p:nvPr/>
        </p:nvSpPr>
        <p:spPr>
          <a:xfrm>
            <a:off x="561010" y="1517695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 err="1"/>
              <a:t>Instruction</a:t>
            </a:r>
            <a:r>
              <a:rPr lang="de-DE" b="1" dirty="0"/>
              <a:t> block (</a:t>
            </a:r>
            <a:r>
              <a:rPr lang="de-DE" b="1" dirty="0" err="1"/>
              <a:t>sequence</a:t>
            </a:r>
            <a:r>
              <a:rPr lang="de-DE" b="1" dirty="0"/>
              <a:t>)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B1CEB6E-4F78-4F29-86A4-9FFE887D2C8E}"/>
              </a:ext>
            </a:extLst>
          </p:cNvPr>
          <p:cNvSpPr/>
          <p:nvPr/>
        </p:nvSpPr>
        <p:spPr bwMode="auto">
          <a:xfrm>
            <a:off x="1147923" y="2620236"/>
            <a:ext cx="2592288" cy="7200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de-DE" sz="1800" dirty="0">
                <a:solidFill>
                  <a:schemeClr val="bg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Action 1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30B7C7C-64DD-4021-98FB-76CB8C4D8706}"/>
              </a:ext>
            </a:extLst>
          </p:cNvPr>
          <p:cNvSpPr/>
          <p:nvPr/>
        </p:nvSpPr>
        <p:spPr bwMode="auto">
          <a:xfrm>
            <a:off x="1147923" y="3628348"/>
            <a:ext cx="2592288" cy="720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de-DE" sz="1800" dirty="0">
                <a:solidFill>
                  <a:schemeClr val="bg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Action 2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BC440F1-FE3E-484E-B1A9-24F9F772B3AE}"/>
              </a:ext>
            </a:extLst>
          </p:cNvPr>
          <p:cNvSpPr/>
          <p:nvPr/>
        </p:nvSpPr>
        <p:spPr bwMode="auto">
          <a:xfrm>
            <a:off x="1147923" y="4636460"/>
            <a:ext cx="2592288" cy="7200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de-DE" sz="1800" dirty="0">
                <a:solidFill>
                  <a:schemeClr val="bg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Action 3</a:t>
            </a:r>
          </a:p>
        </p:txBody>
      </p:sp>
      <p:cxnSp>
        <p:nvCxnSpPr>
          <p:cNvPr id="40" name="Verbinder: gekrümmt 39">
            <a:extLst>
              <a:ext uri="{FF2B5EF4-FFF2-40B4-BE49-F238E27FC236}">
                <a16:creationId xmlns:a16="http://schemas.microsoft.com/office/drawing/2014/main" id="{A6C1FEDA-D338-4DE6-9D37-AE7FC638AA5A}"/>
              </a:ext>
            </a:extLst>
          </p:cNvPr>
          <p:cNvCxnSpPr>
            <a:stCxn id="37" idx="3"/>
            <a:endCxn id="38" idx="3"/>
          </p:cNvCxnSpPr>
          <p:nvPr/>
        </p:nvCxnSpPr>
        <p:spPr bwMode="auto">
          <a:xfrm>
            <a:off x="3740211" y="2980276"/>
            <a:ext cx="12700" cy="1008112"/>
          </a:xfrm>
          <a:prstGeom prst="curvedConnector3">
            <a:avLst>
              <a:gd name="adj1" fmla="val 180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Verbinder: gekrümmt 40">
            <a:extLst>
              <a:ext uri="{FF2B5EF4-FFF2-40B4-BE49-F238E27FC236}">
                <a16:creationId xmlns:a16="http://schemas.microsoft.com/office/drawing/2014/main" id="{A5B50FD9-7CF1-4C63-9387-89916A6FDF56}"/>
              </a:ext>
            </a:extLst>
          </p:cNvPr>
          <p:cNvCxnSpPr>
            <a:stCxn id="38" idx="3"/>
            <a:endCxn id="39" idx="3"/>
          </p:cNvCxnSpPr>
          <p:nvPr/>
        </p:nvCxnSpPr>
        <p:spPr bwMode="auto">
          <a:xfrm>
            <a:off x="3740211" y="3988388"/>
            <a:ext cx="12700" cy="1008112"/>
          </a:xfrm>
          <a:prstGeom prst="curvedConnector3">
            <a:avLst>
              <a:gd name="adj1" fmla="val 1800000"/>
            </a:avLst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EECA97EE-CC45-4A1A-B864-E38CE245174A}"/>
              </a:ext>
            </a:extLst>
          </p:cNvPr>
          <p:cNvSpPr/>
          <p:nvPr/>
        </p:nvSpPr>
        <p:spPr>
          <a:xfrm>
            <a:off x="6487822" y="151769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solidFill>
                  <a:srgbClr val="7030A0"/>
                </a:solidFill>
              </a:rPr>
              <a:t>Loops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50AE904D-5166-4F33-8ED1-2FCC1876650A}"/>
              </a:ext>
            </a:extLst>
          </p:cNvPr>
          <p:cNvGrpSpPr/>
          <p:nvPr/>
        </p:nvGrpSpPr>
        <p:grpSpPr>
          <a:xfrm>
            <a:off x="6656497" y="2468377"/>
            <a:ext cx="4248472" cy="1440160"/>
            <a:chOff x="6603231" y="1988840"/>
            <a:chExt cx="4248472" cy="144016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22C3757E-7690-4D40-8AE7-3421B59E68CD}"/>
                </a:ext>
              </a:extLst>
            </p:cNvPr>
            <p:cNvSpPr/>
            <p:nvPr/>
          </p:nvSpPr>
          <p:spPr bwMode="auto">
            <a:xfrm>
              <a:off x="6603231" y="1988840"/>
              <a:ext cx="4248472" cy="144016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t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8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Head Controlled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DE821274-B454-4D1F-8134-07C40A57D61C}"/>
                </a:ext>
              </a:extLst>
            </p:cNvPr>
            <p:cNvSpPr/>
            <p:nvPr/>
          </p:nvSpPr>
          <p:spPr bwMode="auto">
            <a:xfrm>
              <a:off x="8403431" y="2708920"/>
              <a:ext cx="2448272" cy="720080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8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Instruction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74DD09F-3A91-4568-A39E-EFB8690BAC40}"/>
              </a:ext>
            </a:extLst>
          </p:cNvPr>
          <p:cNvGrpSpPr/>
          <p:nvPr/>
        </p:nvGrpSpPr>
        <p:grpSpPr>
          <a:xfrm>
            <a:off x="6656497" y="4250894"/>
            <a:ext cx="4248472" cy="1440160"/>
            <a:chOff x="6603231" y="3771357"/>
            <a:chExt cx="4248472" cy="144016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79A12778-C667-49F6-B279-6D795B4C7B3B}"/>
                </a:ext>
              </a:extLst>
            </p:cNvPr>
            <p:cNvSpPr/>
            <p:nvPr/>
          </p:nvSpPr>
          <p:spPr bwMode="auto">
            <a:xfrm>
              <a:off x="6603231" y="3771357"/>
              <a:ext cx="4248472" cy="144016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b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8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Foot Controlled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E04D8EF7-07E9-4827-9C14-BD3DB105E119}"/>
                </a:ext>
              </a:extLst>
            </p:cNvPr>
            <p:cNvSpPr/>
            <p:nvPr/>
          </p:nvSpPr>
          <p:spPr bwMode="auto">
            <a:xfrm>
              <a:off x="6637972" y="3771357"/>
              <a:ext cx="2448272" cy="720080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8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9971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5999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Loops: for</a:t>
            </a:r>
            <a:endParaRPr lang="en-US" noProof="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005D1DC-B2C6-420A-9962-56964615A1C5}"/>
              </a:ext>
            </a:extLst>
          </p:cNvPr>
          <p:cNvSpPr/>
          <p:nvPr/>
        </p:nvSpPr>
        <p:spPr>
          <a:xfrm>
            <a:off x="577868" y="1563253"/>
            <a:ext cx="5518132" cy="360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Head Controlled: the condition is proven </a:t>
            </a:r>
            <a:r>
              <a:rPr lang="en-US" sz="16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before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the instruction are executed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is used, when the number of iterations is known 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a number for counting is needed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First Step: 		Initialization of Count-Variable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Second Step:	Proof, if the condition is true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Third Step:		If Condition is True, execute the Instructions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Fourth Step:	Update the Count-Variable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Fifth Step:		Proof if the condition is still true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Sixth Step:		If condition is not true anymore, quit the loop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D0AFDD4-2925-40AA-A621-9F83F9CDC5ED}"/>
              </a:ext>
            </a:extLst>
          </p:cNvPr>
          <p:cNvGrpSpPr/>
          <p:nvPr/>
        </p:nvGrpSpPr>
        <p:grpSpPr>
          <a:xfrm>
            <a:off x="7346050" y="1749696"/>
            <a:ext cx="3648112" cy="3847431"/>
            <a:chOff x="3578895" y="2313803"/>
            <a:chExt cx="3648112" cy="3847431"/>
          </a:xfrm>
        </p:grpSpPr>
        <p:sp>
          <p:nvSpPr>
            <p:cNvPr id="19" name="Flussdiagramm: Verzweigung 18">
              <a:extLst>
                <a:ext uri="{FF2B5EF4-FFF2-40B4-BE49-F238E27FC236}">
                  <a16:creationId xmlns:a16="http://schemas.microsoft.com/office/drawing/2014/main" id="{67239380-1356-45AD-A605-288313E604A2}"/>
                </a:ext>
              </a:extLst>
            </p:cNvPr>
            <p:cNvSpPr/>
            <p:nvPr/>
          </p:nvSpPr>
          <p:spPr bwMode="auto">
            <a:xfrm>
              <a:off x="4358982" y="3294962"/>
              <a:ext cx="2100233" cy="1084553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Condition</a:t>
              </a:r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2A230D78-5F52-4C90-BC1D-B88BB80C0941}"/>
                </a:ext>
              </a:extLst>
            </p:cNvPr>
            <p:cNvCxnSpPr/>
            <p:nvPr/>
          </p:nvCxnSpPr>
          <p:spPr bwMode="auto">
            <a:xfrm>
              <a:off x="5409098" y="2852936"/>
              <a:ext cx="0" cy="43204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2571A9A3-2652-4054-82CB-903D485F65D1}"/>
                </a:ext>
              </a:extLst>
            </p:cNvPr>
            <p:cNvCxnSpPr/>
            <p:nvPr/>
          </p:nvCxnSpPr>
          <p:spPr bwMode="auto">
            <a:xfrm>
              <a:off x="6447888" y="3837238"/>
              <a:ext cx="587391" cy="1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24BCF905-4F02-49EF-ABC2-E992FF1ADD7E}"/>
                </a:ext>
              </a:extLst>
            </p:cNvPr>
            <p:cNvSpPr txBox="1"/>
            <p:nvPr/>
          </p:nvSpPr>
          <p:spPr>
            <a:xfrm>
              <a:off x="5403435" y="4353050"/>
              <a:ext cx="840093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de-DE" sz="1400" dirty="0">
                  <a:solidFill>
                    <a:srgbClr val="7030A0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True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5FC75001-3E7C-46F4-8E1F-CA12BFEFB9E2}"/>
                </a:ext>
              </a:extLst>
            </p:cNvPr>
            <p:cNvSpPr txBox="1"/>
            <p:nvPr/>
          </p:nvSpPr>
          <p:spPr>
            <a:xfrm>
              <a:off x="6386914" y="3514320"/>
              <a:ext cx="840093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en-US" sz="1400" dirty="0">
                  <a:solidFill>
                    <a:srgbClr val="7030A0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False</a:t>
              </a:r>
            </a:p>
          </p:txBody>
        </p: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5696A8C4-D0BA-401F-8556-11003323FADE}"/>
                </a:ext>
              </a:extLst>
            </p:cNvPr>
            <p:cNvCxnSpPr>
              <a:stCxn id="19" idx="2"/>
            </p:cNvCxnSpPr>
            <p:nvPr/>
          </p:nvCxnSpPr>
          <p:spPr bwMode="auto">
            <a:xfrm flipH="1">
              <a:off x="5409098" y="4379515"/>
              <a:ext cx="1" cy="34562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97F1794-ACD2-4AFF-9BEB-B6F5E7E09824}"/>
                </a:ext>
              </a:extLst>
            </p:cNvPr>
            <p:cNvSpPr/>
            <p:nvPr/>
          </p:nvSpPr>
          <p:spPr bwMode="auto">
            <a:xfrm>
              <a:off x="4369566" y="4720711"/>
              <a:ext cx="2088906" cy="5422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Instruction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C74D00F0-95FA-49ED-A60A-AADE086732C7}"/>
                </a:ext>
              </a:extLst>
            </p:cNvPr>
            <p:cNvCxnSpPr>
              <a:endCxn id="19" idx="1"/>
            </p:cNvCxnSpPr>
            <p:nvPr/>
          </p:nvCxnSpPr>
          <p:spPr bwMode="auto">
            <a:xfrm flipV="1">
              <a:off x="3578895" y="3837239"/>
              <a:ext cx="780087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Verbinder: gewinkelt 26">
              <a:extLst>
                <a:ext uri="{FF2B5EF4-FFF2-40B4-BE49-F238E27FC236}">
                  <a16:creationId xmlns:a16="http://schemas.microsoft.com/office/drawing/2014/main" id="{CEB327BC-CAD3-4DAA-B958-31B8C43399CD}"/>
                </a:ext>
              </a:extLst>
            </p:cNvPr>
            <p:cNvCxnSpPr>
              <a:stCxn id="29" idx="1"/>
            </p:cNvCxnSpPr>
            <p:nvPr/>
          </p:nvCxnSpPr>
          <p:spPr bwMode="auto">
            <a:xfrm rot="10800000">
              <a:off x="3589481" y="3837242"/>
              <a:ext cx="801420" cy="2052855"/>
            </a:xfrm>
            <a:prstGeom prst="bentConnector2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98D610D3-A410-402F-A051-849D5E4E62E8}"/>
                </a:ext>
              </a:extLst>
            </p:cNvPr>
            <p:cNvSpPr/>
            <p:nvPr/>
          </p:nvSpPr>
          <p:spPr bwMode="auto">
            <a:xfrm>
              <a:off x="4390901" y="2313803"/>
              <a:ext cx="2088906" cy="5422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Initialization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1E66666-4FC5-418A-977C-EA5A2805D08B}"/>
                </a:ext>
              </a:extLst>
            </p:cNvPr>
            <p:cNvSpPr/>
            <p:nvPr/>
          </p:nvSpPr>
          <p:spPr bwMode="auto">
            <a:xfrm>
              <a:off x="4390901" y="5618957"/>
              <a:ext cx="2088906" cy="5422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de-DE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Update</a:t>
              </a:r>
            </a:p>
          </p:txBody>
        </p: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DB27AB8C-B463-47FB-AA73-F9FEC7553307}"/>
                </a:ext>
              </a:extLst>
            </p:cNvPr>
            <p:cNvCxnSpPr/>
            <p:nvPr/>
          </p:nvCxnSpPr>
          <p:spPr bwMode="auto">
            <a:xfrm flipH="1">
              <a:off x="5403435" y="5273328"/>
              <a:ext cx="1" cy="345629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6164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5999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Loops: while</a:t>
            </a:r>
            <a:endParaRPr lang="en-US" noProof="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005D1DC-B2C6-420A-9962-56964615A1C5}"/>
              </a:ext>
            </a:extLst>
          </p:cNvPr>
          <p:cNvSpPr/>
          <p:nvPr/>
        </p:nvSpPr>
        <p:spPr>
          <a:xfrm>
            <a:off x="577868" y="1572951"/>
            <a:ext cx="5518132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Head Controlled: the condition is proven </a:t>
            </a:r>
            <a:r>
              <a:rPr lang="en-US" sz="16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before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the instruction are executed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is used, when the number of iterations is </a:t>
            </a:r>
            <a:r>
              <a:rPr lang="en-US" sz="16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not</a:t>
            </a: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known e.g. if the number of iterations depends on a changing variable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First Step:		Proof if the condition is true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Second Step:	Execute the instructions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Third Step:		Proof if the condition is still true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Fourth Step: 	If the condition is not true anymore, quit the 		loop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</a:b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	The Condition must be able to be false, 	otherwise the loop will repeat infinitely!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D0AFDD4-2925-40AA-A621-9F83F9CDC5ED}"/>
              </a:ext>
            </a:extLst>
          </p:cNvPr>
          <p:cNvGrpSpPr/>
          <p:nvPr/>
        </p:nvGrpSpPr>
        <p:grpSpPr>
          <a:xfrm>
            <a:off x="7346050" y="2288829"/>
            <a:ext cx="3648112" cy="3308298"/>
            <a:chOff x="3578895" y="2852936"/>
            <a:chExt cx="3648112" cy="3308298"/>
          </a:xfrm>
        </p:grpSpPr>
        <p:sp>
          <p:nvSpPr>
            <p:cNvPr id="19" name="Flussdiagramm: Verzweigung 18">
              <a:extLst>
                <a:ext uri="{FF2B5EF4-FFF2-40B4-BE49-F238E27FC236}">
                  <a16:creationId xmlns:a16="http://schemas.microsoft.com/office/drawing/2014/main" id="{67239380-1356-45AD-A605-288313E604A2}"/>
                </a:ext>
              </a:extLst>
            </p:cNvPr>
            <p:cNvSpPr/>
            <p:nvPr/>
          </p:nvSpPr>
          <p:spPr bwMode="auto">
            <a:xfrm>
              <a:off x="4358982" y="3294962"/>
              <a:ext cx="2100233" cy="1084553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Condition</a:t>
              </a:r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2A230D78-5F52-4C90-BC1D-B88BB80C0941}"/>
                </a:ext>
              </a:extLst>
            </p:cNvPr>
            <p:cNvCxnSpPr/>
            <p:nvPr/>
          </p:nvCxnSpPr>
          <p:spPr bwMode="auto">
            <a:xfrm>
              <a:off x="5409098" y="2852936"/>
              <a:ext cx="0" cy="432048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2571A9A3-2652-4054-82CB-903D485F65D1}"/>
                </a:ext>
              </a:extLst>
            </p:cNvPr>
            <p:cNvCxnSpPr/>
            <p:nvPr/>
          </p:nvCxnSpPr>
          <p:spPr bwMode="auto">
            <a:xfrm>
              <a:off x="6447888" y="3837238"/>
              <a:ext cx="587391" cy="1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24BCF905-4F02-49EF-ABC2-E992FF1ADD7E}"/>
                </a:ext>
              </a:extLst>
            </p:cNvPr>
            <p:cNvSpPr txBox="1"/>
            <p:nvPr/>
          </p:nvSpPr>
          <p:spPr>
            <a:xfrm>
              <a:off x="5403435" y="4353050"/>
              <a:ext cx="840093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de-DE" sz="1400" dirty="0">
                  <a:solidFill>
                    <a:srgbClr val="7030A0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True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5FC75001-3E7C-46F4-8E1F-CA12BFEFB9E2}"/>
                </a:ext>
              </a:extLst>
            </p:cNvPr>
            <p:cNvSpPr txBox="1"/>
            <p:nvPr/>
          </p:nvSpPr>
          <p:spPr>
            <a:xfrm>
              <a:off x="6386914" y="3514320"/>
              <a:ext cx="840093" cy="327641"/>
            </a:xfrm>
            <a:prstGeom prst="rect">
              <a:avLst/>
            </a:prstGeom>
            <a:noFill/>
          </p:spPr>
          <p:txBody>
            <a:bodyPr wrap="square" lIns="108000" tIns="54000" rIns="108000" bIns="5400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</a:pPr>
              <a:r>
                <a:rPr lang="en-US" sz="1400" dirty="0">
                  <a:solidFill>
                    <a:srgbClr val="7030A0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False</a:t>
              </a:r>
            </a:p>
          </p:txBody>
        </p: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5696A8C4-D0BA-401F-8556-11003323FADE}"/>
                </a:ext>
              </a:extLst>
            </p:cNvPr>
            <p:cNvCxnSpPr>
              <a:cxnSpLocks/>
              <a:stCxn id="19" idx="2"/>
              <a:endCxn id="29" idx="0"/>
            </p:cNvCxnSpPr>
            <p:nvPr/>
          </p:nvCxnSpPr>
          <p:spPr bwMode="auto">
            <a:xfrm flipH="1">
              <a:off x="5388908" y="4379515"/>
              <a:ext cx="20191" cy="1239442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C74D00F0-95FA-49ED-A60A-AADE086732C7}"/>
                </a:ext>
              </a:extLst>
            </p:cNvPr>
            <p:cNvCxnSpPr>
              <a:endCxn id="19" idx="1"/>
            </p:cNvCxnSpPr>
            <p:nvPr/>
          </p:nvCxnSpPr>
          <p:spPr bwMode="auto">
            <a:xfrm flipV="1">
              <a:off x="3578895" y="3837239"/>
              <a:ext cx="780087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Verbinder: gewinkelt 26">
              <a:extLst>
                <a:ext uri="{FF2B5EF4-FFF2-40B4-BE49-F238E27FC236}">
                  <a16:creationId xmlns:a16="http://schemas.microsoft.com/office/drawing/2014/main" id="{CEB327BC-CAD3-4DAA-B958-31B8C43399CD}"/>
                </a:ext>
              </a:extLst>
            </p:cNvPr>
            <p:cNvCxnSpPr>
              <a:stCxn id="29" idx="1"/>
            </p:cNvCxnSpPr>
            <p:nvPr/>
          </p:nvCxnSpPr>
          <p:spPr bwMode="auto">
            <a:xfrm rot="10800000">
              <a:off x="3589481" y="3837250"/>
              <a:ext cx="801420" cy="2052847"/>
            </a:xfrm>
            <a:prstGeom prst="bentConnector2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1E66666-4FC5-418A-977C-EA5A2805D08B}"/>
                </a:ext>
              </a:extLst>
            </p:cNvPr>
            <p:cNvSpPr/>
            <p:nvPr/>
          </p:nvSpPr>
          <p:spPr bwMode="auto">
            <a:xfrm>
              <a:off x="4390901" y="5618957"/>
              <a:ext cx="1996013" cy="5422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de-DE" sz="1400" dirty="0" err="1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Instruction</a:t>
              </a:r>
              <a:endParaRPr lang="de-DE" sz="14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5407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598D909E-3C74-467C-BFDB-BD99B6E1A3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10274163" y="468926"/>
            <a:ext cx="1439999" cy="496808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D213E2CC-2A9D-4BD4-AA48-7426C45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5999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Loops: Continue &amp; Break</a:t>
            </a:r>
            <a:endParaRPr lang="en-US" noProof="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005D1DC-B2C6-420A-9962-56964615A1C5}"/>
              </a:ext>
            </a:extLst>
          </p:cNvPr>
          <p:cNvSpPr/>
          <p:nvPr/>
        </p:nvSpPr>
        <p:spPr>
          <a:xfrm>
            <a:off x="577868" y="1572951"/>
            <a:ext cx="5518132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there are several reasons to end a loop prematurely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there are two possibilities for end a loop: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Continue: end the iteration and begin the loop again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Break: end the iteration and terminate the loop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FC6B95F-53D0-425E-8C84-B07C57654360}"/>
              </a:ext>
            </a:extLst>
          </p:cNvPr>
          <p:cNvSpPr txBox="1"/>
          <p:nvPr/>
        </p:nvSpPr>
        <p:spPr>
          <a:xfrm>
            <a:off x="6482524" y="1388677"/>
            <a:ext cx="4032448" cy="2446432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Continue: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=0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while(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&lt; 6):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= i+1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if(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== 4):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continue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print(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</a:pPr>
            <a:endParaRPr lang="en-US" sz="1200" dirty="0">
              <a:solidFill>
                <a:srgbClr val="7030A0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1</a:t>
            </a:r>
          </a:p>
          <a:p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2</a:t>
            </a:r>
          </a:p>
          <a:p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3</a:t>
            </a:r>
          </a:p>
          <a:p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5</a:t>
            </a:r>
          </a:p>
          <a:p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6</a:t>
            </a:r>
          </a:p>
          <a:p>
            <a:pPr>
              <a:spcBef>
                <a:spcPts val="0"/>
              </a:spcBef>
            </a:pPr>
            <a:endParaRPr lang="en-US" sz="1200" dirty="0">
              <a:solidFill>
                <a:srgbClr val="7030A0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864FCCF-B9AB-4755-9DAA-A81A1D3FED38}"/>
              </a:ext>
            </a:extLst>
          </p:cNvPr>
          <p:cNvSpPr txBox="1"/>
          <p:nvPr/>
        </p:nvSpPr>
        <p:spPr>
          <a:xfrm>
            <a:off x="6482524" y="4047343"/>
            <a:ext cx="4032448" cy="2230408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Break: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=0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while(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&lt; 6):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= i+1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if(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== 4):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break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print(</a:t>
            </a:r>
            <a:r>
              <a:rPr lang="en-US" sz="1200" dirty="0" err="1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</a:pPr>
            <a:endParaRPr lang="en-US" sz="1200" dirty="0">
              <a:solidFill>
                <a:srgbClr val="7030A0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1</a:t>
            </a:r>
          </a:p>
          <a:p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2</a:t>
            </a:r>
          </a:p>
          <a:p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&gt;&gt;&gt; 3</a:t>
            </a:r>
          </a:p>
        </p:txBody>
      </p:sp>
    </p:spTree>
    <p:extLst>
      <p:ext uri="{BB962C8B-B14F-4D97-AF65-F5344CB8AC3E}">
        <p14:creationId xmlns:p14="http://schemas.microsoft.com/office/powerpoint/2010/main" val="4047081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B7B8730-5301-43BD-8F1C-1B95F792115D}"/>
              </a:ext>
            </a:extLst>
          </p:cNvPr>
          <p:cNvSpPr txBox="1"/>
          <p:nvPr/>
        </p:nvSpPr>
        <p:spPr>
          <a:xfrm>
            <a:off x="626567" y="1200430"/>
            <a:ext cx="11089232" cy="4614444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Loops</a:t>
            </a: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Check out the differences between for-Loop and while-Loop and between continue and break.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ea typeface="Arial Unicode MS" panose="020B0604020202020204" pitchFamily="34" charset="-128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Write two different Loops: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   - First you should write a for-Loop that counts from 0 to 9.&lt;</a:t>
            </a:r>
            <a:r>
              <a:rPr lang="en-US" sz="1600" dirty="0" err="1">
                <a:ea typeface="Arial Unicode MS" panose="020B0604020202020204" pitchFamily="34" charset="-128"/>
                <a:cs typeface="Courier New" panose="02070309020205020404" pitchFamily="49" charset="0"/>
              </a:rPr>
              <a:t>br</a:t>
            </a: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&gt;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   - The second loop should be a while loop, counting from 0 to the length of the array named exampleArray_01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Have a look on the last two loops (while-loops). Try them out and </a:t>
            </a:r>
            <a:r>
              <a:rPr lang="en-US" sz="1600" dirty="0" err="1">
                <a:ea typeface="Arial Unicode MS" panose="020B0604020202020204" pitchFamily="34" charset="-128"/>
                <a:cs typeface="Courier New" panose="02070309020205020404" pitchFamily="49" charset="0"/>
              </a:rPr>
              <a:t>clearify</a:t>
            </a: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, what the difference is between using </a:t>
            </a: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'continue'</a:t>
            </a: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 and using </a:t>
            </a: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'break'</a:t>
            </a: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.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04</a:t>
            </a:r>
            <a:endParaRPr lang="en-US" noProof="0" dirty="0"/>
          </a:p>
        </p:txBody>
      </p:sp>
      <p:pic>
        <p:nvPicPr>
          <p:cNvPr id="8" name="Grafik 7" descr="Armbanduhr">
            <a:extLst>
              <a:ext uri="{FF2B5EF4-FFF2-40B4-BE49-F238E27FC236}">
                <a16:creationId xmlns:a16="http://schemas.microsoft.com/office/drawing/2014/main" id="{6FD1E458-E11C-4DD0-B7E9-DAD4A2EF2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C4FB80E-97FD-49C6-BB38-6BEFAF71C4FF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15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590851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A16D7E-7C00-42EF-B608-3DC55787B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4" name="Subhead"/>
          <p:cNvSpPr>
            <a:spLocks noGrp="1"/>
          </p:cNvSpPr>
          <p:nvPr>
            <p:ph type="subTitle" idx="4294967295"/>
          </p:nvPr>
        </p:nvSpPr>
        <p:spPr>
          <a:xfrm>
            <a:off x="627064" y="4528800"/>
            <a:ext cx="8208000" cy="899252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The smart way to writing good scripts.</a:t>
            </a:r>
            <a:endParaRPr lang="en-US" sz="20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901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Functions</a:t>
            </a:r>
            <a:endParaRPr lang="en-US" noProof="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0CF5933-EB2F-4390-8A17-541DF305F280}"/>
              </a:ext>
            </a:extLst>
          </p:cNvPr>
          <p:cNvSpPr txBox="1"/>
          <p:nvPr/>
        </p:nvSpPr>
        <p:spPr>
          <a:xfrm>
            <a:off x="626567" y="1200430"/>
            <a:ext cx="11089232" cy="4687566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function MyFirstFunction(y1, y2)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var x=0;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x = y1 + y2;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return(x)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i="1" dirty="0">
              <a:solidFill>
                <a:schemeClr val="tx1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var x1=0;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x1 = MyFirstFunction(8, 2);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Console.log(x1);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&gt;&gt; 10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are used, if (complex) instructions are needed an different places in script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allows you to shorten your script and keep it clear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08575133-8FB0-48A7-879B-3B3B2319640C}"/>
              </a:ext>
            </a:extLst>
          </p:cNvPr>
          <p:cNvSpPr/>
          <p:nvPr/>
        </p:nvSpPr>
        <p:spPr bwMode="auto">
          <a:xfrm>
            <a:off x="7072793" y="876394"/>
            <a:ext cx="2577768" cy="6480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n</a:t>
            </a:r>
            <a:r>
              <a:rPr lang="en-US" sz="180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ame of your function</a:t>
            </a:r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598E1919-FB53-458B-B88F-7CB50C049145}"/>
              </a:ext>
            </a:extLst>
          </p:cNvPr>
          <p:cNvCxnSpPr>
            <a:cxnSpLocks/>
            <a:stCxn id="22" idx="1"/>
            <a:endCxn id="24" idx="1"/>
          </p:cNvCxnSpPr>
          <p:nvPr/>
        </p:nvCxnSpPr>
        <p:spPr bwMode="auto">
          <a:xfrm rot="10800000" flipV="1">
            <a:off x="2786807" y="1200430"/>
            <a:ext cx="4285986" cy="512076"/>
          </a:xfrm>
          <a:prstGeom prst="bentConnector4">
            <a:avLst>
              <a:gd name="adj1" fmla="val 49228"/>
              <a:gd name="adj2" fmla="val 55358"/>
            </a:avLst>
          </a:prstGeom>
          <a:solidFill>
            <a:schemeClr val="tx2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Geschweifte Klammer links 23">
            <a:extLst>
              <a:ext uri="{FF2B5EF4-FFF2-40B4-BE49-F238E27FC236}">
                <a16:creationId xmlns:a16="http://schemas.microsoft.com/office/drawing/2014/main" id="{3EE4A257-5230-4D7C-BDBC-8F714BA06228}"/>
              </a:ext>
            </a:extLst>
          </p:cNvPr>
          <p:cNvSpPr/>
          <p:nvPr/>
        </p:nvSpPr>
        <p:spPr bwMode="auto">
          <a:xfrm rot="5400000">
            <a:off x="2720646" y="770554"/>
            <a:ext cx="132321" cy="2016224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ヒラギノ角ゴ Pro W3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281CC5E6-F223-422B-A0DD-DD04C4FAE496}"/>
              </a:ext>
            </a:extLst>
          </p:cNvPr>
          <p:cNvSpPr/>
          <p:nvPr/>
        </p:nvSpPr>
        <p:spPr bwMode="auto">
          <a:xfrm>
            <a:off x="7065195" y="1752789"/>
            <a:ext cx="2577768" cy="828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passed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variables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r>
              <a:rPr lang="en-US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(initialed local)</a:t>
            </a:r>
            <a:endParaRPr lang="en-US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6" name="Geschweifte Klammer links 25">
            <a:extLst>
              <a:ext uri="{FF2B5EF4-FFF2-40B4-BE49-F238E27FC236}">
                <a16:creationId xmlns:a16="http://schemas.microsoft.com/office/drawing/2014/main" id="{CEBD367D-5283-4773-9995-C934F1BE665F}"/>
              </a:ext>
            </a:extLst>
          </p:cNvPr>
          <p:cNvSpPr/>
          <p:nvPr/>
        </p:nvSpPr>
        <p:spPr bwMode="auto">
          <a:xfrm rot="16200000">
            <a:off x="4082952" y="1690947"/>
            <a:ext cx="144015" cy="1008110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ヒラギノ角ゴ Pro W3" charset="0"/>
            </a:endParaRPr>
          </a:p>
        </p:txBody>
      </p: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5754EBBA-DD0E-4B7F-B7C6-A553F114C786}"/>
              </a:ext>
            </a:extLst>
          </p:cNvPr>
          <p:cNvCxnSpPr>
            <a:cxnSpLocks/>
            <a:stCxn id="25" idx="1"/>
            <a:endCxn id="26" idx="1"/>
          </p:cNvCxnSpPr>
          <p:nvPr/>
        </p:nvCxnSpPr>
        <p:spPr bwMode="auto">
          <a:xfrm rot="10800000" flipV="1">
            <a:off x="4154961" y="2166788"/>
            <a:ext cx="2910235" cy="100221"/>
          </a:xfrm>
          <a:prstGeom prst="bentConnector4">
            <a:avLst>
              <a:gd name="adj1" fmla="val 48763"/>
              <a:gd name="adj2" fmla="val 626319"/>
            </a:avLst>
          </a:prstGeom>
          <a:solidFill>
            <a:schemeClr val="tx2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106FB89-7F5B-482C-A833-F9120ADE8BBD}"/>
              </a:ext>
            </a:extLst>
          </p:cNvPr>
          <p:cNvGrpSpPr/>
          <p:nvPr/>
        </p:nvGrpSpPr>
        <p:grpSpPr>
          <a:xfrm>
            <a:off x="2786807" y="2782373"/>
            <a:ext cx="6840760" cy="828000"/>
            <a:chOff x="2491177" y="2782373"/>
            <a:chExt cx="6840760" cy="828000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1CD47619-4797-40B0-86A3-3174D6520251}"/>
                </a:ext>
              </a:extLst>
            </p:cNvPr>
            <p:cNvSpPr/>
            <p:nvPr/>
          </p:nvSpPr>
          <p:spPr bwMode="auto">
            <a:xfrm>
              <a:off x="6754169" y="2782373"/>
              <a:ext cx="2577768" cy="828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Returned Object (e.g. variable)</a:t>
              </a: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30" name="Verbinder: gewinkelt 29">
              <a:extLst>
                <a:ext uri="{FF2B5EF4-FFF2-40B4-BE49-F238E27FC236}">
                  <a16:creationId xmlns:a16="http://schemas.microsoft.com/office/drawing/2014/main" id="{B4CF3D46-5DEB-4FAC-9886-697A3987B41A}"/>
                </a:ext>
              </a:extLst>
            </p:cNvPr>
            <p:cNvCxnSpPr>
              <a:cxnSpLocks/>
              <a:stCxn id="29" idx="1"/>
            </p:cNvCxnSpPr>
            <p:nvPr/>
          </p:nvCxnSpPr>
          <p:spPr bwMode="auto">
            <a:xfrm rot="10800000">
              <a:off x="2491177" y="3107185"/>
              <a:ext cx="4262992" cy="89189"/>
            </a:xfrm>
            <a:prstGeom prst="bentConnector3">
              <a:avLst>
                <a:gd name="adj1" fmla="val 50000"/>
              </a:avLst>
            </a:prstGeom>
            <a:solidFill>
              <a:schemeClr val="tx2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C3AE7734-406E-4099-BFC3-9CB013E4B3D8}"/>
              </a:ext>
            </a:extLst>
          </p:cNvPr>
          <p:cNvGrpSpPr/>
          <p:nvPr/>
        </p:nvGrpSpPr>
        <p:grpSpPr>
          <a:xfrm>
            <a:off x="4154961" y="3818619"/>
            <a:ext cx="5465684" cy="648000"/>
            <a:chOff x="3859331" y="3818619"/>
            <a:chExt cx="5465684" cy="648000"/>
          </a:xfrm>
        </p:grpSpPr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0FADE523-095D-4C48-B632-2C951B8D4D2D}"/>
                </a:ext>
              </a:extLst>
            </p:cNvPr>
            <p:cNvSpPr/>
            <p:nvPr/>
          </p:nvSpPr>
          <p:spPr bwMode="auto">
            <a:xfrm>
              <a:off x="6747247" y="3818619"/>
              <a:ext cx="2577768" cy="648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dirty="0">
                  <a:solidFill>
                    <a:schemeClr val="tx1"/>
                  </a:solidFill>
                  <a:latin typeface="+mn-lt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Function Call</a:t>
              </a:r>
              <a:endParaRPr lang="en-US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33" name="Verbinder: gewinkelt 32">
              <a:extLst>
                <a:ext uri="{FF2B5EF4-FFF2-40B4-BE49-F238E27FC236}">
                  <a16:creationId xmlns:a16="http://schemas.microsoft.com/office/drawing/2014/main" id="{961F3C55-1D0B-4172-BD51-6AE718A8C401}"/>
                </a:ext>
              </a:extLst>
            </p:cNvPr>
            <p:cNvCxnSpPr>
              <a:cxnSpLocks/>
            </p:cNvCxnSpPr>
            <p:nvPr/>
          </p:nvCxnSpPr>
          <p:spPr bwMode="auto">
            <a:xfrm rot="10800000">
              <a:off x="3859331" y="4065974"/>
              <a:ext cx="2887916" cy="76649"/>
            </a:xfrm>
            <a:prstGeom prst="bentConnector3">
              <a:avLst>
                <a:gd name="adj1" fmla="val 50000"/>
              </a:avLst>
            </a:prstGeom>
            <a:solidFill>
              <a:schemeClr val="tx2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25978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Functions</a:t>
            </a:r>
            <a:endParaRPr lang="en-US" noProof="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0CF5933-EB2F-4390-8A17-541DF305F280}"/>
              </a:ext>
            </a:extLst>
          </p:cNvPr>
          <p:cNvSpPr txBox="1"/>
          <p:nvPr/>
        </p:nvSpPr>
        <p:spPr>
          <a:xfrm>
            <a:off x="665825" y="1414800"/>
            <a:ext cx="11327906" cy="4772935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def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 err="1">
                <a:solidFill>
                  <a:srgbClr val="0070C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myFirstFunction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(a, b, operation=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##### Description #####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a: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b: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operation: string, please choose between "addition", "subtraction", "multiplication" or "division"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a must be a float or int"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(b)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b must be a float or int"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"addition"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"subtraction"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"division"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b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“Error: please choose between 'addition', 'subtraction', 'multiplication' or 'division'"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"addition"):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+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"subtraction"):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-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"multiplication"):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*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"division"):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/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return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c</a:t>
            </a: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5F2D2ED-686B-4E9D-B155-4760C09A8315}"/>
              </a:ext>
            </a:extLst>
          </p:cNvPr>
          <p:cNvSpPr/>
          <p:nvPr/>
        </p:nvSpPr>
        <p:spPr>
          <a:xfrm>
            <a:off x="665825" y="1322773"/>
            <a:ext cx="4980373" cy="390618"/>
          </a:xfrm>
          <a:custGeom>
            <a:avLst/>
            <a:gdLst>
              <a:gd name="connsiteX0" fmla="*/ 0 w 4980373"/>
              <a:gd name="connsiteY0" fmla="*/ 0 h 390618"/>
              <a:gd name="connsiteX1" fmla="*/ 473135 w 4980373"/>
              <a:gd name="connsiteY1" fmla="*/ 0 h 390618"/>
              <a:gd name="connsiteX2" fmla="*/ 1045878 w 4980373"/>
              <a:gd name="connsiteY2" fmla="*/ 0 h 390618"/>
              <a:gd name="connsiteX3" fmla="*/ 1768032 w 4980373"/>
              <a:gd name="connsiteY3" fmla="*/ 0 h 390618"/>
              <a:gd name="connsiteX4" fmla="*/ 2340775 w 4980373"/>
              <a:gd name="connsiteY4" fmla="*/ 0 h 390618"/>
              <a:gd name="connsiteX5" fmla="*/ 3062929 w 4980373"/>
              <a:gd name="connsiteY5" fmla="*/ 0 h 390618"/>
              <a:gd name="connsiteX6" fmla="*/ 3685476 w 4980373"/>
              <a:gd name="connsiteY6" fmla="*/ 0 h 390618"/>
              <a:gd name="connsiteX7" fmla="*/ 4158611 w 4980373"/>
              <a:gd name="connsiteY7" fmla="*/ 0 h 390618"/>
              <a:gd name="connsiteX8" fmla="*/ 4980373 w 4980373"/>
              <a:gd name="connsiteY8" fmla="*/ 0 h 390618"/>
              <a:gd name="connsiteX9" fmla="*/ 4980373 w 4980373"/>
              <a:gd name="connsiteY9" fmla="*/ 390618 h 390618"/>
              <a:gd name="connsiteX10" fmla="*/ 4357826 w 4980373"/>
              <a:gd name="connsiteY10" fmla="*/ 390618 h 390618"/>
              <a:gd name="connsiteX11" fmla="*/ 3884691 w 4980373"/>
              <a:gd name="connsiteY11" fmla="*/ 390618 h 390618"/>
              <a:gd name="connsiteX12" fmla="*/ 3361752 w 4980373"/>
              <a:gd name="connsiteY12" fmla="*/ 390618 h 390618"/>
              <a:gd name="connsiteX13" fmla="*/ 2639598 w 4980373"/>
              <a:gd name="connsiteY13" fmla="*/ 390618 h 390618"/>
              <a:gd name="connsiteX14" fmla="*/ 1967247 w 4980373"/>
              <a:gd name="connsiteY14" fmla="*/ 390618 h 390618"/>
              <a:gd name="connsiteX15" fmla="*/ 1494112 w 4980373"/>
              <a:gd name="connsiteY15" fmla="*/ 390618 h 390618"/>
              <a:gd name="connsiteX16" fmla="*/ 871565 w 4980373"/>
              <a:gd name="connsiteY16" fmla="*/ 390618 h 390618"/>
              <a:gd name="connsiteX17" fmla="*/ 0 w 4980373"/>
              <a:gd name="connsiteY17" fmla="*/ 390618 h 390618"/>
              <a:gd name="connsiteX18" fmla="*/ 0 w 4980373"/>
              <a:gd name="connsiteY18" fmla="*/ 0 h 3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80373" h="390618" extrusionOk="0">
                <a:moveTo>
                  <a:pt x="0" y="0"/>
                </a:moveTo>
                <a:cubicBezTo>
                  <a:pt x="130028" y="21098"/>
                  <a:pt x="308717" y="-19713"/>
                  <a:pt x="473135" y="0"/>
                </a:cubicBezTo>
                <a:cubicBezTo>
                  <a:pt x="637553" y="19713"/>
                  <a:pt x="824096" y="15840"/>
                  <a:pt x="1045878" y="0"/>
                </a:cubicBezTo>
                <a:cubicBezTo>
                  <a:pt x="1267660" y="-15840"/>
                  <a:pt x="1546645" y="4426"/>
                  <a:pt x="1768032" y="0"/>
                </a:cubicBezTo>
                <a:cubicBezTo>
                  <a:pt x="1989419" y="-4426"/>
                  <a:pt x="2163109" y="2955"/>
                  <a:pt x="2340775" y="0"/>
                </a:cubicBezTo>
                <a:cubicBezTo>
                  <a:pt x="2518441" y="-2955"/>
                  <a:pt x="2750999" y="-8227"/>
                  <a:pt x="3062929" y="0"/>
                </a:cubicBezTo>
                <a:cubicBezTo>
                  <a:pt x="3374859" y="8227"/>
                  <a:pt x="3500199" y="-16070"/>
                  <a:pt x="3685476" y="0"/>
                </a:cubicBezTo>
                <a:cubicBezTo>
                  <a:pt x="3870753" y="16070"/>
                  <a:pt x="4009165" y="13355"/>
                  <a:pt x="4158611" y="0"/>
                </a:cubicBezTo>
                <a:cubicBezTo>
                  <a:pt x="4308057" y="-13355"/>
                  <a:pt x="4750412" y="37909"/>
                  <a:pt x="4980373" y="0"/>
                </a:cubicBezTo>
                <a:cubicBezTo>
                  <a:pt x="4982555" y="98087"/>
                  <a:pt x="4971556" y="208707"/>
                  <a:pt x="4980373" y="390618"/>
                </a:cubicBezTo>
                <a:cubicBezTo>
                  <a:pt x="4751440" y="393957"/>
                  <a:pt x="4556170" y="379302"/>
                  <a:pt x="4357826" y="390618"/>
                </a:cubicBezTo>
                <a:cubicBezTo>
                  <a:pt x="4159482" y="401934"/>
                  <a:pt x="4099649" y="402087"/>
                  <a:pt x="3884691" y="390618"/>
                </a:cubicBezTo>
                <a:cubicBezTo>
                  <a:pt x="3669734" y="379149"/>
                  <a:pt x="3535713" y="405468"/>
                  <a:pt x="3361752" y="390618"/>
                </a:cubicBezTo>
                <a:cubicBezTo>
                  <a:pt x="3187791" y="375768"/>
                  <a:pt x="2942463" y="358582"/>
                  <a:pt x="2639598" y="390618"/>
                </a:cubicBezTo>
                <a:cubicBezTo>
                  <a:pt x="2336733" y="422654"/>
                  <a:pt x="2302375" y="417739"/>
                  <a:pt x="1967247" y="390618"/>
                </a:cubicBezTo>
                <a:cubicBezTo>
                  <a:pt x="1632119" y="363497"/>
                  <a:pt x="1600198" y="383504"/>
                  <a:pt x="1494112" y="390618"/>
                </a:cubicBezTo>
                <a:cubicBezTo>
                  <a:pt x="1388027" y="397732"/>
                  <a:pt x="1136427" y="389432"/>
                  <a:pt x="871565" y="390618"/>
                </a:cubicBezTo>
                <a:cubicBezTo>
                  <a:pt x="606703" y="391804"/>
                  <a:pt x="201910" y="413726"/>
                  <a:pt x="0" y="390618"/>
                </a:cubicBezTo>
                <a:cubicBezTo>
                  <a:pt x="15675" y="246385"/>
                  <a:pt x="-8527" y="95416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07831990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180CEF2-9211-4D68-937D-BA20A053EA23}"/>
              </a:ext>
            </a:extLst>
          </p:cNvPr>
          <p:cNvSpPr txBox="1"/>
          <p:nvPr/>
        </p:nvSpPr>
        <p:spPr>
          <a:xfrm>
            <a:off x="4012707" y="991486"/>
            <a:ext cx="1819921" cy="381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dirty="0">
                <a:solidFill>
                  <a:srgbClr val="7030A0"/>
                </a:solidFill>
              </a:rPr>
              <a:t>Initialization</a:t>
            </a:r>
          </a:p>
        </p:txBody>
      </p:sp>
    </p:spTree>
    <p:extLst>
      <p:ext uri="{BB962C8B-B14F-4D97-AF65-F5344CB8AC3E}">
        <p14:creationId xmlns:p14="http://schemas.microsoft.com/office/powerpoint/2010/main" val="776403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Functions</a:t>
            </a:r>
            <a:endParaRPr lang="en-US" noProof="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0CF5933-EB2F-4390-8A17-541DF305F280}"/>
              </a:ext>
            </a:extLst>
          </p:cNvPr>
          <p:cNvSpPr txBox="1"/>
          <p:nvPr/>
        </p:nvSpPr>
        <p:spPr>
          <a:xfrm>
            <a:off x="665825" y="1414800"/>
            <a:ext cx="11327906" cy="4772935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def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 err="1">
                <a:solidFill>
                  <a:srgbClr val="0070C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myFirstFunction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(a, b, operation=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##### Description #####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a: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b: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operation: string, please choose between "addition", "subtraction", "multiplication" or "division"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a must be a float or int"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(b)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b must be a float or int"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"addition"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"subtraction"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"division"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b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“Error: please choose between 'addition', 'subtraction', 'multiplication' or 'division'"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"addition"):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+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"subtraction"):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-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"multiplication"):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*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"division"):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/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return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c</a:t>
            </a: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5F2D2ED-686B-4E9D-B155-4760C09A8315}"/>
              </a:ext>
            </a:extLst>
          </p:cNvPr>
          <p:cNvSpPr/>
          <p:nvPr/>
        </p:nvSpPr>
        <p:spPr>
          <a:xfrm>
            <a:off x="1044603" y="1580223"/>
            <a:ext cx="8392359" cy="1225119"/>
          </a:xfrm>
          <a:custGeom>
            <a:avLst/>
            <a:gdLst>
              <a:gd name="connsiteX0" fmla="*/ 0 w 8392359"/>
              <a:gd name="connsiteY0" fmla="*/ 0 h 1225119"/>
              <a:gd name="connsiteX1" fmla="*/ 447592 w 8392359"/>
              <a:gd name="connsiteY1" fmla="*/ 0 h 1225119"/>
              <a:gd name="connsiteX2" fmla="*/ 1063032 w 8392359"/>
              <a:gd name="connsiteY2" fmla="*/ 0 h 1225119"/>
              <a:gd name="connsiteX3" fmla="*/ 1930243 w 8392359"/>
              <a:gd name="connsiteY3" fmla="*/ 0 h 1225119"/>
              <a:gd name="connsiteX4" fmla="*/ 2545682 w 8392359"/>
              <a:gd name="connsiteY4" fmla="*/ 0 h 1225119"/>
              <a:gd name="connsiteX5" fmla="*/ 3412893 w 8392359"/>
              <a:gd name="connsiteY5" fmla="*/ 0 h 1225119"/>
              <a:gd name="connsiteX6" fmla="*/ 4112256 w 8392359"/>
              <a:gd name="connsiteY6" fmla="*/ 0 h 1225119"/>
              <a:gd name="connsiteX7" fmla="*/ 4559848 w 8392359"/>
              <a:gd name="connsiteY7" fmla="*/ 0 h 1225119"/>
              <a:gd name="connsiteX8" fmla="*/ 5427059 w 8392359"/>
              <a:gd name="connsiteY8" fmla="*/ 0 h 1225119"/>
              <a:gd name="connsiteX9" fmla="*/ 6294269 w 8392359"/>
              <a:gd name="connsiteY9" fmla="*/ 0 h 1225119"/>
              <a:gd name="connsiteX10" fmla="*/ 6909709 w 8392359"/>
              <a:gd name="connsiteY10" fmla="*/ 0 h 1225119"/>
              <a:gd name="connsiteX11" fmla="*/ 7776919 w 8392359"/>
              <a:gd name="connsiteY11" fmla="*/ 0 h 1225119"/>
              <a:gd name="connsiteX12" fmla="*/ 8392359 w 8392359"/>
              <a:gd name="connsiteY12" fmla="*/ 0 h 1225119"/>
              <a:gd name="connsiteX13" fmla="*/ 8392359 w 8392359"/>
              <a:gd name="connsiteY13" fmla="*/ 624811 h 1225119"/>
              <a:gd name="connsiteX14" fmla="*/ 8392359 w 8392359"/>
              <a:gd name="connsiteY14" fmla="*/ 1225119 h 1225119"/>
              <a:gd name="connsiteX15" fmla="*/ 7776919 w 8392359"/>
              <a:gd name="connsiteY15" fmla="*/ 1225119 h 1225119"/>
              <a:gd name="connsiteX16" fmla="*/ 7077556 w 8392359"/>
              <a:gd name="connsiteY16" fmla="*/ 1225119 h 1225119"/>
              <a:gd name="connsiteX17" fmla="*/ 6378193 w 8392359"/>
              <a:gd name="connsiteY17" fmla="*/ 1225119 h 1225119"/>
              <a:gd name="connsiteX18" fmla="*/ 5930600 w 8392359"/>
              <a:gd name="connsiteY18" fmla="*/ 1225119 h 1225119"/>
              <a:gd name="connsiteX19" fmla="*/ 5063390 w 8392359"/>
              <a:gd name="connsiteY19" fmla="*/ 1225119 h 1225119"/>
              <a:gd name="connsiteX20" fmla="*/ 4196180 w 8392359"/>
              <a:gd name="connsiteY20" fmla="*/ 1225119 h 1225119"/>
              <a:gd name="connsiteX21" fmla="*/ 3748587 w 8392359"/>
              <a:gd name="connsiteY21" fmla="*/ 1225119 h 1225119"/>
              <a:gd name="connsiteX22" fmla="*/ 3133147 w 8392359"/>
              <a:gd name="connsiteY22" fmla="*/ 1225119 h 1225119"/>
              <a:gd name="connsiteX23" fmla="*/ 2433784 w 8392359"/>
              <a:gd name="connsiteY23" fmla="*/ 1225119 h 1225119"/>
              <a:gd name="connsiteX24" fmla="*/ 1566574 w 8392359"/>
              <a:gd name="connsiteY24" fmla="*/ 1225119 h 1225119"/>
              <a:gd name="connsiteX25" fmla="*/ 783287 w 8392359"/>
              <a:gd name="connsiteY25" fmla="*/ 1225119 h 1225119"/>
              <a:gd name="connsiteX26" fmla="*/ 0 w 8392359"/>
              <a:gd name="connsiteY26" fmla="*/ 1225119 h 1225119"/>
              <a:gd name="connsiteX27" fmla="*/ 0 w 8392359"/>
              <a:gd name="connsiteY27" fmla="*/ 600308 h 1225119"/>
              <a:gd name="connsiteX28" fmla="*/ 0 w 8392359"/>
              <a:gd name="connsiteY28" fmla="*/ 0 h 12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392359" h="1225119" extrusionOk="0">
                <a:moveTo>
                  <a:pt x="0" y="0"/>
                </a:moveTo>
                <a:cubicBezTo>
                  <a:pt x="111780" y="4179"/>
                  <a:pt x="258790" y="10401"/>
                  <a:pt x="447592" y="0"/>
                </a:cubicBezTo>
                <a:cubicBezTo>
                  <a:pt x="636394" y="-10401"/>
                  <a:pt x="900064" y="-4290"/>
                  <a:pt x="1063032" y="0"/>
                </a:cubicBezTo>
                <a:cubicBezTo>
                  <a:pt x="1226000" y="4290"/>
                  <a:pt x="1498324" y="6241"/>
                  <a:pt x="1930243" y="0"/>
                </a:cubicBezTo>
                <a:cubicBezTo>
                  <a:pt x="2362162" y="-6241"/>
                  <a:pt x="2266125" y="-4107"/>
                  <a:pt x="2545682" y="0"/>
                </a:cubicBezTo>
                <a:cubicBezTo>
                  <a:pt x="2825239" y="4107"/>
                  <a:pt x="3038783" y="15766"/>
                  <a:pt x="3412893" y="0"/>
                </a:cubicBezTo>
                <a:cubicBezTo>
                  <a:pt x="3787003" y="-15766"/>
                  <a:pt x="3880962" y="-6038"/>
                  <a:pt x="4112256" y="0"/>
                </a:cubicBezTo>
                <a:cubicBezTo>
                  <a:pt x="4343550" y="6038"/>
                  <a:pt x="4374126" y="5274"/>
                  <a:pt x="4559848" y="0"/>
                </a:cubicBezTo>
                <a:cubicBezTo>
                  <a:pt x="4745570" y="-5274"/>
                  <a:pt x="5045253" y="17713"/>
                  <a:pt x="5427059" y="0"/>
                </a:cubicBezTo>
                <a:cubicBezTo>
                  <a:pt x="5808865" y="-17713"/>
                  <a:pt x="5872175" y="-25827"/>
                  <a:pt x="6294269" y="0"/>
                </a:cubicBezTo>
                <a:cubicBezTo>
                  <a:pt x="6716363" y="25827"/>
                  <a:pt x="6678202" y="-13297"/>
                  <a:pt x="6909709" y="0"/>
                </a:cubicBezTo>
                <a:cubicBezTo>
                  <a:pt x="7141216" y="13297"/>
                  <a:pt x="7377801" y="9953"/>
                  <a:pt x="7776919" y="0"/>
                </a:cubicBezTo>
                <a:cubicBezTo>
                  <a:pt x="8176037" y="-9953"/>
                  <a:pt x="8251274" y="10680"/>
                  <a:pt x="8392359" y="0"/>
                </a:cubicBezTo>
                <a:cubicBezTo>
                  <a:pt x="8402004" y="171019"/>
                  <a:pt x="8382740" y="462913"/>
                  <a:pt x="8392359" y="624811"/>
                </a:cubicBezTo>
                <a:cubicBezTo>
                  <a:pt x="8401978" y="786709"/>
                  <a:pt x="8407346" y="1000081"/>
                  <a:pt x="8392359" y="1225119"/>
                </a:cubicBezTo>
                <a:cubicBezTo>
                  <a:pt x="8122997" y="1204561"/>
                  <a:pt x="7963181" y="1212358"/>
                  <a:pt x="7776919" y="1225119"/>
                </a:cubicBezTo>
                <a:cubicBezTo>
                  <a:pt x="7590657" y="1237880"/>
                  <a:pt x="7418298" y="1203893"/>
                  <a:pt x="7077556" y="1225119"/>
                </a:cubicBezTo>
                <a:cubicBezTo>
                  <a:pt x="6736814" y="1246345"/>
                  <a:pt x="6669872" y="1196987"/>
                  <a:pt x="6378193" y="1225119"/>
                </a:cubicBezTo>
                <a:cubicBezTo>
                  <a:pt x="6086514" y="1253251"/>
                  <a:pt x="6076603" y="1240033"/>
                  <a:pt x="5930600" y="1225119"/>
                </a:cubicBezTo>
                <a:cubicBezTo>
                  <a:pt x="5784597" y="1210205"/>
                  <a:pt x="5259658" y="1251878"/>
                  <a:pt x="5063390" y="1225119"/>
                </a:cubicBezTo>
                <a:cubicBezTo>
                  <a:pt x="4867122" y="1198361"/>
                  <a:pt x="4471435" y="1198960"/>
                  <a:pt x="4196180" y="1225119"/>
                </a:cubicBezTo>
                <a:cubicBezTo>
                  <a:pt x="3920925" y="1251279"/>
                  <a:pt x="3959043" y="1227595"/>
                  <a:pt x="3748587" y="1225119"/>
                </a:cubicBezTo>
                <a:cubicBezTo>
                  <a:pt x="3538131" y="1222643"/>
                  <a:pt x="3419185" y="1238842"/>
                  <a:pt x="3133147" y="1225119"/>
                </a:cubicBezTo>
                <a:cubicBezTo>
                  <a:pt x="2847109" y="1211396"/>
                  <a:pt x="2706091" y="1211690"/>
                  <a:pt x="2433784" y="1225119"/>
                </a:cubicBezTo>
                <a:cubicBezTo>
                  <a:pt x="2161477" y="1238548"/>
                  <a:pt x="1994322" y="1208820"/>
                  <a:pt x="1566574" y="1225119"/>
                </a:cubicBezTo>
                <a:cubicBezTo>
                  <a:pt x="1138826" y="1241419"/>
                  <a:pt x="1092697" y="1220502"/>
                  <a:pt x="783287" y="1225119"/>
                </a:cubicBezTo>
                <a:cubicBezTo>
                  <a:pt x="473877" y="1229736"/>
                  <a:pt x="359931" y="1242321"/>
                  <a:pt x="0" y="1225119"/>
                </a:cubicBezTo>
                <a:cubicBezTo>
                  <a:pt x="10446" y="939635"/>
                  <a:pt x="-25730" y="801819"/>
                  <a:pt x="0" y="600308"/>
                </a:cubicBezTo>
                <a:cubicBezTo>
                  <a:pt x="25730" y="398797"/>
                  <a:pt x="-7321" y="179152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07831990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AF51224-8A59-4B56-A13E-8A5539E71704}"/>
              </a:ext>
            </a:extLst>
          </p:cNvPr>
          <p:cNvSpPr txBox="1"/>
          <p:nvPr/>
        </p:nvSpPr>
        <p:spPr>
          <a:xfrm>
            <a:off x="8208442" y="1223932"/>
            <a:ext cx="1819921" cy="381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rgbClr val="7030A0"/>
                </a:solidFill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2751001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Functions</a:t>
            </a:r>
            <a:endParaRPr lang="en-US" noProof="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0CF5933-EB2F-4390-8A17-541DF305F280}"/>
              </a:ext>
            </a:extLst>
          </p:cNvPr>
          <p:cNvSpPr txBox="1"/>
          <p:nvPr/>
        </p:nvSpPr>
        <p:spPr>
          <a:xfrm>
            <a:off x="665825" y="1414800"/>
            <a:ext cx="11327906" cy="4772935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def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 err="1">
                <a:solidFill>
                  <a:srgbClr val="0070C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myFirstFunction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(a, b, operation=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##### Description #####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a: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b: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operation: string, please choose between "addition", "subtraction", "multiplication" or "division"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a must be a float or int"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(b)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b must be a float or int"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"addition"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"subtraction"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"division"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b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“Error: please choose between 'addition', 'subtraction', 'multiplication' or 'division'"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"addition"):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+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"subtraction"):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-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"multiplication"):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*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"division"):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/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return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c</a:t>
            </a: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5F2D2ED-686B-4E9D-B155-4760C09A8315}"/>
              </a:ext>
            </a:extLst>
          </p:cNvPr>
          <p:cNvSpPr/>
          <p:nvPr/>
        </p:nvSpPr>
        <p:spPr>
          <a:xfrm>
            <a:off x="1062358" y="2743199"/>
            <a:ext cx="10807087" cy="807870"/>
          </a:xfrm>
          <a:custGeom>
            <a:avLst/>
            <a:gdLst>
              <a:gd name="connsiteX0" fmla="*/ 0 w 10807087"/>
              <a:gd name="connsiteY0" fmla="*/ 0 h 807870"/>
              <a:gd name="connsiteX1" fmla="*/ 351230 w 10807087"/>
              <a:gd name="connsiteY1" fmla="*/ 0 h 807870"/>
              <a:gd name="connsiteX2" fmla="*/ 918602 w 10807087"/>
              <a:gd name="connsiteY2" fmla="*/ 0 h 807870"/>
              <a:gd name="connsiteX3" fmla="*/ 1810187 w 10807087"/>
              <a:gd name="connsiteY3" fmla="*/ 0 h 807870"/>
              <a:gd name="connsiteX4" fmla="*/ 2377559 w 10807087"/>
              <a:gd name="connsiteY4" fmla="*/ 0 h 807870"/>
              <a:gd name="connsiteX5" fmla="*/ 3269144 w 10807087"/>
              <a:gd name="connsiteY5" fmla="*/ 0 h 807870"/>
              <a:gd name="connsiteX6" fmla="*/ 3944587 w 10807087"/>
              <a:gd name="connsiteY6" fmla="*/ 0 h 807870"/>
              <a:gd name="connsiteX7" fmla="*/ 4295817 w 10807087"/>
              <a:gd name="connsiteY7" fmla="*/ 0 h 807870"/>
              <a:gd name="connsiteX8" fmla="*/ 5187402 w 10807087"/>
              <a:gd name="connsiteY8" fmla="*/ 0 h 807870"/>
              <a:gd name="connsiteX9" fmla="*/ 6078986 w 10807087"/>
              <a:gd name="connsiteY9" fmla="*/ 0 h 807870"/>
              <a:gd name="connsiteX10" fmla="*/ 6646359 w 10807087"/>
              <a:gd name="connsiteY10" fmla="*/ 0 h 807870"/>
              <a:gd name="connsiteX11" fmla="*/ 7537943 w 10807087"/>
              <a:gd name="connsiteY11" fmla="*/ 0 h 807870"/>
              <a:gd name="connsiteX12" fmla="*/ 7889174 w 10807087"/>
              <a:gd name="connsiteY12" fmla="*/ 0 h 807870"/>
              <a:gd name="connsiteX13" fmla="*/ 8672687 w 10807087"/>
              <a:gd name="connsiteY13" fmla="*/ 0 h 807870"/>
              <a:gd name="connsiteX14" fmla="*/ 9456201 w 10807087"/>
              <a:gd name="connsiteY14" fmla="*/ 0 h 807870"/>
              <a:gd name="connsiteX15" fmla="*/ 9915502 w 10807087"/>
              <a:gd name="connsiteY15" fmla="*/ 0 h 807870"/>
              <a:gd name="connsiteX16" fmla="*/ 10807087 w 10807087"/>
              <a:gd name="connsiteY16" fmla="*/ 0 h 807870"/>
              <a:gd name="connsiteX17" fmla="*/ 10807087 w 10807087"/>
              <a:gd name="connsiteY17" fmla="*/ 387778 h 807870"/>
              <a:gd name="connsiteX18" fmla="*/ 10807087 w 10807087"/>
              <a:gd name="connsiteY18" fmla="*/ 807870 h 807870"/>
              <a:gd name="connsiteX19" fmla="*/ 9915502 w 10807087"/>
              <a:gd name="connsiteY19" fmla="*/ 807870 h 807870"/>
              <a:gd name="connsiteX20" fmla="*/ 9023918 w 10807087"/>
              <a:gd name="connsiteY20" fmla="*/ 807870 h 807870"/>
              <a:gd name="connsiteX21" fmla="*/ 8672687 w 10807087"/>
              <a:gd name="connsiteY21" fmla="*/ 807870 h 807870"/>
              <a:gd name="connsiteX22" fmla="*/ 8105315 w 10807087"/>
              <a:gd name="connsiteY22" fmla="*/ 807870 h 807870"/>
              <a:gd name="connsiteX23" fmla="*/ 7429872 w 10807087"/>
              <a:gd name="connsiteY23" fmla="*/ 807870 h 807870"/>
              <a:gd name="connsiteX24" fmla="*/ 6538288 w 10807087"/>
              <a:gd name="connsiteY24" fmla="*/ 807870 h 807870"/>
              <a:gd name="connsiteX25" fmla="*/ 5754774 w 10807087"/>
              <a:gd name="connsiteY25" fmla="*/ 807870 h 807870"/>
              <a:gd name="connsiteX26" fmla="*/ 5403544 w 10807087"/>
              <a:gd name="connsiteY26" fmla="*/ 807870 h 807870"/>
              <a:gd name="connsiteX27" fmla="*/ 4620030 w 10807087"/>
              <a:gd name="connsiteY27" fmla="*/ 807870 h 807870"/>
              <a:gd name="connsiteX28" fmla="*/ 4160728 w 10807087"/>
              <a:gd name="connsiteY28" fmla="*/ 807870 h 807870"/>
              <a:gd name="connsiteX29" fmla="*/ 3593356 w 10807087"/>
              <a:gd name="connsiteY29" fmla="*/ 807870 h 807870"/>
              <a:gd name="connsiteX30" fmla="*/ 2917913 w 10807087"/>
              <a:gd name="connsiteY30" fmla="*/ 807870 h 807870"/>
              <a:gd name="connsiteX31" fmla="*/ 2458612 w 10807087"/>
              <a:gd name="connsiteY31" fmla="*/ 807870 h 807870"/>
              <a:gd name="connsiteX32" fmla="*/ 1567028 w 10807087"/>
              <a:gd name="connsiteY32" fmla="*/ 807870 h 807870"/>
              <a:gd name="connsiteX33" fmla="*/ 1215797 w 10807087"/>
              <a:gd name="connsiteY33" fmla="*/ 807870 h 807870"/>
              <a:gd name="connsiteX34" fmla="*/ 0 w 10807087"/>
              <a:gd name="connsiteY34" fmla="*/ 807870 h 807870"/>
              <a:gd name="connsiteX35" fmla="*/ 0 w 10807087"/>
              <a:gd name="connsiteY35" fmla="*/ 403935 h 807870"/>
              <a:gd name="connsiteX36" fmla="*/ 0 w 10807087"/>
              <a:gd name="connsiteY36" fmla="*/ 0 h 80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807087" h="807870" extrusionOk="0">
                <a:moveTo>
                  <a:pt x="0" y="0"/>
                </a:moveTo>
                <a:cubicBezTo>
                  <a:pt x="140519" y="16162"/>
                  <a:pt x="243181" y="13322"/>
                  <a:pt x="351230" y="0"/>
                </a:cubicBezTo>
                <a:cubicBezTo>
                  <a:pt x="459279" y="-13322"/>
                  <a:pt x="802982" y="18668"/>
                  <a:pt x="918602" y="0"/>
                </a:cubicBezTo>
                <a:cubicBezTo>
                  <a:pt x="1034222" y="-18668"/>
                  <a:pt x="1590470" y="23804"/>
                  <a:pt x="1810187" y="0"/>
                </a:cubicBezTo>
                <a:cubicBezTo>
                  <a:pt x="2029905" y="-23804"/>
                  <a:pt x="2145726" y="-6192"/>
                  <a:pt x="2377559" y="0"/>
                </a:cubicBezTo>
                <a:cubicBezTo>
                  <a:pt x="2609392" y="6192"/>
                  <a:pt x="2885733" y="20492"/>
                  <a:pt x="3269144" y="0"/>
                </a:cubicBezTo>
                <a:cubicBezTo>
                  <a:pt x="3652555" y="-20492"/>
                  <a:pt x="3662000" y="-30855"/>
                  <a:pt x="3944587" y="0"/>
                </a:cubicBezTo>
                <a:cubicBezTo>
                  <a:pt x="4227174" y="30855"/>
                  <a:pt x="4157267" y="-10684"/>
                  <a:pt x="4295817" y="0"/>
                </a:cubicBezTo>
                <a:cubicBezTo>
                  <a:pt x="4434367" y="10684"/>
                  <a:pt x="4880927" y="28687"/>
                  <a:pt x="5187402" y="0"/>
                </a:cubicBezTo>
                <a:cubicBezTo>
                  <a:pt x="5493878" y="-28687"/>
                  <a:pt x="5687080" y="-32972"/>
                  <a:pt x="6078986" y="0"/>
                </a:cubicBezTo>
                <a:cubicBezTo>
                  <a:pt x="6470892" y="32972"/>
                  <a:pt x="6437619" y="-23740"/>
                  <a:pt x="6646359" y="0"/>
                </a:cubicBezTo>
                <a:cubicBezTo>
                  <a:pt x="6855099" y="23740"/>
                  <a:pt x="7334804" y="-39315"/>
                  <a:pt x="7537943" y="0"/>
                </a:cubicBezTo>
                <a:cubicBezTo>
                  <a:pt x="7741082" y="39315"/>
                  <a:pt x="7818043" y="2280"/>
                  <a:pt x="7889174" y="0"/>
                </a:cubicBezTo>
                <a:cubicBezTo>
                  <a:pt x="7960305" y="-2280"/>
                  <a:pt x="8294085" y="-17981"/>
                  <a:pt x="8672687" y="0"/>
                </a:cubicBezTo>
                <a:cubicBezTo>
                  <a:pt x="9051289" y="17981"/>
                  <a:pt x="9155512" y="-15146"/>
                  <a:pt x="9456201" y="0"/>
                </a:cubicBezTo>
                <a:cubicBezTo>
                  <a:pt x="9756890" y="15146"/>
                  <a:pt x="9728017" y="4799"/>
                  <a:pt x="9915502" y="0"/>
                </a:cubicBezTo>
                <a:cubicBezTo>
                  <a:pt x="10102987" y="-4799"/>
                  <a:pt x="10473017" y="13454"/>
                  <a:pt x="10807087" y="0"/>
                </a:cubicBezTo>
                <a:cubicBezTo>
                  <a:pt x="10795527" y="178334"/>
                  <a:pt x="10824628" y="251559"/>
                  <a:pt x="10807087" y="387778"/>
                </a:cubicBezTo>
                <a:cubicBezTo>
                  <a:pt x="10789546" y="523997"/>
                  <a:pt x="10790056" y="702234"/>
                  <a:pt x="10807087" y="807870"/>
                </a:cubicBezTo>
                <a:cubicBezTo>
                  <a:pt x="10378800" y="838746"/>
                  <a:pt x="10157231" y="852371"/>
                  <a:pt x="9915502" y="807870"/>
                </a:cubicBezTo>
                <a:cubicBezTo>
                  <a:pt x="9673774" y="763369"/>
                  <a:pt x="9249642" y="808051"/>
                  <a:pt x="9023918" y="807870"/>
                </a:cubicBezTo>
                <a:cubicBezTo>
                  <a:pt x="8798194" y="807689"/>
                  <a:pt x="8774387" y="794769"/>
                  <a:pt x="8672687" y="807870"/>
                </a:cubicBezTo>
                <a:cubicBezTo>
                  <a:pt x="8570987" y="820971"/>
                  <a:pt x="8350898" y="809938"/>
                  <a:pt x="8105315" y="807870"/>
                </a:cubicBezTo>
                <a:cubicBezTo>
                  <a:pt x="7859732" y="805802"/>
                  <a:pt x="7591844" y="814018"/>
                  <a:pt x="7429872" y="807870"/>
                </a:cubicBezTo>
                <a:cubicBezTo>
                  <a:pt x="7267900" y="801722"/>
                  <a:pt x="6823230" y="845677"/>
                  <a:pt x="6538288" y="807870"/>
                </a:cubicBezTo>
                <a:cubicBezTo>
                  <a:pt x="6253346" y="770063"/>
                  <a:pt x="6057114" y="841613"/>
                  <a:pt x="5754774" y="807870"/>
                </a:cubicBezTo>
                <a:cubicBezTo>
                  <a:pt x="5452434" y="774127"/>
                  <a:pt x="5486704" y="823405"/>
                  <a:pt x="5403544" y="807870"/>
                </a:cubicBezTo>
                <a:cubicBezTo>
                  <a:pt x="5320384" y="792336"/>
                  <a:pt x="4812470" y="823281"/>
                  <a:pt x="4620030" y="807870"/>
                </a:cubicBezTo>
                <a:cubicBezTo>
                  <a:pt x="4427590" y="792459"/>
                  <a:pt x="4279365" y="826202"/>
                  <a:pt x="4160728" y="807870"/>
                </a:cubicBezTo>
                <a:cubicBezTo>
                  <a:pt x="4042091" y="789538"/>
                  <a:pt x="3756459" y="828077"/>
                  <a:pt x="3593356" y="807870"/>
                </a:cubicBezTo>
                <a:cubicBezTo>
                  <a:pt x="3430253" y="787663"/>
                  <a:pt x="3131445" y="831236"/>
                  <a:pt x="2917913" y="807870"/>
                </a:cubicBezTo>
                <a:cubicBezTo>
                  <a:pt x="2704381" y="784504"/>
                  <a:pt x="2678725" y="795988"/>
                  <a:pt x="2458612" y="807870"/>
                </a:cubicBezTo>
                <a:cubicBezTo>
                  <a:pt x="2238499" y="819752"/>
                  <a:pt x="1934191" y="780233"/>
                  <a:pt x="1567028" y="807870"/>
                </a:cubicBezTo>
                <a:cubicBezTo>
                  <a:pt x="1199865" y="835507"/>
                  <a:pt x="1293651" y="815789"/>
                  <a:pt x="1215797" y="807870"/>
                </a:cubicBezTo>
                <a:cubicBezTo>
                  <a:pt x="1137943" y="799951"/>
                  <a:pt x="586298" y="754921"/>
                  <a:pt x="0" y="807870"/>
                </a:cubicBezTo>
                <a:cubicBezTo>
                  <a:pt x="-158" y="681790"/>
                  <a:pt x="-4897" y="533381"/>
                  <a:pt x="0" y="403935"/>
                </a:cubicBezTo>
                <a:cubicBezTo>
                  <a:pt x="4897" y="274489"/>
                  <a:pt x="-10613" y="156901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07831990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A8ED82-F075-4C73-BADD-4673A27692CA}"/>
              </a:ext>
            </a:extLst>
          </p:cNvPr>
          <p:cNvSpPr txBox="1"/>
          <p:nvPr/>
        </p:nvSpPr>
        <p:spPr>
          <a:xfrm>
            <a:off x="10173810" y="2361458"/>
            <a:ext cx="1819921" cy="381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dirty="0">
                <a:solidFill>
                  <a:srgbClr val="7030A0"/>
                </a:solidFill>
              </a:rPr>
              <a:t>Error Messages</a:t>
            </a:r>
          </a:p>
        </p:txBody>
      </p:sp>
    </p:spTree>
    <p:extLst>
      <p:ext uri="{BB962C8B-B14F-4D97-AF65-F5344CB8AC3E}">
        <p14:creationId xmlns:p14="http://schemas.microsoft.com/office/powerpoint/2010/main" val="3031796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5BFA492-E70F-46C9-B253-2680999A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Functions</a:t>
            </a:r>
            <a:endParaRPr lang="en-US" noProof="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0CF5933-EB2F-4390-8A17-541DF305F280}"/>
              </a:ext>
            </a:extLst>
          </p:cNvPr>
          <p:cNvSpPr txBox="1"/>
          <p:nvPr/>
        </p:nvSpPr>
        <p:spPr>
          <a:xfrm>
            <a:off x="665825" y="1414800"/>
            <a:ext cx="11327906" cy="4772935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def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 err="1">
                <a:solidFill>
                  <a:srgbClr val="0070C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myFirstFunction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(a, b, operation=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##### Description #####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a: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b: float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operation: string, please choose between "addition", "subtraction", "multiplication" or "division"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a must be a float or int"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(b)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float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type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(a)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int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"Error: b must be a float or int"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assert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"addition"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"subtraction"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"multiplication"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|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"division"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), </a:t>
            </a:r>
            <a:b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</a:b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	</a:t>
            </a:r>
            <a:r>
              <a:rPr lang="en-US" sz="1100" i="1" dirty="0">
                <a:solidFill>
                  <a:srgbClr val="C0000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“Error: please choose between 'addition', 'subtraction', 'multiplication' or 'division'"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"addition"):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+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"subtraction"):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-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"multiplication"):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*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if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(operation == "division"):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c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=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a </a:t>
            </a:r>
            <a:r>
              <a:rPr lang="en-US" sz="11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/ 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00B050"/>
                </a:solidFill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return</a:t>
            </a:r>
            <a:r>
              <a:rPr lang="en-US" sz="1100" i="1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c</a:t>
            </a:r>
            <a:endParaRPr lang="en-US" sz="11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5F2D2ED-686B-4E9D-B155-4760C09A8315}"/>
              </a:ext>
            </a:extLst>
          </p:cNvPr>
          <p:cNvSpPr/>
          <p:nvPr/>
        </p:nvSpPr>
        <p:spPr>
          <a:xfrm>
            <a:off x="1000216" y="3542189"/>
            <a:ext cx="3163412" cy="2467993"/>
          </a:xfrm>
          <a:custGeom>
            <a:avLst/>
            <a:gdLst>
              <a:gd name="connsiteX0" fmla="*/ 0 w 3163412"/>
              <a:gd name="connsiteY0" fmla="*/ 0 h 2467993"/>
              <a:gd name="connsiteX1" fmla="*/ 537780 w 3163412"/>
              <a:gd name="connsiteY1" fmla="*/ 0 h 2467993"/>
              <a:gd name="connsiteX2" fmla="*/ 1138828 w 3163412"/>
              <a:gd name="connsiteY2" fmla="*/ 0 h 2467993"/>
              <a:gd name="connsiteX3" fmla="*/ 1834779 w 3163412"/>
              <a:gd name="connsiteY3" fmla="*/ 0 h 2467993"/>
              <a:gd name="connsiteX4" fmla="*/ 2435827 w 3163412"/>
              <a:gd name="connsiteY4" fmla="*/ 0 h 2467993"/>
              <a:gd name="connsiteX5" fmla="*/ 3163412 w 3163412"/>
              <a:gd name="connsiteY5" fmla="*/ 0 h 2467993"/>
              <a:gd name="connsiteX6" fmla="*/ 3163412 w 3163412"/>
              <a:gd name="connsiteY6" fmla="*/ 616998 h 2467993"/>
              <a:gd name="connsiteX7" fmla="*/ 3163412 w 3163412"/>
              <a:gd name="connsiteY7" fmla="*/ 1233997 h 2467993"/>
              <a:gd name="connsiteX8" fmla="*/ 3163412 w 3163412"/>
              <a:gd name="connsiteY8" fmla="*/ 1850995 h 2467993"/>
              <a:gd name="connsiteX9" fmla="*/ 3163412 w 3163412"/>
              <a:gd name="connsiteY9" fmla="*/ 2467993 h 2467993"/>
              <a:gd name="connsiteX10" fmla="*/ 2530730 w 3163412"/>
              <a:gd name="connsiteY10" fmla="*/ 2467993 h 2467993"/>
              <a:gd name="connsiteX11" fmla="*/ 1992950 w 3163412"/>
              <a:gd name="connsiteY11" fmla="*/ 2467993 h 2467993"/>
              <a:gd name="connsiteX12" fmla="*/ 1423535 w 3163412"/>
              <a:gd name="connsiteY12" fmla="*/ 2467993 h 2467993"/>
              <a:gd name="connsiteX13" fmla="*/ 727585 w 3163412"/>
              <a:gd name="connsiteY13" fmla="*/ 2467993 h 2467993"/>
              <a:gd name="connsiteX14" fmla="*/ 0 w 3163412"/>
              <a:gd name="connsiteY14" fmla="*/ 2467993 h 2467993"/>
              <a:gd name="connsiteX15" fmla="*/ 0 w 3163412"/>
              <a:gd name="connsiteY15" fmla="*/ 1925035 h 2467993"/>
              <a:gd name="connsiteX16" fmla="*/ 0 w 3163412"/>
              <a:gd name="connsiteY16" fmla="*/ 1332716 h 2467993"/>
              <a:gd name="connsiteX17" fmla="*/ 0 w 3163412"/>
              <a:gd name="connsiteY17" fmla="*/ 666358 h 2467993"/>
              <a:gd name="connsiteX18" fmla="*/ 0 w 3163412"/>
              <a:gd name="connsiteY18" fmla="*/ 0 h 246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163412" h="2467993" extrusionOk="0">
                <a:moveTo>
                  <a:pt x="0" y="0"/>
                </a:moveTo>
                <a:cubicBezTo>
                  <a:pt x="263519" y="-9678"/>
                  <a:pt x="303861" y="19349"/>
                  <a:pt x="537780" y="0"/>
                </a:cubicBezTo>
                <a:cubicBezTo>
                  <a:pt x="771699" y="-19349"/>
                  <a:pt x="900454" y="-22084"/>
                  <a:pt x="1138828" y="0"/>
                </a:cubicBezTo>
                <a:cubicBezTo>
                  <a:pt x="1377202" y="22084"/>
                  <a:pt x="1613467" y="27438"/>
                  <a:pt x="1834779" y="0"/>
                </a:cubicBezTo>
                <a:cubicBezTo>
                  <a:pt x="2056091" y="-27438"/>
                  <a:pt x="2292475" y="-15591"/>
                  <a:pt x="2435827" y="0"/>
                </a:cubicBezTo>
                <a:cubicBezTo>
                  <a:pt x="2579179" y="15591"/>
                  <a:pt x="2834937" y="-6403"/>
                  <a:pt x="3163412" y="0"/>
                </a:cubicBezTo>
                <a:cubicBezTo>
                  <a:pt x="3180984" y="157390"/>
                  <a:pt x="3136804" y="428867"/>
                  <a:pt x="3163412" y="616998"/>
                </a:cubicBezTo>
                <a:cubicBezTo>
                  <a:pt x="3190020" y="805129"/>
                  <a:pt x="3152424" y="929662"/>
                  <a:pt x="3163412" y="1233997"/>
                </a:cubicBezTo>
                <a:cubicBezTo>
                  <a:pt x="3174400" y="1538332"/>
                  <a:pt x="3145514" y="1562999"/>
                  <a:pt x="3163412" y="1850995"/>
                </a:cubicBezTo>
                <a:cubicBezTo>
                  <a:pt x="3181310" y="2138991"/>
                  <a:pt x="3172458" y="2167122"/>
                  <a:pt x="3163412" y="2467993"/>
                </a:cubicBezTo>
                <a:cubicBezTo>
                  <a:pt x="2945408" y="2492167"/>
                  <a:pt x="2698295" y="2488886"/>
                  <a:pt x="2530730" y="2467993"/>
                </a:cubicBezTo>
                <a:cubicBezTo>
                  <a:pt x="2363165" y="2447100"/>
                  <a:pt x="2191112" y="2481192"/>
                  <a:pt x="1992950" y="2467993"/>
                </a:cubicBezTo>
                <a:cubicBezTo>
                  <a:pt x="1794788" y="2454794"/>
                  <a:pt x="1598472" y="2470589"/>
                  <a:pt x="1423535" y="2467993"/>
                </a:cubicBezTo>
                <a:cubicBezTo>
                  <a:pt x="1248599" y="2465397"/>
                  <a:pt x="875692" y="2499688"/>
                  <a:pt x="727585" y="2467993"/>
                </a:cubicBezTo>
                <a:cubicBezTo>
                  <a:pt x="579478" y="2436299"/>
                  <a:pt x="159840" y="2437890"/>
                  <a:pt x="0" y="2467993"/>
                </a:cubicBezTo>
                <a:cubicBezTo>
                  <a:pt x="-20530" y="2291263"/>
                  <a:pt x="-13712" y="2041276"/>
                  <a:pt x="0" y="1925035"/>
                </a:cubicBezTo>
                <a:cubicBezTo>
                  <a:pt x="13712" y="1808794"/>
                  <a:pt x="2469" y="1626880"/>
                  <a:pt x="0" y="1332716"/>
                </a:cubicBezTo>
                <a:cubicBezTo>
                  <a:pt x="-2469" y="1038552"/>
                  <a:pt x="-21589" y="973152"/>
                  <a:pt x="0" y="666358"/>
                </a:cubicBezTo>
                <a:cubicBezTo>
                  <a:pt x="21589" y="359564"/>
                  <a:pt x="-19048" y="270672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07831990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16B6825-513B-40EB-B38E-66183E5B4F5E}"/>
              </a:ext>
            </a:extLst>
          </p:cNvPr>
          <p:cNvSpPr txBox="1"/>
          <p:nvPr/>
        </p:nvSpPr>
        <p:spPr>
          <a:xfrm>
            <a:off x="4234649" y="3542188"/>
            <a:ext cx="1464815" cy="3817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dirty="0">
                <a:solidFill>
                  <a:srgbClr val="7030A0"/>
                </a:solidFill>
              </a:rPr>
              <a:t>Instructions</a:t>
            </a:r>
          </a:p>
        </p:txBody>
      </p:sp>
    </p:spTree>
    <p:extLst>
      <p:ext uri="{BB962C8B-B14F-4D97-AF65-F5344CB8AC3E}">
        <p14:creationId xmlns:p14="http://schemas.microsoft.com/office/powerpoint/2010/main" val="271698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B7B8730-5301-43BD-8F1C-1B95F792115D}"/>
              </a:ext>
            </a:extLst>
          </p:cNvPr>
          <p:cNvSpPr txBox="1"/>
          <p:nvPr/>
        </p:nvSpPr>
        <p:spPr>
          <a:xfrm>
            <a:off x="626567" y="1200430"/>
            <a:ext cx="11089232" cy="4552300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</a:t>
            </a:r>
            <a:endParaRPr lang="en-US" sz="20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Please write your own first little Function.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Your function should compare two values and return, if the first value is smaller/ bigger/ equal to the second value.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e.g.: the following code should return "21 is smaller than 3"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        	</a:t>
            </a:r>
            <a:r>
              <a:rPr lang="en-US" sz="16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result = </a:t>
            </a:r>
            <a:r>
              <a:rPr lang="en-US" sz="1600" dirty="0" err="1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compareFunction</a:t>
            </a:r>
            <a:r>
              <a:rPr lang="en-US" sz="16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(21,3)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	print(result)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    	&gt;&gt;&gt; 21 is smaller than 3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b="1" u="sng" dirty="0">
              <a:ea typeface="Arial Unicode MS" panose="020B0604020202020204" pitchFamily="34" charset="-128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u="sng" dirty="0">
                <a:ea typeface="Arial Unicode MS" panose="020B0604020202020204" pitchFamily="34" charset="-128"/>
                <a:cs typeface="Courier New" panose="02070309020205020404" pitchFamily="49" charset="0"/>
              </a:rPr>
              <a:t>Attention</a:t>
            </a:r>
            <a:r>
              <a:rPr lang="en-US" sz="1600" b="1" dirty="0">
                <a:ea typeface="Arial Unicode MS" panose="020B0604020202020204" pitchFamily="34" charset="-128"/>
                <a:cs typeface="Courier New" panose="02070309020205020404" pitchFamily="49" charset="0"/>
              </a:rPr>
              <a:t>: </a:t>
            </a:r>
            <a:r>
              <a:rPr lang="en-US" sz="1600" dirty="0">
                <a:ea typeface="Arial Unicode MS" panose="020B0604020202020204" pitchFamily="34" charset="-128"/>
                <a:cs typeface="Courier New" panose="02070309020205020404" pitchFamily="49" charset="0"/>
              </a:rPr>
              <a:t>You have to parse the integer value of a and b into a string, so that you can stick it to the string "is smaller than"/ "is bigger than"/ "is equal to"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80549A1F-9B52-4F0B-9609-FE943FE3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Exercise 05</a:t>
            </a:r>
            <a:endParaRPr lang="en-US" noProof="0" dirty="0"/>
          </a:p>
        </p:txBody>
      </p:sp>
      <p:pic>
        <p:nvPicPr>
          <p:cNvPr id="8" name="Grafik 7" descr="Armbanduhr">
            <a:extLst>
              <a:ext uri="{FF2B5EF4-FFF2-40B4-BE49-F238E27FC236}">
                <a16:creationId xmlns:a16="http://schemas.microsoft.com/office/drawing/2014/main" id="{6FD1E458-E11C-4DD0-B7E9-DAD4A2EF2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7507" y="1201553"/>
            <a:ext cx="914400" cy="914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C4FB80E-97FD-49C6-BB38-6BEFAF71C4FF}"/>
              </a:ext>
            </a:extLst>
          </p:cNvPr>
          <p:cNvSpPr txBox="1"/>
          <p:nvPr/>
        </p:nvSpPr>
        <p:spPr>
          <a:xfrm>
            <a:off x="10769414" y="1494932"/>
            <a:ext cx="1179930" cy="327641"/>
          </a:xfrm>
          <a:prstGeom prst="rect">
            <a:avLst/>
          </a:prstGeom>
          <a:noFill/>
        </p:spPr>
        <p:txBody>
          <a:bodyPr wrap="square" lIns="108000" tIns="54000" rIns="108000" bIns="54000" rtlCol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4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20</a:t>
            </a:r>
            <a:r>
              <a:rPr lang="en-US" sz="1400" b="1" dirty="0"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2668002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py">
            <a:extLst>
              <a:ext uri="{FF2B5EF4-FFF2-40B4-BE49-F238E27FC236}">
                <a16:creationId xmlns:a16="http://schemas.microsoft.com/office/drawing/2014/main" id="{153C642A-3482-4493-B6B7-8337CFE8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63" y="1414800"/>
            <a:ext cx="10771865" cy="4752975"/>
          </a:xfrm>
        </p:spPr>
        <p:txBody>
          <a:bodyPr/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Beautiful is better than ugly.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Explicit is better than implicit.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Simple is better than complex.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Complex is better than complicated.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Flat is better than nested.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Sparse is better than dense.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Readability counts.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Special cases aren't special enough to break the rules.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Errors should never pass silently.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In the face of ambiguity, refuse the temptation to guess.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There should be one -- and preferably only one -- obvious way to do it.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Now is better than never.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If the implementation is hard to explain, it's a bad idea/ If the implementation is easy to explain, it may be a good idea.</a:t>
            </a:r>
          </a:p>
        </p:txBody>
      </p:sp>
      <p:sp>
        <p:nvSpPr>
          <p:cNvPr id="2" name="Highlight"/>
          <p:cNvSpPr txBox="1"/>
          <p:nvPr/>
        </p:nvSpPr>
        <p:spPr>
          <a:xfrm rot="915356">
            <a:off x="7327491" y="1914629"/>
            <a:ext cx="4542889" cy="4951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108000" tIns="108000" rIns="108000" bIns="108000" rtlCol="0">
            <a:spAutoFit/>
          </a:bodyPr>
          <a:lstStyle/>
          <a:p>
            <a:pPr algn="ctr"/>
            <a:r>
              <a:rPr lang="de-DE" b="1" dirty="0">
                <a:solidFill>
                  <a:srgbClr val="7030A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https://www.w3schools.com/python/</a:t>
            </a:r>
            <a:endParaRPr lang="de-DE" b="1" dirty="0">
              <a:solidFill>
                <a:srgbClr val="7030A0"/>
              </a:solidFill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00E9B4CE-CB5C-4790-B513-C2EA84F7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The n-Commandments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1193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3875E1C2-4471-4A0D-BE80-E2E48AF651B9}"/>
              </a:ext>
            </a:extLst>
          </p:cNvPr>
          <p:cNvSpPr txBox="1">
            <a:spLocks/>
          </p:cNvSpPr>
          <p:nvPr/>
        </p:nvSpPr>
        <p:spPr bwMode="auto">
          <a:xfrm>
            <a:off x="29376" y="2492896"/>
            <a:ext cx="12198350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626400" bIns="20880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ctr"/>
            <a:r>
              <a:rPr lang="de-DE" sz="4500" kern="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Thank</a:t>
            </a:r>
            <a:r>
              <a:rPr lang="de-DE" sz="4500" kern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4500" kern="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</a:t>
            </a:r>
            <a:r>
              <a:rPr lang="de-DE" sz="4500" kern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4500" kern="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very</a:t>
            </a:r>
            <a:r>
              <a:rPr lang="de-DE" sz="4500" kern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4500" kern="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much</a:t>
            </a:r>
            <a:r>
              <a:rPr lang="de-DE" sz="4500" kern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de-DE" sz="4500" kern="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  <a:r>
              <a:rPr lang="de-DE" sz="4500" kern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4500" kern="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attention</a:t>
            </a:r>
            <a:r>
              <a:rPr lang="de-DE" sz="4500" kern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8981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201"/>
                            </p:stCondLst>
                            <p:childTnLst>
                              <p:par>
                                <p:cTn id="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">
            <a:extLst>
              <a:ext uri="{FF2B5EF4-FFF2-40B4-BE49-F238E27FC236}">
                <a16:creationId xmlns:a16="http://schemas.microsoft.com/office/drawing/2014/main" id="{14D1BB11-9B4E-4D09-9793-CBC50C4D3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2049" y="1414801"/>
            <a:ext cx="5472113" cy="4752974"/>
          </a:xfrm>
        </p:spPr>
        <p:txBody>
          <a:bodyPr/>
          <a:lstStyle/>
          <a:p>
            <a:pPr lvl="1"/>
            <a:r>
              <a:rPr lang="en-US" noProof="0" dirty="0"/>
              <a:t>Nicolas Schneider</a:t>
            </a:r>
          </a:p>
          <a:p>
            <a:r>
              <a:rPr lang="en-US" dirty="0"/>
              <a:t>Dual Student</a:t>
            </a:r>
          </a:p>
          <a:p>
            <a:r>
              <a:rPr lang="en-US" dirty="0"/>
              <a:t>SE G QPI QM P</a:t>
            </a:r>
          </a:p>
          <a:p>
            <a:endParaRPr lang="en-US" noProof="0" dirty="0"/>
          </a:p>
          <a:p>
            <a:r>
              <a:rPr lang="en-US" noProof="0" dirty="0"/>
              <a:t>Mellinghofer Straße 55</a:t>
            </a:r>
            <a:br>
              <a:rPr lang="en-US" noProof="0" dirty="0"/>
            </a:br>
            <a:r>
              <a:rPr lang="en-US" noProof="0" dirty="0"/>
              <a:t>45468 </a:t>
            </a:r>
            <a:r>
              <a:rPr lang="en-US" dirty="0"/>
              <a:t>Mülheim an der Ruhr</a:t>
            </a:r>
            <a:br>
              <a:rPr lang="en-US" noProof="0" dirty="0"/>
            </a:br>
            <a:r>
              <a:rPr lang="en-US" noProof="0" dirty="0"/>
              <a:t>Germany</a:t>
            </a:r>
          </a:p>
          <a:p>
            <a:endParaRPr lang="en-US" noProof="0" dirty="0"/>
          </a:p>
          <a:p>
            <a:r>
              <a:rPr lang="en-US" noProof="0" dirty="0"/>
              <a:t>Phone: +49 173 4278041</a:t>
            </a:r>
          </a:p>
          <a:p>
            <a:r>
              <a:rPr lang="en-US" dirty="0">
                <a:hlinkClick r:id="rId2"/>
              </a:rPr>
              <a:t>n</a:t>
            </a:r>
            <a:r>
              <a:rPr lang="en-US" noProof="0" dirty="0">
                <a:hlinkClick r:id="rId2"/>
              </a:rPr>
              <a:t>icolas.schneider@siemens.com</a:t>
            </a:r>
            <a:endParaRPr lang="en-US" noProof="0" dirty="0"/>
          </a:p>
          <a:p>
            <a:pPr lvl="3"/>
            <a:r>
              <a:rPr lang="en-US" noProof="0" dirty="0"/>
              <a:t>siemens-energy.com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7D4EF9-9342-4567-A297-FC20236A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9659938" cy="1414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400" dirty="0"/>
              <a:t>DS0 – Introduction to Basic Programming Concepts</a:t>
            </a:r>
            <a:br>
              <a:rPr lang="en-US" sz="1400" dirty="0"/>
            </a:br>
            <a:r>
              <a:rPr lang="en-US" dirty="0"/>
              <a:t>Contact</a:t>
            </a:r>
            <a:endParaRPr lang="en-US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C0B8E33-F907-4CC7-9FCC-F1E941409106}"/>
              </a:ext>
            </a:extLst>
          </p:cNvPr>
          <p:cNvSpPr/>
          <p:nvPr/>
        </p:nvSpPr>
        <p:spPr>
          <a:xfrm>
            <a:off x="0" y="5859998"/>
            <a:ext cx="23871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i="1" dirty="0">
                <a:solidFill>
                  <a:schemeClr val="bg1"/>
                </a:solidFill>
              </a:rPr>
              <a:t>® </a:t>
            </a:r>
            <a:r>
              <a:rPr lang="en-US" sz="1200" i="1" dirty="0">
                <a:solidFill>
                  <a:schemeClr val="bg1"/>
                </a:solidFill>
              </a:rPr>
              <a:t>Published by Siemens Energy</a:t>
            </a:r>
          </a:p>
        </p:txBody>
      </p:sp>
    </p:spTree>
    <p:extLst>
      <p:ext uri="{BB962C8B-B14F-4D97-AF65-F5344CB8AC3E}">
        <p14:creationId xmlns:p14="http://schemas.microsoft.com/office/powerpoint/2010/main" val="4129985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4D217A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gradFill>
            <a:gsLst>
              <a:gs pos="0">
                <a:schemeClr val="tx1"/>
              </a:gs>
              <a:gs pos="100000">
                <a:schemeClr val="tx1">
                  <a:alpha val="5000"/>
                </a:schemeClr>
              </a:gs>
            </a:gsLst>
            <a:lin ang="0" scaled="0"/>
          </a:gra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custClrLst>
    <a:custClr name="SE Brown 1">
      <a:srgbClr val="CFC0BE"/>
    </a:custClr>
    <a:custClr name="SE Brown 3">
      <a:srgbClr val="8F7C7A"/>
    </a:custClr>
    <a:custClr name="SE Gray 1">
      <a:srgbClr val="D7E4EE"/>
    </a:custClr>
    <a:custClr name="SE Gray 3">
      <a:srgbClr val="96B0C0"/>
    </a:custClr>
    <a:custClr name="SE Green 1">
      <a:srgbClr val="00FD79"/>
    </a:custClr>
    <a:custClr name="SE Green 3">
      <a:srgbClr val="27B66D"/>
    </a:custClr>
    <a:custClr name="SE Blue 1">
      <a:srgbClr val="6ADDFF"/>
    </a:custClr>
    <a:custClr name="SE Blue 3">
      <a:srgbClr val="0084E1"/>
    </a:custClr>
    <a:custClr name="SE Yellow 1">
      <a:srgbClr val="FFF91F"/>
    </a:custClr>
    <a:custClr name="SE Yellow 3">
      <a:srgbClr val="E2D000"/>
    </a:custClr>
    <a:custClr name="SE Brown 2">
      <a:srgbClr val="AF9E9C"/>
    </a:custClr>
    <a:custClr name="SE Brown 4">
      <a:srgbClr val="7D6766"/>
    </a:custClr>
    <a:custClr name="SE Gray 2">
      <a:srgbClr val="B8CEDB"/>
    </a:custClr>
    <a:custClr name="SE Gray 4">
      <a:srgbClr val="7B919D"/>
    </a:custClr>
    <a:custClr name="SE Green 2">
      <a:srgbClr val="14DA79"/>
    </a:custClr>
    <a:custClr name="SE Green 4">
      <a:srgbClr val="009B55"/>
    </a:custClr>
    <a:custClr name="SE Blue 2">
      <a:srgbClr val="21C0FF"/>
    </a:custClr>
    <a:custClr name="SE Blue 4">
      <a:srgbClr val="0057C6"/>
    </a:custClr>
    <a:custClr name="SE Yellow 2">
      <a:srgbClr val="F6E600"/>
    </a:custClr>
    <a:custClr name="SE Yellow 4">
      <a:srgbClr val="C6AE00"/>
    </a:custClr>
  </a:custClrLst>
  <a:extLst>
    <a:ext uri="{05A4C25C-085E-4340-85A3-A5531E510DB2}">
      <thm15:themeFamily xmlns:thm15="http://schemas.microsoft.com/office/thememl/2012/main" name="SE_PPT-Template.pptx  -  Schreibgeschützt" id="{F3B1D394-C0B8-4E7B-A49A-72695C41D79B}" vid="{73F4336E-28B3-4AFE-BA51-013E9BCDB72A}"/>
    </a:ext>
  </a:extLst>
</a:theme>
</file>

<file path=ppt/theme/theme2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8A00E5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emens Energy">
  <a:themeElements>
    <a:clrScheme name="Siemens Energy">
      <a:dk1>
        <a:srgbClr val="1B1534"/>
      </a:dk1>
      <a:lt1>
        <a:sysClr val="window" lastClr="FFFFFF"/>
      </a:lt1>
      <a:dk2>
        <a:srgbClr val="1B1534"/>
      </a:dk2>
      <a:lt2>
        <a:srgbClr val="D7E4EE"/>
      </a:lt2>
      <a:accent1>
        <a:srgbClr val="D7E4EE"/>
      </a:accent1>
      <a:accent2>
        <a:srgbClr val="4D217A"/>
      </a:accent2>
      <a:accent3>
        <a:srgbClr val="8A00E5"/>
      </a:accent3>
      <a:accent4>
        <a:srgbClr val="009999"/>
      </a:accent4>
      <a:accent5>
        <a:srgbClr val="F6E600"/>
      </a:accent5>
      <a:accent6>
        <a:srgbClr val="7B919D"/>
      </a:accent6>
      <a:hlink>
        <a:srgbClr val="8A00E5"/>
      </a:hlink>
      <a:folHlink>
        <a:srgbClr val="7B919D"/>
      </a:folHlink>
    </a:clrScheme>
    <a:fontScheme name="Siemens Energ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SE_PPT-Template</Template>
  <TotalTime>0</TotalTime>
  <Words>5072</Words>
  <Application>Microsoft Office PowerPoint</Application>
  <PresentationFormat>Breitbild</PresentationFormat>
  <Paragraphs>971</Paragraphs>
  <Slides>59</Slides>
  <Notes>0</Notes>
  <HiddenSlides>5</HiddenSlides>
  <MMClips>1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59</vt:i4>
      </vt:variant>
    </vt:vector>
  </HeadingPairs>
  <TitlesOfParts>
    <vt:vector size="67" baseType="lpstr">
      <vt:lpstr>Abadi</vt:lpstr>
      <vt:lpstr>Arial</vt:lpstr>
      <vt:lpstr>Bahnschrift</vt:lpstr>
      <vt:lpstr>Cambria Math</vt:lpstr>
      <vt:lpstr>Courier New</vt:lpstr>
      <vt:lpstr>Times New Roman</vt:lpstr>
      <vt:lpstr>Wingdings</vt:lpstr>
      <vt:lpstr>Siemens Energy</vt:lpstr>
      <vt:lpstr>PowerPoint-Präsentation</vt:lpstr>
      <vt:lpstr>PowerPoint-Präsentation</vt:lpstr>
      <vt:lpstr>DS0 – Introduction to Basic Programming Concepts</vt:lpstr>
      <vt:lpstr>Agenda</vt:lpstr>
      <vt:lpstr>Learning Goals</vt:lpstr>
      <vt:lpstr>DS0 – Introduction to Basic Programming Concepts What do you should learn in this training?</vt:lpstr>
      <vt:lpstr>Programming &amp; Algorithms</vt:lpstr>
      <vt:lpstr>DS0 – Introduction to Basic Programming Concepts Programming Languages</vt:lpstr>
      <vt:lpstr>DS0 – Introduction to Basic Programming Concepts Programming Languages</vt:lpstr>
      <vt:lpstr>DS0 – Introduction to Basic Programming Concepts Programming Languages</vt:lpstr>
      <vt:lpstr>DS0 – Introduction to Basic Programming Concepts Programming Languages</vt:lpstr>
      <vt:lpstr>DS0 – Introduction to Basic Programming Concepts Syntax &amp; Semantics</vt:lpstr>
      <vt:lpstr>DS0 – Introduction to Basic Programming Concepts Algorithms</vt:lpstr>
      <vt:lpstr>PowerPoint-Präsentation</vt:lpstr>
      <vt:lpstr>Data Types</vt:lpstr>
      <vt:lpstr>DS0 – Introduction to Basic Programming Concepts Data Types</vt:lpstr>
      <vt:lpstr>DS0 – Introduction to Basic Programming Concepts Programming – Why?</vt:lpstr>
      <vt:lpstr>DS0 – Introduction to Basic Programming Concepts Data Types</vt:lpstr>
      <vt:lpstr>DS0 – Introduction to Basic Programming Concepts Data Types</vt:lpstr>
      <vt:lpstr>DS0 – Introduction to Basic Programming Concepts Exercise 01</vt:lpstr>
      <vt:lpstr>PowerPoint-Präsentation</vt:lpstr>
      <vt:lpstr>PowerPoint-Präsentation</vt:lpstr>
      <vt:lpstr>DS0 – Introduction to Basic Programming Concepts Exercise 01</vt:lpstr>
      <vt:lpstr>DS0 – Introduction to Basic Programming Concepts Exercise 01</vt:lpstr>
      <vt:lpstr>DS0 – Introduction to Basic Programming Concepts Exercise 01</vt:lpstr>
      <vt:lpstr>DS0 – Introduction to Basic Programming Concepts Exercise 01</vt:lpstr>
      <vt:lpstr>DS0 – Introduction to Basic Programming Concepts Exercise 01</vt:lpstr>
      <vt:lpstr>Basics</vt:lpstr>
      <vt:lpstr>DS0 – Introduction to Basic Programming Concepts Allocation &amp; Calculation Operators</vt:lpstr>
      <vt:lpstr>DS0 – Introduction to Basic Programming Concepts Comparison &amp; Logical Operators</vt:lpstr>
      <vt:lpstr>DS0 – Introduction to Basic Programming Concepts Variables</vt:lpstr>
      <vt:lpstr>DS0 – Introduction to Basic Programming Concepts Declaration, Definition, Initialization</vt:lpstr>
      <vt:lpstr>DS0 – Introduction to Basic Programming Concepts Recommendations for Scripting</vt:lpstr>
      <vt:lpstr>DS0 – Introduction to Basic Programming Concepts Recommendations for Scripting</vt:lpstr>
      <vt:lpstr>DS0 – Introduction to Basic Programming Concepts Recommendations for Scripting</vt:lpstr>
      <vt:lpstr>DS0 – Introduction to Basic Programming Concepts Exercise 02</vt:lpstr>
      <vt:lpstr>Data Structures</vt:lpstr>
      <vt:lpstr>DS0 – Introduction to Basic Programming Concepts Data Structures - Python</vt:lpstr>
      <vt:lpstr>DS0 – Introduction to Basic Programming Concepts Data Structures - General</vt:lpstr>
      <vt:lpstr>DS0 – Introduction to Basic Programming Concepts Data Structures - General</vt:lpstr>
      <vt:lpstr>DS0 – Introduction to Basic Programming Concepts Data Structures - General</vt:lpstr>
      <vt:lpstr>DS0 – Introduction to Basic Programming Concepts Exercise 03</vt:lpstr>
      <vt:lpstr>If-Statements &amp; Loops</vt:lpstr>
      <vt:lpstr>DS0 – Introduction to Basic Programming Concepts If-Statements</vt:lpstr>
      <vt:lpstr>DS0 – Introduction to Basic Programming Concepts Loops</vt:lpstr>
      <vt:lpstr>DS0 – Introduction to Basic Programming Concepts Loops: for</vt:lpstr>
      <vt:lpstr>DS0 – Introduction to Basic Programming Concepts Loops: while</vt:lpstr>
      <vt:lpstr>DS0 – Introduction to Basic Programming Concepts Loops: Continue &amp; Break</vt:lpstr>
      <vt:lpstr>DS0 – Introduction to Basic Programming Concepts Exercise 04</vt:lpstr>
      <vt:lpstr>Functions</vt:lpstr>
      <vt:lpstr>DS0 – Introduction to Basic Programming Concepts Functions</vt:lpstr>
      <vt:lpstr>DS0 – Introduction to Basic Programming Concepts Functions</vt:lpstr>
      <vt:lpstr>DS0 – Introduction to Basic Programming Concepts Functions</vt:lpstr>
      <vt:lpstr>DS0 – Introduction to Basic Programming Concepts Functions</vt:lpstr>
      <vt:lpstr>DS0 – Introduction to Basic Programming Concepts Functions</vt:lpstr>
      <vt:lpstr>DS0 – Introduction to Basic Programming Concepts Exercise 05</vt:lpstr>
      <vt:lpstr>DS0 – Introduction to Basic Programming Concepts The n-Commandments</vt:lpstr>
      <vt:lpstr>PowerPoint-Präsentation</vt:lpstr>
      <vt:lpstr>DS0 – Introduction to Basic Programming Concepts Contact</vt:lpstr>
    </vt:vector>
  </TitlesOfParts>
  <Company>Siemens Gas and Power</Company>
  <LinksUpToDate>false</LinksUpToDate>
  <SharedDoc>false</SharedDoc>
  <HyperlinkBase>www.siemens-energy.com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DS0 – Introduction to Basic Programming Concepts</dc:title>
  <dc:creator>Schneider, Nicolas (SE G LRE LSU CSS LP)</dc:creator>
  <cp:keywords>C_Restricted</cp:keywords>
  <dc:description>July 2020
Version 1.1</dc:description>
  <cp:lastModifiedBy>Groh, Matthias (SE GP G QPI QM P)</cp:lastModifiedBy>
  <cp:revision>48</cp:revision>
  <cp:lastPrinted>2020-03-11T17:11:35Z</cp:lastPrinted>
  <dcterms:created xsi:type="dcterms:W3CDTF">2020-07-14T07:19:07Z</dcterms:created>
  <dcterms:modified xsi:type="dcterms:W3CDTF">2021-11-05T12:47:10Z</dcterms:modified>
  <cp:contentStatus>Template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Confidentiality">
    <vt:lpwstr>Restricted</vt:lpwstr>
  </property>
  <property fmtid="{D5CDD505-2E9C-101B-9397-08002B2CF9AE}" pid="3" name="Document_Confidentiality">
    <vt:lpwstr>Restricted</vt:lpwstr>
  </property>
  <property fmtid="{D5CDD505-2E9C-101B-9397-08002B2CF9AE}" pid="4" name="sodocoClasLang">
    <vt:lpwstr>Intern</vt:lpwstr>
  </property>
  <property fmtid="{D5CDD505-2E9C-101B-9397-08002B2CF9AE}" pid="5" name="sodocoClasLangId">
    <vt:i4>0</vt:i4>
  </property>
  <property fmtid="{D5CDD505-2E9C-101B-9397-08002B2CF9AE}" pid="6" name="sodocoClasId">
    <vt:i4>1</vt:i4>
  </property>
</Properties>
</file>