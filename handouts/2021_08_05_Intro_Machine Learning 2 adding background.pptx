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customXml/itemProps5.xml" ContentType="application/vnd.openxmlformats-officedocument.customXmlProperties+xml"/>
  <Override PartName="/customXml/itemProps6.xml" ContentType="application/vnd.openxmlformats-officedocument.customXmlProperties+xml"/>
  <Override PartName="/customXml/itemProps7.xml" ContentType="application/vnd.openxmlformats-officedocument.customXmlProperties+xml"/>
  <Override PartName="/customXml/itemProps8.xml" ContentType="application/vnd.openxmlformats-officedocument.customXmlProperties+xml"/>
  <Override PartName="/customXml/itemProps9.xml" ContentType="application/vnd.openxmlformats-officedocument.customXmlProperties+xml"/>
  <Override PartName="/customXml/itemProps10.xml" ContentType="application/vnd.openxmlformats-officedocument.customXmlProperties+xml"/>
  <Override PartName="/customXml/itemProps11.xml" ContentType="application/vnd.openxmlformats-officedocument.customXmlProperties+xml"/>
  <Override PartName="/customXml/itemProps12.xml" ContentType="application/vnd.openxmlformats-officedocument.customXmlProperties+xml"/>
  <Override PartName="/customXml/itemProps13.xml" ContentType="application/vnd.openxmlformats-officedocument.customXmlProperties+xml"/>
  <Override PartName="/customXml/itemProps14.xml" ContentType="application/vnd.openxmlformats-officedocument.customXmlProperties+xml"/>
  <Override PartName="/customXml/itemProps15.xml" ContentType="application/vnd.openxmlformats-officedocument.customXmlProperties+xml"/>
  <Override PartName="/customXml/itemProps16.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tags/tag97.xml" ContentType="application/vnd.openxmlformats-officedocument.presentationml.tags+xml"/>
  <Override PartName="/ppt/notesSlides/notesSlide3.xml" ContentType="application/vnd.openxmlformats-officedocument.presentationml.notesSlide+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16.xml" ContentType="application/vnd.openxmlformats-officedocument.presentationml.notesSlid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7.xml" ContentType="application/vnd.openxmlformats-officedocument.presentationml.notesSlid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notesSlides/notesSlide18.xml" ContentType="application/vnd.openxmlformats-officedocument.presentationml.notesSlide+xml"/>
  <Override PartName="/ppt/charts/chart4.xml" ContentType="application/vnd.openxmlformats-officedocument.drawingml.chart+xml"/>
  <Override PartName="/ppt/charts/style4.xml" ContentType="application/vnd.ms-office.chartstyle+xml"/>
  <Override PartName="/ppt/charts/colors4.xml" ContentType="application/vnd.ms-office.chartcolorstyle+xml"/>
  <Override PartName="/ppt/charts/chart5.xml" ContentType="application/vnd.openxmlformats-officedocument.drawingml.chart+xml"/>
  <Override PartName="/ppt/charts/style5.xml" ContentType="application/vnd.ms-office.chartstyle+xml"/>
  <Override PartName="/ppt/charts/colors5.xml" ContentType="application/vnd.ms-office.chartcolorstyl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charts/chart6.xml" ContentType="application/vnd.openxmlformats-officedocument.drawingml.chart+xml"/>
  <Override PartName="/ppt/charts/style6.xml" ContentType="application/vnd.ms-office.chartstyle+xml"/>
  <Override PartName="/ppt/charts/colors6.xml" ContentType="application/vnd.ms-office.chartcolorstyle+xml"/>
  <Override PartName="/ppt/charts/chart7.xml" ContentType="application/vnd.openxmlformats-officedocument.drawingml.chart+xml"/>
  <Override PartName="/ppt/charts/style7.xml" ContentType="application/vnd.ms-office.chartstyle+xml"/>
  <Override PartName="/ppt/charts/colors7.xml" ContentType="application/vnd.ms-office.chartcolorstyle+xml"/>
  <Override PartName="/ppt/charts/chart8.xml" ContentType="application/vnd.openxmlformats-officedocument.drawingml.chart+xml"/>
  <Override PartName="/ppt/charts/style8.xml" ContentType="application/vnd.ms-office.chartstyle+xml"/>
  <Override PartName="/ppt/charts/colors8.xml" ContentType="application/vnd.ms-office.chartcolorstyle+xml"/>
  <Override PartName="/ppt/charts/chart9.xml" ContentType="application/vnd.openxmlformats-officedocument.drawingml.chart+xml"/>
  <Override PartName="/ppt/charts/style9.xml" ContentType="application/vnd.ms-office.chartstyle+xml"/>
  <Override PartName="/ppt/charts/colors9.xml" ContentType="application/vnd.ms-office.chartcolorstyle+xml"/>
  <Override PartName="/ppt/charts/chart10.xml" ContentType="application/vnd.openxmlformats-officedocument.drawingml.chart+xml"/>
  <Override PartName="/ppt/charts/style10.xml" ContentType="application/vnd.ms-office.chartstyle+xml"/>
  <Override PartName="/ppt/charts/colors10.xml" ContentType="application/vnd.ms-office.chartcolorstyle+xml"/>
  <Override PartName="/ppt/charts/chart11.xml" ContentType="application/vnd.openxmlformats-officedocument.drawingml.chart+xml"/>
  <Override PartName="/ppt/charts/style11.xml" ContentType="application/vnd.ms-office.chartstyle+xml"/>
  <Override PartName="/ppt/charts/colors11.xml" ContentType="application/vnd.ms-office.chartcolorstyl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38.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9" r:id="rId17"/>
  </p:sldMasterIdLst>
  <p:notesMasterIdLst>
    <p:notesMasterId r:id="rId156"/>
  </p:notesMasterIdLst>
  <p:handoutMasterIdLst>
    <p:handoutMasterId r:id="rId157"/>
  </p:handoutMasterIdLst>
  <p:sldIdLst>
    <p:sldId id="952" r:id="rId18"/>
    <p:sldId id="1894" r:id="rId19"/>
    <p:sldId id="1939" r:id="rId20"/>
    <p:sldId id="1940" r:id="rId21"/>
    <p:sldId id="5569" r:id="rId22"/>
    <p:sldId id="5549" r:id="rId23"/>
    <p:sldId id="5523" r:id="rId24"/>
    <p:sldId id="932" r:id="rId25"/>
    <p:sldId id="937" r:id="rId26"/>
    <p:sldId id="938" r:id="rId27"/>
    <p:sldId id="939" r:id="rId28"/>
    <p:sldId id="1889" r:id="rId29"/>
    <p:sldId id="1890" r:id="rId30"/>
    <p:sldId id="1912" r:id="rId31"/>
    <p:sldId id="5521" r:id="rId32"/>
    <p:sldId id="960" r:id="rId33"/>
    <p:sldId id="5568" r:id="rId34"/>
    <p:sldId id="5524" r:id="rId35"/>
    <p:sldId id="1064" r:id="rId36"/>
    <p:sldId id="1851" r:id="rId37"/>
    <p:sldId id="1853" r:id="rId38"/>
    <p:sldId id="5557" r:id="rId39"/>
    <p:sldId id="5556" r:id="rId40"/>
    <p:sldId id="1854" r:id="rId41"/>
    <p:sldId id="5555" r:id="rId42"/>
    <p:sldId id="5558" r:id="rId43"/>
    <p:sldId id="1391" r:id="rId44"/>
    <p:sldId id="1392" r:id="rId45"/>
    <p:sldId id="5544" r:id="rId46"/>
    <p:sldId id="301" r:id="rId47"/>
    <p:sldId id="294" r:id="rId48"/>
    <p:sldId id="296" r:id="rId49"/>
    <p:sldId id="297" r:id="rId50"/>
    <p:sldId id="300" r:id="rId51"/>
    <p:sldId id="302" r:id="rId52"/>
    <p:sldId id="303" r:id="rId53"/>
    <p:sldId id="304" r:id="rId54"/>
    <p:sldId id="305" r:id="rId55"/>
    <p:sldId id="286" r:id="rId56"/>
    <p:sldId id="276" r:id="rId57"/>
    <p:sldId id="277" r:id="rId58"/>
    <p:sldId id="287" r:id="rId59"/>
    <p:sldId id="288" r:id="rId60"/>
    <p:sldId id="289" r:id="rId61"/>
    <p:sldId id="278" r:id="rId62"/>
    <p:sldId id="279" r:id="rId63"/>
    <p:sldId id="280" r:id="rId64"/>
    <p:sldId id="281" r:id="rId65"/>
    <p:sldId id="1932" r:id="rId66"/>
    <p:sldId id="1934" r:id="rId67"/>
    <p:sldId id="1935" r:id="rId68"/>
    <p:sldId id="1936" r:id="rId69"/>
    <p:sldId id="1937" r:id="rId70"/>
    <p:sldId id="1930" r:id="rId71"/>
    <p:sldId id="5538" r:id="rId72"/>
    <p:sldId id="5573" r:id="rId73"/>
    <p:sldId id="1926" r:id="rId74"/>
    <p:sldId id="5547" r:id="rId75"/>
    <p:sldId id="5534" r:id="rId76"/>
    <p:sldId id="1927" r:id="rId77"/>
    <p:sldId id="5535" r:id="rId78"/>
    <p:sldId id="1928" r:id="rId79"/>
    <p:sldId id="5536" r:id="rId80"/>
    <p:sldId id="1929" r:id="rId81"/>
    <p:sldId id="1938" r:id="rId82"/>
    <p:sldId id="5528" r:id="rId83"/>
    <p:sldId id="5552" r:id="rId84"/>
    <p:sldId id="5559" r:id="rId85"/>
    <p:sldId id="1856" r:id="rId86"/>
    <p:sldId id="1871" r:id="rId87"/>
    <p:sldId id="1857" r:id="rId88"/>
    <p:sldId id="1859" r:id="rId89"/>
    <p:sldId id="1860" r:id="rId90"/>
    <p:sldId id="1861" r:id="rId91"/>
    <p:sldId id="256" r:id="rId92"/>
    <p:sldId id="1404" r:id="rId93"/>
    <p:sldId id="5554" r:id="rId94"/>
    <p:sldId id="5560" r:id="rId95"/>
    <p:sldId id="5553" r:id="rId96"/>
    <p:sldId id="5561" r:id="rId97"/>
    <p:sldId id="1911" r:id="rId98"/>
    <p:sldId id="5531" r:id="rId99"/>
    <p:sldId id="5532" r:id="rId100"/>
    <p:sldId id="1914" r:id="rId101"/>
    <p:sldId id="1916" r:id="rId102"/>
    <p:sldId id="1915" r:id="rId103"/>
    <p:sldId id="5548" r:id="rId104"/>
    <p:sldId id="1895" r:id="rId105"/>
    <p:sldId id="5539" r:id="rId106"/>
    <p:sldId id="5540" r:id="rId107"/>
    <p:sldId id="5541" r:id="rId108"/>
    <p:sldId id="5542" r:id="rId109"/>
    <p:sldId id="5525" r:id="rId110"/>
    <p:sldId id="1878" r:id="rId111"/>
    <p:sldId id="5533" r:id="rId112"/>
    <p:sldId id="5551" r:id="rId113"/>
    <p:sldId id="5562" r:id="rId114"/>
    <p:sldId id="1054" r:id="rId115"/>
    <p:sldId id="1866" r:id="rId116"/>
    <p:sldId id="1897" r:id="rId117"/>
    <p:sldId id="1869" r:id="rId118"/>
    <p:sldId id="5570" r:id="rId119"/>
    <p:sldId id="1896" r:id="rId120"/>
    <p:sldId id="1420" r:id="rId121"/>
    <p:sldId id="5563" r:id="rId122"/>
    <p:sldId id="1406" r:id="rId123"/>
    <p:sldId id="1421" r:id="rId124"/>
    <p:sldId id="1407" r:id="rId125"/>
    <p:sldId id="1920" r:id="rId126"/>
    <p:sldId id="1921" r:id="rId127"/>
    <p:sldId id="1922" r:id="rId128"/>
    <p:sldId id="1423" r:id="rId129"/>
    <p:sldId id="1923" r:id="rId130"/>
    <p:sldId id="1415" r:id="rId131"/>
    <p:sldId id="1416" r:id="rId132"/>
    <p:sldId id="1419" r:id="rId133"/>
    <p:sldId id="5546" r:id="rId134"/>
    <p:sldId id="5545" r:id="rId135"/>
    <p:sldId id="1410" r:id="rId136"/>
    <p:sldId id="1411" r:id="rId137"/>
    <p:sldId id="1899" r:id="rId138"/>
    <p:sldId id="1422" r:id="rId139"/>
    <p:sldId id="1409" r:id="rId140"/>
    <p:sldId id="5550" r:id="rId141"/>
    <p:sldId id="5564" r:id="rId142"/>
    <p:sldId id="5543" r:id="rId143"/>
    <p:sldId id="5527" r:id="rId144"/>
    <p:sldId id="5529" r:id="rId145"/>
    <p:sldId id="1900" r:id="rId146"/>
    <p:sldId id="257" r:id="rId147"/>
    <p:sldId id="5565" r:id="rId148"/>
    <p:sldId id="5571" r:id="rId149"/>
    <p:sldId id="1387" r:id="rId150"/>
    <p:sldId id="1388" r:id="rId151"/>
    <p:sldId id="5572" r:id="rId152"/>
    <p:sldId id="5566" r:id="rId153"/>
    <p:sldId id="5567" r:id="rId154"/>
    <p:sldId id="5530" r:id="rId155"/>
  </p:sldIdLst>
  <p:sldSz cx="12198350" cy="6858000"/>
  <p:notesSz cx="6797675" cy="9926638"/>
  <p:custDataLst>
    <p:custData r:id="rId16"/>
    <p:tags r:id="rId158"/>
  </p:custDataLst>
  <p:defaultTextStyle>
    <a:defPPr>
      <a:defRPr lang="de-DE"/>
    </a:defPPr>
    <a:lvl1pPr algn="l" rtl="0" fontAlgn="base">
      <a:spcBef>
        <a:spcPct val="50000"/>
      </a:spcBef>
      <a:spcAft>
        <a:spcPct val="0"/>
      </a:spcAft>
      <a:defRPr kern="1200">
        <a:solidFill>
          <a:schemeClr val="bg2"/>
        </a:solidFill>
        <a:latin typeface="Arial" pitchFamily="34" charset="0"/>
        <a:ea typeface="ＭＳ Ｐゴシック" charset="-128"/>
        <a:cs typeface="+mn-cs"/>
      </a:defRPr>
    </a:lvl1pPr>
    <a:lvl2pPr marL="457200" algn="l" rtl="0" fontAlgn="base">
      <a:spcBef>
        <a:spcPct val="50000"/>
      </a:spcBef>
      <a:spcAft>
        <a:spcPct val="0"/>
      </a:spcAft>
      <a:defRPr kern="1200">
        <a:solidFill>
          <a:schemeClr val="bg2"/>
        </a:solidFill>
        <a:latin typeface="Arial" pitchFamily="34" charset="0"/>
        <a:ea typeface="ＭＳ Ｐゴシック" charset="-128"/>
        <a:cs typeface="+mn-cs"/>
      </a:defRPr>
    </a:lvl2pPr>
    <a:lvl3pPr marL="914400" algn="l" rtl="0" fontAlgn="base">
      <a:spcBef>
        <a:spcPct val="50000"/>
      </a:spcBef>
      <a:spcAft>
        <a:spcPct val="0"/>
      </a:spcAft>
      <a:defRPr kern="1200">
        <a:solidFill>
          <a:schemeClr val="bg2"/>
        </a:solidFill>
        <a:latin typeface="Arial" pitchFamily="34" charset="0"/>
        <a:ea typeface="ＭＳ Ｐゴシック" charset="-128"/>
        <a:cs typeface="+mn-cs"/>
      </a:defRPr>
    </a:lvl3pPr>
    <a:lvl4pPr marL="1371600" algn="l" rtl="0" fontAlgn="base">
      <a:spcBef>
        <a:spcPct val="50000"/>
      </a:spcBef>
      <a:spcAft>
        <a:spcPct val="0"/>
      </a:spcAft>
      <a:defRPr kern="1200">
        <a:solidFill>
          <a:schemeClr val="bg2"/>
        </a:solidFill>
        <a:latin typeface="Arial" pitchFamily="34" charset="0"/>
        <a:ea typeface="ＭＳ Ｐゴシック" charset="-128"/>
        <a:cs typeface="+mn-cs"/>
      </a:defRPr>
    </a:lvl4pPr>
    <a:lvl5pPr marL="1828800" algn="l" rtl="0" fontAlgn="base">
      <a:spcBef>
        <a:spcPct val="50000"/>
      </a:spcBef>
      <a:spcAft>
        <a:spcPct val="0"/>
      </a:spcAft>
      <a:defRPr kern="1200">
        <a:solidFill>
          <a:schemeClr val="bg2"/>
        </a:solidFill>
        <a:latin typeface="Arial" pitchFamily="34" charset="0"/>
        <a:ea typeface="ＭＳ Ｐゴシック" charset="-128"/>
        <a:cs typeface="+mn-cs"/>
      </a:defRPr>
    </a:lvl5pPr>
    <a:lvl6pPr marL="2286000" algn="l" defTabSz="914400" rtl="0" eaLnBrk="1" latinLnBrk="0" hangingPunct="1">
      <a:defRPr kern="1200">
        <a:solidFill>
          <a:schemeClr val="bg2"/>
        </a:solidFill>
        <a:latin typeface="Arial" pitchFamily="34" charset="0"/>
        <a:ea typeface="ＭＳ Ｐゴシック" charset="-128"/>
        <a:cs typeface="+mn-cs"/>
      </a:defRPr>
    </a:lvl6pPr>
    <a:lvl7pPr marL="2743200" algn="l" defTabSz="914400" rtl="0" eaLnBrk="1" latinLnBrk="0" hangingPunct="1">
      <a:defRPr kern="1200">
        <a:solidFill>
          <a:schemeClr val="bg2"/>
        </a:solidFill>
        <a:latin typeface="Arial" pitchFamily="34" charset="0"/>
        <a:ea typeface="ＭＳ Ｐゴシック" charset="-128"/>
        <a:cs typeface="+mn-cs"/>
      </a:defRPr>
    </a:lvl7pPr>
    <a:lvl8pPr marL="3200400" algn="l" defTabSz="914400" rtl="0" eaLnBrk="1" latinLnBrk="0" hangingPunct="1">
      <a:defRPr kern="1200">
        <a:solidFill>
          <a:schemeClr val="bg2"/>
        </a:solidFill>
        <a:latin typeface="Arial" pitchFamily="34" charset="0"/>
        <a:ea typeface="ＭＳ Ｐゴシック" charset="-128"/>
        <a:cs typeface="+mn-cs"/>
      </a:defRPr>
    </a:lvl8pPr>
    <a:lvl9pPr marL="3657600" algn="l" defTabSz="914400" rtl="0" eaLnBrk="1" latinLnBrk="0" hangingPunct="1">
      <a:defRPr kern="1200">
        <a:solidFill>
          <a:schemeClr val="bg2"/>
        </a:solidFill>
        <a:latin typeface="Arial" pitchFamily="34" charset="0"/>
        <a:ea typeface="ＭＳ Ｐゴシック" charset="-128"/>
        <a:cs typeface="+mn-cs"/>
      </a:defRPr>
    </a:lvl9pPr>
  </p:defaultTextStyle>
  <p:extLst>
    <p:ext uri="{EFAFB233-063F-42B5-8137-9DF3F51BA10A}">
      <p15:sldGuideLst xmlns:p15="http://schemas.microsoft.com/office/powerpoint/2012/main">
        <p15:guide id="1" orient="horz" pos="3884">
          <p15:clr>
            <a:srgbClr val="A4A3A4"/>
          </p15:clr>
        </p15:guide>
        <p15:guide id="2" orient="horz" pos="595" userDrawn="1">
          <p15:clr>
            <a:srgbClr val="A4A3A4"/>
          </p15:clr>
        </p15:guide>
        <p15:guide id="3" orient="horz" pos="2432">
          <p15:clr>
            <a:srgbClr val="A4A3A4"/>
          </p15:clr>
        </p15:guide>
        <p15:guide id="4" orient="horz" pos="2364" userDrawn="1">
          <p15:clr>
            <a:srgbClr val="A4A3A4"/>
          </p15:clr>
        </p15:guide>
        <p15:guide id="5" orient="horz" pos="890">
          <p15:clr>
            <a:srgbClr val="A4A3A4"/>
          </p15:clr>
        </p15:guide>
        <p15:guide id="6" orient="horz" pos="210">
          <p15:clr>
            <a:srgbClr val="A4A3A4"/>
          </p15:clr>
        </p15:guide>
        <p15:guide id="7" pos="395">
          <p15:clr>
            <a:srgbClr val="A4A3A4"/>
          </p15:clr>
        </p15:guide>
        <p15:guide id="8" pos="3865" userDrawn="1">
          <p15:clr>
            <a:srgbClr val="A4A3A4"/>
          </p15:clr>
        </p15:guide>
        <p15:guide id="9" pos="2821" userDrawn="1">
          <p15:clr>
            <a:srgbClr val="A4A3A4"/>
          </p15:clr>
        </p15:guide>
        <p15:guide id="10" pos="7380">
          <p15:clr>
            <a:srgbClr val="A4A3A4"/>
          </p15:clr>
        </p15:guide>
        <p15:guide id="11" pos="5566">
          <p15:clr>
            <a:srgbClr val="A4A3A4"/>
          </p15:clr>
        </p15:guide>
        <p15:guide id="12" orient="horz" pos="3906" userDrawn="1">
          <p15:clr>
            <a:srgbClr val="A4A3A4"/>
          </p15:clr>
        </p15:guide>
        <p15:guide id="13" orient="horz" pos="654">
          <p15:clr>
            <a:srgbClr val="A4A3A4"/>
          </p15:clr>
        </p15:guide>
        <p15:guide id="14" orient="horz" pos="2455" userDrawn="1">
          <p15:clr>
            <a:srgbClr val="A4A3A4"/>
          </p15:clr>
        </p15:guide>
        <p15:guide id="15" orient="horz" pos="2387" userDrawn="1">
          <p15:clr>
            <a:srgbClr val="A4A3A4"/>
          </p15:clr>
        </p15:guide>
        <p15:guide id="16" orient="horz" pos="909">
          <p15:clr>
            <a:srgbClr val="A4A3A4"/>
          </p15:clr>
        </p15:guide>
      </p15:sldGuideLst>
    </p:ext>
    <p:ext uri="{2D200454-40CA-4A62-9FC3-DE9A4176ACB9}">
      <p15:notesGuideLst xmlns:p15="http://schemas.microsoft.com/office/powerpoint/2012/main">
        <p15:guide id="1" orient="horz" pos="3127" userDrawn="1">
          <p15:clr>
            <a:srgbClr val="A4A3A4"/>
          </p15:clr>
        </p15:guide>
        <p15:guide id="2" pos="2141"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Groh, Matthias (GP PGO PR QM PPR OE)" initials="GM(PPQPO" lastIdx="75" clrIdx="0">
    <p:extLst>
      <p:ext uri="{19B8F6BF-5375-455C-9EA6-DF929625EA0E}">
        <p15:presenceInfo xmlns:p15="http://schemas.microsoft.com/office/powerpoint/2012/main" userId="S::groh.matthias@siemens.com::ddc073b7-8241-4ed4-b512-823751bae4d7" providerId="AD"/>
      </p:ext>
    </p:extLst>
  </p:cmAuthor>
  <p:cmAuthor id="2" name="Toepfer, Kay (SE G QPI QM P)" initials="TK(GQQP" lastIdx="8" clrIdx="1">
    <p:extLst>
      <p:ext uri="{19B8F6BF-5375-455C-9EA6-DF929625EA0E}">
        <p15:presenceInfo xmlns:p15="http://schemas.microsoft.com/office/powerpoint/2012/main" userId="S::kay.toepfer@siemens.com::3983beb8-91f8-49fe-819b-c7e6155e5a1d"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prnPr scaleToFitPaper="1"/>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3333CC"/>
    <a:srgbClr val="FF2929"/>
    <a:srgbClr val="99FF33"/>
    <a:srgbClr val="00FFFF"/>
    <a:srgbClr val="66FF99"/>
    <a:srgbClr val="FFFFCC"/>
    <a:srgbClr val="FDFDFC"/>
    <a:srgbClr val="FDFDFD"/>
    <a:srgbClr val="FDFEFD"/>
    <a:srgbClr val="FEFDF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8DF505B-102C-4DE7-BE78-CD5CEDF78643}" v="3" dt="2021-10-13T12:34:57.312"/>
  </p1510:revLst>
</p1510:revInfo>
</file>

<file path=ppt/tableStyles.xml><?xml version="1.0" encoding="utf-8"?>
<a:tblStyleLst xmlns:a="http://schemas.openxmlformats.org/drawingml/2006/main" def="{5C22544A-7EE6-4342-B048-85BDC9FD1C3A}">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75DCB02-9BB8-47FD-8907-85C794F793BA}" styleName="Designformatvorlage 1 - Akz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00A15C55-8517-42AA-B614-E9B94910E393}" styleName="Mittlere Formatvorlage 2 - Akz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howGuides="1">
      <p:cViewPr varScale="1">
        <p:scale>
          <a:sx n="104" d="100"/>
          <a:sy n="104" d="100"/>
        </p:scale>
        <p:origin x="228" y="108"/>
      </p:cViewPr>
      <p:guideLst>
        <p:guide orient="horz" pos="3884"/>
        <p:guide orient="horz" pos="595"/>
        <p:guide orient="horz" pos="2432"/>
        <p:guide orient="horz" pos="2364"/>
        <p:guide orient="horz" pos="890"/>
        <p:guide orient="horz" pos="210"/>
        <p:guide pos="395"/>
        <p:guide pos="3865"/>
        <p:guide pos="2821"/>
        <p:guide pos="7380"/>
        <p:guide pos="5566"/>
        <p:guide orient="horz" pos="3906"/>
        <p:guide orient="horz" pos="654"/>
        <p:guide orient="horz" pos="2455"/>
        <p:guide orient="horz" pos="2387"/>
        <p:guide orient="horz" pos="909"/>
      </p:guideLst>
    </p:cSldViewPr>
  </p:slideViewPr>
  <p:notesTextViewPr>
    <p:cViewPr>
      <p:scale>
        <a:sx n="1" d="1"/>
        <a:sy n="1" d="1"/>
      </p:scale>
      <p:origin x="0" y="0"/>
    </p:cViewPr>
  </p:notesTextViewPr>
  <p:sorterViewPr>
    <p:cViewPr varScale="1">
      <p:scale>
        <a:sx n="100" d="100"/>
        <a:sy n="100" d="100"/>
      </p:scale>
      <p:origin x="0" y="-20970"/>
    </p:cViewPr>
  </p:sorterViewPr>
  <p:notesViewPr>
    <p:cSldViewPr snapToGrid="0" showGuides="1">
      <p:cViewPr varScale="1">
        <p:scale>
          <a:sx n="66" d="100"/>
          <a:sy n="66" d="100"/>
        </p:scale>
        <p:origin x="0" y="0"/>
      </p:cViewPr>
      <p:guideLst>
        <p:guide orient="horz" pos="3127"/>
        <p:guide pos="2141"/>
      </p:guideLst>
    </p:cSldViewPr>
  </p:notes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9.xml"/><Relationship Id="rId117" Type="http://schemas.openxmlformats.org/officeDocument/2006/relationships/slide" Target="slides/slide100.xml"/><Relationship Id="rId21" Type="http://schemas.openxmlformats.org/officeDocument/2006/relationships/slide" Target="slides/slide4.xml"/><Relationship Id="rId42" Type="http://schemas.openxmlformats.org/officeDocument/2006/relationships/slide" Target="slides/slide25.xml"/><Relationship Id="rId47" Type="http://schemas.openxmlformats.org/officeDocument/2006/relationships/slide" Target="slides/slide30.xml"/><Relationship Id="rId63" Type="http://schemas.openxmlformats.org/officeDocument/2006/relationships/slide" Target="slides/slide46.xml"/><Relationship Id="rId68" Type="http://schemas.openxmlformats.org/officeDocument/2006/relationships/slide" Target="slides/slide51.xml"/><Relationship Id="rId84" Type="http://schemas.openxmlformats.org/officeDocument/2006/relationships/slide" Target="slides/slide67.xml"/><Relationship Id="rId89" Type="http://schemas.openxmlformats.org/officeDocument/2006/relationships/slide" Target="slides/slide72.xml"/><Relationship Id="rId112" Type="http://schemas.openxmlformats.org/officeDocument/2006/relationships/slide" Target="slides/slide95.xml"/><Relationship Id="rId133" Type="http://schemas.openxmlformats.org/officeDocument/2006/relationships/slide" Target="slides/slide116.xml"/><Relationship Id="rId138" Type="http://schemas.openxmlformats.org/officeDocument/2006/relationships/slide" Target="slides/slide121.xml"/><Relationship Id="rId154" Type="http://schemas.openxmlformats.org/officeDocument/2006/relationships/slide" Target="slides/slide137.xml"/><Relationship Id="rId159" Type="http://schemas.openxmlformats.org/officeDocument/2006/relationships/commentAuthors" Target="commentAuthors.xml"/><Relationship Id="rId16" Type="http://schemas.openxmlformats.org/officeDocument/2006/relationships/customXml" Target="../customXml/item16.xml"/><Relationship Id="rId107" Type="http://schemas.openxmlformats.org/officeDocument/2006/relationships/slide" Target="slides/slide90.xml"/><Relationship Id="rId11" Type="http://schemas.openxmlformats.org/officeDocument/2006/relationships/customXml" Target="../customXml/item11.xml"/><Relationship Id="rId32" Type="http://schemas.openxmlformats.org/officeDocument/2006/relationships/slide" Target="slides/slide15.xml"/><Relationship Id="rId37" Type="http://schemas.openxmlformats.org/officeDocument/2006/relationships/slide" Target="slides/slide20.xml"/><Relationship Id="rId53" Type="http://schemas.openxmlformats.org/officeDocument/2006/relationships/slide" Target="slides/slide36.xml"/><Relationship Id="rId58" Type="http://schemas.openxmlformats.org/officeDocument/2006/relationships/slide" Target="slides/slide41.xml"/><Relationship Id="rId74" Type="http://schemas.openxmlformats.org/officeDocument/2006/relationships/slide" Target="slides/slide57.xml"/><Relationship Id="rId79" Type="http://schemas.openxmlformats.org/officeDocument/2006/relationships/slide" Target="slides/slide62.xml"/><Relationship Id="rId102" Type="http://schemas.openxmlformats.org/officeDocument/2006/relationships/slide" Target="slides/slide85.xml"/><Relationship Id="rId123" Type="http://schemas.openxmlformats.org/officeDocument/2006/relationships/slide" Target="slides/slide106.xml"/><Relationship Id="rId128" Type="http://schemas.openxmlformats.org/officeDocument/2006/relationships/slide" Target="slides/slide111.xml"/><Relationship Id="rId144" Type="http://schemas.openxmlformats.org/officeDocument/2006/relationships/slide" Target="slides/slide127.xml"/><Relationship Id="rId149" Type="http://schemas.openxmlformats.org/officeDocument/2006/relationships/slide" Target="slides/slide132.xml"/><Relationship Id="rId5" Type="http://schemas.openxmlformats.org/officeDocument/2006/relationships/customXml" Target="../customXml/item5.xml"/><Relationship Id="rId90" Type="http://schemas.openxmlformats.org/officeDocument/2006/relationships/slide" Target="slides/slide73.xml"/><Relationship Id="rId95" Type="http://schemas.openxmlformats.org/officeDocument/2006/relationships/slide" Target="slides/slide78.xml"/><Relationship Id="rId160" Type="http://schemas.openxmlformats.org/officeDocument/2006/relationships/presProps" Target="presProps.xml"/><Relationship Id="rId165" Type="http://schemas.microsoft.com/office/2015/10/relationships/revisionInfo" Target="revisionInfo.xml"/><Relationship Id="rId22" Type="http://schemas.openxmlformats.org/officeDocument/2006/relationships/slide" Target="slides/slide5.xml"/><Relationship Id="rId27" Type="http://schemas.openxmlformats.org/officeDocument/2006/relationships/slide" Target="slides/slide10.xml"/><Relationship Id="rId43" Type="http://schemas.openxmlformats.org/officeDocument/2006/relationships/slide" Target="slides/slide26.xml"/><Relationship Id="rId48" Type="http://schemas.openxmlformats.org/officeDocument/2006/relationships/slide" Target="slides/slide31.xml"/><Relationship Id="rId64" Type="http://schemas.openxmlformats.org/officeDocument/2006/relationships/slide" Target="slides/slide47.xml"/><Relationship Id="rId69" Type="http://schemas.openxmlformats.org/officeDocument/2006/relationships/slide" Target="slides/slide52.xml"/><Relationship Id="rId113" Type="http://schemas.openxmlformats.org/officeDocument/2006/relationships/slide" Target="slides/slide96.xml"/><Relationship Id="rId118" Type="http://schemas.openxmlformats.org/officeDocument/2006/relationships/slide" Target="slides/slide101.xml"/><Relationship Id="rId134" Type="http://schemas.openxmlformats.org/officeDocument/2006/relationships/slide" Target="slides/slide117.xml"/><Relationship Id="rId139" Type="http://schemas.openxmlformats.org/officeDocument/2006/relationships/slide" Target="slides/slide122.xml"/><Relationship Id="rId80" Type="http://schemas.openxmlformats.org/officeDocument/2006/relationships/slide" Target="slides/slide63.xml"/><Relationship Id="rId85" Type="http://schemas.openxmlformats.org/officeDocument/2006/relationships/slide" Target="slides/slide68.xml"/><Relationship Id="rId150" Type="http://schemas.openxmlformats.org/officeDocument/2006/relationships/slide" Target="slides/slide133.xml"/><Relationship Id="rId155" Type="http://schemas.openxmlformats.org/officeDocument/2006/relationships/slide" Target="slides/slide138.xml"/><Relationship Id="rId12" Type="http://schemas.openxmlformats.org/officeDocument/2006/relationships/customXml" Target="../customXml/item12.xml"/><Relationship Id="rId17" Type="http://schemas.openxmlformats.org/officeDocument/2006/relationships/slideMaster" Target="slideMasters/slideMaster1.xml"/><Relationship Id="rId33" Type="http://schemas.openxmlformats.org/officeDocument/2006/relationships/slide" Target="slides/slide16.xml"/><Relationship Id="rId38" Type="http://schemas.openxmlformats.org/officeDocument/2006/relationships/slide" Target="slides/slide21.xml"/><Relationship Id="rId59" Type="http://schemas.openxmlformats.org/officeDocument/2006/relationships/slide" Target="slides/slide42.xml"/><Relationship Id="rId103" Type="http://schemas.openxmlformats.org/officeDocument/2006/relationships/slide" Target="slides/slide86.xml"/><Relationship Id="rId108" Type="http://schemas.openxmlformats.org/officeDocument/2006/relationships/slide" Target="slides/slide91.xml"/><Relationship Id="rId124" Type="http://schemas.openxmlformats.org/officeDocument/2006/relationships/slide" Target="slides/slide107.xml"/><Relationship Id="rId129" Type="http://schemas.openxmlformats.org/officeDocument/2006/relationships/slide" Target="slides/slide112.xml"/><Relationship Id="rId54" Type="http://schemas.openxmlformats.org/officeDocument/2006/relationships/slide" Target="slides/slide37.xml"/><Relationship Id="rId70" Type="http://schemas.openxmlformats.org/officeDocument/2006/relationships/slide" Target="slides/slide53.xml"/><Relationship Id="rId75" Type="http://schemas.openxmlformats.org/officeDocument/2006/relationships/slide" Target="slides/slide58.xml"/><Relationship Id="rId91" Type="http://schemas.openxmlformats.org/officeDocument/2006/relationships/slide" Target="slides/slide74.xml"/><Relationship Id="rId96" Type="http://schemas.openxmlformats.org/officeDocument/2006/relationships/slide" Target="slides/slide79.xml"/><Relationship Id="rId140" Type="http://schemas.openxmlformats.org/officeDocument/2006/relationships/slide" Target="slides/slide123.xml"/><Relationship Id="rId145" Type="http://schemas.openxmlformats.org/officeDocument/2006/relationships/slide" Target="slides/slide128.xml"/><Relationship Id="rId16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customXml" Target="../customXml/item6.xml"/><Relationship Id="rId15" Type="http://schemas.openxmlformats.org/officeDocument/2006/relationships/customXml" Target="../customXml/item15.xml"/><Relationship Id="rId23" Type="http://schemas.openxmlformats.org/officeDocument/2006/relationships/slide" Target="slides/slide6.xml"/><Relationship Id="rId28" Type="http://schemas.openxmlformats.org/officeDocument/2006/relationships/slide" Target="slides/slide11.xml"/><Relationship Id="rId36" Type="http://schemas.openxmlformats.org/officeDocument/2006/relationships/slide" Target="slides/slide19.xml"/><Relationship Id="rId49" Type="http://schemas.openxmlformats.org/officeDocument/2006/relationships/slide" Target="slides/slide32.xml"/><Relationship Id="rId57" Type="http://schemas.openxmlformats.org/officeDocument/2006/relationships/slide" Target="slides/slide40.xml"/><Relationship Id="rId106" Type="http://schemas.openxmlformats.org/officeDocument/2006/relationships/slide" Target="slides/slide89.xml"/><Relationship Id="rId114" Type="http://schemas.openxmlformats.org/officeDocument/2006/relationships/slide" Target="slides/slide97.xml"/><Relationship Id="rId119" Type="http://schemas.openxmlformats.org/officeDocument/2006/relationships/slide" Target="slides/slide102.xml"/><Relationship Id="rId127" Type="http://schemas.openxmlformats.org/officeDocument/2006/relationships/slide" Target="slides/slide110.xml"/><Relationship Id="rId10" Type="http://schemas.openxmlformats.org/officeDocument/2006/relationships/customXml" Target="../customXml/item10.xml"/><Relationship Id="rId31" Type="http://schemas.openxmlformats.org/officeDocument/2006/relationships/slide" Target="slides/slide14.xml"/><Relationship Id="rId44" Type="http://schemas.openxmlformats.org/officeDocument/2006/relationships/slide" Target="slides/slide27.xml"/><Relationship Id="rId52" Type="http://schemas.openxmlformats.org/officeDocument/2006/relationships/slide" Target="slides/slide35.xml"/><Relationship Id="rId60" Type="http://schemas.openxmlformats.org/officeDocument/2006/relationships/slide" Target="slides/slide43.xml"/><Relationship Id="rId65" Type="http://schemas.openxmlformats.org/officeDocument/2006/relationships/slide" Target="slides/slide48.xml"/><Relationship Id="rId73" Type="http://schemas.openxmlformats.org/officeDocument/2006/relationships/slide" Target="slides/slide56.xml"/><Relationship Id="rId78" Type="http://schemas.openxmlformats.org/officeDocument/2006/relationships/slide" Target="slides/slide61.xml"/><Relationship Id="rId81" Type="http://schemas.openxmlformats.org/officeDocument/2006/relationships/slide" Target="slides/slide64.xml"/><Relationship Id="rId86" Type="http://schemas.openxmlformats.org/officeDocument/2006/relationships/slide" Target="slides/slide69.xml"/><Relationship Id="rId94" Type="http://schemas.openxmlformats.org/officeDocument/2006/relationships/slide" Target="slides/slide77.xml"/><Relationship Id="rId99" Type="http://schemas.openxmlformats.org/officeDocument/2006/relationships/slide" Target="slides/slide82.xml"/><Relationship Id="rId101" Type="http://schemas.openxmlformats.org/officeDocument/2006/relationships/slide" Target="slides/slide84.xml"/><Relationship Id="rId122" Type="http://schemas.openxmlformats.org/officeDocument/2006/relationships/slide" Target="slides/slide105.xml"/><Relationship Id="rId130" Type="http://schemas.openxmlformats.org/officeDocument/2006/relationships/slide" Target="slides/slide113.xml"/><Relationship Id="rId135" Type="http://schemas.openxmlformats.org/officeDocument/2006/relationships/slide" Target="slides/slide118.xml"/><Relationship Id="rId143" Type="http://schemas.openxmlformats.org/officeDocument/2006/relationships/slide" Target="slides/slide126.xml"/><Relationship Id="rId148" Type="http://schemas.openxmlformats.org/officeDocument/2006/relationships/slide" Target="slides/slide131.xml"/><Relationship Id="rId151" Type="http://schemas.openxmlformats.org/officeDocument/2006/relationships/slide" Target="slides/slide134.xml"/><Relationship Id="rId156" Type="http://schemas.openxmlformats.org/officeDocument/2006/relationships/notesMaster" Target="notesMasters/notesMaster1.xml"/><Relationship Id="rId164" Type="http://schemas.microsoft.com/office/2016/11/relationships/changesInfo" Target="changesInfos/changesInfo1.xml"/><Relationship Id="rId4" Type="http://schemas.openxmlformats.org/officeDocument/2006/relationships/customXml" Target="../customXml/item4.xml"/><Relationship Id="rId9" Type="http://schemas.openxmlformats.org/officeDocument/2006/relationships/customXml" Target="../customXml/item9.xml"/><Relationship Id="rId13" Type="http://schemas.openxmlformats.org/officeDocument/2006/relationships/customXml" Target="../customXml/item13.xml"/><Relationship Id="rId18" Type="http://schemas.openxmlformats.org/officeDocument/2006/relationships/slide" Target="slides/slide1.xml"/><Relationship Id="rId39" Type="http://schemas.openxmlformats.org/officeDocument/2006/relationships/slide" Target="slides/slide22.xml"/><Relationship Id="rId109" Type="http://schemas.openxmlformats.org/officeDocument/2006/relationships/slide" Target="slides/slide92.xml"/><Relationship Id="rId34" Type="http://schemas.openxmlformats.org/officeDocument/2006/relationships/slide" Target="slides/slide17.xml"/><Relationship Id="rId50" Type="http://schemas.openxmlformats.org/officeDocument/2006/relationships/slide" Target="slides/slide33.xml"/><Relationship Id="rId55" Type="http://schemas.openxmlformats.org/officeDocument/2006/relationships/slide" Target="slides/slide38.xml"/><Relationship Id="rId76" Type="http://schemas.openxmlformats.org/officeDocument/2006/relationships/slide" Target="slides/slide59.xml"/><Relationship Id="rId97" Type="http://schemas.openxmlformats.org/officeDocument/2006/relationships/slide" Target="slides/slide80.xml"/><Relationship Id="rId104" Type="http://schemas.openxmlformats.org/officeDocument/2006/relationships/slide" Target="slides/slide87.xml"/><Relationship Id="rId120" Type="http://schemas.openxmlformats.org/officeDocument/2006/relationships/slide" Target="slides/slide103.xml"/><Relationship Id="rId125" Type="http://schemas.openxmlformats.org/officeDocument/2006/relationships/slide" Target="slides/slide108.xml"/><Relationship Id="rId141" Type="http://schemas.openxmlformats.org/officeDocument/2006/relationships/slide" Target="slides/slide124.xml"/><Relationship Id="rId146" Type="http://schemas.openxmlformats.org/officeDocument/2006/relationships/slide" Target="slides/slide129.xml"/><Relationship Id="rId7" Type="http://schemas.openxmlformats.org/officeDocument/2006/relationships/customXml" Target="../customXml/item7.xml"/><Relationship Id="rId71" Type="http://schemas.openxmlformats.org/officeDocument/2006/relationships/slide" Target="slides/slide54.xml"/><Relationship Id="rId92" Type="http://schemas.openxmlformats.org/officeDocument/2006/relationships/slide" Target="slides/slide75.xml"/><Relationship Id="rId162" Type="http://schemas.openxmlformats.org/officeDocument/2006/relationships/theme" Target="theme/theme1.xml"/><Relationship Id="rId2" Type="http://schemas.openxmlformats.org/officeDocument/2006/relationships/customXml" Target="../customXml/item2.xml"/><Relationship Id="rId29" Type="http://schemas.openxmlformats.org/officeDocument/2006/relationships/slide" Target="slides/slide12.xml"/><Relationship Id="rId24" Type="http://schemas.openxmlformats.org/officeDocument/2006/relationships/slide" Target="slides/slide7.xml"/><Relationship Id="rId40" Type="http://schemas.openxmlformats.org/officeDocument/2006/relationships/slide" Target="slides/slide23.xml"/><Relationship Id="rId45" Type="http://schemas.openxmlformats.org/officeDocument/2006/relationships/slide" Target="slides/slide28.xml"/><Relationship Id="rId66" Type="http://schemas.openxmlformats.org/officeDocument/2006/relationships/slide" Target="slides/slide49.xml"/><Relationship Id="rId87" Type="http://schemas.openxmlformats.org/officeDocument/2006/relationships/slide" Target="slides/slide70.xml"/><Relationship Id="rId110" Type="http://schemas.openxmlformats.org/officeDocument/2006/relationships/slide" Target="slides/slide93.xml"/><Relationship Id="rId115" Type="http://schemas.openxmlformats.org/officeDocument/2006/relationships/slide" Target="slides/slide98.xml"/><Relationship Id="rId131" Type="http://schemas.openxmlformats.org/officeDocument/2006/relationships/slide" Target="slides/slide114.xml"/><Relationship Id="rId136" Type="http://schemas.openxmlformats.org/officeDocument/2006/relationships/slide" Target="slides/slide119.xml"/><Relationship Id="rId157" Type="http://schemas.openxmlformats.org/officeDocument/2006/relationships/handoutMaster" Target="handoutMasters/handoutMaster1.xml"/><Relationship Id="rId61" Type="http://schemas.openxmlformats.org/officeDocument/2006/relationships/slide" Target="slides/slide44.xml"/><Relationship Id="rId82" Type="http://schemas.openxmlformats.org/officeDocument/2006/relationships/slide" Target="slides/slide65.xml"/><Relationship Id="rId152" Type="http://schemas.openxmlformats.org/officeDocument/2006/relationships/slide" Target="slides/slide135.xml"/><Relationship Id="rId19" Type="http://schemas.openxmlformats.org/officeDocument/2006/relationships/slide" Target="slides/slide2.xml"/><Relationship Id="rId14" Type="http://schemas.openxmlformats.org/officeDocument/2006/relationships/customXml" Target="../customXml/item14.xml"/><Relationship Id="rId30" Type="http://schemas.openxmlformats.org/officeDocument/2006/relationships/slide" Target="slides/slide13.xml"/><Relationship Id="rId35" Type="http://schemas.openxmlformats.org/officeDocument/2006/relationships/slide" Target="slides/slide18.xml"/><Relationship Id="rId56" Type="http://schemas.openxmlformats.org/officeDocument/2006/relationships/slide" Target="slides/slide39.xml"/><Relationship Id="rId77" Type="http://schemas.openxmlformats.org/officeDocument/2006/relationships/slide" Target="slides/slide60.xml"/><Relationship Id="rId100" Type="http://schemas.openxmlformats.org/officeDocument/2006/relationships/slide" Target="slides/slide83.xml"/><Relationship Id="rId105" Type="http://schemas.openxmlformats.org/officeDocument/2006/relationships/slide" Target="slides/slide88.xml"/><Relationship Id="rId126" Type="http://schemas.openxmlformats.org/officeDocument/2006/relationships/slide" Target="slides/slide109.xml"/><Relationship Id="rId147" Type="http://schemas.openxmlformats.org/officeDocument/2006/relationships/slide" Target="slides/slide130.xml"/><Relationship Id="rId8" Type="http://schemas.openxmlformats.org/officeDocument/2006/relationships/customXml" Target="../customXml/item8.xml"/><Relationship Id="rId51" Type="http://schemas.openxmlformats.org/officeDocument/2006/relationships/slide" Target="slides/slide34.xml"/><Relationship Id="rId72" Type="http://schemas.openxmlformats.org/officeDocument/2006/relationships/slide" Target="slides/slide55.xml"/><Relationship Id="rId93" Type="http://schemas.openxmlformats.org/officeDocument/2006/relationships/slide" Target="slides/slide76.xml"/><Relationship Id="rId98" Type="http://schemas.openxmlformats.org/officeDocument/2006/relationships/slide" Target="slides/slide81.xml"/><Relationship Id="rId121" Type="http://schemas.openxmlformats.org/officeDocument/2006/relationships/slide" Target="slides/slide104.xml"/><Relationship Id="rId142" Type="http://schemas.openxmlformats.org/officeDocument/2006/relationships/slide" Target="slides/slide125.xml"/><Relationship Id="rId163" Type="http://schemas.openxmlformats.org/officeDocument/2006/relationships/tableStyles" Target="tableStyles.xml"/><Relationship Id="rId3" Type="http://schemas.openxmlformats.org/officeDocument/2006/relationships/customXml" Target="../customXml/item3.xml"/><Relationship Id="rId25" Type="http://schemas.openxmlformats.org/officeDocument/2006/relationships/slide" Target="slides/slide8.xml"/><Relationship Id="rId46" Type="http://schemas.openxmlformats.org/officeDocument/2006/relationships/slide" Target="slides/slide29.xml"/><Relationship Id="rId67" Type="http://schemas.openxmlformats.org/officeDocument/2006/relationships/slide" Target="slides/slide50.xml"/><Relationship Id="rId116" Type="http://schemas.openxmlformats.org/officeDocument/2006/relationships/slide" Target="slides/slide99.xml"/><Relationship Id="rId137" Type="http://schemas.openxmlformats.org/officeDocument/2006/relationships/slide" Target="slides/slide120.xml"/><Relationship Id="rId158" Type="http://schemas.openxmlformats.org/officeDocument/2006/relationships/tags" Target="tags/tag1.xml"/><Relationship Id="rId20" Type="http://schemas.openxmlformats.org/officeDocument/2006/relationships/slide" Target="slides/slide3.xml"/><Relationship Id="rId41" Type="http://schemas.openxmlformats.org/officeDocument/2006/relationships/slide" Target="slides/slide24.xml"/><Relationship Id="rId62" Type="http://schemas.openxmlformats.org/officeDocument/2006/relationships/slide" Target="slides/slide45.xml"/><Relationship Id="rId83" Type="http://schemas.openxmlformats.org/officeDocument/2006/relationships/slide" Target="slides/slide66.xml"/><Relationship Id="rId88" Type="http://schemas.openxmlformats.org/officeDocument/2006/relationships/slide" Target="slides/slide71.xml"/><Relationship Id="rId111" Type="http://schemas.openxmlformats.org/officeDocument/2006/relationships/slide" Target="slides/slide94.xml"/><Relationship Id="rId132" Type="http://schemas.openxmlformats.org/officeDocument/2006/relationships/slide" Target="slides/slide115.xml"/><Relationship Id="rId153" Type="http://schemas.openxmlformats.org/officeDocument/2006/relationships/slide" Target="slides/slide136.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oepfer, Kay (SE GP G QPI QM P)" userId="36764bee-4a11-4416-84dd-d89ac0fb4adf" providerId="ADAL" clId="{5BC98A9E-5F45-44EF-9AC7-87EC09CA37BD}"/>
    <pc:docChg chg="custSel addSld delSld modSld">
      <pc:chgData name="Toepfer, Kay (SE GP G QPI QM P)" userId="36764bee-4a11-4416-84dd-d89ac0fb4adf" providerId="ADAL" clId="{5BC98A9E-5F45-44EF-9AC7-87EC09CA37BD}" dt="2021-04-22T09:03:06.015" v="23" actId="478"/>
      <pc:docMkLst>
        <pc:docMk/>
      </pc:docMkLst>
      <pc:sldChg chg="modSp mod">
        <pc:chgData name="Toepfer, Kay (SE GP G QPI QM P)" userId="36764bee-4a11-4416-84dd-d89ac0fb4adf" providerId="ADAL" clId="{5BC98A9E-5F45-44EF-9AC7-87EC09CA37BD}" dt="2021-04-22T08:56:46.055" v="16" actId="6549"/>
        <pc:sldMkLst>
          <pc:docMk/>
          <pc:sldMk cId="3957675570" sldId="256"/>
        </pc:sldMkLst>
        <pc:spChg chg="mod">
          <ac:chgData name="Toepfer, Kay (SE GP G QPI QM P)" userId="36764bee-4a11-4416-84dd-d89ac0fb4adf" providerId="ADAL" clId="{5BC98A9E-5F45-44EF-9AC7-87EC09CA37BD}" dt="2021-04-22T08:55:55.299" v="13" actId="20577"/>
          <ac:spMkLst>
            <pc:docMk/>
            <pc:sldMk cId="3957675570" sldId="256"/>
            <ac:spMk id="2" creationId="{82090D6C-7FA2-4842-8E08-EA259B777B8B}"/>
          </ac:spMkLst>
        </pc:spChg>
        <pc:spChg chg="mod">
          <ac:chgData name="Toepfer, Kay (SE GP G QPI QM P)" userId="36764bee-4a11-4416-84dd-d89ac0fb4adf" providerId="ADAL" clId="{5BC98A9E-5F45-44EF-9AC7-87EC09CA37BD}" dt="2021-04-22T08:56:46.055" v="16" actId="6549"/>
          <ac:spMkLst>
            <pc:docMk/>
            <pc:sldMk cId="3957675570" sldId="256"/>
            <ac:spMk id="3" creationId="{0EF4D9C8-AFC7-479B-AE2E-17CACAC811C0}"/>
          </ac:spMkLst>
        </pc:spChg>
      </pc:sldChg>
      <pc:sldChg chg="add">
        <pc:chgData name="Toepfer, Kay (SE GP G QPI QM P)" userId="36764bee-4a11-4416-84dd-d89ac0fb4adf" providerId="ADAL" clId="{5BC98A9E-5F45-44EF-9AC7-87EC09CA37BD}" dt="2021-04-22T08:52:38.962" v="2"/>
        <pc:sldMkLst>
          <pc:docMk/>
          <pc:sldMk cId="2347123089" sldId="1912"/>
        </pc:sldMkLst>
      </pc:sldChg>
      <pc:sldChg chg="modSp mod">
        <pc:chgData name="Toepfer, Kay (SE GP G QPI QM P)" userId="36764bee-4a11-4416-84dd-d89ac0fb4adf" providerId="ADAL" clId="{5BC98A9E-5F45-44EF-9AC7-87EC09CA37BD}" dt="2021-04-22T08:51:36.595" v="1" actId="20577"/>
        <pc:sldMkLst>
          <pc:docMk/>
          <pc:sldMk cId="3132309869" sldId="1940"/>
        </pc:sldMkLst>
        <pc:spChg chg="mod">
          <ac:chgData name="Toepfer, Kay (SE GP G QPI QM P)" userId="36764bee-4a11-4416-84dd-d89ac0fb4adf" providerId="ADAL" clId="{5BC98A9E-5F45-44EF-9AC7-87EC09CA37BD}" dt="2021-04-22T08:51:36.595" v="1" actId="20577"/>
          <ac:spMkLst>
            <pc:docMk/>
            <pc:sldMk cId="3132309869" sldId="1940"/>
            <ac:spMk id="3" creationId="{140ABB90-1C37-4037-BEEB-EA0B417705F2}"/>
          </ac:spMkLst>
        </pc:spChg>
      </pc:sldChg>
      <pc:sldChg chg="del">
        <pc:chgData name="Toepfer, Kay (SE GP G QPI QM P)" userId="36764bee-4a11-4416-84dd-d89ac0fb4adf" providerId="ADAL" clId="{5BC98A9E-5F45-44EF-9AC7-87EC09CA37BD}" dt="2021-04-22T08:52:41.516" v="3" actId="47"/>
        <pc:sldMkLst>
          <pc:docMk/>
          <pc:sldMk cId="758945805" sldId="1941"/>
        </pc:sldMkLst>
      </pc:sldChg>
      <pc:sldChg chg="addSp delSp modSp mod">
        <pc:chgData name="Toepfer, Kay (SE GP G QPI QM P)" userId="36764bee-4a11-4416-84dd-d89ac0fb4adf" providerId="ADAL" clId="{5BC98A9E-5F45-44EF-9AC7-87EC09CA37BD}" dt="2021-04-22T09:03:06.015" v="23" actId="478"/>
        <pc:sldMkLst>
          <pc:docMk/>
          <pc:sldMk cId="2104042654" sldId="5528"/>
        </pc:sldMkLst>
        <pc:spChg chg="mod">
          <ac:chgData name="Toepfer, Kay (SE GP G QPI QM P)" userId="36764bee-4a11-4416-84dd-d89ac0fb4adf" providerId="ADAL" clId="{5BC98A9E-5F45-44EF-9AC7-87EC09CA37BD}" dt="2021-04-22T08:57:36.482" v="20" actId="20577"/>
          <ac:spMkLst>
            <pc:docMk/>
            <pc:sldMk cId="2104042654" sldId="5528"/>
            <ac:spMk id="2" creationId="{82090D6C-7FA2-4842-8E08-EA259B777B8B}"/>
          </ac:spMkLst>
        </pc:spChg>
        <pc:spChg chg="mod">
          <ac:chgData name="Toepfer, Kay (SE GP G QPI QM P)" userId="36764bee-4a11-4416-84dd-d89ac0fb4adf" providerId="ADAL" clId="{5BC98A9E-5F45-44EF-9AC7-87EC09CA37BD}" dt="2021-04-22T08:57:39.602" v="21" actId="20577"/>
          <ac:spMkLst>
            <pc:docMk/>
            <pc:sldMk cId="2104042654" sldId="5528"/>
            <ac:spMk id="3" creationId="{0EF4D9C8-AFC7-479B-AE2E-17CACAC811C0}"/>
          </ac:spMkLst>
        </pc:spChg>
        <pc:picChg chg="add del">
          <ac:chgData name="Toepfer, Kay (SE GP G QPI QM P)" userId="36764bee-4a11-4416-84dd-d89ac0fb4adf" providerId="ADAL" clId="{5BC98A9E-5F45-44EF-9AC7-87EC09CA37BD}" dt="2021-04-22T09:03:06.015" v="23" actId="478"/>
          <ac:picMkLst>
            <pc:docMk/>
            <pc:sldMk cId="2104042654" sldId="5528"/>
            <ac:picMk id="9" creationId="{D86A6ED2-F54A-41A4-B700-99D0BAC0304B}"/>
          </ac:picMkLst>
        </pc:picChg>
      </pc:sldChg>
      <pc:sldChg chg="modSp mod">
        <pc:chgData name="Toepfer, Kay (SE GP G QPI QM P)" userId="36764bee-4a11-4416-84dd-d89ac0fb4adf" providerId="ADAL" clId="{5BC98A9E-5F45-44EF-9AC7-87EC09CA37BD}" dt="2021-04-22T08:53:45.571" v="9" actId="20577"/>
        <pc:sldMkLst>
          <pc:docMk/>
          <pc:sldMk cId="1531670070" sldId="5530"/>
        </pc:sldMkLst>
        <pc:spChg chg="mod">
          <ac:chgData name="Toepfer, Kay (SE GP G QPI QM P)" userId="36764bee-4a11-4416-84dd-d89ac0fb4adf" providerId="ADAL" clId="{5BC98A9E-5F45-44EF-9AC7-87EC09CA37BD}" dt="2021-04-22T08:53:45.571" v="9" actId="20577"/>
          <ac:spMkLst>
            <pc:docMk/>
            <pc:sldMk cId="1531670070" sldId="5530"/>
            <ac:spMk id="3" creationId="{140ABB90-1C37-4037-BEEB-EA0B417705F2}"/>
          </ac:spMkLst>
        </pc:spChg>
      </pc:sldChg>
      <pc:sldChg chg="add del">
        <pc:chgData name="Toepfer, Kay (SE GP G QPI QM P)" userId="36764bee-4a11-4416-84dd-d89ac0fb4adf" providerId="ADAL" clId="{5BC98A9E-5F45-44EF-9AC7-87EC09CA37BD}" dt="2021-04-22T08:53:36.757" v="7" actId="47"/>
        <pc:sldMkLst>
          <pc:docMk/>
          <pc:sldMk cId="758945805" sldId="5574"/>
        </pc:sldMkLst>
      </pc:sldChg>
    </pc:docChg>
  </pc:docChgLst>
  <pc:docChgLst>
    <pc:chgData name="Kanan, Amin (SE GP G QPI QM P)" userId="b5e5d2f6-0343-4203-9673-7ca4b0f599f6" providerId="ADAL" clId="{68DF505B-102C-4DE7-BE78-CD5CEDF78643}"/>
    <pc:docChg chg="modSld">
      <pc:chgData name="Kanan, Amin (SE GP G QPI QM P)" userId="b5e5d2f6-0343-4203-9673-7ca4b0f599f6" providerId="ADAL" clId="{68DF505B-102C-4DE7-BE78-CD5CEDF78643}" dt="2021-10-13T12:34:57.297" v="6" actId="20577"/>
      <pc:docMkLst>
        <pc:docMk/>
      </pc:docMkLst>
      <pc:sldChg chg="modSp mod">
        <pc:chgData name="Kanan, Amin (SE GP G QPI QM P)" userId="b5e5d2f6-0343-4203-9673-7ca4b0f599f6" providerId="ADAL" clId="{68DF505B-102C-4DE7-BE78-CD5CEDF78643}" dt="2021-10-13T12:34:57.297" v="6" actId="20577"/>
        <pc:sldMkLst>
          <pc:docMk/>
          <pc:sldMk cId="3957675570" sldId="256"/>
        </pc:sldMkLst>
        <pc:spChg chg="mod">
          <ac:chgData name="Kanan, Amin (SE GP G QPI QM P)" userId="b5e5d2f6-0343-4203-9673-7ca4b0f599f6" providerId="ADAL" clId="{68DF505B-102C-4DE7-BE78-CD5CEDF78643}" dt="2021-10-13T12:34:57.297" v="6" actId="20577"/>
          <ac:spMkLst>
            <pc:docMk/>
            <pc:sldMk cId="3957675570" sldId="256"/>
            <ac:spMk id="3" creationId="{0EF4D9C8-AFC7-479B-AE2E-17CACAC811C0}"/>
          </ac:spMkLst>
        </pc:spChg>
      </pc:sldChg>
      <pc:sldChg chg="delSp modSp mod">
        <pc:chgData name="Kanan, Amin (SE GP G QPI QM P)" userId="b5e5d2f6-0343-4203-9673-7ca4b0f599f6" providerId="ADAL" clId="{68DF505B-102C-4DE7-BE78-CD5CEDF78643}" dt="2021-10-13T07:54:35.482" v="2" actId="165"/>
        <pc:sldMkLst>
          <pc:docMk/>
          <pc:sldMk cId="1555009782" sldId="301"/>
        </pc:sldMkLst>
        <pc:spChg chg="mod">
          <ac:chgData name="Kanan, Amin (SE GP G QPI QM P)" userId="b5e5d2f6-0343-4203-9673-7ca4b0f599f6" providerId="ADAL" clId="{68DF505B-102C-4DE7-BE78-CD5CEDF78643}" dt="2021-10-13T07:54:35.482" v="2" actId="165"/>
          <ac:spMkLst>
            <pc:docMk/>
            <pc:sldMk cId="1555009782" sldId="301"/>
            <ac:spMk id="50" creationId="{DEE4A01E-65C8-4AA5-B438-3F16E744F386}"/>
          </ac:spMkLst>
        </pc:spChg>
        <pc:spChg chg="mod">
          <ac:chgData name="Kanan, Amin (SE GP G QPI QM P)" userId="b5e5d2f6-0343-4203-9673-7ca4b0f599f6" providerId="ADAL" clId="{68DF505B-102C-4DE7-BE78-CD5CEDF78643}" dt="2021-10-13T07:54:35.482" v="2" actId="165"/>
          <ac:spMkLst>
            <pc:docMk/>
            <pc:sldMk cId="1555009782" sldId="301"/>
            <ac:spMk id="51" creationId="{A5AB845C-9D22-4531-B674-7BA9FB71141F}"/>
          </ac:spMkLst>
        </pc:spChg>
        <pc:spChg chg="mod">
          <ac:chgData name="Kanan, Amin (SE GP G QPI QM P)" userId="b5e5d2f6-0343-4203-9673-7ca4b0f599f6" providerId="ADAL" clId="{68DF505B-102C-4DE7-BE78-CD5CEDF78643}" dt="2021-10-13T07:54:35.482" v="2" actId="165"/>
          <ac:spMkLst>
            <pc:docMk/>
            <pc:sldMk cId="1555009782" sldId="301"/>
            <ac:spMk id="52" creationId="{9A53D71D-BC5D-46AC-9D2E-248E15BE23E1}"/>
          </ac:spMkLst>
        </pc:spChg>
        <pc:spChg chg="mod">
          <ac:chgData name="Kanan, Amin (SE GP G QPI QM P)" userId="b5e5d2f6-0343-4203-9673-7ca4b0f599f6" providerId="ADAL" clId="{68DF505B-102C-4DE7-BE78-CD5CEDF78643}" dt="2021-10-13T07:54:35.482" v="2" actId="165"/>
          <ac:spMkLst>
            <pc:docMk/>
            <pc:sldMk cId="1555009782" sldId="301"/>
            <ac:spMk id="53" creationId="{C7046FA1-B81F-45B6-A3A8-4C70F8CA4563}"/>
          </ac:spMkLst>
        </pc:spChg>
        <pc:spChg chg="mod">
          <ac:chgData name="Kanan, Amin (SE GP G QPI QM P)" userId="b5e5d2f6-0343-4203-9673-7ca4b0f599f6" providerId="ADAL" clId="{68DF505B-102C-4DE7-BE78-CD5CEDF78643}" dt="2021-10-13T07:54:35.482" v="2" actId="165"/>
          <ac:spMkLst>
            <pc:docMk/>
            <pc:sldMk cId="1555009782" sldId="301"/>
            <ac:spMk id="54" creationId="{F850A011-6661-4833-AF93-0056C3EBEFBF}"/>
          </ac:spMkLst>
        </pc:spChg>
        <pc:spChg chg="mod">
          <ac:chgData name="Kanan, Amin (SE GP G QPI QM P)" userId="b5e5d2f6-0343-4203-9673-7ca4b0f599f6" providerId="ADAL" clId="{68DF505B-102C-4DE7-BE78-CD5CEDF78643}" dt="2021-10-13T07:54:35.482" v="2" actId="165"/>
          <ac:spMkLst>
            <pc:docMk/>
            <pc:sldMk cId="1555009782" sldId="301"/>
            <ac:spMk id="55" creationId="{7E0B033A-F38A-4D3A-BFC3-28BC1D847DD3}"/>
          </ac:spMkLst>
        </pc:spChg>
        <pc:spChg chg="mod">
          <ac:chgData name="Kanan, Amin (SE GP G QPI QM P)" userId="b5e5d2f6-0343-4203-9673-7ca4b0f599f6" providerId="ADAL" clId="{68DF505B-102C-4DE7-BE78-CD5CEDF78643}" dt="2021-10-13T07:54:35.482" v="2" actId="165"/>
          <ac:spMkLst>
            <pc:docMk/>
            <pc:sldMk cId="1555009782" sldId="301"/>
            <ac:spMk id="58" creationId="{C14D0DCB-AB54-44D9-ABB3-63C80DAE7890}"/>
          </ac:spMkLst>
        </pc:spChg>
        <pc:spChg chg="mod">
          <ac:chgData name="Kanan, Amin (SE GP G QPI QM P)" userId="b5e5d2f6-0343-4203-9673-7ca4b0f599f6" providerId="ADAL" clId="{68DF505B-102C-4DE7-BE78-CD5CEDF78643}" dt="2021-10-13T07:54:35.482" v="2" actId="165"/>
          <ac:spMkLst>
            <pc:docMk/>
            <pc:sldMk cId="1555009782" sldId="301"/>
            <ac:spMk id="59" creationId="{1C6B96A0-C983-4FB4-9256-1A5F69E3536C}"/>
          </ac:spMkLst>
        </pc:spChg>
        <pc:spChg chg="mod">
          <ac:chgData name="Kanan, Amin (SE GP G QPI QM P)" userId="b5e5d2f6-0343-4203-9673-7ca4b0f599f6" providerId="ADAL" clId="{68DF505B-102C-4DE7-BE78-CD5CEDF78643}" dt="2021-10-13T07:54:35.482" v="2" actId="165"/>
          <ac:spMkLst>
            <pc:docMk/>
            <pc:sldMk cId="1555009782" sldId="301"/>
            <ac:spMk id="60" creationId="{BF6CB057-5DB9-4DF0-8264-1028D64D82D4}"/>
          </ac:spMkLst>
        </pc:spChg>
        <pc:spChg chg="mod">
          <ac:chgData name="Kanan, Amin (SE GP G QPI QM P)" userId="b5e5d2f6-0343-4203-9673-7ca4b0f599f6" providerId="ADAL" clId="{68DF505B-102C-4DE7-BE78-CD5CEDF78643}" dt="2021-10-13T07:54:35.482" v="2" actId="165"/>
          <ac:spMkLst>
            <pc:docMk/>
            <pc:sldMk cId="1555009782" sldId="301"/>
            <ac:spMk id="62" creationId="{D17ADD3D-80DD-471F-A104-CF8FBFD167EB}"/>
          </ac:spMkLst>
        </pc:spChg>
        <pc:spChg chg="mod">
          <ac:chgData name="Kanan, Amin (SE GP G QPI QM P)" userId="b5e5d2f6-0343-4203-9673-7ca4b0f599f6" providerId="ADAL" clId="{68DF505B-102C-4DE7-BE78-CD5CEDF78643}" dt="2021-10-13T07:54:35.482" v="2" actId="165"/>
          <ac:spMkLst>
            <pc:docMk/>
            <pc:sldMk cId="1555009782" sldId="301"/>
            <ac:spMk id="63" creationId="{F3794FFF-4F53-4E6E-A000-3B2DAF215EBF}"/>
          </ac:spMkLst>
        </pc:spChg>
        <pc:spChg chg="mod">
          <ac:chgData name="Kanan, Amin (SE GP G QPI QM P)" userId="b5e5d2f6-0343-4203-9673-7ca4b0f599f6" providerId="ADAL" clId="{68DF505B-102C-4DE7-BE78-CD5CEDF78643}" dt="2021-10-13T07:54:35.482" v="2" actId="165"/>
          <ac:spMkLst>
            <pc:docMk/>
            <pc:sldMk cId="1555009782" sldId="301"/>
            <ac:spMk id="65" creationId="{449DCF0C-199A-41FC-B930-BCB4AFC51C5C}"/>
          </ac:spMkLst>
        </pc:spChg>
        <pc:spChg chg="mod">
          <ac:chgData name="Kanan, Amin (SE GP G QPI QM P)" userId="b5e5d2f6-0343-4203-9673-7ca4b0f599f6" providerId="ADAL" clId="{68DF505B-102C-4DE7-BE78-CD5CEDF78643}" dt="2021-10-13T07:54:35.482" v="2" actId="165"/>
          <ac:spMkLst>
            <pc:docMk/>
            <pc:sldMk cId="1555009782" sldId="301"/>
            <ac:spMk id="66" creationId="{3FE2DC8E-6540-471A-9ACB-BD9341279BAA}"/>
          </ac:spMkLst>
        </pc:spChg>
        <pc:spChg chg="mod">
          <ac:chgData name="Kanan, Amin (SE GP G QPI QM P)" userId="b5e5d2f6-0343-4203-9673-7ca4b0f599f6" providerId="ADAL" clId="{68DF505B-102C-4DE7-BE78-CD5CEDF78643}" dt="2021-10-13T07:54:35.482" v="2" actId="165"/>
          <ac:spMkLst>
            <pc:docMk/>
            <pc:sldMk cId="1555009782" sldId="301"/>
            <ac:spMk id="68" creationId="{043F755A-490F-4F12-B89D-CA9417EFB4B8}"/>
          </ac:spMkLst>
        </pc:spChg>
        <pc:spChg chg="mod">
          <ac:chgData name="Kanan, Amin (SE GP G QPI QM P)" userId="b5e5d2f6-0343-4203-9673-7ca4b0f599f6" providerId="ADAL" clId="{68DF505B-102C-4DE7-BE78-CD5CEDF78643}" dt="2021-10-13T07:54:35.482" v="2" actId="165"/>
          <ac:spMkLst>
            <pc:docMk/>
            <pc:sldMk cId="1555009782" sldId="301"/>
            <ac:spMk id="69" creationId="{79604AE0-6EDB-4287-9961-9FB0DCC69BBA}"/>
          </ac:spMkLst>
        </pc:spChg>
        <pc:grpChg chg="del mod">
          <ac:chgData name="Kanan, Amin (SE GP G QPI QM P)" userId="b5e5d2f6-0343-4203-9673-7ca4b0f599f6" providerId="ADAL" clId="{68DF505B-102C-4DE7-BE78-CD5CEDF78643}" dt="2021-10-13T07:54:35.482" v="2" actId="165"/>
          <ac:grpSpMkLst>
            <pc:docMk/>
            <pc:sldMk cId="1555009782" sldId="301"/>
            <ac:grpSpMk id="3" creationId="{A0E09E2B-65D3-457C-B63B-168C81B2BA7A}"/>
          </ac:grpSpMkLst>
        </pc:grpChg>
        <pc:grpChg chg="mod topLvl">
          <ac:chgData name="Kanan, Amin (SE GP G QPI QM P)" userId="b5e5d2f6-0343-4203-9673-7ca4b0f599f6" providerId="ADAL" clId="{68DF505B-102C-4DE7-BE78-CD5CEDF78643}" dt="2021-10-13T07:54:35.482" v="2" actId="165"/>
          <ac:grpSpMkLst>
            <pc:docMk/>
            <pc:sldMk cId="1555009782" sldId="301"/>
            <ac:grpSpMk id="56" creationId="{6B6A73D8-7CD2-43CE-BBC1-6ADEB5A91B93}"/>
          </ac:grpSpMkLst>
        </pc:grpChg>
        <pc:grpChg chg="mod">
          <ac:chgData name="Kanan, Amin (SE GP G QPI QM P)" userId="b5e5d2f6-0343-4203-9673-7ca4b0f599f6" providerId="ADAL" clId="{68DF505B-102C-4DE7-BE78-CD5CEDF78643}" dt="2021-10-13T07:54:35.482" v="2" actId="165"/>
          <ac:grpSpMkLst>
            <pc:docMk/>
            <pc:sldMk cId="1555009782" sldId="301"/>
            <ac:grpSpMk id="57" creationId="{E0886A2D-A641-4F50-B1DE-708332FC4DD9}"/>
          </ac:grpSpMkLst>
        </pc:grpChg>
        <pc:grpChg chg="mod">
          <ac:chgData name="Kanan, Amin (SE GP G QPI QM P)" userId="b5e5d2f6-0343-4203-9673-7ca4b0f599f6" providerId="ADAL" clId="{68DF505B-102C-4DE7-BE78-CD5CEDF78643}" dt="2021-10-13T07:54:35.482" v="2" actId="165"/>
          <ac:grpSpMkLst>
            <pc:docMk/>
            <pc:sldMk cId="1555009782" sldId="301"/>
            <ac:grpSpMk id="64" creationId="{87A5D258-5AFF-4705-92A6-246A5F8A3ED6}"/>
          </ac:grpSpMkLst>
        </pc:grpChg>
        <pc:grpChg chg="mod topLvl">
          <ac:chgData name="Kanan, Amin (SE GP G QPI QM P)" userId="b5e5d2f6-0343-4203-9673-7ca4b0f599f6" providerId="ADAL" clId="{68DF505B-102C-4DE7-BE78-CD5CEDF78643}" dt="2021-10-13T07:54:35.482" v="2" actId="165"/>
          <ac:grpSpMkLst>
            <pc:docMk/>
            <pc:sldMk cId="1555009782" sldId="301"/>
            <ac:grpSpMk id="70" creationId="{F57B8147-3259-4EA5-80AE-4EC61772F304}"/>
          </ac:grpSpMkLst>
        </pc:grpChg>
        <pc:grpChg chg="mod topLvl">
          <ac:chgData name="Kanan, Amin (SE GP G QPI QM P)" userId="b5e5d2f6-0343-4203-9673-7ca4b0f599f6" providerId="ADAL" clId="{68DF505B-102C-4DE7-BE78-CD5CEDF78643}" dt="2021-10-13T07:54:35.482" v="2" actId="165"/>
          <ac:grpSpMkLst>
            <pc:docMk/>
            <pc:sldMk cId="1555009782" sldId="301"/>
            <ac:grpSpMk id="71" creationId="{F2D7BF9A-44EC-4B9E-85D7-4529969D20C5}"/>
          </ac:grpSpMkLst>
        </pc:grpChg>
      </pc:sldChg>
      <pc:sldChg chg="modSp mod">
        <pc:chgData name="Kanan, Amin (SE GP G QPI QM P)" userId="b5e5d2f6-0343-4203-9673-7ca4b0f599f6" providerId="ADAL" clId="{68DF505B-102C-4DE7-BE78-CD5CEDF78643}" dt="2021-10-13T12:34:14.105" v="4" actId="20577"/>
        <pc:sldMkLst>
          <pc:docMk/>
          <pc:sldMk cId="2104042654" sldId="5528"/>
        </pc:sldMkLst>
        <pc:spChg chg="mod">
          <ac:chgData name="Kanan, Amin (SE GP G QPI QM P)" userId="b5e5d2f6-0343-4203-9673-7ca4b0f599f6" providerId="ADAL" clId="{68DF505B-102C-4DE7-BE78-CD5CEDF78643}" dt="2021-10-13T12:34:14.105" v="4" actId="20577"/>
          <ac:spMkLst>
            <pc:docMk/>
            <pc:sldMk cId="2104042654" sldId="5528"/>
            <ac:spMk id="3" creationId="{0EF4D9C8-AFC7-479B-AE2E-17CACAC811C0}"/>
          </ac:spMkLst>
        </pc:spChg>
      </pc:sldChg>
    </pc:docChg>
  </pc:docChgLst>
  <pc:docChgLst>
    <pc:chgData name="Johanna" userId="bea18abe-6de8-4429-b920-7e257f2a60c3" providerId="ADAL" clId="{D2AB5281-1A5E-4373-B050-D32F8B3C0508}"/>
    <pc:docChg chg="undo custSel addSld modSld">
      <pc:chgData name="Johanna" userId="bea18abe-6de8-4429-b920-7e257f2a60c3" providerId="ADAL" clId="{D2AB5281-1A5E-4373-B050-D32F8B3C0508}" dt="2021-03-22T09:57:21.049" v="472" actId="113"/>
      <pc:docMkLst>
        <pc:docMk/>
      </pc:docMkLst>
      <pc:sldChg chg="modSp mod">
        <pc:chgData name="Johanna" userId="bea18abe-6de8-4429-b920-7e257f2a60c3" providerId="ADAL" clId="{D2AB5281-1A5E-4373-B050-D32F8B3C0508}" dt="2021-03-22T09:39:17.253" v="213" actId="108"/>
        <pc:sldMkLst>
          <pc:docMk/>
          <pc:sldMk cId="1569421591" sldId="1926"/>
        </pc:sldMkLst>
        <pc:spChg chg="mod">
          <ac:chgData name="Johanna" userId="bea18abe-6de8-4429-b920-7e257f2a60c3" providerId="ADAL" clId="{D2AB5281-1A5E-4373-B050-D32F8B3C0508}" dt="2021-03-22T09:39:17.253" v="213" actId="108"/>
          <ac:spMkLst>
            <pc:docMk/>
            <pc:sldMk cId="1569421591" sldId="1926"/>
            <ac:spMk id="5" creationId="{E07F3247-9416-4C94-A703-E3B66FDCBA6E}"/>
          </ac:spMkLst>
        </pc:spChg>
      </pc:sldChg>
      <pc:sldChg chg="addSp modSp mod">
        <pc:chgData name="Johanna" userId="bea18abe-6de8-4429-b920-7e257f2a60c3" providerId="ADAL" clId="{D2AB5281-1A5E-4373-B050-D32F8B3C0508}" dt="2021-03-22T09:30:59.512" v="60" actId="255"/>
        <pc:sldMkLst>
          <pc:docMk/>
          <pc:sldMk cId="1283995009" sldId="1929"/>
        </pc:sldMkLst>
        <pc:spChg chg="mod">
          <ac:chgData name="Johanna" userId="bea18abe-6de8-4429-b920-7e257f2a60c3" providerId="ADAL" clId="{D2AB5281-1A5E-4373-B050-D32F8B3C0508}" dt="2021-03-22T09:30:44.616" v="57" actId="1076"/>
          <ac:spMkLst>
            <pc:docMk/>
            <pc:sldMk cId="1283995009" sldId="1929"/>
            <ac:spMk id="7" creationId="{61535C09-44D8-4C74-9E57-F61E9CAA0B73}"/>
          </ac:spMkLst>
        </pc:spChg>
        <pc:spChg chg="add mod">
          <ac:chgData name="Johanna" userId="bea18abe-6de8-4429-b920-7e257f2a60c3" providerId="ADAL" clId="{D2AB5281-1A5E-4373-B050-D32F8B3C0508}" dt="2021-03-22T09:30:59.512" v="60" actId="255"/>
          <ac:spMkLst>
            <pc:docMk/>
            <pc:sldMk cId="1283995009" sldId="1929"/>
            <ac:spMk id="15" creationId="{223ED9EF-4885-499F-B4EF-F9578DAF36D0}"/>
          </ac:spMkLst>
        </pc:spChg>
      </pc:sldChg>
      <pc:sldChg chg="modSp mod">
        <pc:chgData name="Johanna" userId="bea18abe-6de8-4429-b920-7e257f2a60c3" providerId="ADAL" clId="{D2AB5281-1A5E-4373-B050-D32F8B3C0508}" dt="2021-03-22T09:38:14.506" v="197" actId="108"/>
        <pc:sldMkLst>
          <pc:docMk/>
          <pc:sldMk cId="3348324799" sldId="5547"/>
        </pc:sldMkLst>
        <pc:spChg chg="mod">
          <ac:chgData name="Johanna" userId="bea18abe-6de8-4429-b920-7e257f2a60c3" providerId="ADAL" clId="{D2AB5281-1A5E-4373-B050-D32F8B3C0508}" dt="2021-03-22T09:38:14.506" v="197" actId="108"/>
          <ac:spMkLst>
            <pc:docMk/>
            <pc:sldMk cId="3348324799" sldId="5547"/>
            <ac:spMk id="4" creationId="{AB108AD5-8AE5-4620-83AB-B4A1B64D2811}"/>
          </ac:spMkLst>
        </pc:spChg>
      </pc:sldChg>
      <pc:sldChg chg="addSp delSp modSp add mod">
        <pc:chgData name="Johanna" userId="bea18abe-6de8-4429-b920-7e257f2a60c3" providerId="ADAL" clId="{D2AB5281-1A5E-4373-B050-D32F8B3C0508}" dt="2021-03-22T09:57:21.049" v="472" actId="113"/>
        <pc:sldMkLst>
          <pc:docMk/>
          <pc:sldMk cId="1375828425" sldId="5573"/>
        </pc:sldMkLst>
        <pc:spChg chg="mod">
          <ac:chgData name="Johanna" userId="bea18abe-6de8-4429-b920-7e257f2a60c3" providerId="ADAL" clId="{D2AB5281-1A5E-4373-B050-D32F8B3C0508}" dt="2021-03-22T09:41:16.660" v="229" actId="6549"/>
          <ac:spMkLst>
            <pc:docMk/>
            <pc:sldMk cId="1375828425" sldId="5573"/>
            <ac:spMk id="2" creationId="{6FB2A92C-9976-40AE-AA14-F66884AF4BD1}"/>
          </ac:spMkLst>
        </pc:spChg>
        <pc:spChg chg="del">
          <ac:chgData name="Johanna" userId="bea18abe-6de8-4429-b920-7e257f2a60c3" providerId="ADAL" clId="{D2AB5281-1A5E-4373-B050-D32F8B3C0508}" dt="2021-03-22T09:41:29.069" v="233" actId="478"/>
          <ac:spMkLst>
            <pc:docMk/>
            <pc:sldMk cId="1375828425" sldId="5573"/>
            <ac:spMk id="7" creationId="{61535C09-44D8-4C74-9E57-F61E9CAA0B73}"/>
          </ac:spMkLst>
        </pc:spChg>
        <pc:spChg chg="add mod">
          <ac:chgData name="Johanna" userId="bea18abe-6de8-4429-b920-7e257f2a60c3" providerId="ADAL" clId="{D2AB5281-1A5E-4373-B050-D32F8B3C0508}" dt="2021-03-22T09:57:21.049" v="472" actId="113"/>
          <ac:spMkLst>
            <pc:docMk/>
            <pc:sldMk cId="1375828425" sldId="5573"/>
            <ac:spMk id="40" creationId="{A634D258-4BB5-4E06-977B-BA8BA224D089}"/>
          </ac:spMkLst>
        </pc:spChg>
        <pc:grpChg chg="del mod">
          <ac:chgData name="Johanna" userId="bea18abe-6de8-4429-b920-7e257f2a60c3" providerId="ADAL" clId="{D2AB5281-1A5E-4373-B050-D32F8B3C0508}" dt="2021-03-22T09:41:19.953" v="231" actId="478"/>
          <ac:grpSpMkLst>
            <pc:docMk/>
            <pc:sldMk cId="1375828425" sldId="5573"/>
            <ac:grpSpMk id="13" creationId="{DC537BAA-0F78-432E-A466-63FCAF8393B7}"/>
          </ac:grpSpMkLst>
        </pc:grpChg>
        <pc:graphicFrameChg chg="del">
          <ac:chgData name="Johanna" userId="bea18abe-6de8-4429-b920-7e257f2a60c3" providerId="ADAL" clId="{D2AB5281-1A5E-4373-B050-D32F8B3C0508}" dt="2021-03-22T09:41:24.046" v="232" actId="478"/>
          <ac:graphicFrameMkLst>
            <pc:docMk/>
            <pc:sldMk cId="1375828425" sldId="5573"/>
            <ac:graphicFrameMk id="3" creationId="{B250A5D1-64E8-4787-BA79-626C57E701A7}"/>
          </ac:graphicFrameMkLst>
        </pc:graphicFrameChg>
      </pc:sldChg>
    </pc:docChg>
  </pc:docChgLst>
  <pc:docChgLst>
    <pc:chgData name="Johanna" userId="bea18abe-6de8-4429-b920-7e257f2a60c3" providerId="ADAL" clId="{35840500-D1FA-4FB2-99C7-E8DFC7494540}"/>
    <pc:docChg chg="custSel">
      <pc:chgData name="Johanna" userId="bea18abe-6de8-4429-b920-7e257f2a60c3" providerId="ADAL" clId="{35840500-D1FA-4FB2-99C7-E8DFC7494540}" dt="2021-03-18T12:28:25.825" v="26" actId="1592"/>
      <pc:docMkLst>
        <pc:docMk/>
      </pc:docMkLst>
      <pc:sldChg chg="delCm">
        <pc:chgData name="Johanna" userId="bea18abe-6de8-4429-b920-7e257f2a60c3" providerId="ADAL" clId="{35840500-D1FA-4FB2-99C7-E8DFC7494540}" dt="2021-03-18T12:28:25.809" v="11" actId="1592"/>
        <pc:sldMkLst>
          <pc:docMk/>
          <pc:sldMk cId="3957675570" sldId="256"/>
        </pc:sldMkLst>
      </pc:sldChg>
      <pc:sldChg chg="delCm">
        <pc:chgData name="Johanna" userId="bea18abe-6de8-4429-b920-7e257f2a60c3" providerId="ADAL" clId="{35840500-D1FA-4FB2-99C7-E8DFC7494540}" dt="2021-03-18T12:28:25.823" v="24" actId="1592"/>
        <pc:sldMkLst>
          <pc:docMk/>
          <pc:sldMk cId="4065941494" sldId="1407"/>
        </pc:sldMkLst>
      </pc:sldChg>
      <pc:sldChg chg="delCm">
        <pc:chgData name="Johanna" userId="bea18abe-6de8-4429-b920-7e257f2a60c3" providerId="ADAL" clId="{35840500-D1FA-4FB2-99C7-E8DFC7494540}" dt="2021-03-18T12:28:25.824" v="25" actId="1592"/>
        <pc:sldMkLst>
          <pc:docMk/>
          <pc:sldMk cId="3131508494" sldId="1411"/>
        </pc:sldMkLst>
      </pc:sldChg>
      <pc:sldChg chg="delCm">
        <pc:chgData name="Johanna" userId="bea18abe-6de8-4429-b920-7e257f2a60c3" providerId="ADAL" clId="{35840500-D1FA-4FB2-99C7-E8DFC7494540}" dt="2021-03-18T12:28:25.822" v="23" actId="1592"/>
        <pc:sldMkLst>
          <pc:docMk/>
          <pc:sldMk cId="1831179077" sldId="1421"/>
        </pc:sldMkLst>
      </pc:sldChg>
      <pc:sldChg chg="delCm">
        <pc:chgData name="Johanna" userId="bea18abe-6de8-4429-b920-7e257f2a60c3" providerId="ADAL" clId="{35840500-D1FA-4FB2-99C7-E8DFC7494540}" dt="2021-03-18T12:28:25.799" v="3" actId="1592"/>
        <pc:sldMkLst>
          <pc:docMk/>
          <pc:sldMk cId="1151130440" sldId="1853"/>
        </pc:sldMkLst>
      </pc:sldChg>
      <pc:sldChg chg="delCm">
        <pc:chgData name="Johanna" userId="bea18abe-6de8-4429-b920-7e257f2a60c3" providerId="ADAL" clId="{35840500-D1FA-4FB2-99C7-E8DFC7494540}" dt="2021-03-18T12:28:25.802" v="6" actId="1592"/>
        <pc:sldMkLst>
          <pc:docMk/>
          <pc:sldMk cId="2703207379" sldId="1854"/>
        </pc:sldMkLst>
      </pc:sldChg>
      <pc:sldChg chg="delCm">
        <pc:chgData name="Johanna" userId="bea18abe-6de8-4429-b920-7e257f2a60c3" providerId="ADAL" clId="{35840500-D1FA-4FB2-99C7-E8DFC7494540}" dt="2021-03-18T12:28:25.821" v="21" actId="1592"/>
        <pc:sldMkLst>
          <pc:docMk/>
          <pc:sldMk cId="3306078910" sldId="1869"/>
        </pc:sldMkLst>
      </pc:sldChg>
      <pc:sldChg chg="delCm">
        <pc:chgData name="Johanna" userId="bea18abe-6de8-4429-b920-7e257f2a60c3" providerId="ADAL" clId="{35840500-D1FA-4FB2-99C7-E8DFC7494540}" dt="2021-03-18T12:28:25.820" v="20" actId="1592"/>
        <pc:sldMkLst>
          <pc:docMk/>
          <pc:sldMk cId="81438585" sldId="1897"/>
        </pc:sldMkLst>
      </pc:sldChg>
      <pc:sldChg chg="delCm">
        <pc:chgData name="Johanna" userId="bea18abe-6de8-4429-b920-7e257f2a60c3" providerId="ADAL" clId="{35840500-D1FA-4FB2-99C7-E8DFC7494540}" dt="2021-03-18T12:28:25.816" v="15" actId="1592"/>
        <pc:sldMkLst>
          <pc:docMk/>
          <pc:sldMk cId="0" sldId="1911"/>
        </pc:sldMkLst>
      </pc:sldChg>
      <pc:sldChg chg="delCm">
        <pc:chgData name="Johanna" userId="bea18abe-6de8-4429-b920-7e257f2a60c3" providerId="ADAL" clId="{35840500-D1FA-4FB2-99C7-E8DFC7494540}" dt="2021-03-18T12:28:25.819" v="18" actId="1592"/>
        <pc:sldMkLst>
          <pc:docMk/>
          <pc:sldMk cId="0" sldId="1916"/>
        </pc:sldMkLst>
      </pc:sldChg>
      <pc:sldChg chg="delCm">
        <pc:chgData name="Johanna" userId="bea18abe-6de8-4429-b920-7e257f2a60c3" providerId="ADAL" clId="{35840500-D1FA-4FB2-99C7-E8DFC7494540}" dt="2021-03-18T12:28:25.806" v="8" actId="1592"/>
        <pc:sldMkLst>
          <pc:docMk/>
          <pc:sldMk cId="1569421591" sldId="1926"/>
        </pc:sldMkLst>
      </pc:sldChg>
      <pc:sldChg chg="delCm">
        <pc:chgData name="Johanna" userId="bea18abe-6de8-4429-b920-7e257f2a60c3" providerId="ADAL" clId="{35840500-D1FA-4FB2-99C7-E8DFC7494540}" dt="2021-03-18T12:28:25.825" v="26" actId="1592"/>
        <pc:sldMkLst>
          <pc:docMk/>
          <pc:sldMk cId="1531670070" sldId="5530"/>
        </pc:sldMkLst>
      </pc:sldChg>
      <pc:sldChg chg="delCm">
        <pc:chgData name="Johanna" userId="bea18abe-6de8-4429-b920-7e257f2a60c3" providerId="ADAL" clId="{35840500-D1FA-4FB2-99C7-E8DFC7494540}" dt="2021-03-18T12:28:25.817" v="16" actId="1592"/>
        <pc:sldMkLst>
          <pc:docMk/>
          <pc:sldMk cId="1033063976" sldId="5531"/>
        </pc:sldMkLst>
      </pc:sldChg>
      <pc:sldChg chg="delCm">
        <pc:chgData name="Johanna" userId="bea18abe-6de8-4429-b920-7e257f2a60c3" providerId="ADAL" clId="{35840500-D1FA-4FB2-99C7-E8DFC7494540}" dt="2021-03-18T12:28:25.818" v="17" actId="1592"/>
        <pc:sldMkLst>
          <pc:docMk/>
          <pc:sldMk cId="430723604" sldId="5532"/>
        </pc:sldMkLst>
      </pc:sldChg>
      <pc:sldChg chg="delCm">
        <pc:chgData name="Johanna" userId="bea18abe-6de8-4429-b920-7e257f2a60c3" providerId="ADAL" clId="{35840500-D1FA-4FB2-99C7-E8DFC7494540}" dt="2021-03-18T12:28:25.819" v="19" actId="1592"/>
        <pc:sldMkLst>
          <pc:docMk/>
          <pc:sldMk cId="1015584248" sldId="5533"/>
        </pc:sldMkLst>
      </pc:sldChg>
      <pc:sldChg chg="delCm">
        <pc:chgData name="Johanna" userId="bea18abe-6de8-4429-b920-7e257f2a60c3" providerId="ADAL" clId="{35840500-D1FA-4FB2-99C7-E8DFC7494540}" dt="2021-03-18T12:28:25.807" v="9" actId="1592"/>
        <pc:sldMkLst>
          <pc:docMk/>
          <pc:sldMk cId="1714256013" sldId="5534"/>
        </pc:sldMkLst>
      </pc:sldChg>
      <pc:sldChg chg="delCm">
        <pc:chgData name="Johanna" userId="bea18abe-6de8-4429-b920-7e257f2a60c3" providerId="ADAL" clId="{35840500-D1FA-4FB2-99C7-E8DFC7494540}" dt="2021-03-18T12:28:25.797" v="2" actId="1592"/>
        <pc:sldMkLst>
          <pc:docMk/>
          <pc:sldMk cId="2571725414" sldId="5549"/>
        </pc:sldMkLst>
      </pc:sldChg>
      <pc:sldChg chg="delCm">
        <pc:chgData name="Johanna" userId="bea18abe-6de8-4429-b920-7e257f2a60c3" providerId="ADAL" clId="{35840500-D1FA-4FB2-99C7-E8DFC7494540}" dt="2021-03-18T12:28:25.808" v="10" actId="1592"/>
        <pc:sldMkLst>
          <pc:docMk/>
          <pc:sldMk cId="2008402466" sldId="5552"/>
        </pc:sldMkLst>
      </pc:sldChg>
      <pc:sldChg chg="delCm">
        <pc:chgData name="Johanna" userId="bea18abe-6de8-4429-b920-7e257f2a60c3" providerId="ADAL" clId="{35840500-D1FA-4FB2-99C7-E8DFC7494540}" dt="2021-03-18T12:28:25.812" v="13" actId="1592"/>
        <pc:sldMkLst>
          <pc:docMk/>
          <pc:sldMk cId="626401347" sldId="5553"/>
        </pc:sldMkLst>
      </pc:sldChg>
      <pc:sldChg chg="delCm">
        <pc:chgData name="Johanna" userId="bea18abe-6de8-4429-b920-7e257f2a60c3" providerId="ADAL" clId="{35840500-D1FA-4FB2-99C7-E8DFC7494540}" dt="2021-03-18T12:28:25.810" v="12" actId="1592"/>
        <pc:sldMkLst>
          <pc:docMk/>
          <pc:sldMk cId="251472936" sldId="5554"/>
        </pc:sldMkLst>
      </pc:sldChg>
      <pc:sldChg chg="delCm">
        <pc:chgData name="Johanna" userId="bea18abe-6de8-4429-b920-7e257f2a60c3" providerId="ADAL" clId="{35840500-D1FA-4FB2-99C7-E8DFC7494540}" dt="2021-03-18T12:28:25.803" v="7" actId="1592"/>
        <pc:sldMkLst>
          <pc:docMk/>
          <pc:sldMk cId="1064919532" sldId="5555"/>
        </pc:sldMkLst>
      </pc:sldChg>
      <pc:sldChg chg="delCm">
        <pc:chgData name="Johanna" userId="bea18abe-6de8-4429-b920-7e257f2a60c3" providerId="ADAL" clId="{35840500-D1FA-4FB2-99C7-E8DFC7494540}" dt="2021-03-18T12:28:25.814" v="14" actId="1592"/>
        <pc:sldMkLst>
          <pc:docMk/>
          <pc:sldMk cId="971785177" sldId="5561"/>
        </pc:sldMkLst>
      </pc:sldChg>
      <pc:sldChg chg="delCm">
        <pc:chgData name="Johanna" userId="bea18abe-6de8-4429-b920-7e257f2a60c3" providerId="ADAL" clId="{35840500-D1FA-4FB2-99C7-E8DFC7494540}" dt="2021-03-18T12:28:17.515" v="0" actId="1592"/>
        <pc:sldMkLst>
          <pc:docMk/>
          <pc:sldMk cId="93362643" sldId="5569"/>
        </pc:sldMkLst>
      </pc:sldChg>
      <pc:sldChg chg="delCm">
        <pc:chgData name="Johanna" userId="bea18abe-6de8-4429-b920-7e257f2a60c3" providerId="ADAL" clId="{35840500-D1FA-4FB2-99C7-E8DFC7494540}" dt="2021-03-18T12:28:25.821" v="22" actId="1592"/>
        <pc:sldMkLst>
          <pc:docMk/>
          <pc:sldMk cId="1640111632" sldId="5570"/>
        </pc:sldMkLst>
      </pc:sldChg>
    </pc:docChg>
  </pc:docChgLst>
  <pc:docChgLst>
    <pc:chgData name="Groh, Matthias (SE GP G QPI QM P)" userId="99494288-5ce4-4766-a240-287ba2f562d7" providerId="ADAL" clId="{3BB53035-CA0F-4E40-ABCB-1830B3B298DC}"/>
    <pc:docChg chg="addSld delSld modSld sldOrd">
      <pc:chgData name="Groh, Matthias (SE GP G QPI QM P)" userId="99494288-5ce4-4766-a240-287ba2f562d7" providerId="ADAL" clId="{3BB53035-CA0F-4E40-ABCB-1830B3B298DC}" dt="2021-08-05T10:15:27.096" v="70" actId="20577"/>
      <pc:docMkLst>
        <pc:docMk/>
      </pc:docMkLst>
      <pc:sldChg chg="del">
        <pc:chgData name="Groh, Matthias (SE GP G QPI QM P)" userId="99494288-5ce4-4766-a240-287ba2f562d7" providerId="ADAL" clId="{3BB53035-CA0F-4E40-ABCB-1830B3B298DC}" dt="2021-08-05T10:14:14.060" v="0" actId="2696"/>
        <pc:sldMkLst>
          <pc:docMk/>
          <pc:sldMk cId="112862854" sldId="1420"/>
        </pc:sldMkLst>
      </pc:sldChg>
      <pc:sldChg chg="modSp add mod ord">
        <pc:chgData name="Groh, Matthias (SE GP G QPI QM P)" userId="99494288-5ce4-4766-a240-287ba2f562d7" providerId="ADAL" clId="{3BB53035-CA0F-4E40-ABCB-1830B3B298DC}" dt="2021-08-05T10:15:27.096" v="70" actId="20577"/>
        <pc:sldMkLst>
          <pc:docMk/>
          <pc:sldMk cId="4251523903" sldId="1420"/>
        </pc:sldMkLst>
        <pc:spChg chg="mod">
          <ac:chgData name="Groh, Matthias (SE GP G QPI QM P)" userId="99494288-5ce4-4766-a240-287ba2f562d7" providerId="ADAL" clId="{3BB53035-CA0F-4E40-ABCB-1830B3B298DC}" dt="2021-08-05T10:14:46.059" v="10" actId="20577"/>
          <ac:spMkLst>
            <pc:docMk/>
            <pc:sldMk cId="4251523903" sldId="1420"/>
            <ac:spMk id="5" creationId="{32752FBF-3213-4514-A3D5-ECE6C48C2068}"/>
          </ac:spMkLst>
        </pc:spChg>
        <pc:spChg chg="mod">
          <ac:chgData name="Groh, Matthias (SE GP G QPI QM P)" userId="99494288-5ce4-4766-a240-287ba2f562d7" providerId="ADAL" clId="{3BB53035-CA0F-4E40-ABCB-1830B3B298DC}" dt="2021-08-05T10:15:27.096" v="70" actId="20577"/>
          <ac:spMkLst>
            <pc:docMk/>
            <pc:sldMk cId="4251523903" sldId="1420"/>
            <ac:spMk id="6" creationId="{6149C931-80D7-469A-A46F-83D202F043E0}"/>
          </ac:spMkLst>
        </pc:spChg>
      </pc:sldChg>
    </pc:docChg>
  </pc:docChgLst>
  <pc:docChgLst>
    <pc:chgData name="Groh, Matthias (SE GP G QPI QM P)" userId="99494288-5ce4-4766-a240-287ba2f562d7" providerId="ADAL" clId="{493E507A-E7E0-48C0-BC7F-6F341AD54BDF}"/>
    <pc:docChg chg="addSld delSld modSld">
      <pc:chgData name="Groh, Matthias (SE GP G QPI QM P)" userId="99494288-5ce4-4766-a240-287ba2f562d7" providerId="ADAL" clId="{493E507A-E7E0-48C0-BC7F-6F341AD54BDF}" dt="2021-08-11T07:16:05.296" v="3" actId="47"/>
      <pc:docMkLst>
        <pc:docMk/>
      </pc:docMkLst>
      <pc:sldChg chg="add del">
        <pc:chgData name="Groh, Matthias (SE GP G QPI QM P)" userId="99494288-5ce4-4766-a240-287ba2f562d7" providerId="ADAL" clId="{493E507A-E7E0-48C0-BC7F-6F341AD54BDF}" dt="2021-08-11T07:16:02.924" v="2"/>
        <pc:sldMkLst>
          <pc:docMk/>
          <pc:sldMk cId="2703207379" sldId="1854"/>
        </pc:sldMkLst>
      </pc:sldChg>
      <pc:sldChg chg="add del">
        <pc:chgData name="Groh, Matthias (SE GP G QPI QM P)" userId="99494288-5ce4-4766-a240-287ba2f562d7" providerId="ADAL" clId="{493E507A-E7E0-48C0-BC7F-6F341AD54BDF}" dt="2021-08-11T07:16:05.296" v="3" actId="47"/>
        <pc:sldMkLst>
          <pc:docMk/>
          <pc:sldMk cId="206815684" sldId="5574"/>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3.xml"/><Relationship Id="rId1" Type="http://schemas.microsoft.com/office/2011/relationships/chartStyle" Target="style3.xml"/></Relationships>
</file>

<file path=ppt/charts/_rels/chart4.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4.xml"/><Relationship Id="rId1" Type="http://schemas.microsoft.com/office/2011/relationships/chartStyle" Target="style4.xml"/></Relationships>
</file>

<file path=ppt/charts/_rels/chart5.xml.rels><?xml version="1.0" encoding="UTF-8" standalone="yes"?>
<Relationships xmlns="http://schemas.openxmlformats.org/package/2006/relationships"><Relationship Id="rId3" Type="http://schemas.openxmlformats.org/officeDocument/2006/relationships/oleObject" Target="file:///C:\UserData\z003urmh\Data%20Science%20(Matthias%20Groh)\1%20Own%20Data%20Science%20Workshops\2%20Development\Gini-Entropy.xlsx" TargetMode="External"/><Relationship Id="rId2" Type="http://schemas.microsoft.com/office/2011/relationships/chartColorStyle" Target="colors5.xml"/><Relationship Id="rId1" Type="http://schemas.microsoft.com/office/2011/relationships/chartStyle" Target="style5.xml"/></Relationships>
</file>

<file path=ppt/charts/_rels/chart6.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6.xml"/><Relationship Id="rId1" Type="http://schemas.microsoft.com/office/2011/relationships/chartStyle" Target="style6.xml"/></Relationships>
</file>

<file path=ppt/charts/_rels/chart7.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7.xml"/><Relationship Id="rId1" Type="http://schemas.microsoft.com/office/2011/relationships/chartStyle" Target="style7.xml"/></Relationships>
</file>

<file path=ppt/charts/_rels/chart8.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8.xml"/><Relationship Id="rId1" Type="http://schemas.microsoft.com/office/2011/relationships/chartStyle" Target="style8.xml"/></Relationships>
</file>

<file path=ppt/charts/_rels/chart9.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9.xml"/><Relationship Id="rId1" Type="http://schemas.microsoft.com/office/2011/relationships/chartStyle" Target="style9.xml"/></Relationships>
</file>

<file path=ppt/charts/_rels/chart10.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10.xml"/><Relationship Id="rId1" Type="http://schemas.microsoft.com/office/2011/relationships/chartStyle" Target="style10.xml"/></Relationships>
</file>

<file path=ppt/charts/_rels/chart11.xml.rels><?xml version="1.0" encoding="UTF-8" standalone="yes"?>
<Relationships xmlns="http://schemas.openxmlformats.org/package/2006/relationships"><Relationship Id="rId3" Type="http://schemas.openxmlformats.org/officeDocument/2006/relationships/oleObject" Target="Mappe1" TargetMode="External"/><Relationship Id="rId2" Type="http://schemas.microsoft.com/office/2011/relationships/chartColorStyle" Target="colors11.xml"/><Relationship Id="rId1" Type="http://schemas.microsoft.com/office/2011/relationships/chartStyle" Target="style1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2421-42F7-807A-5E05F06BC76A}"/>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Share of Red</a:t>
                </a:r>
                <a:r>
                  <a:rPr lang="en-US" sz="1400" b="1" baseline="0">
                    <a:latin typeface="Arial" panose="020B0604020202020204" pitchFamily="34" charset="0"/>
                    <a:cs typeface="Arial" panose="020B0604020202020204" pitchFamily="34" charset="0"/>
                  </a:rPr>
                  <a:t> Balls</a:t>
                </a:r>
                <a:endParaRPr lang="en-US" sz="14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2421-42F7-807A-5E05F06BC76A}"/>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Share of Red</a:t>
                </a:r>
                <a:r>
                  <a:rPr lang="en-US" sz="1400" b="1" baseline="0">
                    <a:latin typeface="Arial" panose="020B0604020202020204" pitchFamily="34" charset="0"/>
                    <a:cs typeface="Arial" panose="020B0604020202020204" pitchFamily="34" charset="0"/>
                  </a:rPr>
                  <a:t> Balls</a:t>
                </a:r>
                <a:endParaRPr lang="en-US" sz="14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2421-42F7-807A-5E05F06BC76A}"/>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Share of Red</a:t>
                </a:r>
                <a:r>
                  <a:rPr lang="en-US" sz="1400" b="1" baseline="0">
                    <a:latin typeface="Arial" panose="020B0604020202020204" pitchFamily="34" charset="0"/>
                    <a:cs typeface="Arial" panose="020B0604020202020204" pitchFamily="34" charset="0"/>
                  </a:rPr>
                  <a:t> Balls</a:t>
                </a:r>
                <a:endParaRPr lang="en-US" sz="14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2421-42F7-807A-5E05F06BC76A}"/>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Share of Red</a:t>
                </a:r>
                <a:r>
                  <a:rPr lang="en-US" sz="1400" b="1" baseline="0">
                    <a:latin typeface="Arial" panose="020B0604020202020204" pitchFamily="34" charset="0"/>
                    <a:cs typeface="Arial" panose="020B0604020202020204" pitchFamily="34" charset="0"/>
                  </a:rPr>
                  <a:t> Balls</a:t>
                </a:r>
                <a:endParaRPr lang="en-US" sz="1400" b="1">
                  <a:latin typeface="Arial" panose="020B0604020202020204" pitchFamily="34" charset="0"/>
                  <a:cs typeface="Arial" panose="020B0604020202020204" pitchFamily="34" charset="0"/>
                </a:endParaRP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scatterChart>
        <c:scatterStyle val="smoothMarker"/>
        <c:varyColors val="0"/>
        <c:ser>
          <c:idx val="0"/>
          <c:order val="0"/>
          <c:tx>
            <c:strRef>
              <c:f>Tabelle1!$C$1</c:f>
              <c:strCache>
                <c:ptCount val="1"/>
                <c:pt idx="0">
                  <c:v>Gini</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Tabelle1!$C$2:$C$102</c:f>
              <c:numCache>
                <c:formatCode>General</c:formatCode>
                <c:ptCount val="101"/>
                <c:pt idx="0">
                  <c:v>0</c:v>
                </c:pt>
                <c:pt idx="1">
                  <c:v>1.980000000000004E-2</c:v>
                </c:pt>
                <c:pt idx="2">
                  <c:v>3.9200000000000124E-2</c:v>
                </c:pt>
                <c:pt idx="3">
                  <c:v>5.8200000000000029E-2</c:v>
                </c:pt>
                <c:pt idx="4">
                  <c:v>7.6799999999999979E-2</c:v>
                </c:pt>
                <c:pt idx="5">
                  <c:v>9.5000000000000084E-2</c:v>
                </c:pt>
                <c:pt idx="6">
                  <c:v>0.11280000000000001</c:v>
                </c:pt>
                <c:pt idx="7">
                  <c:v>0.13020000000000009</c:v>
                </c:pt>
                <c:pt idx="8">
                  <c:v>0.1472</c:v>
                </c:pt>
                <c:pt idx="9">
                  <c:v>0.16379999999999995</c:v>
                </c:pt>
                <c:pt idx="10">
                  <c:v>0.17999999999999994</c:v>
                </c:pt>
                <c:pt idx="11">
                  <c:v>0.19579999999999997</c:v>
                </c:pt>
                <c:pt idx="12">
                  <c:v>0.21120000000000005</c:v>
                </c:pt>
                <c:pt idx="13">
                  <c:v>0.22619999999999996</c:v>
                </c:pt>
                <c:pt idx="14">
                  <c:v>0.24080000000000013</c:v>
                </c:pt>
                <c:pt idx="15">
                  <c:v>0.25500000000000012</c:v>
                </c:pt>
                <c:pt idx="16">
                  <c:v>0.26880000000000015</c:v>
                </c:pt>
                <c:pt idx="17">
                  <c:v>0.28220000000000001</c:v>
                </c:pt>
                <c:pt idx="18">
                  <c:v>0.29519999999999991</c:v>
                </c:pt>
                <c:pt idx="19">
                  <c:v>0.30779999999999985</c:v>
                </c:pt>
                <c:pt idx="20">
                  <c:v>0.31999999999999984</c:v>
                </c:pt>
                <c:pt idx="21">
                  <c:v>0.33179999999999987</c:v>
                </c:pt>
                <c:pt idx="22">
                  <c:v>0.34319999999999995</c:v>
                </c:pt>
                <c:pt idx="23">
                  <c:v>0.35420000000000007</c:v>
                </c:pt>
                <c:pt idx="24">
                  <c:v>0.36480000000000001</c:v>
                </c:pt>
                <c:pt idx="25">
                  <c:v>0.375</c:v>
                </c:pt>
                <c:pt idx="26">
                  <c:v>0.38480000000000003</c:v>
                </c:pt>
                <c:pt idx="27">
                  <c:v>0.39420000000000011</c:v>
                </c:pt>
                <c:pt idx="28">
                  <c:v>0.4032</c:v>
                </c:pt>
                <c:pt idx="29">
                  <c:v>0.41180000000000005</c:v>
                </c:pt>
                <c:pt idx="30">
                  <c:v>0.4200000000000001</c:v>
                </c:pt>
                <c:pt idx="31">
                  <c:v>0.42780000000000012</c:v>
                </c:pt>
                <c:pt idx="32">
                  <c:v>0.43520000000000003</c:v>
                </c:pt>
                <c:pt idx="33">
                  <c:v>0.44220000000000009</c:v>
                </c:pt>
                <c:pt idx="34">
                  <c:v>0.44880000000000009</c:v>
                </c:pt>
                <c:pt idx="35">
                  <c:v>0.45500000000000002</c:v>
                </c:pt>
                <c:pt idx="36">
                  <c:v>0.46080000000000004</c:v>
                </c:pt>
                <c:pt idx="37">
                  <c:v>0.46619999999999995</c:v>
                </c:pt>
                <c:pt idx="38">
                  <c:v>0.47120000000000001</c:v>
                </c:pt>
                <c:pt idx="39">
                  <c:v>0.4758</c:v>
                </c:pt>
                <c:pt idx="40">
                  <c:v>0.48</c:v>
                </c:pt>
                <c:pt idx="41">
                  <c:v>0.48380000000000001</c:v>
                </c:pt>
                <c:pt idx="42">
                  <c:v>0.48719999999999991</c:v>
                </c:pt>
                <c:pt idx="43">
                  <c:v>0.49019999999999997</c:v>
                </c:pt>
                <c:pt idx="44">
                  <c:v>0.49279999999999996</c:v>
                </c:pt>
                <c:pt idx="45">
                  <c:v>0.49499999999999994</c:v>
                </c:pt>
                <c:pt idx="46">
                  <c:v>0.49679999999999996</c:v>
                </c:pt>
                <c:pt idx="47">
                  <c:v>0.49819999999999998</c:v>
                </c:pt>
                <c:pt idx="48">
                  <c:v>0.49920000000000003</c:v>
                </c:pt>
                <c:pt idx="49">
                  <c:v>0.49980000000000002</c:v>
                </c:pt>
                <c:pt idx="50">
                  <c:v>0.5</c:v>
                </c:pt>
                <c:pt idx="51">
                  <c:v>0.49980000000000002</c:v>
                </c:pt>
                <c:pt idx="52">
                  <c:v>0.49920000000000003</c:v>
                </c:pt>
                <c:pt idx="53">
                  <c:v>0.49819999999999998</c:v>
                </c:pt>
                <c:pt idx="54">
                  <c:v>0.49679999999999996</c:v>
                </c:pt>
                <c:pt idx="55">
                  <c:v>0.49500000000000005</c:v>
                </c:pt>
                <c:pt idx="56">
                  <c:v>0.4927999999999999</c:v>
                </c:pt>
                <c:pt idx="57">
                  <c:v>0.49019999999999997</c:v>
                </c:pt>
                <c:pt idx="58">
                  <c:v>0.48719999999999997</c:v>
                </c:pt>
                <c:pt idx="59">
                  <c:v>0.48380000000000001</c:v>
                </c:pt>
                <c:pt idx="60">
                  <c:v>0.48</c:v>
                </c:pt>
                <c:pt idx="61">
                  <c:v>0.4758</c:v>
                </c:pt>
                <c:pt idx="62">
                  <c:v>0.47119999999999995</c:v>
                </c:pt>
                <c:pt idx="63">
                  <c:v>0.46619999999999995</c:v>
                </c:pt>
                <c:pt idx="64">
                  <c:v>0.46080000000000004</c:v>
                </c:pt>
                <c:pt idx="65">
                  <c:v>0.4549999999999999</c:v>
                </c:pt>
                <c:pt idx="66">
                  <c:v>0.44880000000000003</c:v>
                </c:pt>
                <c:pt idx="67">
                  <c:v>0.44219999999999993</c:v>
                </c:pt>
                <c:pt idx="68">
                  <c:v>0.43519999999999992</c:v>
                </c:pt>
                <c:pt idx="69">
                  <c:v>0.42780000000000001</c:v>
                </c:pt>
                <c:pt idx="70">
                  <c:v>0.42</c:v>
                </c:pt>
                <c:pt idx="71">
                  <c:v>0.4118</c:v>
                </c:pt>
                <c:pt idx="72">
                  <c:v>0.4032</c:v>
                </c:pt>
                <c:pt idx="73">
                  <c:v>0.39420000000000005</c:v>
                </c:pt>
                <c:pt idx="74">
                  <c:v>0.38480000000000003</c:v>
                </c:pt>
                <c:pt idx="75">
                  <c:v>0.375</c:v>
                </c:pt>
                <c:pt idx="76">
                  <c:v>0.36480000000000001</c:v>
                </c:pt>
                <c:pt idx="77">
                  <c:v>0.35420000000000001</c:v>
                </c:pt>
                <c:pt idx="78">
                  <c:v>0.34319999999999995</c:v>
                </c:pt>
                <c:pt idx="79">
                  <c:v>0.33179999999999993</c:v>
                </c:pt>
                <c:pt idx="80">
                  <c:v>0.3199999999999999</c:v>
                </c:pt>
                <c:pt idx="81">
                  <c:v>0.30779999999999991</c:v>
                </c:pt>
                <c:pt idx="82">
                  <c:v>0.29520000000000007</c:v>
                </c:pt>
                <c:pt idx="83">
                  <c:v>0.28220000000000001</c:v>
                </c:pt>
                <c:pt idx="84">
                  <c:v>0.26880000000000009</c:v>
                </c:pt>
                <c:pt idx="85">
                  <c:v>0.25500000000000006</c:v>
                </c:pt>
                <c:pt idx="86">
                  <c:v>0.24080000000000007</c:v>
                </c:pt>
                <c:pt idx="87">
                  <c:v>0.22619999999999998</c:v>
                </c:pt>
                <c:pt idx="88">
                  <c:v>0.21120000000000003</c:v>
                </c:pt>
                <c:pt idx="89">
                  <c:v>0.19579999999999997</c:v>
                </c:pt>
                <c:pt idx="90">
                  <c:v>0.17999999999999994</c:v>
                </c:pt>
                <c:pt idx="91">
                  <c:v>0.16379999999999995</c:v>
                </c:pt>
                <c:pt idx="92">
                  <c:v>0.14719999999999997</c:v>
                </c:pt>
                <c:pt idx="93">
                  <c:v>0.1301999999999999</c:v>
                </c:pt>
                <c:pt idx="94">
                  <c:v>0.11280000000000005</c:v>
                </c:pt>
                <c:pt idx="95">
                  <c:v>9.5000000000000029E-2</c:v>
                </c:pt>
                <c:pt idx="96">
                  <c:v>7.6800000000000021E-2</c:v>
                </c:pt>
                <c:pt idx="97">
                  <c:v>5.8200000000000036E-2</c:v>
                </c:pt>
                <c:pt idx="98">
                  <c:v>3.9200000000000082E-2</c:v>
                </c:pt>
                <c:pt idx="99">
                  <c:v>1.9800000000000029E-2</c:v>
                </c:pt>
                <c:pt idx="100">
                  <c:v>0</c:v>
                </c:pt>
              </c:numCache>
            </c:numRef>
          </c:yVal>
          <c:smooth val="1"/>
          <c:extLst>
            <c:ext xmlns:c16="http://schemas.microsoft.com/office/drawing/2014/chart" uri="{C3380CC4-5D6E-409C-BE32-E72D297353CC}">
              <c16:uniqueId val="{00000000-C3A9-4CB6-8DAD-6904621BB14C}"/>
            </c:ext>
          </c:extLst>
        </c:ser>
        <c:dLbls>
          <c:showLegendKey val="0"/>
          <c:showVal val="0"/>
          <c:showCatName val="0"/>
          <c:showSerName val="0"/>
          <c:showPercent val="0"/>
          <c:showBubbleSize val="0"/>
        </c:dLbls>
        <c:axId val="433079360"/>
        <c:axId val="430244384"/>
      </c:scatterChart>
      <c:valAx>
        <c:axId val="433079360"/>
        <c:scaling>
          <c:orientation val="minMax"/>
          <c:max val="1"/>
        </c:scaling>
        <c:delete val="0"/>
        <c:axPos val="b"/>
        <c:title>
          <c:tx>
            <c:rich>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Share of Red Balls</a:t>
                </a:r>
              </a:p>
            </c:rich>
          </c:tx>
          <c:overlay val="0"/>
          <c:spPr>
            <a:noFill/>
            <a:ln>
              <a:noFill/>
            </a:ln>
            <a:effectLst/>
          </c:spPr>
          <c:txPr>
            <a:bodyPr rot="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0244384"/>
        <c:crosses val="autoZero"/>
        <c:crossBetween val="midCat"/>
      </c:valAx>
      <c:valAx>
        <c:axId val="430244384"/>
        <c:scaling>
          <c:orientation val="minMax"/>
          <c:max val="0.5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400" b="1">
                    <a:latin typeface="Arial" panose="020B0604020202020204" pitchFamily="34" charset="0"/>
                    <a:cs typeface="Arial" panose="020B0604020202020204" pitchFamily="34" charset="0"/>
                  </a:rPr>
                  <a:t>Gini</a:t>
                </a:r>
              </a:p>
            </c:rich>
          </c:tx>
          <c:overlay val="0"/>
          <c:spPr>
            <a:noFill/>
            <a:ln>
              <a:noFill/>
            </a:ln>
            <a:effectLst/>
          </c:spPr>
          <c:txPr>
            <a:bodyPr rot="-5400000" spcFirstLastPara="1" vertOverflow="ellipsis" vert="horz" wrap="square" anchor="ctr" anchorCtr="1"/>
            <a:lstStyle/>
            <a:p>
              <a:pPr>
                <a:defRPr sz="14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3079360"/>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76833832369482"/>
          <c:y val="2.924848470960276E-2"/>
          <c:w val="0.81738383316922159"/>
          <c:h val="0.7887697594501718"/>
        </c:manualLayout>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BBCC-4E7C-BAA6-71BE73716704}"/>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Share of Red</a:t>
                </a:r>
                <a:r>
                  <a:rPr lang="en-US" sz="1000" b="1" baseline="0">
                    <a:latin typeface="Arial" panose="020B0604020202020204" pitchFamily="34" charset="0"/>
                    <a:cs typeface="Arial" panose="020B0604020202020204" pitchFamily="34" charset="0"/>
                  </a:rPr>
                  <a:t> Balls</a:t>
                </a:r>
                <a:endParaRPr lang="en-US" sz="1000" b="1">
                  <a:latin typeface="Arial" panose="020B0604020202020204" pitchFamily="34" charset="0"/>
                  <a:cs typeface="Arial" panose="020B0604020202020204" pitchFamily="34" charset="0"/>
                </a:endParaRPr>
              </a:p>
            </c:rich>
          </c:tx>
          <c:layout>
            <c:manualLayout>
              <c:xMode val="edge"/>
              <c:yMode val="edge"/>
              <c:x val="0.35623515325626792"/>
              <c:y val="0.90630253469070421"/>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76833832369482"/>
          <c:y val="2.924848470960276E-2"/>
          <c:w val="0.81738383316922159"/>
          <c:h val="0.7887697594501718"/>
        </c:manualLayout>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BBCC-4E7C-BAA6-71BE73716704}"/>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Share of Red</a:t>
                </a:r>
                <a:r>
                  <a:rPr lang="en-US" sz="1000" b="1" baseline="0">
                    <a:latin typeface="Arial" panose="020B0604020202020204" pitchFamily="34" charset="0"/>
                    <a:cs typeface="Arial" panose="020B0604020202020204" pitchFamily="34" charset="0"/>
                  </a:rPr>
                  <a:t> Balls</a:t>
                </a:r>
                <a:endParaRPr lang="en-US" sz="1000" b="1">
                  <a:latin typeface="Arial" panose="020B0604020202020204" pitchFamily="34" charset="0"/>
                  <a:cs typeface="Arial" panose="020B0604020202020204" pitchFamily="34" charset="0"/>
                </a:endParaRPr>
              </a:p>
            </c:rich>
          </c:tx>
          <c:layout>
            <c:manualLayout>
              <c:xMode val="edge"/>
              <c:yMode val="edge"/>
              <c:x val="0.35623515325626792"/>
              <c:y val="0.90630253469070421"/>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76833832369482"/>
          <c:y val="2.924848470960276E-2"/>
          <c:w val="0.81738383316922159"/>
          <c:h val="0.7887697594501718"/>
        </c:manualLayout>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BBCC-4E7C-BAA6-71BE73716704}"/>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Share of Red</a:t>
                </a:r>
                <a:r>
                  <a:rPr lang="en-US" sz="1000" b="1" baseline="0">
                    <a:latin typeface="Arial" panose="020B0604020202020204" pitchFamily="34" charset="0"/>
                    <a:cs typeface="Arial" panose="020B0604020202020204" pitchFamily="34" charset="0"/>
                  </a:rPr>
                  <a:t> Balls</a:t>
                </a:r>
                <a:endParaRPr lang="en-US" sz="1000" b="1">
                  <a:latin typeface="Arial" panose="020B0604020202020204" pitchFamily="34" charset="0"/>
                  <a:cs typeface="Arial" panose="020B0604020202020204" pitchFamily="34" charset="0"/>
                </a:endParaRPr>
              </a:p>
            </c:rich>
          </c:tx>
          <c:layout>
            <c:manualLayout>
              <c:xMode val="edge"/>
              <c:yMode val="edge"/>
              <c:x val="0.35623515325626792"/>
              <c:y val="0.90630253469070421"/>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76833832369482"/>
          <c:y val="2.924848470960276E-2"/>
          <c:w val="0.81738383316922159"/>
          <c:h val="0.7887697594501718"/>
        </c:manualLayout>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EA54-4747-B0DF-EB04B86F5945}"/>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Share of Red</a:t>
                </a:r>
                <a:r>
                  <a:rPr lang="en-US" sz="1000" b="1" baseline="0">
                    <a:latin typeface="Arial" panose="020B0604020202020204" pitchFamily="34" charset="0"/>
                    <a:cs typeface="Arial" panose="020B0604020202020204" pitchFamily="34" charset="0"/>
                  </a:rPr>
                  <a:t> Balls</a:t>
                </a:r>
                <a:endParaRPr lang="en-US" sz="1000" b="1">
                  <a:latin typeface="Arial" panose="020B0604020202020204" pitchFamily="34" charset="0"/>
                  <a:cs typeface="Arial" panose="020B0604020202020204" pitchFamily="34" charset="0"/>
                </a:endParaRPr>
              </a:p>
            </c:rich>
          </c:tx>
          <c:layout>
            <c:manualLayout>
              <c:xMode val="edge"/>
              <c:yMode val="edge"/>
              <c:x val="0.35623515325626792"/>
              <c:y val="0.90630253469070421"/>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76833832369482"/>
          <c:y val="2.924848470960276E-2"/>
          <c:w val="0.81738383316922159"/>
          <c:h val="0.7887697594501718"/>
        </c:manualLayout>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7265-4788-9695-59461F9491E3}"/>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Share of Red</a:t>
                </a:r>
                <a:r>
                  <a:rPr lang="en-US" sz="1000" b="1" baseline="0">
                    <a:latin typeface="Arial" panose="020B0604020202020204" pitchFamily="34" charset="0"/>
                    <a:cs typeface="Arial" panose="020B0604020202020204" pitchFamily="34" charset="0"/>
                  </a:rPr>
                  <a:t> Balls</a:t>
                </a:r>
                <a:endParaRPr lang="en-US" sz="1000" b="1">
                  <a:latin typeface="Arial" panose="020B0604020202020204" pitchFamily="34" charset="0"/>
                  <a:cs typeface="Arial" panose="020B0604020202020204" pitchFamily="34" charset="0"/>
                </a:endParaRPr>
              </a:p>
            </c:rich>
          </c:tx>
          <c:layout>
            <c:manualLayout>
              <c:xMode val="edge"/>
              <c:yMode val="edge"/>
              <c:x val="0.35623515325626792"/>
              <c:y val="0.90630253469070421"/>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de-DE"/>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4976833832369482"/>
          <c:y val="2.924848470960276E-2"/>
          <c:w val="0.81738383316922159"/>
          <c:h val="0.7887697594501718"/>
        </c:manualLayout>
      </c:layout>
      <c:scatterChart>
        <c:scatterStyle val="smoothMarker"/>
        <c:varyColors val="0"/>
        <c:ser>
          <c:idx val="0"/>
          <c:order val="0"/>
          <c:tx>
            <c:strRef>
              <c:f>Tabelle1!$B$1</c:f>
              <c:strCache>
                <c:ptCount val="1"/>
                <c:pt idx="0">
                  <c:v>Entropy</c:v>
                </c:pt>
              </c:strCache>
            </c:strRef>
          </c:tx>
          <c:spPr>
            <a:ln w="19050" cap="rnd">
              <a:solidFill>
                <a:schemeClr val="accent1"/>
              </a:solidFill>
              <a:round/>
            </a:ln>
            <a:effectLst/>
          </c:spPr>
          <c:marker>
            <c:symbol val="none"/>
          </c:marker>
          <c:xVal>
            <c:numRef>
              <c:f>Tabelle1!$A$2:$A$102</c:f>
              <c:numCache>
                <c:formatCode>General</c:formatCode>
                <c:ptCount val="101"/>
                <c:pt idx="0">
                  <c:v>0</c:v>
                </c:pt>
                <c:pt idx="1">
                  <c:v>0.01</c:v>
                </c:pt>
                <c:pt idx="2">
                  <c:v>0.02</c:v>
                </c:pt>
                <c:pt idx="3">
                  <c:v>0.03</c:v>
                </c:pt>
                <c:pt idx="4">
                  <c:v>0.04</c:v>
                </c:pt>
                <c:pt idx="5">
                  <c:v>0.05</c:v>
                </c:pt>
                <c:pt idx="6">
                  <c:v>0.06</c:v>
                </c:pt>
                <c:pt idx="7">
                  <c:v>7.0000000000000007E-2</c:v>
                </c:pt>
                <c:pt idx="8">
                  <c:v>0.08</c:v>
                </c:pt>
                <c:pt idx="9">
                  <c:v>0.09</c:v>
                </c:pt>
                <c:pt idx="10">
                  <c:v>0.1</c:v>
                </c:pt>
                <c:pt idx="11">
                  <c:v>0.11</c:v>
                </c:pt>
                <c:pt idx="12">
                  <c:v>0.12</c:v>
                </c:pt>
                <c:pt idx="13">
                  <c:v>0.13</c:v>
                </c:pt>
                <c:pt idx="14">
                  <c:v>0.14000000000000001</c:v>
                </c:pt>
                <c:pt idx="15">
                  <c:v>0.15</c:v>
                </c:pt>
                <c:pt idx="16">
                  <c:v>0.16</c:v>
                </c:pt>
                <c:pt idx="17">
                  <c:v>0.17</c:v>
                </c:pt>
                <c:pt idx="18">
                  <c:v>0.18</c:v>
                </c:pt>
                <c:pt idx="19">
                  <c:v>0.19</c:v>
                </c:pt>
                <c:pt idx="20">
                  <c:v>0.2</c:v>
                </c:pt>
                <c:pt idx="21">
                  <c:v>0.21</c:v>
                </c:pt>
                <c:pt idx="22">
                  <c:v>0.22</c:v>
                </c:pt>
                <c:pt idx="23">
                  <c:v>0.23</c:v>
                </c:pt>
                <c:pt idx="24">
                  <c:v>0.24</c:v>
                </c:pt>
                <c:pt idx="25">
                  <c:v>0.25</c:v>
                </c:pt>
                <c:pt idx="26">
                  <c:v>0.26</c:v>
                </c:pt>
                <c:pt idx="27">
                  <c:v>0.27</c:v>
                </c:pt>
                <c:pt idx="28">
                  <c:v>0.28000000000000003</c:v>
                </c:pt>
                <c:pt idx="29">
                  <c:v>0.28999999999999998</c:v>
                </c:pt>
                <c:pt idx="30">
                  <c:v>0.3</c:v>
                </c:pt>
                <c:pt idx="31">
                  <c:v>0.31</c:v>
                </c:pt>
                <c:pt idx="32">
                  <c:v>0.32</c:v>
                </c:pt>
                <c:pt idx="33">
                  <c:v>0.33</c:v>
                </c:pt>
                <c:pt idx="34">
                  <c:v>0.34</c:v>
                </c:pt>
                <c:pt idx="35">
                  <c:v>0.35</c:v>
                </c:pt>
                <c:pt idx="36">
                  <c:v>0.36</c:v>
                </c:pt>
                <c:pt idx="37">
                  <c:v>0.37</c:v>
                </c:pt>
                <c:pt idx="38">
                  <c:v>0.38</c:v>
                </c:pt>
                <c:pt idx="39">
                  <c:v>0.39</c:v>
                </c:pt>
                <c:pt idx="40">
                  <c:v>0.4</c:v>
                </c:pt>
                <c:pt idx="41">
                  <c:v>0.41</c:v>
                </c:pt>
                <c:pt idx="42">
                  <c:v>0.42</c:v>
                </c:pt>
                <c:pt idx="43">
                  <c:v>0.43</c:v>
                </c:pt>
                <c:pt idx="44">
                  <c:v>0.44</c:v>
                </c:pt>
                <c:pt idx="45">
                  <c:v>0.45</c:v>
                </c:pt>
                <c:pt idx="46">
                  <c:v>0.46</c:v>
                </c:pt>
                <c:pt idx="47">
                  <c:v>0.47</c:v>
                </c:pt>
                <c:pt idx="48">
                  <c:v>0.48</c:v>
                </c:pt>
                <c:pt idx="49">
                  <c:v>0.49</c:v>
                </c:pt>
                <c:pt idx="50">
                  <c:v>0.5</c:v>
                </c:pt>
                <c:pt idx="51">
                  <c:v>0.51</c:v>
                </c:pt>
                <c:pt idx="52">
                  <c:v>0.52</c:v>
                </c:pt>
                <c:pt idx="53">
                  <c:v>0.53</c:v>
                </c:pt>
                <c:pt idx="54">
                  <c:v>0.54</c:v>
                </c:pt>
                <c:pt idx="55">
                  <c:v>0.55000000000000004</c:v>
                </c:pt>
                <c:pt idx="56">
                  <c:v>0.56000000000000005</c:v>
                </c:pt>
                <c:pt idx="57">
                  <c:v>0.56999999999999995</c:v>
                </c:pt>
                <c:pt idx="58">
                  <c:v>0.57999999999999996</c:v>
                </c:pt>
                <c:pt idx="59">
                  <c:v>0.59</c:v>
                </c:pt>
                <c:pt idx="60">
                  <c:v>0.6</c:v>
                </c:pt>
                <c:pt idx="61">
                  <c:v>0.61</c:v>
                </c:pt>
                <c:pt idx="62">
                  <c:v>0.62</c:v>
                </c:pt>
                <c:pt idx="63">
                  <c:v>0.63</c:v>
                </c:pt>
                <c:pt idx="64">
                  <c:v>0.64</c:v>
                </c:pt>
                <c:pt idx="65">
                  <c:v>0.65</c:v>
                </c:pt>
                <c:pt idx="66">
                  <c:v>0.66</c:v>
                </c:pt>
                <c:pt idx="67">
                  <c:v>0.67</c:v>
                </c:pt>
                <c:pt idx="68">
                  <c:v>0.68</c:v>
                </c:pt>
                <c:pt idx="69">
                  <c:v>0.69</c:v>
                </c:pt>
                <c:pt idx="70">
                  <c:v>0.7</c:v>
                </c:pt>
                <c:pt idx="71">
                  <c:v>0.71</c:v>
                </c:pt>
                <c:pt idx="72">
                  <c:v>0.72</c:v>
                </c:pt>
                <c:pt idx="73">
                  <c:v>0.73</c:v>
                </c:pt>
                <c:pt idx="74">
                  <c:v>0.74</c:v>
                </c:pt>
                <c:pt idx="75">
                  <c:v>0.75</c:v>
                </c:pt>
                <c:pt idx="76">
                  <c:v>0.76</c:v>
                </c:pt>
                <c:pt idx="77">
                  <c:v>0.77</c:v>
                </c:pt>
                <c:pt idx="78">
                  <c:v>0.78</c:v>
                </c:pt>
                <c:pt idx="79">
                  <c:v>0.79</c:v>
                </c:pt>
                <c:pt idx="80">
                  <c:v>0.8</c:v>
                </c:pt>
                <c:pt idx="81">
                  <c:v>0.81</c:v>
                </c:pt>
                <c:pt idx="82">
                  <c:v>0.82</c:v>
                </c:pt>
                <c:pt idx="83">
                  <c:v>0.83</c:v>
                </c:pt>
                <c:pt idx="84">
                  <c:v>0.84</c:v>
                </c:pt>
                <c:pt idx="85">
                  <c:v>0.85</c:v>
                </c:pt>
                <c:pt idx="86">
                  <c:v>0.86</c:v>
                </c:pt>
                <c:pt idx="87">
                  <c:v>0.87</c:v>
                </c:pt>
                <c:pt idx="88">
                  <c:v>0.88</c:v>
                </c:pt>
                <c:pt idx="89">
                  <c:v>0.89</c:v>
                </c:pt>
                <c:pt idx="90">
                  <c:v>0.9</c:v>
                </c:pt>
                <c:pt idx="91">
                  <c:v>0.91</c:v>
                </c:pt>
                <c:pt idx="92">
                  <c:v>0.92</c:v>
                </c:pt>
                <c:pt idx="93">
                  <c:v>0.93</c:v>
                </c:pt>
                <c:pt idx="94">
                  <c:v>0.94</c:v>
                </c:pt>
                <c:pt idx="95">
                  <c:v>0.95</c:v>
                </c:pt>
                <c:pt idx="96">
                  <c:v>0.96</c:v>
                </c:pt>
                <c:pt idx="97">
                  <c:v>0.97</c:v>
                </c:pt>
                <c:pt idx="98">
                  <c:v>0.98</c:v>
                </c:pt>
                <c:pt idx="99">
                  <c:v>0.99</c:v>
                </c:pt>
                <c:pt idx="100">
                  <c:v>1</c:v>
                </c:pt>
              </c:numCache>
            </c:numRef>
          </c:xVal>
          <c:yVal>
            <c:numRef>
              <c:f>Tabelle1!$B$2:$B$102</c:f>
              <c:numCache>
                <c:formatCode>General</c:formatCode>
                <c:ptCount val="101"/>
                <c:pt idx="0">
                  <c:v>0</c:v>
                </c:pt>
                <c:pt idx="1">
                  <c:v>8.0793135895911181E-2</c:v>
                </c:pt>
                <c:pt idx="2">
                  <c:v>0.14144054254182067</c:v>
                </c:pt>
                <c:pt idx="3">
                  <c:v>0.19439185783157623</c:v>
                </c:pt>
                <c:pt idx="4">
                  <c:v>0.24229218908241482</c:v>
                </c:pt>
                <c:pt idx="5">
                  <c:v>0.28639695711595625</c:v>
                </c:pt>
                <c:pt idx="6">
                  <c:v>0.32744491915447627</c:v>
                </c:pt>
                <c:pt idx="7">
                  <c:v>0.36592365090022333</c:v>
                </c:pt>
                <c:pt idx="8">
                  <c:v>0.40217919020227288</c:v>
                </c:pt>
                <c:pt idx="9">
                  <c:v>0.43646981706410293</c:v>
                </c:pt>
                <c:pt idx="10">
                  <c:v>0.46899559358928122</c:v>
                </c:pt>
                <c:pt idx="11">
                  <c:v>0.499915958164528</c:v>
                </c:pt>
                <c:pt idx="12">
                  <c:v>0.52936086528736437</c:v>
                </c:pt>
                <c:pt idx="13">
                  <c:v>0.55743818502798914</c:v>
                </c:pt>
                <c:pt idx="14">
                  <c:v>0.58423881164285596</c:v>
                </c:pt>
                <c:pt idx="15">
                  <c:v>0.60984030471640038</c:v>
                </c:pt>
                <c:pt idx="16">
                  <c:v>0.63430955464056615</c:v>
                </c:pt>
                <c:pt idx="17">
                  <c:v>0.65770477874421951</c:v>
                </c:pt>
                <c:pt idx="18">
                  <c:v>0.68007704572827976</c:v>
                </c:pt>
                <c:pt idx="19">
                  <c:v>0.70147145988389736</c:v>
                </c:pt>
                <c:pt idx="20">
                  <c:v>0.72192809488736231</c:v>
                </c:pt>
                <c:pt idx="21">
                  <c:v>0.74148273993127367</c:v>
                </c:pt>
                <c:pt idx="22">
                  <c:v>0.76016750296196567</c:v>
                </c:pt>
                <c:pt idx="23">
                  <c:v>0.77801130354653769</c:v>
                </c:pt>
                <c:pt idx="24">
                  <c:v>0.79504027938452226</c:v>
                </c:pt>
                <c:pt idx="25">
                  <c:v>0.81127812445913283</c:v>
                </c:pt>
                <c:pt idx="26">
                  <c:v>0.82674637249261784</c:v>
                </c:pt>
                <c:pt idx="27">
                  <c:v>0.84146463620817569</c:v>
                </c:pt>
                <c:pt idx="28">
                  <c:v>0.85545081056013073</c:v>
                </c:pt>
                <c:pt idx="29">
                  <c:v>0.86872124633940451</c:v>
                </c:pt>
                <c:pt idx="30">
                  <c:v>0.8812908992306927</c:v>
                </c:pt>
                <c:pt idx="31">
                  <c:v>0.89317345837785678</c:v>
                </c:pt>
                <c:pt idx="32">
                  <c:v>0.90438145772449408</c:v>
                </c:pt>
                <c:pt idx="33">
                  <c:v>0.91492637277972755</c:v>
                </c:pt>
                <c:pt idx="34">
                  <c:v>0.92481870497303009</c:v>
                </c:pt>
                <c:pt idx="35">
                  <c:v>0.93406805537549098</c:v>
                </c:pt>
                <c:pt idx="36">
                  <c:v>0.94268318925549222</c:v>
                </c:pt>
                <c:pt idx="37">
                  <c:v>0.95067209268706587</c:v>
                </c:pt>
                <c:pt idx="38">
                  <c:v>0.95804202222629953</c:v>
                </c:pt>
                <c:pt idx="39">
                  <c:v>0.9647995485050872</c:v>
                </c:pt>
                <c:pt idx="40">
                  <c:v>0.97095059445466858</c:v>
                </c:pt>
                <c:pt idx="41">
                  <c:v>0.97650046875782404</c:v>
                </c:pt>
                <c:pt idx="42">
                  <c:v>0.98145389503365354</c:v>
                </c:pt>
                <c:pt idx="43">
                  <c:v>0.98581503717891983</c:v>
                </c:pt>
                <c:pt idx="44">
                  <c:v>0.98958752122205573</c:v>
                </c:pt>
                <c:pt idx="45">
                  <c:v>0.99277445398780839</c:v>
                </c:pt>
                <c:pt idx="46">
                  <c:v>0.99537843882022581</c:v>
                </c:pt>
                <c:pt idx="47">
                  <c:v>0.99740158856773964</c:v>
                </c:pt>
                <c:pt idx="48">
                  <c:v>0.99884553599520176</c:v>
                </c:pt>
                <c:pt idx="49">
                  <c:v>0.9997114417528099</c:v>
                </c:pt>
                <c:pt idx="50">
                  <c:v>1</c:v>
                </c:pt>
                <c:pt idx="51">
                  <c:v>0.9997114417528099</c:v>
                </c:pt>
                <c:pt idx="52">
                  <c:v>0.99884553599520176</c:v>
                </c:pt>
                <c:pt idx="53">
                  <c:v>0.99740158856773964</c:v>
                </c:pt>
                <c:pt idx="54">
                  <c:v>0.99537843882022581</c:v>
                </c:pt>
                <c:pt idx="55">
                  <c:v>0.99277445398780839</c:v>
                </c:pt>
                <c:pt idx="56">
                  <c:v>0.98958752122205573</c:v>
                </c:pt>
                <c:pt idx="57">
                  <c:v>0.98581503717891983</c:v>
                </c:pt>
                <c:pt idx="58">
                  <c:v>0.98145389503365366</c:v>
                </c:pt>
                <c:pt idx="59">
                  <c:v>0.97650046875782415</c:v>
                </c:pt>
                <c:pt idx="60">
                  <c:v>0.97095059445466858</c:v>
                </c:pt>
                <c:pt idx="61">
                  <c:v>0.9647995485050872</c:v>
                </c:pt>
                <c:pt idx="62">
                  <c:v>0.95804202222629953</c:v>
                </c:pt>
                <c:pt idx="63">
                  <c:v>0.95067209268706587</c:v>
                </c:pt>
                <c:pt idx="64">
                  <c:v>0.94268318925549222</c:v>
                </c:pt>
                <c:pt idx="65">
                  <c:v>0.93406805537549098</c:v>
                </c:pt>
                <c:pt idx="66">
                  <c:v>0.92481870497302998</c:v>
                </c:pt>
                <c:pt idx="67">
                  <c:v>0.91492637277972755</c:v>
                </c:pt>
                <c:pt idx="68">
                  <c:v>0.90438145772449396</c:v>
                </c:pt>
                <c:pt idx="69">
                  <c:v>0.89317345837785678</c:v>
                </c:pt>
                <c:pt idx="70">
                  <c:v>0.8812908992306927</c:v>
                </c:pt>
                <c:pt idx="71">
                  <c:v>0.86872124633940462</c:v>
                </c:pt>
                <c:pt idx="72">
                  <c:v>0.85545081056013073</c:v>
                </c:pt>
                <c:pt idx="73">
                  <c:v>0.84146463620817569</c:v>
                </c:pt>
                <c:pt idx="74">
                  <c:v>0.82674637249261784</c:v>
                </c:pt>
                <c:pt idx="75">
                  <c:v>0.81127812445913283</c:v>
                </c:pt>
                <c:pt idx="76">
                  <c:v>0.79504027938452226</c:v>
                </c:pt>
                <c:pt idx="77">
                  <c:v>0.77801130354653758</c:v>
                </c:pt>
                <c:pt idx="78">
                  <c:v>0.76016750296196567</c:v>
                </c:pt>
                <c:pt idx="79">
                  <c:v>0.74148273993127356</c:v>
                </c:pt>
                <c:pt idx="80">
                  <c:v>0.72192809488736231</c:v>
                </c:pt>
                <c:pt idx="81">
                  <c:v>0.70147145988389736</c:v>
                </c:pt>
                <c:pt idx="82">
                  <c:v>0.68007704572827998</c:v>
                </c:pt>
                <c:pt idx="83">
                  <c:v>0.65770477874421951</c:v>
                </c:pt>
                <c:pt idx="84">
                  <c:v>0.63430955464056615</c:v>
                </c:pt>
                <c:pt idx="85">
                  <c:v>0.60984030471640049</c:v>
                </c:pt>
                <c:pt idx="86">
                  <c:v>0.58423881164285596</c:v>
                </c:pt>
                <c:pt idx="87">
                  <c:v>0.55743818502798914</c:v>
                </c:pt>
                <c:pt idx="88">
                  <c:v>0.52936086528736437</c:v>
                </c:pt>
                <c:pt idx="89">
                  <c:v>0.499915958164528</c:v>
                </c:pt>
                <c:pt idx="90">
                  <c:v>0.46899559358928117</c:v>
                </c:pt>
                <c:pt idx="91">
                  <c:v>0.43646981706410282</c:v>
                </c:pt>
                <c:pt idx="92">
                  <c:v>0.40217919020227277</c:v>
                </c:pt>
                <c:pt idx="93">
                  <c:v>0.36592365090022305</c:v>
                </c:pt>
                <c:pt idx="94">
                  <c:v>0.32744491915447643</c:v>
                </c:pt>
                <c:pt idx="95">
                  <c:v>0.28639695711595631</c:v>
                </c:pt>
                <c:pt idx="96">
                  <c:v>0.24229218908241493</c:v>
                </c:pt>
                <c:pt idx="97">
                  <c:v>0.19439185783157631</c:v>
                </c:pt>
                <c:pt idx="98">
                  <c:v>0.14144054254182076</c:v>
                </c:pt>
                <c:pt idx="99">
                  <c:v>8.0793135895911236E-2</c:v>
                </c:pt>
                <c:pt idx="100">
                  <c:v>0</c:v>
                </c:pt>
              </c:numCache>
            </c:numRef>
          </c:yVal>
          <c:smooth val="1"/>
          <c:extLst>
            <c:ext xmlns:c16="http://schemas.microsoft.com/office/drawing/2014/chart" uri="{C3380CC4-5D6E-409C-BE32-E72D297353CC}">
              <c16:uniqueId val="{00000000-D68F-4F2C-9800-DB666BEA8E42}"/>
            </c:ext>
          </c:extLst>
        </c:ser>
        <c:dLbls>
          <c:showLegendKey val="0"/>
          <c:showVal val="0"/>
          <c:showCatName val="0"/>
          <c:showSerName val="0"/>
          <c:showPercent val="0"/>
          <c:showBubbleSize val="0"/>
        </c:dLbls>
        <c:axId val="437570992"/>
        <c:axId val="437570336"/>
      </c:scatterChart>
      <c:valAx>
        <c:axId val="437570992"/>
        <c:scaling>
          <c:orientation val="minMax"/>
          <c:max val="1"/>
        </c:scaling>
        <c:delete val="0"/>
        <c:axPos val="b"/>
        <c:title>
          <c:tx>
            <c:rich>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Share of Red</a:t>
                </a:r>
                <a:r>
                  <a:rPr lang="en-US" sz="1000" b="1" baseline="0">
                    <a:latin typeface="Arial" panose="020B0604020202020204" pitchFamily="34" charset="0"/>
                    <a:cs typeface="Arial" panose="020B0604020202020204" pitchFamily="34" charset="0"/>
                  </a:rPr>
                  <a:t> Balls</a:t>
                </a:r>
                <a:endParaRPr lang="en-US" sz="1000" b="1">
                  <a:latin typeface="Arial" panose="020B0604020202020204" pitchFamily="34" charset="0"/>
                  <a:cs typeface="Arial" panose="020B0604020202020204" pitchFamily="34" charset="0"/>
                </a:endParaRPr>
              </a:p>
            </c:rich>
          </c:tx>
          <c:layout>
            <c:manualLayout>
              <c:xMode val="edge"/>
              <c:yMode val="edge"/>
              <c:x val="0.35623515325626792"/>
              <c:y val="0.90630253469070421"/>
            </c:manualLayout>
          </c:layout>
          <c:overlay val="0"/>
          <c:spPr>
            <a:noFill/>
            <a:ln>
              <a:noFill/>
            </a:ln>
            <a:effectLst/>
          </c:spPr>
          <c:txPr>
            <a:bodyPr rot="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336"/>
        <c:crosses val="autoZero"/>
        <c:crossBetween val="midCat"/>
      </c:valAx>
      <c:valAx>
        <c:axId val="437570336"/>
        <c:scaling>
          <c:orientation val="minMax"/>
          <c:max val="1.01"/>
          <c:min val="0"/>
        </c:scaling>
        <c:delete val="0"/>
        <c:axPos val="l"/>
        <c:majorGridlines>
          <c:spPr>
            <a:ln w="9525" cap="flat" cmpd="sng" algn="ctr">
              <a:solidFill>
                <a:schemeClr val="tx1">
                  <a:lumMod val="15000"/>
                  <a:lumOff val="85000"/>
                </a:schemeClr>
              </a:solidFill>
              <a:round/>
            </a:ln>
            <a:effectLst/>
          </c:spPr>
        </c:majorGridlines>
        <c:title>
          <c:tx>
            <c:rich>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r>
                  <a:rPr lang="en-US" sz="1000" b="1">
                    <a:latin typeface="Arial" panose="020B0604020202020204" pitchFamily="34" charset="0"/>
                    <a:cs typeface="Arial" panose="020B0604020202020204" pitchFamily="34" charset="0"/>
                  </a:rPr>
                  <a:t>Entropy</a:t>
                </a:r>
              </a:p>
            </c:rich>
          </c:tx>
          <c:overlay val="0"/>
          <c:spPr>
            <a:noFill/>
            <a:ln>
              <a:noFill/>
            </a:ln>
            <a:effectLst/>
          </c:spPr>
          <c:txPr>
            <a:bodyPr rot="-5400000" spcFirstLastPara="1" vertOverflow="ellipsis" vert="horz" wrap="square" anchor="ctr" anchorCtr="1"/>
            <a:lstStyle/>
            <a:p>
              <a:pPr>
                <a:defRPr sz="1000" b="1" i="0" u="none" strike="noStrike" kern="1200" baseline="0">
                  <a:solidFill>
                    <a:schemeClr val="tx1">
                      <a:lumMod val="65000"/>
                      <a:lumOff val="35000"/>
                    </a:schemeClr>
                  </a:solidFill>
                  <a:latin typeface="Arial" panose="020B0604020202020204" pitchFamily="34" charset="0"/>
                  <a:ea typeface="+mn-ea"/>
                  <a:cs typeface="Arial" panose="020B0604020202020204" pitchFamily="34" charset="0"/>
                </a:defRPr>
              </a:pPr>
              <a:endParaRPr lang="de-DE"/>
            </a:p>
          </c:txPr>
        </c:title>
        <c:numFmt formatCode="General" sourceLinked="1"/>
        <c:majorTickMark val="none"/>
        <c:minorTickMark val="none"/>
        <c:tickLblPos val="nextTo"/>
        <c:spPr>
          <a:noFill/>
          <a:ln w="9525" cap="flat" cmpd="sng" algn="ctr">
            <a:solidFill>
              <a:schemeClr val="tx1">
                <a:lumMod val="25000"/>
                <a:lumOff val="7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de-DE"/>
          </a:p>
        </c:txPr>
        <c:crossAx val="437570992"/>
        <c:crosses val="autoZero"/>
        <c:crossBetween val="midCat"/>
      </c:valAx>
      <c:spPr>
        <a:noFill/>
        <a:ln>
          <a:noFill/>
        </a:ln>
        <a:effectLst/>
      </c:spPr>
    </c:plotArea>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de-DE"/>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0.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1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0.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charts/style11.xml><?xml version="1.0" encoding="utf-8"?>
<cs:chartStyle xmlns:cs="http://schemas.microsoft.com/office/drawing/2012/chartStyle" xmlns:a="http://schemas.openxmlformats.org/drawingml/2006/main" id="240">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19050"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spPr>
      <a:ln w="9525" cap="flat" cmpd="sng" algn="ctr">
        <a:solidFill>
          <a:schemeClr val="tx1">
            <a:lumMod val="25000"/>
            <a:lumOff val="75000"/>
          </a:schemeClr>
        </a:solidFill>
        <a:round/>
      </a:ln>
    </cs:spPr>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BAB11C23-3D19-48DB-B6F1-736A5466429E}" type="doc">
      <dgm:prSet loTypeId="urn:microsoft.com/office/officeart/2005/8/layout/radial1" loCatId="relationship" qsTypeId="urn:microsoft.com/office/officeart/2005/8/quickstyle/simple1" qsCatId="simple" csTypeId="urn:microsoft.com/office/officeart/2005/8/colors/accent1_2" csCatId="accent1" phldr="1"/>
      <dgm:spPr/>
      <dgm:t>
        <a:bodyPr/>
        <a:lstStyle/>
        <a:p>
          <a:endParaRPr lang="de-DE"/>
        </a:p>
      </dgm:t>
    </dgm:pt>
    <dgm:pt modelId="{4F343F5C-CA52-4724-A45B-4BD502A54D82}">
      <dgm:prSet phldrT="[Text]" custT="1"/>
      <dgm:spPr/>
      <dgm:t>
        <a:bodyPr/>
        <a:lstStyle/>
        <a:p>
          <a:r>
            <a:rPr lang="en-US" sz="1800" noProof="0"/>
            <a:t>Tech. Domain Knowledge</a:t>
          </a:r>
          <a:endParaRPr lang="en-US" sz="1800" b="1" noProof="0"/>
        </a:p>
      </dgm:t>
    </dgm:pt>
    <dgm:pt modelId="{76BECCDB-108D-4DFB-847E-0A6DB5BC9E07}" type="parTrans" cxnId="{BADC9FB7-1F86-4322-A76D-5840DE7AF4A3}">
      <dgm:prSet/>
      <dgm:spPr/>
      <dgm:t>
        <a:bodyPr/>
        <a:lstStyle/>
        <a:p>
          <a:endParaRPr lang="en-US" sz="1200" noProof="0"/>
        </a:p>
      </dgm:t>
    </dgm:pt>
    <dgm:pt modelId="{114BD9E6-C32C-4B5C-B832-66F420261835}" type="sibTrans" cxnId="{BADC9FB7-1F86-4322-A76D-5840DE7AF4A3}">
      <dgm:prSet/>
      <dgm:spPr/>
      <dgm:t>
        <a:bodyPr/>
        <a:lstStyle/>
        <a:p>
          <a:endParaRPr lang="en-US" sz="1200" noProof="0"/>
        </a:p>
      </dgm:t>
    </dgm:pt>
    <dgm:pt modelId="{FFB4C670-68E0-44D9-B5A5-D565E2BCB5FC}">
      <dgm:prSet phldrT="[Text]" custT="1"/>
      <dgm:spPr/>
      <dgm:t>
        <a:bodyPr/>
        <a:lstStyle/>
        <a:p>
          <a:r>
            <a:rPr lang="en-US" sz="1200" noProof="0"/>
            <a:t>Data Mapping</a:t>
          </a:r>
        </a:p>
      </dgm:t>
    </dgm:pt>
    <dgm:pt modelId="{2AB9BE58-CE30-4E8C-B9EB-5C4AEE594337}" type="parTrans" cxnId="{494D8B42-3E32-452F-9F1A-F86F73FBA9DA}">
      <dgm:prSet/>
      <dgm:spPr/>
      <dgm:t>
        <a:bodyPr/>
        <a:lstStyle/>
        <a:p>
          <a:endParaRPr lang="en-US" sz="1200" noProof="0"/>
        </a:p>
      </dgm:t>
    </dgm:pt>
    <dgm:pt modelId="{45BA7513-C531-4956-B176-915D0E6311BD}" type="sibTrans" cxnId="{494D8B42-3E32-452F-9F1A-F86F73FBA9DA}">
      <dgm:prSet/>
      <dgm:spPr/>
      <dgm:t>
        <a:bodyPr/>
        <a:lstStyle/>
        <a:p>
          <a:endParaRPr lang="en-US" sz="1200" noProof="0"/>
        </a:p>
      </dgm:t>
    </dgm:pt>
    <dgm:pt modelId="{5E1BE1BB-34A5-465A-A446-F626D96C2A3C}">
      <dgm:prSet phldrT="[Text]" custT="1"/>
      <dgm:spPr/>
      <dgm:t>
        <a:bodyPr/>
        <a:lstStyle/>
        <a:p>
          <a:r>
            <a:rPr lang="en-US" sz="1200" noProof="0"/>
            <a:t>Scripting (Python i.e.)</a:t>
          </a:r>
        </a:p>
      </dgm:t>
    </dgm:pt>
    <dgm:pt modelId="{0588CAE4-5016-450E-A6C2-6B03CABEB689}" type="parTrans" cxnId="{225CB761-A722-4119-8681-76145A584A48}">
      <dgm:prSet/>
      <dgm:spPr/>
      <dgm:t>
        <a:bodyPr/>
        <a:lstStyle/>
        <a:p>
          <a:endParaRPr lang="en-US" sz="1200" noProof="0"/>
        </a:p>
      </dgm:t>
    </dgm:pt>
    <dgm:pt modelId="{EC6A7BB3-A230-4BCB-99A2-8CFB3BB8D675}" type="sibTrans" cxnId="{225CB761-A722-4119-8681-76145A584A48}">
      <dgm:prSet/>
      <dgm:spPr/>
      <dgm:t>
        <a:bodyPr/>
        <a:lstStyle/>
        <a:p>
          <a:endParaRPr lang="en-US" sz="1200" noProof="0"/>
        </a:p>
      </dgm:t>
    </dgm:pt>
    <dgm:pt modelId="{A6F0CD9F-A9AE-4E53-96BC-467A372C2216}">
      <dgm:prSet phldrT="[Text]" custT="1"/>
      <dgm:spPr/>
      <dgm:t>
        <a:bodyPr/>
        <a:lstStyle/>
        <a:p>
          <a:r>
            <a:rPr lang="en-US" sz="1200" noProof="0"/>
            <a:t>Script Debugging</a:t>
          </a:r>
        </a:p>
      </dgm:t>
    </dgm:pt>
    <dgm:pt modelId="{FF7601DC-7B1F-4ACD-B6AC-6529CAFDB11B}" type="parTrans" cxnId="{602124F1-9C81-43A6-AB2F-679FD8D287D3}">
      <dgm:prSet/>
      <dgm:spPr/>
      <dgm:t>
        <a:bodyPr/>
        <a:lstStyle/>
        <a:p>
          <a:endParaRPr lang="en-US" sz="1200" noProof="0"/>
        </a:p>
      </dgm:t>
    </dgm:pt>
    <dgm:pt modelId="{1563CDA7-6522-438C-B00D-4F6D236BD788}" type="sibTrans" cxnId="{602124F1-9C81-43A6-AB2F-679FD8D287D3}">
      <dgm:prSet/>
      <dgm:spPr/>
      <dgm:t>
        <a:bodyPr/>
        <a:lstStyle/>
        <a:p>
          <a:endParaRPr lang="en-US" sz="1200" noProof="0"/>
        </a:p>
      </dgm:t>
    </dgm:pt>
    <dgm:pt modelId="{9E969807-AC67-4627-8FEE-8C53E29DC070}">
      <dgm:prSet phldrT="[Text]" custT="1"/>
      <dgm:spPr/>
      <dgm:t>
        <a:bodyPr/>
        <a:lstStyle/>
        <a:p>
          <a:r>
            <a:rPr lang="en-US" sz="1200" noProof="0"/>
            <a:t>Data Cleaning</a:t>
          </a:r>
        </a:p>
      </dgm:t>
    </dgm:pt>
    <dgm:pt modelId="{A46841D3-9F8F-4ABA-98B2-00A7430990AD}" type="parTrans" cxnId="{BFE170EC-5CBB-4689-B8DF-61352113B389}">
      <dgm:prSet/>
      <dgm:spPr/>
      <dgm:t>
        <a:bodyPr/>
        <a:lstStyle/>
        <a:p>
          <a:endParaRPr lang="en-US" sz="1200" noProof="0"/>
        </a:p>
      </dgm:t>
    </dgm:pt>
    <dgm:pt modelId="{5D1FC3D2-8DE2-49CB-A6F9-1DC6A4A6BDC9}" type="sibTrans" cxnId="{BFE170EC-5CBB-4689-B8DF-61352113B389}">
      <dgm:prSet/>
      <dgm:spPr/>
      <dgm:t>
        <a:bodyPr/>
        <a:lstStyle/>
        <a:p>
          <a:endParaRPr lang="en-US" sz="1200" noProof="0"/>
        </a:p>
      </dgm:t>
    </dgm:pt>
    <dgm:pt modelId="{EC670EB8-5574-4310-8080-5894551E0C72}">
      <dgm:prSet phldrT="[Text]" custT="1"/>
      <dgm:spPr/>
      <dgm:t>
        <a:bodyPr/>
        <a:lstStyle/>
        <a:p>
          <a:r>
            <a:rPr lang="en-US" sz="1200" noProof="0"/>
            <a:t>Conducting convention. Statistic</a:t>
          </a:r>
        </a:p>
      </dgm:t>
    </dgm:pt>
    <dgm:pt modelId="{2D722BFC-10DB-44DF-B1B6-7F0C5C299B1A}" type="parTrans" cxnId="{B7B7ED1E-F15A-49E9-97FA-C02749C22928}">
      <dgm:prSet/>
      <dgm:spPr/>
      <dgm:t>
        <a:bodyPr/>
        <a:lstStyle/>
        <a:p>
          <a:endParaRPr lang="en-US" sz="1200" noProof="0"/>
        </a:p>
      </dgm:t>
    </dgm:pt>
    <dgm:pt modelId="{9C9F0201-6007-4896-A8C5-AFB4248632C0}" type="sibTrans" cxnId="{B7B7ED1E-F15A-49E9-97FA-C02749C22928}">
      <dgm:prSet/>
      <dgm:spPr/>
      <dgm:t>
        <a:bodyPr/>
        <a:lstStyle/>
        <a:p>
          <a:endParaRPr lang="en-US" sz="1200" noProof="0"/>
        </a:p>
      </dgm:t>
    </dgm:pt>
    <dgm:pt modelId="{ED7C2B8C-843E-4235-B7B8-C11BD006CCCA}">
      <dgm:prSet phldrT="[Text]" custT="1"/>
      <dgm:spPr/>
      <dgm:t>
        <a:bodyPr/>
        <a:lstStyle/>
        <a:p>
          <a:r>
            <a:rPr lang="en-US" sz="1200" noProof="0"/>
            <a:t>Running + interpreting ML</a:t>
          </a:r>
        </a:p>
      </dgm:t>
    </dgm:pt>
    <dgm:pt modelId="{3E5F5B9A-C066-4C9E-A23C-3CCA858F571A}" type="parTrans" cxnId="{2188D5A2-1A31-45DA-A870-1E502F2C3A32}">
      <dgm:prSet/>
      <dgm:spPr/>
      <dgm:t>
        <a:bodyPr/>
        <a:lstStyle/>
        <a:p>
          <a:endParaRPr lang="en-US" sz="1200" noProof="0"/>
        </a:p>
      </dgm:t>
    </dgm:pt>
    <dgm:pt modelId="{C63D7847-6A6D-42C5-8DDD-5932E0573578}" type="sibTrans" cxnId="{2188D5A2-1A31-45DA-A870-1E502F2C3A32}">
      <dgm:prSet/>
      <dgm:spPr/>
      <dgm:t>
        <a:bodyPr/>
        <a:lstStyle/>
        <a:p>
          <a:endParaRPr lang="en-US" sz="1200" noProof="0"/>
        </a:p>
      </dgm:t>
    </dgm:pt>
    <dgm:pt modelId="{B32B9C7F-6896-47B0-B713-BD16EB528BDD}">
      <dgm:prSet phldrT="[Text]" custT="1"/>
      <dgm:spPr/>
      <dgm:t>
        <a:bodyPr/>
        <a:lstStyle/>
        <a:p>
          <a:r>
            <a:rPr lang="en-US" sz="1200" noProof="0"/>
            <a:t>Problem stating</a:t>
          </a:r>
        </a:p>
      </dgm:t>
    </dgm:pt>
    <dgm:pt modelId="{18033BFD-DCE7-4F36-A8CC-5193EC05A3F1}" type="parTrans" cxnId="{44797E8F-0ACE-42A4-BBBB-1AE664B97AF6}">
      <dgm:prSet/>
      <dgm:spPr/>
      <dgm:t>
        <a:bodyPr/>
        <a:lstStyle/>
        <a:p>
          <a:endParaRPr lang="de-DE"/>
        </a:p>
      </dgm:t>
    </dgm:pt>
    <dgm:pt modelId="{E6AF2225-77EE-4120-A803-15AFE6E7451D}" type="sibTrans" cxnId="{44797E8F-0ACE-42A4-BBBB-1AE664B97AF6}">
      <dgm:prSet/>
      <dgm:spPr/>
      <dgm:t>
        <a:bodyPr/>
        <a:lstStyle/>
        <a:p>
          <a:endParaRPr lang="de-DE"/>
        </a:p>
      </dgm:t>
    </dgm:pt>
    <dgm:pt modelId="{73B99317-EA07-4932-991A-4BC166B53484}">
      <dgm:prSet phldrT="[Text]" custT="1"/>
      <dgm:spPr/>
      <dgm:t>
        <a:bodyPr/>
        <a:lstStyle/>
        <a:p>
          <a:r>
            <a:rPr lang="en-US" sz="1200" noProof="0"/>
            <a:t>Hypotheses stating</a:t>
          </a:r>
        </a:p>
      </dgm:t>
    </dgm:pt>
    <dgm:pt modelId="{4CC2F8EB-8FC2-404A-A0B1-39EA2881A059}" type="parTrans" cxnId="{50986461-D180-4240-AB8A-2B94ECA7F8DC}">
      <dgm:prSet/>
      <dgm:spPr/>
      <dgm:t>
        <a:bodyPr/>
        <a:lstStyle/>
        <a:p>
          <a:endParaRPr lang="de-DE"/>
        </a:p>
      </dgm:t>
    </dgm:pt>
    <dgm:pt modelId="{BC5BDFF7-2E09-4CF2-BD3A-53C8A25D5C44}" type="sibTrans" cxnId="{50986461-D180-4240-AB8A-2B94ECA7F8DC}">
      <dgm:prSet/>
      <dgm:spPr/>
      <dgm:t>
        <a:bodyPr/>
        <a:lstStyle/>
        <a:p>
          <a:endParaRPr lang="de-DE"/>
        </a:p>
      </dgm:t>
    </dgm:pt>
    <dgm:pt modelId="{B9B757F4-94B9-4258-95F9-40D7633FC732}" type="pres">
      <dgm:prSet presAssocID="{BAB11C23-3D19-48DB-B6F1-736A5466429E}" presName="cycle" presStyleCnt="0">
        <dgm:presLayoutVars>
          <dgm:chMax val="1"/>
          <dgm:dir/>
          <dgm:animLvl val="ctr"/>
          <dgm:resizeHandles val="exact"/>
        </dgm:presLayoutVars>
      </dgm:prSet>
      <dgm:spPr/>
    </dgm:pt>
    <dgm:pt modelId="{FACF6A2B-520F-4CEA-8035-57FDE19D2BF5}" type="pres">
      <dgm:prSet presAssocID="{4F343F5C-CA52-4724-A45B-4BD502A54D82}" presName="centerShape" presStyleLbl="node0" presStyleIdx="0" presStyleCnt="1" custScaleX="162648" custScaleY="162648" custLinFactNeighborY="4054"/>
      <dgm:spPr/>
    </dgm:pt>
    <dgm:pt modelId="{12074532-DF8B-4C17-9DF6-F8C20C51E04C}" type="pres">
      <dgm:prSet presAssocID="{18033BFD-DCE7-4F36-A8CC-5193EC05A3F1}" presName="Name9" presStyleLbl="parChTrans1D2" presStyleIdx="0" presStyleCnt="8"/>
      <dgm:spPr/>
    </dgm:pt>
    <dgm:pt modelId="{75C32999-FDB2-4101-9D7A-535DD5DFFD53}" type="pres">
      <dgm:prSet presAssocID="{18033BFD-DCE7-4F36-A8CC-5193EC05A3F1}" presName="connTx" presStyleLbl="parChTrans1D2" presStyleIdx="0" presStyleCnt="8"/>
      <dgm:spPr/>
    </dgm:pt>
    <dgm:pt modelId="{6BF5BA66-572A-460B-A8B3-5C1193AC701F}" type="pres">
      <dgm:prSet presAssocID="{B32B9C7F-6896-47B0-B713-BD16EB528BDD}" presName="node" presStyleLbl="node1" presStyleIdx="0" presStyleCnt="8" custScaleX="114200" custScaleY="114200" custRadScaleRad="77348">
        <dgm:presLayoutVars>
          <dgm:bulletEnabled val="1"/>
        </dgm:presLayoutVars>
      </dgm:prSet>
      <dgm:spPr/>
    </dgm:pt>
    <dgm:pt modelId="{5DE84044-5706-4940-BA93-EB3F211DBF52}" type="pres">
      <dgm:prSet presAssocID="{4CC2F8EB-8FC2-404A-A0B1-39EA2881A059}" presName="Name9" presStyleLbl="parChTrans1D2" presStyleIdx="1" presStyleCnt="8"/>
      <dgm:spPr/>
    </dgm:pt>
    <dgm:pt modelId="{C99BF045-F910-48A3-BEEF-5C0C321F74FF}" type="pres">
      <dgm:prSet presAssocID="{4CC2F8EB-8FC2-404A-A0B1-39EA2881A059}" presName="connTx" presStyleLbl="parChTrans1D2" presStyleIdx="1" presStyleCnt="8"/>
      <dgm:spPr/>
    </dgm:pt>
    <dgm:pt modelId="{EFBD60CF-3AC0-4349-BEDE-69F29730AA44}" type="pres">
      <dgm:prSet presAssocID="{73B99317-EA07-4932-991A-4BC166B53484}" presName="node" presStyleLbl="node1" presStyleIdx="1" presStyleCnt="8" custScaleX="114200" custScaleY="114200" custRadScaleRad="131481" custRadScaleInc="81422">
        <dgm:presLayoutVars>
          <dgm:bulletEnabled val="1"/>
        </dgm:presLayoutVars>
      </dgm:prSet>
      <dgm:spPr/>
    </dgm:pt>
    <dgm:pt modelId="{BF867E16-58E2-4DF9-B23E-1BA791F452D0}" type="pres">
      <dgm:prSet presAssocID="{2AB9BE58-CE30-4E8C-B9EB-5C4AEE594337}" presName="Name9" presStyleLbl="parChTrans1D2" presStyleIdx="2" presStyleCnt="8"/>
      <dgm:spPr/>
    </dgm:pt>
    <dgm:pt modelId="{3E77602D-FCD4-42A4-87DA-8F8E9E3CE5E5}" type="pres">
      <dgm:prSet presAssocID="{2AB9BE58-CE30-4E8C-B9EB-5C4AEE594337}" presName="connTx" presStyleLbl="parChTrans1D2" presStyleIdx="2" presStyleCnt="8"/>
      <dgm:spPr/>
    </dgm:pt>
    <dgm:pt modelId="{2AFABC5F-4EFD-45EB-B4B5-DED1E528D876}" type="pres">
      <dgm:prSet presAssocID="{FFB4C670-68E0-44D9-B5A5-D565E2BCB5FC}" presName="node" presStyleLbl="node1" presStyleIdx="2" presStyleCnt="8" custScaleX="117660" custScaleY="114200" custRadScaleRad="186223" custRadScaleInc="11089">
        <dgm:presLayoutVars>
          <dgm:bulletEnabled val="1"/>
        </dgm:presLayoutVars>
      </dgm:prSet>
      <dgm:spPr/>
    </dgm:pt>
    <dgm:pt modelId="{2AF67074-45C5-485A-A5AA-FE4BB7FF2F3C}" type="pres">
      <dgm:prSet presAssocID="{0588CAE4-5016-450E-A6C2-6B03CABEB689}" presName="Name9" presStyleLbl="parChTrans1D2" presStyleIdx="3" presStyleCnt="8"/>
      <dgm:spPr/>
    </dgm:pt>
    <dgm:pt modelId="{2E3A2BB7-12AB-4F6E-ACC8-9AC0399A3814}" type="pres">
      <dgm:prSet presAssocID="{0588CAE4-5016-450E-A6C2-6B03CABEB689}" presName="connTx" presStyleLbl="parChTrans1D2" presStyleIdx="3" presStyleCnt="8"/>
      <dgm:spPr/>
    </dgm:pt>
    <dgm:pt modelId="{1DAB98C2-738D-4724-B1B7-657F26E94747}" type="pres">
      <dgm:prSet presAssocID="{5E1BE1BB-34A5-465A-A446-F626D96C2A3C}" presName="node" presStyleLbl="node1" presStyleIdx="3" presStyleCnt="8" custScaleX="114200" custScaleY="114200" custRadScaleRad="134297" custRadScaleInc="-71195">
        <dgm:presLayoutVars>
          <dgm:bulletEnabled val="1"/>
        </dgm:presLayoutVars>
      </dgm:prSet>
      <dgm:spPr/>
    </dgm:pt>
    <dgm:pt modelId="{853A381A-B626-4FC8-B95D-7A03117F8206}" type="pres">
      <dgm:prSet presAssocID="{FF7601DC-7B1F-4ACD-B6AC-6529CAFDB11B}" presName="Name9" presStyleLbl="parChTrans1D2" presStyleIdx="4" presStyleCnt="8"/>
      <dgm:spPr/>
    </dgm:pt>
    <dgm:pt modelId="{F7D21D4C-1C14-4C51-BCA2-37DD5488ECE8}" type="pres">
      <dgm:prSet presAssocID="{FF7601DC-7B1F-4ACD-B6AC-6529CAFDB11B}" presName="connTx" presStyleLbl="parChTrans1D2" presStyleIdx="4" presStyleCnt="8"/>
      <dgm:spPr/>
    </dgm:pt>
    <dgm:pt modelId="{31C53EF1-48B8-4362-92DA-872305B85630}" type="pres">
      <dgm:prSet presAssocID="{A6F0CD9F-A9AE-4E53-96BC-467A372C2216}" presName="node" presStyleLbl="node1" presStyleIdx="4" presStyleCnt="8" custScaleX="114200" custScaleY="114200" custRadScaleRad="95590">
        <dgm:presLayoutVars>
          <dgm:bulletEnabled val="1"/>
        </dgm:presLayoutVars>
      </dgm:prSet>
      <dgm:spPr/>
    </dgm:pt>
    <dgm:pt modelId="{91211AD2-32BF-40AC-842C-FAFF4319BBB3}" type="pres">
      <dgm:prSet presAssocID="{A46841D3-9F8F-4ABA-98B2-00A7430990AD}" presName="Name9" presStyleLbl="parChTrans1D2" presStyleIdx="5" presStyleCnt="8"/>
      <dgm:spPr/>
    </dgm:pt>
    <dgm:pt modelId="{B98BC0D1-478B-401C-BBB3-28032AFAA08F}" type="pres">
      <dgm:prSet presAssocID="{A46841D3-9F8F-4ABA-98B2-00A7430990AD}" presName="connTx" presStyleLbl="parChTrans1D2" presStyleIdx="5" presStyleCnt="8"/>
      <dgm:spPr/>
    </dgm:pt>
    <dgm:pt modelId="{37DCECD3-C06D-4900-99F3-94EC698F046E}" type="pres">
      <dgm:prSet presAssocID="{9E969807-AC67-4627-8FEE-8C53E29DC070}" presName="node" presStyleLbl="node1" presStyleIdx="5" presStyleCnt="8" custScaleX="114200" custScaleY="114200" custRadScaleRad="132681" custRadScaleInc="64970">
        <dgm:presLayoutVars>
          <dgm:bulletEnabled val="1"/>
        </dgm:presLayoutVars>
      </dgm:prSet>
      <dgm:spPr/>
    </dgm:pt>
    <dgm:pt modelId="{BCD7401E-6AA9-4BCA-89B4-37EE3A8D1661}" type="pres">
      <dgm:prSet presAssocID="{2D722BFC-10DB-44DF-B1B6-7F0C5C299B1A}" presName="Name9" presStyleLbl="parChTrans1D2" presStyleIdx="6" presStyleCnt="8"/>
      <dgm:spPr/>
    </dgm:pt>
    <dgm:pt modelId="{D6B41955-2A21-470D-9081-3DE7A24CE0A3}" type="pres">
      <dgm:prSet presAssocID="{2D722BFC-10DB-44DF-B1B6-7F0C5C299B1A}" presName="connTx" presStyleLbl="parChTrans1D2" presStyleIdx="6" presStyleCnt="8"/>
      <dgm:spPr/>
    </dgm:pt>
    <dgm:pt modelId="{D9D07CB2-A70A-4B03-AFB8-E3CB07E4F5EA}" type="pres">
      <dgm:prSet presAssocID="{EC670EB8-5574-4310-8080-5894551E0C72}" presName="node" presStyleLbl="node1" presStyleIdx="6" presStyleCnt="8" custScaleX="114200" custScaleY="114200" custRadScaleRad="188503" custRadScaleInc="-10955">
        <dgm:presLayoutVars>
          <dgm:bulletEnabled val="1"/>
        </dgm:presLayoutVars>
      </dgm:prSet>
      <dgm:spPr/>
    </dgm:pt>
    <dgm:pt modelId="{CC38EB27-5DF5-4AC1-A57A-7989E78A6E5B}" type="pres">
      <dgm:prSet presAssocID="{3E5F5B9A-C066-4C9E-A23C-3CCA858F571A}" presName="Name9" presStyleLbl="parChTrans1D2" presStyleIdx="7" presStyleCnt="8"/>
      <dgm:spPr/>
    </dgm:pt>
    <dgm:pt modelId="{A3295676-AF4A-4FFD-9D95-EEC7C10536E6}" type="pres">
      <dgm:prSet presAssocID="{3E5F5B9A-C066-4C9E-A23C-3CCA858F571A}" presName="connTx" presStyleLbl="parChTrans1D2" presStyleIdx="7" presStyleCnt="8"/>
      <dgm:spPr/>
    </dgm:pt>
    <dgm:pt modelId="{94BA7757-4AB0-4C5C-A05B-B37C0C7E28CE}" type="pres">
      <dgm:prSet presAssocID="{ED7C2B8C-843E-4235-B7B8-C11BD006CCCA}" presName="node" presStyleLbl="node1" presStyleIdx="7" presStyleCnt="8" custScaleX="114200" custScaleY="114200" custRadScaleRad="132419" custRadScaleInc="-82328">
        <dgm:presLayoutVars>
          <dgm:bulletEnabled val="1"/>
        </dgm:presLayoutVars>
      </dgm:prSet>
      <dgm:spPr/>
    </dgm:pt>
  </dgm:ptLst>
  <dgm:cxnLst>
    <dgm:cxn modelId="{02268F01-ADD8-4582-BDDC-FC7A3D080402}" type="presOf" srcId="{BAB11C23-3D19-48DB-B6F1-736A5466429E}" destId="{B9B757F4-94B9-4258-95F9-40D7633FC732}" srcOrd="0" destOrd="0" presId="urn:microsoft.com/office/officeart/2005/8/layout/radial1"/>
    <dgm:cxn modelId="{923E7009-5B19-405B-A081-88C8AE97856F}" type="presOf" srcId="{A46841D3-9F8F-4ABA-98B2-00A7430990AD}" destId="{91211AD2-32BF-40AC-842C-FAFF4319BBB3}" srcOrd="0" destOrd="0" presId="urn:microsoft.com/office/officeart/2005/8/layout/radial1"/>
    <dgm:cxn modelId="{B7B7ED1E-F15A-49E9-97FA-C02749C22928}" srcId="{4F343F5C-CA52-4724-A45B-4BD502A54D82}" destId="{EC670EB8-5574-4310-8080-5894551E0C72}" srcOrd="6" destOrd="0" parTransId="{2D722BFC-10DB-44DF-B1B6-7F0C5C299B1A}" sibTransId="{9C9F0201-6007-4896-A8C5-AFB4248632C0}"/>
    <dgm:cxn modelId="{50986461-D180-4240-AB8A-2B94ECA7F8DC}" srcId="{4F343F5C-CA52-4724-A45B-4BD502A54D82}" destId="{73B99317-EA07-4932-991A-4BC166B53484}" srcOrd="1" destOrd="0" parTransId="{4CC2F8EB-8FC2-404A-A0B1-39EA2881A059}" sibTransId="{BC5BDFF7-2E09-4CF2-BD3A-53C8A25D5C44}"/>
    <dgm:cxn modelId="{3F76A341-BAC6-4649-9FFB-48E0963B02C7}" type="presOf" srcId="{4F343F5C-CA52-4724-A45B-4BD502A54D82}" destId="{FACF6A2B-520F-4CEA-8035-57FDE19D2BF5}" srcOrd="0" destOrd="0" presId="urn:microsoft.com/office/officeart/2005/8/layout/radial1"/>
    <dgm:cxn modelId="{225CB761-A722-4119-8681-76145A584A48}" srcId="{4F343F5C-CA52-4724-A45B-4BD502A54D82}" destId="{5E1BE1BB-34A5-465A-A446-F626D96C2A3C}" srcOrd="3" destOrd="0" parTransId="{0588CAE4-5016-450E-A6C2-6B03CABEB689}" sibTransId="{EC6A7BB3-A230-4BCB-99A2-8CFB3BB8D675}"/>
    <dgm:cxn modelId="{494D8B42-3E32-452F-9F1A-F86F73FBA9DA}" srcId="{4F343F5C-CA52-4724-A45B-4BD502A54D82}" destId="{FFB4C670-68E0-44D9-B5A5-D565E2BCB5FC}" srcOrd="2" destOrd="0" parTransId="{2AB9BE58-CE30-4E8C-B9EB-5C4AEE594337}" sibTransId="{45BA7513-C531-4956-B176-915D0E6311BD}"/>
    <dgm:cxn modelId="{7E561C6A-4023-4E55-B156-532F59ABA625}" type="presOf" srcId="{0588CAE4-5016-450E-A6C2-6B03CABEB689}" destId="{2E3A2BB7-12AB-4F6E-ACC8-9AC0399A3814}" srcOrd="1" destOrd="0" presId="urn:microsoft.com/office/officeart/2005/8/layout/radial1"/>
    <dgm:cxn modelId="{0687724A-E3F0-4221-87D3-716C31618B04}" type="presOf" srcId="{73B99317-EA07-4932-991A-4BC166B53484}" destId="{EFBD60CF-3AC0-4349-BEDE-69F29730AA44}" srcOrd="0" destOrd="0" presId="urn:microsoft.com/office/officeart/2005/8/layout/radial1"/>
    <dgm:cxn modelId="{49DEE94A-3276-4F02-B22C-08BC55E7770A}" type="presOf" srcId="{B32B9C7F-6896-47B0-B713-BD16EB528BDD}" destId="{6BF5BA66-572A-460B-A8B3-5C1193AC701F}" srcOrd="0" destOrd="0" presId="urn:microsoft.com/office/officeart/2005/8/layout/radial1"/>
    <dgm:cxn modelId="{88E8E471-481F-4A02-A32E-590A1225EA63}" type="presOf" srcId="{18033BFD-DCE7-4F36-A8CC-5193EC05A3F1}" destId="{75C32999-FDB2-4101-9D7A-535DD5DFFD53}" srcOrd="1" destOrd="0" presId="urn:microsoft.com/office/officeart/2005/8/layout/radial1"/>
    <dgm:cxn modelId="{924A7272-B447-437B-8342-22B0B2EC5B58}" type="presOf" srcId="{FFB4C670-68E0-44D9-B5A5-D565E2BCB5FC}" destId="{2AFABC5F-4EFD-45EB-B4B5-DED1E528D876}" srcOrd="0" destOrd="0" presId="urn:microsoft.com/office/officeart/2005/8/layout/radial1"/>
    <dgm:cxn modelId="{857C6153-0289-4853-8638-A9B46EA2CA0F}" type="presOf" srcId="{EC670EB8-5574-4310-8080-5894551E0C72}" destId="{D9D07CB2-A70A-4B03-AFB8-E3CB07E4F5EA}" srcOrd="0" destOrd="0" presId="urn:microsoft.com/office/officeart/2005/8/layout/radial1"/>
    <dgm:cxn modelId="{4A6B5154-4FC0-4D2D-A022-34603BD9263C}" type="presOf" srcId="{FF7601DC-7B1F-4ACD-B6AC-6529CAFDB11B}" destId="{853A381A-B626-4FC8-B95D-7A03117F8206}" srcOrd="0" destOrd="0" presId="urn:microsoft.com/office/officeart/2005/8/layout/radial1"/>
    <dgm:cxn modelId="{06147C86-5DED-4549-B574-96B5AFA036DF}" type="presOf" srcId="{9E969807-AC67-4627-8FEE-8C53E29DC070}" destId="{37DCECD3-C06D-4900-99F3-94EC698F046E}" srcOrd="0" destOrd="0" presId="urn:microsoft.com/office/officeart/2005/8/layout/radial1"/>
    <dgm:cxn modelId="{64F0AC89-579B-41C3-B043-2BEF210EE3AB}" type="presOf" srcId="{3E5F5B9A-C066-4C9E-A23C-3CCA858F571A}" destId="{CC38EB27-5DF5-4AC1-A57A-7989E78A6E5B}" srcOrd="0" destOrd="0" presId="urn:microsoft.com/office/officeart/2005/8/layout/radial1"/>
    <dgm:cxn modelId="{4E4B978E-690F-4184-9A8C-AC78C9D5CB5B}" type="presOf" srcId="{FF7601DC-7B1F-4ACD-B6AC-6529CAFDB11B}" destId="{F7D21D4C-1C14-4C51-BCA2-37DD5488ECE8}" srcOrd="1" destOrd="0" presId="urn:microsoft.com/office/officeart/2005/8/layout/radial1"/>
    <dgm:cxn modelId="{44797E8F-0ACE-42A4-BBBB-1AE664B97AF6}" srcId="{4F343F5C-CA52-4724-A45B-4BD502A54D82}" destId="{B32B9C7F-6896-47B0-B713-BD16EB528BDD}" srcOrd="0" destOrd="0" parTransId="{18033BFD-DCE7-4F36-A8CC-5193EC05A3F1}" sibTransId="{E6AF2225-77EE-4120-A803-15AFE6E7451D}"/>
    <dgm:cxn modelId="{6551C08F-BC24-44FE-B572-C00BB20C832C}" type="presOf" srcId="{3E5F5B9A-C066-4C9E-A23C-3CCA858F571A}" destId="{A3295676-AF4A-4FFD-9D95-EEC7C10536E6}" srcOrd="1" destOrd="0" presId="urn:microsoft.com/office/officeart/2005/8/layout/radial1"/>
    <dgm:cxn modelId="{3C18E49D-6ABC-4D27-8274-0975B537FEE3}" type="presOf" srcId="{2D722BFC-10DB-44DF-B1B6-7F0C5C299B1A}" destId="{D6B41955-2A21-470D-9081-3DE7A24CE0A3}" srcOrd="1" destOrd="0" presId="urn:microsoft.com/office/officeart/2005/8/layout/radial1"/>
    <dgm:cxn modelId="{F0775BA0-4F41-478F-A88F-1791659F6911}" type="presOf" srcId="{4CC2F8EB-8FC2-404A-A0B1-39EA2881A059}" destId="{C99BF045-F910-48A3-BEEF-5C0C321F74FF}" srcOrd="1" destOrd="0" presId="urn:microsoft.com/office/officeart/2005/8/layout/radial1"/>
    <dgm:cxn modelId="{3B508DA2-FF95-492F-A48D-617BD5F311DE}" type="presOf" srcId="{0588CAE4-5016-450E-A6C2-6B03CABEB689}" destId="{2AF67074-45C5-485A-A5AA-FE4BB7FF2F3C}" srcOrd="0" destOrd="0" presId="urn:microsoft.com/office/officeart/2005/8/layout/radial1"/>
    <dgm:cxn modelId="{2188D5A2-1A31-45DA-A870-1E502F2C3A32}" srcId="{4F343F5C-CA52-4724-A45B-4BD502A54D82}" destId="{ED7C2B8C-843E-4235-B7B8-C11BD006CCCA}" srcOrd="7" destOrd="0" parTransId="{3E5F5B9A-C066-4C9E-A23C-3CCA858F571A}" sibTransId="{C63D7847-6A6D-42C5-8DDD-5932E0573578}"/>
    <dgm:cxn modelId="{C8277DA6-9239-4470-8CFA-84A742F03A81}" type="presOf" srcId="{2AB9BE58-CE30-4E8C-B9EB-5C4AEE594337}" destId="{BF867E16-58E2-4DF9-B23E-1BA791F452D0}" srcOrd="0" destOrd="0" presId="urn:microsoft.com/office/officeart/2005/8/layout/radial1"/>
    <dgm:cxn modelId="{99FCF8A7-9BF1-45DF-83CD-A9C6E4139740}" type="presOf" srcId="{18033BFD-DCE7-4F36-A8CC-5193EC05A3F1}" destId="{12074532-DF8B-4C17-9DF6-F8C20C51E04C}" srcOrd="0" destOrd="0" presId="urn:microsoft.com/office/officeart/2005/8/layout/radial1"/>
    <dgm:cxn modelId="{BADC9FB7-1F86-4322-A76D-5840DE7AF4A3}" srcId="{BAB11C23-3D19-48DB-B6F1-736A5466429E}" destId="{4F343F5C-CA52-4724-A45B-4BD502A54D82}" srcOrd="0" destOrd="0" parTransId="{76BECCDB-108D-4DFB-847E-0A6DB5BC9E07}" sibTransId="{114BD9E6-C32C-4B5C-B832-66F420261835}"/>
    <dgm:cxn modelId="{1D096DD3-C8CF-42AE-B5B2-1D15C2B95DFB}" type="presOf" srcId="{A46841D3-9F8F-4ABA-98B2-00A7430990AD}" destId="{B98BC0D1-478B-401C-BBB3-28032AFAA08F}" srcOrd="1" destOrd="0" presId="urn:microsoft.com/office/officeart/2005/8/layout/radial1"/>
    <dgm:cxn modelId="{51FCFBE9-3F83-40C2-8031-450595F02367}" type="presOf" srcId="{2D722BFC-10DB-44DF-B1B6-7F0C5C299B1A}" destId="{BCD7401E-6AA9-4BCA-89B4-37EE3A8D1661}" srcOrd="0" destOrd="0" presId="urn:microsoft.com/office/officeart/2005/8/layout/radial1"/>
    <dgm:cxn modelId="{BFE170EC-5CBB-4689-B8DF-61352113B389}" srcId="{4F343F5C-CA52-4724-A45B-4BD502A54D82}" destId="{9E969807-AC67-4627-8FEE-8C53E29DC070}" srcOrd="5" destOrd="0" parTransId="{A46841D3-9F8F-4ABA-98B2-00A7430990AD}" sibTransId="{5D1FC3D2-8DE2-49CB-A6F9-1DC6A4A6BDC9}"/>
    <dgm:cxn modelId="{602124F1-9C81-43A6-AB2F-679FD8D287D3}" srcId="{4F343F5C-CA52-4724-A45B-4BD502A54D82}" destId="{A6F0CD9F-A9AE-4E53-96BC-467A372C2216}" srcOrd="4" destOrd="0" parTransId="{FF7601DC-7B1F-4ACD-B6AC-6529CAFDB11B}" sibTransId="{1563CDA7-6522-438C-B00D-4F6D236BD788}"/>
    <dgm:cxn modelId="{235C70F1-09E4-40A3-BE23-4A0B50B89A5A}" type="presOf" srcId="{ED7C2B8C-843E-4235-B7B8-C11BD006CCCA}" destId="{94BA7757-4AB0-4C5C-A05B-B37C0C7E28CE}" srcOrd="0" destOrd="0" presId="urn:microsoft.com/office/officeart/2005/8/layout/radial1"/>
    <dgm:cxn modelId="{7E5C41F3-41B1-4513-A30A-3065228D73C1}" type="presOf" srcId="{5E1BE1BB-34A5-465A-A446-F626D96C2A3C}" destId="{1DAB98C2-738D-4724-B1B7-657F26E94747}" srcOrd="0" destOrd="0" presId="urn:microsoft.com/office/officeart/2005/8/layout/radial1"/>
    <dgm:cxn modelId="{D30B32F5-CC2A-442A-8B98-621BBA084B4F}" type="presOf" srcId="{A6F0CD9F-A9AE-4E53-96BC-467A372C2216}" destId="{31C53EF1-48B8-4362-92DA-872305B85630}" srcOrd="0" destOrd="0" presId="urn:microsoft.com/office/officeart/2005/8/layout/radial1"/>
    <dgm:cxn modelId="{23EC9AF8-1C7B-4755-8F7A-028534AEAB5E}" type="presOf" srcId="{4CC2F8EB-8FC2-404A-A0B1-39EA2881A059}" destId="{5DE84044-5706-4940-BA93-EB3F211DBF52}" srcOrd="0" destOrd="0" presId="urn:microsoft.com/office/officeart/2005/8/layout/radial1"/>
    <dgm:cxn modelId="{3422A0FB-2C6F-4268-95F0-08A24CDA2D1A}" type="presOf" srcId="{2AB9BE58-CE30-4E8C-B9EB-5C4AEE594337}" destId="{3E77602D-FCD4-42A4-87DA-8F8E9E3CE5E5}" srcOrd="1" destOrd="0" presId="urn:microsoft.com/office/officeart/2005/8/layout/radial1"/>
    <dgm:cxn modelId="{AA503EA0-09D1-466D-9C8F-ADDAE5D4E75B}" type="presParOf" srcId="{B9B757F4-94B9-4258-95F9-40D7633FC732}" destId="{FACF6A2B-520F-4CEA-8035-57FDE19D2BF5}" srcOrd="0" destOrd="0" presId="urn:microsoft.com/office/officeart/2005/8/layout/radial1"/>
    <dgm:cxn modelId="{FF980FBC-A8AC-4883-87C5-0542D5494172}" type="presParOf" srcId="{B9B757F4-94B9-4258-95F9-40D7633FC732}" destId="{12074532-DF8B-4C17-9DF6-F8C20C51E04C}" srcOrd="1" destOrd="0" presId="urn:microsoft.com/office/officeart/2005/8/layout/radial1"/>
    <dgm:cxn modelId="{A2B51C22-9CC1-46FA-B74D-8E5F8FB440B4}" type="presParOf" srcId="{12074532-DF8B-4C17-9DF6-F8C20C51E04C}" destId="{75C32999-FDB2-4101-9D7A-535DD5DFFD53}" srcOrd="0" destOrd="0" presId="urn:microsoft.com/office/officeart/2005/8/layout/radial1"/>
    <dgm:cxn modelId="{C273F895-0AEB-47FC-9541-99780137C8D6}" type="presParOf" srcId="{B9B757F4-94B9-4258-95F9-40D7633FC732}" destId="{6BF5BA66-572A-460B-A8B3-5C1193AC701F}" srcOrd="2" destOrd="0" presId="urn:microsoft.com/office/officeart/2005/8/layout/radial1"/>
    <dgm:cxn modelId="{6E8B45AD-52E3-4058-9095-832C22150A70}" type="presParOf" srcId="{B9B757F4-94B9-4258-95F9-40D7633FC732}" destId="{5DE84044-5706-4940-BA93-EB3F211DBF52}" srcOrd="3" destOrd="0" presId="urn:microsoft.com/office/officeart/2005/8/layout/radial1"/>
    <dgm:cxn modelId="{E8F1E3AD-4C45-4576-90E5-4182A501E5F9}" type="presParOf" srcId="{5DE84044-5706-4940-BA93-EB3F211DBF52}" destId="{C99BF045-F910-48A3-BEEF-5C0C321F74FF}" srcOrd="0" destOrd="0" presId="urn:microsoft.com/office/officeart/2005/8/layout/radial1"/>
    <dgm:cxn modelId="{9CDCD9FB-4A74-4EDE-9005-25C89519E37C}" type="presParOf" srcId="{B9B757F4-94B9-4258-95F9-40D7633FC732}" destId="{EFBD60CF-3AC0-4349-BEDE-69F29730AA44}" srcOrd="4" destOrd="0" presId="urn:microsoft.com/office/officeart/2005/8/layout/radial1"/>
    <dgm:cxn modelId="{DF6304B4-386D-4942-8CB7-8C9190E75749}" type="presParOf" srcId="{B9B757F4-94B9-4258-95F9-40D7633FC732}" destId="{BF867E16-58E2-4DF9-B23E-1BA791F452D0}" srcOrd="5" destOrd="0" presId="urn:microsoft.com/office/officeart/2005/8/layout/radial1"/>
    <dgm:cxn modelId="{14C7F023-63DA-425C-97DA-70ED9ACCB44E}" type="presParOf" srcId="{BF867E16-58E2-4DF9-B23E-1BA791F452D0}" destId="{3E77602D-FCD4-42A4-87DA-8F8E9E3CE5E5}" srcOrd="0" destOrd="0" presId="urn:microsoft.com/office/officeart/2005/8/layout/radial1"/>
    <dgm:cxn modelId="{209B492C-B36E-4765-8680-15B54865E9D4}" type="presParOf" srcId="{B9B757F4-94B9-4258-95F9-40D7633FC732}" destId="{2AFABC5F-4EFD-45EB-B4B5-DED1E528D876}" srcOrd="6" destOrd="0" presId="urn:microsoft.com/office/officeart/2005/8/layout/radial1"/>
    <dgm:cxn modelId="{47B7D673-3D02-4BD2-9A92-94EE12A5B314}" type="presParOf" srcId="{B9B757F4-94B9-4258-95F9-40D7633FC732}" destId="{2AF67074-45C5-485A-A5AA-FE4BB7FF2F3C}" srcOrd="7" destOrd="0" presId="urn:microsoft.com/office/officeart/2005/8/layout/radial1"/>
    <dgm:cxn modelId="{98890E96-12F0-4968-8E90-3A2C374DD332}" type="presParOf" srcId="{2AF67074-45C5-485A-A5AA-FE4BB7FF2F3C}" destId="{2E3A2BB7-12AB-4F6E-ACC8-9AC0399A3814}" srcOrd="0" destOrd="0" presId="urn:microsoft.com/office/officeart/2005/8/layout/radial1"/>
    <dgm:cxn modelId="{3D78A2CE-5AD8-4130-96EE-9DEF587FCAB3}" type="presParOf" srcId="{B9B757F4-94B9-4258-95F9-40D7633FC732}" destId="{1DAB98C2-738D-4724-B1B7-657F26E94747}" srcOrd="8" destOrd="0" presId="urn:microsoft.com/office/officeart/2005/8/layout/radial1"/>
    <dgm:cxn modelId="{DD399241-FF91-45B7-A8FE-D6508FCFA8FE}" type="presParOf" srcId="{B9B757F4-94B9-4258-95F9-40D7633FC732}" destId="{853A381A-B626-4FC8-B95D-7A03117F8206}" srcOrd="9" destOrd="0" presId="urn:microsoft.com/office/officeart/2005/8/layout/radial1"/>
    <dgm:cxn modelId="{4A011631-AA1F-4456-9BC1-3CA4298CD409}" type="presParOf" srcId="{853A381A-B626-4FC8-B95D-7A03117F8206}" destId="{F7D21D4C-1C14-4C51-BCA2-37DD5488ECE8}" srcOrd="0" destOrd="0" presId="urn:microsoft.com/office/officeart/2005/8/layout/radial1"/>
    <dgm:cxn modelId="{A10D3D10-F769-4F39-9C26-F443F9FD6835}" type="presParOf" srcId="{B9B757F4-94B9-4258-95F9-40D7633FC732}" destId="{31C53EF1-48B8-4362-92DA-872305B85630}" srcOrd="10" destOrd="0" presId="urn:microsoft.com/office/officeart/2005/8/layout/radial1"/>
    <dgm:cxn modelId="{C4328321-3FDF-4E07-8916-C228F6624FD3}" type="presParOf" srcId="{B9B757F4-94B9-4258-95F9-40D7633FC732}" destId="{91211AD2-32BF-40AC-842C-FAFF4319BBB3}" srcOrd="11" destOrd="0" presId="urn:microsoft.com/office/officeart/2005/8/layout/radial1"/>
    <dgm:cxn modelId="{3D2D4BB0-EE65-45C7-98EE-0A2D675CDC8F}" type="presParOf" srcId="{91211AD2-32BF-40AC-842C-FAFF4319BBB3}" destId="{B98BC0D1-478B-401C-BBB3-28032AFAA08F}" srcOrd="0" destOrd="0" presId="urn:microsoft.com/office/officeart/2005/8/layout/radial1"/>
    <dgm:cxn modelId="{BE97E176-E45A-472B-9D3C-297855016286}" type="presParOf" srcId="{B9B757F4-94B9-4258-95F9-40D7633FC732}" destId="{37DCECD3-C06D-4900-99F3-94EC698F046E}" srcOrd="12" destOrd="0" presId="urn:microsoft.com/office/officeart/2005/8/layout/radial1"/>
    <dgm:cxn modelId="{B7A5C553-72C6-4C79-9325-387BA05ABEDE}" type="presParOf" srcId="{B9B757F4-94B9-4258-95F9-40D7633FC732}" destId="{BCD7401E-6AA9-4BCA-89B4-37EE3A8D1661}" srcOrd="13" destOrd="0" presId="urn:microsoft.com/office/officeart/2005/8/layout/radial1"/>
    <dgm:cxn modelId="{C15AAE6B-C871-461D-89B4-4A8A0A73EB0F}" type="presParOf" srcId="{BCD7401E-6AA9-4BCA-89B4-37EE3A8D1661}" destId="{D6B41955-2A21-470D-9081-3DE7A24CE0A3}" srcOrd="0" destOrd="0" presId="urn:microsoft.com/office/officeart/2005/8/layout/radial1"/>
    <dgm:cxn modelId="{28D661A0-3D0C-44B9-8A6D-D1F6DCAC515B}" type="presParOf" srcId="{B9B757F4-94B9-4258-95F9-40D7633FC732}" destId="{D9D07CB2-A70A-4B03-AFB8-E3CB07E4F5EA}" srcOrd="14" destOrd="0" presId="urn:microsoft.com/office/officeart/2005/8/layout/radial1"/>
    <dgm:cxn modelId="{A51EDBD0-DB69-4AE4-BE57-A09ACA43F4B8}" type="presParOf" srcId="{B9B757F4-94B9-4258-95F9-40D7633FC732}" destId="{CC38EB27-5DF5-4AC1-A57A-7989E78A6E5B}" srcOrd="15" destOrd="0" presId="urn:microsoft.com/office/officeart/2005/8/layout/radial1"/>
    <dgm:cxn modelId="{DF86519F-109F-4B1A-B6E4-CCD54A19B57E}" type="presParOf" srcId="{CC38EB27-5DF5-4AC1-A57A-7989E78A6E5B}" destId="{A3295676-AF4A-4FFD-9D95-EEC7C10536E6}" srcOrd="0" destOrd="0" presId="urn:microsoft.com/office/officeart/2005/8/layout/radial1"/>
    <dgm:cxn modelId="{FAF634D9-246E-4EBC-919D-D1696C51B42F}" type="presParOf" srcId="{B9B757F4-94B9-4258-95F9-40D7633FC732}" destId="{94BA7757-4AB0-4C5C-A05B-B37C0C7E28CE}" srcOrd="16" destOrd="0" presId="urn:microsoft.com/office/officeart/2005/8/layout/radial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FACF6A2B-520F-4CEA-8035-57FDE19D2BF5}">
      <dsp:nvSpPr>
        <dsp:cNvPr id="0" name=""/>
        <dsp:cNvSpPr/>
      </dsp:nvSpPr>
      <dsp:spPr>
        <a:xfrm>
          <a:off x="3465480" y="1607379"/>
          <a:ext cx="1692001" cy="1692001"/>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noProof="0"/>
            <a:t>Tech. Domain Knowledge</a:t>
          </a:r>
          <a:endParaRPr lang="en-US" sz="1800" b="1" kern="1200" noProof="0"/>
        </a:p>
      </dsp:txBody>
      <dsp:txXfrm>
        <a:off x="3713268" y="1855167"/>
        <a:ext cx="1196425" cy="1196425"/>
      </dsp:txXfrm>
    </dsp:sp>
    <dsp:sp modelId="{12074532-DF8B-4C17-9DF6-F8C20C51E04C}">
      <dsp:nvSpPr>
        <dsp:cNvPr id="0" name=""/>
        <dsp:cNvSpPr/>
      </dsp:nvSpPr>
      <dsp:spPr>
        <a:xfrm rot="16200000">
          <a:off x="4275389" y="1560452"/>
          <a:ext cx="72183" cy="21670"/>
        </a:xfrm>
        <a:custGeom>
          <a:avLst/>
          <a:gdLst/>
          <a:ahLst/>
          <a:cxnLst/>
          <a:rect l="0" t="0" r="0" b="0"/>
          <a:pathLst>
            <a:path>
              <a:moveTo>
                <a:pt x="0" y="10835"/>
              </a:moveTo>
              <a:lnTo>
                <a:pt x="72183"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4309676" y="1569483"/>
        <a:ext cx="3609" cy="3609"/>
      </dsp:txXfrm>
    </dsp:sp>
    <dsp:sp modelId="{6BF5BA66-572A-460B-A8B3-5C1193AC701F}">
      <dsp:nvSpPr>
        <dsp:cNvPr id="0" name=""/>
        <dsp:cNvSpPr/>
      </dsp:nvSpPr>
      <dsp:spPr>
        <a:xfrm>
          <a:off x="3717478" y="347191"/>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a:t>Problem stating</a:t>
          </a:r>
        </a:p>
      </dsp:txBody>
      <dsp:txXfrm>
        <a:off x="3891457" y="521170"/>
        <a:ext cx="840046" cy="840046"/>
      </dsp:txXfrm>
    </dsp:sp>
    <dsp:sp modelId="{5DE84044-5706-4940-BA93-EB3F211DBF52}">
      <dsp:nvSpPr>
        <dsp:cNvPr id="0" name=""/>
        <dsp:cNvSpPr/>
      </dsp:nvSpPr>
      <dsp:spPr>
        <a:xfrm rot="19815054">
          <a:off x="4983087" y="1785950"/>
          <a:ext cx="954474" cy="21670"/>
        </a:xfrm>
        <a:custGeom>
          <a:avLst/>
          <a:gdLst/>
          <a:ahLst/>
          <a:cxnLst/>
          <a:rect l="0" t="0" r="0" b="0"/>
          <a:pathLst>
            <a:path>
              <a:moveTo>
                <a:pt x="0" y="10835"/>
              </a:moveTo>
              <a:lnTo>
                <a:pt x="954474"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de-DE" sz="500" kern="1200"/>
        </a:p>
      </dsp:txBody>
      <dsp:txXfrm>
        <a:off x="5436463" y="1772924"/>
        <a:ext cx="47723" cy="47723"/>
      </dsp:txXfrm>
    </dsp:sp>
    <dsp:sp modelId="{EFBD60CF-3AC0-4349-BEDE-69F29730AA44}">
      <dsp:nvSpPr>
        <dsp:cNvPr id="0" name=""/>
        <dsp:cNvSpPr/>
      </dsp:nvSpPr>
      <dsp:spPr>
        <a:xfrm>
          <a:off x="5796379" y="671231"/>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a:t>Hypotheses stating</a:t>
          </a:r>
        </a:p>
      </dsp:txBody>
      <dsp:txXfrm>
        <a:off x="5970358" y="845210"/>
        <a:ext cx="840046" cy="840046"/>
      </dsp:txXfrm>
    </dsp:sp>
    <dsp:sp modelId="{BF867E16-58E2-4DF9-B23E-1BA791F452D0}">
      <dsp:nvSpPr>
        <dsp:cNvPr id="0" name=""/>
        <dsp:cNvSpPr/>
      </dsp:nvSpPr>
      <dsp:spPr>
        <a:xfrm rot="21599977">
          <a:off x="5157482" y="2442533"/>
          <a:ext cx="1834184" cy="21670"/>
        </a:xfrm>
        <a:custGeom>
          <a:avLst/>
          <a:gdLst/>
          <a:ahLst/>
          <a:cxnLst/>
          <a:rect l="0" t="0" r="0" b="0"/>
          <a:pathLst>
            <a:path>
              <a:moveTo>
                <a:pt x="0" y="10835"/>
              </a:moveTo>
              <a:lnTo>
                <a:pt x="1834184"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noProof="0"/>
        </a:p>
      </dsp:txBody>
      <dsp:txXfrm>
        <a:off x="6028719" y="2407514"/>
        <a:ext cx="91709" cy="91709"/>
      </dsp:txXfrm>
    </dsp:sp>
    <dsp:sp modelId="{2AFABC5F-4EFD-45EB-B4B5-DED1E528D876}">
      <dsp:nvSpPr>
        <dsp:cNvPr id="0" name=""/>
        <dsp:cNvSpPr/>
      </dsp:nvSpPr>
      <dsp:spPr>
        <a:xfrm>
          <a:off x="6991666" y="1859356"/>
          <a:ext cx="1223998"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a:t>Data Mapping</a:t>
          </a:r>
        </a:p>
      </dsp:txBody>
      <dsp:txXfrm>
        <a:off x="7170916" y="2033335"/>
        <a:ext cx="865498" cy="840046"/>
      </dsp:txXfrm>
    </dsp:sp>
    <dsp:sp modelId="{2AF67074-45C5-485A-A5AA-FE4BB7FF2F3C}">
      <dsp:nvSpPr>
        <dsp:cNvPr id="0" name=""/>
        <dsp:cNvSpPr/>
      </dsp:nvSpPr>
      <dsp:spPr>
        <a:xfrm rot="1552021">
          <a:off x="5029120" y="3001500"/>
          <a:ext cx="870343" cy="21670"/>
        </a:xfrm>
        <a:custGeom>
          <a:avLst/>
          <a:gdLst/>
          <a:ahLst/>
          <a:cxnLst/>
          <a:rect l="0" t="0" r="0" b="0"/>
          <a:pathLst>
            <a:path>
              <a:moveTo>
                <a:pt x="0" y="10835"/>
              </a:moveTo>
              <a:lnTo>
                <a:pt x="870343"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noProof="0"/>
        </a:p>
      </dsp:txBody>
      <dsp:txXfrm>
        <a:off x="5442533" y="2990576"/>
        <a:ext cx="43517" cy="43517"/>
      </dsp:txXfrm>
    </dsp:sp>
    <dsp:sp modelId="{1DAB98C2-738D-4724-B1B7-657F26E94747}">
      <dsp:nvSpPr>
        <dsp:cNvPr id="0" name=""/>
        <dsp:cNvSpPr/>
      </dsp:nvSpPr>
      <dsp:spPr>
        <a:xfrm>
          <a:off x="5796350" y="2867345"/>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a:t>Scripting (Python i.e.)</a:t>
          </a:r>
        </a:p>
      </dsp:txBody>
      <dsp:txXfrm>
        <a:off x="5970329" y="3041324"/>
        <a:ext cx="840046" cy="840046"/>
      </dsp:txXfrm>
    </dsp:sp>
    <dsp:sp modelId="{853A381A-B626-4FC8-B95D-7A03117F8206}">
      <dsp:nvSpPr>
        <dsp:cNvPr id="0" name=""/>
        <dsp:cNvSpPr/>
      </dsp:nvSpPr>
      <dsp:spPr>
        <a:xfrm rot="5400000">
          <a:off x="4257463" y="3342563"/>
          <a:ext cx="108034" cy="21670"/>
        </a:xfrm>
        <a:custGeom>
          <a:avLst/>
          <a:gdLst/>
          <a:ahLst/>
          <a:cxnLst/>
          <a:rect l="0" t="0" r="0" b="0"/>
          <a:pathLst>
            <a:path>
              <a:moveTo>
                <a:pt x="0" y="10835"/>
              </a:moveTo>
              <a:lnTo>
                <a:pt x="108034"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noProof="0"/>
        </a:p>
      </dsp:txBody>
      <dsp:txXfrm>
        <a:off x="4308780" y="3350697"/>
        <a:ext cx="5401" cy="5401"/>
      </dsp:txXfrm>
    </dsp:sp>
    <dsp:sp modelId="{31C53EF1-48B8-4362-92DA-872305B85630}">
      <dsp:nvSpPr>
        <dsp:cNvPr id="0" name=""/>
        <dsp:cNvSpPr/>
      </dsp:nvSpPr>
      <dsp:spPr>
        <a:xfrm>
          <a:off x="3717478" y="3407415"/>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a:t>Script Debugging</a:t>
          </a:r>
        </a:p>
      </dsp:txBody>
      <dsp:txXfrm>
        <a:off x="3891457" y="3581394"/>
        <a:ext cx="840046" cy="840046"/>
      </dsp:txXfrm>
    </dsp:sp>
    <dsp:sp modelId="{91211AD2-32BF-40AC-842C-FAFF4319BBB3}">
      <dsp:nvSpPr>
        <dsp:cNvPr id="0" name=""/>
        <dsp:cNvSpPr/>
      </dsp:nvSpPr>
      <dsp:spPr>
        <a:xfrm rot="9163919">
          <a:off x="2767438" y="3022259"/>
          <a:ext cx="838653" cy="21670"/>
        </a:xfrm>
        <a:custGeom>
          <a:avLst/>
          <a:gdLst/>
          <a:ahLst/>
          <a:cxnLst/>
          <a:rect l="0" t="0" r="0" b="0"/>
          <a:pathLst>
            <a:path>
              <a:moveTo>
                <a:pt x="0" y="10835"/>
              </a:moveTo>
              <a:lnTo>
                <a:pt x="838653"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noProof="0"/>
        </a:p>
      </dsp:txBody>
      <dsp:txXfrm rot="10800000">
        <a:off x="3165799" y="3012128"/>
        <a:ext cx="41932" cy="41932"/>
      </dsp:txXfrm>
    </dsp:sp>
    <dsp:sp modelId="{37DCECD3-C06D-4900-99F3-94EC698F046E}">
      <dsp:nvSpPr>
        <dsp:cNvPr id="0" name=""/>
        <dsp:cNvSpPr/>
      </dsp:nvSpPr>
      <dsp:spPr>
        <a:xfrm>
          <a:off x="1692041" y="2903352"/>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a:t>Data Cleaning</a:t>
          </a:r>
        </a:p>
      </dsp:txBody>
      <dsp:txXfrm>
        <a:off x="1866020" y="3077331"/>
        <a:ext cx="840046" cy="840046"/>
      </dsp:txXfrm>
    </dsp:sp>
    <dsp:sp modelId="{BCD7401E-6AA9-4BCA-89B4-37EE3A8D1661}">
      <dsp:nvSpPr>
        <dsp:cNvPr id="0" name=""/>
        <dsp:cNvSpPr/>
      </dsp:nvSpPr>
      <dsp:spPr>
        <a:xfrm rot="10800019">
          <a:off x="1572915" y="2442535"/>
          <a:ext cx="1892564" cy="21670"/>
        </a:xfrm>
        <a:custGeom>
          <a:avLst/>
          <a:gdLst/>
          <a:ahLst/>
          <a:cxnLst/>
          <a:rect l="0" t="0" r="0" b="0"/>
          <a:pathLst>
            <a:path>
              <a:moveTo>
                <a:pt x="0" y="10835"/>
              </a:moveTo>
              <a:lnTo>
                <a:pt x="1892564"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noProof="0"/>
        </a:p>
      </dsp:txBody>
      <dsp:txXfrm rot="10800000">
        <a:off x="2471883" y="2406056"/>
        <a:ext cx="94628" cy="94628"/>
      </dsp:txXfrm>
    </dsp:sp>
    <dsp:sp modelId="{D9D07CB2-A70A-4B03-AFB8-E3CB07E4F5EA}">
      <dsp:nvSpPr>
        <dsp:cNvPr id="0" name=""/>
        <dsp:cNvSpPr/>
      </dsp:nvSpPr>
      <dsp:spPr>
        <a:xfrm>
          <a:off x="384910" y="1859359"/>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a:t>Conducting convention. Statistic</a:t>
          </a:r>
        </a:p>
      </dsp:txBody>
      <dsp:txXfrm>
        <a:off x="558889" y="2033338"/>
        <a:ext cx="840046" cy="840046"/>
      </dsp:txXfrm>
    </dsp:sp>
    <dsp:sp modelId="{CC38EB27-5DF5-4AC1-A57A-7989E78A6E5B}">
      <dsp:nvSpPr>
        <dsp:cNvPr id="0" name=""/>
        <dsp:cNvSpPr/>
      </dsp:nvSpPr>
      <dsp:spPr>
        <a:xfrm rot="12571808">
          <a:off x="2667815" y="1786371"/>
          <a:ext cx="970605" cy="21670"/>
        </a:xfrm>
        <a:custGeom>
          <a:avLst/>
          <a:gdLst/>
          <a:ahLst/>
          <a:cxnLst/>
          <a:rect l="0" t="0" r="0" b="0"/>
          <a:pathLst>
            <a:path>
              <a:moveTo>
                <a:pt x="0" y="10835"/>
              </a:moveTo>
              <a:lnTo>
                <a:pt x="970605" y="10835"/>
              </a:lnTo>
            </a:path>
          </a:pathLst>
        </a:custGeom>
        <a:noFill/>
        <a:ln w="25400" cap="flat" cmpd="sng" algn="ctr">
          <a:solidFill>
            <a:schemeClr val="accent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noProof="0"/>
        </a:p>
      </dsp:txBody>
      <dsp:txXfrm rot="10800000">
        <a:off x="3128853" y="1772940"/>
        <a:ext cx="48530" cy="48530"/>
      </dsp:txXfrm>
    </dsp:sp>
    <dsp:sp modelId="{94BA7757-4AB0-4C5C-A05B-B37C0C7E28CE}">
      <dsp:nvSpPr>
        <dsp:cNvPr id="0" name=""/>
        <dsp:cNvSpPr/>
      </dsp:nvSpPr>
      <dsp:spPr>
        <a:xfrm>
          <a:off x="1620016" y="671234"/>
          <a:ext cx="1188004" cy="1188004"/>
        </a:xfrm>
        <a:prstGeom prst="ellipse">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7620" tIns="7620" rIns="7620" bIns="7620" numCol="1" spcCol="1270" anchor="ctr" anchorCtr="0">
          <a:noAutofit/>
        </a:bodyPr>
        <a:lstStyle/>
        <a:p>
          <a:pPr marL="0" lvl="0" indent="0" algn="ctr" defTabSz="533400">
            <a:lnSpc>
              <a:spcPct val="90000"/>
            </a:lnSpc>
            <a:spcBef>
              <a:spcPct val="0"/>
            </a:spcBef>
            <a:spcAft>
              <a:spcPct val="35000"/>
            </a:spcAft>
            <a:buNone/>
          </a:pPr>
          <a:r>
            <a:rPr lang="en-US" sz="1200" kern="1200" noProof="0"/>
            <a:t>Running + interpreting ML</a:t>
          </a:r>
        </a:p>
      </dsp:txBody>
      <dsp:txXfrm>
        <a:off x="1793995" y="845213"/>
        <a:ext cx="840046" cy="840046"/>
      </dsp:txXfrm>
    </dsp:sp>
  </dsp:spTree>
</dsp:drawing>
</file>

<file path=ppt/diagrams/layout1.xml><?xml version="1.0" encoding="utf-8"?>
<dgm:layoutDef xmlns:dgm="http://schemas.openxmlformats.org/drawingml/2006/diagram" xmlns:a="http://schemas.openxmlformats.org/drawingml/2006/main" uniqueId="urn:microsoft.com/office/officeart/2005/8/layout/radial1">
  <dgm:title val=""/>
  <dgm:desc val=""/>
  <dgm:catLst>
    <dgm:cat type="relationship" pri="22000"/>
    <dgm:cat type="cycle" pri="10000"/>
  </dgm:catLst>
  <dgm:sampData>
    <dgm:dataModel>
      <dgm:ptLst>
        <dgm:pt modelId="0" type="doc"/>
        <dgm:pt modelId="1">
          <dgm:prSet phldr="1"/>
        </dgm:pt>
        <dgm:pt modelId="11">
          <dgm:prSet phldr="1"/>
        </dgm:pt>
        <dgm:pt modelId="12">
          <dgm:prSet phldr="1"/>
        </dgm:pt>
        <dgm:pt modelId="13">
          <dgm:prSet phldr="1"/>
        </dgm:pt>
        <dgm:pt modelId="14">
          <dgm:prSet phldr="1"/>
        </dgm:pt>
      </dgm:ptLst>
      <dgm:cxnLst>
        <dgm:cxn modelId="2" srcId="0" destId="1" srcOrd="0" destOrd="0"/>
        <dgm:cxn modelId="3" srcId="1" destId="11" srcOrd="0" destOrd="0"/>
        <dgm:cxn modelId="4" srcId="1" destId="12" srcOrd="1" destOrd="0"/>
        <dgm:cxn modelId="5" srcId="1" destId="13" srcOrd="2" destOrd="0"/>
        <dgm:cxn modelId="6" srcId="1" destId="14" srcOrd="3" destOrd="0"/>
      </dgm:cxnLst>
      <dgm:bg/>
      <dgm:whole/>
    </dgm:dataModel>
  </dgm:sampData>
  <dgm:styleData>
    <dgm:dataModel>
      <dgm:ptLst>
        <dgm:pt modelId="0" type="doc"/>
        <dgm:pt modelId="1"/>
        <dgm:pt modelId="11"/>
        <dgm:pt modelId="12"/>
        <dgm:pt modelId="13"/>
      </dgm:ptLst>
      <dgm:cxnLst>
        <dgm:cxn modelId="2" srcId="0" destId="1" srcOrd="0" destOrd="0"/>
        <dgm:cxn modelId="15" srcId="1" destId="11" srcOrd="0" destOrd="0"/>
        <dgm:cxn modelId="16" srcId="1" destId="12" srcOrd="1" destOrd="0"/>
        <dgm:cxn modelId="17" srcId="1" destId="13" srcOrd="2" destOrd="0"/>
      </dgm:cxnLst>
      <dgm:bg/>
      <dgm:whole/>
    </dgm:dataModel>
  </dgm:styleData>
  <dgm:clrData>
    <dgm:dataModel>
      <dgm:ptLst>
        <dgm:pt modelId="0" type="doc"/>
        <dgm:pt modelId="1"/>
        <dgm:pt modelId="11"/>
        <dgm:pt modelId="12"/>
        <dgm:pt modelId="13"/>
        <dgm:pt modelId="14"/>
        <dgm:pt modelId="15"/>
        <dgm:pt modelId="16"/>
      </dgm:ptLst>
      <dgm:cxnLst>
        <dgm:cxn modelId="2" srcId="0" destId="1" srcOrd="0" destOrd="0"/>
        <dgm:cxn modelId="16" srcId="1" destId="11" srcOrd="0" destOrd="0"/>
        <dgm:cxn modelId="17" srcId="1" destId="12" srcOrd="1" destOrd="0"/>
        <dgm:cxn modelId="18" srcId="1" destId="13" srcOrd="2" destOrd="0"/>
        <dgm:cxn modelId="19" srcId="1" destId="14" srcOrd="3" destOrd="0"/>
        <dgm:cxn modelId="20" srcId="1" destId="15" srcOrd="4" destOrd="0"/>
        <dgm:cxn modelId="21" srcId="1" destId="16" srcOrd="5" destOrd="0"/>
      </dgm:cxnLst>
      <dgm:bg/>
      <dgm:whole/>
    </dgm:dataModel>
  </dgm:clrData>
  <dgm:layoutNode name="cycle">
    <dgm:varLst>
      <dgm:chMax val="1"/>
      <dgm:dir/>
      <dgm:animLvl val="ctr"/>
      <dgm:resizeHandles val="exact"/>
    </dgm:varLst>
    <dgm:choose name="Name0">
      <dgm:if name="Name1" func="var" arg="dir" op="equ" val="norm">
        <dgm:choose name="Name2">
          <dgm:if name="Name3" axis="ch ch" ptType="node node" st="1 1" cnt="1 0" func="cnt" op="lte" val="1">
            <dgm:alg type="cycle">
              <dgm:param type="stAng" val="90"/>
              <dgm:param type="spanAng" val="360"/>
              <dgm:param type="ctrShpMap" val="fNode"/>
            </dgm:alg>
          </dgm:if>
          <dgm:else name="Name4">
            <dgm:alg type="cycle">
              <dgm:param type="stAng" val="0"/>
              <dgm:param type="spanAng" val="360"/>
              <dgm:param type="ctrShpMap" val="fNode"/>
            </dgm:alg>
          </dgm:else>
        </dgm:choose>
      </dgm:if>
      <dgm:else name="Name5">
        <dgm:alg type="cycle">
          <dgm:param type="stAng" val="0"/>
          <dgm:param type="spanAng" val="-360"/>
          <dgm:param type="ctrShpMap" val="fNode"/>
        </dgm:alg>
      </dgm:else>
    </dgm:choose>
    <dgm:shape xmlns:r="http://schemas.openxmlformats.org/officeDocument/2006/relationships" r:blip="">
      <dgm:adjLst/>
    </dgm:shape>
    <dgm:presOf/>
    <dgm:constrLst>
      <dgm:constr type="w" for="ch" forName="centerShape" refType="w"/>
      <dgm:constr type="w" for="ch" forName="node" refType="w" refFor="ch" refForName="centerShape" op="equ"/>
      <dgm:constr type="sp" refType="w" refFor="ch" refForName="node" fact="0.3"/>
      <dgm:constr type="sibSp" refType="w" refFor="ch" refForName="node" fact="0.3"/>
      <dgm:constr type="primFontSz" for="ch" forName="centerShape" val="65"/>
      <dgm:constr type="primFontSz" for="des" forName="node" op="equ" val="65"/>
      <dgm:constr type="primFontSz" for="des" forName="connTx" val="55"/>
      <dgm:constr type="primFontSz" for="des" forName="connTx" refType="primFontSz" refFor="ch" refForName="centerShape" op="lte" fact="0.8"/>
    </dgm:constrLst>
    <dgm:ruleLst/>
    <dgm:forEach name="Name6" axis="ch" ptType="node" cnt="1">
      <dgm:layoutNode name="centerShape" styleLbl="node0">
        <dgm:alg type="tx"/>
        <dgm:shape xmlns:r="http://schemas.openxmlformats.org/officeDocument/2006/relationships" type="ellipse" r:blip="">
          <dgm:adjLst/>
        </dgm:shape>
        <dgm:presOf axis="self"/>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name="Name7" axis="ch">
        <dgm:forEach name="Name8" axis="self" ptType="parTrans">
          <dgm:layoutNode name="Name9">
            <dgm:alg type="conn">
              <dgm:param type="dim" val="1D"/>
              <dgm:param type="begPts" val="auto"/>
              <dgm:param type="endPts" val="auto"/>
              <dgm:param type="begSty" val="noArr"/>
              <dgm:param type="endSty" val="noArr"/>
            </dgm:alg>
            <dgm:shape xmlns:r="http://schemas.openxmlformats.org/officeDocument/2006/relationships" type="conn" r:blip="">
              <dgm:adjLst/>
            </dgm:shape>
            <dgm:presOf axis="self"/>
            <dgm:constrLst>
              <dgm:constr type="connDist"/>
              <dgm:constr type="userA" for="ch" refType="connDist"/>
              <dgm:constr type="w" val="1"/>
              <dgm:constr type="h" val="5"/>
              <dgm:constr type="begPad"/>
              <dgm:constr type="endPad"/>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w" val="NaN" fact="0.8" max="NaN"/>
                <dgm:rule type="h" val="NaN" fact="1" max="NaN"/>
                <dgm:rule type="primFontSz" val="5" fact="NaN" max="NaN"/>
              </dgm:ruleLst>
            </dgm:layoutNode>
          </dgm:layoutNode>
        </dgm:forEach>
        <dgm:forEach name="Name10" axis="self" ptType="node">
          <dgm:layoutNode name="node" styleLbl="node1">
            <dgm:varLst>
              <dgm:bulletEnabled val="1"/>
            </dgm:varLst>
            <dgm:alg type="tx">
              <dgm:param type="txAnchorVertCh" val="mid"/>
            </dgm:alg>
            <dgm:shape xmlns:r="http://schemas.openxmlformats.org/officeDocument/2006/relationships" type="ellipse" r:blip="">
              <dgm:adjLst/>
            </dgm:shape>
            <dgm:presOf axis="desOrSelf" ptType="node"/>
            <dgm:constrLst>
              <dgm:constr type="h" refType="w"/>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forEach>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55302" name="Rectangle 6"/>
          <p:cNvSpPr>
            <a:spLocks noChangeArrowheads="1"/>
          </p:cNvSpPr>
          <p:nvPr/>
        </p:nvSpPr>
        <p:spPr bwMode="auto">
          <a:xfrm>
            <a:off x="0" y="0"/>
            <a:ext cx="6797675" cy="677481"/>
          </a:xfrm>
          <a:prstGeom prst="rect">
            <a:avLst/>
          </a:prstGeom>
          <a:solidFill>
            <a:srgbClr val="879BAA"/>
          </a:solidFill>
          <a:ln w="9525" algn="ctr">
            <a:noFill/>
            <a:miter lim="800000"/>
            <a:headEnd/>
            <a:tailEnd/>
          </a:ln>
          <a:effectLst/>
        </p:spPr>
        <p:txBody>
          <a:bodyPr wrap="none" lIns="87947" tIns="43973" rIns="87947" bIns="43973" anchor="ctr"/>
          <a:lstStyle/>
          <a:p>
            <a:endParaRPr lang="de-DE"/>
          </a:p>
        </p:txBody>
      </p:sp>
      <p:sp>
        <p:nvSpPr>
          <p:cNvPr id="173058" name="Rectangle 2"/>
          <p:cNvSpPr>
            <a:spLocks noGrp="1" noChangeArrowheads="1"/>
          </p:cNvSpPr>
          <p:nvPr>
            <p:ph type="hdr" sz="quarter"/>
          </p:nvPr>
        </p:nvSpPr>
        <p:spPr bwMode="auto">
          <a:xfrm>
            <a:off x="1" y="0"/>
            <a:ext cx="3111548" cy="535826"/>
          </a:xfrm>
          <a:prstGeom prst="rect">
            <a:avLst/>
          </a:prstGeom>
          <a:noFill/>
          <a:ln w="9525">
            <a:noFill/>
            <a:miter lim="800000"/>
            <a:headEnd/>
            <a:tailEnd/>
          </a:ln>
          <a:effectLst/>
        </p:spPr>
        <p:txBody>
          <a:bodyPr vert="horz" wrap="square" lIns="142875" tIns="142875" rIns="142875" bIns="142875" numCol="1" anchor="t" anchorCtr="0" compatLnSpc="1">
            <a:prstTxWarp prst="textNoShape">
              <a:avLst/>
            </a:prstTxWarp>
          </a:bodyPr>
          <a:lstStyle>
            <a:lvl1pPr defTabSz="906953">
              <a:spcBef>
                <a:spcPct val="0"/>
              </a:spcBef>
              <a:defRPr sz="1200">
                <a:solidFill>
                  <a:schemeClr val="bg1"/>
                </a:solidFill>
                <a:latin typeface="Siemens Sans" pitchFamily="2" charset="0"/>
              </a:defRPr>
            </a:lvl1pPr>
          </a:lstStyle>
          <a:p>
            <a:endParaRPr lang="en-US">
              <a:latin typeface="Arial" pitchFamily="34" charset="0"/>
            </a:endParaRPr>
          </a:p>
        </p:txBody>
      </p:sp>
      <p:sp>
        <p:nvSpPr>
          <p:cNvPr id="173059" name="Rectangle 3"/>
          <p:cNvSpPr>
            <a:spLocks noGrp="1" noChangeArrowheads="1"/>
          </p:cNvSpPr>
          <p:nvPr>
            <p:ph type="dt" sz="quarter" idx="1"/>
          </p:nvPr>
        </p:nvSpPr>
        <p:spPr bwMode="auto">
          <a:xfrm>
            <a:off x="3686131" y="0"/>
            <a:ext cx="3111547" cy="535826"/>
          </a:xfrm>
          <a:prstGeom prst="rect">
            <a:avLst/>
          </a:prstGeom>
          <a:noFill/>
          <a:ln w="9525">
            <a:noFill/>
            <a:miter lim="800000"/>
            <a:headEnd/>
            <a:tailEnd/>
          </a:ln>
          <a:effectLst/>
        </p:spPr>
        <p:txBody>
          <a:bodyPr vert="horz" wrap="square" lIns="142875" tIns="142875" rIns="142875" bIns="142875" numCol="1" anchor="t" anchorCtr="0" compatLnSpc="1">
            <a:prstTxWarp prst="textNoShape">
              <a:avLst/>
            </a:prstTxWarp>
          </a:bodyPr>
          <a:lstStyle>
            <a:lvl1pPr algn="r" defTabSz="906953">
              <a:spcBef>
                <a:spcPct val="0"/>
              </a:spcBef>
              <a:defRPr sz="1200">
                <a:solidFill>
                  <a:schemeClr val="bg1"/>
                </a:solidFill>
                <a:latin typeface="Siemens Sans" pitchFamily="2" charset="0"/>
              </a:defRPr>
            </a:lvl1pPr>
          </a:lstStyle>
          <a:p>
            <a:endParaRPr lang="en-US">
              <a:latin typeface="Arial" pitchFamily="34" charset="0"/>
            </a:endParaRPr>
          </a:p>
        </p:txBody>
      </p:sp>
      <p:sp>
        <p:nvSpPr>
          <p:cNvPr id="173060" name="Rectangle 4"/>
          <p:cNvSpPr>
            <a:spLocks noGrp="1" noChangeArrowheads="1"/>
          </p:cNvSpPr>
          <p:nvPr>
            <p:ph type="ftr" sz="quarter" idx="2"/>
          </p:nvPr>
        </p:nvSpPr>
        <p:spPr bwMode="auto">
          <a:xfrm>
            <a:off x="1" y="9390812"/>
            <a:ext cx="3111548" cy="535826"/>
          </a:xfrm>
          <a:prstGeom prst="rect">
            <a:avLst/>
          </a:prstGeom>
          <a:noFill/>
          <a:ln w="9525">
            <a:noFill/>
            <a:miter lim="800000"/>
            <a:headEnd/>
            <a:tailEnd/>
          </a:ln>
          <a:effectLst/>
        </p:spPr>
        <p:txBody>
          <a:bodyPr vert="horz" wrap="square" lIns="142875" tIns="142875" rIns="142875" bIns="142875" numCol="1" anchor="b" anchorCtr="0" compatLnSpc="1">
            <a:prstTxWarp prst="textNoShape">
              <a:avLst/>
            </a:prstTxWarp>
          </a:bodyPr>
          <a:lstStyle>
            <a:lvl1pPr defTabSz="906953">
              <a:spcBef>
                <a:spcPct val="0"/>
              </a:spcBef>
              <a:defRPr sz="1200">
                <a:solidFill>
                  <a:schemeClr val="tx1"/>
                </a:solidFill>
                <a:latin typeface="Siemens Sans" pitchFamily="2" charset="0"/>
              </a:defRPr>
            </a:lvl1pPr>
          </a:lstStyle>
          <a:p>
            <a:endParaRPr lang="en-US">
              <a:latin typeface="Arial" pitchFamily="34" charset="0"/>
            </a:endParaRPr>
          </a:p>
        </p:txBody>
      </p:sp>
      <p:sp>
        <p:nvSpPr>
          <p:cNvPr id="173061" name="Rectangle 5"/>
          <p:cNvSpPr>
            <a:spLocks noGrp="1" noChangeArrowheads="1"/>
          </p:cNvSpPr>
          <p:nvPr>
            <p:ph type="sldNum" sz="quarter" idx="3"/>
          </p:nvPr>
        </p:nvSpPr>
        <p:spPr bwMode="auto">
          <a:xfrm>
            <a:off x="3686131" y="9390812"/>
            <a:ext cx="3111547" cy="535826"/>
          </a:xfrm>
          <a:prstGeom prst="rect">
            <a:avLst/>
          </a:prstGeom>
          <a:noFill/>
          <a:ln w="9525">
            <a:noFill/>
            <a:miter lim="800000"/>
            <a:headEnd/>
            <a:tailEnd/>
          </a:ln>
          <a:effectLst/>
        </p:spPr>
        <p:txBody>
          <a:bodyPr vert="horz" wrap="square" lIns="142875" tIns="142875" rIns="142875" bIns="142875" numCol="1" anchor="b" anchorCtr="0" compatLnSpc="1">
            <a:prstTxWarp prst="textNoShape">
              <a:avLst/>
            </a:prstTxWarp>
          </a:bodyPr>
          <a:lstStyle>
            <a:lvl1pPr algn="r" defTabSz="906953">
              <a:spcBef>
                <a:spcPct val="0"/>
              </a:spcBef>
              <a:defRPr sz="1200">
                <a:solidFill>
                  <a:schemeClr val="tx1"/>
                </a:solidFill>
                <a:latin typeface="Siemens Sans" pitchFamily="2" charset="0"/>
              </a:defRPr>
            </a:lvl1pPr>
          </a:lstStyle>
          <a:p>
            <a:r>
              <a:rPr lang="de-DE">
                <a:latin typeface="Arial" pitchFamily="34" charset="0"/>
              </a:rPr>
              <a:t>Handout </a:t>
            </a:r>
            <a:fld id="{BFC713D8-7968-482B-A79F-9C586FE5053A}" type="slidenum">
              <a:rPr lang="de-DE" smtClean="0">
                <a:latin typeface="Arial" pitchFamily="34" charset="0"/>
              </a:rPr>
              <a:pPr/>
              <a:t>‹Nr.›</a:t>
            </a:fld>
            <a:endParaRPr lang="de-DE">
              <a:latin typeface="Arial" pitchFamily="34" charset="0"/>
            </a:endParaRPr>
          </a:p>
        </p:txBody>
      </p:sp>
    </p:spTree>
    <p:extLst>
      <p:ext uri="{BB962C8B-B14F-4D97-AF65-F5344CB8AC3E}">
        <p14:creationId xmlns:p14="http://schemas.microsoft.com/office/powerpoint/2010/main" val="23231723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7826" name="Rectangle 2"/>
          <p:cNvSpPr>
            <a:spLocks noGrp="1" noChangeArrowheads="1"/>
          </p:cNvSpPr>
          <p:nvPr>
            <p:ph type="hdr" sz="quarter"/>
          </p:nvPr>
        </p:nvSpPr>
        <p:spPr bwMode="auto">
          <a:xfrm>
            <a:off x="1" y="0"/>
            <a:ext cx="3111548" cy="535826"/>
          </a:xfrm>
          <a:prstGeom prst="rect">
            <a:avLst/>
          </a:prstGeom>
          <a:noFill/>
          <a:ln w="9525">
            <a:noFill/>
            <a:miter lim="800000"/>
            <a:headEnd/>
            <a:tailEnd/>
          </a:ln>
          <a:effectLst/>
        </p:spPr>
        <p:txBody>
          <a:bodyPr vert="horz" wrap="square" lIns="142875" tIns="142875" rIns="142875" bIns="142875" numCol="1" anchor="t" anchorCtr="0" compatLnSpc="1">
            <a:prstTxWarp prst="textNoShape">
              <a:avLst/>
            </a:prstTxWarp>
          </a:bodyPr>
          <a:lstStyle>
            <a:lvl1pPr defTabSz="906953">
              <a:spcBef>
                <a:spcPct val="0"/>
              </a:spcBef>
              <a:defRPr sz="1200">
                <a:solidFill>
                  <a:schemeClr val="tx1"/>
                </a:solidFill>
                <a:latin typeface="Arial" pitchFamily="34" charset="0"/>
              </a:defRPr>
            </a:lvl1pPr>
          </a:lstStyle>
          <a:p>
            <a:endParaRPr lang="en-US"/>
          </a:p>
        </p:txBody>
      </p:sp>
      <p:sp>
        <p:nvSpPr>
          <p:cNvPr id="77827" name="Rectangle 3"/>
          <p:cNvSpPr>
            <a:spLocks noGrp="1" noChangeArrowheads="1"/>
          </p:cNvSpPr>
          <p:nvPr>
            <p:ph type="dt" idx="1"/>
          </p:nvPr>
        </p:nvSpPr>
        <p:spPr bwMode="auto">
          <a:xfrm>
            <a:off x="3686128" y="0"/>
            <a:ext cx="3110028" cy="535826"/>
          </a:xfrm>
          <a:prstGeom prst="rect">
            <a:avLst/>
          </a:prstGeom>
          <a:noFill/>
          <a:ln w="9525">
            <a:noFill/>
            <a:miter lim="800000"/>
            <a:headEnd/>
            <a:tailEnd/>
          </a:ln>
          <a:effectLst/>
        </p:spPr>
        <p:txBody>
          <a:bodyPr vert="horz" wrap="square" lIns="142875" tIns="142875" rIns="142875" bIns="142875" numCol="1" anchor="t" anchorCtr="0" compatLnSpc="1">
            <a:prstTxWarp prst="textNoShape">
              <a:avLst/>
            </a:prstTxWarp>
          </a:bodyPr>
          <a:lstStyle>
            <a:lvl1pPr algn="r" defTabSz="906953">
              <a:spcBef>
                <a:spcPct val="0"/>
              </a:spcBef>
              <a:defRPr sz="1200">
                <a:solidFill>
                  <a:schemeClr val="tx1"/>
                </a:solidFill>
                <a:latin typeface="Arial" pitchFamily="34" charset="0"/>
              </a:defRPr>
            </a:lvl1pPr>
          </a:lstStyle>
          <a:p>
            <a:endParaRPr lang="en-US"/>
          </a:p>
        </p:txBody>
      </p:sp>
      <p:sp>
        <p:nvSpPr>
          <p:cNvPr id="77828" name="Rectangle 4"/>
          <p:cNvSpPr>
            <a:spLocks noGrp="1" noRot="1" noChangeAspect="1" noChangeArrowheads="1" noTextEdit="1"/>
          </p:cNvSpPr>
          <p:nvPr>
            <p:ph type="sldImg" idx="2"/>
          </p:nvPr>
        </p:nvSpPr>
        <p:spPr bwMode="auto">
          <a:xfrm>
            <a:off x="88900" y="744538"/>
            <a:ext cx="6621463" cy="3722687"/>
          </a:xfrm>
          <a:prstGeom prst="rect">
            <a:avLst/>
          </a:prstGeom>
          <a:noFill/>
          <a:ln w="9525">
            <a:solidFill>
              <a:srgbClr val="000000"/>
            </a:solidFill>
            <a:miter lim="800000"/>
            <a:headEnd/>
            <a:tailEnd/>
          </a:ln>
          <a:effectLst/>
          <a:extLs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 uri="{53640926-AAD7-44D8-BBD7-CCE9431645EC}">
              <a14:shadowObscured xmlns:a14="http://schemas.microsoft.com/office/drawing/2010/main" val="1"/>
            </a:ext>
          </a:extLst>
        </p:spPr>
      </p:sp>
      <p:sp>
        <p:nvSpPr>
          <p:cNvPr id="77829" name="Rectangle 5"/>
          <p:cNvSpPr>
            <a:spLocks noGrp="1" noChangeArrowheads="1"/>
          </p:cNvSpPr>
          <p:nvPr>
            <p:ph type="body" sz="quarter" idx="3"/>
          </p:nvPr>
        </p:nvSpPr>
        <p:spPr bwMode="auto">
          <a:xfrm>
            <a:off x="228008" y="4677699"/>
            <a:ext cx="6341659" cy="4428262"/>
          </a:xfrm>
          <a:prstGeom prst="rect">
            <a:avLst/>
          </a:prstGeom>
          <a:noFill/>
          <a:ln w="9525">
            <a:noFill/>
            <a:miter lim="800000"/>
            <a:headEnd/>
            <a:tailEnd/>
          </a:ln>
          <a:effectLst/>
        </p:spPr>
        <p:txBody>
          <a:bodyPr vert="horz" wrap="square" lIns="0" tIns="0" rIns="0" bIns="0" numCol="1" anchor="t" anchorCtr="0" compatLnSpc="1">
            <a:prstTxWarp prst="textNoShape">
              <a:avLst/>
            </a:prstTxWarp>
          </a:bodyPr>
          <a:lstStyle/>
          <a:p>
            <a:pPr lvl="0"/>
            <a:r>
              <a:rPr lang="de-DE"/>
              <a:t>Textmasterformate durch Klicken bearbeiten</a:t>
            </a:r>
          </a:p>
          <a:p>
            <a:pPr lvl="1"/>
            <a:r>
              <a:rPr lang="de-DE"/>
              <a:t>Zweite Ebene</a:t>
            </a:r>
          </a:p>
          <a:p>
            <a:pPr lvl="2"/>
            <a:r>
              <a:rPr lang="de-DE"/>
              <a:t>Dritte Ebene</a:t>
            </a:r>
          </a:p>
          <a:p>
            <a:pPr lvl="3"/>
            <a:r>
              <a:rPr lang="de-DE"/>
              <a:t>Vierte Ebene</a:t>
            </a:r>
          </a:p>
          <a:p>
            <a:pPr lvl="4"/>
            <a:r>
              <a:rPr lang="de-DE"/>
              <a:t>Fünfte Ebene</a:t>
            </a:r>
          </a:p>
        </p:txBody>
      </p:sp>
      <p:sp>
        <p:nvSpPr>
          <p:cNvPr id="77830" name="Rectangle 6"/>
          <p:cNvSpPr>
            <a:spLocks noGrp="1" noChangeArrowheads="1"/>
          </p:cNvSpPr>
          <p:nvPr>
            <p:ph type="ftr" sz="quarter" idx="4"/>
          </p:nvPr>
        </p:nvSpPr>
        <p:spPr bwMode="auto">
          <a:xfrm>
            <a:off x="1" y="9390812"/>
            <a:ext cx="3111548" cy="534286"/>
          </a:xfrm>
          <a:prstGeom prst="rect">
            <a:avLst/>
          </a:prstGeom>
          <a:noFill/>
          <a:ln w="9525">
            <a:noFill/>
            <a:miter lim="800000"/>
            <a:headEnd/>
            <a:tailEnd/>
          </a:ln>
          <a:effectLst/>
        </p:spPr>
        <p:txBody>
          <a:bodyPr vert="horz" wrap="square" lIns="142875" tIns="142875" rIns="142875" bIns="142875" numCol="1" anchor="b" anchorCtr="0" compatLnSpc="1">
            <a:prstTxWarp prst="textNoShape">
              <a:avLst/>
            </a:prstTxWarp>
          </a:bodyPr>
          <a:lstStyle>
            <a:lvl1pPr defTabSz="906953">
              <a:spcBef>
                <a:spcPct val="0"/>
              </a:spcBef>
              <a:defRPr sz="1200">
                <a:solidFill>
                  <a:schemeClr val="tx1"/>
                </a:solidFill>
                <a:latin typeface="Arial" pitchFamily="34" charset="0"/>
              </a:defRPr>
            </a:lvl1pPr>
          </a:lstStyle>
          <a:p>
            <a:endParaRPr lang="en-US"/>
          </a:p>
        </p:txBody>
      </p:sp>
      <p:sp>
        <p:nvSpPr>
          <p:cNvPr id="77831" name="Rectangle 7"/>
          <p:cNvSpPr>
            <a:spLocks noGrp="1" noChangeArrowheads="1"/>
          </p:cNvSpPr>
          <p:nvPr>
            <p:ph type="sldNum" sz="quarter" idx="5"/>
          </p:nvPr>
        </p:nvSpPr>
        <p:spPr bwMode="auto">
          <a:xfrm>
            <a:off x="3686128" y="9390812"/>
            <a:ext cx="3110028" cy="534286"/>
          </a:xfrm>
          <a:prstGeom prst="rect">
            <a:avLst/>
          </a:prstGeom>
          <a:noFill/>
          <a:ln w="9525">
            <a:noFill/>
            <a:miter lim="800000"/>
            <a:headEnd/>
            <a:tailEnd/>
          </a:ln>
          <a:effectLst/>
        </p:spPr>
        <p:txBody>
          <a:bodyPr vert="horz" wrap="square" lIns="142875" tIns="142875" rIns="142875" bIns="142875" numCol="1" anchor="b" anchorCtr="0" compatLnSpc="1">
            <a:prstTxWarp prst="textNoShape">
              <a:avLst/>
            </a:prstTxWarp>
          </a:bodyPr>
          <a:lstStyle>
            <a:lvl1pPr algn="r" defTabSz="906953">
              <a:spcBef>
                <a:spcPct val="0"/>
              </a:spcBef>
              <a:defRPr sz="1200">
                <a:solidFill>
                  <a:schemeClr val="tx1"/>
                </a:solidFill>
                <a:latin typeface="Siemens Sans" pitchFamily="2" charset="0"/>
              </a:defRPr>
            </a:lvl1pPr>
          </a:lstStyle>
          <a:p>
            <a:r>
              <a:rPr lang="de-DE">
                <a:latin typeface="Arial" pitchFamily="34" charset="0"/>
              </a:rPr>
              <a:t>Notes </a:t>
            </a:r>
            <a:fld id="{AD141568-5488-4AC9-B82D-9F5CE1225E2A}" type="slidenum">
              <a:rPr lang="de-DE" smtClean="0">
                <a:latin typeface="Arial" pitchFamily="34" charset="0"/>
              </a:rPr>
              <a:pPr/>
              <a:t>‹Nr.›</a:t>
            </a:fld>
            <a:endParaRPr lang="de-DE">
              <a:latin typeface="Arial" pitchFamily="34" charset="0"/>
            </a:endParaRPr>
          </a:p>
        </p:txBody>
      </p:sp>
    </p:spTree>
    <p:extLst>
      <p:ext uri="{BB962C8B-B14F-4D97-AF65-F5344CB8AC3E}">
        <p14:creationId xmlns:p14="http://schemas.microsoft.com/office/powerpoint/2010/main" val="196387789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Arial" pitchFamily="34" charset="0"/>
        <a:ea typeface="ＭＳ Ｐゴシック"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8" Type="http://schemas.openxmlformats.org/officeDocument/2006/relationships/hyperlink" Target="https://simple.wikipedia.org/wiki/Occam%27s_razor#cite_note-Britannica-1" TargetMode="External"/><Relationship Id="rId3" Type="http://schemas.openxmlformats.org/officeDocument/2006/relationships/hyperlink" Target="https://simple.wikipedia.org/wiki/William_of_Ockham" TargetMode="External"/><Relationship Id="rId7" Type="http://schemas.openxmlformats.org/officeDocument/2006/relationships/hyperlink" Target="https://simple.wikipedia.org/wiki/14th_century" TargetMode="External"/><Relationship Id="rId2" Type="http://schemas.openxmlformats.org/officeDocument/2006/relationships/slide" Target="../slides/slide70.xml"/><Relationship Id="rId1" Type="http://schemas.openxmlformats.org/officeDocument/2006/relationships/notesMaster" Target="../notesMasters/notesMaster1.xml"/><Relationship Id="rId6" Type="http://schemas.openxmlformats.org/officeDocument/2006/relationships/hyperlink" Target="https://simple.wikipedia.org/wiki/Logic" TargetMode="External"/><Relationship Id="rId5" Type="http://schemas.openxmlformats.org/officeDocument/2006/relationships/hyperlink" Target="https://simple.wikipedia.org/wiki/Friar" TargetMode="External"/><Relationship Id="rId4" Type="http://schemas.openxmlformats.org/officeDocument/2006/relationships/hyperlink" Target="https://simple.wikipedia.org/wiki/Franciscan" TargetMode="External"/><Relationship Id="rId9" Type="http://schemas.openxmlformats.org/officeDocument/2006/relationships/hyperlink" Target="https://simple.wikipedia.org/wiki/Occam%27s_razor" TargetMode="Externa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8" Type="http://schemas.openxmlformats.org/officeDocument/2006/relationships/hyperlink" Target="https://simple.wikipedia.org/wiki/Occam%27s_razor#cite_note-Britannica-1" TargetMode="External"/><Relationship Id="rId3" Type="http://schemas.openxmlformats.org/officeDocument/2006/relationships/hyperlink" Target="https://simple.wikipedia.org/wiki/William_of_Ockham" TargetMode="External"/><Relationship Id="rId7" Type="http://schemas.openxmlformats.org/officeDocument/2006/relationships/hyperlink" Target="https://simple.wikipedia.org/wiki/14th_century" TargetMode="External"/><Relationship Id="rId2" Type="http://schemas.openxmlformats.org/officeDocument/2006/relationships/slide" Target="../slides/slide81.xml"/><Relationship Id="rId1" Type="http://schemas.openxmlformats.org/officeDocument/2006/relationships/notesMaster" Target="../notesMasters/notesMaster1.xml"/><Relationship Id="rId6" Type="http://schemas.openxmlformats.org/officeDocument/2006/relationships/hyperlink" Target="https://simple.wikipedia.org/wiki/Logic" TargetMode="External"/><Relationship Id="rId5" Type="http://schemas.openxmlformats.org/officeDocument/2006/relationships/hyperlink" Target="https://simple.wikipedia.org/wiki/Friar" TargetMode="External"/><Relationship Id="rId4" Type="http://schemas.openxmlformats.org/officeDocument/2006/relationships/hyperlink" Target="https://simple.wikipedia.org/wiki/Franciscan" TargetMode="External"/><Relationship Id="rId9" Type="http://schemas.openxmlformats.org/officeDocument/2006/relationships/hyperlink" Target="https://simple.wikipedia.org/wiki/Occam%27s_razor" TargetMode="Externa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10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10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10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1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a:t>
            </a:fld>
            <a:endParaRPr lang="de-DE">
              <a:latin typeface="Arial" pitchFamily="34" charset="0"/>
            </a:endParaRPr>
          </a:p>
        </p:txBody>
      </p:sp>
    </p:spTree>
    <p:extLst>
      <p:ext uri="{BB962C8B-B14F-4D97-AF65-F5344CB8AC3E}">
        <p14:creationId xmlns:p14="http://schemas.microsoft.com/office/powerpoint/2010/main" val="404143397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a:t>
            </a:fld>
            <a:endParaRPr lang="de-DE">
              <a:latin typeface="Arial" pitchFamily="34" charset="0"/>
            </a:endParaRPr>
          </a:p>
        </p:txBody>
      </p:sp>
    </p:spTree>
    <p:extLst>
      <p:ext uri="{BB962C8B-B14F-4D97-AF65-F5344CB8AC3E}">
        <p14:creationId xmlns:p14="http://schemas.microsoft.com/office/powerpoint/2010/main" val="402530027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50" name="Rectangle 2"/>
          <p:cNvSpPr>
            <a:spLocks noGrp="1" noRot="1" noChangeAspect="1" noChangeArrowheads="1" noTextEdit="1"/>
          </p:cNvSpPr>
          <p:nvPr>
            <p:ph type="sldImg"/>
          </p:nvPr>
        </p:nvSpPr>
        <p:spPr>
          <a:xfrm>
            <a:off x="206375" y="768350"/>
            <a:ext cx="6826250" cy="3836988"/>
          </a:xfrm>
          <a:noFill/>
        </p:spPr>
      </p:sp>
      <p:sp>
        <p:nvSpPr>
          <p:cNvPr id="181251" name="Rectangle 3"/>
          <p:cNvSpPr>
            <a:spLocks noGrp="1" noChangeArrowheads="1"/>
          </p:cNvSpPr>
          <p:nvPr>
            <p:ph type="body" idx="1"/>
          </p:nvPr>
        </p:nvSpPr>
        <p:spPr/>
        <p:txBody>
          <a:bodyPr/>
          <a:lstStyle/>
          <a:p>
            <a:endParaRPr lang="en-US"/>
          </a:p>
        </p:txBody>
      </p:sp>
    </p:spTree>
    <p:extLst>
      <p:ext uri="{BB962C8B-B14F-4D97-AF65-F5344CB8AC3E}">
        <p14:creationId xmlns:p14="http://schemas.microsoft.com/office/powerpoint/2010/main" val="386565417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19</a:t>
            </a:fld>
            <a:endParaRPr lang="de-DE">
              <a:latin typeface="Arial" pitchFamily="34" charset="0"/>
            </a:endParaRPr>
          </a:p>
        </p:txBody>
      </p:sp>
    </p:spTree>
    <p:extLst>
      <p:ext uri="{BB962C8B-B14F-4D97-AF65-F5344CB8AC3E}">
        <p14:creationId xmlns:p14="http://schemas.microsoft.com/office/powerpoint/2010/main" val="251683021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noProof="0"/>
              <a:t>In statistics normally the MSE is calculated by division with (n-p) with p - Number of x-variables in the model. In Big data analysis the -p can be neglected.</a:t>
            </a:r>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21</a:t>
            </a:fld>
            <a:endParaRPr lang="de-DE">
              <a:latin typeface="Arial" pitchFamily="34" charset="0"/>
            </a:endParaRPr>
          </a:p>
        </p:txBody>
      </p:sp>
    </p:spTree>
    <p:extLst>
      <p:ext uri="{BB962C8B-B14F-4D97-AF65-F5344CB8AC3E}">
        <p14:creationId xmlns:p14="http://schemas.microsoft.com/office/powerpoint/2010/main" val="69412582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noProof="0"/>
              <a:t>In statistics normally the MSE is calculated by division with (n-p) with p - Number of x-variables in the model. In Big data analysis the -p can be neglected.</a:t>
            </a:r>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23</a:t>
            </a:fld>
            <a:endParaRPr lang="de-DE">
              <a:latin typeface="Arial" pitchFamily="34" charset="0"/>
            </a:endParaRPr>
          </a:p>
        </p:txBody>
      </p:sp>
    </p:spTree>
    <p:extLst>
      <p:ext uri="{BB962C8B-B14F-4D97-AF65-F5344CB8AC3E}">
        <p14:creationId xmlns:p14="http://schemas.microsoft.com/office/powerpoint/2010/main" val="71224047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noProof="0"/>
              <a:t>No learning rate needed. CART select the best split, based on the highest information gain, by splitting between every value for each feature (X). If multiple splits have the same (best) information gain, the CART algo select one split randomly.</a:t>
            </a:r>
          </a:p>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27</a:t>
            </a:fld>
            <a:endParaRPr lang="de-DE">
              <a:latin typeface="Arial" pitchFamily="34" charset="0"/>
            </a:endParaRPr>
          </a:p>
        </p:txBody>
      </p:sp>
    </p:spTree>
    <p:extLst>
      <p:ext uri="{BB962C8B-B14F-4D97-AF65-F5344CB8AC3E}">
        <p14:creationId xmlns:p14="http://schemas.microsoft.com/office/powerpoint/2010/main" val="95781764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noProof="0"/>
              <a:t>No learning rate needed. CART select the best split, based on the highest information gain, by splitting between every value for each feature (X). If multiple splits have the same (best) information gain, the CART algo select one split randomly.</a:t>
            </a:r>
          </a:p>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28</a:t>
            </a:fld>
            <a:endParaRPr lang="de-DE">
              <a:latin typeface="Arial" pitchFamily="34" charset="0"/>
            </a:endParaRPr>
          </a:p>
        </p:txBody>
      </p:sp>
    </p:spTree>
    <p:extLst>
      <p:ext uri="{BB962C8B-B14F-4D97-AF65-F5344CB8AC3E}">
        <p14:creationId xmlns:p14="http://schemas.microsoft.com/office/powerpoint/2010/main" val="295886178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29</a:t>
            </a:fld>
            <a:endParaRPr lang="de-DE">
              <a:latin typeface="Arial" pitchFamily="34" charset="0"/>
            </a:endParaRPr>
          </a:p>
        </p:txBody>
      </p:sp>
    </p:spTree>
    <p:extLst>
      <p:ext uri="{BB962C8B-B14F-4D97-AF65-F5344CB8AC3E}">
        <p14:creationId xmlns:p14="http://schemas.microsoft.com/office/powerpoint/2010/main" val="422887329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30</a:t>
            </a:fld>
            <a:endParaRPr lang="de-DE">
              <a:latin typeface="Arial" pitchFamily="34" charset="0"/>
            </a:endParaRPr>
          </a:p>
        </p:txBody>
      </p:sp>
    </p:spTree>
    <p:extLst>
      <p:ext uri="{BB962C8B-B14F-4D97-AF65-F5344CB8AC3E}">
        <p14:creationId xmlns:p14="http://schemas.microsoft.com/office/powerpoint/2010/main" val="352711327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31</a:t>
            </a:fld>
            <a:endParaRPr lang="de-DE">
              <a:latin typeface="Arial" pitchFamily="34" charset="0"/>
            </a:endParaRPr>
          </a:p>
        </p:txBody>
      </p:sp>
    </p:spTree>
    <p:extLst>
      <p:ext uri="{BB962C8B-B14F-4D97-AF65-F5344CB8AC3E}">
        <p14:creationId xmlns:p14="http://schemas.microsoft.com/office/powerpoint/2010/main" val="312444819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32</a:t>
            </a:fld>
            <a:endParaRPr lang="de-DE">
              <a:latin typeface="Arial" pitchFamily="34" charset="0"/>
            </a:endParaRPr>
          </a:p>
        </p:txBody>
      </p:sp>
    </p:spTree>
    <p:extLst>
      <p:ext uri="{BB962C8B-B14F-4D97-AF65-F5344CB8AC3E}">
        <p14:creationId xmlns:p14="http://schemas.microsoft.com/office/powerpoint/2010/main" val="50558388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33</a:t>
            </a:fld>
            <a:endParaRPr lang="de-DE">
              <a:latin typeface="Arial" pitchFamily="34" charset="0"/>
            </a:endParaRPr>
          </a:p>
        </p:txBody>
      </p:sp>
    </p:spTree>
    <p:extLst>
      <p:ext uri="{BB962C8B-B14F-4D97-AF65-F5344CB8AC3E}">
        <p14:creationId xmlns:p14="http://schemas.microsoft.com/office/powerpoint/2010/main" val="24090191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34</a:t>
            </a:fld>
            <a:endParaRPr lang="de-DE">
              <a:latin typeface="Arial" pitchFamily="34" charset="0"/>
            </a:endParaRPr>
          </a:p>
        </p:txBody>
      </p:sp>
    </p:spTree>
    <p:extLst>
      <p:ext uri="{BB962C8B-B14F-4D97-AF65-F5344CB8AC3E}">
        <p14:creationId xmlns:p14="http://schemas.microsoft.com/office/powerpoint/2010/main" val="422887329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35</a:t>
            </a:fld>
            <a:endParaRPr lang="de-DE">
              <a:latin typeface="Arial" pitchFamily="34" charset="0"/>
            </a:endParaRPr>
          </a:p>
        </p:txBody>
      </p:sp>
    </p:spTree>
    <p:extLst>
      <p:ext uri="{BB962C8B-B14F-4D97-AF65-F5344CB8AC3E}">
        <p14:creationId xmlns:p14="http://schemas.microsoft.com/office/powerpoint/2010/main" val="329089800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36</a:t>
            </a:fld>
            <a:endParaRPr lang="de-DE">
              <a:latin typeface="Arial" pitchFamily="34" charset="0"/>
            </a:endParaRPr>
          </a:p>
        </p:txBody>
      </p:sp>
    </p:spTree>
    <p:extLst>
      <p:ext uri="{BB962C8B-B14F-4D97-AF65-F5344CB8AC3E}">
        <p14:creationId xmlns:p14="http://schemas.microsoft.com/office/powerpoint/2010/main" val="57658328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37</a:t>
            </a:fld>
            <a:endParaRPr lang="de-DE">
              <a:latin typeface="Arial" pitchFamily="34" charset="0"/>
            </a:endParaRPr>
          </a:p>
        </p:txBody>
      </p:sp>
    </p:spTree>
    <p:extLst>
      <p:ext uri="{BB962C8B-B14F-4D97-AF65-F5344CB8AC3E}">
        <p14:creationId xmlns:p14="http://schemas.microsoft.com/office/powerpoint/2010/main" val="294766851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38</a:t>
            </a:fld>
            <a:endParaRPr lang="de-DE">
              <a:latin typeface="Arial" pitchFamily="34" charset="0"/>
            </a:endParaRPr>
          </a:p>
        </p:txBody>
      </p:sp>
    </p:spTree>
    <p:extLst>
      <p:ext uri="{BB962C8B-B14F-4D97-AF65-F5344CB8AC3E}">
        <p14:creationId xmlns:p14="http://schemas.microsoft.com/office/powerpoint/2010/main" val="15968220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39</a:t>
            </a:fld>
            <a:endParaRPr lang="de-DE">
              <a:latin typeface="Arial" pitchFamily="34" charset="0"/>
            </a:endParaRPr>
          </a:p>
        </p:txBody>
      </p:sp>
    </p:spTree>
    <p:extLst>
      <p:ext uri="{BB962C8B-B14F-4D97-AF65-F5344CB8AC3E}">
        <p14:creationId xmlns:p14="http://schemas.microsoft.com/office/powerpoint/2010/main" val="204947570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40</a:t>
            </a:fld>
            <a:endParaRPr lang="de-DE">
              <a:latin typeface="Arial" pitchFamily="34" charset="0"/>
            </a:endParaRPr>
          </a:p>
        </p:txBody>
      </p:sp>
    </p:spTree>
    <p:extLst>
      <p:ext uri="{BB962C8B-B14F-4D97-AF65-F5344CB8AC3E}">
        <p14:creationId xmlns:p14="http://schemas.microsoft.com/office/powerpoint/2010/main" val="1991411347"/>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48</a:t>
            </a:fld>
            <a:endParaRPr lang="de-DE">
              <a:latin typeface="Arial" pitchFamily="34" charset="0"/>
            </a:endParaRPr>
          </a:p>
        </p:txBody>
      </p:sp>
    </p:spTree>
    <p:extLst>
      <p:ext uri="{BB962C8B-B14F-4D97-AF65-F5344CB8AC3E}">
        <p14:creationId xmlns:p14="http://schemas.microsoft.com/office/powerpoint/2010/main" val="277836425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https://forms.office.com/Pages/DesignPage.aspx# </a:t>
            </a:r>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66</a:t>
            </a:fld>
            <a:endParaRPr lang="de-DE">
              <a:latin typeface="Arial" pitchFamily="34" charset="0"/>
            </a:endParaRPr>
          </a:p>
        </p:txBody>
      </p:sp>
    </p:spTree>
    <p:extLst>
      <p:ext uri="{BB962C8B-B14F-4D97-AF65-F5344CB8AC3E}">
        <p14:creationId xmlns:p14="http://schemas.microsoft.com/office/powerpoint/2010/main" val="206713120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sz="1200" b="0" i="0" u="none" strike="noStrike" kern="1200">
                <a:solidFill>
                  <a:schemeClr val="tx1"/>
                </a:solidFill>
                <a:effectLst/>
                <a:latin typeface="Arial" pitchFamily="34" charset="0"/>
                <a:ea typeface="ＭＳ Ｐゴシック" charset="-128"/>
                <a:cs typeface="+mn-cs"/>
                <a:hlinkClick r:id="rId3" tooltip="William of Ockham"/>
              </a:rPr>
              <a:t>William of Ockham</a:t>
            </a:r>
            <a:r>
              <a:rPr lang="en-US" sz="1200" b="0" i="0" kern="1200">
                <a:solidFill>
                  <a:schemeClr val="tx1"/>
                </a:solidFill>
                <a:effectLst/>
                <a:latin typeface="Arial" pitchFamily="34" charset="0"/>
                <a:ea typeface="ＭＳ Ｐゴシック" charset="-128"/>
                <a:cs typeface="+mn-cs"/>
              </a:rPr>
              <a:t>, a </a:t>
            </a:r>
            <a:r>
              <a:rPr lang="en-US" sz="1200" b="0" i="0" u="none" strike="noStrike" kern="1200">
                <a:solidFill>
                  <a:schemeClr val="tx1"/>
                </a:solidFill>
                <a:effectLst/>
                <a:latin typeface="Arial" pitchFamily="34" charset="0"/>
                <a:ea typeface="ＭＳ Ｐゴシック" charset="-128"/>
                <a:cs typeface="+mn-cs"/>
                <a:hlinkClick r:id="rId4" tooltip="Franciscan"/>
              </a:rPr>
              <a:t>Franciscan</a:t>
            </a:r>
            <a:r>
              <a:rPr lang="en-US" sz="1200" b="0" i="0" kern="1200">
                <a:solidFill>
                  <a:schemeClr val="tx1"/>
                </a:solidFill>
                <a:effectLst/>
                <a:latin typeface="Arial" pitchFamily="34" charset="0"/>
                <a:ea typeface="ＭＳ Ｐゴシック" charset="-128"/>
                <a:cs typeface="+mn-cs"/>
              </a:rPr>
              <a:t> </a:t>
            </a:r>
            <a:r>
              <a:rPr lang="en-US" sz="1200" b="0" i="0" u="none" strike="noStrike" kern="1200">
                <a:solidFill>
                  <a:schemeClr val="tx1"/>
                </a:solidFill>
                <a:effectLst/>
                <a:latin typeface="Arial" pitchFamily="34" charset="0"/>
                <a:ea typeface="ＭＳ Ｐゴシック" charset="-128"/>
                <a:cs typeface="+mn-cs"/>
                <a:hlinkClick r:id="rId5" tooltip="Friar"/>
              </a:rPr>
              <a:t>friar</a:t>
            </a:r>
            <a:r>
              <a:rPr lang="en-US" sz="1200" b="0" i="0" kern="1200">
                <a:solidFill>
                  <a:schemeClr val="tx1"/>
                </a:solidFill>
                <a:effectLst/>
                <a:latin typeface="Arial" pitchFamily="34" charset="0"/>
                <a:ea typeface="ＭＳ Ｐゴシック" charset="-128"/>
                <a:cs typeface="+mn-cs"/>
              </a:rPr>
              <a:t> who studied </a:t>
            </a:r>
            <a:r>
              <a:rPr lang="en-US" sz="1200" b="0" i="0" u="none" strike="noStrike" kern="1200">
                <a:solidFill>
                  <a:schemeClr val="tx1"/>
                </a:solidFill>
                <a:effectLst/>
                <a:latin typeface="Arial" pitchFamily="34" charset="0"/>
                <a:ea typeface="ＭＳ Ｐゴシック" charset="-128"/>
                <a:cs typeface="+mn-cs"/>
                <a:hlinkClick r:id="rId6" tooltip="Logic"/>
              </a:rPr>
              <a:t>logic</a:t>
            </a:r>
            <a:r>
              <a:rPr lang="en-US" sz="1200" b="0" i="0" kern="1200">
                <a:solidFill>
                  <a:schemeClr val="tx1"/>
                </a:solidFill>
                <a:effectLst/>
                <a:latin typeface="Arial" pitchFamily="34" charset="0"/>
                <a:ea typeface="ＭＳ Ｐゴシック" charset="-128"/>
                <a:cs typeface="+mn-cs"/>
              </a:rPr>
              <a:t> in the </a:t>
            </a:r>
            <a:r>
              <a:rPr lang="en-US" sz="1200" b="0" i="0" u="none" strike="noStrike" kern="1200">
                <a:solidFill>
                  <a:schemeClr val="tx1"/>
                </a:solidFill>
                <a:effectLst/>
                <a:latin typeface="Arial" pitchFamily="34" charset="0"/>
                <a:ea typeface="ＭＳ Ｐゴシック" charset="-128"/>
                <a:cs typeface="+mn-cs"/>
                <a:hlinkClick r:id="rId7" tooltip="14th century"/>
              </a:rPr>
              <a:t>14th century</a:t>
            </a:r>
            <a:r>
              <a:rPr lang="en-US" sz="1200" b="0" i="0" kern="1200">
                <a:solidFill>
                  <a:schemeClr val="tx1"/>
                </a:solidFill>
                <a:effectLst/>
                <a:latin typeface="Arial" pitchFamily="34" charset="0"/>
                <a:ea typeface="ＭＳ Ｐゴシック" charset="-128"/>
                <a:cs typeface="+mn-cs"/>
              </a:rPr>
              <a:t>, first made this principle well known.</a:t>
            </a:r>
            <a:r>
              <a:rPr lang="en-US" sz="1200" b="0" i="0" u="none" strike="noStrike" kern="1200" baseline="30000">
                <a:solidFill>
                  <a:schemeClr val="tx1"/>
                </a:solidFill>
                <a:effectLst/>
                <a:latin typeface="Arial" pitchFamily="34" charset="0"/>
                <a:ea typeface="ＭＳ Ｐゴシック" charset="-128"/>
                <a:cs typeface="+mn-cs"/>
                <a:hlinkClick r:id="rId8"/>
              </a:rPr>
              <a:t>[1]</a:t>
            </a:r>
            <a:r>
              <a:rPr lang="en-US" sz="1200" b="0" i="0" kern="1200">
                <a:solidFill>
                  <a:schemeClr val="tx1"/>
                </a:solidFill>
                <a:effectLst/>
                <a:latin typeface="Arial" pitchFamily="34" charset="0"/>
                <a:ea typeface="ＭＳ Ｐゴシック" charset="-128"/>
                <a:cs typeface="+mn-cs"/>
              </a:rPr>
              <a:t> </a:t>
            </a:r>
          </a:p>
          <a:p>
            <a:r>
              <a:rPr lang="en-US" sz="1200" b="0" i="0" kern="1200">
                <a:solidFill>
                  <a:schemeClr val="tx1"/>
                </a:solidFill>
                <a:effectLst/>
                <a:latin typeface="Arial" pitchFamily="34" charset="0"/>
                <a:ea typeface="ＭＳ Ｐゴシック" charset="-128"/>
                <a:cs typeface="+mn-cs"/>
              </a:rPr>
              <a:t>William of Ockham wrote “</a:t>
            </a:r>
            <a:r>
              <a:rPr lang="en-US" sz="1200" b="0" i="1" kern="1200">
                <a:solidFill>
                  <a:schemeClr val="tx1"/>
                </a:solidFill>
                <a:effectLst/>
                <a:latin typeface="Arial" pitchFamily="34" charset="0"/>
                <a:ea typeface="ＭＳ Ｐゴシック" charset="-128"/>
                <a:cs typeface="+mn-cs"/>
              </a:rPr>
              <a:t>More things should not be used than are necessary.”</a:t>
            </a:r>
            <a:endParaRPr lang="en-US" sz="1200" b="0" i="0" kern="1200">
              <a:solidFill>
                <a:schemeClr val="tx1"/>
              </a:solidFill>
              <a:effectLst/>
              <a:latin typeface="Arial" pitchFamily="34" charset="0"/>
              <a:ea typeface="ＭＳ Ｐゴシック" charset="-128"/>
              <a:cs typeface="+mn-cs"/>
            </a:endParaRPr>
          </a:p>
          <a:p>
            <a:r>
              <a:rPr lang="en-US" sz="1200" b="0" i="0" kern="1200">
                <a:solidFill>
                  <a:schemeClr val="tx1"/>
                </a:solidFill>
                <a:effectLst/>
                <a:latin typeface="Arial" pitchFamily="34" charset="0"/>
                <a:ea typeface="ＭＳ Ｐゴシック" charset="-128"/>
                <a:cs typeface="+mn-cs"/>
              </a:rPr>
              <a:t>This means if there are several possible ways something might have happened, the way which uses the fewest guesses is probably the correct one. However, Occam's razor only applies when the simple explanation and complex explanation both work equally well. If a more complex explanation does a better job than a simpler one, then you should use the complex explanation.</a:t>
            </a:r>
          </a:p>
          <a:p>
            <a:endParaRPr lang="en-US" sz="1200" b="0" i="0" kern="1200">
              <a:solidFill>
                <a:schemeClr val="tx1"/>
              </a:solidFill>
              <a:effectLst/>
              <a:latin typeface="Arial" pitchFamily="34" charset="0"/>
              <a:ea typeface="ＭＳ Ｐゴシック" charset="-128"/>
              <a:cs typeface="+mn-cs"/>
            </a:endParaRPr>
          </a:p>
          <a:p>
            <a:pPr marL="0" marR="0" lvl="0" indent="0" algn="l" defTabSz="914400" rtl="0" eaLnBrk="0" fontAlgn="base" latinLnBrk="0" hangingPunct="0">
              <a:lnSpc>
                <a:spcPct val="100000"/>
              </a:lnSpc>
              <a:spcBef>
                <a:spcPct val="30000"/>
              </a:spcBef>
              <a:spcAft>
                <a:spcPct val="0"/>
              </a:spcAft>
              <a:buClrTx/>
              <a:buSzTx/>
              <a:buFontTx/>
              <a:buNone/>
              <a:tabLst/>
              <a:defRPr/>
            </a:pPr>
            <a:r>
              <a:rPr lang="de-DE">
                <a:hlinkClick r:id="rId9"/>
              </a:rPr>
              <a:t>https://simple.wikipedia.org/wiki/Occam%27s_razor</a:t>
            </a:r>
            <a:endParaRPr lang="en-US" sz="1200" b="0" i="0" kern="1200">
              <a:solidFill>
                <a:schemeClr val="tx1"/>
              </a:solidFill>
              <a:effectLst/>
              <a:latin typeface="Arial" pitchFamily="34" charset="0"/>
              <a:ea typeface="ＭＳ Ｐゴシック" charset="-128"/>
              <a:cs typeface="+mn-cs"/>
            </a:endParaRPr>
          </a:p>
          <a:p>
            <a:endParaRPr lang="en-US" sz="1200" b="0" i="0" kern="1200">
              <a:solidFill>
                <a:schemeClr val="tx1"/>
              </a:solidFill>
              <a:effectLst/>
              <a:latin typeface="Arial" pitchFamily="34" charset="0"/>
              <a:ea typeface="ＭＳ Ｐゴシック" charset="-128"/>
              <a:cs typeface="+mn-cs"/>
            </a:endParaRPr>
          </a:p>
          <a:p>
            <a:endParaRPr lang="en-US"/>
          </a:p>
        </p:txBody>
      </p:sp>
      <p:sp>
        <p:nvSpPr>
          <p:cNvPr id="4" name="Foliennummernplatzhalter 3"/>
          <p:cNvSpPr>
            <a:spLocks noGrp="1"/>
          </p:cNvSpPr>
          <p:nvPr>
            <p:ph type="sldNum" sz="quarter" idx="5"/>
          </p:nvPr>
        </p:nvSpPr>
        <p:spPr/>
        <p:txBody>
          <a:bodyPr/>
          <a:lstStyle/>
          <a:p>
            <a:pPr marL="0" marR="0" lvl="0" indent="0" algn="r" defTabSz="906953"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Notes </a:t>
            </a:r>
            <a:fld id="{AD141568-5488-4AC9-B82D-9F5CE1225E2A}" type="slidenum">
              <a:rPr kumimoji="0" lang="de-DE" sz="1200" b="0" i="0" u="none" strike="noStrike" kern="1200" cap="none" spc="0" normalizeH="0" baseline="0" noProof="0" smtClean="0">
                <a:ln>
                  <a:noFill/>
                </a:ln>
                <a:solidFill>
                  <a:srgbClr val="000000"/>
                </a:solidFill>
                <a:effectLst/>
                <a:uLnTx/>
                <a:uFillTx/>
                <a:latin typeface="Arial" pitchFamily="34" charset="0"/>
                <a:ea typeface="ＭＳ Ｐゴシック" charset="-128"/>
                <a:cs typeface="+mn-cs"/>
              </a:rPr>
              <a:pPr marL="0" marR="0" lvl="0" indent="0" algn="r" defTabSz="906953" rtl="0" eaLnBrk="1" fontAlgn="base" latinLnBrk="0" hangingPunct="1">
                <a:lnSpc>
                  <a:spcPct val="100000"/>
                </a:lnSpc>
                <a:spcBef>
                  <a:spcPct val="0"/>
                </a:spcBef>
                <a:spcAft>
                  <a:spcPct val="0"/>
                </a:spcAft>
                <a:buClrTx/>
                <a:buSzTx/>
                <a:buFontTx/>
                <a:buNone/>
                <a:tabLst/>
                <a:defRPr/>
              </a:pPr>
              <a:t>70</a:t>
            </a:fld>
            <a:endParaRPr kumimoji="0" lang="de-DE" sz="12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Tree>
    <p:extLst>
      <p:ext uri="{BB962C8B-B14F-4D97-AF65-F5344CB8AC3E}">
        <p14:creationId xmlns:p14="http://schemas.microsoft.com/office/powerpoint/2010/main" val="255084197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a:solidFill>
                  <a:schemeClr val="tx1"/>
                </a:solidFill>
              </a:rPr>
              <a:t>Important: Each observation in the data sample is assigned to an individual group and stays in that group for the duration of the procedure. This means that each sample is given the opportunity to be used in the hold out set 1 time and used to train the model k-1 times.</a:t>
            </a:r>
          </a:p>
          <a:p>
            <a:endParaRPr lang="en-US"/>
          </a:p>
        </p:txBody>
      </p:sp>
      <p:sp>
        <p:nvSpPr>
          <p:cNvPr id="4" name="Foliennummernplatzhalter 3"/>
          <p:cNvSpPr>
            <a:spLocks noGrp="1"/>
          </p:cNvSpPr>
          <p:nvPr>
            <p:ph type="sldNum" sz="quarter" idx="5"/>
          </p:nvPr>
        </p:nvSpPr>
        <p:spPr/>
        <p:txBody>
          <a:bodyPr/>
          <a:lstStyle/>
          <a:p>
            <a:pPr marL="0" marR="0" lvl="0" indent="0" algn="r" defTabSz="906953"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Notes </a:t>
            </a:r>
            <a:fld id="{AD141568-5488-4AC9-B82D-9F5CE1225E2A}" type="slidenum">
              <a:rPr kumimoji="0" lang="de-DE" sz="1200" b="0" i="0" u="none" strike="noStrike" kern="1200" cap="none" spc="0" normalizeH="0" baseline="0" noProof="0" smtClean="0">
                <a:ln>
                  <a:noFill/>
                </a:ln>
                <a:solidFill>
                  <a:srgbClr val="000000"/>
                </a:solidFill>
                <a:effectLst/>
                <a:uLnTx/>
                <a:uFillTx/>
                <a:latin typeface="Arial" pitchFamily="34" charset="0"/>
                <a:ea typeface="ＭＳ Ｐゴシック" charset="-128"/>
                <a:cs typeface="+mn-cs"/>
              </a:rPr>
              <a:pPr marL="0" marR="0" lvl="0" indent="0" algn="r" defTabSz="906953" rtl="0" eaLnBrk="1" fontAlgn="base" latinLnBrk="0" hangingPunct="1">
                <a:lnSpc>
                  <a:spcPct val="100000"/>
                </a:lnSpc>
                <a:spcBef>
                  <a:spcPct val="0"/>
                </a:spcBef>
                <a:spcAft>
                  <a:spcPct val="0"/>
                </a:spcAft>
                <a:buClrTx/>
                <a:buSzTx/>
                <a:buFontTx/>
                <a:buNone/>
                <a:tabLst/>
                <a:defRPr/>
              </a:pPr>
              <a:t>74</a:t>
            </a:fld>
            <a:endParaRPr kumimoji="0" lang="de-DE" sz="12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Tree>
    <p:extLst>
      <p:ext uri="{BB962C8B-B14F-4D97-AF65-F5344CB8AC3E}">
        <p14:creationId xmlns:p14="http://schemas.microsoft.com/office/powerpoint/2010/main" val="93673291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https://forms.office.com/Pages/DesignPage.aspx# </a:t>
            </a:r>
          </a:p>
        </p:txBody>
      </p:sp>
      <p:sp>
        <p:nvSpPr>
          <p:cNvPr id="4" name="Foliennummernplatzhalter 3"/>
          <p:cNvSpPr>
            <a:spLocks noGrp="1"/>
          </p:cNvSpPr>
          <p:nvPr>
            <p:ph type="sldNum" sz="quarter" idx="5"/>
          </p:nvPr>
        </p:nvSpPr>
        <p:spPr/>
        <p:txBody>
          <a:bodyPr/>
          <a:lstStyle/>
          <a:p>
            <a:pPr marL="0" marR="0" lvl="0" indent="0" algn="r" defTabSz="906953" rtl="0" eaLnBrk="1" fontAlgn="base" latinLnBrk="0" hangingPunct="1">
              <a:lnSpc>
                <a:spcPct val="100000"/>
              </a:lnSpc>
              <a:spcBef>
                <a:spcPct val="0"/>
              </a:spcBef>
              <a:spcAft>
                <a:spcPct val="0"/>
              </a:spcAft>
              <a:buClrTx/>
              <a:buSzTx/>
              <a:buFontTx/>
              <a:buNone/>
              <a:tabLst/>
              <a:defRPr/>
            </a:pPr>
            <a:r>
              <a:rPr kumimoji="0" lang="de-DE" sz="12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Notes </a:t>
            </a:r>
            <a:fld id="{AD141568-5488-4AC9-B82D-9F5CE1225E2A}" type="slidenum">
              <a:rPr kumimoji="0" lang="de-DE" sz="1200" b="0" i="0" u="none" strike="noStrike" kern="1200" cap="none" spc="0" normalizeH="0" baseline="0" noProof="0" smtClean="0">
                <a:ln>
                  <a:noFill/>
                </a:ln>
                <a:solidFill>
                  <a:srgbClr val="000000"/>
                </a:solidFill>
                <a:effectLst/>
                <a:uLnTx/>
                <a:uFillTx/>
                <a:latin typeface="Arial" pitchFamily="34" charset="0"/>
                <a:ea typeface="ＭＳ Ｐゴシック" charset="-128"/>
                <a:cs typeface="+mn-cs"/>
              </a:rPr>
              <a:pPr marL="0" marR="0" lvl="0" indent="0" algn="r" defTabSz="906953" rtl="0" eaLnBrk="1" fontAlgn="base" latinLnBrk="0" hangingPunct="1">
                <a:lnSpc>
                  <a:spcPct val="100000"/>
                </a:lnSpc>
                <a:spcBef>
                  <a:spcPct val="0"/>
                </a:spcBef>
                <a:spcAft>
                  <a:spcPct val="0"/>
                </a:spcAft>
                <a:buClrTx/>
                <a:buSzTx/>
                <a:buFontTx/>
                <a:buNone/>
                <a:tabLst/>
                <a:defRPr/>
              </a:pPr>
              <a:t>75</a:t>
            </a:fld>
            <a:endParaRPr kumimoji="0" lang="de-DE" sz="12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Tree>
    <p:extLst>
      <p:ext uri="{BB962C8B-B14F-4D97-AF65-F5344CB8AC3E}">
        <p14:creationId xmlns:p14="http://schemas.microsoft.com/office/powerpoint/2010/main" val="1923019787"/>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8" name="PlaceHolder 1"/>
          <p:cNvSpPr>
            <a:spLocks noGrp="1" noRot="1" noChangeAspect="1"/>
          </p:cNvSpPr>
          <p:nvPr>
            <p:ph type="sldImg"/>
          </p:nvPr>
        </p:nvSpPr>
        <p:spPr>
          <a:xfrm>
            <a:off x="88900" y="744538"/>
            <a:ext cx="6621463" cy="3722687"/>
          </a:xfrm>
          <a:prstGeom prst="rect">
            <a:avLst/>
          </a:prstGeom>
        </p:spPr>
      </p:sp>
      <p:sp>
        <p:nvSpPr>
          <p:cNvPr id="1899" name="PlaceHolder 2"/>
          <p:cNvSpPr>
            <a:spLocks noGrp="1"/>
          </p:cNvSpPr>
          <p:nvPr>
            <p:ph type="body"/>
          </p:nvPr>
        </p:nvSpPr>
        <p:spPr>
          <a:xfrm>
            <a:off x="227880" y="4677840"/>
            <a:ext cx="6341400" cy="4428000"/>
          </a:xfrm>
          <a:prstGeom prst="rect">
            <a:avLst/>
          </a:prstGeom>
        </p:spPr>
        <p:txBody>
          <a:bodyPr lIns="0" tIns="0" rIns="0" bIns="0"/>
          <a:lstStyle/>
          <a:p>
            <a:pPr marL="216000" indent="-216000">
              <a:lnSpc>
                <a:spcPct val="100000"/>
              </a:lnSpc>
            </a:pPr>
            <a:r>
              <a:rPr lang="en-US" sz="1200" b="0" strike="noStrike" spc="-1" noProof="0">
                <a:solidFill>
                  <a:srgbClr val="000000"/>
                </a:solidFill>
                <a:latin typeface="Arial"/>
                <a:ea typeface="ＭＳ Ｐゴシック"/>
                <a:hlinkClick r:id="rId3"/>
              </a:rPr>
              <a:t>William of Ockham</a:t>
            </a:r>
            <a:r>
              <a:rPr lang="en-US" sz="1200" b="0" strike="noStrike" spc="-1" noProof="0">
                <a:solidFill>
                  <a:srgbClr val="000000"/>
                </a:solidFill>
                <a:latin typeface="Arial"/>
                <a:ea typeface="ＭＳ Ｐゴシック"/>
              </a:rPr>
              <a:t>, a </a:t>
            </a:r>
            <a:r>
              <a:rPr lang="en-US" sz="1200" b="0" strike="noStrike" spc="-1" noProof="0">
                <a:solidFill>
                  <a:srgbClr val="000000"/>
                </a:solidFill>
                <a:latin typeface="Arial"/>
                <a:ea typeface="ＭＳ Ｐゴシック"/>
                <a:hlinkClick r:id="rId4"/>
              </a:rPr>
              <a:t>Franciscan</a:t>
            </a:r>
            <a:r>
              <a:rPr lang="en-US" sz="1200" b="0" strike="noStrike" spc="-1" noProof="0">
                <a:solidFill>
                  <a:srgbClr val="000000"/>
                </a:solidFill>
                <a:latin typeface="Arial"/>
                <a:ea typeface="ＭＳ Ｐゴシック"/>
              </a:rPr>
              <a:t> </a:t>
            </a:r>
            <a:r>
              <a:rPr lang="en-US" sz="1200" b="0" strike="noStrike" spc="-1" noProof="0">
                <a:solidFill>
                  <a:srgbClr val="000000"/>
                </a:solidFill>
                <a:latin typeface="Arial"/>
                <a:ea typeface="ＭＳ Ｐゴシック"/>
                <a:hlinkClick r:id="rId5"/>
              </a:rPr>
              <a:t>friar</a:t>
            </a:r>
            <a:r>
              <a:rPr lang="en-US" sz="1200" b="0" strike="noStrike" spc="-1" noProof="0">
                <a:solidFill>
                  <a:srgbClr val="000000"/>
                </a:solidFill>
                <a:latin typeface="Arial"/>
                <a:ea typeface="ＭＳ Ｐゴシック"/>
              </a:rPr>
              <a:t> who studied </a:t>
            </a:r>
            <a:r>
              <a:rPr lang="en-US" sz="1200" b="0" strike="noStrike" spc="-1" noProof="0">
                <a:solidFill>
                  <a:srgbClr val="000000"/>
                </a:solidFill>
                <a:latin typeface="Arial"/>
                <a:ea typeface="ＭＳ Ｐゴシック"/>
                <a:hlinkClick r:id="rId6"/>
              </a:rPr>
              <a:t>logic</a:t>
            </a:r>
            <a:r>
              <a:rPr lang="en-US" sz="1200" b="0" strike="noStrike" spc="-1" noProof="0">
                <a:solidFill>
                  <a:srgbClr val="000000"/>
                </a:solidFill>
                <a:latin typeface="Arial"/>
                <a:ea typeface="ＭＳ Ｐゴシック"/>
              </a:rPr>
              <a:t> in the </a:t>
            </a:r>
            <a:r>
              <a:rPr lang="en-US" sz="1200" b="0" strike="noStrike" spc="-1" noProof="0">
                <a:solidFill>
                  <a:srgbClr val="000000"/>
                </a:solidFill>
                <a:latin typeface="Arial"/>
                <a:ea typeface="ＭＳ Ｐゴシック"/>
                <a:hlinkClick r:id="rId7"/>
              </a:rPr>
              <a:t>14th century</a:t>
            </a:r>
            <a:r>
              <a:rPr lang="en-US" sz="1200" b="0" strike="noStrike" spc="-1" noProof="0">
                <a:solidFill>
                  <a:srgbClr val="000000"/>
                </a:solidFill>
                <a:latin typeface="Arial"/>
                <a:ea typeface="ＭＳ Ｐゴシック"/>
              </a:rPr>
              <a:t>, first made this principle well known.</a:t>
            </a:r>
            <a:r>
              <a:rPr lang="en-US" sz="1200" b="0" strike="noStrike" spc="-1" baseline="30000" noProof="0">
                <a:solidFill>
                  <a:srgbClr val="000000"/>
                </a:solidFill>
                <a:latin typeface="Arial"/>
                <a:ea typeface="ＭＳ Ｐゴシック"/>
                <a:hlinkClick r:id="rId8"/>
              </a:rPr>
              <a:t>[1]</a:t>
            </a:r>
            <a:r>
              <a:rPr lang="en-US" sz="1200" b="0" strike="noStrike" spc="-1" noProof="0">
                <a:solidFill>
                  <a:srgbClr val="000000"/>
                </a:solidFill>
                <a:latin typeface="Arial"/>
                <a:ea typeface="ＭＳ Ｐゴシック"/>
              </a:rPr>
              <a:t> </a:t>
            </a:r>
            <a:endParaRPr lang="en-US" sz="1200" b="0" strike="noStrike" spc="-1" noProof="0">
              <a:latin typeface="Arial"/>
            </a:endParaRPr>
          </a:p>
          <a:p>
            <a:pPr marL="216000" indent="-216000">
              <a:lnSpc>
                <a:spcPct val="100000"/>
              </a:lnSpc>
            </a:pPr>
            <a:r>
              <a:rPr lang="en-US" sz="1200" b="0" strike="noStrike" spc="-1" noProof="0">
                <a:solidFill>
                  <a:srgbClr val="000000"/>
                </a:solidFill>
                <a:latin typeface="Arial"/>
                <a:ea typeface="ＭＳ Ｐゴシック"/>
              </a:rPr>
              <a:t>William of Ockham wrote “</a:t>
            </a:r>
            <a:r>
              <a:rPr lang="en-US" sz="1200" b="0" i="1" strike="noStrike" spc="-1" noProof="0">
                <a:solidFill>
                  <a:srgbClr val="000000"/>
                </a:solidFill>
                <a:latin typeface="Arial"/>
                <a:ea typeface="ＭＳ Ｐゴシック"/>
              </a:rPr>
              <a:t>More things should not be used than are necessary.”</a:t>
            </a:r>
            <a:endParaRPr lang="en-US" sz="1200" b="0" strike="noStrike" spc="-1" noProof="0">
              <a:latin typeface="Arial"/>
            </a:endParaRPr>
          </a:p>
          <a:p>
            <a:pPr marL="216000" indent="-216000">
              <a:lnSpc>
                <a:spcPct val="100000"/>
              </a:lnSpc>
            </a:pPr>
            <a:r>
              <a:rPr lang="en-US" sz="1200" b="0" strike="noStrike" spc="-1" noProof="0">
                <a:solidFill>
                  <a:srgbClr val="000000"/>
                </a:solidFill>
                <a:latin typeface="Arial"/>
                <a:ea typeface="ＭＳ Ｐゴシック"/>
              </a:rPr>
              <a:t>This means if there are several possible ways something might have happened, the way which uses the fewest guesses is probably the correct one. However, Occam's razor only applies when the simple explanation and complex explanation both work equally well. If a more complex explanation does a better job than a simpler one, then you should use the complex explanation:   </a:t>
            </a:r>
            <a:r>
              <a:rPr lang="en-US" sz="2000" b="0" u="sng" strike="noStrike" spc="-1" noProof="0">
                <a:solidFill>
                  <a:srgbClr val="000000"/>
                </a:solidFill>
                <a:uFillTx/>
                <a:latin typeface="Arial"/>
                <a:ea typeface="ＭＳ Ｐゴシック"/>
                <a:hlinkClick r:id="rId9"/>
              </a:rPr>
              <a:t>https://simple.wikipedia.org/wiki/Occam%27s_razor</a:t>
            </a:r>
            <a:endParaRPr lang="en-US" sz="2000" b="0" strike="noStrike" spc="-1" noProof="0">
              <a:latin typeface="Arial"/>
            </a:endParaRPr>
          </a:p>
          <a:p>
            <a:pPr marL="216000" indent="-216000">
              <a:lnSpc>
                <a:spcPct val="100000"/>
              </a:lnSpc>
            </a:pPr>
            <a:endParaRPr lang="en-US" sz="2000" b="0" strike="noStrike" spc="-1" noProof="0">
              <a:latin typeface="Arial"/>
            </a:endParaRPr>
          </a:p>
        </p:txBody>
      </p:sp>
      <p:sp>
        <p:nvSpPr>
          <p:cNvPr id="1900" name="TextShape 3"/>
          <p:cNvSpPr txBox="1"/>
          <p:nvPr/>
        </p:nvSpPr>
        <p:spPr>
          <a:xfrm>
            <a:off x="3686040" y="9390960"/>
            <a:ext cx="3109680" cy="533880"/>
          </a:xfrm>
          <a:prstGeom prst="rect">
            <a:avLst/>
          </a:prstGeom>
          <a:noFill/>
          <a:ln w="9360">
            <a:noFill/>
          </a:ln>
        </p:spPr>
        <p:txBody>
          <a:bodyPr lIns="142920" tIns="142920" rIns="142920" bIns="142920" anchor="b"/>
          <a:lstStyle/>
          <a:p>
            <a:pPr algn="r">
              <a:lnSpc>
                <a:spcPct val="100000"/>
              </a:lnSpc>
            </a:pPr>
            <a:r>
              <a:rPr lang="de-DE" sz="1200" b="0" strike="noStrike" spc="-1">
                <a:solidFill>
                  <a:srgbClr val="000000"/>
                </a:solidFill>
                <a:latin typeface="Arial"/>
              </a:rPr>
              <a:t>Notes </a:t>
            </a:r>
            <a:fld id="{2014264B-D392-4A97-8B38-ACF3E67DCD9C}" type="slidenum">
              <a:rPr lang="de-DE" sz="1200" b="0" strike="noStrike" spc="-1">
                <a:solidFill>
                  <a:srgbClr val="000000"/>
                </a:solidFill>
                <a:latin typeface="Arial"/>
              </a:rPr>
              <a:t>81</a:t>
            </a:fld>
            <a:endParaRPr lang="de-DE" sz="1200" b="0" strike="noStrike" spc="-1">
              <a:latin typeface="Times New Roman"/>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84</a:t>
            </a:fld>
            <a:endParaRPr lang="de-DE">
              <a:latin typeface="Arial" pitchFamily="34" charset="0"/>
            </a:endParaRPr>
          </a:p>
        </p:txBody>
      </p:sp>
    </p:spTree>
    <p:extLst>
      <p:ext uri="{BB962C8B-B14F-4D97-AF65-F5344CB8AC3E}">
        <p14:creationId xmlns:p14="http://schemas.microsoft.com/office/powerpoint/2010/main" val="270941997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89</a:t>
            </a:fld>
            <a:endParaRPr lang="de-DE">
              <a:latin typeface="Arial" pitchFamily="34" charset="0"/>
            </a:endParaRPr>
          </a:p>
        </p:txBody>
      </p:sp>
    </p:spTree>
    <p:extLst>
      <p:ext uri="{BB962C8B-B14F-4D97-AF65-F5344CB8AC3E}">
        <p14:creationId xmlns:p14="http://schemas.microsoft.com/office/powerpoint/2010/main" val="83251557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91</a:t>
            </a:fld>
            <a:endParaRPr lang="de-DE">
              <a:latin typeface="Arial" pitchFamily="34" charset="0"/>
            </a:endParaRPr>
          </a:p>
        </p:txBody>
      </p:sp>
    </p:spTree>
    <p:extLst>
      <p:ext uri="{BB962C8B-B14F-4D97-AF65-F5344CB8AC3E}">
        <p14:creationId xmlns:p14="http://schemas.microsoft.com/office/powerpoint/2010/main" val="117060998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pPr defTabSz="879470">
              <a:defRPr/>
            </a:pPr>
            <a:r>
              <a:rPr lang="de-DE"/>
              <a:t>Dendriten: nehmen Reize auf und leiten diese zum Soma weiter</a:t>
            </a:r>
          </a:p>
          <a:p>
            <a:endParaRPr lang="de-DE"/>
          </a:p>
          <a:p>
            <a:r>
              <a:rPr lang="de-DE"/>
              <a:t>Soma: Zellkörper, der sogenannte Axonhügel und den Zellkern enthält</a:t>
            </a:r>
          </a:p>
          <a:p>
            <a:endParaRPr lang="de-DE"/>
          </a:p>
          <a:p>
            <a:r>
              <a:rPr lang="de-DE"/>
              <a:t>Axonhügel: Postsynaptische Signale addieren sich auf, Erregung wird aber nur weitergeleitet, wenn ein gewisser Schwellenwert überschritten wird </a:t>
            </a:r>
            <a:r>
              <a:rPr lang="de-DE">
                <a:sym typeface="Wingdings" panose="05000000000000000000" pitchFamily="2" charset="2"/>
              </a:rPr>
              <a:t> nicht alle Signale/Reize werden aufgenommen (würde uns überfordern und höchstwahrscheinlich zum Tode führen)</a:t>
            </a:r>
          </a:p>
          <a:p>
            <a:endParaRPr lang="de-DE"/>
          </a:p>
          <a:p>
            <a:r>
              <a:rPr lang="de-DE"/>
              <a:t>Axon: langer Nervenzellfortsatz, der die elektrischen Reize vom Soma zur nächsten Nervenzelle weitergibt</a:t>
            </a:r>
          </a:p>
          <a:p>
            <a:endParaRPr lang="de-DE"/>
          </a:p>
          <a:p>
            <a:r>
              <a:rPr lang="de-DE"/>
              <a:t>Synaptische Endköpfchen/Synapsen: am Ende des Axoms befinden sich die snyaptischen Endköpfe, welche mit Hilfe des übertragenen Spannungspotenials eine chemische Reaktion auslösen </a:t>
            </a:r>
            <a:r>
              <a:rPr lang="de-DE">
                <a:sym typeface="Wingdings" panose="05000000000000000000" pitchFamily="2" charset="2"/>
              </a:rPr>
              <a:t> Neurotransmitter werden im synaptischen Spalt freigesetzt und dieses chemische Signal wird wieder in ein elektrisches Signal umgewandelt und an die nächsten Dendriten weitergegeben.</a:t>
            </a:r>
            <a:endParaRPr lang="de-DE"/>
          </a:p>
          <a:p>
            <a:endParaRPr lang="de-DE"/>
          </a:p>
          <a:p>
            <a:r>
              <a:rPr lang="de-DE"/>
              <a:t>Menschliche Gehirn enthält circa 1 Billion (1 mit 12 Nullen) Neuronen</a:t>
            </a:r>
          </a:p>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98</a:t>
            </a:fld>
            <a:endParaRPr lang="de-DE">
              <a:latin typeface="Arial" pitchFamily="34" charset="0"/>
            </a:endParaRPr>
          </a:p>
        </p:txBody>
      </p:sp>
    </p:spTree>
    <p:extLst>
      <p:ext uri="{BB962C8B-B14F-4D97-AF65-F5344CB8AC3E}">
        <p14:creationId xmlns:p14="http://schemas.microsoft.com/office/powerpoint/2010/main" val="143340891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r>
              <a:rPr lang="en-US"/>
              <a:t>Derivative: abgeleiteter Wert, for backpropagation</a:t>
            </a:r>
          </a:p>
          <a:p>
            <a:r>
              <a:rPr lang="en-US"/>
              <a:t>Disadvantage: problem of lost gradient, for little and large x y has very flat slope. Learning is very slow or stops</a:t>
            </a:r>
          </a:p>
          <a:p>
            <a:r>
              <a:rPr lang="en-US"/>
              <a:t>Leaky: </a:t>
            </a:r>
            <a:r>
              <a:rPr lang="en-US" err="1"/>
              <a:t>für</a:t>
            </a:r>
            <a:r>
              <a:rPr lang="en-US"/>
              <a:t> neg X </a:t>
            </a:r>
            <a:r>
              <a:rPr lang="en-US" err="1"/>
              <a:t>ist</a:t>
            </a:r>
            <a:r>
              <a:rPr lang="en-US"/>
              <a:t> y </a:t>
            </a:r>
            <a:r>
              <a:rPr lang="en-US" err="1"/>
              <a:t>knapp</a:t>
            </a:r>
            <a:r>
              <a:rPr lang="en-US"/>
              <a:t> </a:t>
            </a:r>
            <a:r>
              <a:rPr lang="en-US" err="1"/>
              <a:t>unter</a:t>
            </a:r>
            <a:r>
              <a:rPr lang="en-US"/>
              <a:t> Null mit </a:t>
            </a:r>
            <a:r>
              <a:rPr lang="en-US" err="1"/>
              <a:t>ganz</a:t>
            </a:r>
            <a:r>
              <a:rPr lang="en-US"/>
              <a:t> </a:t>
            </a:r>
            <a:r>
              <a:rPr lang="en-US" err="1"/>
              <a:t>geringer</a:t>
            </a:r>
            <a:r>
              <a:rPr lang="en-US"/>
              <a:t> </a:t>
            </a:r>
            <a:r>
              <a:rPr lang="en-US" err="1"/>
              <a:t>Steigung</a:t>
            </a:r>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100</a:t>
            </a:fld>
            <a:endParaRPr lang="de-DE">
              <a:latin typeface="Arial" pitchFamily="34" charset="0"/>
            </a:endParaRPr>
          </a:p>
        </p:txBody>
      </p:sp>
    </p:spTree>
    <p:extLst>
      <p:ext uri="{BB962C8B-B14F-4D97-AF65-F5344CB8AC3E}">
        <p14:creationId xmlns:p14="http://schemas.microsoft.com/office/powerpoint/2010/main" val="2071993450"/>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101</a:t>
            </a:fld>
            <a:endParaRPr lang="de-DE">
              <a:latin typeface="Arial" pitchFamily="34" charset="0"/>
            </a:endParaRPr>
          </a:p>
        </p:txBody>
      </p:sp>
    </p:spTree>
    <p:extLst>
      <p:ext uri="{BB962C8B-B14F-4D97-AF65-F5344CB8AC3E}">
        <p14:creationId xmlns:p14="http://schemas.microsoft.com/office/powerpoint/2010/main" val="2395659367"/>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102</a:t>
            </a:fld>
            <a:endParaRPr lang="de-DE">
              <a:latin typeface="Arial" pitchFamily="34" charset="0"/>
            </a:endParaRPr>
          </a:p>
        </p:txBody>
      </p:sp>
    </p:spTree>
    <p:extLst>
      <p:ext uri="{BB962C8B-B14F-4D97-AF65-F5344CB8AC3E}">
        <p14:creationId xmlns:p14="http://schemas.microsoft.com/office/powerpoint/2010/main" val="418703274"/>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103</a:t>
            </a:fld>
            <a:endParaRPr lang="de-DE">
              <a:latin typeface="Arial" pitchFamily="34" charset="0"/>
            </a:endParaRPr>
          </a:p>
        </p:txBody>
      </p:sp>
    </p:spTree>
    <p:extLst>
      <p:ext uri="{BB962C8B-B14F-4D97-AF65-F5344CB8AC3E}">
        <p14:creationId xmlns:p14="http://schemas.microsoft.com/office/powerpoint/2010/main" val="362891004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108</a:t>
            </a:fld>
            <a:endParaRPr lang="de-DE">
              <a:latin typeface="Arial" pitchFamily="34" charset="0"/>
            </a:endParaRPr>
          </a:p>
        </p:txBody>
      </p:sp>
    </p:spTree>
    <p:extLst>
      <p:ext uri="{BB962C8B-B14F-4D97-AF65-F5344CB8AC3E}">
        <p14:creationId xmlns:p14="http://schemas.microsoft.com/office/powerpoint/2010/main" val="4074010215"/>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122</a:t>
            </a:fld>
            <a:endParaRPr lang="de-DE">
              <a:latin typeface="Arial" pitchFamily="34" charset="0"/>
            </a:endParaRPr>
          </a:p>
        </p:txBody>
      </p:sp>
    </p:spTree>
    <p:extLst>
      <p:ext uri="{BB962C8B-B14F-4D97-AF65-F5344CB8AC3E}">
        <p14:creationId xmlns:p14="http://schemas.microsoft.com/office/powerpoint/2010/main" val="392329537"/>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126</a:t>
            </a:fld>
            <a:endParaRPr lang="de-DE">
              <a:latin typeface="Arial" pitchFamily="34" charset="0"/>
            </a:endParaRPr>
          </a:p>
        </p:txBody>
      </p:sp>
    </p:spTree>
    <p:extLst>
      <p:ext uri="{BB962C8B-B14F-4D97-AF65-F5344CB8AC3E}">
        <p14:creationId xmlns:p14="http://schemas.microsoft.com/office/powerpoint/2010/main" val="73424090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olienbildplatzhalter 1"/>
          <p:cNvSpPr>
            <a:spLocks noGrp="1" noRot="1" noChangeAspect="1"/>
          </p:cNvSpPr>
          <p:nvPr>
            <p:ph type="sldImg"/>
          </p:nvPr>
        </p:nvSpPr>
        <p:spPr/>
      </p:sp>
      <p:sp>
        <p:nvSpPr>
          <p:cNvPr id="3" name="Notizenplatzhalter 2"/>
          <p:cNvSpPr>
            <a:spLocks noGrp="1"/>
          </p:cNvSpPr>
          <p:nvPr>
            <p:ph type="body" idx="1"/>
          </p:nvPr>
        </p:nvSpPr>
        <p:spPr/>
        <p:txBody>
          <a:bodyPr/>
          <a:lstStyle/>
          <a:p>
            <a:endParaRPr lang="en-US"/>
          </a:p>
        </p:txBody>
      </p:sp>
      <p:sp>
        <p:nvSpPr>
          <p:cNvPr id="4" name="Foliennummernplatzhalter 3"/>
          <p:cNvSpPr>
            <a:spLocks noGrp="1"/>
          </p:cNvSpPr>
          <p:nvPr>
            <p:ph type="sldNum" sz="quarter" idx="5"/>
          </p:nvPr>
        </p:nvSpPr>
        <p:spPr/>
        <p:txBody>
          <a:bodyPr/>
          <a:lstStyle/>
          <a:p>
            <a:r>
              <a:rPr lang="de-DE">
                <a:latin typeface="Arial" pitchFamily="34" charset="0"/>
              </a:rPr>
              <a:t>Notes </a:t>
            </a:r>
            <a:fld id="{AD141568-5488-4AC9-B82D-9F5CE1225E2A}" type="slidenum">
              <a:rPr lang="de-DE" smtClean="0">
                <a:latin typeface="Arial" pitchFamily="34" charset="0"/>
              </a:rPr>
              <a:pPr/>
              <a:t>138</a:t>
            </a:fld>
            <a:endParaRPr lang="de-DE">
              <a:latin typeface="Arial" pitchFamily="34" charset="0"/>
            </a:endParaRPr>
          </a:p>
        </p:txBody>
      </p:sp>
    </p:spTree>
    <p:extLst>
      <p:ext uri="{BB962C8B-B14F-4D97-AF65-F5344CB8AC3E}">
        <p14:creationId xmlns:p14="http://schemas.microsoft.com/office/powerpoint/2010/main" val="1551474442"/>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2.xml"/><Relationship Id="rId1" Type="http://schemas.openxmlformats.org/officeDocument/2006/relationships/tags" Target="../tags/tag31.xml"/><Relationship Id="rId4" Type="http://schemas.openxmlformats.org/officeDocument/2006/relationships/image" Target="../media/image1.jpeg"/></Relationships>
</file>

<file path=ppt/slideLayouts/_rels/slideLayout2.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4.xml"/><Relationship Id="rId1" Type="http://schemas.openxmlformats.org/officeDocument/2006/relationships/tags" Target="../tags/tag33.xml"/></Relationships>
</file>

<file path=ppt/slideLayouts/_rels/slideLayout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6.xml"/><Relationship Id="rId1" Type="http://schemas.openxmlformats.org/officeDocument/2006/relationships/tags" Target="../tags/tag35.xml"/><Relationship Id="rId4" Type="http://schemas.openxmlformats.org/officeDocument/2006/relationships/image" Target="../media/image1.jpeg"/></Relationships>
</file>

<file path=ppt/slideLayouts/_rels/slideLayout4.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38.xml"/><Relationship Id="rId1" Type="http://schemas.openxmlformats.org/officeDocument/2006/relationships/tags" Target="../tags/tag37.xml"/></Relationships>
</file>

<file path=ppt/slideLayouts/_rels/slideLayout5.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0.xml"/><Relationship Id="rId1" Type="http://schemas.openxmlformats.org/officeDocument/2006/relationships/tags" Target="../tags/tag39.xml"/></Relationships>
</file>

<file path=ppt/slideLayouts/_rels/slideLayout6.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2.xml"/><Relationship Id="rId1" Type="http://schemas.openxmlformats.org/officeDocument/2006/relationships/tags" Target="../tags/tag41.xml"/></Relationships>
</file>

<file path=ppt/slideLayouts/_rels/slideLayout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43.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2" Type="http://schemas.openxmlformats.org/officeDocument/2006/relationships/tags" Target="../tags/tag44.xml"/><Relationship Id="rId1" Type="http://schemas.openxmlformats.org/officeDocument/2006/relationships/customXml" Target="../../customXml/item1.xml"/><Relationship Id="rId5" Type="http://schemas.openxmlformats.org/officeDocument/2006/relationships/slideMaster" Target="../slideMasters/slideMaster1.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47.xml"/><Relationship Id="rId1" Type="http://schemas.openxmlformats.org/officeDocument/2006/relationships/customXml" Target="../../customXml/item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customXml" Target="../../customXml/item3.xml"/><Relationship Id="rId4"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customXml" Target="../../customXml/item4.xml"/><Relationship Id="rId4"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customXml" Target="../../customXml/item5.xml"/><Relationship Id="rId5" Type="http://schemas.openxmlformats.org/officeDocument/2006/relationships/slideMaster" Target="../slideMasters/slideMaster1.xml"/><Relationship Id="rId4" Type="http://schemas.openxmlformats.org/officeDocument/2006/relationships/tags" Target="../tags/tag54.xml"/></Relationships>
</file>

<file path=ppt/slideLayouts/_rels/slideLayout17.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5.xml"/></Relationships>
</file>

<file path=ppt/slideLayouts/_rels/slideLayout18.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56.xml"/></Relationships>
</file>

<file path=ppt/slideLayouts/_rels/slideLayout19.xml.rels><?xml version="1.0" encoding="UTF-8" standalone="yes"?>
<Relationships xmlns="http://schemas.openxmlformats.org/package/2006/relationships"><Relationship Id="rId3" Type="http://schemas.openxmlformats.org/officeDocument/2006/relationships/tags" Target="../tags/tag58.xml"/><Relationship Id="rId2" Type="http://schemas.openxmlformats.org/officeDocument/2006/relationships/tags" Target="../tags/tag57.xml"/><Relationship Id="rId1" Type="http://schemas.openxmlformats.org/officeDocument/2006/relationships/customXml" Target="../../customXml/item6.xml"/><Relationship Id="rId5" Type="http://schemas.openxmlformats.org/officeDocument/2006/relationships/slideMaster" Target="../slideMasters/slideMaster1.xml"/><Relationship Id="rId4" Type="http://schemas.openxmlformats.org/officeDocument/2006/relationships/tags" Target="../tags/tag59.xml"/></Relationships>
</file>

<file path=ppt/slideLayouts/_rels/slideLayout20.xml.rels><?xml version="1.0" encoding="UTF-8" standalone="yes"?>
<Relationships xmlns="http://schemas.openxmlformats.org/package/2006/relationships"><Relationship Id="rId3" Type="http://schemas.openxmlformats.org/officeDocument/2006/relationships/tags" Target="../tags/tag61.xml"/><Relationship Id="rId2" Type="http://schemas.openxmlformats.org/officeDocument/2006/relationships/tags" Target="../tags/tag60.xml"/><Relationship Id="rId1" Type="http://schemas.openxmlformats.org/officeDocument/2006/relationships/customXml" Target="../../customXml/item7.xml"/><Relationship Id="rId6" Type="http://schemas.openxmlformats.org/officeDocument/2006/relationships/slideMaster" Target="../slideMasters/slideMaster1.xml"/><Relationship Id="rId5" Type="http://schemas.openxmlformats.org/officeDocument/2006/relationships/tags" Target="../tags/tag63.xml"/><Relationship Id="rId4" Type="http://schemas.openxmlformats.org/officeDocument/2006/relationships/tags" Target="../tags/tag62.xml"/></Relationships>
</file>

<file path=ppt/slideLayouts/_rels/slideLayout21.xml.rels><?xml version="1.0" encoding="UTF-8" standalone="yes"?>
<Relationships xmlns="http://schemas.openxmlformats.org/package/2006/relationships"><Relationship Id="rId3" Type="http://schemas.openxmlformats.org/officeDocument/2006/relationships/tags" Target="../tags/tag65.xml"/><Relationship Id="rId7" Type="http://schemas.openxmlformats.org/officeDocument/2006/relationships/slideMaster" Target="../slideMasters/slideMaster1.xml"/><Relationship Id="rId2" Type="http://schemas.openxmlformats.org/officeDocument/2006/relationships/tags" Target="../tags/tag64.xml"/><Relationship Id="rId1" Type="http://schemas.openxmlformats.org/officeDocument/2006/relationships/customXml" Target="../../customXml/item8.xml"/><Relationship Id="rId6" Type="http://schemas.openxmlformats.org/officeDocument/2006/relationships/tags" Target="../tags/tag68.xml"/><Relationship Id="rId5" Type="http://schemas.openxmlformats.org/officeDocument/2006/relationships/tags" Target="../tags/tag67.xml"/><Relationship Id="rId4" Type="http://schemas.openxmlformats.org/officeDocument/2006/relationships/tags" Target="../tags/tag66.xml"/></Relationships>
</file>

<file path=ppt/slideLayouts/_rels/slideLayout22.xml.rels><?xml version="1.0" encoding="UTF-8" standalone="yes"?>
<Relationships xmlns="http://schemas.openxmlformats.org/package/2006/relationships"><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customXml" Target="../../customXml/item9.xml"/><Relationship Id="rId4"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3" Type="http://schemas.openxmlformats.org/officeDocument/2006/relationships/tags" Target="../tags/tag72.xml"/><Relationship Id="rId2" Type="http://schemas.openxmlformats.org/officeDocument/2006/relationships/tags" Target="../tags/tag71.xml"/><Relationship Id="rId1" Type="http://schemas.openxmlformats.org/officeDocument/2006/relationships/customXml" Target="../../customXml/item10.xml"/><Relationship Id="rId5" Type="http://schemas.openxmlformats.org/officeDocument/2006/relationships/slideMaster" Target="../slideMasters/slideMaster1.xml"/><Relationship Id="rId4" Type="http://schemas.openxmlformats.org/officeDocument/2006/relationships/tags" Target="../tags/tag73.xml"/></Relationships>
</file>

<file path=ppt/slideLayouts/_rels/slideLayout24.xml.rels><?xml version="1.0" encoding="UTF-8" standalone="yes"?>
<Relationships xmlns="http://schemas.openxmlformats.org/package/2006/relationships"><Relationship Id="rId3" Type="http://schemas.openxmlformats.org/officeDocument/2006/relationships/tags" Target="../tags/tag75.xml"/><Relationship Id="rId2" Type="http://schemas.openxmlformats.org/officeDocument/2006/relationships/tags" Target="../tags/tag74.xml"/><Relationship Id="rId1" Type="http://schemas.openxmlformats.org/officeDocument/2006/relationships/customXml" Target="../../customXml/item11.xml"/><Relationship Id="rId5" Type="http://schemas.openxmlformats.org/officeDocument/2006/relationships/slideMaster" Target="../slideMasters/slideMaster1.xml"/><Relationship Id="rId4" Type="http://schemas.openxmlformats.org/officeDocument/2006/relationships/tags" Target="../tags/tag76.xml"/></Relationships>
</file>

<file path=ppt/slideLayouts/_rels/slideLayout25.xml.rels><?xml version="1.0" encoding="UTF-8" standalone="yes"?>
<Relationships xmlns="http://schemas.openxmlformats.org/package/2006/relationships"><Relationship Id="rId3" Type="http://schemas.openxmlformats.org/officeDocument/2006/relationships/tags" Target="../tags/tag78.xml"/><Relationship Id="rId2" Type="http://schemas.openxmlformats.org/officeDocument/2006/relationships/tags" Target="../tags/tag77.xml"/><Relationship Id="rId1" Type="http://schemas.openxmlformats.org/officeDocument/2006/relationships/customXml" Target="../../customXml/item12.xml"/><Relationship Id="rId6" Type="http://schemas.openxmlformats.org/officeDocument/2006/relationships/slideMaster" Target="../slideMasters/slideMaster1.xml"/><Relationship Id="rId5" Type="http://schemas.openxmlformats.org/officeDocument/2006/relationships/tags" Target="../tags/tag80.xml"/><Relationship Id="rId4" Type="http://schemas.openxmlformats.org/officeDocument/2006/relationships/tags" Target="../tags/tag79.xml"/></Relationships>
</file>

<file path=ppt/slideLayouts/_rels/slideLayout26.xml.rels><?xml version="1.0" encoding="UTF-8" standalone="yes"?>
<Relationships xmlns="http://schemas.openxmlformats.org/package/2006/relationships"><Relationship Id="rId3" Type="http://schemas.openxmlformats.org/officeDocument/2006/relationships/tags" Target="../tags/tag82.xml"/><Relationship Id="rId7" Type="http://schemas.openxmlformats.org/officeDocument/2006/relationships/slideMaster" Target="../slideMasters/slideMaster1.xml"/><Relationship Id="rId2" Type="http://schemas.openxmlformats.org/officeDocument/2006/relationships/tags" Target="../tags/tag81.xml"/><Relationship Id="rId1" Type="http://schemas.openxmlformats.org/officeDocument/2006/relationships/customXml" Target="../../customXml/item13.xml"/><Relationship Id="rId6" Type="http://schemas.openxmlformats.org/officeDocument/2006/relationships/tags" Target="../tags/tag85.xml"/><Relationship Id="rId5" Type="http://schemas.openxmlformats.org/officeDocument/2006/relationships/tags" Target="../tags/tag84.xml"/><Relationship Id="rId4" Type="http://schemas.openxmlformats.org/officeDocument/2006/relationships/tags" Target="../tags/tag83.xml"/></Relationships>
</file>

<file path=ppt/slideLayouts/_rels/slideLayout27.xml.rels><?xml version="1.0" encoding="UTF-8" standalone="yes"?>
<Relationships xmlns="http://schemas.openxmlformats.org/package/2006/relationships"><Relationship Id="rId3" Type="http://schemas.openxmlformats.org/officeDocument/2006/relationships/tags" Target="../tags/tag87.xml"/><Relationship Id="rId2" Type="http://schemas.openxmlformats.org/officeDocument/2006/relationships/tags" Target="../tags/tag86.xml"/><Relationship Id="rId1" Type="http://schemas.openxmlformats.org/officeDocument/2006/relationships/customXml" Target="../../customXml/item14.xml"/><Relationship Id="rId6" Type="http://schemas.openxmlformats.org/officeDocument/2006/relationships/slideMaster" Target="../slideMasters/slideMaster1.xml"/><Relationship Id="rId5" Type="http://schemas.openxmlformats.org/officeDocument/2006/relationships/tags" Target="../tags/tag89.xml"/><Relationship Id="rId4" Type="http://schemas.openxmlformats.org/officeDocument/2006/relationships/tags" Target="../tags/tag88.xml"/></Relationships>
</file>

<file path=ppt/slideLayouts/_rels/slideLayout28.xml.rels><?xml version="1.0" encoding="UTF-8" standalone="yes"?>
<Relationships xmlns="http://schemas.openxmlformats.org/package/2006/relationships"><Relationship Id="rId8" Type="http://schemas.openxmlformats.org/officeDocument/2006/relationships/slideMaster" Target="../slideMasters/slideMaster1.xml"/><Relationship Id="rId3" Type="http://schemas.openxmlformats.org/officeDocument/2006/relationships/tags" Target="../tags/tag91.xml"/><Relationship Id="rId7" Type="http://schemas.openxmlformats.org/officeDocument/2006/relationships/tags" Target="../tags/tag95.xml"/><Relationship Id="rId2" Type="http://schemas.openxmlformats.org/officeDocument/2006/relationships/tags" Target="../tags/tag90.xml"/><Relationship Id="rId1" Type="http://schemas.openxmlformats.org/officeDocument/2006/relationships/customXml" Target="../../customXml/item15.xml"/><Relationship Id="rId6" Type="http://schemas.openxmlformats.org/officeDocument/2006/relationships/tags" Target="../tags/tag94.xml"/><Relationship Id="rId5" Type="http://schemas.openxmlformats.org/officeDocument/2006/relationships/tags" Target="../tags/tag93.xml"/><Relationship Id="rId4" Type="http://schemas.openxmlformats.org/officeDocument/2006/relationships/tags" Target="../tags/tag92.xml"/></Relationships>
</file>

<file path=ppt/slideLayouts/_rels/slideLayout29.xml.rels><?xml version="1.0" encoding="UTF-8" standalone="yes"?>
<Relationships xmlns="http://schemas.openxmlformats.org/package/2006/relationships"><Relationship Id="rId2" Type="http://schemas.openxmlformats.org/officeDocument/2006/relationships/slideMaster" Target="../slideMasters/slideMaster1.xml"/><Relationship Id="rId1" Type="http://schemas.openxmlformats.org/officeDocument/2006/relationships/tags" Target="../tags/tag96.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picture">
    <p:spTree>
      <p:nvGrpSpPr>
        <p:cNvPr id="1" name=""/>
        <p:cNvGrpSpPr/>
        <p:nvPr/>
      </p:nvGrpSpPr>
      <p:grpSpPr>
        <a:xfrm>
          <a:off x="0" y="0"/>
          <a:ext cx="0" cy="0"/>
          <a:chOff x="0" y="0"/>
          <a:chExt cx="0" cy="0"/>
        </a:xfrm>
      </p:grpSpPr>
      <p:pic>
        <p:nvPicPr>
          <p:cNvPr id="31" name="Grafik 30"/>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6800" cy="6857128"/>
          </a:xfrm>
          <a:prstGeom prst="rect">
            <a:avLst/>
          </a:prstGeom>
        </p:spPr>
      </p:pic>
      <p:sp>
        <p:nvSpPr>
          <p:cNvPr id="4" name="cdtRectangle 115 Id57350"/>
          <p:cNvSpPr>
            <a:spLocks noGrp="1" noChangeArrowheads="1"/>
          </p:cNvSpPr>
          <p:nvPr>
            <p:ph type="ctrTitle"/>
            <p:custDataLst>
              <p:tags r:id="rId1"/>
            </p:custDataLst>
          </p:nvPr>
        </p:nvSpPr>
        <p:spPr bwMode="ltGray">
          <a:xfrm>
            <a:off x="627063" y="3462181"/>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5" name="cdtText Box 101 Id11"/>
          <p:cNvSpPr txBox="1">
            <a:spLocks noChangeArrowheads="1"/>
          </p:cNvSpPr>
          <p:nvPr userDrawn="1">
            <p:custDataLst>
              <p:tags r:id="rId2"/>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sp>
        <p:nvSpPr>
          <p:cNvPr id="9" name="Textplatzhalter 57343"/>
          <p:cNvSpPr>
            <a:spLocks noGrp="1"/>
          </p:cNvSpPr>
          <p:nvPr>
            <p:ph type="body" sz="quarter" idx="12" hasCustomPrompt="1"/>
          </p:nvPr>
        </p:nvSpPr>
        <p:spPr>
          <a:xfrm>
            <a:off x="627063" y="5907600"/>
            <a:ext cx="6480000" cy="324000"/>
          </a:xfrm>
          <a:solidFill>
            <a:schemeClr val="bg1">
              <a:alpha val="85000"/>
            </a:schemeClr>
          </a:solidFill>
        </p:spPr>
        <p:txBody>
          <a:bodyPr lIns="216000" tIns="90000" rIns="216000" bIns="46800"/>
          <a:lstStyle>
            <a:lvl1pPr algn="r">
              <a:lnSpc>
                <a:spcPct val="100000"/>
              </a:lnSpc>
              <a:defRPr sz="1000" b="1"/>
            </a:lvl1pPr>
            <a:lvl2pPr marL="1588" indent="0">
              <a:buNone/>
              <a:defRPr/>
            </a:lvl2pPr>
          </a:lstStyle>
          <a:p>
            <a:pPr lvl="0"/>
            <a:r>
              <a:rPr lang="de-DE" err="1"/>
              <a:t>Please</a:t>
            </a:r>
            <a:r>
              <a:rPr lang="de-DE"/>
              <a:t> </a:t>
            </a:r>
            <a:r>
              <a:rPr lang="de-DE" err="1"/>
              <a:t>insert</a:t>
            </a:r>
            <a:r>
              <a:rPr lang="de-DE"/>
              <a:t> URL</a:t>
            </a:r>
          </a:p>
        </p:txBody>
      </p:sp>
      <p:sp>
        <p:nvSpPr>
          <p:cNvPr id="10" name="Textplatzhalter 57343"/>
          <p:cNvSpPr>
            <a:spLocks noGrp="1"/>
          </p:cNvSpPr>
          <p:nvPr>
            <p:ph type="body" sz="quarter" idx="13" hasCustomPrompt="1"/>
          </p:nvPr>
        </p:nvSpPr>
        <p:spPr>
          <a:xfrm>
            <a:off x="627063" y="5907600"/>
            <a:ext cx="2340000" cy="324000"/>
          </a:xfrm>
        </p:spPr>
        <p:txBody>
          <a:bodyPr lIns="216000" tIns="90000" rIns="0" bIns="46800"/>
          <a:lstStyle>
            <a:lvl1pPr algn="l">
              <a:lnSpc>
                <a:spcPct val="100000"/>
              </a:lnSpc>
              <a:defRPr sz="1000" b="1"/>
            </a:lvl1pPr>
            <a:lvl2pPr marL="1588" indent="0">
              <a:buNone/>
              <a:defRPr/>
            </a:lvl2pPr>
          </a:lstStyle>
          <a:p>
            <a:pPr lvl="0"/>
            <a:r>
              <a:rPr lang="de-DE"/>
              <a:t>Please insert Internity note</a:t>
            </a:r>
          </a:p>
        </p:txBody>
      </p:sp>
      <p:grpSp>
        <p:nvGrpSpPr>
          <p:cNvPr id="32" name="Gruppieren 31"/>
          <p:cNvGrpSpPr/>
          <p:nvPr userDrawn="1"/>
        </p:nvGrpSpPr>
        <p:grpSpPr>
          <a:xfrm>
            <a:off x="-216000" y="-216000"/>
            <a:ext cx="12628800" cy="7290000"/>
            <a:chOff x="-216000" y="-216000"/>
            <a:chExt cx="12628800" cy="7290000"/>
          </a:xfrm>
        </p:grpSpPr>
        <p:cxnSp>
          <p:nvCxnSpPr>
            <p:cNvPr id="33" name="Gerade Verbindung 32"/>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rot="5400000">
              <a:off x="123228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94822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7" name="Gerade Verbindung 76"/>
            <p:cNvCxnSpPr/>
            <p:nvPr userDrawn="1"/>
          </p:nvCxnSpPr>
          <p:spPr bwMode="auto">
            <a:xfrm rot="5400000">
              <a:off x="-1260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4" name="Group 33"/>
          <p:cNvGrpSpPr>
            <a:grpSpLocks noChangeAspect="1"/>
          </p:cNvGrpSpPr>
          <p:nvPr userDrawn="1"/>
        </p:nvGrpSpPr>
        <p:grpSpPr bwMode="auto">
          <a:xfrm>
            <a:off x="9555163" y="323850"/>
            <a:ext cx="2159000" cy="914400"/>
            <a:chOff x="6019" y="204"/>
            <a:chExt cx="1360" cy="576"/>
          </a:xfrm>
        </p:grpSpPr>
        <p:sp>
          <p:nvSpPr>
            <p:cNvPr id="35"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2"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26686181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Title color fill">
    <p:bg>
      <p:bgPr>
        <a:solidFill>
          <a:schemeClr val="accent2"/>
        </a:solidFill>
        <a:effectLst/>
      </p:bgPr>
    </p:bg>
    <p:spTree>
      <p:nvGrpSpPr>
        <p:cNvPr id="1" name=""/>
        <p:cNvGrpSpPr/>
        <p:nvPr/>
      </p:nvGrpSpPr>
      <p:grpSpPr>
        <a:xfrm>
          <a:off x="0" y="0"/>
          <a:ext cx="0" cy="0"/>
          <a:chOff x="0" y="0"/>
          <a:chExt cx="0" cy="0"/>
        </a:xfrm>
      </p:grpSpPr>
      <p:sp>
        <p:nvSpPr>
          <p:cNvPr id="3" name="cdtRectangle 115 Id57350"/>
          <p:cNvSpPr>
            <a:spLocks noGrp="1" noChangeArrowheads="1"/>
          </p:cNvSpPr>
          <p:nvPr>
            <p:ph type="ctrTitle"/>
            <p:custDataLst>
              <p:tags r:id="rId1"/>
            </p:custDataLst>
          </p:nvPr>
        </p:nvSpPr>
        <p:spPr bwMode="ltGray">
          <a:xfrm>
            <a:off x="627063" y="3462181"/>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4" name="cdtText Box 101 Id11"/>
          <p:cNvSpPr txBox="1">
            <a:spLocks noChangeArrowheads="1"/>
          </p:cNvSpPr>
          <p:nvPr userDrawn="1">
            <p:custDataLst>
              <p:tags r:id="rId2"/>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sp>
        <p:nvSpPr>
          <p:cNvPr id="8" name="Textplatzhalter 57343"/>
          <p:cNvSpPr>
            <a:spLocks noGrp="1"/>
          </p:cNvSpPr>
          <p:nvPr>
            <p:ph type="body" sz="quarter" idx="12" hasCustomPrompt="1"/>
          </p:nvPr>
        </p:nvSpPr>
        <p:spPr>
          <a:xfrm>
            <a:off x="627063" y="5907600"/>
            <a:ext cx="6480000" cy="324000"/>
          </a:xfrm>
          <a:solidFill>
            <a:schemeClr val="bg1">
              <a:alpha val="85000"/>
            </a:schemeClr>
          </a:solidFill>
        </p:spPr>
        <p:txBody>
          <a:bodyPr lIns="216000" tIns="90000" rIns="216000" bIns="46800"/>
          <a:lstStyle>
            <a:lvl1pPr algn="r">
              <a:lnSpc>
                <a:spcPct val="100000"/>
              </a:lnSpc>
              <a:defRPr sz="1000" b="1"/>
            </a:lvl1pPr>
            <a:lvl2pPr marL="1588" indent="0">
              <a:buNone/>
              <a:defRPr/>
            </a:lvl2pPr>
          </a:lstStyle>
          <a:p>
            <a:pPr lvl="0"/>
            <a:r>
              <a:rPr lang="de-DE" err="1"/>
              <a:t>Please</a:t>
            </a:r>
            <a:r>
              <a:rPr lang="de-DE"/>
              <a:t> </a:t>
            </a:r>
            <a:r>
              <a:rPr lang="de-DE" err="1"/>
              <a:t>insert</a:t>
            </a:r>
            <a:r>
              <a:rPr lang="de-DE"/>
              <a:t> URL</a:t>
            </a:r>
          </a:p>
        </p:txBody>
      </p:sp>
      <p:sp>
        <p:nvSpPr>
          <p:cNvPr id="11" name="Textplatzhalter 57343"/>
          <p:cNvSpPr>
            <a:spLocks noGrp="1"/>
          </p:cNvSpPr>
          <p:nvPr>
            <p:ph type="body" sz="quarter" idx="13" hasCustomPrompt="1"/>
          </p:nvPr>
        </p:nvSpPr>
        <p:spPr>
          <a:xfrm>
            <a:off x="627063" y="5907600"/>
            <a:ext cx="2340000" cy="324000"/>
          </a:xfrm>
        </p:spPr>
        <p:txBody>
          <a:bodyPr lIns="216000" tIns="90000" rIns="0" bIns="46800"/>
          <a:lstStyle>
            <a:lvl1pPr algn="l">
              <a:lnSpc>
                <a:spcPct val="100000"/>
              </a:lnSpc>
              <a:defRPr sz="1000" b="1"/>
            </a:lvl1pPr>
            <a:lvl2pPr marL="1588" indent="0">
              <a:buNone/>
              <a:defRPr/>
            </a:lvl2pPr>
          </a:lstStyle>
          <a:p>
            <a:pPr lvl="0"/>
            <a:r>
              <a:rPr lang="de-DE"/>
              <a:t>Please insert Internity note</a:t>
            </a:r>
          </a:p>
        </p:txBody>
      </p:sp>
      <p:grpSp>
        <p:nvGrpSpPr>
          <p:cNvPr id="31" name="Gruppieren 30"/>
          <p:cNvGrpSpPr/>
          <p:nvPr userDrawn="1"/>
        </p:nvGrpSpPr>
        <p:grpSpPr>
          <a:xfrm>
            <a:off x="-216000" y="-216000"/>
            <a:ext cx="12628800" cy="7290000"/>
            <a:chOff x="-216000" y="-216000"/>
            <a:chExt cx="12628800" cy="7290000"/>
          </a:xfrm>
        </p:grpSpPr>
        <p:cxnSp>
          <p:nvCxnSpPr>
            <p:cNvPr id="32" name="Gerade Verbindung 31"/>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6109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3" name="Group 33"/>
          <p:cNvGrpSpPr>
            <a:grpSpLocks noChangeAspect="1"/>
          </p:cNvGrpSpPr>
          <p:nvPr userDrawn="1"/>
        </p:nvGrpSpPr>
        <p:grpSpPr bwMode="auto">
          <a:xfrm>
            <a:off x="9555163" y="323850"/>
            <a:ext cx="2159000" cy="914400"/>
            <a:chOff x="6019" y="204"/>
            <a:chExt cx="1360" cy="576"/>
          </a:xfrm>
        </p:grpSpPr>
        <p:sp>
          <p:nvSpPr>
            <p:cNvPr id="34"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0641734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Chapter title picture">
    <p:spTree>
      <p:nvGrpSpPr>
        <p:cNvPr id="1" name=""/>
        <p:cNvGrpSpPr/>
        <p:nvPr/>
      </p:nvGrpSpPr>
      <p:grpSpPr>
        <a:xfrm>
          <a:off x="0" y="0"/>
          <a:ext cx="0" cy="0"/>
          <a:chOff x="0" y="0"/>
          <a:chExt cx="0" cy="0"/>
        </a:xfrm>
      </p:grpSpPr>
      <p:pic>
        <p:nvPicPr>
          <p:cNvPr id="31" name="Grafik 30"/>
          <p:cNvPicPr>
            <a:picLocks noChangeAspect="1"/>
          </p:cNvPicPr>
          <p:nvPr userDrawn="1"/>
        </p:nvPicPr>
        <p:blipFill rotWithShape="1">
          <a:blip r:embed="rId4" cstate="screen">
            <a:extLst>
              <a:ext uri="{28A0092B-C50C-407E-A947-70E740481C1C}">
                <a14:useLocalDpi xmlns:a14="http://schemas.microsoft.com/office/drawing/2010/main"/>
              </a:ext>
            </a:extLst>
          </a:blip>
          <a:srcRect/>
          <a:stretch/>
        </p:blipFill>
        <p:spPr>
          <a:xfrm>
            <a:off x="0" y="0"/>
            <a:ext cx="12196800" cy="6857128"/>
          </a:xfrm>
          <a:prstGeom prst="rect">
            <a:avLst/>
          </a:prstGeom>
        </p:spPr>
      </p:pic>
      <p:sp>
        <p:nvSpPr>
          <p:cNvPr id="4" name="cdtRectangle 115 Id57350"/>
          <p:cNvSpPr>
            <a:spLocks noGrp="1" noChangeArrowheads="1"/>
          </p:cNvSpPr>
          <p:nvPr>
            <p:ph type="ctrTitle"/>
            <p:custDataLst>
              <p:tags r:id="rId1"/>
            </p:custDataLst>
          </p:nvPr>
        </p:nvSpPr>
        <p:spPr bwMode="ltGray">
          <a:xfrm>
            <a:off x="627063" y="3891286"/>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5" name="cdtText Box 101 Id11"/>
          <p:cNvSpPr txBox="1">
            <a:spLocks noChangeArrowheads="1"/>
          </p:cNvSpPr>
          <p:nvPr userDrawn="1">
            <p:custDataLst>
              <p:tags r:id="rId2"/>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grpSp>
        <p:nvGrpSpPr>
          <p:cNvPr id="32" name="Gruppieren 31"/>
          <p:cNvGrpSpPr/>
          <p:nvPr userDrawn="1"/>
        </p:nvGrpSpPr>
        <p:grpSpPr>
          <a:xfrm>
            <a:off x="-216000" y="-216000"/>
            <a:ext cx="12628800" cy="7290000"/>
            <a:chOff x="-216000" y="-216000"/>
            <a:chExt cx="12628800" cy="7290000"/>
          </a:xfrm>
        </p:grpSpPr>
        <p:cxnSp>
          <p:nvCxnSpPr>
            <p:cNvPr id="33" name="Gerade Verbindung 32"/>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7" name="Gerade Verbindung 76"/>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30" name="Group 33"/>
          <p:cNvGrpSpPr>
            <a:grpSpLocks noChangeAspect="1"/>
          </p:cNvGrpSpPr>
          <p:nvPr userDrawn="1"/>
        </p:nvGrpSpPr>
        <p:grpSpPr bwMode="auto">
          <a:xfrm>
            <a:off x="9555163" y="323850"/>
            <a:ext cx="2159000" cy="914400"/>
            <a:chOff x="6019" y="204"/>
            <a:chExt cx="1360" cy="576"/>
          </a:xfrm>
        </p:grpSpPr>
        <p:sp>
          <p:nvSpPr>
            <p:cNvPr id="34"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6"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1"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29053753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Chapter title color fill">
    <p:bg>
      <p:bgPr>
        <a:solidFill>
          <a:schemeClr val="accent2"/>
        </a:solidFill>
        <a:effectLst/>
      </p:bgPr>
    </p:bg>
    <p:spTree>
      <p:nvGrpSpPr>
        <p:cNvPr id="1" name=""/>
        <p:cNvGrpSpPr/>
        <p:nvPr/>
      </p:nvGrpSpPr>
      <p:grpSpPr>
        <a:xfrm>
          <a:off x="0" y="0"/>
          <a:ext cx="0" cy="0"/>
          <a:chOff x="0" y="0"/>
          <a:chExt cx="0" cy="0"/>
        </a:xfrm>
      </p:grpSpPr>
      <p:sp>
        <p:nvSpPr>
          <p:cNvPr id="3" name="cdtRectangle 115 Id57350"/>
          <p:cNvSpPr>
            <a:spLocks noGrp="1" noChangeArrowheads="1"/>
          </p:cNvSpPr>
          <p:nvPr>
            <p:ph type="ctrTitle"/>
            <p:custDataLst>
              <p:tags r:id="rId1"/>
            </p:custDataLst>
          </p:nvPr>
        </p:nvSpPr>
        <p:spPr bwMode="ltGray">
          <a:xfrm>
            <a:off x="627063" y="3891600"/>
            <a:ext cx="6480000" cy="2340314"/>
          </a:xfr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4" name="cdtText Box 101 Id11"/>
          <p:cNvSpPr txBox="1">
            <a:spLocks noChangeArrowheads="1"/>
          </p:cNvSpPr>
          <p:nvPr userDrawn="1">
            <p:custDataLst>
              <p:tags r:id="rId2"/>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grpSp>
        <p:nvGrpSpPr>
          <p:cNvPr id="31" name="Gruppieren 30"/>
          <p:cNvGrpSpPr/>
          <p:nvPr userDrawn="1"/>
        </p:nvGrpSpPr>
        <p:grpSpPr>
          <a:xfrm>
            <a:off x="-216000" y="-216000"/>
            <a:ext cx="12628800" cy="7290000"/>
            <a:chOff x="-216000" y="-216000"/>
            <a:chExt cx="12628800" cy="7290000"/>
          </a:xfrm>
        </p:grpSpPr>
        <p:cxnSp>
          <p:nvCxnSpPr>
            <p:cNvPr id="32" name="Gerade Verbindung 31"/>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29" name="Group 33"/>
          <p:cNvGrpSpPr>
            <a:grpSpLocks noChangeAspect="1"/>
          </p:cNvGrpSpPr>
          <p:nvPr userDrawn="1"/>
        </p:nvGrpSpPr>
        <p:grpSpPr bwMode="auto">
          <a:xfrm>
            <a:off x="9555163" y="323850"/>
            <a:ext cx="2159000" cy="914400"/>
            <a:chOff x="6019" y="204"/>
            <a:chExt cx="1360" cy="576"/>
          </a:xfrm>
        </p:grpSpPr>
        <p:sp>
          <p:nvSpPr>
            <p:cNvPr id="30"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243080435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Chapter title Dynamic Petrol">
    <p:bg>
      <p:bgPr>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effectLst/>
      </p:bgPr>
    </p:bg>
    <p:spTree>
      <p:nvGrpSpPr>
        <p:cNvPr id="1" name=""/>
        <p:cNvGrpSpPr/>
        <p:nvPr/>
      </p:nvGrpSpPr>
      <p:grpSpPr>
        <a:xfrm>
          <a:off x="0" y="0"/>
          <a:ext cx="0" cy="0"/>
          <a:chOff x="0" y="0"/>
          <a:chExt cx="0" cy="0"/>
        </a:xfrm>
      </p:grpSpPr>
      <p:sp>
        <p:nvSpPr>
          <p:cNvPr id="4" name="cdtText Box 101 Id11"/>
          <p:cNvSpPr txBox="1">
            <a:spLocks noChangeArrowheads="1"/>
          </p:cNvSpPr>
          <p:nvPr userDrawn="1">
            <p:custDataLst>
              <p:tags r:id="rId1"/>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grpSp>
        <p:nvGrpSpPr>
          <p:cNvPr id="31" name="Gruppieren 30"/>
          <p:cNvGrpSpPr/>
          <p:nvPr userDrawn="1"/>
        </p:nvGrpSpPr>
        <p:grpSpPr>
          <a:xfrm>
            <a:off x="-216000" y="-216000"/>
            <a:ext cx="12628800" cy="7290000"/>
            <a:chOff x="-216000" y="-216000"/>
            <a:chExt cx="12628800" cy="7290000"/>
          </a:xfrm>
        </p:grpSpPr>
        <p:cxnSp>
          <p:nvCxnSpPr>
            <p:cNvPr id="32" name="Gerade Verbindung 31"/>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30" name="cdtRectangle 115 Id57350"/>
          <p:cNvSpPr>
            <a:spLocks noGrp="1" noChangeArrowheads="1"/>
          </p:cNvSpPr>
          <p:nvPr>
            <p:ph type="ctrTitle"/>
            <p:custDataLst>
              <p:tags r:id="rId2"/>
            </p:custDataLst>
          </p:nvPr>
        </p:nvSpPr>
        <p:spPr bwMode="ltGray">
          <a:xfrm>
            <a:off x="627063" y="3891600"/>
            <a:ext cx="6480000" cy="2340314"/>
          </a:xfrm>
          <a:no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grpSp>
        <p:nvGrpSpPr>
          <p:cNvPr id="28" name="Group 33"/>
          <p:cNvGrpSpPr>
            <a:grpSpLocks noChangeAspect="1"/>
          </p:cNvGrpSpPr>
          <p:nvPr userDrawn="1"/>
        </p:nvGrpSpPr>
        <p:grpSpPr bwMode="auto">
          <a:xfrm>
            <a:off x="9555163" y="323850"/>
            <a:ext cx="2159000" cy="914400"/>
            <a:chOff x="6019" y="204"/>
            <a:chExt cx="1360" cy="576"/>
          </a:xfrm>
        </p:grpSpPr>
        <p:sp>
          <p:nvSpPr>
            <p:cNvPr id="33"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39833073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hapter title Blue light">
    <p:bg>
      <p:bgPr>
        <a:solidFill>
          <a:srgbClr val="50BED7"/>
        </a:solidFill>
        <a:effectLst/>
      </p:bgPr>
    </p:bg>
    <p:spTree>
      <p:nvGrpSpPr>
        <p:cNvPr id="1" name=""/>
        <p:cNvGrpSpPr/>
        <p:nvPr/>
      </p:nvGrpSpPr>
      <p:grpSpPr>
        <a:xfrm>
          <a:off x="0" y="0"/>
          <a:ext cx="0" cy="0"/>
          <a:chOff x="0" y="0"/>
          <a:chExt cx="0" cy="0"/>
        </a:xfrm>
      </p:grpSpPr>
      <p:sp>
        <p:nvSpPr>
          <p:cNvPr id="4" name="cdtText Box 101 Id11"/>
          <p:cNvSpPr txBox="1">
            <a:spLocks noChangeArrowheads="1"/>
          </p:cNvSpPr>
          <p:nvPr userDrawn="1">
            <p:custDataLst>
              <p:tags r:id="rId1"/>
            </p:custDataLst>
          </p:nvPr>
        </p:nvSpPr>
        <p:spPr bwMode="auto">
          <a:xfrm>
            <a:off x="6099175" y="0"/>
            <a:ext cx="1588" cy="1588"/>
          </a:xfrm>
          <a:prstGeom prst="rect">
            <a:avLst/>
          </a:prstGeom>
          <a:noFill/>
          <a:ln>
            <a:noFill/>
          </a:ln>
          <a:effectLst/>
          <a:extLst>
            <a:ext uri="{909E8E84-426E-40DD-AFC4-6F175D3DCCD1}">
              <a14:hiddenFill xmlns:a14="http://schemas.microsoft.com/office/drawing/2010/main">
                <a:solidFill>
                  <a:srgbClr val="FF9900"/>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0" tIns="36000" rIns="0" bIns="0">
            <a:noAutofit/>
          </a:bodyPr>
          <a:lstStyle/>
          <a:p>
            <a:pPr algn="ctr">
              <a:buClrTx/>
              <a:buFontTx/>
              <a:buNone/>
            </a:pPr>
            <a:endParaRPr lang="en-US" sz="1100" b="1">
              <a:solidFill>
                <a:srgbClr val="990000"/>
              </a:solidFill>
            </a:endParaRPr>
          </a:p>
        </p:txBody>
      </p:sp>
      <p:grpSp>
        <p:nvGrpSpPr>
          <p:cNvPr id="31" name="Gruppieren 30"/>
          <p:cNvGrpSpPr/>
          <p:nvPr userDrawn="1"/>
        </p:nvGrpSpPr>
        <p:grpSpPr>
          <a:xfrm>
            <a:off x="-216000" y="-216000"/>
            <a:ext cx="12628800" cy="7290000"/>
            <a:chOff x="-216000" y="-216000"/>
            <a:chExt cx="12628800" cy="7290000"/>
          </a:xfrm>
        </p:grpSpPr>
        <p:cxnSp>
          <p:nvCxnSpPr>
            <p:cNvPr id="32" name="Gerade Verbindung 31"/>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55"/>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 Verbindung 56"/>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 Verbindung 57"/>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 Verbindung 58"/>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 Verbindung 59"/>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 Verbindung 60"/>
            <p:cNvCxnSpPr/>
            <p:nvPr userDrawn="1"/>
          </p:nvCxnSpPr>
          <p:spPr bwMode="auto">
            <a:xfrm rot="5400000">
              <a:off x="123228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 Verbindung 61"/>
            <p:cNvCxnSpPr/>
            <p:nvPr userDrawn="1"/>
          </p:nvCxnSpPr>
          <p:spPr bwMode="auto">
            <a:xfrm rot="5400000">
              <a:off x="123228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 Verbindung 62"/>
            <p:cNvCxnSpPr/>
            <p:nvPr userDrawn="1"/>
          </p:nvCxnSpPr>
          <p:spPr bwMode="auto">
            <a:xfrm rot="5400000">
              <a:off x="123228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 Verbindung 63"/>
            <p:cNvCxnSpPr/>
            <p:nvPr userDrawn="1"/>
          </p:nvCxnSpPr>
          <p:spPr bwMode="auto">
            <a:xfrm rot="5400000">
              <a:off x="123228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 Verbindung 64"/>
            <p:cNvCxnSpPr/>
            <p:nvPr userDrawn="1"/>
          </p:nvCxnSpPr>
          <p:spPr bwMode="auto">
            <a:xfrm rot="5400000">
              <a:off x="123228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 Verbindung 65"/>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7" name="Gerade Verbindung 66"/>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8" name="Gerade Verbindung 67"/>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6000" y="1465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6000" y="36972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6000" y="38376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6000" y="607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34" name="cdtRectangle 115 Id57350"/>
          <p:cNvSpPr>
            <a:spLocks noGrp="1" noChangeArrowheads="1"/>
          </p:cNvSpPr>
          <p:nvPr>
            <p:ph type="ctrTitle"/>
            <p:custDataLst>
              <p:tags r:id="rId2"/>
            </p:custDataLst>
          </p:nvPr>
        </p:nvSpPr>
        <p:spPr bwMode="ltGray">
          <a:xfrm>
            <a:off x="627063" y="3891600"/>
            <a:ext cx="6480000" cy="2340314"/>
          </a:xfrm>
          <a:noFill/>
        </p:spPr>
        <p:txBody>
          <a:bodyPr wrap="square" lIns="216000" tIns="90000" rIns="216000" bIns="216000" anchor="b" anchorCtr="0">
            <a:spAutoFit/>
          </a:bodyPr>
          <a:lstStyle>
            <a:lvl1pPr>
              <a:defRPr sz="4400" smtClean="0">
                <a:solidFill>
                  <a:srgbClr val="FFFFFF"/>
                </a:solidFill>
                <a:latin typeface="Arial" pitchFamily="34" charset="0"/>
              </a:defRPr>
            </a:lvl1pPr>
          </a:lstStyle>
          <a:p>
            <a:r>
              <a:rPr lang="en-US" err="1"/>
              <a:t>Titelmasterformat</a:t>
            </a:r>
            <a:r>
              <a:rPr lang="en-US"/>
              <a:t> </a:t>
            </a:r>
            <a:r>
              <a:rPr lang="en-US" err="1"/>
              <a:t>durch</a:t>
            </a:r>
            <a:r>
              <a:rPr lang="en-US"/>
              <a:t> </a:t>
            </a:r>
            <a:r>
              <a:rPr lang="en-US" err="1"/>
              <a:t>Klicken</a:t>
            </a:r>
            <a:r>
              <a:rPr lang="en-US"/>
              <a:t> </a:t>
            </a:r>
            <a:r>
              <a:rPr lang="en-US" err="1"/>
              <a:t>bearbeiten</a:t>
            </a:r>
            <a:endParaRPr lang="en-US"/>
          </a:p>
        </p:txBody>
      </p:sp>
      <p:grpSp>
        <p:nvGrpSpPr>
          <p:cNvPr id="28" name="Group 33"/>
          <p:cNvGrpSpPr>
            <a:grpSpLocks noChangeAspect="1"/>
          </p:cNvGrpSpPr>
          <p:nvPr userDrawn="1"/>
        </p:nvGrpSpPr>
        <p:grpSpPr bwMode="auto">
          <a:xfrm>
            <a:off x="9555163" y="323850"/>
            <a:ext cx="2159000" cy="914400"/>
            <a:chOff x="6019" y="204"/>
            <a:chExt cx="1360" cy="576"/>
          </a:xfrm>
        </p:grpSpPr>
        <p:sp>
          <p:nvSpPr>
            <p:cNvPr id="30"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2"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3"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4"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5"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6"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7"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8"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9"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0"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1"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2"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3"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4"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55"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7"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8"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9"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0"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36554810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Image + Index">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endParaRPr lang="fr-FR"/>
          </a:p>
        </p:txBody>
      </p:sp>
      <p:sp>
        <p:nvSpPr>
          <p:cNvPr id="4" name="cdtText Placeholder 12 Id13"/>
          <p:cNvSpPr>
            <a:spLocks noGrp="1"/>
          </p:cNvSpPr>
          <p:nvPr>
            <p:ph type="body" sz="quarter" idx="14" hasCustomPrompt="1"/>
            <p:custDataLst>
              <p:tags r:id="rId1"/>
            </p:custDataLst>
          </p:nvPr>
        </p:nvSpPr>
        <p:spPr bwMode="auto">
          <a:xfrm>
            <a:off x="4658996" y="1439999"/>
            <a:ext cx="7539354" cy="4752000"/>
          </a:xfrm>
          <a:solidFill>
            <a:srgbClr val="D7D7CD"/>
          </a:solidFill>
        </p:spPr>
        <p:txBody>
          <a:bodyPr lIns="252000" tIns="144000" rIns="482400" bIns="144000"/>
          <a:lstStyle>
            <a:lvl1pPr marL="0" indent="0">
              <a:lnSpc>
                <a:spcPct val="100000"/>
              </a:lnSpc>
              <a:spcBef>
                <a:spcPts val="500"/>
              </a:spcBef>
              <a:spcAft>
                <a:spcPts val="500"/>
              </a:spcAft>
              <a:buClr>
                <a:schemeClr val="bg2"/>
              </a:buClr>
              <a:buFont typeface="Arial" pitchFamily="34" charset="0"/>
              <a:buNone/>
              <a:tabLst>
                <a:tab pos="5359400" algn="r"/>
              </a:tabLst>
              <a:defRPr>
                <a:solidFill>
                  <a:srgbClr val="000000"/>
                </a:solidFill>
              </a:defRPr>
            </a:lvl1pPr>
            <a:lvl2pPr marL="177800" indent="-176213">
              <a:lnSpc>
                <a:spcPct val="100000"/>
              </a:lnSpc>
              <a:spcBef>
                <a:spcPts val="500"/>
              </a:spcBef>
              <a:spcAft>
                <a:spcPts val="500"/>
              </a:spcAft>
              <a:buFont typeface="Arial" pitchFamily="34" charset="0"/>
              <a:buChar char="•"/>
              <a:tabLst>
                <a:tab pos="5359400" algn="r"/>
              </a:tabLst>
              <a:defRPr b="0">
                <a:solidFill>
                  <a:srgbClr val="000000"/>
                </a:solidFill>
              </a:defRPr>
            </a:lvl2pPr>
            <a:lvl3pPr marL="177800" indent="-177800">
              <a:lnSpc>
                <a:spcPct val="100000"/>
              </a:lnSpc>
              <a:spcBef>
                <a:spcPts val="500"/>
              </a:spcBef>
              <a:spcAft>
                <a:spcPts val="500"/>
              </a:spcAft>
              <a:buFont typeface="Arial" pitchFamily="34" charset="0"/>
              <a:buChar char="•"/>
              <a:tabLst>
                <a:tab pos="5359400" algn="r"/>
              </a:tabLst>
              <a:defRPr b="1">
                <a:solidFill>
                  <a:srgbClr val="000000"/>
                </a:solidFill>
              </a:defRPr>
            </a:lvl3pPr>
            <a:lvl4pPr marL="357188" indent="-177800">
              <a:lnSpc>
                <a:spcPct val="100000"/>
              </a:lnSpc>
              <a:spcBef>
                <a:spcPts val="500"/>
              </a:spcBef>
              <a:spcAft>
                <a:spcPts val="500"/>
              </a:spcAft>
              <a:buFont typeface="Arial" pitchFamily="34" charset="0"/>
              <a:buChar char="•"/>
              <a:tabLst>
                <a:tab pos="5359400" algn="r"/>
              </a:tabLst>
              <a:defRPr b="0">
                <a:solidFill>
                  <a:srgbClr val="000000"/>
                </a:solidFill>
              </a:defRPr>
            </a:lvl4pPr>
            <a:lvl5pPr marL="357188" indent="-177800">
              <a:lnSpc>
                <a:spcPct val="100000"/>
              </a:lnSpc>
              <a:spcBef>
                <a:spcPts val="500"/>
              </a:spcBef>
              <a:spcAft>
                <a:spcPts val="500"/>
              </a:spcAft>
              <a:buFont typeface="Arial" pitchFamily="34" charset="0"/>
              <a:buChar char="•"/>
              <a:tabLst>
                <a:tab pos="5359400" algn="r"/>
              </a:tabLst>
              <a:defRPr b="1" baseline="0">
                <a:solidFill>
                  <a:srgbClr val="000000"/>
                </a:solidFill>
              </a:defRPr>
            </a:lvl5pPr>
            <a:lvl6pPr marL="360363" indent="-180975">
              <a:lnSpc>
                <a:spcPct val="100000"/>
              </a:lnSpc>
              <a:spcBef>
                <a:spcPts val="500"/>
              </a:spcBef>
              <a:spcAft>
                <a:spcPts val="500"/>
              </a:spcAft>
              <a:buFont typeface="Arial" pitchFamily="34" charset="0"/>
              <a:buChar char="•"/>
              <a:tabLst>
                <a:tab pos="5359400" algn="r"/>
              </a:tabLst>
              <a:defRPr b="1"/>
            </a:lvl6pPr>
          </a:lstStyle>
          <a:p>
            <a:pPr lvl="0"/>
            <a:r>
              <a:rPr lang="en-US"/>
              <a:t>Click to edit the </a:t>
            </a:r>
            <a:r>
              <a:rPr lang="en-US" err="1"/>
              <a:t>toc</a:t>
            </a:r>
            <a:r>
              <a:rPr lang="en-US"/>
              <a:t> / contact</a:t>
            </a:r>
          </a:p>
          <a:p>
            <a:pPr lvl="1"/>
            <a:r>
              <a:rPr lang="en-US"/>
              <a:t>chapter</a:t>
            </a:r>
          </a:p>
          <a:p>
            <a:pPr lvl="2"/>
            <a:r>
              <a:rPr lang="en-US"/>
              <a:t>active chapter</a:t>
            </a:r>
          </a:p>
          <a:p>
            <a:pPr lvl="3"/>
            <a:r>
              <a:rPr lang="en-US"/>
              <a:t>subchapter</a:t>
            </a:r>
          </a:p>
          <a:p>
            <a:pPr lvl="4"/>
            <a:r>
              <a:rPr lang="en-US"/>
              <a:t>active subchapter</a:t>
            </a:r>
          </a:p>
        </p:txBody>
      </p:sp>
      <p:sp>
        <p:nvSpPr>
          <p:cNvPr id="8" name="Bildplatzhalter 7"/>
          <p:cNvSpPr>
            <a:spLocks noGrp="1"/>
          </p:cNvSpPr>
          <p:nvPr>
            <p:ph type="pic" sz="quarter" idx="15"/>
          </p:nvPr>
        </p:nvSpPr>
        <p:spPr>
          <a:xfrm>
            <a:off x="0" y="1439999"/>
            <a:ext cx="4514400" cy="4752000"/>
          </a:xfrm>
        </p:spPr>
        <p:txBody>
          <a:bodyPr tIns="1800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502154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ext + Index" preserve="1" userDrawn="1">
  <p:cSld name="Text + Index">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lvl1pPr>
              <a:defRPr/>
            </a:lvl1pPr>
          </a:lstStyle>
          <a:p>
            <a:r>
              <a:rPr lang="de-DE"/>
              <a:t>Titelmasterformat durch Klicken bearbeiten</a:t>
            </a:r>
            <a:endParaRPr lang="en-US"/>
          </a:p>
        </p:txBody>
      </p:sp>
      <p:sp>
        <p:nvSpPr>
          <p:cNvPr id="13" name="cdtText Placeholder 12 Id13"/>
          <p:cNvSpPr>
            <a:spLocks noGrp="1"/>
          </p:cNvSpPr>
          <p:nvPr>
            <p:ph type="body" sz="quarter" idx="13"/>
            <p:custDataLst>
              <p:tags r:id="rId3"/>
            </p:custDataLst>
          </p:nvPr>
        </p:nvSpPr>
        <p:spPr>
          <a:xfrm>
            <a:off x="627063" y="1440000"/>
            <a:ext cx="3887914"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5" name="cdtTextplatzhalter 12 Id5"/>
          <p:cNvSpPr>
            <a:spLocks noGrp="1"/>
          </p:cNvSpPr>
          <p:nvPr>
            <p:ph type="body" sz="quarter" idx="14" hasCustomPrompt="1"/>
            <p:custDataLst>
              <p:tags r:id="rId4"/>
            </p:custDataLst>
          </p:nvPr>
        </p:nvSpPr>
        <p:spPr bwMode="auto">
          <a:xfrm>
            <a:off x="4658995" y="1440000"/>
            <a:ext cx="7539355" cy="4752000"/>
          </a:xfrm>
          <a:solidFill>
            <a:srgbClr val="D7D7CD"/>
          </a:solidFill>
        </p:spPr>
        <p:txBody>
          <a:bodyPr lIns="252000" tIns="144000" rIns="482400" bIns="144000"/>
          <a:lstStyle>
            <a:lvl1pPr marL="0" indent="0">
              <a:lnSpc>
                <a:spcPct val="100000"/>
              </a:lnSpc>
              <a:spcBef>
                <a:spcPts val="500"/>
              </a:spcBef>
              <a:spcAft>
                <a:spcPts val="500"/>
              </a:spcAft>
              <a:buClr>
                <a:schemeClr val="bg2"/>
              </a:buClr>
              <a:buFont typeface="Arial" pitchFamily="34" charset="0"/>
              <a:buNone/>
              <a:tabLst>
                <a:tab pos="5359400" algn="r"/>
              </a:tabLst>
              <a:defRPr>
                <a:solidFill>
                  <a:srgbClr val="000000"/>
                </a:solidFill>
              </a:defRPr>
            </a:lvl1pPr>
            <a:lvl2pPr marL="177800" indent="-176213">
              <a:lnSpc>
                <a:spcPct val="100000"/>
              </a:lnSpc>
              <a:spcBef>
                <a:spcPts val="500"/>
              </a:spcBef>
              <a:spcAft>
                <a:spcPts val="500"/>
              </a:spcAft>
              <a:buFont typeface="Arial" pitchFamily="34" charset="0"/>
              <a:buChar char="•"/>
              <a:tabLst>
                <a:tab pos="5359400" algn="r"/>
              </a:tabLst>
              <a:defRPr b="0">
                <a:solidFill>
                  <a:srgbClr val="000000"/>
                </a:solidFill>
              </a:defRPr>
            </a:lvl2pPr>
            <a:lvl3pPr marL="177800" indent="-177800">
              <a:lnSpc>
                <a:spcPct val="100000"/>
              </a:lnSpc>
              <a:spcBef>
                <a:spcPts val="500"/>
              </a:spcBef>
              <a:spcAft>
                <a:spcPts val="500"/>
              </a:spcAft>
              <a:buFont typeface="Arial" pitchFamily="34" charset="0"/>
              <a:buChar char="•"/>
              <a:tabLst>
                <a:tab pos="5359400" algn="r"/>
              </a:tabLst>
              <a:defRPr b="1">
                <a:solidFill>
                  <a:srgbClr val="000000"/>
                </a:solidFill>
              </a:defRPr>
            </a:lvl3pPr>
            <a:lvl4pPr marL="357188" indent="-177800">
              <a:lnSpc>
                <a:spcPct val="100000"/>
              </a:lnSpc>
              <a:spcBef>
                <a:spcPts val="500"/>
              </a:spcBef>
              <a:spcAft>
                <a:spcPts val="500"/>
              </a:spcAft>
              <a:buFont typeface="Arial" pitchFamily="34" charset="0"/>
              <a:buChar char="•"/>
              <a:tabLst>
                <a:tab pos="5359400" algn="r"/>
              </a:tabLst>
              <a:defRPr b="0">
                <a:solidFill>
                  <a:srgbClr val="000000"/>
                </a:solidFill>
              </a:defRPr>
            </a:lvl4pPr>
            <a:lvl5pPr marL="357188" indent="-177800">
              <a:lnSpc>
                <a:spcPct val="100000"/>
              </a:lnSpc>
              <a:spcBef>
                <a:spcPts val="500"/>
              </a:spcBef>
              <a:spcAft>
                <a:spcPts val="500"/>
              </a:spcAft>
              <a:buFont typeface="Arial" pitchFamily="34" charset="0"/>
              <a:buChar char="•"/>
              <a:tabLst>
                <a:tab pos="5359400" algn="r"/>
              </a:tabLst>
              <a:defRPr b="1" baseline="0">
                <a:solidFill>
                  <a:srgbClr val="000000"/>
                </a:solidFill>
              </a:defRPr>
            </a:lvl5pPr>
            <a:lvl6pPr marL="360363" indent="-180975">
              <a:lnSpc>
                <a:spcPct val="100000"/>
              </a:lnSpc>
              <a:spcBef>
                <a:spcPts val="500"/>
              </a:spcBef>
              <a:spcAft>
                <a:spcPts val="500"/>
              </a:spcAft>
              <a:buFont typeface="Arial" pitchFamily="34" charset="0"/>
              <a:buChar char="•"/>
              <a:tabLst>
                <a:tab pos="5359400" algn="r"/>
              </a:tabLst>
              <a:defRPr b="1"/>
            </a:lvl6pPr>
          </a:lstStyle>
          <a:p>
            <a:pPr lvl="0"/>
            <a:r>
              <a:rPr lang="en-US"/>
              <a:t>Click to edit the </a:t>
            </a:r>
            <a:r>
              <a:rPr lang="en-US" err="1"/>
              <a:t>toc</a:t>
            </a:r>
            <a:r>
              <a:rPr lang="en-US"/>
              <a:t> / contact</a:t>
            </a:r>
          </a:p>
          <a:p>
            <a:pPr lvl="1"/>
            <a:r>
              <a:rPr lang="en-US"/>
              <a:t>chapter</a:t>
            </a:r>
          </a:p>
          <a:p>
            <a:pPr lvl="2"/>
            <a:r>
              <a:rPr lang="en-US"/>
              <a:t>active chapter</a:t>
            </a:r>
          </a:p>
          <a:p>
            <a:pPr lvl="3"/>
            <a:r>
              <a:rPr lang="en-US"/>
              <a:t>subchapter</a:t>
            </a:r>
          </a:p>
          <a:p>
            <a:pPr lvl="4"/>
            <a:r>
              <a:rPr lang="en-US"/>
              <a:t>active subchapter</a:t>
            </a:r>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Free Content" type="titleOnly" preserve="1">
  <p:cSld name="Free Content">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0"/>
            <a:ext cx="12198350" cy="1440000"/>
          </a:xfrm>
          <a:noFill/>
          <a:ln w="9525">
            <a:noFill/>
            <a:miter lim="800000"/>
            <a:headEnd/>
            <a:tailEnd/>
          </a:ln>
        </p:spPr>
        <p:txBody>
          <a:bodyPr vert="horz" wrap="square" lIns="626400" tIns="432000" rIns="2124000" bIns="23400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lang="de-DE"/>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a:t>Titelmasterformat durch Klicken bearbeiten</a:t>
            </a:r>
            <a:endParaRPr kumimoji="0" lang="en-US" sz="2000" b="1" i="0" u="none" strike="noStrike" kern="0" cap="none" spc="0" normalizeH="0" baseline="0" noProof="0">
              <a:ln>
                <a:noFill/>
              </a:ln>
              <a:solidFill>
                <a:srgbClr val="000000"/>
              </a:solidFill>
              <a:effectLst/>
              <a:uLnTx/>
              <a:uFillTx/>
              <a:latin typeface="Arial" pitchFamily="34" charset="0"/>
              <a:ea typeface="+mj-ea"/>
              <a:cs typeface="Arial" pitchFamily="34" charset="0"/>
            </a:endParaRPr>
          </a:p>
        </p:txBody>
      </p:sp>
      <p:grpSp>
        <p:nvGrpSpPr>
          <p:cNvPr id="5" name="Group 33"/>
          <p:cNvGrpSpPr>
            <a:grpSpLocks noChangeAspect="1"/>
          </p:cNvGrpSpPr>
          <p:nvPr userDrawn="1"/>
        </p:nvGrpSpPr>
        <p:grpSpPr bwMode="auto">
          <a:xfrm>
            <a:off x="9555163" y="323850"/>
            <a:ext cx="2159000" cy="914400"/>
            <a:chOff x="6019" y="204"/>
            <a:chExt cx="1360" cy="576"/>
          </a:xfrm>
        </p:grpSpPr>
        <p:sp>
          <p:nvSpPr>
            <p:cNvPr id="6"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7"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extLst>
      <p:ext uri="{BB962C8B-B14F-4D97-AF65-F5344CB8AC3E}">
        <p14:creationId xmlns:p14="http://schemas.microsoft.com/office/powerpoint/2010/main" val="33660349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ngle large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fr-FR"/>
          </a:p>
        </p:txBody>
      </p:sp>
      <p:sp>
        <p:nvSpPr>
          <p:cNvPr id="4" name="Bildplatzhalter 3"/>
          <p:cNvSpPr>
            <a:spLocks noGrp="1"/>
          </p:cNvSpPr>
          <p:nvPr>
            <p:ph type="pic" sz="quarter" idx="10"/>
          </p:nvPr>
        </p:nvSpPr>
        <p:spPr>
          <a:xfrm>
            <a:off x="0" y="1440000"/>
            <a:ext cx="12204000" cy="4752000"/>
          </a:xfrm>
        </p:spPr>
        <p:txBody>
          <a:bodyPr tIns="1800000"/>
          <a:lstStyle>
            <a:lvl1pPr algn="ctr">
              <a:defRPr/>
            </a:lvl1pPr>
          </a:lstStyle>
          <a:p>
            <a:endParaRPr lang="fr-FR"/>
          </a:p>
        </p:txBody>
      </p:sp>
      <p:grpSp>
        <p:nvGrpSpPr>
          <p:cNvPr id="5" name="Group 33"/>
          <p:cNvGrpSpPr>
            <a:grpSpLocks noChangeAspect="1"/>
          </p:cNvGrpSpPr>
          <p:nvPr userDrawn="1"/>
        </p:nvGrpSpPr>
        <p:grpSpPr bwMode="auto">
          <a:xfrm>
            <a:off x="9555163" y="323850"/>
            <a:ext cx="2159000" cy="914400"/>
            <a:chOff x="6019" y="204"/>
            <a:chExt cx="1360" cy="576"/>
          </a:xfrm>
        </p:grpSpPr>
        <p:sp>
          <p:nvSpPr>
            <p:cNvPr id="7"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33144080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Full bleed image">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solidFill>
                  <a:schemeClr val="bg1"/>
                </a:solidFill>
              </a:defRPr>
            </a:lvl1pPr>
          </a:lstStyle>
          <a:p>
            <a:r>
              <a:rPr lang="de-DE"/>
              <a:t>Titelmasterformat durch Klicken bearbeiten</a:t>
            </a:r>
            <a:endParaRPr lang="fr-FR"/>
          </a:p>
        </p:txBody>
      </p:sp>
      <p:sp>
        <p:nvSpPr>
          <p:cNvPr id="4" name="Bildplatzhalter 3"/>
          <p:cNvSpPr>
            <a:spLocks noGrp="1"/>
          </p:cNvSpPr>
          <p:nvPr>
            <p:ph type="pic" sz="quarter" idx="10"/>
          </p:nvPr>
        </p:nvSpPr>
        <p:spPr>
          <a:xfrm>
            <a:off x="0" y="0"/>
            <a:ext cx="12196800" cy="6858000"/>
          </a:xfrm>
          <a:noFill/>
        </p:spPr>
        <p:txBody>
          <a:bodyPr tIns="1800000"/>
          <a:lstStyle>
            <a:lvl1pPr algn="ctr">
              <a:defRPr/>
            </a:lvl1pPr>
          </a:lstStyle>
          <a:p>
            <a:endParaRPr lang="fr-FR"/>
          </a:p>
        </p:txBody>
      </p:sp>
    </p:spTree>
    <p:extLst>
      <p:ext uri="{BB962C8B-B14F-4D97-AF65-F5344CB8AC3E}">
        <p14:creationId xmlns:p14="http://schemas.microsoft.com/office/powerpoint/2010/main" val="293159480"/>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Full bleed color area Dynamic Petrol">
    <p:bg>
      <p:bgRef idx="1001">
        <a:schemeClr val="bg1"/>
      </p:bgRef>
    </p:bg>
    <p:spTree>
      <p:nvGrpSpPr>
        <p:cNvPr id="1" name=""/>
        <p:cNvGrpSpPr/>
        <p:nvPr/>
      </p:nvGrpSpPr>
      <p:grpSpPr>
        <a:xfrm>
          <a:off x="0" y="0"/>
          <a:ext cx="0" cy="0"/>
          <a:chOff x="0" y="0"/>
          <a:chExt cx="0" cy="0"/>
        </a:xfrm>
      </p:grpSpPr>
      <p:grpSp>
        <p:nvGrpSpPr>
          <p:cNvPr id="7" name="Gruppieren 6"/>
          <p:cNvGrpSpPr/>
          <p:nvPr userDrawn="1"/>
        </p:nvGrpSpPr>
        <p:grpSpPr>
          <a:xfrm>
            <a:off x="0" y="0"/>
            <a:ext cx="12198350" cy="6861907"/>
            <a:chOff x="0" y="0"/>
            <a:chExt cx="12198350" cy="6861907"/>
          </a:xfrm>
        </p:grpSpPr>
        <p:sp>
          <p:nvSpPr>
            <p:cNvPr id="4" name="Rechteck 3"/>
            <p:cNvSpPr/>
            <p:nvPr userDrawn="1"/>
          </p:nvSpPr>
          <p:spPr bwMode="auto">
            <a:xfrm>
              <a:off x="0" y="0"/>
              <a:ext cx="12198350" cy="6861907"/>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fr-FR" sz="1800">
                <a:solidFill>
                  <a:schemeClr val="tx1"/>
                </a:solidFill>
                <a:latin typeface="+mn-lt"/>
                <a:ea typeface="Arial Unicode MS" panose="020B0604020202020204" pitchFamily="34" charset="-128"/>
                <a:cs typeface="Arial Unicode MS" panose="020B0604020202020204" pitchFamily="34" charset="-128"/>
              </a:endParaRPr>
            </a:p>
          </p:txBody>
        </p:sp>
        <p:sp>
          <p:nvSpPr>
            <p:cNvPr id="6" name="Rechteck 5"/>
            <p:cNvSpPr/>
            <p:nvPr userDrawn="1"/>
          </p:nvSpPr>
          <p:spPr bwMode="auto">
            <a:xfrm>
              <a:off x="0" y="0"/>
              <a:ext cx="12198350" cy="6861907"/>
            </a:xfrm>
            <a:prstGeom prst="rect">
              <a:avLst/>
            </a:prstGeom>
            <a:gradFill>
              <a:gsLst>
                <a:gs pos="83000">
                  <a:srgbClr val="0099B0">
                    <a:alpha val="85000"/>
                  </a:srgbClr>
                </a:gs>
                <a:gs pos="50000">
                  <a:srgbClr val="009999">
                    <a:alpha val="85000"/>
                  </a:srgbClr>
                </a:gs>
                <a:gs pos="0">
                  <a:srgbClr val="50BEBE">
                    <a:alpha val="85000"/>
                  </a:srgbClr>
                </a:gs>
                <a:gs pos="100000">
                  <a:srgbClr val="0099CB">
                    <a:alpha val="85000"/>
                  </a:srgbClr>
                </a:gs>
              </a:gsLst>
              <a:lin ang="0" scaled="0"/>
            </a:gra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fr-FR"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 name="Titel 1"/>
          <p:cNvSpPr>
            <a:spLocks noGrp="1"/>
          </p:cNvSpPr>
          <p:nvPr>
            <p:ph type="title"/>
          </p:nvPr>
        </p:nvSpPr>
        <p:spPr/>
        <p:txBody>
          <a:bodyPr/>
          <a:lstStyle>
            <a:lvl1pPr>
              <a:defRPr>
                <a:solidFill>
                  <a:schemeClr val="bg1"/>
                </a:solidFill>
              </a:defRPr>
            </a:lvl1pPr>
          </a:lstStyle>
          <a:p>
            <a:r>
              <a:rPr lang="de-DE"/>
              <a:t>Titelmasterformat durch Klicken bearbeiten</a:t>
            </a:r>
            <a:endParaRPr lang="fr-FR"/>
          </a:p>
        </p:txBody>
      </p:sp>
    </p:spTree>
    <p:extLst>
      <p:ext uri="{BB962C8B-B14F-4D97-AF65-F5344CB8AC3E}">
        <p14:creationId xmlns:p14="http://schemas.microsoft.com/office/powerpoint/2010/main" val="753766072"/>
      </p:ext>
    </p:extLst>
  </p:cSld>
  <p:clrMapOvr>
    <a:overrideClrMapping bg1="lt1" tx1="dk1" bg2="lt2" tx2="dk2" accent1="accent1" accent2="accent2" accent3="accent3" accent4="accent4" accent5="accent5" accent6="accent6" hlink="hlink" folHlink="folHlink"/>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Full bleed color area Blue light">
    <p:bg>
      <p:bgRef idx="1001">
        <a:schemeClr val="bg1"/>
      </p:bgRef>
    </p:bg>
    <p:spTree>
      <p:nvGrpSpPr>
        <p:cNvPr id="1" name=""/>
        <p:cNvGrpSpPr/>
        <p:nvPr/>
      </p:nvGrpSpPr>
      <p:grpSpPr>
        <a:xfrm>
          <a:off x="0" y="0"/>
          <a:ext cx="0" cy="0"/>
          <a:chOff x="0" y="0"/>
          <a:chExt cx="0" cy="0"/>
        </a:xfrm>
      </p:grpSpPr>
      <p:sp>
        <p:nvSpPr>
          <p:cNvPr id="3" name="Rechteck 2"/>
          <p:cNvSpPr/>
          <p:nvPr userDrawn="1"/>
        </p:nvSpPr>
        <p:spPr bwMode="auto">
          <a:xfrm>
            <a:off x="0" y="0"/>
            <a:ext cx="12198350" cy="6861907"/>
          </a:xfrm>
          <a:prstGeom prst="rect">
            <a:avLst/>
          </a:prstGeom>
          <a:solidFill>
            <a:srgbClr val="50BED7"/>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fr-FR" sz="1800">
              <a:solidFill>
                <a:schemeClr val="tx1"/>
              </a:solidFill>
              <a:latin typeface="+mn-lt"/>
              <a:ea typeface="Arial Unicode MS" panose="020B0604020202020204" pitchFamily="34" charset="-128"/>
              <a:cs typeface="Arial Unicode MS" panose="020B0604020202020204" pitchFamily="34" charset="-128"/>
            </a:endParaRPr>
          </a:p>
        </p:txBody>
      </p:sp>
      <p:sp>
        <p:nvSpPr>
          <p:cNvPr id="2" name="Titel 1"/>
          <p:cNvSpPr>
            <a:spLocks noGrp="1"/>
          </p:cNvSpPr>
          <p:nvPr>
            <p:ph type="title"/>
          </p:nvPr>
        </p:nvSpPr>
        <p:spPr/>
        <p:txBody>
          <a:bodyPr/>
          <a:lstStyle>
            <a:lvl1pPr>
              <a:defRPr>
                <a:solidFill>
                  <a:schemeClr val="bg1"/>
                </a:solidFill>
              </a:defRPr>
            </a:lvl1pPr>
          </a:lstStyle>
          <a:p>
            <a:r>
              <a:rPr lang="de-DE"/>
              <a:t>Titelmasterformat durch Klicken bearbeiten</a:t>
            </a:r>
            <a:endParaRPr lang="fr-FR"/>
          </a:p>
        </p:txBody>
      </p:sp>
    </p:spTree>
    <p:extLst>
      <p:ext uri="{BB962C8B-B14F-4D97-AF65-F5344CB8AC3E}">
        <p14:creationId xmlns:p14="http://schemas.microsoft.com/office/powerpoint/2010/main" val="1979931432"/>
      </p:ext>
    </p:extLst>
  </p:cSld>
  <p:clrMapOvr>
    <a:overrideClrMapping bg1="lt1" tx1="dk1" bg2="lt2" tx2="dk2" accent1="accent1" accent2="accent2" accent3="accent3" accent4="accent4" accent5="accent5" accent6="accent6" hlink="hlink" folHlink="folHlink"/>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One object (large)" type="obj" preserve="1">
  <p:cSld name="One object (large)">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8208962" cy="4752000"/>
          </a:xfrm>
        </p:spPr>
        <p:txBody>
          <a:bodyPr/>
          <a:lstStyle>
            <a:lvl1pPr>
              <a:buFont typeface="Arial" pitchFamily="34" charset="0"/>
              <a:buNone/>
              <a:defRPr/>
            </a:lvl1p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7"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One object (small)" type="obj" preserve="1">
  <p:cSld name="One object (small)">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6768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7"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8"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lumns" type="twoObj" preserve="1">
  <p:cSld name="Two columns">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a:noFill/>
          <a:ln w="9525">
            <a:noFill/>
            <a:miter lim="800000"/>
            <a:headEnd/>
            <a:tailEnd/>
          </a:ln>
        </p:spPr>
        <p:txBody>
          <a:bodyPr vert="horz" wrap="square" lIns="626400" tIns="432000" rIns="2124000" bIns="23400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lang="de-DE"/>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a:t>Titelmasterformat durch Klicken bearbeiten</a:t>
            </a:r>
            <a:endParaRPr kumimoji="0" lang="en-US" sz="2000" b="1" i="0" u="none" strike="noStrike" kern="0" cap="none" spc="0" normalizeH="0" baseline="0" noProof="0">
              <a:ln>
                <a:noFill/>
              </a:ln>
              <a:solidFill>
                <a:srgbClr val="000000"/>
              </a:solidFill>
              <a:effectLst/>
              <a:uLnTx/>
              <a:uFillTx/>
              <a:latin typeface="Arial" pitchFamily="34" charset="0"/>
              <a:ea typeface="+mj-ea"/>
              <a:cs typeface="Arial" pitchFamily="34" charset="0"/>
            </a:endParaRPr>
          </a:p>
        </p:txBody>
      </p:sp>
      <p:sp>
        <p:nvSpPr>
          <p:cNvPr id="3" name="cdtContent Placeholder 2 Id3"/>
          <p:cNvSpPr>
            <a:spLocks noGrp="1"/>
          </p:cNvSpPr>
          <p:nvPr>
            <p:ph sz="half" idx="1"/>
            <p:custDataLst>
              <p:tags r:id="rId3"/>
            </p:custDataLst>
          </p:nvPr>
        </p:nvSpPr>
        <p:spPr>
          <a:xfrm>
            <a:off x="627063" y="1440000"/>
            <a:ext cx="5472112" cy="4752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4" name="cdtContent Placeholder 3 Id4"/>
          <p:cNvSpPr>
            <a:spLocks noGrp="1"/>
          </p:cNvSpPr>
          <p:nvPr>
            <p:ph sz="half" idx="2"/>
            <p:custDataLst>
              <p:tags r:id="rId4"/>
            </p:custDataLst>
          </p:nvPr>
        </p:nvSpPr>
        <p:spPr>
          <a:xfrm>
            <a:off x="6243638" y="1440000"/>
            <a:ext cx="5472112" cy="4752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extLst>
      <p:ext uri="{BB962C8B-B14F-4D97-AF65-F5344CB8AC3E}">
        <p14:creationId xmlns:p14="http://schemas.microsoft.com/office/powerpoint/2010/main" val="16070859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Two columns, two images">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lvl1pPr>
              <a:defRPr/>
            </a:lvl1pPr>
          </a:lstStyle>
          <a:p>
            <a:r>
              <a:rPr lang="de-DE"/>
              <a:t>Titelmasterformat durch Klicken bearbeiten</a:t>
            </a:r>
            <a:endParaRPr lang="fr-FR"/>
          </a:p>
        </p:txBody>
      </p:sp>
      <p:sp>
        <p:nvSpPr>
          <p:cNvPr id="3" name="cdtContent Placeholder 2 Id3"/>
          <p:cNvSpPr>
            <a:spLocks noGrp="1"/>
          </p:cNvSpPr>
          <p:nvPr>
            <p:ph sz="half" idx="1"/>
            <p:custDataLst>
              <p:tags r:id="rId1"/>
            </p:custDataLst>
          </p:nvPr>
        </p:nvSpPr>
        <p:spPr>
          <a:xfrm>
            <a:off x="627063" y="1440000"/>
            <a:ext cx="5472112" cy="4752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5" name="Bildplatzhalter 4"/>
          <p:cNvSpPr>
            <a:spLocks noGrp="1"/>
          </p:cNvSpPr>
          <p:nvPr>
            <p:ph type="pic" sz="quarter" idx="10"/>
          </p:nvPr>
        </p:nvSpPr>
        <p:spPr>
          <a:xfrm>
            <a:off x="6243637" y="1440000"/>
            <a:ext cx="5472000" cy="2304000"/>
          </a:xfrm>
        </p:spPr>
        <p:txBody>
          <a:bodyPr tIns="648000"/>
          <a:lstStyle>
            <a:lvl1pPr algn="ctr">
              <a:defRPr/>
            </a:lvl1pPr>
          </a:lstStyle>
          <a:p>
            <a:endParaRPr lang="fr-FR"/>
          </a:p>
        </p:txBody>
      </p:sp>
      <p:sp>
        <p:nvSpPr>
          <p:cNvPr id="6" name="Bildplatzhalter 4"/>
          <p:cNvSpPr>
            <a:spLocks noGrp="1"/>
          </p:cNvSpPr>
          <p:nvPr>
            <p:ph type="pic" sz="quarter" idx="11"/>
          </p:nvPr>
        </p:nvSpPr>
        <p:spPr>
          <a:xfrm>
            <a:off x="6243637" y="3888000"/>
            <a:ext cx="5472000" cy="2304000"/>
          </a:xfrm>
        </p:spPr>
        <p:txBody>
          <a:bodyPr tIns="648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73476554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wo columns, two images 2">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fr-FR"/>
          </a:p>
        </p:txBody>
      </p:sp>
      <p:sp>
        <p:nvSpPr>
          <p:cNvPr id="3" name="cdtContent Placeholder 2 Id3"/>
          <p:cNvSpPr>
            <a:spLocks noGrp="1"/>
          </p:cNvSpPr>
          <p:nvPr>
            <p:ph sz="half" idx="1"/>
            <p:custDataLst>
              <p:tags r:id="rId1"/>
            </p:custDataLst>
          </p:nvPr>
        </p:nvSpPr>
        <p:spPr>
          <a:xfrm>
            <a:off x="627063" y="1440000"/>
            <a:ext cx="5904000" cy="4752000"/>
          </a:xfrm>
          <a:solidFill>
            <a:schemeClr val="accent2"/>
          </a:solidFill>
          <a:ln w="9525">
            <a:noFill/>
            <a:miter lim="800000"/>
            <a:headEnd/>
            <a:tailEnd/>
          </a:ln>
        </p:spPr>
        <p:txBody>
          <a:bodyPr vert="horz" wrap="square" lIns="288000" tIns="252000" rIns="576000" bIns="25200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5" name="Bildplatzhalter 4"/>
          <p:cNvSpPr>
            <a:spLocks noGrp="1"/>
          </p:cNvSpPr>
          <p:nvPr>
            <p:ph type="pic" sz="quarter" idx="10"/>
          </p:nvPr>
        </p:nvSpPr>
        <p:spPr>
          <a:xfrm>
            <a:off x="6243637" y="1746000"/>
            <a:ext cx="5472000" cy="1998000"/>
          </a:xfrm>
        </p:spPr>
        <p:txBody>
          <a:bodyPr tIns="648000"/>
          <a:lstStyle>
            <a:lvl1pPr algn="ctr">
              <a:defRPr/>
            </a:lvl1pPr>
          </a:lstStyle>
          <a:p>
            <a:endParaRPr lang="fr-FR"/>
          </a:p>
        </p:txBody>
      </p:sp>
      <p:sp>
        <p:nvSpPr>
          <p:cNvPr id="6" name="Bildplatzhalter 4"/>
          <p:cNvSpPr>
            <a:spLocks noGrp="1"/>
          </p:cNvSpPr>
          <p:nvPr>
            <p:ph type="pic" sz="quarter" idx="11"/>
          </p:nvPr>
        </p:nvSpPr>
        <p:spPr>
          <a:xfrm>
            <a:off x="6243637" y="3888000"/>
            <a:ext cx="5472000" cy="1998000"/>
          </a:xfrm>
        </p:spPr>
        <p:txBody>
          <a:bodyPr tIns="648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188371546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Two rows" preserve="1" userDrawn="1">
  <p:cSld name="Two rows">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8208962"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627063" y="3888000"/>
            <a:ext cx="8208962"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Three columns" preserve="1" userDrawn="1">
  <p:cSld name="Three columns">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360045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4370388" y="1440000"/>
            <a:ext cx="3600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dtContent Placeholder 11 Id12"/>
          <p:cNvSpPr>
            <a:spLocks noGrp="1"/>
          </p:cNvSpPr>
          <p:nvPr>
            <p:ph sz="quarter" idx="14"/>
            <p:custDataLst>
              <p:tags r:id="rId5"/>
            </p:custDataLst>
          </p:nvPr>
        </p:nvSpPr>
        <p:spPr>
          <a:xfrm>
            <a:off x="8115750" y="1440000"/>
            <a:ext cx="3600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grpSp>
        <p:nvGrpSpPr>
          <p:cNvPr id="8"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Four objects" type="fourObj" preserve="1">
  <p:cSld name="Four objects">
    <p:spTree>
      <p:nvGrpSpPr>
        <p:cNvPr id="1" name=""/>
        <p:cNvGrpSpPr/>
        <p:nvPr/>
      </p:nvGrpSpPr>
      <p:grpSpPr>
        <a:xfrm>
          <a:off x="0" y="0"/>
          <a:ext cx="0" cy="0"/>
          <a:chOff x="0" y="0"/>
          <a:chExt cx="0" cy="0"/>
        </a:xfrm>
      </p:grpSpPr>
      <p:sp>
        <p:nvSpPr>
          <p:cNvPr id="2" name="cdtTitle 1 Id2"/>
          <p:cNvSpPr>
            <a:spLocks noGrp="1"/>
          </p:cNvSpPr>
          <p:nvPr>
            <p:ph type="title" sz="quarter"/>
            <p:custDataLst>
              <p:tags r:id="rId2"/>
            </p:custDataLst>
          </p:nvPr>
        </p:nvSpPr>
        <p:spPr>
          <a:xfrm>
            <a:off x="0" y="-1"/>
            <a:ext cx="12198350" cy="1440000"/>
          </a:xfrm>
          <a:noFill/>
          <a:ln w="9525">
            <a:noFill/>
            <a:miter lim="800000"/>
            <a:headEnd/>
            <a:tailEnd/>
          </a:ln>
        </p:spPr>
        <p:txBody>
          <a:bodyPr vert="horz" wrap="square" lIns="626400" tIns="432000" rIns="2124000" bIns="234000" numCol="1" anchor="t" anchorCtr="0" compatLnSpc="1">
            <a:prstTxWarp prst="textNoShape">
              <a:avLst/>
            </a:prstTxWarp>
          </a:bodyPr>
          <a:lstStyle>
            <a:lvl1pPr marL="0" marR="0" indent="0" algn="l" defTabSz="914400" rtl="0" eaLnBrk="1" fontAlgn="base" latinLnBrk="0" hangingPunct="1">
              <a:lnSpc>
                <a:spcPct val="100000"/>
              </a:lnSpc>
              <a:spcBef>
                <a:spcPct val="0"/>
              </a:spcBef>
              <a:spcAft>
                <a:spcPct val="0"/>
              </a:spcAft>
              <a:buClrTx/>
              <a:buSzTx/>
              <a:buFontTx/>
              <a:buNone/>
              <a:tabLst/>
              <a:defRPr lang="de-DE"/>
            </a:lvl1pPr>
          </a:lstStyle>
          <a:p>
            <a:pPr marL="0" marR="0" lvl="0" indent="0" algn="l" defTabSz="914400" rtl="0" eaLnBrk="1" fontAlgn="base" latinLnBrk="0" hangingPunct="1">
              <a:lnSpc>
                <a:spcPct val="100000"/>
              </a:lnSpc>
              <a:spcBef>
                <a:spcPct val="0"/>
              </a:spcBef>
              <a:spcAft>
                <a:spcPct val="0"/>
              </a:spcAft>
              <a:buClrTx/>
              <a:buSzTx/>
              <a:buFontTx/>
              <a:buNone/>
              <a:tabLst/>
              <a:defRPr/>
            </a:pPr>
            <a:r>
              <a:rPr lang="de-DE"/>
              <a:t>Titelmasterformat durch Klicken bearbeiten</a:t>
            </a:r>
            <a:endParaRPr kumimoji="0" lang="en-US" sz="2000" b="1" i="0" u="none" strike="noStrike" kern="0" cap="none" spc="0" normalizeH="0" baseline="0" noProof="0">
              <a:ln>
                <a:noFill/>
              </a:ln>
              <a:solidFill>
                <a:srgbClr val="000000"/>
              </a:solidFill>
              <a:effectLst/>
              <a:uLnTx/>
              <a:uFillTx/>
              <a:latin typeface="Arial" pitchFamily="34" charset="0"/>
              <a:ea typeface="+mj-ea"/>
              <a:cs typeface="Arial" pitchFamily="34" charset="0"/>
            </a:endParaRPr>
          </a:p>
        </p:txBody>
      </p:sp>
      <p:sp>
        <p:nvSpPr>
          <p:cNvPr id="3" name="cdtContent Placeholder 2 Id3"/>
          <p:cNvSpPr>
            <a:spLocks noGrp="1"/>
          </p:cNvSpPr>
          <p:nvPr>
            <p:ph sz="quarter" idx="1"/>
            <p:custDataLst>
              <p:tags r:id="rId3"/>
            </p:custDataLst>
          </p:nvPr>
        </p:nvSpPr>
        <p:spPr>
          <a:xfrm>
            <a:off x="627063" y="1440000"/>
            <a:ext cx="5472112" cy="2304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4" name="cdtContent Placeholder 3 Id4"/>
          <p:cNvSpPr>
            <a:spLocks noGrp="1"/>
          </p:cNvSpPr>
          <p:nvPr>
            <p:ph sz="quarter" idx="2"/>
            <p:custDataLst>
              <p:tags r:id="rId4"/>
            </p:custDataLst>
          </p:nvPr>
        </p:nvSpPr>
        <p:spPr>
          <a:xfrm>
            <a:off x="6243638" y="1440000"/>
            <a:ext cx="5472112" cy="2304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5" name="cdtContent Placeholder 4 Id5"/>
          <p:cNvSpPr>
            <a:spLocks noGrp="1"/>
          </p:cNvSpPr>
          <p:nvPr>
            <p:ph sz="quarter" idx="3"/>
            <p:custDataLst>
              <p:tags r:id="rId5"/>
            </p:custDataLst>
          </p:nvPr>
        </p:nvSpPr>
        <p:spPr>
          <a:xfrm>
            <a:off x="627063" y="3888000"/>
            <a:ext cx="5472112" cy="2304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sp>
        <p:nvSpPr>
          <p:cNvPr id="6" name="cdtContent Placeholder 5 Id6"/>
          <p:cNvSpPr>
            <a:spLocks noGrp="1"/>
          </p:cNvSpPr>
          <p:nvPr>
            <p:ph sz="quarter" idx="4"/>
            <p:custDataLst>
              <p:tags r:id="rId6"/>
            </p:custDataLst>
          </p:nvPr>
        </p:nvSpPr>
        <p:spPr>
          <a:xfrm>
            <a:off x="6243638" y="3888000"/>
            <a:ext cx="5472112" cy="2304000"/>
          </a:xfr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a:lvl5pPr>
          </a:lstStyle>
          <a:p>
            <a:pPr marL="0" marR="0" lvl="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a:pP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Textmasterformat</a:t>
            </a:r>
            <a:r>
              <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rPr>
              <a:t> </a:t>
            </a:r>
            <a:r>
              <a:rPr kumimoji="0" lang="en-US" sz="1800" b="0" i="0" u="none" strike="noStrike" kern="0" cap="none" spc="0" normalizeH="0" baseline="0" noProof="0" err="1">
                <a:ln>
                  <a:noFill/>
                </a:ln>
                <a:solidFill>
                  <a:srgbClr val="000000"/>
                </a:solidFill>
                <a:effectLst/>
                <a:uLnTx/>
                <a:uFillTx/>
                <a:latin typeface="Arial" pitchFamily="34" charset="0"/>
                <a:ea typeface="+mn-ea"/>
                <a:cs typeface="Arial" pitchFamily="34" charset="0"/>
              </a:rPr>
              <a:t>bearbeiten</a:t>
            </a:r>
            <a:endParaRPr kumimoji="0" lang="en-US" sz="1800" b="0" i="0" u="none" strike="noStrike" kern="0" cap="none" spc="0" normalizeH="0" baseline="0" noProof="0">
              <a:ln>
                <a:noFill/>
              </a:ln>
              <a:solidFill>
                <a:srgbClr val="000000"/>
              </a:solidFill>
              <a:effectLst/>
              <a:uLnTx/>
              <a:uFillTx/>
              <a:latin typeface="Arial" pitchFamily="34" charset="0"/>
              <a:ea typeface="+mn-ea"/>
              <a:cs typeface="Arial" pitchFamily="34" charset="0"/>
            </a:endParaRPr>
          </a:p>
          <a:p>
            <a:pPr lvl="1"/>
            <a:r>
              <a:rPr lang="en-US"/>
              <a:t>Second level</a:t>
            </a:r>
          </a:p>
          <a:p>
            <a:pPr lvl="2"/>
            <a:r>
              <a:rPr lang="en-US"/>
              <a:t>Third level</a:t>
            </a:r>
          </a:p>
          <a:p>
            <a:pPr lvl="3"/>
            <a:r>
              <a:rPr lang="en-US"/>
              <a:t>Fourth level</a:t>
            </a:r>
          </a:p>
          <a:p>
            <a:pPr lvl="4"/>
            <a:r>
              <a:rPr lang="en-US"/>
              <a:t>Fifth level</a:t>
            </a:r>
          </a:p>
        </p:txBody>
      </p:sp>
      <p:grpSp>
        <p:nvGrpSpPr>
          <p:cNvPr id="9" name="Group 33"/>
          <p:cNvGrpSpPr>
            <a:grpSpLocks noChangeAspect="1"/>
          </p:cNvGrpSpPr>
          <p:nvPr userDrawn="1"/>
        </p:nvGrpSpPr>
        <p:grpSpPr bwMode="auto">
          <a:xfrm>
            <a:off x="9555163" y="323850"/>
            <a:ext cx="2159000" cy="914400"/>
            <a:chOff x="6019" y="204"/>
            <a:chExt cx="1360" cy="576"/>
          </a:xfrm>
        </p:grpSpPr>
        <p:sp>
          <p:nvSpPr>
            <p:cNvPr id="10"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extLst>
      <p:ext uri="{BB962C8B-B14F-4D97-AF65-F5344CB8AC3E}">
        <p14:creationId xmlns:p14="http://schemas.microsoft.com/office/powerpoint/2010/main" val="2557672274"/>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Free Content + Navigation" preserve="1" userDrawn="1">
  <p:cSld name="Free Content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5" name="cdtTextplatzhalter 13 Id5"/>
          <p:cNvSpPr>
            <a:spLocks noGrp="1"/>
          </p:cNvSpPr>
          <p:nvPr>
            <p:ph type="body" sz="quarter" idx="13" hasCustomPrompt="1"/>
            <p:custDataLst>
              <p:tags r:id="rId3"/>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One object (large) + Navigation" preserve="1" userDrawn="1">
  <p:cSld name="One object (large)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8208962"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5" name="cdtTextplatzhalter 13 Id5"/>
          <p:cNvSpPr>
            <a:spLocks noGrp="1"/>
          </p:cNvSpPr>
          <p:nvPr>
            <p:ph type="body" sz="quarter" idx="13" hasCustomPrompt="1"/>
            <p:custDataLst>
              <p:tags r:id="rId4"/>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6" name="Group 33"/>
          <p:cNvGrpSpPr>
            <a:grpSpLocks noChangeAspect="1"/>
          </p:cNvGrpSpPr>
          <p:nvPr userDrawn="1"/>
        </p:nvGrpSpPr>
        <p:grpSpPr bwMode="auto">
          <a:xfrm>
            <a:off x="9555163" y="323850"/>
            <a:ext cx="2159000" cy="914400"/>
            <a:chOff x="6019" y="204"/>
            <a:chExt cx="1360" cy="576"/>
          </a:xfrm>
        </p:grpSpPr>
        <p:sp>
          <p:nvSpPr>
            <p:cNvPr id="8"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9"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One object (small) + Navigation" preserve="1" userDrawn="1">
  <p:cSld name="One object (small)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6768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6" name="cdtTextplatzhalter 13 Id6"/>
          <p:cNvSpPr>
            <a:spLocks noGrp="1"/>
          </p:cNvSpPr>
          <p:nvPr>
            <p:ph type="body" sz="quarter" idx="13" hasCustomPrompt="1"/>
            <p:custDataLst>
              <p:tags r:id="rId4"/>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8"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wo columns + Navigation" preserve="1" userDrawn="1">
  <p:cSld name="Two columns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4032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4804025" y="1440000"/>
            <a:ext cx="4032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6" name="cdtTextplatzhalter 13 Id6"/>
          <p:cNvSpPr>
            <a:spLocks noGrp="1"/>
          </p:cNvSpPr>
          <p:nvPr>
            <p:ph type="body" sz="quarter" idx="14" hasCustomPrompt="1"/>
            <p:custDataLst>
              <p:tags r:id="rId5"/>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hree columns + Navigation" preserve="1" userDrawn="1">
  <p:cSld name="Three columns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2592000"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3362400" y="1440000"/>
            <a:ext cx="2736775"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dtContent Placeholder 11 Id12"/>
          <p:cNvSpPr>
            <a:spLocks noGrp="1"/>
          </p:cNvSpPr>
          <p:nvPr>
            <p:ph sz="quarter" idx="14"/>
            <p:custDataLst>
              <p:tags r:id="rId5"/>
            </p:custDataLst>
          </p:nvPr>
        </p:nvSpPr>
        <p:spPr>
          <a:xfrm>
            <a:off x="6243638" y="1440000"/>
            <a:ext cx="2592387" cy="4752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7" name="cdtTextplatzhalter 13 Id7"/>
          <p:cNvSpPr>
            <a:spLocks noGrp="1"/>
          </p:cNvSpPr>
          <p:nvPr>
            <p:ph type="body" sz="quarter" idx="15" hasCustomPrompt="1"/>
            <p:custDataLst>
              <p:tags r:id="rId6"/>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8" name="Group 33"/>
          <p:cNvGrpSpPr>
            <a:grpSpLocks noChangeAspect="1"/>
          </p:cNvGrpSpPr>
          <p:nvPr userDrawn="1"/>
        </p:nvGrpSpPr>
        <p:grpSpPr bwMode="auto">
          <a:xfrm>
            <a:off x="9555163" y="323850"/>
            <a:ext cx="2159000" cy="914400"/>
            <a:chOff x="6019" y="204"/>
            <a:chExt cx="1360" cy="576"/>
          </a:xfrm>
        </p:grpSpPr>
        <p:sp>
          <p:nvSpPr>
            <p:cNvPr id="10"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rows + Navigation" preserve="1" userDrawn="1">
  <p:cSld name="Two rows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8208962"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627063" y="3888000"/>
            <a:ext cx="8208962"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6" name="cdtTextplatzhalter 13 Id6"/>
          <p:cNvSpPr>
            <a:spLocks noGrp="1"/>
          </p:cNvSpPr>
          <p:nvPr>
            <p:ph type="body" sz="quarter" idx="14" hasCustomPrompt="1"/>
            <p:custDataLst>
              <p:tags r:id="rId5"/>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Four objects + Navigation" preserve="1" userDrawn="1">
  <p:cSld name="Four objects + Navigation">
    <p:spTree>
      <p:nvGrpSpPr>
        <p:cNvPr id="1" name=""/>
        <p:cNvGrpSpPr/>
        <p:nvPr/>
      </p:nvGrpSpPr>
      <p:grpSpPr>
        <a:xfrm>
          <a:off x="0" y="0"/>
          <a:ext cx="0" cy="0"/>
          <a:chOff x="0" y="0"/>
          <a:chExt cx="0" cy="0"/>
        </a:xfrm>
      </p:grpSpPr>
      <p:sp>
        <p:nvSpPr>
          <p:cNvPr id="2" name="cdtTitle 1 Id2"/>
          <p:cNvSpPr>
            <a:spLocks noGrp="1"/>
          </p:cNvSpPr>
          <p:nvPr>
            <p:ph type="title"/>
            <p:custDataLst>
              <p:tags r:id="rId2"/>
            </p:custDataLst>
          </p:nvPr>
        </p:nvSpPr>
        <p:spPr>
          <a:xfrm>
            <a:off x="0" y="-1"/>
            <a:ext cx="12198350" cy="1440000"/>
          </a:xfrm>
        </p:spPr>
        <p:txBody>
          <a:bodyPr/>
          <a:lstStyle/>
          <a:p>
            <a:r>
              <a:rPr lang="de-DE"/>
              <a:t>Titelmasterformat durch Klicken bearbeiten</a:t>
            </a:r>
            <a:endParaRPr lang="en-US"/>
          </a:p>
        </p:txBody>
      </p:sp>
      <p:sp>
        <p:nvSpPr>
          <p:cNvPr id="3" name="cdtContent Placeholder 2 Id3"/>
          <p:cNvSpPr>
            <a:spLocks noGrp="1"/>
          </p:cNvSpPr>
          <p:nvPr>
            <p:ph idx="1"/>
            <p:custDataLst>
              <p:tags r:id="rId3"/>
            </p:custDataLst>
          </p:nvPr>
        </p:nvSpPr>
        <p:spPr>
          <a:xfrm>
            <a:off x="627063" y="1440000"/>
            <a:ext cx="4032000"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3" name="cdtContent Placeholder 12 Id13"/>
          <p:cNvSpPr>
            <a:spLocks noGrp="1"/>
          </p:cNvSpPr>
          <p:nvPr>
            <p:ph sz="quarter" idx="13"/>
            <p:custDataLst>
              <p:tags r:id="rId4"/>
            </p:custDataLst>
          </p:nvPr>
        </p:nvSpPr>
        <p:spPr>
          <a:xfrm>
            <a:off x="4804024" y="1440000"/>
            <a:ext cx="4032000"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2" name="cdtContent Placeholder 11 Id12"/>
          <p:cNvSpPr>
            <a:spLocks noGrp="1"/>
          </p:cNvSpPr>
          <p:nvPr>
            <p:ph sz="quarter" idx="14"/>
            <p:custDataLst>
              <p:tags r:id="rId5"/>
            </p:custDataLst>
          </p:nvPr>
        </p:nvSpPr>
        <p:spPr>
          <a:xfrm>
            <a:off x="627063" y="3888000"/>
            <a:ext cx="4032000"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5" name="cdtContent Placeholder 14 Id15"/>
          <p:cNvSpPr>
            <a:spLocks noGrp="1"/>
          </p:cNvSpPr>
          <p:nvPr>
            <p:ph sz="quarter" idx="15"/>
            <p:custDataLst>
              <p:tags r:id="rId6"/>
            </p:custDataLst>
          </p:nvPr>
        </p:nvSpPr>
        <p:spPr>
          <a:xfrm>
            <a:off x="4804025" y="3888000"/>
            <a:ext cx="4032000" cy="2304000"/>
          </a:xfrm>
        </p:spPr>
        <p:txBody>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sp>
        <p:nvSpPr>
          <p:cNvPr id="10" name="cdtTextplatzhalter 13 Id10"/>
          <p:cNvSpPr>
            <a:spLocks noGrp="1"/>
          </p:cNvSpPr>
          <p:nvPr>
            <p:ph type="body" sz="quarter" idx="16" hasCustomPrompt="1"/>
            <p:custDataLst>
              <p:tags r:id="rId7"/>
            </p:custDataLst>
          </p:nvPr>
        </p:nvSpPr>
        <p:spPr>
          <a:xfrm>
            <a:off x="10419751" y="1440000"/>
            <a:ext cx="1295999" cy="4752000"/>
          </a:xfrm>
        </p:spPr>
        <p:txBody>
          <a:bodyPr/>
          <a:lstStyle>
            <a:lvl1pPr marL="144000" indent="-144000">
              <a:lnSpc>
                <a:spcPct val="100000"/>
              </a:lnSpc>
              <a:spcBef>
                <a:spcPts val="400"/>
              </a:spcBef>
              <a:spcAft>
                <a:spcPts val="400"/>
              </a:spcAft>
              <a:buSzPct val="70000"/>
              <a:buFont typeface="Arial" pitchFamily="34" charset="0"/>
              <a:buChar char="►"/>
              <a:defRPr sz="1200">
                <a:solidFill>
                  <a:srgbClr val="879BAA"/>
                </a:solidFill>
              </a:defRPr>
            </a:lvl1pPr>
            <a:lvl2pPr marL="144000" indent="-144000">
              <a:lnSpc>
                <a:spcPct val="100000"/>
              </a:lnSpc>
              <a:spcBef>
                <a:spcPts val="400"/>
              </a:spcBef>
              <a:spcAft>
                <a:spcPts val="400"/>
              </a:spcAft>
              <a:buClrTx/>
              <a:buSzPct val="70000"/>
              <a:buFont typeface="Arial" pitchFamily="34" charset="0"/>
              <a:buChar char="►"/>
              <a:defRPr sz="1200">
                <a:solidFill>
                  <a:srgbClr val="641946"/>
                </a:solidFill>
              </a:defRPr>
            </a:lvl2pPr>
            <a:lvl3pPr marL="288000" indent="-144000">
              <a:lnSpc>
                <a:spcPct val="100000"/>
              </a:lnSpc>
              <a:spcBef>
                <a:spcPts val="300"/>
              </a:spcBef>
              <a:spcAft>
                <a:spcPts val="300"/>
              </a:spcAft>
              <a:buSzPct val="70000"/>
              <a:buFont typeface="Arial" pitchFamily="34" charset="0"/>
              <a:buChar char="►"/>
              <a:defRPr sz="1000">
                <a:solidFill>
                  <a:srgbClr val="879BAA"/>
                </a:solidFill>
              </a:defRPr>
            </a:lvl3pPr>
            <a:lvl4pPr marL="288000" indent="-144000">
              <a:lnSpc>
                <a:spcPct val="100000"/>
              </a:lnSpc>
              <a:spcBef>
                <a:spcPts val="300"/>
              </a:spcBef>
              <a:spcAft>
                <a:spcPts val="300"/>
              </a:spcAft>
              <a:buClrTx/>
              <a:buSzPct val="70000"/>
              <a:buFont typeface="Arial" pitchFamily="34" charset="0"/>
              <a:buChar char="►"/>
              <a:defRPr sz="1000">
                <a:solidFill>
                  <a:srgbClr val="641946"/>
                </a:solidFill>
              </a:defRPr>
            </a:lvl4pPr>
            <a:lvl5pPr marL="432000" indent="-144000">
              <a:lnSpc>
                <a:spcPct val="100000"/>
              </a:lnSpc>
              <a:spcBef>
                <a:spcPts val="300"/>
              </a:spcBef>
              <a:spcAft>
                <a:spcPts val="300"/>
              </a:spcAft>
              <a:buSzPct val="70000"/>
              <a:buFont typeface="Arial" pitchFamily="34" charset="0"/>
              <a:buChar char="►"/>
              <a:defRPr sz="1000">
                <a:solidFill>
                  <a:schemeClr val="accent1"/>
                </a:solidFill>
              </a:defRPr>
            </a:lvl5pPr>
            <a:lvl6pPr marL="432000" indent="-144000">
              <a:lnSpc>
                <a:spcPct val="100000"/>
              </a:lnSpc>
              <a:spcBef>
                <a:spcPts val="300"/>
              </a:spcBef>
              <a:spcAft>
                <a:spcPts val="300"/>
              </a:spcAft>
              <a:buClrTx/>
              <a:buSzPct val="70000"/>
              <a:buFont typeface="Arial" pitchFamily="34" charset="0"/>
              <a:buChar char="►"/>
              <a:defRPr sz="1000">
                <a:solidFill>
                  <a:schemeClr val="accent4"/>
                </a:solidFill>
              </a:defRPr>
            </a:lvl6pPr>
          </a:lstStyle>
          <a:p>
            <a:pPr lvl="0"/>
            <a:r>
              <a:rPr lang="en-US" noProof="0"/>
              <a:t>Click to edit the navigation text</a:t>
            </a:r>
          </a:p>
          <a:p>
            <a:pPr lvl="1"/>
            <a:r>
              <a:rPr lang="en-US" noProof="0"/>
              <a:t>active chapter</a:t>
            </a:r>
          </a:p>
          <a:p>
            <a:pPr lvl="2"/>
            <a:r>
              <a:rPr lang="en-US" noProof="0"/>
              <a:t>subchapter</a:t>
            </a:r>
          </a:p>
          <a:p>
            <a:pPr lvl="3"/>
            <a:r>
              <a:rPr lang="en-US" noProof="0"/>
              <a:t>active subchapter</a:t>
            </a:r>
          </a:p>
          <a:p>
            <a:pPr lvl="4"/>
            <a:r>
              <a:rPr lang="en-US" noProof="0"/>
              <a:t>subchapter</a:t>
            </a:r>
          </a:p>
          <a:p>
            <a:pPr lvl="5"/>
            <a:r>
              <a:rPr lang="en-US" noProof="0"/>
              <a:t>active subchapter</a:t>
            </a:r>
            <a:endParaRPr lang="en-US"/>
          </a:p>
        </p:txBody>
      </p:sp>
      <p:grpSp>
        <p:nvGrpSpPr>
          <p:cNvPr id="11" name="Group 33"/>
          <p:cNvGrpSpPr>
            <a:grpSpLocks noChangeAspect="1"/>
          </p:cNvGrpSpPr>
          <p:nvPr userDrawn="1"/>
        </p:nvGrpSpPr>
        <p:grpSpPr bwMode="auto">
          <a:xfrm>
            <a:off x="9555163" y="323850"/>
            <a:ext cx="2159000" cy="914400"/>
            <a:chOff x="6019" y="204"/>
            <a:chExt cx="1360" cy="576"/>
          </a:xfrm>
        </p:grpSpPr>
        <p:sp>
          <p:nvSpPr>
            <p:cNvPr id="14"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6"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7"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8"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9"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0"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41"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custDataLst>
      <p:custData r:id="rId1"/>
    </p:custData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mage + Conta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de-DE"/>
              <a:t>Titelmasterformat durch Klicken bearbeiten</a:t>
            </a:r>
            <a:endParaRPr lang="fr-FR"/>
          </a:p>
        </p:txBody>
      </p:sp>
      <p:sp>
        <p:nvSpPr>
          <p:cNvPr id="4" name="cdtText Placeholder 12 Id13"/>
          <p:cNvSpPr>
            <a:spLocks noGrp="1"/>
          </p:cNvSpPr>
          <p:nvPr>
            <p:ph type="body" sz="quarter" idx="14" hasCustomPrompt="1"/>
            <p:custDataLst>
              <p:tags r:id="rId1"/>
            </p:custDataLst>
          </p:nvPr>
        </p:nvSpPr>
        <p:spPr bwMode="auto">
          <a:xfrm>
            <a:off x="4658996" y="1440000"/>
            <a:ext cx="7539354" cy="4752000"/>
          </a:xfrm>
          <a:solidFill>
            <a:srgbClr val="D7D7CD"/>
          </a:solidFill>
        </p:spPr>
        <p:txBody>
          <a:bodyPr lIns="252000" tIns="144000" rIns="482400" bIns="144000"/>
          <a:lstStyle>
            <a:lvl1pPr marL="0" indent="0">
              <a:lnSpc>
                <a:spcPct val="100000"/>
              </a:lnSpc>
              <a:spcBef>
                <a:spcPts val="500"/>
              </a:spcBef>
              <a:spcAft>
                <a:spcPts val="500"/>
              </a:spcAft>
              <a:buClr>
                <a:schemeClr val="bg2"/>
              </a:buClr>
              <a:buFont typeface="Arial" pitchFamily="34" charset="0"/>
              <a:buNone/>
              <a:tabLst>
                <a:tab pos="5359400" algn="r"/>
              </a:tabLst>
              <a:defRPr>
                <a:solidFill>
                  <a:srgbClr val="000000"/>
                </a:solidFill>
              </a:defRPr>
            </a:lvl1pPr>
            <a:lvl2pPr marL="177800" indent="-176213">
              <a:lnSpc>
                <a:spcPct val="100000"/>
              </a:lnSpc>
              <a:spcBef>
                <a:spcPts val="500"/>
              </a:spcBef>
              <a:spcAft>
                <a:spcPts val="500"/>
              </a:spcAft>
              <a:buFont typeface="Arial" pitchFamily="34" charset="0"/>
              <a:buChar char="•"/>
              <a:tabLst>
                <a:tab pos="5359400" algn="r"/>
              </a:tabLst>
              <a:defRPr b="0">
                <a:solidFill>
                  <a:srgbClr val="000000"/>
                </a:solidFill>
              </a:defRPr>
            </a:lvl2pPr>
            <a:lvl3pPr marL="177800" indent="-177800">
              <a:lnSpc>
                <a:spcPct val="100000"/>
              </a:lnSpc>
              <a:spcBef>
                <a:spcPts val="500"/>
              </a:spcBef>
              <a:spcAft>
                <a:spcPts val="500"/>
              </a:spcAft>
              <a:buFont typeface="Arial" pitchFamily="34" charset="0"/>
              <a:buChar char="•"/>
              <a:tabLst>
                <a:tab pos="5359400" algn="r"/>
              </a:tabLst>
              <a:defRPr b="1">
                <a:solidFill>
                  <a:srgbClr val="000000"/>
                </a:solidFill>
              </a:defRPr>
            </a:lvl3pPr>
            <a:lvl4pPr marL="357188" indent="-177800">
              <a:lnSpc>
                <a:spcPct val="100000"/>
              </a:lnSpc>
              <a:spcBef>
                <a:spcPts val="500"/>
              </a:spcBef>
              <a:spcAft>
                <a:spcPts val="500"/>
              </a:spcAft>
              <a:buFont typeface="Arial" pitchFamily="34" charset="0"/>
              <a:buChar char="•"/>
              <a:tabLst>
                <a:tab pos="5359400" algn="r"/>
              </a:tabLst>
              <a:defRPr b="0">
                <a:solidFill>
                  <a:srgbClr val="000000"/>
                </a:solidFill>
              </a:defRPr>
            </a:lvl4pPr>
            <a:lvl5pPr marL="357188" indent="-177800">
              <a:lnSpc>
                <a:spcPct val="100000"/>
              </a:lnSpc>
              <a:spcBef>
                <a:spcPts val="500"/>
              </a:spcBef>
              <a:spcAft>
                <a:spcPts val="500"/>
              </a:spcAft>
              <a:buFont typeface="Arial" pitchFamily="34" charset="0"/>
              <a:buChar char="•"/>
              <a:tabLst>
                <a:tab pos="5359400" algn="r"/>
              </a:tabLst>
              <a:defRPr b="1" baseline="0">
                <a:solidFill>
                  <a:srgbClr val="000000"/>
                </a:solidFill>
              </a:defRPr>
            </a:lvl5pPr>
            <a:lvl6pPr marL="360363" indent="-180975">
              <a:lnSpc>
                <a:spcPct val="100000"/>
              </a:lnSpc>
              <a:spcBef>
                <a:spcPts val="500"/>
              </a:spcBef>
              <a:spcAft>
                <a:spcPts val="500"/>
              </a:spcAft>
              <a:buFont typeface="Arial" pitchFamily="34" charset="0"/>
              <a:buChar char="•"/>
              <a:tabLst>
                <a:tab pos="5359400" algn="r"/>
              </a:tabLst>
              <a:defRPr b="1"/>
            </a:lvl6pPr>
          </a:lstStyle>
          <a:p>
            <a:pPr lvl="0"/>
            <a:r>
              <a:rPr lang="en-US"/>
              <a:t>Click to edit the </a:t>
            </a:r>
            <a:r>
              <a:rPr lang="en-US" err="1"/>
              <a:t>toc</a:t>
            </a:r>
            <a:r>
              <a:rPr lang="en-US"/>
              <a:t> / contact</a:t>
            </a:r>
          </a:p>
          <a:p>
            <a:pPr lvl="1"/>
            <a:r>
              <a:rPr lang="en-US"/>
              <a:t>chapter</a:t>
            </a:r>
          </a:p>
          <a:p>
            <a:pPr lvl="2"/>
            <a:r>
              <a:rPr lang="en-US"/>
              <a:t>active chapter</a:t>
            </a:r>
          </a:p>
          <a:p>
            <a:pPr lvl="3"/>
            <a:r>
              <a:rPr lang="en-US"/>
              <a:t>subchapter</a:t>
            </a:r>
          </a:p>
          <a:p>
            <a:pPr lvl="4"/>
            <a:r>
              <a:rPr lang="en-US"/>
              <a:t>active subchapter</a:t>
            </a:r>
          </a:p>
        </p:txBody>
      </p:sp>
      <p:sp>
        <p:nvSpPr>
          <p:cNvPr id="8" name="Bildplatzhalter 7"/>
          <p:cNvSpPr>
            <a:spLocks noGrp="1"/>
          </p:cNvSpPr>
          <p:nvPr>
            <p:ph type="pic" sz="quarter" idx="15"/>
          </p:nvPr>
        </p:nvSpPr>
        <p:spPr>
          <a:xfrm>
            <a:off x="0" y="1440000"/>
            <a:ext cx="4514400" cy="4752000"/>
          </a:xfrm>
        </p:spPr>
        <p:txBody>
          <a:bodyPr tIns="1800000"/>
          <a:lstStyle>
            <a:lvl1pPr algn="ctr">
              <a:defRPr/>
            </a:lvl1pPr>
          </a:lstStyle>
          <a:p>
            <a:endParaRPr lang="fr-FR"/>
          </a:p>
        </p:txBody>
      </p:sp>
      <p:grpSp>
        <p:nvGrpSpPr>
          <p:cNvPr id="7" name="Group 33"/>
          <p:cNvGrpSpPr>
            <a:grpSpLocks noChangeAspect="1"/>
          </p:cNvGrpSpPr>
          <p:nvPr userDrawn="1"/>
        </p:nvGrpSpPr>
        <p:grpSpPr bwMode="auto">
          <a:xfrm>
            <a:off x="9555163" y="323850"/>
            <a:ext cx="2159000" cy="914400"/>
            <a:chOff x="6019" y="204"/>
            <a:chExt cx="1360" cy="576"/>
          </a:xfrm>
        </p:grpSpPr>
        <p:sp>
          <p:nvSpPr>
            <p:cNvPr id="9" name="AutoShape 32"/>
            <p:cNvSpPr>
              <a:spLocks noChangeAspect="1" noChangeArrowheads="1" noTextEdit="1"/>
            </p:cNvSpPr>
            <p:nvPr userDrawn="1"/>
          </p:nvSpPr>
          <p:spPr bwMode="auto">
            <a:xfrm>
              <a:off x="6019" y="204"/>
              <a:ext cx="1360" cy="5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0" name="Rectangle 34"/>
            <p:cNvSpPr>
              <a:spLocks noChangeArrowheads="1"/>
            </p:cNvSpPr>
            <p:nvPr userDrawn="1"/>
          </p:nvSpPr>
          <p:spPr bwMode="auto">
            <a:xfrm>
              <a:off x="6019" y="204"/>
              <a:ext cx="1360" cy="576"/>
            </a:xfrm>
            <a:prstGeom prst="rect">
              <a:avLst/>
            </a:prstGeom>
            <a:solidFill>
              <a:srgbClr val="FFFFFF"/>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1" name="Freeform 35"/>
            <p:cNvSpPr>
              <a:spLocks/>
            </p:cNvSpPr>
            <p:nvPr userDrawn="1"/>
          </p:nvSpPr>
          <p:spPr bwMode="auto">
            <a:xfrm>
              <a:off x="6765" y="562"/>
              <a:ext cx="98" cy="156"/>
            </a:xfrm>
            <a:custGeom>
              <a:avLst/>
              <a:gdLst>
                <a:gd name="T0" fmla="*/ 705 w 1179"/>
                <a:gd name="T1" fmla="*/ 998 h 1866"/>
                <a:gd name="T2" fmla="*/ 588 w 1179"/>
                <a:gd name="T3" fmla="*/ 1280 h 1866"/>
                <a:gd name="T4" fmla="*/ 458 w 1179"/>
                <a:gd name="T5" fmla="*/ 1547 h 1866"/>
                <a:gd name="T6" fmla="*/ 277 w 1179"/>
                <a:gd name="T7" fmla="*/ 1824 h 1866"/>
                <a:gd name="T8" fmla="*/ 270 w 1179"/>
                <a:gd name="T9" fmla="*/ 1854 h 1866"/>
                <a:gd name="T10" fmla="*/ 295 w 1179"/>
                <a:gd name="T11" fmla="*/ 1866 h 1866"/>
                <a:gd name="T12" fmla="*/ 363 w 1179"/>
                <a:gd name="T13" fmla="*/ 1834 h 1866"/>
                <a:gd name="T14" fmla="*/ 442 w 1179"/>
                <a:gd name="T15" fmla="*/ 1757 h 1866"/>
                <a:gd name="T16" fmla="*/ 627 w 1179"/>
                <a:gd name="T17" fmla="*/ 1494 h 1866"/>
                <a:gd name="T18" fmla="*/ 832 w 1179"/>
                <a:gd name="T19" fmla="*/ 1110 h 1866"/>
                <a:gd name="T20" fmla="*/ 972 w 1179"/>
                <a:gd name="T21" fmla="*/ 852 h 1866"/>
                <a:gd name="T22" fmla="*/ 1080 w 1179"/>
                <a:gd name="T23" fmla="*/ 704 h 1866"/>
                <a:gd name="T24" fmla="*/ 1172 w 1179"/>
                <a:gd name="T25" fmla="*/ 601 h 1866"/>
                <a:gd name="T26" fmla="*/ 1178 w 1179"/>
                <a:gd name="T27" fmla="*/ 575 h 1866"/>
                <a:gd name="T28" fmla="*/ 1137 w 1179"/>
                <a:gd name="T29" fmla="*/ 537 h 1866"/>
                <a:gd name="T30" fmla="*/ 1056 w 1179"/>
                <a:gd name="T31" fmla="*/ 517 h 1866"/>
                <a:gd name="T32" fmla="*/ 1012 w 1179"/>
                <a:gd name="T33" fmla="*/ 528 h 1866"/>
                <a:gd name="T34" fmla="*/ 948 w 1179"/>
                <a:gd name="T35" fmla="*/ 593 h 1866"/>
                <a:gd name="T36" fmla="*/ 778 w 1179"/>
                <a:gd name="T37" fmla="*/ 756 h 1866"/>
                <a:gd name="T38" fmla="*/ 713 w 1179"/>
                <a:gd name="T39" fmla="*/ 790 h 1866"/>
                <a:gd name="T40" fmla="*/ 676 w 1179"/>
                <a:gd name="T41" fmla="*/ 779 h 1866"/>
                <a:gd name="T42" fmla="*/ 653 w 1179"/>
                <a:gd name="T43" fmla="*/ 730 h 1866"/>
                <a:gd name="T44" fmla="*/ 655 w 1179"/>
                <a:gd name="T45" fmla="*/ 622 h 1866"/>
                <a:gd name="T46" fmla="*/ 650 w 1179"/>
                <a:gd name="T47" fmla="*/ 579 h 1866"/>
                <a:gd name="T48" fmla="*/ 622 w 1179"/>
                <a:gd name="T49" fmla="*/ 552 h 1866"/>
                <a:gd name="T50" fmla="*/ 493 w 1179"/>
                <a:gd name="T51" fmla="*/ 530 h 1866"/>
                <a:gd name="T52" fmla="*/ 272 w 1179"/>
                <a:gd name="T53" fmla="*/ 517 h 1866"/>
                <a:gd name="T54" fmla="*/ 340 w 1179"/>
                <a:gd name="T55" fmla="*/ 248 h 1866"/>
                <a:gd name="T56" fmla="*/ 393 w 1179"/>
                <a:gd name="T57" fmla="*/ 122 h 1866"/>
                <a:gd name="T58" fmla="*/ 426 w 1179"/>
                <a:gd name="T59" fmla="*/ 45 h 1866"/>
                <a:gd name="T60" fmla="*/ 397 w 1179"/>
                <a:gd name="T61" fmla="*/ 16 h 1866"/>
                <a:gd name="T62" fmla="*/ 333 w 1179"/>
                <a:gd name="T63" fmla="*/ 0 h 1866"/>
                <a:gd name="T64" fmla="*/ 279 w 1179"/>
                <a:gd name="T65" fmla="*/ 11 h 1866"/>
                <a:gd name="T66" fmla="*/ 240 w 1179"/>
                <a:gd name="T67" fmla="*/ 61 h 1866"/>
                <a:gd name="T68" fmla="*/ 150 w 1179"/>
                <a:gd name="T69" fmla="*/ 340 h 1866"/>
                <a:gd name="T70" fmla="*/ 89 w 1179"/>
                <a:gd name="T71" fmla="*/ 509 h 1866"/>
                <a:gd name="T72" fmla="*/ 11 w 1179"/>
                <a:gd name="T73" fmla="*/ 514 h 1866"/>
                <a:gd name="T74" fmla="*/ 0 w 1179"/>
                <a:gd name="T75" fmla="*/ 531 h 1866"/>
                <a:gd name="T76" fmla="*/ 25 w 1179"/>
                <a:gd name="T77" fmla="*/ 588 h 1866"/>
                <a:gd name="T78" fmla="*/ 69 w 1179"/>
                <a:gd name="T79" fmla="*/ 627 h 1866"/>
                <a:gd name="T80" fmla="*/ 100 w 1179"/>
                <a:gd name="T81" fmla="*/ 669 h 1866"/>
                <a:gd name="T82" fmla="*/ 102 w 1179"/>
                <a:gd name="T83" fmla="*/ 825 h 1866"/>
                <a:gd name="T84" fmla="*/ 141 w 1179"/>
                <a:gd name="T85" fmla="*/ 948 h 1866"/>
                <a:gd name="T86" fmla="*/ 220 w 1179"/>
                <a:gd name="T87" fmla="*/ 1011 h 1866"/>
                <a:gd name="T88" fmla="*/ 273 w 1179"/>
                <a:gd name="T89" fmla="*/ 1012 h 1866"/>
                <a:gd name="T90" fmla="*/ 282 w 1179"/>
                <a:gd name="T91" fmla="*/ 989 h 1866"/>
                <a:gd name="T92" fmla="*/ 251 w 1179"/>
                <a:gd name="T93" fmla="*/ 888 h 1866"/>
                <a:gd name="T94" fmla="*/ 244 w 1179"/>
                <a:gd name="T95" fmla="*/ 748 h 1866"/>
                <a:gd name="T96" fmla="*/ 282 w 1179"/>
                <a:gd name="T97" fmla="*/ 625 h 1866"/>
                <a:gd name="T98" fmla="*/ 428 w 1179"/>
                <a:gd name="T99" fmla="*/ 608 h 1866"/>
                <a:gd name="T100" fmla="*/ 477 w 1179"/>
                <a:gd name="T101" fmla="*/ 617 h 1866"/>
                <a:gd name="T102" fmla="*/ 483 w 1179"/>
                <a:gd name="T103" fmla="*/ 645 h 1866"/>
                <a:gd name="T104" fmla="*/ 495 w 1179"/>
                <a:gd name="T105" fmla="*/ 741 h 1866"/>
                <a:gd name="T106" fmla="*/ 539 w 1179"/>
                <a:gd name="T107" fmla="*/ 816 h 1866"/>
                <a:gd name="T108" fmla="*/ 600 w 1179"/>
                <a:gd name="T109" fmla="*/ 858 h 1866"/>
                <a:gd name="T110" fmla="*/ 682 w 1179"/>
                <a:gd name="T111" fmla="*/ 882 h 186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Lst>
              <a:rect l="0" t="0" r="r" b="b"/>
              <a:pathLst>
                <a:path w="1179" h="1866">
                  <a:moveTo>
                    <a:pt x="756" y="885"/>
                  </a:moveTo>
                  <a:lnTo>
                    <a:pt x="752" y="893"/>
                  </a:lnTo>
                  <a:lnTo>
                    <a:pt x="741" y="919"/>
                  </a:lnTo>
                  <a:lnTo>
                    <a:pt x="729" y="944"/>
                  </a:lnTo>
                  <a:lnTo>
                    <a:pt x="718" y="971"/>
                  </a:lnTo>
                  <a:lnTo>
                    <a:pt x="705" y="998"/>
                  </a:lnTo>
                  <a:lnTo>
                    <a:pt x="694" y="1026"/>
                  </a:lnTo>
                  <a:lnTo>
                    <a:pt x="682" y="1054"/>
                  </a:lnTo>
                  <a:lnTo>
                    <a:pt x="671" y="1083"/>
                  </a:lnTo>
                  <a:lnTo>
                    <a:pt x="659" y="1112"/>
                  </a:lnTo>
                  <a:lnTo>
                    <a:pt x="624" y="1194"/>
                  </a:lnTo>
                  <a:lnTo>
                    <a:pt x="588" y="1280"/>
                  </a:lnTo>
                  <a:lnTo>
                    <a:pt x="569" y="1324"/>
                  </a:lnTo>
                  <a:lnTo>
                    <a:pt x="548" y="1368"/>
                  </a:lnTo>
                  <a:lnTo>
                    <a:pt x="527" y="1412"/>
                  </a:lnTo>
                  <a:lnTo>
                    <a:pt x="506" y="1457"/>
                  </a:lnTo>
                  <a:lnTo>
                    <a:pt x="482" y="1501"/>
                  </a:lnTo>
                  <a:lnTo>
                    <a:pt x="458" y="1547"/>
                  </a:lnTo>
                  <a:lnTo>
                    <a:pt x="432" y="1593"/>
                  </a:lnTo>
                  <a:lnTo>
                    <a:pt x="405" y="1639"/>
                  </a:lnTo>
                  <a:lnTo>
                    <a:pt x="375" y="1685"/>
                  </a:lnTo>
                  <a:lnTo>
                    <a:pt x="344" y="1731"/>
                  </a:lnTo>
                  <a:lnTo>
                    <a:pt x="312" y="1778"/>
                  </a:lnTo>
                  <a:lnTo>
                    <a:pt x="277" y="1824"/>
                  </a:lnTo>
                  <a:lnTo>
                    <a:pt x="272" y="1832"/>
                  </a:lnTo>
                  <a:lnTo>
                    <a:pt x="269" y="1840"/>
                  </a:lnTo>
                  <a:lnTo>
                    <a:pt x="269" y="1844"/>
                  </a:lnTo>
                  <a:lnTo>
                    <a:pt x="268" y="1847"/>
                  </a:lnTo>
                  <a:lnTo>
                    <a:pt x="269" y="1851"/>
                  </a:lnTo>
                  <a:lnTo>
                    <a:pt x="270" y="1854"/>
                  </a:lnTo>
                  <a:lnTo>
                    <a:pt x="272" y="1857"/>
                  </a:lnTo>
                  <a:lnTo>
                    <a:pt x="274" y="1859"/>
                  </a:lnTo>
                  <a:lnTo>
                    <a:pt x="276" y="1861"/>
                  </a:lnTo>
                  <a:lnTo>
                    <a:pt x="279" y="1863"/>
                  </a:lnTo>
                  <a:lnTo>
                    <a:pt x="287" y="1865"/>
                  </a:lnTo>
                  <a:lnTo>
                    <a:pt x="295" y="1866"/>
                  </a:lnTo>
                  <a:lnTo>
                    <a:pt x="306" y="1865"/>
                  </a:lnTo>
                  <a:lnTo>
                    <a:pt x="317" y="1862"/>
                  </a:lnTo>
                  <a:lnTo>
                    <a:pt x="327" y="1858"/>
                  </a:lnTo>
                  <a:lnTo>
                    <a:pt x="338" y="1852"/>
                  </a:lnTo>
                  <a:lnTo>
                    <a:pt x="350" y="1843"/>
                  </a:lnTo>
                  <a:lnTo>
                    <a:pt x="363" y="1834"/>
                  </a:lnTo>
                  <a:lnTo>
                    <a:pt x="375" y="1824"/>
                  </a:lnTo>
                  <a:lnTo>
                    <a:pt x="388" y="1813"/>
                  </a:lnTo>
                  <a:lnTo>
                    <a:pt x="401" y="1801"/>
                  </a:lnTo>
                  <a:lnTo>
                    <a:pt x="415" y="1786"/>
                  </a:lnTo>
                  <a:lnTo>
                    <a:pt x="429" y="1772"/>
                  </a:lnTo>
                  <a:lnTo>
                    <a:pt x="442" y="1757"/>
                  </a:lnTo>
                  <a:lnTo>
                    <a:pt x="471" y="1722"/>
                  </a:lnTo>
                  <a:lnTo>
                    <a:pt x="500" y="1684"/>
                  </a:lnTo>
                  <a:lnTo>
                    <a:pt x="531" y="1642"/>
                  </a:lnTo>
                  <a:lnTo>
                    <a:pt x="563" y="1596"/>
                  </a:lnTo>
                  <a:lnTo>
                    <a:pt x="594" y="1547"/>
                  </a:lnTo>
                  <a:lnTo>
                    <a:pt x="627" y="1494"/>
                  </a:lnTo>
                  <a:lnTo>
                    <a:pt x="661" y="1438"/>
                  </a:lnTo>
                  <a:lnTo>
                    <a:pt x="694" y="1379"/>
                  </a:lnTo>
                  <a:lnTo>
                    <a:pt x="728" y="1317"/>
                  </a:lnTo>
                  <a:lnTo>
                    <a:pt x="763" y="1250"/>
                  </a:lnTo>
                  <a:lnTo>
                    <a:pt x="797" y="1181"/>
                  </a:lnTo>
                  <a:lnTo>
                    <a:pt x="832" y="1110"/>
                  </a:lnTo>
                  <a:lnTo>
                    <a:pt x="858" y="1056"/>
                  </a:lnTo>
                  <a:lnTo>
                    <a:pt x="883" y="1008"/>
                  </a:lnTo>
                  <a:lnTo>
                    <a:pt x="906" y="964"/>
                  </a:lnTo>
                  <a:lnTo>
                    <a:pt x="930" y="923"/>
                  </a:lnTo>
                  <a:lnTo>
                    <a:pt x="951" y="886"/>
                  </a:lnTo>
                  <a:lnTo>
                    <a:pt x="972" y="852"/>
                  </a:lnTo>
                  <a:lnTo>
                    <a:pt x="992" y="822"/>
                  </a:lnTo>
                  <a:lnTo>
                    <a:pt x="1010" y="793"/>
                  </a:lnTo>
                  <a:lnTo>
                    <a:pt x="1029" y="768"/>
                  </a:lnTo>
                  <a:lnTo>
                    <a:pt x="1047" y="745"/>
                  </a:lnTo>
                  <a:lnTo>
                    <a:pt x="1063" y="724"/>
                  </a:lnTo>
                  <a:lnTo>
                    <a:pt x="1080" y="704"/>
                  </a:lnTo>
                  <a:lnTo>
                    <a:pt x="1110" y="670"/>
                  </a:lnTo>
                  <a:lnTo>
                    <a:pt x="1139" y="639"/>
                  </a:lnTo>
                  <a:lnTo>
                    <a:pt x="1152" y="625"/>
                  </a:lnTo>
                  <a:lnTo>
                    <a:pt x="1164" y="610"/>
                  </a:lnTo>
                  <a:lnTo>
                    <a:pt x="1169" y="606"/>
                  </a:lnTo>
                  <a:lnTo>
                    <a:pt x="1172" y="601"/>
                  </a:lnTo>
                  <a:lnTo>
                    <a:pt x="1175" y="597"/>
                  </a:lnTo>
                  <a:lnTo>
                    <a:pt x="1177" y="592"/>
                  </a:lnTo>
                  <a:lnTo>
                    <a:pt x="1178" y="588"/>
                  </a:lnTo>
                  <a:lnTo>
                    <a:pt x="1179" y="584"/>
                  </a:lnTo>
                  <a:lnTo>
                    <a:pt x="1179" y="580"/>
                  </a:lnTo>
                  <a:lnTo>
                    <a:pt x="1178" y="575"/>
                  </a:lnTo>
                  <a:lnTo>
                    <a:pt x="1175" y="569"/>
                  </a:lnTo>
                  <a:lnTo>
                    <a:pt x="1171" y="561"/>
                  </a:lnTo>
                  <a:lnTo>
                    <a:pt x="1164" y="555"/>
                  </a:lnTo>
                  <a:lnTo>
                    <a:pt x="1157" y="549"/>
                  </a:lnTo>
                  <a:lnTo>
                    <a:pt x="1148" y="543"/>
                  </a:lnTo>
                  <a:lnTo>
                    <a:pt x="1137" y="537"/>
                  </a:lnTo>
                  <a:lnTo>
                    <a:pt x="1125" y="532"/>
                  </a:lnTo>
                  <a:lnTo>
                    <a:pt x="1111" y="527"/>
                  </a:lnTo>
                  <a:lnTo>
                    <a:pt x="1092" y="521"/>
                  </a:lnTo>
                  <a:lnTo>
                    <a:pt x="1074" y="518"/>
                  </a:lnTo>
                  <a:lnTo>
                    <a:pt x="1065" y="517"/>
                  </a:lnTo>
                  <a:lnTo>
                    <a:pt x="1056" y="517"/>
                  </a:lnTo>
                  <a:lnTo>
                    <a:pt x="1049" y="517"/>
                  </a:lnTo>
                  <a:lnTo>
                    <a:pt x="1041" y="518"/>
                  </a:lnTo>
                  <a:lnTo>
                    <a:pt x="1034" y="520"/>
                  </a:lnTo>
                  <a:lnTo>
                    <a:pt x="1027" y="522"/>
                  </a:lnTo>
                  <a:lnTo>
                    <a:pt x="1020" y="525"/>
                  </a:lnTo>
                  <a:lnTo>
                    <a:pt x="1012" y="528"/>
                  </a:lnTo>
                  <a:lnTo>
                    <a:pt x="1006" y="532"/>
                  </a:lnTo>
                  <a:lnTo>
                    <a:pt x="1000" y="537"/>
                  </a:lnTo>
                  <a:lnTo>
                    <a:pt x="994" y="542"/>
                  </a:lnTo>
                  <a:lnTo>
                    <a:pt x="989" y="548"/>
                  </a:lnTo>
                  <a:lnTo>
                    <a:pt x="985" y="551"/>
                  </a:lnTo>
                  <a:lnTo>
                    <a:pt x="948" y="593"/>
                  </a:lnTo>
                  <a:lnTo>
                    <a:pt x="909" y="635"/>
                  </a:lnTo>
                  <a:lnTo>
                    <a:pt x="870" y="675"/>
                  </a:lnTo>
                  <a:lnTo>
                    <a:pt x="832" y="711"/>
                  </a:lnTo>
                  <a:lnTo>
                    <a:pt x="813" y="728"/>
                  </a:lnTo>
                  <a:lnTo>
                    <a:pt x="795" y="743"/>
                  </a:lnTo>
                  <a:lnTo>
                    <a:pt x="778" y="756"/>
                  </a:lnTo>
                  <a:lnTo>
                    <a:pt x="762" y="769"/>
                  </a:lnTo>
                  <a:lnTo>
                    <a:pt x="746" y="778"/>
                  </a:lnTo>
                  <a:lnTo>
                    <a:pt x="732" y="784"/>
                  </a:lnTo>
                  <a:lnTo>
                    <a:pt x="725" y="787"/>
                  </a:lnTo>
                  <a:lnTo>
                    <a:pt x="719" y="789"/>
                  </a:lnTo>
                  <a:lnTo>
                    <a:pt x="713" y="790"/>
                  </a:lnTo>
                  <a:lnTo>
                    <a:pt x="707" y="790"/>
                  </a:lnTo>
                  <a:lnTo>
                    <a:pt x="697" y="789"/>
                  </a:lnTo>
                  <a:lnTo>
                    <a:pt x="688" y="786"/>
                  </a:lnTo>
                  <a:lnTo>
                    <a:pt x="684" y="784"/>
                  </a:lnTo>
                  <a:lnTo>
                    <a:pt x="680" y="782"/>
                  </a:lnTo>
                  <a:lnTo>
                    <a:pt x="676" y="779"/>
                  </a:lnTo>
                  <a:lnTo>
                    <a:pt x="673" y="776"/>
                  </a:lnTo>
                  <a:lnTo>
                    <a:pt x="668" y="770"/>
                  </a:lnTo>
                  <a:lnTo>
                    <a:pt x="664" y="762"/>
                  </a:lnTo>
                  <a:lnTo>
                    <a:pt x="661" y="755"/>
                  </a:lnTo>
                  <a:lnTo>
                    <a:pt x="657" y="747"/>
                  </a:lnTo>
                  <a:lnTo>
                    <a:pt x="653" y="730"/>
                  </a:lnTo>
                  <a:lnTo>
                    <a:pt x="651" y="711"/>
                  </a:lnTo>
                  <a:lnTo>
                    <a:pt x="651" y="692"/>
                  </a:lnTo>
                  <a:lnTo>
                    <a:pt x="651" y="672"/>
                  </a:lnTo>
                  <a:lnTo>
                    <a:pt x="653" y="652"/>
                  </a:lnTo>
                  <a:lnTo>
                    <a:pt x="654" y="634"/>
                  </a:lnTo>
                  <a:lnTo>
                    <a:pt x="655" y="622"/>
                  </a:lnTo>
                  <a:lnTo>
                    <a:pt x="656" y="611"/>
                  </a:lnTo>
                  <a:lnTo>
                    <a:pt x="656" y="604"/>
                  </a:lnTo>
                  <a:lnTo>
                    <a:pt x="655" y="597"/>
                  </a:lnTo>
                  <a:lnTo>
                    <a:pt x="654" y="591"/>
                  </a:lnTo>
                  <a:lnTo>
                    <a:pt x="652" y="585"/>
                  </a:lnTo>
                  <a:lnTo>
                    <a:pt x="650" y="579"/>
                  </a:lnTo>
                  <a:lnTo>
                    <a:pt x="647" y="574"/>
                  </a:lnTo>
                  <a:lnTo>
                    <a:pt x="644" y="569"/>
                  </a:lnTo>
                  <a:lnTo>
                    <a:pt x="639" y="564"/>
                  </a:lnTo>
                  <a:lnTo>
                    <a:pt x="634" y="560"/>
                  </a:lnTo>
                  <a:lnTo>
                    <a:pt x="629" y="556"/>
                  </a:lnTo>
                  <a:lnTo>
                    <a:pt x="622" y="552"/>
                  </a:lnTo>
                  <a:lnTo>
                    <a:pt x="615" y="549"/>
                  </a:lnTo>
                  <a:lnTo>
                    <a:pt x="598" y="544"/>
                  </a:lnTo>
                  <a:lnTo>
                    <a:pt x="578" y="539"/>
                  </a:lnTo>
                  <a:lnTo>
                    <a:pt x="558" y="537"/>
                  </a:lnTo>
                  <a:lnTo>
                    <a:pt x="529" y="533"/>
                  </a:lnTo>
                  <a:lnTo>
                    <a:pt x="493" y="530"/>
                  </a:lnTo>
                  <a:lnTo>
                    <a:pt x="453" y="527"/>
                  </a:lnTo>
                  <a:lnTo>
                    <a:pt x="411" y="525"/>
                  </a:lnTo>
                  <a:lnTo>
                    <a:pt x="366" y="522"/>
                  </a:lnTo>
                  <a:lnTo>
                    <a:pt x="322" y="520"/>
                  </a:lnTo>
                  <a:lnTo>
                    <a:pt x="279" y="517"/>
                  </a:lnTo>
                  <a:lnTo>
                    <a:pt x="272" y="517"/>
                  </a:lnTo>
                  <a:lnTo>
                    <a:pt x="273" y="510"/>
                  </a:lnTo>
                  <a:lnTo>
                    <a:pt x="286" y="448"/>
                  </a:lnTo>
                  <a:lnTo>
                    <a:pt x="300" y="387"/>
                  </a:lnTo>
                  <a:lnTo>
                    <a:pt x="316" y="329"/>
                  </a:lnTo>
                  <a:lnTo>
                    <a:pt x="332" y="274"/>
                  </a:lnTo>
                  <a:lnTo>
                    <a:pt x="340" y="248"/>
                  </a:lnTo>
                  <a:lnTo>
                    <a:pt x="349" y="223"/>
                  </a:lnTo>
                  <a:lnTo>
                    <a:pt x="358" y="199"/>
                  </a:lnTo>
                  <a:lnTo>
                    <a:pt x="367" y="178"/>
                  </a:lnTo>
                  <a:lnTo>
                    <a:pt x="376" y="157"/>
                  </a:lnTo>
                  <a:lnTo>
                    <a:pt x="384" y="138"/>
                  </a:lnTo>
                  <a:lnTo>
                    <a:pt x="393" y="122"/>
                  </a:lnTo>
                  <a:lnTo>
                    <a:pt x="401" y="106"/>
                  </a:lnTo>
                  <a:lnTo>
                    <a:pt x="413" y="86"/>
                  </a:lnTo>
                  <a:lnTo>
                    <a:pt x="422" y="67"/>
                  </a:lnTo>
                  <a:lnTo>
                    <a:pt x="425" y="59"/>
                  </a:lnTo>
                  <a:lnTo>
                    <a:pt x="426" y="52"/>
                  </a:lnTo>
                  <a:lnTo>
                    <a:pt x="426" y="45"/>
                  </a:lnTo>
                  <a:lnTo>
                    <a:pt x="424" y="39"/>
                  </a:lnTo>
                  <a:lnTo>
                    <a:pt x="422" y="34"/>
                  </a:lnTo>
                  <a:lnTo>
                    <a:pt x="418" y="30"/>
                  </a:lnTo>
                  <a:lnTo>
                    <a:pt x="413" y="25"/>
                  </a:lnTo>
                  <a:lnTo>
                    <a:pt x="406" y="20"/>
                  </a:lnTo>
                  <a:lnTo>
                    <a:pt x="397" y="16"/>
                  </a:lnTo>
                  <a:lnTo>
                    <a:pt x="387" y="13"/>
                  </a:lnTo>
                  <a:lnTo>
                    <a:pt x="376" y="9"/>
                  </a:lnTo>
                  <a:lnTo>
                    <a:pt x="364" y="6"/>
                  </a:lnTo>
                  <a:lnTo>
                    <a:pt x="353" y="3"/>
                  </a:lnTo>
                  <a:lnTo>
                    <a:pt x="342" y="1"/>
                  </a:lnTo>
                  <a:lnTo>
                    <a:pt x="333" y="0"/>
                  </a:lnTo>
                  <a:lnTo>
                    <a:pt x="323" y="0"/>
                  </a:lnTo>
                  <a:lnTo>
                    <a:pt x="313" y="1"/>
                  </a:lnTo>
                  <a:lnTo>
                    <a:pt x="304" y="2"/>
                  </a:lnTo>
                  <a:lnTo>
                    <a:pt x="294" y="4"/>
                  </a:lnTo>
                  <a:lnTo>
                    <a:pt x="286" y="7"/>
                  </a:lnTo>
                  <a:lnTo>
                    <a:pt x="279" y="11"/>
                  </a:lnTo>
                  <a:lnTo>
                    <a:pt x="273" y="15"/>
                  </a:lnTo>
                  <a:lnTo>
                    <a:pt x="267" y="20"/>
                  </a:lnTo>
                  <a:lnTo>
                    <a:pt x="262" y="26"/>
                  </a:lnTo>
                  <a:lnTo>
                    <a:pt x="253" y="37"/>
                  </a:lnTo>
                  <a:lnTo>
                    <a:pt x="245" y="49"/>
                  </a:lnTo>
                  <a:lnTo>
                    <a:pt x="240" y="61"/>
                  </a:lnTo>
                  <a:lnTo>
                    <a:pt x="235" y="73"/>
                  </a:lnTo>
                  <a:lnTo>
                    <a:pt x="216" y="124"/>
                  </a:lnTo>
                  <a:lnTo>
                    <a:pt x="197" y="177"/>
                  </a:lnTo>
                  <a:lnTo>
                    <a:pt x="180" y="230"/>
                  </a:lnTo>
                  <a:lnTo>
                    <a:pt x="164" y="285"/>
                  </a:lnTo>
                  <a:lnTo>
                    <a:pt x="150" y="340"/>
                  </a:lnTo>
                  <a:lnTo>
                    <a:pt x="137" y="395"/>
                  </a:lnTo>
                  <a:lnTo>
                    <a:pt x="126" y="450"/>
                  </a:lnTo>
                  <a:lnTo>
                    <a:pt x="117" y="505"/>
                  </a:lnTo>
                  <a:lnTo>
                    <a:pt x="116" y="510"/>
                  </a:lnTo>
                  <a:lnTo>
                    <a:pt x="111" y="510"/>
                  </a:lnTo>
                  <a:lnTo>
                    <a:pt x="89" y="509"/>
                  </a:lnTo>
                  <a:lnTo>
                    <a:pt x="71" y="509"/>
                  </a:lnTo>
                  <a:lnTo>
                    <a:pt x="54" y="509"/>
                  </a:lnTo>
                  <a:lnTo>
                    <a:pt x="39" y="509"/>
                  </a:lnTo>
                  <a:lnTo>
                    <a:pt x="26" y="510"/>
                  </a:lnTo>
                  <a:lnTo>
                    <a:pt x="16" y="512"/>
                  </a:lnTo>
                  <a:lnTo>
                    <a:pt x="11" y="514"/>
                  </a:lnTo>
                  <a:lnTo>
                    <a:pt x="8" y="517"/>
                  </a:lnTo>
                  <a:lnTo>
                    <a:pt x="5" y="519"/>
                  </a:lnTo>
                  <a:lnTo>
                    <a:pt x="3" y="522"/>
                  </a:lnTo>
                  <a:lnTo>
                    <a:pt x="2" y="524"/>
                  </a:lnTo>
                  <a:lnTo>
                    <a:pt x="1" y="528"/>
                  </a:lnTo>
                  <a:lnTo>
                    <a:pt x="0" y="531"/>
                  </a:lnTo>
                  <a:lnTo>
                    <a:pt x="0" y="535"/>
                  </a:lnTo>
                  <a:lnTo>
                    <a:pt x="2" y="545"/>
                  </a:lnTo>
                  <a:lnTo>
                    <a:pt x="6" y="555"/>
                  </a:lnTo>
                  <a:lnTo>
                    <a:pt x="11" y="566"/>
                  </a:lnTo>
                  <a:lnTo>
                    <a:pt x="17" y="577"/>
                  </a:lnTo>
                  <a:lnTo>
                    <a:pt x="25" y="588"/>
                  </a:lnTo>
                  <a:lnTo>
                    <a:pt x="34" y="600"/>
                  </a:lnTo>
                  <a:lnTo>
                    <a:pt x="40" y="606"/>
                  </a:lnTo>
                  <a:lnTo>
                    <a:pt x="47" y="611"/>
                  </a:lnTo>
                  <a:lnTo>
                    <a:pt x="54" y="618"/>
                  </a:lnTo>
                  <a:lnTo>
                    <a:pt x="61" y="623"/>
                  </a:lnTo>
                  <a:lnTo>
                    <a:pt x="69" y="627"/>
                  </a:lnTo>
                  <a:lnTo>
                    <a:pt x="77" y="631"/>
                  </a:lnTo>
                  <a:lnTo>
                    <a:pt x="86" y="635"/>
                  </a:lnTo>
                  <a:lnTo>
                    <a:pt x="96" y="638"/>
                  </a:lnTo>
                  <a:lnTo>
                    <a:pt x="102" y="640"/>
                  </a:lnTo>
                  <a:lnTo>
                    <a:pt x="101" y="644"/>
                  </a:lnTo>
                  <a:lnTo>
                    <a:pt x="100" y="669"/>
                  </a:lnTo>
                  <a:lnTo>
                    <a:pt x="99" y="693"/>
                  </a:lnTo>
                  <a:lnTo>
                    <a:pt x="98" y="718"/>
                  </a:lnTo>
                  <a:lnTo>
                    <a:pt x="98" y="741"/>
                  </a:lnTo>
                  <a:lnTo>
                    <a:pt x="98" y="771"/>
                  </a:lnTo>
                  <a:lnTo>
                    <a:pt x="99" y="798"/>
                  </a:lnTo>
                  <a:lnTo>
                    <a:pt x="102" y="825"/>
                  </a:lnTo>
                  <a:lnTo>
                    <a:pt x="106" y="849"/>
                  </a:lnTo>
                  <a:lnTo>
                    <a:pt x="110" y="873"/>
                  </a:lnTo>
                  <a:lnTo>
                    <a:pt x="116" y="894"/>
                  </a:lnTo>
                  <a:lnTo>
                    <a:pt x="123" y="914"/>
                  </a:lnTo>
                  <a:lnTo>
                    <a:pt x="131" y="932"/>
                  </a:lnTo>
                  <a:lnTo>
                    <a:pt x="141" y="948"/>
                  </a:lnTo>
                  <a:lnTo>
                    <a:pt x="152" y="963"/>
                  </a:lnTo>
                  <a:lnTo>
                    <a:pt x="163" y="976"/>
                  </a:lnTo>
                  <a:lnTo>
                    <a:pt x="176" y="987"/>
                  </a:lnTo>
                  <a:lnTo>
                    <a:pt x="189" y="997"/>
                  </a:lnTo>
                  <a:lnTo>
                    <a:pt x="204" y="1004"/>
                  </a:lnTo>
                  <a:lnTo>
                    <a:pt x="220" y="1011"/>
                  </a:lnTo>
                  <a:lnTo>
                    <a:pt x="236" y="1016"/>
                  </a:lnTo>
                  <a:lnTo>
                    <a:pt x="242" y="1017"/>
                  </a:lnTo>
                  <a:lnTo>
                    <a:pt x="248" y="1017"/>
                  </a:lnTo>
                  <a:lnTo>
                    <a:pt x="259" y="1016"/>
                  </a:lnTo>
                  <a:lnTo>
                    <a:pt x="268" y="1014"/>
                  </a:lnTo>
                  <a:lnTo>
                    <a:pt x="273" y="1012"/>
                  </a:lnTo>
                  <a:lnTo>
                    <a:pt x="277" y="1010"/>
                  </a:lnTo>
                  <a:lnTo>
                    <a:pt x="280" y="1007"/>
                  </a:lnTo>
                  <a:lnTo>
                    <a:pt x="282" y="1004"/>
                  </a:lnTo>
                  <a:lnTo>
                    <a:pt x="284" y="999"/>
                  </a:lnTo>
                  <a:lnTo>
                    <a:pt x="284" y="994"/>
                  </a:lnTo>
                  <a:lnTo>
                    <a:pt x="282" y="989"/>
                  </a:lnTo>
                  <a:lnTo>
                    <a:pt x="279" y="982"/>
                  </a:lnTo>
                  <a:lnTo>
                    <a:pt x="271" y="966"/>
                  </a:lnTo>
                  <a:lnTo>
                    <a:pt x="265" y="948"/>
                  </a:lnTo>
                  <a:lnTo>
                    <a:pt x="259" y="929"/>
                  </a:lnTo>
                  <a:lnTo>
                    <a:pt x="254" y="909"/>
                  </a:lnTo>
                  <a:lnTo>
                    <a:pt x="251" y="888"/>
                  </a:lnTo>
                  <a:lnTo>
                    <a:pt x="247" y="866"/>
                  </a:lnTo>
                  <a:lnTo>
                    <a:pt x="245" y="843"/>
                  </a:lnTo>
                  <a:lnTo>
                    <a:pt x="244" y="820"/>
                  </a:lnTo>
                  <a:lnTo>
                    <a:pt x="243" y="796"/>
                  </a:lnTo>
                  <a:lnTo>
                    <a:pt x="243" y="773"/>
                  </a:lnTo>
                  <a:lnTo>
                    <a:pt x="244" y="748"/>
                  </a:lnTo>
                  <a:lnTo>
                    <a:pt x="245" y="725"/>
                  </a:lnTo>
                  <a:lnTo>
                    <a:pt x="249" y="678"/>
                  </a:lnTo>
                  <a:lnTo>
                    <a:pt x="254" y="633"/>
                  </a:lnTo>
                  <a:lnTo>
                    <a:pt x="255" y="629"/>
                  </a:lnTo>
                  <a:lnTo>
                    <a:pt x="259" y="628"/>
                  </a:lnTo>
                  <a:lnTo>
                    <a:pt x="282" y="625"/>
                  </a:lnTo>
                  <a:lnTo>
                    <a:pt x="307" y="622"/>
                  </a:lnTo>
                  <a:lnTo>
                    <a:pt x="332" y="618"/>
                  </a:lnTo>
                  <a:lnTo>
                    <a:pt x="357" y="615"/>
                  </a:lnTo>
                  <a:lnTo>
                    <a:pt x="381" y="612"/>
                  </a:lnTo>
                  <a:lnTo>
                    <a:pt x="406" y="610"/>
                  </a:lnTo>
                  <a:lnTo>
                    <a:pt x="428" y="608"/>
                  </a:lnTo>
                  <a:lnTo>
                    <a:pt x="448" y="607"/>
                  </a:lnTo>
                  <a:lnTo>
                    <a:pt x="450" y="607"/>
                  </a:lnTo>
                  <a:lnTo>
                    <a:pt x="459" y="608"/>
                  </a:lnTo>
                  <a:lnTo>
                    <a:pt x="466" y="610"/>
                  </a:lnTo>
                  <a:lnTo>
                    <a:pt x="472" y="612"/>
                  </a:lnTo>
                  <a:lnTo>
                    <a:pt x="477" y="617"/>
                  </a:lnTo>
                  <a:lnTo>
                    <a:pt x="479" y="620"/>
                  </a:lnTo>
                  <a:lnTo>
                    <a:pt x="481" y="623"/>
                  </a:lnTo>
                  <a:lnTo>
                    <a:pt x="482" y="626"/>
                  </a:lnTo>
                  <a:lnTo>
                    <a:pt x="483" y="630"/>
                  </a:lnTo>
                  <a:lnTo>
                    <a:pt x="483" y="637"/>
                  </a:lnTo>
                  <a:lnTo>
                    <a:pt x="483" y="645"/>
                  </a:lnTo>
                  <a:lnTo>
                    <a:pt x="483" y="657"/>
                  </a:lnTo>
                  <a:lnTo>
                    <a:pt x="483" y="674"/>
                  </a:lnTo>
                  <a:lnTo>
                    <a:pt x="485" y="693"/>
                  </a:lnTo>
                  <a:lnTo>
                    <a:pt x="489" y="717"/>
                  </a:lnTo>
                  <a:lnTo>
                    <a:pt x="492" y="728"/>
                  </a:lnTo>
                  <a:lnTo>
                    <a:pt x="495" y="741"/>
                  </a:lnTo>
                  <a:lnTo>
                    <a:pt x="500" y="753"/>
                  </a:lnTo>
                  <a:lnTo>
                    <a:pt x="506" y="766"/>
                  </a:lnTo>
                  <a:lnTo>
                    <a:pt x="513" y="779"/>
                  </a:lnTo>
                  <a:lnTo>
                    <a:pt x="520" y="791"/>
                  </a:lnTo>
                  <a:lnTo>
                    <a:pt x="529" y="803"/>
                  </a:lnTo>
                  <a:lnTo>
                    <a:pt x="539" y="816"/>
                  </a:lnTo>
                  <a:lnTo>
                    <a:pt x="548" y="824"/>
                  </a:lnTo>
                  <a:lnTo>
                    <a:pt x="558" y="832"/>
                  </a:lnTo>
                  <a:lnTo>
                    <a:pt x="568" y="840"/>
                  </a:lnTo>
                  <a:lnTo>
                    <a:pt x="578" y="846"/>
                  </a:lnTo>
                  <a:lnTo>
                    <a:pt x="589" y="853"/>
                  </a:lnTo>
                  <a:lnTo>
                    <a:pt x="600" y="858"/>
                  </a:lnTo>
                  <a:lnTo>
                    <a:pt x="613" y="865"/>
                  </a:lnTo>
                  <a:lnTo>
                    <a:pt x="626" y="869"/>
                  </a:lnTo>
                  <a:lnTo>
                    <a:pt x="639" y="873"/>
                  </a:lnTo>
                  <a:lnTo>
                    <a:pt x="652" y="877"/>
                  </a:lnTo>
                  <a:lnTo>
                    <a:pt x="668" y="879"/>
                  </a:lnTo>
                  <a:lnTo>
                    <a:pt x="682" y="882"/>
                  </a:lnTo>
                  <a:lnTo>
                    <a:pt x="697" y="883"/>
                  </a:lnTo>
                  <a:lnTo>
                    <a:pt x="714" y="884"/>
                  </a:lnTo>
                  <a:lnTo>
                    <a:pt x="730" y="885"/>
                  </a:lnTo>
                  <a:lnTo>
                    <a:pt x="747" y="885"/>
                  </a:lnTo>
                  <a:lnTo>
                    <a:pt x="756" y="8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2" name="Freeform 36"/>
            <p:cNvSpPr>
              <a:spLocks/>
            </p:cNvSpPr>
            <p:nvPr userDrawn="1"/>
          </p:nvSpPr>
          <p:spPr bwMode="auto">
            <a:xfrm>
              <a:off x="6460" y="648"/>
              <a:ext cx="42" cy="70"/>
            </a:xfrm>
            <a:custGeom>
              <a:avLst/>
              <a:gdLst>
                <a:gd name="T0" fmla="*/ 395 w 504"/>
                <a:gd name="T1" fmla="*/ 126 h 840"/>
                <a:gd name="T2" fmla="*/ 353 w 504"/>
                <a:gd name="T3" fmla="*/ 165 h 840"/>
                <a:gd name="T4" fmla="*/ 314 w 504"/>
                <a:gd name="T5" fmla="*/ 203 h 840"/>
                <a:gd name="T6" fmla="*/ 279 w 504"/>
                <a:gd name="T7" fmla="*/ 243 h 840"/>
                <a:gd name="T8" fmla="*/ 248 w 504"/>
                <a:gd name="T9" fmla="*/ 283 h 840"/>
                <a:gd name="T10" fmla="*/ 219 w 504"/>
                <a:gd name="T11" fmla="*/ 323 h 840"/>
                <a:gd name="T12" fmla="*/ 195 w 504"/>
                <a:gd name="T13" fmla="*/ 365 h 840"/>
                <a:gd name="T14" fmla="*/ 174 w 504"/>
                <a:gd name="T15" fmla="*/ 407 h 840"/>
                <a:gd name="T16" fmla="*/ 156 w 504"/>
                <a:gd name="T17" fmla="*/ 451 h 840"/>
                <a:gd name="T18" fmla="*/ 135 w 504"/>
                <a:gd name="T19" fmla="*/ 514 h 840"/>
                <a:gd name="T20" fmla="*/ 122 w 504"/>
                <a:gd name="T21" fmla="*/ 567 h 840"/>
                <a:gd name="T22" fmla="*/ 115 w 504"/>
                <a:gd name="T23" fmla="*/ 613 h 840"/>
                <a:gd name="T24" fmla="*/ 114 w 504"/>
                <a:gd name="T25" fmla="*/ 650 h 840"/>
                <a:gd name="T26" fmla="*/ 116 w 504"/>
                <a:gd name="T27" fmla="*/ 681 h 840"/>
                <a:gd name="T28" fmla="*/ 121 w 504"/>
                <a:gd name="T29" fmla="*/ 704 h 840"/>
                <a:gd name="T30" fmla="*/ 127 w 504"/>
                <a:gd name="T31" fmla="*/ 723 h 840"/>
                <a:gd name="T32" fmla="*/ 135 w 504"/>
                <a:gd name="T33" fmla="*/ 736 h 840"/>
                <a:gd name="T34" fmla="*/ 146 w 504"/>
                <a:gd name="T35" fmla="*/ 748 h 840"/>
                <a:gd name="T36" fmla="*/ 159 w 504"/>
                <a:gd name="T37" fmla="*/ 757 h 840"/>
                <a:gd name="T38" fmla="*/ 173 w 504"/>
                <a:gd name="T39" fmla="*/ 762 h 840"/>
                <a:gd name="T40" fmla="*/ 188 w 504"/>
                <a:gd name="T41" fmla="*/ 764 h 840"/>
                <a:gd name="T42" fmla="*/ 208 w 504"/>
                <a:gd name="T43" fmla="*/ 840 h 840"/>
                <a:gd name="T44" fmla="*/ 182 w 504"/>
                <a:gd name="T45" fmla="*/ 839 h 840"/>
                <a:gd name="T46" fmla="*/ 159 w 504"/>
                <a:gd name="T47" fmla="*/ 835 h 840"/>
                <a:gd name="T48" fmla="*/ 136 w 504"/>
                <a:gd name="T49" fmla="*/ 829 h 840"/>
                <a:gd name="T50" fmla="*/ 115 w 504"/>
                <a:gd name="T51" fmla="*/ 821 h 840"/>
                <a:gd name="T52" fmla="*/ 96 w 504"/>
                <a:gd name="T53" fmla="*/ 809 h 840"/>
                <a:gd name="T54" fmla="*/ 77 w 504"/>
                <a:gd name="T55" fmla="*/ 795 h 840"/>
                <a:gd name="T56" fmla="*/ 61 w 504"/>
                <a:gd name="T57" fmla="*/ 780 h 840"/>
                <a:gd name="T58" fmla="*/ 47 w 504"/>
                <a:gd name="T59" fmla="*/ 761 h 840"/>
                <a:gd name="T60" fmla="*/ 28 w 504"/>
                <a:gd name="T61" fmla="*/ 731 h 840"/>
                <a:gd name="T62" fmla="*/ 14 w 504"/>
                <a:gd name="T63" fmla="*/ 696 h 840"/>
                <a:gd name="T64" fmla="*/ 5 w 504"/>
                <a:gd name="T65" fmla="*/ 658 h 840"/>
                <a:gd name="T66" fmla="*/ 1 w 504"/>
                <a:gd name="T67" fmla="*/ 618 h 840"/>
                <a:gd name="T68" fmla="*/ 1 w 504"/>
                <a:gd name="T69" fmla="*/ 576 h 840"/>
                <a:gd name="T70" fmla="*/ 5 w 504"/>
                <a:gd name="T71" fmla="*/ 532 h 840"/>
                <a:gd name="T72" fmla="*/ 14 w 504"/>
                <a:gd name="T73" fmla="*/ 486 h 840"/>
                <a:gd name="T74" fmla="*/ 27 w 504"/>
                <a:gd name="T75" fmla="*/ 439 h 840"/>
                <a:gd name="T76" fmla="*/ 51 w 504"/>
                <a:gd name="T77" fmla="*/ 380 h 840"/>
                <a:gd name="T78" fmla="*/ 81 w 504"/>
                <a:gd name="T79" fmla="*/ 321 h 840"/>
                <a:gd name="T80" fmla="*/ 118 w 504"/>
                <a:gd name="T81" fmla="*/ 264 h 840"/>
                <a:gd name="T82" fmla="*/ 162 w 504"/>
                <a:gd name="T83" fmla="*/ 209 h 840"/>
                <a:gd name="T84" fmla="*/ 212 w 504"/>
                <a:gd name="T85" fmla="*/ 156 h 840"/>
                <a:gd name="T86" fmla="*/ 269 w 504"/>
                <a:gd name="T87" fmla="*/ 103 h 840"/>
                <a:gd name="T88" fmla="*/ 332 w 504"/>
                <a:gd name="T89" fmla="*/ 52 h 840"/>
                <a:gd name="T90" fmla="*/ 403 w 504"/>
                <a:gd name="T91" fmla="*/ 2 h 840"/>
                <a:gd name="T92" fmla="*/ 504 w 504"/>
                <a:gd name="T93" fmla="*/ 26 h 84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504" h="840">
                  <a:moveTo>
                    <a:pt x="406" y="118"/>
                  </a:moveTo>
                  <a:lnTo>
                    <a:pt x="395" y="126"/>
                  </a:lnTo>
                  <a:lnTo>
                    <a:pt x="374" y="146"/>
                  </a:lnTo>
                  <a:lnTo>
                    <a:pt x="353" y="165"/>
                  </a:lnTo>
                  <a:lnTo>
                    <a:pt x="333" y="184"/>
                  </a:lnTo>
                  <a:lnTo>
                    <a:pt x="314" y="203"/>
                  </a:lnTo>
                  <a:lnTo>
                    <a:pt x="295" y="223"/>
                  </a:lnTo>
                  <a:lnTo>
                    <a:pt x="279" y="243"/>
                  </a:lnTo>
                  <a:lnTo>
                    <a:pt x="263" y="262"/>
                  </a:lnTo>
                  <a:lnTo>
                    <a:pt x="248" y="283"/>
                  </a:lnTo>
                  <a:lnTo>
                    <a:pt x="233" y="303"/>
                  </a:lnTo>
                  <a:lnTo>
                    <a:pt x="219" y="323"/>
                  </a:lnTo>
                  <a:lnTo>
                    <a:pt x="207" y="344"/>
                  </a:lnTo>
                  <a:lnTo>
                    <a:pt x="195" y="365"/>
                  </a:lnTo>
                  <a:lnTo>
                    <a:pt x="184" y="386"/>
                  </a:lnTo>
                  <a:lnTo>
                    <a:pt x="174" y="407"/>
                  </a:lnTo>
                  <a:lnTo>
                    <a:pt x="165" y="430"/>
                  </a:lnTo>
                  <a:lnTo>
                    <a:pt x="156" y="451"/>
                  </a:lnTo>
                  <a:lnTo>
                    <a:pt x="145" y="484"/>
                  </a:lnTo>
                  <a:lnTo>
                    <a:pt x="135" y="514"/>
                  </a:lnTo>
                  <a:lnTo>
                    <a:pt x="128" y="542"/>
                  </a:lnTo>
                  <a:lnTo>
                    <a:pt x="122" y="567"/>
                  </a:lnTo>
                  <a:lnTo>
                    <a:pt x="118" y="591"/>
                  </a:lnTo>
                  <a:lnTo>
                    <a:pt x="115" y="613"/>
                  </a:lnTo>
                  <a:lnTo>
                    <a:pt x="114" y="633"/>
                  </a:lnTo>
                  <a:lnTo>
                    <a:pt x="114" y="650"/>
                  </a:lnTo>
                  <a:lnTo>
                    <a:pt x="114" y="666"/>
                  </a:lnTo>
                  <a:lnTo>
                    <a:pt x="116" y="681"/>
                  </a:lnTo>
                  <a:lnTo>
                    <a:pt x="118" y="693"/>
                  </a:lnTo>
                  <a:lnTo>
                    <a:pt x="121" y="704"/>
                  </a:lnTo>
                  <a:lnTo>
                    <a:pt x="124" y="714"/>
                  </a:lnTo>
                  <a:lnTo>
                    <a:pt x="127" y="723"/>
                  </a:lnTo>
                  <a:lnTo>
                    <a:pt x="131" y="730"/>
                  </a:lnTo>
                  <a:lnTo>
                    <a:pt x="135" y="736"/>
                  </a:lnTo>
                  <a:lnTo>
                    <a:pt x="140" y="742"/>
                  </a:lnTo>
                  <a:lnTo>
                    <a:pt x="146" y="748"/>
                  </a:lnTo>
                  <a:lnTo>
                    <a:pt x="152" y="753"/>
                  </a:lnTo>
                  <a:lnTo>
                    <a:pt x="159" y="757"/>
                  </a:lnTo>
                  <a:lnTo>
                    <a:pt x="166" y="760"/>
                  </a:lnTo>
                  <a:lnTo>
                    <a:pt x="173" y="762"/>
                  </a:lnTo>
                  <a:lnTo>
                    <a:pt x="180" y="763"/>
                  </a:lnTo>
                  <a:lnTo>
                    <a:pt x="188" y="764"/>
                  </a:lnTo>
                  <a:lnTo>
                    <a:pt x="230" y="801"/>
                  </a:lnTo>
                  <a:lnTo>
                    <a:pt x="208" y="840"/>
                  </a:lnTo>
                  <a:lnTo>
                    <a:pt x="195" y="840"/>
                  </a:lnTo>
                  <a:lnTo>
                    <a:pt x="182" y="839"/>
                  </a:lnTo>
                  <a:lnTo>
                    <a:pt x="170" y="838"/>
                  </a:lnTo>
                  <a:lnTo>
                    <a:pt x="159" y="835"/>
                  </a:lnTo>
                  <a:lnTo>
                    <a:pt x="148" y="833"/>
                  </a:lnTo>
                  <a:lnTo>
                    <a:pt x="136" y="829"/>
                  </a:lnTo>
                  <a:lnTo>
                    <a:pt x="125" y="825"/>
                  </a:lnTo>
                  <a:lnTo>
                    <a:pt x="115" y="821"/>
                  </a:lnTo>
                  <a:lnTo>
                    <a:pt x="105" y="814"/>
                  </a:lnTo>
                  <a:lnTo>
                    <a:pt x="96" y="809"/>
                  </a:lnTo>
                  <a:lnTo>
                    <a:pt x="86" y="802"/>
                  </a:lnTo>
                  <a:lnTo>
                    <a:pt x="77" y="795"/>
                  </a:lnTo>
                  <a:lnTo>
                    <a:pt x="69" y="788"/>
                  </a:lnTo>
                  <a:lnTo>
                    <a:pt x="61" y="780"/>
                  </a:lnTo>
                  <a:lnTo>
                    <a:pt x="54" y="771"/>
                  </a:lnTo>
                  <a:lnTo>
                    <a:pt x="47" y="761"/>
                  </a:lnTo>
                  <a:lnTo>
                    <a:pt x="36" y="746"/>
                  </a:lnTo>
                  <a:lnTo>
                    <a:pt x="28" y="731"/>
                  </a:lnTo>
                  <a:lnTo>
                    <a:pt x="21" y="713"/>
                  </a:lnTo>
                  <a:lnTo>
                    <a:pt x="14" y="696"/>
                  </a:lnTo>
                  <a:lnTo>
                    <a:pt x="9" y="678"/>
                  </a:lnTo>
                  <a:lnTo>
                    <a:pt x="5" y="658"/>
                  </a:lnTo>
                  <a:lnTo>
                    <a:pt x="2" y="639"/>
                  </a:lnTo>
                  <a:lnTo>
                    <a:pt x="1" y="618"/>
                  </a:lnTo>
                  <a:lnTo>
                    <a:pt x="0" y="597"/>
                  </a:lnTo>
                  <a:lnTo>
                    <a:pt x="1" y="576"/>
                  </a:lnTo>
                  <a:lnTo>
                    <a:pt x="2" y="554"/>
                  </a:lnTo>
                  <a:lnTo>
                    <a:pt x="5" y="532"/>
                  </a:lnTo>
                  <a:lnTo>
                    <a:pt x="9" y="509"/>
                  </a:lnTo>
                  <a:lnTo>
                    <a:pt x="14" y="486"/>
                  </a:lnTo>
                  <a:lnTo>
                    <a:pt x="20" y="462"/>
                  </a:lnTo>
                  <a:lnTo>
                    <a:pt x="27" y="439"/>
                  </a:lnTo>
                  <a:lnTo>
                    <a:pt x="38" y="409"/>
                  </a:lnTo>
                  <a:lnTo>
                    <a:pt x="51" y="380"/>
                  </a:lnTo>
                  <a:lnTo>
                    <a:pt x="66" y="350"/>
                  </a:lnTo>
                  <a:lnTo>
                    <a:pt x="81" y="321"/>
                  </a:lnTo>
                  <a:lnTo>
                    <a:pt x="99" y="293"/>
                  </a:lnTo>
                  <a:lnTo>
                    <a:pt x="118" y="264"/>
                  </a:lnTo>
                  <a:lnTo>
                    <a:pt x="139" y="237"/>
                  </a:lnTo>
                  <a:lnTo>
                    <a:pt x="162" y="209"/>
                  </a:lnTo>
                  <a:lnTo>
                    <a:pt x="185" y="183"/>
                  </a:lnTo>
                  <a:lnTo>
                    <a:pt x="212" y="156"/>
                  </a:lnTo>
                  <a:lnTo>
                    <a:pt x="239" y="130"/>
                  </a:lnTo>
                  <a:lnTo>
                    <a:pt x="269" y="103"/>
                  </a:lnTo>
                  <a:lnTo>
                    <a:pt x="300" y="77"/>
                  </a:lnTo>
                  <a:lnTo>
                    <a:pt x="332" y="52"/>
                  </a:lnTo>
                  <a:lnTo>
                    <a:pt x="367" y="26"/>
                  </a:lnTo>
                  <a:lnTo>
                    <a:pt x="403" y="2"/>
                  </a:lnTo>
                  <a:lnTo>
                    <a:pt x="406" y="0"/>
                  </a:lnTo>
                  <a:lnTo>
                    <a:pt x="504" y="26"/>
                  </a:lnTo>
                  <a:lnTo>
                    <a:pt x="406" y="118"/>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3" name="Freeform 37"/>
            <p:cNvSpPr>
              <a:spLocks/>
            </p:cNvSpPr>
            <p:nvPr userDrawn="1"/>
          </p:nvSpPr>
          <p:spPr bwMode="auto">
            <a:xfrm>
              <a:off x="7081" y="570"/>
              <a:ext cx="66" cy="83"/>
            </a:xfrm>
            <a:custGeom>
              <a:avLst/>
              <a:gdLst>
                <a:gd name="T0" fmla="*/ 575 w 783"/>
                <a:gd name="T1" fmla="*/ 794 h 1004"/>
                <a:gd name="T2" fmla="*/ 584 w 783"/>
                <a:gd name="T3" fmla="*/ 863 h 1004"/>
                <a:gd name="T4" fmla="*/ 607 w 783"/>
                <a:gd name="T5" fmla="*/ 922 h 1004"/>
                <a:gd name="T6" fmla="*/ 643 w 783"/>
                <a:gd name="T7" fmla="*/ 967 h 1004"/>
                <a:gd name="T8" fmla="*/ 692 w 783"/>
                <a:gd name="T9" fmla="*/ 1000 h 1004"/>
                <a:gd name="T10" fmla="*/ 718 w 783"/>
                <a:gd name="T11" fmla="*/ 1004 h 1004"/>
                <a:gd name="T12" fmla="*/ 738 w 783"/>
                <a:gd name="T13" fmla="*/ 997 h 1004"/>
                <a:gd name="T14" fmla="*/ 741 w 783"/>
                <a:gd name="T15" fmla="*/ 978 h 1004"/>
                <a:gd name="T16" fmla="*/ 727 w 783"/>
                <a:gd name="T17" fmla="*/ 902 h 1004"/>
                <a:gd name="T18" fmla="*/ 728 w 783"/>
                <a:gd name="T19" fmla="*/ 819 h 1004"/>
                <a:gd name="T20" fmla="*/ 742 w 783"/>
                <a:gd name="T21" fmla="*/ 732 h 1004"/>
                <a:gd name="T22" fmla="*/ 767 w 783"/>
                <a:gd name="T23" fmla="*/ 642 h 1004"/>
                <a:gd name="T24" fmla="*/ 783 w 783"/>
                <a:gd name="T25" fmla="*/ 583 h 1004"/>
                <a:gd name="T26" fmla="*/ 779 w 783"/>
                <a:gd name="T27" fmla="*/ 550 h 1004"/>
                <a:gd name="T28" fmla="*/ 756 w 783"/>
                <a:gd name="T29" fmla="*/ 522 h 1004"/>
                <a:gd name="T30" fmla="*/ 702 w 783"/>
                <a:gd name="T31" fmla="*/ 494 h 1004"/>
                <a:gd name="T32" fmla="*/ 674 w 783"/>
                <a:gd name="T33" fmla="*/ 489 h 1004"/>
                <a:gd name="T34" fmla="*/ 651 w 783"/>
                <a:gd name="T35" fmla="*/ 493 h 1004"/>
                <a:gd name="T36" fmla="*/ 633 w 783"/>
                <a:gd name="T37" fmla="*/ 508 h 1004"/>
                <a:gd name="T38" fmla="*/ 603 w 783"/>
                <a:gd name="T39" fmla="*/ 553 h 1004"/>
                <a:gd name="T40" fmla="*/ 506 w 783"/>
                <a:gd name="T41" fmla="*/ 676 h 1004"/>
                <a:gd name="T42" fmla="*/ 401 w 783"/>
                <a:gd name="T43" fmla="*/ 783 h 1004"/>
                <a:gd name="T44" fmla="*/ 336 w 783"/>
                <a:gd name="T45" fmla="*/ 834 h 1004"/>
                <a:gd name="T46" fmla="*/ 286 w 783"/>
                <a:gd name="T47" fmla="*/ 860 h 1004"/>
                <a:gd name="T48" fmla="*/ 240 w 783"/>
                <a:gd name="T49" fmla="*/ 873 h 1004"/>
                <a:gd name="T50" fmla="*/ 209 w 783"/>
                <a:gd name="T51" fmla="*/ 871 h 1004"/>
                <a:gd name="T52" fmla="*/ 188 w 783"/>
                <a:gd name="T53" fmla="*/ 858 h 1004"/>
                <a:gd name="T54" fmla="*/ 170 w 783"/>
                <a:gd name="T55" fmla="*/ 836 h 1004"/>
                <a:gd name="T56" fmla="*/ 155 w 783"/>
                <a:gd name="T57" fmla="*/ 776 h 1004"/>
                <a:gd name="T58" fmla="*/ 159 w 783"/>
                <a:gd name="T59" fmla="*/ 665 h 1004"/>
                <a:gd name="T60" fmla="*/ 188 w 783"/>
                <a:gd name="T61" fmla="*/ 507 h 1004"/>
                <a:gd name="T62" fmla="*/ 234 w 783"/>
                <a:gd name="T63" fmla="*/ 341 h 1004"/>
                <a:gd name="T64" fmla="*/ 291 w 783"/>
                <a:gd name="T65" fmla="*/ 188 h 1004"/>
                <a:gd name="T66" fmla="*/ 345 w 783"/>
                <a:gd name="T67" fmla="*/ 81 h 1004"/>
                <a:gd name="T68" fmla="*/ 360 w 783"/>
                <a:gd name="T69" fmla="*/ 40 h 1004"/>
                <a:gd name="T70" fmla="*/ 354 w 783"/>
                <a:gd name="T71" fmla="*/ 15 h 1004"/>
                <a:gd name="T72" fmla="*/ 327 w 783"/>
                <a:gd name="T73" fmla="*/ 3 h 1004"/>
                <a:gd name="T74" fmla="*/ 291 w 783"/>
                <a:gd name="T75" fmla="*/ 0 h 1004"/>
                <a:gd name="T76" fmla="*/ 240 w 783"/>
                <a:gd name="T77" fmla="*/ 7 h 1004"/>
                <a:gd name="T78" fmla="*/ 203 w 783"/>
                <a:gd name="T79" fmla="*/ 25 h 1004"/>
                <a:gd name="T80" fmla="*/ 178 w 783"/>
                <a:gd name="T81" fmla="*/ 52 h 1004"/>
                <a:gd name="T82" fmla="*/ 135 w 783"/>
                <a:gd name="T83" fmla="*/ 146 h 1004"/>
                <a:gd name="T84" fmla="*/ 81 w 783"/>
                <a:gd name="T85" fmla="*/ 292 h 1004"/>
                <a:gd name="T86" fmla="*/ 34 w 783"/>
                <a:gd name="T87" fmla="*/ 458 h 1004"/>
                <a:gd name="T88" fmla="*/ 5 w 783"/>
                <a:gd name="T89" fmla="*/ 639 h 1004"/>
                <a:gd name="T90" fmla="*/ 1 w 783"/>
                <a:gd name="T91" fmla="*/ 756 h 1004"/>
                <a:gd name="T92" fmla="*/ 8 w 783"/>
                <a:gd name="T93" fmla="*/ 802 h 1004"/>
                <a:gd name="T94" fmla="*/ 25 w 783"/>
                <a:gd name="T95" fmla="*/ 845 h 1004"/>
                <a:gd name="T96" fmla="*/ 51 w 783"/>
                <a:gd name="T97" fmla="*/ 884 h 1004"/>
                <a:gd name="T98" fmla="*/ 91 w 783"/>
                <a:gd name="T99" fmla="*/ 923 h 1004"/>
                <a:gd name="T100" fmla="*/ 141 w 783"/>
                <a:gd name="T101" fmla="*/ 955 h 1004"/>
                <a:gd name="T102" fmla="*/ 189 w 783"/>
                <a:gd name="T103" fmla="*/ 975 h 1004"/>
                <a:gd name="T104" fmla="*/ 248 w 783"/>
                <a:gd name="T105" fmla="*/ 986 h 1004"/>
                <a:gd name="T106" fmla="*/ 294 w 783"/>
                <a:gd name="T107" fmla="*/ 979 h 1004"/>
                <a:gd name="T108" fmla="*/ 339 w 783"/>
                <a:gd name="T109" fmla="*/ 961 h 1004"/>
                <a:gd name="T110" fmla="*/ 426 w 783"/>
                <a:gd name="T111" fmla="*/ 901 h 1004"/>
                <a:gd name="T112" fmla="*/ 504 w 783"/>
                <a:gd name="T113" fmla="*/ 825 h 10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783" h="1004">
                  <a:moveTo>
                    <a:pt x="576" y="737"/>
                  </a:moveTo>
                  <a:lnTo>
                    <a:pt x="575" y="755"/>
                  </a:lnTo>
                  <a:lnTo>
                    <a:pt x="575" y="775"/>
                  </a:lnTo>
                  <a:lnTo>
                    <a:pt x="575" y="794"/>
                  </a:lnTo>
                  <a:lnTo>
                    <a:pt x="576" y="812"/>
                  </a:lnTo>
                  <a:lnTo>
                    <a:pt x="578" y="831"/>
                  </a:lnTo>
                  <a:lnTo>
                    <a:pt x="581" y="847"/>
                  </a:lnTo>
                  <a:lnTo>
                    <a:pt x="584" y="863"/>
                  </a:lnTo>
                  <a:lnTo>
                    <a:pt x="590" y="879"/>
                  </a:lnTo>
                  <a:lnTo>
                    <a:pt x="595" y="894"/>
                  </a:lnTo>
                  <a:lnTo>
                    <a:pt x="601" y="908"/>
                  </a:lnTo>
                  <a:lnTo>
                    <a:pt x="607" y="922"/>
                  </a:lnTo>
                  <a:lnTo>
                    <a:pt x="615" y="934"/>
                  </a:lnTo>
                  <a:lnTo>
                    <a:pt x="623" y="946"/>
                  </a:lnTo>
                  <a:lnTo>
                    <a:pt x="632" y="956"/>
                  </a:lnTo>
                  <a:lnTo>
                    <a:pt x="643" y="967"/>
                  </a:lnTo>
                  <a:lnTo>
                    <a:pt x="654" y="977"/>
                  </a:lnTo>
                  <a:lnTo>
                    <a:pt x="666" y="986"/>
                  </a:lnTo>
                  <a:lnTo>
                    <a:pt x="678" y="994"/>
                  </a:lnTo>
                  <a:lnTo>
                    <a:pt x="692" y="1000"/>
                  </a:lnTo>
                  <a:lnTo>
                    <a:pt x="699" y="1002"/>
                  </a:lnTo>
                  <a:lnTo>
                    <a:pt x="705" y="1003"/>
                  </a:lnTo>
                  <a:lnTo>
                    <a:pt x="712" y="1004"/>
                  </a:lnTo>
                  <a:lnTo>
                    <a:pt x="718" y="1004"/>
                  </a:lnTo>
                  <a:lnTo>
                    <a:pt x="724" y="1004"/>
                  </a:lnTo>
                  <a:lnTo>
                    <a:pt x="730" y="1003"/>
                  </a:lnTo>
                  <a:lnTo>
                    <a:pt x="735" y="1000"/>
                  </a:lnTo>
                  <a:lnTo>
                    <a:pt x="738" y="997"/>
                  </a:lnTo>
                  <a:lnTo>
                    <a:pt x="741" y="993"/>
                  </a:lnTo>
                  <a:lnTo>
                    <a:pt x="742" y="989"/>
                  </a:lnTo>
                  <a:lnTo>
                    <a:pt x="742" y="984"/>
                  </a:lnTo>
                  <a:lnTo>
                    <a:pt x="741" y="978"/>
                  </a:lnTo>
                  <a:lnTo>
                    <a:pt x="735" y="959"/>
                  </a:lnTo>
                  <a:lnTo>
                    <a:pt x="732" y="941"/>
                  </a:lnTo>
                  <a:lnTo>
                    <a:pt x="729" y="922"/>
                  </a:lnTo>
                  <a:lnTo>
                    <a:pt x="727" y="902"/>
                  </a:lnTo>
                  <a:lnTo>
                    <a:pt x="726" y="883"/>
                  </a:lnTo>
                  <a:lnTo>
                    <a:pt x="726" y="861"/>
                  </a:lnTo>
                  <a:lnTo>
                    <a:pt x="726" y="841"/>
                  </a:lnTo>
                  <a:lnTo>
                    <a:pt x="728" y="819"/>
                  </a:lnTo>
                  <a:lnTo>
                    <a:pt x="730" y="798"/>
                  </a:lnTo>
                  <a:lnTo>
                    <a:pt x="733" y="776"/>
                  </a:lnTo>
                  <a:lnTo>
                    <a:pt x="736" y="754"/>
                  </a:lnTo>
                  <a:lnTo>
                    <a:pt x="742" y="732"/>
                  </a:lnTo>
                  <a:lnTo>
                    <a:pt x="747" y="709"/>
                  </a:lnTo>
                  <a:lnTo>
                    <a:pt x="753" y="687"/>
                  </a:lnTo>
                  <a:lnTo>
                    <a:pt x="760" y="664"/>
                  </a:lnTo>
                  <a:lnTo>
                    <a:pt x="767" y="642"/>
                  </a:lnTo>
                  <a:lnTo>
                    <a:pt x="775" y="620"/>
                  </a:lnTo>
                  <a:lnTo>
                    <a:pt x="780" y="600"/>
                  </a:lnTo>
                  <a:lnTo>
                    <a:pt x="782" y="591"/>
                  </a:lnTo>
                  <a:lnTo>
                    <a:pt x="783" y="583"/>
                  </a:lnTo>
                  <a:lnTo>
                    <a:pt x="783" y="573"/>
                  </a:lnTo>
                  <a:lnTo>
                    <a:pt x="783" y="565"/>
                  </a:lnTo>
                  <a:lnTo>
                    <a:pt x="781" y="558"/>
                  </a:lnTo>
                  <a:lnTo>
                    <a:pt x="779" y="550"/>
                  </a:lnTo>
                  <a:lnTo>
                    <a:pt x="775" y="543"/>
                  </a:lnTo>
                  <a:lnTo>
                    <a:pt x="770" y="536"/>
                  </a:lnTo>
                  <a:lnTo>
                    <a:pt x="764" y="530"/>
                  </a:lnTo>
                  <a:lnTo>
                    <a:pt x="756" y="522"/>
                  </a:lnTo>
                  <a:lnTo>
                    <a:pt x="747" y="515"/>
                  </a:lnTo>
                  <a:lnTo>
                    <a:pt x="735" y="509"/>
                  </a:lnTo>
                  <a:lnTo>
                    <a:pt x="718" y="500"/>
                  </a:lnTo>
                  <a:lnTo>
                    <a:pt x="702" y="494"/>
                  </a:lnTo>
                  <a:lnTo>
                    <a:pt x="695" y="492"/>
                  </a:lnTo>
                  <a:lnTo>
                    <a:pt x="687" y="490"/>
                  </a:lnTo>
                  <a:lnTo>
                    <a:pt x="680" y="489"/>
                  </a:lnTo>
                  <a:lnTo>
                    <a:pt x="674" y="489"/>
                  </a:lnTo>
                  <a:lnTo>
                    <a:pt x="667" y="489"/>
                  </a:lnTo>
                  <a:lnTo>
                    <a:pt x="662" y="490"/>
                  </a:lnTo>
                  <a:lnTo>
                    <a:pt x="656" y="491"/>
                  </a:lnTo>
                  <a:lnTo>
                    <a:pt x="651" y="493"/>
                  </a:lnTo>
                  <a:lnTo>
                    <a:pt x="646" y="496"/>
                  </a:lnTo>
                  <a:lnTo>
                    <a:pt x="642" y="499"/>
                  </a:lnTo>
                  <a:lnTo>
                    <a:pt x="637" y="503"/>
                  </a:lnTo>
                  <a:lnTo>
                    <a:pt x="633" y="508"/>
                  </a:lnTo>
                  <a:lnTo>
                    <a:pt x="630" y="512"/>
                  </a:lnTo>
                  <a:lnTo>
                    <a:pt x="627" y="516"/>
                  </a:lnTo>
                  <a:lnTo>
                    <a:pt x="624" y="522"/>
                  </a:lnTo>
                  <a:lnTo>
                    <a:pt x="603" y="553"/>
                  </a:lnTo>
                  <a:lnTo>
                    <a:pt x="579" y="584"/>
                  </a:lnTo>
                  <a:lnTo>
                    <a:pt x="556" y="615"/>
                  </a:lnTo>
                  <a:lnTo>
                    <a:pt x="531" y="646"/>
                  </a:lnTo>
                  <a:lnTo>
                    <a:pt x="506" y="676"/>
                  </a:lnTo>
                  <a:lnTo>
                    <a:pt x="480" y="704"/>
                  </a:lnTo>
                  <a:lnTo>
                    <a:pt x="454" y="733"/>
                  </a:lnTo>
                  <a:lnTo>
                    <a:pt x="427" y="758"/>
                  </a:lnTo>
                  <a:lnTo>
                    <a:pt x="401" y="783"/>
                  </a:lnTo>
                  <a:lnTo>
                    <a:pt x="374" y="805"/>
                  </a:lnTo>
                  <a:lnTo>
                    <a:pt x="362" y="815"/>
                  </a:lnTo>
                  <a:lnTo>
                    <a:pt x="349" y="825"/>
                  </a:lnTo>
                  <a:lnTo>
                    <a:pt x="336" y="834"/>
                  </a:lnTo>
                  <a:lnTo>
                    <a:pt x="323" y="841"/>
                  </a:lnTo>
                  <a:lnTo>
                    <a:pt x="310" y="848"/>
                  </a:lnTo>
                  <a:lnTo>
                    <a:pt x="298" y="855"/>
                  </a:lnTo>
                  <a:lnTo>
                    <a:pt x="286" y="860"/>
                  </a:lnTo>
                  <a:lnTo>
                    <a:pt x="273" y="865"/>
                  </a:lnTo>
                  <a:lnTo>
                    <a:pt x="262" y="868"/>
                  </a:lnTo>
                  <a:lnTo>
                    <a:pt x="251" y="872"/>
                  </a:lnTo>
                  <a:lnTo>
                    <a:pt x="240" y="873"/>
                  </a:lnTo>
                  <a:lnTo>
                    <a:pt x="228" y="874"/>
                  </a:lnTo>
                  <a:lnTo>
                    <a:pt x="221" y="874"/>
                  </a:lnTo>
                  <a:lnTo>
                    <a:pt x="215" y="873"/>
                  </a:lnTo>
                  <a:lnTo>
                    <a:pt x="209" y="871"/>
                  </a:lnTo>
                  <a:lnTo>
                    <a:pt x="203" y="868"/>
                  </a:lnTo>
                  <a:lnTo>
                    <a:pt x="198" y="865"/>
                  </a:lnTo>
                  <a:lnTo>
                    <a:pt x="193" y="862"/>
                  </a:lnTo>
                  <a:lnTo>
                    <a:pt x="188" y="858"/>
                  </a:lnTo>
                  <a:lnTo>
                    <a:pt x="183" y="853"/>
                  </a:lnTo>
                  <a:lnTo>
                    <a:pt x="178" y="848"/>
                  </a:lnTo>
                  <a:lnTo>
                    <a:pt x="174" y="843"/>
                  </a:lnTo>
                  <a:lnTo>
                    <a:pt x="170" y="836"/>
                  </a:lnTo>
                  <a:lnTo>
                    <a:pt x="167" y="830"/>
                  </a:lnTo>
                  <a:lnTo>
                    <a:pt x="162" y="813"/>
                  </a:lnTo>
                  <a:lnTo>
                    <a:pt x="158" y="796"/>
                  </a:lnTo>
                  <a:lnTo>
                    <a:pt x="155" y="776"/>
                  </a:lnTo>
                  <a:lnTo>
                    <a:pt x="154" y="753"/>
                  </a:lnTo>
                  <a:lnTo>
                    <a:pt x="154" y="729"/>
                  </a:lnTo>
                  <a:lnTo>
                    <a:pt x="155" y="702"/>
                  </a:lnTo>
                  <a:lnTo>
                    <a:pt x="159" y="665"/>
                  </a:lnTo>
                  <a:lnTo>
                    <a:pt x="164" y="628"/>
                  </a:lnTo>
                  <a:lnTo>
                    <a:pt x="170" y="589"/>
                  </a:lnTo>
                  <a:lnTo>
                    <a:pt x="178" y="548"/>
                  </a:lnTo>
                  <a:lnTo>
                    <a:pt x="188" y="507"/>
                  </a:lnTo>
                  <a:lnTo>
                    <a:pt x="197" y="465"/>
                  </a:lnTo>
                  <a:lnTo>
                    <a:pt x="208" y="423"/>
                  </a:lnTo>
                  <a:lnTo>
                    <a:pt x="220" y="382"/>
                  </a:lnTo>
                  <a:lnTo>
                    <a:pt x="234" y="341"/>
                  </a:lnTo>
                  <a:lnTo>
                    <a:pt x="247" y="301"/>
                  </a:lnTo>
                  <a:lnTo>
                    <a:pt x="261" y="261"/>
                  </a:lnTo>
                  <a:lnTo>
                    <a:pt x="275" y="223"/>
                  </a:lnTo>
                  <a:lnTo>
                    <a:pt x="291" y="188"/>
                  </a:lnTo>
                  <a:lnTo>
                    <a:pt x="306" y="154"/>
                  </a:lnTo>
                  <a:lnTo>
                    <a:pt x="322" y="122"/>
                  </a:lnTo>
                  <a:lnTo>
                    <a:pt x="338" y="94"/>
                  </a:lnTo>
                  <a:lnTo>
                    <a:pt x="345" y="81"/>
                  </a:lnTo>
                  <a:lnTo>
                    <a:pt x="351" y="68"/>
                  </a:lnTo>
                  <a:lnTo>
                    <a:pt x="356" y="58"/>
                  </a:lnTo>
                  <a:lnTo>
                    <a:pt x="359" y="48"/>
                  </a:lnTo>
                  <a:lnTo>
                    <a:pt x="360" y="40"/>
                  </a:lnTo>
                  <a:lnTo>
                    <a:pt x="361" y="33"/>
                  </a:lnTo>
                  <a:lnTo>
                    <a:pt x="360" y="25"/>
                  </a:lnTo>
                  <a:lnTo>
                    <a:pt x="357" y="20"/>
                  </a:lnTo>
                  <a:lnTo>
                    <a:pt x="354" y="15"/>
                  </a:lnTo>
                  <a:lnTo>
                    <a:pt x="350" y="11"/>
                  </a:lnTo>
                  <a:lnTo>
                    <a:pt x="344" y="8"/>
                  </a:lnTo>
                  <a:lnTo>
                    <a:pt x="337" y="5"/>
                  </a:lnTo>
                  <a:lnTo>
                    <a:pt x="327" y="3"/>
                  </a:lnTo>
                  <a:lnTo>
                    <a:pt x="318" y="1"/>
                  </a:lnTo>
                  <a:lnTo>
                    <a:pt x="307" y="0"/>
                  </a:lnTo>
                  <a:lnTo>
                    <a:pt x="295" y="0"/>
                  </a:lnTo>
                  <a:lnTo>
                    <a:pt x="291" y="0"/>
                  </a:lnTo>
                  <a:lnTo>
                    <a:pt x="276" y="0"/>
                  </a:lnTo>
                  <a:lnTo>
                    <a:pt x="263" y="2"/>
                  </a:lnTo>
                  <a:lnTo>
                    <a:pt x="251" y="4"/>
                  </a:lnTo>
                  <a:lnTo>
                    <a:pt x="240" y="7"/>
                  </a:lnTo>
                  <a:lnTo>
                    <a:pt x="229" y="11"/>
                  </a:lnTo>
                  <a:lnTo>
                    <a:pt x="219" y="15"/>
                  </a:lnTo>
                  <a:lnTo>
                    <a:pt x="211" y="20"/>
                  </a:lnTo>
                  <a:lnTo>
                    <a:pt x="203" y="25"/>
                  </a:lnTo>
                  <a:lnTo>
                    <a:pt x="196" y="32"/>
                  </a:lnTo>
                  <a:lnTo>
                    <a:pt x="190" y="39"/>
                  </a:lnTo>
                  <a:lnTo>
                    <a:pt x="184" y="45"/>
                  </a:lnTo>
                  <a:lnTo>
                    <a:pt x="178" y="52"/>
                  </a:lnTo>
                  <a:lnTo>
                    <a:pt x="169" y="67"/>
                  </a:lnTo>
                  <a:lnTo>
                    <a:pt x="162" y="83"/>
                  </a:lnTo>
                  <a:lnTo>
                    <a:pt x="148" y="113"/>
                  </a:lnTo>
                  <a:lnTo>
                    <a:pt x="135" y="146"/>
                  </a:lnTo>
                  <a:lnTo>
                    <a:pt x="120" y="180"/>
                  </a:lnTo>
                  <a:lnTo>
                    <a:pt x="107" y="215"/>
                  </a:lnTo>
                  <a:lnTo>
                    <a:pt x="94" y="253"/>
                  </a:lnTo>
                  <a:lnTo>
                    <a:pt x="81" y="292"/>
                  </a:lnTo>
                  <a:lnTo>
                    <a:pt x="67" y="332"/>
                  </a:lnTo>
                  <a:lnTo>
                    <a:pt x="56" y="372"/>
                  </a:lnTo>
                  <a:lnTo>
                    <a:pt x="45" y="414"/>
                  </a:lnTo>
                  <a:lnTo>
                    <a:pt x="34" y="458"/>
                  </a:lnTo>
                  <a:lnTo>
                    <a:pt x="24" y="502"/>
                  </a:lnTo>
                  <a:lnTo>
                    <a:pt x="17" y="547"/>
                  </a:lnTo>
                  <a:lnTo>
                    <a:pt x="10" y="593"/>
                  </a:lnTo>
                  <a:lnTo>
                    <a:pt x="5" y="639"/>
                  </a:lnTo>
                  <a:lnTo>
                    <a:pt x="2" y="685"/>
                  </a:lnTo>
                  <a:lnTo>
                    <a:pt x="0" y="732"/>
                  </a:lnTo>
                  <a:lnTo>
                    <a:pt x="0" y="744"/>
                  </a:lnTo>
                  <a:lnTo>
                    <a:pt x="1" y="756"/>
                  </a:lnTo>
                  <a:lnTo>
                    <a:pt x="2" y="768"/>
                  </a:lnTo>
                  <a:lnTo>
                    <a:pt x="3" y="780"/>
                  </a:lnTo>
                  <a:lnTo>
                    <a:pt x="6" y="791"/>
                  </a:lnTo>
                  <a:lnTo>
                    <a:pt x="8" y="802"/>
                  </a:lnTo>
                  <a:lnTo>
                    <a:pt x="12" y="813"/>
                  </a:lnTo>
                  <a:lnTo>
                    <a:pt x="16" y="825"/>
                  </a:lnTo>
                  <a:lnTo>
                    <a:pt x="20" y="835"/>
                  </a:lnTo>
                  <a:lnTo>
                    <a:pt x="25" y="845"/>
                  </a:lnTo>
                  <a:lnTo>
                    <a:pt x="31" y="855"/>
                  </a:lnTo>
                  <a:lnTo>
                    <a:pt x="37" y="864"/>
                  </a:lnTo>
                  <a:lnTo>
                    <a:pt x="44" y="875"/>
                  </a:lnTo>
                  <a:lnTo>
                    <a:pt x="51" y="884"/>
                  </a:lnTo>
                  <a:lnTo>
                    <a:pt x="58" y="893"/>
                  </a:lnTo>
                  <a:lnTo>
                    <a:pt x="66" y="901"/>
                  </a:lnTo>
                  <a:lnTo>
                    <a:pt x="79" y="912"/>
                  </a:lnTo>
                  <a:lnTo>
                    <a:pt x="91" y="923"/>
                  </a:lnTo>
                  <a:lnTo>
                    <a:pt x="103" y="932"/>
                  </a:lnTo>
                  <a:lnTo>
                    <a:pt x="115" y="941"/>
                  </a:lnTo>
                  <a:lnTo>
                    <a:pt x="127" y="948"/>
                  </a:lnTo>
                  <a:lnTo>
                    <a:pt x="141" y="955"/>
                  </a:lnTo>
                  <a:lnTo>
                    <a:pt x="153" y="961"/>
                  </a:lnTo>
                  <a:lnTo>
                    <a:pt x="165" y="966"/>
                  </a:lnTo>
                  <a:lnTo>
                    <a:pt x="177" y="972"/>
                  </a:lnTo>
                  <a:lnTo>
                    <a:pt x="189" y="975"/>
                  </a:lnTo>
                  <a:lnTo>
                    <a:pt x="201" y="979"/>
                  </a:lnTo>
                  <a:lnTo>
                    <a:pt x="211" y="981"/>
                  </a:lnTo>
                  <a:lnTo>
                    <a:pt x="232" y="985"/>
                  </a:lnTo>
                  <a:lnTo>
                    <a:pt x="248" y="986"/>
                  </a:lnTo>
                  <a:lnTo>
                    <a:pt x="259" y="985"/>
                  </a:lnTo>
                  <a:lnTo>
                    <a:pt x="270" y="984"/>
                  </a:lnTo>
                  <a:lnTo>
                    <a:pt x="282" y="982"/>
                  </a:lnTo>
                  <a:lnTo>
                    <a:pt x="294" y="979"/>
                  </a:lnTo>
                  <a:lnTo>
                    <a:pt x="305" y="976"/>
                  </a:lnTo>
                  <a:lnTo>
                    <a:pt x="316" y="972"/>
                  </a:lnTo>
                  <a:lnTo>
                    <a:pt x="327" y="966"/>
                  </a:lnTo>
                  <a:lnTo>
                    <a:pt x="339" y="961"/>
                  </a:lnTo>
                  <a:lnTo>
                    <a:pt x="361" y="949"/>
                  </a:lnTo>
                  <a:lnTo>
                    <a:pt x="384" y="935"/>
                  </a:lnTo>
                  <a:lnTo>
                    <a:pt x="405" y="918"/>
                  </a:lnTo>
                  <a:lnTo>
                    <a:pt x="426" y="901"/>
                  </a:lnTo>
                  <a:lnTo>
                    <a:pt x="448" y="883"/>
                  </a:lnTo>
                  <a:lnTo>
                    <a:pt x="467" y="863"/>
                  </a:lnTo>
                  <a:lnTo>
                    <a:pt x="487" y="844"/>
                  </a:lnTo>
                  <a:lnTo>
                    <a:pt x="504" y="825"/>
                  </a:lnTo>
                  <a:lnTo>
                    <a:pt x="538" y="786"/>
                  </a:lnTo>
                  <a:lnTo>
                    <a:pt x="565" y="751"/>
                  </a:lnTo>
                  <a:lnTo>
                    <a:pt x="576" y="73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4" name="Freeform 38"/>
            <p:cNvSpPr>
              <a:spLocks/>
            </p:cNvSpPr>
            <p:nvPr userDrawn="1"/>
          </p:nvSpPr>
          <p:spPr bwMode="auto">
            <a:xfrm>
              <a:off x="6357" y="558"/>
              <a:ext cx="28" cy="94"/>
            </a:xfrm>
            <a:custGeom>
              <a:avLst/>
              <a:gdLst>
                <a:gd name="T0" fmla="*/ 211 w 340"/>
                <a:gd name="T1" fmla="*/ 0 h 1127"/>
                <a:gd name="T2" fmla="*/ 198 w 340"/>
                <a:gd name="T3" fmla="*/ 2 h 1127"/>
                <a:gd name="T4" fmla="*/ 187 w 340"/>
                <a:gd name="T5" fmla="*/ 6 h 1127"/>
                <a:gd name="T6" fmla="*/ 178 w 340"/>
                <a:gd name="T7" fmla="*/ 12 h 1127"/>
                <a:gd name="T8" fmla="*/ 167 w 340"/>
                <a:gd name="T9" fmla="*/ 24 h 1127"/>
                <a:gd name="T10" fmla="*/ 158 w 340"/>
                <a:gd name="T11" fmla="*/ 41 h 1127"/>
                <a:gd name="T12" fmla="*/ 151 w 340"/>
                <a:gd name="T13" fmla="*/ 66 h 1127"/>
                <a:gd name="T14" fmla="*/ 144 w 340"/>
                <a:gd name="T15" fmla="*/ 103 h 1127"/>
                <a:gd name="T16" fmla="*/ 134 w 340"/>
                <a:gd name="T17" fmla="*/ 147 h 1127"/>
                <a:gd name="T18" fmla="*/ 123 w 340"/>
                <a:gd name="T19" fmla="*/ 195 h 1127"/>
                <a:gd name="T20" fmla="*/ 101 w 340"/>
                <a:gd name="T21" fmla="*/ 292 h 1127"/>
                <a:gd name="T22" fmla="*/ 67 w 340"/>
                <a:gd name="T23" fmla="*/ 447 h 1127"/>
                <a:gd name="T24" fmla="*/ 35 w 340"/>
                <a:gd name="T25" fmla="*/ 608 h 1127"/>
                <a:gd name="T26" fmla="*/ 16 w 340"/>
                <a:gd name="T27" fmla="*/ 725 h 1127"/>
                <a:gd name="T28" fmla="*/ 7 w 340"/>
                <a:gd name="T29" fmla="*/ 797 h 1127"/>
                <a:gd name="T30" fmla="*/ 1 w 340"/>
                <a:gd name="T31" fmla="*/ 872 h 1127"/>
                <a:gd name="T32" fmla="*/ 0 w 340"/>
                <a:gd name="T33" fmla="*/ 941 h 1127"/>
                <a:gd name="T34" fmla="*/ 5 w 340"/>
                <a:gd name="T35" fmla="*/ 996 h 1127"/>
                <a:gd name="T36" fmla="*/ 14 w 340"/>
                <a:gd name="T37" fmla="*/ 1039 h 1127"/>
                <a:gd name="T38" fmla="*/ 27 w 340"/>
                <a:gd name="T39" fmla="*/ 1071 h 1127"/>
                <a:gd name="T40" fmla="*/ 43 w 340"/>
                <a:gd name="T41" fmla="*/ 1094 h 1127"/>
                <a:gd name="T42" fmla="*/ 62 w 340"/>
                <a:gd name="T43" fmla="*/ 1111 h 1127"/>
                <a:gd name="T44" fmla="*/ 82 w 340"/>
                <a:gd name="T45" fmla="*/ 1121 h 1127"/>
                <a:gd name="T46" fmla="*/ 102 w 340"/>
                <a:gd name="T47" fmla="*/ 1127 h 1127"/>
                <a:gd name="T48" fmla="*/ 116 w 340"/>
                <a:gd name="T49" fmla="*/ 1127 h 1127"/>
                <a:gd name="T50" fmla="*/ 122 w 340"/>
                <a:gd name="T51" fmla="*/ 1124 h 1127"/>
                <a:gd name="T52" fmla="*/ 129 w 340"/>
                <a:gd name="T53" fmla="*/ 1116 h 1127"/>
                <a:gd name="T54" fmla="*/ 134 w 340"/>
                <a:gd name="T55" fmla="*/ 1099 h 1127"/>
                <a:gd name="T56" fmla="*/ 134 w 340"/>
                <a:gd name="T57" fmla="*/ 1070 h 1127"/>
                <a:gd name="T58" fmla="*/ 137 w 340"/>
                <a:gd name="T59" fmla="*/ 1026 h 1127"/>
                <a:gd name="T60" fmla="*/ 145 w 340"/>
                <a:gd name="T61" fmla="*/ 948 h 1127"/>
                <a:gd name="T62" fmla="*/ 165 w 340"/>
                <a:gd name="T63" fmla="*/ 829 h 1127"/>
                <a:gd name="T64" fmla="*/ 191 w 340"/>
                <a:gd name="T65" fmla="*/ 696 h 1127"/>
                <a:gd name="T66" fmla="*/ 222 w 340"/>
                <a:gd name="T67" fmla="*/ 559 h 1127"/>
                <a:gd name="T68" fmla="*/ 253 w 340"/>
                <a:gd name="T69" fmla="*/ 425 h 1127"/>
                <a:gd name="T70" fmla="*/ 286 w 340"/>
                <a:gd name="T71" fmla="*/ 301 h 1127"/>
                <a:gd name="T72" fmla="*/ 316 w 340"/>
                <a:gd name="T73" fmla="*/ 195 h 1127"/>
                <a:gd name="T74" fmla="*/ 333 w 340"/>
                <a:gd name="T75" fmla="*/ 136 h 1127"/>
                <a:gd name="T76" fmla="*/ 338 w 340"/>
                <a:gd name="T77" fmla="*/ 110 h 1127"/>
                <a:gd name="T78" fmla="*/ 340 w 340"/>
                <a:gd name="T79" fmla="*/ 88 h 1127"/>
                <a:gd name="T80" fmla="*/ 337 w 340"/>
                <a:gd name="T81" fmla="*/ 70 h 1127"/>
                <a:gd name="T82" fmla="*/ 331 w 340"/>
                <a:gd name="T83" fmla="*/ 55 h 1127"/>
                <a:gd name="T84" fmla="*/ 321 w 340"/>
                <a:gd name="T85" fmla="*/ 42 h 1127"/>
                <a:gd name="T86" fmla="*/ 307 w 340"/>
                <a:gd name="T87" fmla="*/ 31 h 1127"/>
                <a:gd name="T88" fmla="*/ 292 w 340"/>
                <a:gd name="T89" fmla="*/ 22 h 1127"/>
                <a:gd name="T90" fmla="*/ 266 w 340"/>
                <a:gd name="T91" fmla="*/ 9 h 1127"/>
                <a:gd name="T92" fmla="*/ 233 w 340"/>
                <a:gd name="T93" fmla="*/ 1 h 112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340" h="1127">
                  <a:moveTo>
                    <a:pt x="218" y="0"/>
                  </a:moveTo>
                  <a:lnTo>
                    <a:pt x="211" y="0"/>
                  </a:lnTo>
                  <a:lnTo>
                    <a:pt x="204" y="1"/>
                  </a:lnTo>
                  <a:lnTo>
                    <a:pt x="198" y="2"/>
                  </a:lnTo>
                  <a:lnTo>
                    <a:pt x="192" y="4"/>
                  </a:lnTo>
                  <a:lnTo>
                    <a:pt x="187" y="6"/>
                  </a:lnTo>
                  <a:lnTo>
                    <a:pt x="182" y="9"/>
                  </a:lnTo>
                  <a:lnTo>
                    <a:pt x="178" y="12"/>
                  </a:lnTo>
                  <a:lnTo>
                    <a:pt x="174" y="16"/>
                  </a:lnTo>
                  <a:lnTo>
                    <a:pt x="167" y="24"/>
                  </a:lnTo>
                  <a:lnTo>
                    <a:pt x="162" y="33"/>
                  </a:lnTo>
                  <a:lnTo>
                    <a:pt x="158" y="41"/>
                  </a:lnTo>
                  <a:lnTo>
                    <a:pt x="154" y="51"/>
                  </a:lnTo>
                  <a:lnTo>
                    <a:pt x="151" y="66"/>
                  </a:lnTo>
                  <a:lnTo>
                    <a:pt x="148" y="84"/>
                  </a:lnTo>
                  <a:lnTo>
                    <a:pt x="144" y="103"/>
                  </a:lnTo>
                  <a:lnTo>
                    <a:pt x="139" y="125"/>
                  </a:lnTo>
                  <a:lnTo>
                    <a:pt x="134" y="147"/>
                  </a:lnTo>
                  <a:lnTo>
                    <a:pt x="129" y="171"/>
                  </a:lnTo>
                  <a:lnTo>
                    <a:pt x="123" y="195"/>
                  </a:lnTo>
                  <a:lnTo>
                    <a:pt x="118" y="222"/>
                  </a:lnTo>
                  <a:lnTo>
                    <a:pt x="101" y="292"/>
                  </a:lnTo>
                  <a:lnTo>
                    <a:pt x="84" y="369"/>
                  </a:lnTo>
                  <a:lnTo>
                    <a:pt x="67" y="447"/>
                  </a:lnTo>
                  <a:lnTo>
                    <a:pt x="50" y="528"/>
                  </a:lnTo>
                  <a:lnTo>
                    <a:pt x="35" y="608"/>
                  </a:lnTo>
                  <a:lnTo>
                    <a:pt x="22" y="687"/>
                  </a:lnTo>
                  <a:lnTo>
                    <a:pt x="16" y="725"/>
                  </a:lnTo>
                  <a:lnTo>
                    <a:pt x="11" y="762"/>
                  </a:lnTo>
                  <a:lnTo>
                    <a:pt x="7" y="797"/>
                  </a:lnTo>
                  <a:lnTo>
                    <a:pt x="3" y="832"/>
                  </a:lnTo>
                  <a:lnTo>
                    <a:pt x="1" y="872"/>
                  </a:lnTo>
                  <a:lnTo>
                    <a:pt x="0" y="909"/>
                  </a:lnTo>
                  <a:lnTo>
                    <a:pt x="0" y="941"/>
                  </a:lnTo>
                  <a:lnTo>
                    <a:pt x="1" y="971"/>
                  </a:lnTo>
                  <a:lnTo>
                    <a:pt x="5" y="996"/>
                  </a:lnTo>
                  <a:lnTo>
                    <a:pt x="9" y="1019"/>
                  </a:lnTo>
                  <a:lnTo>
                    <a:pt x="14" y="1039"/>
                  </a:lnTo>
                  <a:lnTo>
                    <a:pt x="20" y="1057"/>
                  </a:lnTo>
                  <a:lnTo>
                    <a:pt x="27" y="1071"/>
                  </a:lnTo>
                  <a:lnTo>
                    <a:pt x="35" y="1084"/>
                  </a:lnTo>
                  <a:lnTo>
                    <a:pt x="43" y="1094"/>
                  </a:lnTo>
                  <a:lnTo>
                    <a:pt x="52" y="1103"/>
                  </a:lnTo>
                  <a:lnTo>
                    <a:pt x="62" y="1111"/>
                  </a:lnTo>
                  <a:lnTo>
                    <a:pt x="72" y="1117"/>
                  </a:lnTo>
                  <a:lnTo>
                    <a:pt x="82" y="1121"/>
                  </a:lnTo>
                  <a:lnTo>
                    <a:pt x="93" y="1125"/>
                  </a:lnTo>
                  <a:lnTo>
                    <a:pt x="102" y="1127"/>
                  </a:lnTo>
                  <a:lnTo>
                    <a:pt x="112" y="1127"/>
                  </a:lnTo>
                  <a:lnTo>
                    <a:pt x="116" y="1127"/>
                  </a:lnTo>
                  <a:lnTo>
                    <a:pt x="119" y="1125"/>
                  </a:lnTo>
                  <a:lnTo>
                    <a:pt x="122" y="1124"/>
                  </a:lnTo>
                  <a:lnTo>
                    <a:pt x="125" y="1121"/>
                  </a:lnTo>
                  <a:lnTo>
                    <a:pt x="129" y="1116"/>
                  </a:lnTo>
                  <a:lnTo>
                    <a:pt x="132" y="1109"/>
                  </a:lnTo>
                  <a:lnTo>
                    <a:pt x="134" y="1099"/>
                  </a:lnTo>
                  <a:lnTo>
                    <a:pt x="134" y="1089"/>
                  </a:lnTo>
                  <a:lnTo>
                    <a:pt x="134" y="1070"/>
                  </a:lnTo>
                  <a:lnTo>
                    <a:pt x="135" y="1048"/>
                  </a:lnTo>
                  <a:lnTo>
                    <a:pt x="137" y="1026"/>
                  </a:lnTo>
                  <a:lnTo>
                    <a:pt x="139" y="1001"/>
                  </a:lnTo>
                  <a:lnTo>
                    <a:pt x="145" y="948"/>
                  </a:lnTo>
                  <a:lnTo>
                    <a:pt x="154" y="891"/>
                  </a:lnTo>
                  <a:lnTo>
                    <a:pt x="165" y="829"/>
                  </a:lnTo>
                  <a:lnTo>
                    <a:pt x="177" y="764"/>
                  </a:lnTo>
                  <a:lnTo>
                    <a:pt x="191" y="696"/>
                  </a:lnTo>
                  <a:lnTo>
                    <a:pt x="205" y="628"/>
                  </a:lnTo>
                  <a:lnTo>
                    <a:pt x="222" y="559"/>
                  </a:lnTo>
                  <a:lnTo>
                    <a:pt x="237" y="492"/>
                  </a:lnTo>
                  <a:lnTo>
                    <a:pt x="253" y="425"/>
                  </a:lnTo>
                  <a:lnTo>
                    <a:pt x="270" y="361"/>
                  </a:lnTo>
                  <a:lnTo>
                    <a:pt x="286" y="301"/>
                  </a:lnTo>
                  <a:lnTo>
                    <a:pt x="301" y="245"/>
                  </a:lnTo>
                  <a:lnTo>
                    <a:pt x="316" y="195"/>
                  </a:lnTo>
                  <a:lnTo>
                    <a:pt x="329" y="150"/>
                  </a:lnTo>
                  <a:lnTo>
                    <a:pt x="333" y="136"/>
                  </a:lnTo>
                  <a:lnTo>
                    <a:pt x="336" y="123"/>
                  </a:lnTo>
                  <a:lnTo>
                    <a:pt x="338" y="110"/>
                  </a:lnTo>
                  <a:lnTo>
                    <a:pt x="339" y="98"/>
                  </a:lnTo>
                  <a:lnTo>
                    <a:pt x="340" y="88"/>
                  </a:lnTo>
                  <a:lnTo>
                    <a:pt x="339" y="79"/>
                  </a:lnTo>
                  <a:lnTo>
                    <a:pt x="337" y="70"/>
                  </a:lnTo>
                  <a:lnTo>
                    <a:pt x="334" y="62"/>
                  </a:lnTo>
                  <a:lnTo>
                    <a:pt x="331" y="55"/>
                  </a:lnTo>
                  <a:lnTo>
                    <a:pt x="326" y="48"/>
                  </a:lnTo>
                  <a:lnTo>
                    <a:pt x="321" y="42"/>
                  </a:lnTo>
                  <a:lnTo>
                    <a:pt x="315" y="37"/>
                  </a:lnTo>
                  <a:lnTo>
                    <a:pt x="307" y="31"/>
                  </a:lnTo>
                  <a:lnTo>
                    <a:pt x="300" y="27"/>
                  </a:lnTo>
                  <a:lnTo>
                    <a:pt x="292" y="22"/>
                  </a:lnTo>
                  <a:lnTo>
                    <a:pt x="283" y="17"/>
                  </a:lnTo>
                  <a:lnTo>
                    <a:pt x="266" y="9"/>
                  </a:lnTo>
                  <a:lnTo>
                    <a:pt x="248" y="4"/>
                  </a:lnTo>
                  <a:lnTo>
                    <a:pt x="233" y="1"/>
                  </a:lnTo>
                  <a:lnTo>
                    <a:pt x="218"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5" name="Freeform 39"/>
            <p:cNvSpPr>
              <a:spLocks/>
            </p:cNvSpPr>
            <p:nvPr userDrawn="1"/>
          </p:nvSpPr>
          <p:spPr bwMode="auto">
            <a:xfrm>
              <a:off x="7003" y="607"/>
              <a:ext cx="58" cy="42"/>
            </a:xfrm>
            <a:custGeom>
              <a:avLst/>
              <a:gdLst>
                <a:gd name="T0" fmla="*/ 50 w 695"/>
                <a:gd name="T1" fmla="*/ 38 h 503"/>
                <a:gd name="T2" fmla="*/ 37 w 695"/>
                <a:gd name="T3" fmla="*/ 44 h 503"/>
                <a:gd name="T4" fmla="*/ 31 w 695"/>
                <a:gd name="T5" fmla="*/ 54 h 503"/>
                <a:gd name="T6" fmla="*/ 30 w 695"/>
                <a:gd name="T7" fmla="*/ 70 h 503"/>
                <a:gd name="T8" fmla="*/ 37 w 695"/>
                <a:gd name="T9" fmla="*/ 108 h 503"/>
                <a:gd name="T10" fmla="*/ 39 w 695"/>
                <a:gd name="T11" fmla="*/ 159 h 503"/>
                <a:gd name="T12" fmla="*/ 35 w 695"/>
                <a:gd name="T13" fmla="*/ 214 h 503"/>
                <a:gd name="T14" fmla="*/ 17 w 695"/>
                <a:gd name="T15" fmla="*/ 323 h 503"/>
                <a:gd name="T16" fmla="*/ 4 w 695"/>
                <a:gd name="T17" fmla="*/ 384 h 503"/>
                <a:gd name="T18" fmla="*/ 0 w 695"/>
                <a:gd name="T19" fmla="*/ 414 h 503"/>
                <a:gd name="T20" fmla="*/ 6 w 695"/>
                <a:gd name="T21" fmla="*/ 438 h 503"/>
                <a:gd name="T22" fmla="*/ 17 w 695"/>
                <a:gd name="T23" fmla="*/ 455 h 503"/>
                <a:gd name="T24" fmla="*/ 32 w 695"/>
                <a:gd name="T25" fmla="*/ 470 h 503"/>
                <a:gd name="T26" fmla="*/ 74 w 695"/>
                <a:gd name="T27" fmla="*/ 494 h 503"/>
                <a:gd name="T28" fmla="*/ 114 w 695"/>
                <a:gd name="T29" fmla="*/ 503 h 503"/>
                <a:gd name="T30" fmla="*/ 134 w 695"/>
                <a:gd name="T31" fmla="*/ 500 h 503"/>
                <a:gd name="T32" fmla="*/ 152 w 695"/>
                <a:gd name="T33" fmla="*/ 486 h 503"/>
                <a:gd name="T34" fmla="*/ 171 w 695"/>
                <a:gd name="T35" fmla="*/ 441 h 503"/>
                <a:gd name="T36" fmla="*/ 212 w 695"/>
                <a:gd name="T37" fmla="*/ 349 h 503"/>
                <a:gd name="T38" fmla="*/ 241 w 695"/>
                <a:gd name="T39" fmla="*/ 301 h 503"/>
                <a:gd name="T40" fmla="*/ 278 w 695"/>
                <a:gd name="T41" fmla="*/ 253 h 503"/>
                <a:gd name="T42" fmla="*/ 322 w 695"/>
                <a:gd name="T43" fmla="*/ 208 h 503"/>
                <a:gd name="T44" fmla="*/ 374 w 695"/>
                <a:gd name="T45" fmla="*/ 167 h 503"/>
                <a:gd name="T46" fmla="*/ 435 w 695"/>
                <a:gd name="T47" fmla="*/ 131 h 503"/>
                <a:gd name="T48" fmla="*/ 505 w 695"/>
                <a:gd name="T49" fmla="*/ 102 h 503"/>
                <a:gd name="T50" fmla="*/ 585 w 695"/>
                <a:gd name="T51" fmla="*/ 82 h 503"/>
                <a:gd name="T52" fmla="*/ 677 w 695"/>
                <a:gd name="T53" fmla="*/ 72 h 503"/>
                <a:gd name="T54" fmla="*/ 686 w 695"/>
                <a:gd name="T55" fmla="*/ 69 h 503"/>
                <a:gd name="T56" fmla="*/ 692 w 695"/>
                <a:gd name="T57" fmla="*/ 62 h 503"/>
                <a:gd name="T58" fmla="*/ 695 w 695"/>
                <a:gd name="T59" fmla="*/ 51 h 503"/>
                <a:gd name="T60" fmla="*/ 690 w 695"/>
                <a:gd name="T61" fmla="*/ 34 h 503"/>
                <a:gd name="T62" fmla="*/ 674 w 695"/>
                <a:gd name="T63" fmla="*/ 18 h 503"/>
                <a:gd name="T64" fmla="*/ 648 w 695"/>
                <a:gd name="T65" fmla="*/ 8 h 503"/>
                <a:gd name="T66" fmla="*/ 604 w 695"/>
                <a:gd name="T67" fmla="*/ 1 h 503"/>
                <a:gd name="T68" fmla="*/ 536 w 695"/>
                <a:gd name="T69" fmla="*/ 2 h 503"/>
                <a:gd name="T70" fmla="*/ 469 w 695"/>
                <a:gd name="T71" fmla="*/ 13 h 503"/>
                <a:gd name="T72" fmla="*/ 397 w 695"/>
                <a:gd name="T73" fmla="*/ 33 h 503"/>
                <a:gd name="T74" fmla="*/ 328 w 695"/>
                <a:gd name="T75" fmla="*/ 60 h 503"/>
                <a:gd name="T76" fmla="*/ 262 w 695"/>
                <a:gd name="T77" fmla="*/ 94 h 503"/>
                <a:gd name="T78" fmla="*/ 214 w 695"/>
                <a:gd name="T79" fmla="*/ 124 h 503"/>
                <a:gd name="T80" fmla="*/ 200 w 695"/>
                <a:gd name="T81" fmla="*/ 101 h 503"/>
                <a:gd name="T82" fmla="*/ 160 w 695"/>
                <a:gd name="T83" fmla="*/ 66 h 503"/>
                <a:gd name="T84" fmla="*/ 124 w 695"/>
                <a:gd name="T85" fmla="*/ 46 h 503"/>
                <a:gd name="T86" fmla="*/ 96 w 695"/>
                <a:gd name="T87" fmla="*/ 38 h 503"/>
                <a:gd name="T88" fmla="*/ 71 w 695"/>
                <a:gd name="T89" fmla="*/ 35 h 5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Lst>
              <a:rect l="0" t="0" r="r" b="b"/>
              <a:pathLst>
                <a:path w="695" h="503">
                  <a:moveTo>
                    <a:pt x="71" y="35"/>
                  </a:moveTo>
                  <a:lnTo>
                    <a:pt x="61" y="36"/>
                  </a:lnTo>
                  <a:lnTo>
                    <a:pt x="50" y="38"/>
                  </a:lnTo>
                  <a:lnTo>
                    <a:pt x="45" y="39"/>
                  </a:lnTo>
                  <a:lnTo>
                    <a:pt x="41" y="42"/>
                  </a:lnTo>
                  <a:lnTo>
                    <a:pt x="37" y="44"/>
                  </a:lnTo>
                  <a:lnTo>
                    <a:pt x="34" y="48"/>
                  </a:lnTo>
                  <a:lnTo>
                    <a:pt x="32" y="51"/>
                  </a:lnTo>
                  <a:lnTo>
                    <a:pt x="31" y="54"/>
                  </a:lnTo>
                  <a:lnTo>
                    <a:pt x="30" y="58"/>
                  </a:lnTo>
                  <a:lnTo>
                    <a:pt x="29" y="61"/>
                  </a:lnTo>
                  <a:lnTo>
                    <a:pt x="30" y="70"/>
                  </a:lnTo>
                  <a:lnTo>
                    <a:pt x="32" y="81"/>
                  </a:lnTo>
                  <a:lnTo>
                    <a:pt x="35" y="94"/>
                  </a:lnTo>
                  <a:lnTo>
                    <a:pt x="37" y="108"/>
                  </a:lnTo>
                  <a:lnTo>
                    <a:pt x="39" y="125"/>
                  </a:lnTo>
                  <a:lnTo>
                    <a:pt x="39" y="141"/>
                  </a:lnTo>
                  <a:lnTo>
                    <a:pt x="39" y="159"/>
                  </a:lnTo>
                  <a:lnTo>
                    <a:pt x="38" y="177"/>
                  </a:lnTo>
                  <a:lnTo>
                    <a:pt x="37" y="195"/>
                  </a:lnTo>
                  <a:lnTo>
                    <a:pt x="35" y="214"/>
                  </a:lnTo>
                  <a:lnTo>
                    <a:pt x="29" y="252"/>
                  </a:lnTo>
                  <a:lnTo>
                    <a:pt x="23" y="288"/>
                  </a:lnTo>
                  <a:lnTo>
                    <a:pt x="17" y="323"/>
                  </a:lnTo>
                  <a:lnTo>
                    <a:pt x="10" y="353"/>
                  </a:lnTo>
                  <a:lnTo>
                    <a:pt x="7" y="370"/>
                  </a:lnTo>
                  <a:lnTo>
                    <a:pt x="4" y="384"/>
                  </a:lnTo>
                  <a:lnTo>
                    <a:pt x="1" y="395"/>
                  </a:lnTo>
                  <a:lnTo>
                    <a:pt x="0" y="405"/>
                  </a:lnTo>
                  <a:lnTo>
                    <a:pt x="0" y="414"/>
                  </a:lnTo>
                  <a:lnTo>
                    <a:pt x="1" y="424"/>
                  </a:lnTo>
                  <a:lnTo>
                    <a:pt x="4" y="431"/>
                  </a:lnTo>
                  <a:lnTo>
                    <a:pt x="6" y="438"/>
                  </a:lnTo>
                  <a:lnTo>
                    <a:pt x="9" y="444"/>
                  </a:lnTo>
                  <a:lnTo>
                    <a:pt x="13" y="450"/>
                  </a:lnTo>
                  <a:lnTo>
                    <a:pt x="17" y="455"/>
                  </a:lnTo>
                  <a:lnTo>
                    <a:pt x="22" y="460"/>
                  </a:lnTo>
                  <a:lnTo>
                    <a:pt x="27" y="464"/>
                  </a:lnTo>
                  <a:lnTo>
                    <a:pt x="32" y="470"/>
                  </a:lnTo>
                  <a:lnTo>
                    <a:pt x="45" y="478"/>
                  </a:lnTo>
                  <a:lnTo>
                    <a:pt x="60" y="486"/>
                  </a:lnTo>
                  <a:lnTo>
                    <a:pt x="74" y="494"/>
                  </a:lnTo>
                  <a:lnTo>
                    <a:pt x="87" y="499"/>
                  </a:lnTo>
                  <a:lnTo>
                    <a:pt x="101" y="502"/>
                  </a:lnTo>
                  <a:lnTo>
                    <a:pt x="114" y="503"/>
                  </a:lnTo>
                  <a:lnTo>
                    <a:pt x="121" y="503"/>
                  </a:lnTo>
                  <a:lnTo>
                    <a:pt x="127" y="502"/>
                  </a:lnTo>
                  <a:lnTo>
                    <a:pt x="134" y="500"/>
                  </a:lnTo>
                  <a:lnTo>
                    <a:pt x="140" y="496"/>
                  </a:lnTo>
                  <a:lnTo>
                    <a:pt x="146" y="492"/>
                  </a:lnTo>
                  <a:lnTo>
                    <a:pt x="152" y="486"/>
                  </a:lnTo>
                  <a:lnTo>
                    <a:pt x="158" y="478"/>
                  </a:lnTo>
                  <a:lnTo>
                    <a:pt x="161" y="469"/>
                  </a:lnTo>
                  <a:lnTo>
                    <a:pt x="171" y="441"/>
                  </a:lnTo>
                  <a:lnTo>
                    <a:pt x="182" y="411"/>
                  </a:lnTo>
                  <a:lnTo>
                    <a:pt x="195" y="381"/>
                  </a:lnTo>
                  <a:lnTo>
                    <a:pt x="212" y="349"/>
                  </a:lnTo>
                  <a:lnTo>
                    <a:pt x="221" y="333"/>
                  </a:lnTo>
                  <a:lnTo>
                    <a:pt x="231" y="316"/>
                  </a:lnTo>
                  <a:lnTo>
                    <a:pt x="241" y="301"/>
                  </a:lnTo>
                  <a:lnTo>
                    <a:pt x="253" y="285"/>
                  </a:lnTo>
                  <a:lnTo>
                    <a:pt x="265" y="270"/>
                  </a:lnTo>
                  <a:lnTo>
                    <a:pt x="278" y="253"/>
                  </a:lnTo>
                  <a:lnTo>
                    <a:pt x="292" y="238"/>
                  </a:lnTo>
                  <a:lnTo>
                    <a:pt x="306" y="223"/>
                  </a:lnTo>
                  <a:lnTo>
                    <a:pt x="322" y="208"/>
                  </a:lnTo>
                  <a:lnTo>
                    <a:pt x="338" y="194"/>
                  </a:lnTo>
                  <a:lnTo>
                    <a:pt x="355" y="181"/>
                  </a:lnTo>
                  <a:lnTo>
                    <a:pt x="374" y="167"/>
                  </a:lnTo>
                  <a:lnTo>
                    <a:pt x="393" y="154"/>
                  </a:lnTo>
                  <a:lnTo>
                    <a:pt x="414" y="142"/>
                  </a:lnTo>
                  <a:lnTo>
                    <a:pt x="435" y="131"/>
                  </a:lnTo>
                  <a:lnTo>
                    <a:pt x="457" y="120"/>
                  </a:lnTo>
                  <a:lnTo>
                    <a:pt x="480" y="111"/>
                  </a:lnTo>
                  <a:lnTo>
                    <a:pt x="505" y="102"/>
                  </a:lnTo>
                  <a:lnTo>
                    <a:pt x="531" y="94"/>
                  </a:lnTo>
                  <a:lnTo>
                    <a:pt x="557" y="88"/>
                  </a:lnTo>
                  <a:lnTo>
                    <a:pt x="585" y="82"/>
                  </a:lnTo>
                  <a:lnTo>
                    <a:pt x="614" y="78"/>
                  </a:lnTo>
                  <a:lnTo>
                    <a:pt x="645" y="75"/>
                  </a:lnTo>
                  <a:lnTo>
                    <a:pt x="677" y="72"/>
                  </a:lnTo>
                  <a:lnTo>
                    <a:pt x="680" y="72"/>
                  </a:lnTo>
                  <a:lnTo>
                    <a:pt x="683" y="70"/>
                  </a:lnTo>
                  <a:lnTo>
                    <a:pt x="686" y="69"/>
                  </a:lnTo>
                  <a:lnTo>
                    <a:pt x="688" y="67"/>
                  </a:lnTo>
                  <a:lnTo>
                    <a:pt x="691" y="65"/>
                  </a:lnTo>
                  <a:lnTo>
                    <a:pt x="692" y="62"/>
                  </a:lnTo>
                  <a:lnTo>
                    <a:pt x="694" y="59"/>
                  </a:lnTo>
                  <a:lnTo>
                    <a:pt x="694" y="56"/>
                  </a:lnTo>
                  <a:lnTo>
                    <a:pt x="695" y="51"/>
                  </a:lnTo>
                  <a:lnTo>
                    <a:pt x="694" y="45"/>
                  </a:lnTo>
                  <a:lnTo>
                    <a:pt x="693" y="40"/>
                  </a:lnTo>
                  <a:lnTo>
                    <a:pt x="690" y="34"/>
                  </a:lnTo>
                  <a:lnTo>
                    <a:pt x="686" y="29"/>
                  </a:lnTo>
                  <a:lnTo>
                    <a:pt x="681" y="24"/>
                  </a:lnTo>
                  <a:lnTo>
                    <a:pt x="674" y="18"/>
                  </a:lnTo>
                  <a:lnTo>
                    <a:pt x="667" y="14"/>
                  </a:lnTo>
                  <a:lnTo>
                    <a:pt x="657" y="11"/>
                  </a:lnTo>
                  <a:lnTo>
                    <a:pt x="648" y="8"/>
                  </a:lnTo>
                  <a:lnTo>
                    <a:pt x="638" y="6"/>
                  </a:lnTo>
                  <a:lnTo>
                    <a:pt x="628" y="4"/>
                  </a:lnTo>
                  <a:lnTo>
                    <a:pt x="604" y="1"/>
                  </a:lnTo>
                  <a:lnTo>
                    <a:pt x="579" y="0"/>
                  </a:lnTo>
                  <a:lnTo>
                    <a:pt x="558" y="0"/>
                  </a:lnTo>
                  <a:lnTo>
                    <a:pt x="536" y="2"/>
                  </a:lnTo>
                  <a:lnTo>
                    <a:pt x="515" y="5"/>
                  </a:lnTo>
                  <a:lnTo>
                    <a:pt x="491" y="8"/>
                  </a:lnTo>
                  <a:lnTo>
                    <a:pt x="469" y="13"/>
                  </a:lnTo>
                  <a:lnTo>
                    <a:pt x="445" y="19"/>
                  </a:lnTo>
                  <a:lnTo>
                    <a:pt x="422" y="26"/>
                  </a:lnTo>
                  <a:lnTo>
                    <a:pt x="397" y="33"/>
                  </a:lnTo>
                  <a:lnTo>
                    <a:pt x="374" y="41"/>
                  </a:lnTo>
                  <a:lnTo>
                    <a:pt x="350" y="50"/>
                  </a:lnTo>
                  <a:lnTo>
                    <a:pt x="328" y="60"/>
                  </a:lnTo>
                  <a:lnTo>
                    <a:pt x="305" y="70"/>
                  </a:lnTo>
                  <a:lnTo>
                    <a:pt x="283" y="82"/>
                  </a:lnTo>
                  <a:lnTo>
                    <a:pt x="262" y="94"/>
                  </a:lnTo>
                  <a:lnTo>
                    <a:pt x="240" y="106"/>
                  </a:lnTo>
                  <a:lnTo>
                    <a:pt x="221" y="119"/>
                  </a:lnTo>
                  <a:lnTo>
                    <a:pt x="214" y="124"/>
                  </a:lnTo>
                  <a:lnTo>
                    <a:pt x="212" y="116"/>
                  </a:lnTo>
                  <a:lnTo>
                    <a:pt x="209" y="110"/>
                  </a:lnTo>
                  <a:lnTo>
                    <a:pt x="200" y="101"/>
                  </a:lnTo>
                  <a:lnTo>
                    <a:pt x="190" y="91"/>
                  </a:lnTo>
                  <a:lnTo>
                    <a:pt x="176" y="79"/>
                  </a:lnTo>
                  <a:lnTo>
                    <a:pt x="160" y="66"/>
                  </a:lnTo>
                  <a:lnTo>
                    <a:pt x="142" y="55"/>
                  </a:lnTo>
                  <a:lnTo>
                    <a:pt x="133" y="50"/>
                  </a:lnTo>
                  <a:lnTo>
                    <a:pt x="124" y="46"/>
                  </a:lnTo>
                  <a:lnTo>
                    <a:pt x="114" y="42"/>
                  </a:lnTo>
                  <a:lnTo>
                    <a:pt x="104" y="40"/>
                  </a:lnTo>
                  <a:lnTo>
                    <a:pt x="96" y="38"/>
                  </a:lnTo>
                  <a:lnTo>
                    <a:pt x="87" y="36"/>
                  </a:lnTo>
                  <a:lnTo>
                    <a:pt x="79" y="36"/>
                  </a:lnTo>
                  <a:lnTo>
                    <a:pt x="71" y="3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6" name="Freeform 40"/>
            <p:cNvSpPr>
              <a:spLocks/>
            </p:cNvSpPr>
            <p:nvPr userDrawn="1"/>
          </p:nvSpPr>
          <p:spPr bwMode="auto">
            <a:xfrm>
              <a:off x="6388" y="599"/>
              <a:ext cx="74" cy="49"/>
            </a:xfrm>
            <a:custGeom>
              <a:avLst/>
              <a:gdLst>
                <a:gd name="T0" fmla="*/ 144 w 883"/>
                <a:gd name="T1" fmla="*/ 3 h 595"/>
                <a:gd name="T2" fmla="*/ 125 w 883"/>
                <a:gd name="T3" fmla="*/ 13 h 595"/>
                <a:gd name="T4" fmla="*/ 100 w 883"/>
                <a:gd name="T5" fmla="*/ 49 h 595"/>
                <a:gd name="T6" fmla="*/ 55 w 883"/>
                <a:gd name="T7" fmla="*/ 183 h 595"/>
                <a:gd name="T8" fmla="*/ 10 w 883"/>
                <a:gd name="T9" fmla="*/ 382 h 595"/>
                <a:gd name="T10" fmla="*/ 0 w 883"/>
                <a:gd name="T11" fmla="*/ 465 h 595"/>
                <a:gd name="T12" fmla="*/ 7 w 883"/>
                <a:gd name="T13" fmla="*/ 503 h 595"/>
                <a:gd name="T14" fmla="*/ 25 w 883"/>
                <a:gd name="T15" fmla="*/ 532 h 595"/>
                <a:gd name="T16" fmla="*/ 77 w 883"/>
                <a:gd name="T17" fmla="*/ 571 h 595"/>
                <a:gd name="T18" fmla="*/ 122 w 883"/>
                <a:gd name="T19" fmla="*/ 590 h 595"/>
                <a:gd name="T20" fmla="*/ 164 w 883"/>
                <a:gd name="T21" fmla="*/ 595 h 595"/>
                <a:gd name="T22" fmla="*/ 201 w 883"/>
                <a:gd name="T23" fmla="*/ 585 h 595"/>
                <a:gd name="T24" fmla="*/ 234 w 883"/>
                <a:gd name="T25" fmla="*/ 555 h 595"/>
                <a:gd name="T26" fmla="*/ 295 w 883"/>
                <a:gd name="T27" fmla="*/ 487 h 595"/>
                <a:gd name="T28" fmla="*/ 404 w 883"/>
                <a:gd name="T29" fmla="*/ 369 h 595"/>
                <a:gd name="T30" fmla="*/ 491 w 883"/>
                <a:gd name="T31" fmla="*/ 296 h 595"/>
                <a:gd name="T32" fmla="*/ 514 w 883"/>
                <a:gd name="T33" fmla="*/ 299 h 595"/>
                <a:gd name="T34" fmla="*/ 534 w 883"/>
                <a:gd name="T35" fmla="*/ 336 h 595"/>
                <a:gd name="T36" fmla="*/ 568 w 883"/>
                <a:gd name="T37" fmla="*/ 405 h 595"/>
                <a:gd name="T38" fmla="*/ 605 w 883"/>
                <a:gd name="T39" fmla="*/ 459 h 595"/>
                <a:gd name="T40" fmla="*/ 644 w 883"/>
                <a:gd name="T41" fmla="*/ 500 h 595"/>
                <a:gd name="T42" fmla="*/ 693 w 883"/>
                <a:gd name="T43" fmla="*/ 535 h 595"/>
                <a:gd name="T44" fmla="*/ 767 w 883"/>
                <a:gd name="T45" fmla="*/ 561 h 595"/>
                <a:gd name="T46" fmla="*/ 828 w 883"/>
                <a:gd name="T47" fmla="*/ 565 h 595"/>
                <a:gd name="T48" fmla="*/ 868 w 883"/>
                <a:gd name="T49" fmla="*/ 555 h 595"/>
                <a:gd name="T50" fmla="*/ 883 w 883"/>
                <a:gd name="T51" fmla="*/ 533 h 595"/>
                <a:gd name="T52" fmla="*/ 880 w 883"/>
                <a:gd name="T53" fmla="*/ 518 h 595"/>
                <a:gd name="T54" fmla="*/ 868 w 883"/>
                <a:gd name="T55" fmla="*/ 512 h 595"/>
                <a:gd name="T56" fmla="*/ 840 w 883"/>
                <a:gd name="T57" fmla="*/ 510 h 595"/>
                <a:gd name="T58" fmla="*/ 808 w 883"/>
                <a:gd name="T59" fmla="*/ 501 h 595"/>
                <a:gd name="T60" fmla="*/ 781 w 883"/>
                <a:gd name="T61" fmla="*/ 483 h 595"/>
                <a:gd name="T62" fmla="*/ 751 w 883"/>
                <a:gd name="T63" fmla="*/ 440 h 595"/>
                <a:gd name="T64" fmla="*/ 722 w 883"/>
                <a:gd name="T65" fmla="*/ 358 h 595"/>
                <a:gd name="T66" fmla="*/ 694 w 883"/>
                <a:gd name="T67" fmla="*/ 231 h 595"/>
                <a:gd name="T68" fmla="*/ 679 w 883"/>
                <a:gd name="T69" fmla="*/ 197 h 595"/>
                <a:gd name="T70" fmla="*/ 655 w 883"/>
                <a:gd name="T71" fmla="*/ 168 h 595"/>
                <a:gd name="T72" fmla="*/ 622 w 883"/>
                <a:gd name="T73" fmla="*/ 145 h 595"/>
                <a:gd name="T74" fmla="*/ 580 w 883"/>
                <a:gd name="T75" fmla="*/ 127 h 595"/>
                <a:gd name="T76" fmla="*/ 537 w 883"/>
                <a:gd name="T77" fmla="*/ 122 h 595"/>
                <a:gd name="T78" fmla="*/ 494 w 883"/>
                <a:gd name="T79" fmla="*/ 140 h 595"/>
                <a:gd name="T80" fmla="*/ 409 w 883"/>
                <a:gd name="T81" fmla="*/ 209 h 595"/>
                <a:gd name="T82" fmla="*/ 308 w 883"/>
                <a:gd name="T83" fmla="*/ 309 h 595"/>
                <a:gd name="T84" fmla="*/ 207 w 883"/>
                <a:gd name="T85" fmla="*/ 410 h 595"/>
                <a:gd name="T86" fmla="*/ 179 w 883"/>
                <a:gd name="T87" fmla="*/ 427 h 595"/>
                <a:gd name="T88" fmla="*/ 201 w 883"/>
                <a:gd name="T89" fmla="*/ 322 h 595"/>
                <a:gd name="T90" fmla="*/ 255 w 883"/>
                <a:gd name="T91" fmla="*/ 149 h 595"/>
                <a:gd name="T92" fmla="*/ 277 w 883"/>
                <a:gd name="T93" fmla="*/ 89 h 595"/>
                <a:gd name="T94" fmla="*/ 276 w 883"/>
                <a:gd name="T95" fmla="*/ 67 h 595"/>
                <a:gd name="T96" fmla="*/ 261 w 883"/>
                <a:gd name="T97" fmla="*/ 42 h 595"/>
                <a:gd name="T98" fmla="*/ 226 w 883"/>
                <a:gd name="T99" fmla="*/ 18 h 595"/>
                <a:gd name="T100" fmla="*/ 174 w 883"/>
                <a:gd name="T101" fmla="*/ 1 h 5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Lst>
              <a:rect l="0" t="0" r="r" b="b"/>
              <a:pathLst>
                <a:path w="883" h="595">
                  <a:moveTo>
                    <a:pt x="162" y="0"/>
                  </a:moveTo>
                  <a:lnTo>
                    <a:pt x="156" y="0"/>
                  </a:lnTo>
                  <a:lnTo>
                    <a:pt x="150" y="1"/>
                  </a:lnTo>
                  <a:lnTo>
                    <a:pt x="144" y="3"/>
                  </a:lnTo>
                  <a:lnTo>
                    <a:pt x="139" y="4"/>
                  </a:lnTo>
                  <a:lnTo>
                    <a:pt x="134" y="7"/>
                  </a:lnTo>
                  <a:lnTo>
                    <a:pt x="129" y="10"/>
                  </a:lnTo>
                  <a:lnTo>
                    <a:pt x="125" y="13"/>
                  </a:lnTo>
                  <a:lnTo>
                    <a:pt x="121" y="17"/>
                  </a:lnTo>
                  <a:lnTo>
                    <a:pt x="113" y="26"/>
                  </a:lnTo>
                  <a:lnTo>
                    <a:pt x="106" y="37"/>
                  </a:lnTo>
                  <a:lnTo>
                    <a:pt x="100" y="49"/>
                  </a:lnTo>
                  <a:lnTo>
                    <a:pt x="94" y="63"/>
                  </a:lnTo>
                  <a:lnTo>
                    <a:pt x="82" y="97"/>
                  </a:lnTo>
                  <a:lnTo>
                    <a:pt x="68" y="137"/>
                  </a:lnTo>
                  <a:lnTo>
                    <a:pt x="55" y="183"/>
                  </a:lnTo>
                  <a:lnTo>
                    <a:pt x="43" y="232"/>
                  </a:lnTo>
                  <a:lnTo>
                    <a:pt x="31" y="282"/>
                  </a:lnTo>
                  <a:lnTo>
                    <a:pt x="19" y="333"/>
                  </a:lnTo>
                  <a:lnTo>
                    <a:pt x="10" y="382"/>
                  </a:lnTo>
                  <a:lnTo>
                    <a:pt x="3" y="429"/>
                  </a:lnTo>
                  <a:lnTo>
                    <a:pt x="1" y="442"/>
                  </a:lnTo>
                  <a:lnTo>
                    <a:pt x="0" y="454"/>
                  </a:lnTo>
                  <a:lnTo>
                    <a:pt x="0" y="465"/>
                  </a:lnTo>
                  <a:lnTo>
                    <a:pt x="1" y="477"/>
                  </a:lnTo>
                  <a:lnTo>
                    <a:pt x="2" y="486"/>
                  </a:lnTo>
                  <a:lnTo>
                    <a:pt x="4" y="495"/>
                  </a:lnTo>
                  <a:lnTo>
                    <a:pt x="7" y="503"/>
                  </a:lnTo>
                  <a:lnTo>
                    <a:pt x="10" y="511"/>
                  </a:lnTo>
                  <a:lnTo>
                    <a:pt x="14" y="518"/>
                  </a:lnTo>
                  <a:lnTo>
                    <a:pt x="19" y="526"/>
                  </a:lnTo>
                  <a:lnTo>
                    <a:pt x="25" y="532"/>
                  </a:lnTo>
                  <a:lnTo>
                    <a:pt x="32" y="539"/>
                  </a:lnTo>
                  <a:lnTo>
                    <a:pt x="47" y="551"/>
                  </a:lnTo>
                  <a:lnTo>
                    <a:pt x="65" y="564"/>
                  </a:lnTo>
                  <a:lnTo>
                    <a:pt x="77" y="571"/>
                  </a:lnTo>
                  <a:lnTo>
                    <a:pt x="89" y="577"/>
                  </a:lnTo>
                  <a:lnTo>
                    <a:pt x="100" y="582"/>
                  </a:lnTo>
                  <a:lnTo>
                    <a:pt x="111" y="587"/>
                  </a:lnTo>
                  <a:lnTo>
                    <a:pt x="122" y="590"/>
                  </a:lnTo>
                  <a:lnTo>
                    <a:pt x="133" y="592"/>
                  </a:lnTo>
                  <a:lnTo>
                    <a:pt x="144" y="594"/>
                  </a:lnTo>
                  <a:lnTo>
                    <a:pt x="154" y="595"/>
                  </a:lnTo>
                  <a:lnTo>
                    <a:pt x="164" y="595"/>
                  </a:lnTo>
                  <a:lnTo>
                    <a:pt x="174" y="593"/>
                  </a:lnTo>
                  <a:lnTo>
                    <a:pt x="184" y="591"/>
                  </a:lnTo>
                  <a:lnTo>
                    <a:pt x="192" y="589"/>
                  </a:lnTo>
                  <a:lnTo>
                    <a:pt x="201" y="585"/>
                  </a:lnTo>
                  <a:lnTo>
                    <a:pt x="208" y="580"/>
                  </a:lnTo>
                  <a:lnTo>
                    <a:pt x="216" y="575"/>
                  </a:lnTo>
                  <a:lnTo>
                    <a:pt x="222" y="567"/>
                  </a:lnTo>
                  <a:lnTo>
                    <a:pt x="234" y="555"/>
                  </a:lnTo>
                  <a:lnTo>
                    <a:pt x="245" y="542"/>
                  </a:lnTo>
                  <a:lnTo>
                    <a:pt x="257" y="530"/>
                  </a:lnTo>
                  <a:lnTo>
                    <a:pt x="268" y="516"/>
                  </a:lnTo>
                  <a:lnTo>
                    <a:pt x="295" y="487"/>
                  </a:lnTo>
                  <a:lnTo>
                    <a:pt x="321" y="456"/>
                  </a:lnTo>
                  <a:lnTo>
                    <a:pt x="349" y="427"/>
                  </a:lnTo>
                  <a:lnTo>
                    <a:pt x="376" y="397"/>
                  </a:lnTo>
                  <a:lnTo>
                    <a:pt x="404" y="369"/>
                  </a:lnTo>
                  <a:lnTo>
                    <a:pt x="431" y="343"/>
                  </a:lnTo>
                  <a:lnTo>
                    <a:pt x="458" y="320"/>
                  </a:lnTo>
                  <a:lnTo>
                    <a:pt x="484" y="300"/>
                  </a:lnTo>
                  <a:lnTo>
                    <a:pt x="491" y="296"/>
                  </a:lnTo>
                  <a:lnTo>
                    <a:pt x="497" y="295"/>
                  </a:lnTo>
                  <a:lnTo>
                    <a:pt x="503" y="295"/>
                  </a:lnTo>
                  <a:lnTo>
                    <a:pt x="509" y="296"/>
                  </a:lnTo>
                  <a:lnTo>
                    <a:pt x="514" y="299"/>
                  </a:lnTo>
                  <a:lnTo>
                    <a:pt x="519" y="303"/>
                  </a:lnTo>
                  <a:lnTo>
                    <a:pt x="523" y="309"/>
                  </a:lnTo>
                  <a:lnTo>
                    <a:pt x="527" y="316"/>
                  </a:lnTo>
                  <a:lnTo>
                    <a:pt x="534" y="336"/>
                  </a:lnTo>
                  <a:lnTo>
                    <a:pt x="543" y="355"/>
                  </a:lnTo>
                  <a:lnTo>
                    <a:pt x="551" y="372"/>
                  </a:lnTo>
                  <a:lnTo>
                    <a:pt x="560" y="390"/>
                  </a:lnTo>
                  <a:lnTo>
                    <a:pt x="568" y="405"/>
                  </a:lnTo>
                  <a:lnTo>
                    <a:pt x="577" y="420"/>
                  </a:lnTo>
                  <a:lnTo>
                    <a:pt x="586" y="434"/>
                  </a:lnTo>
                  <a:lnTo>
                    <a:pt x="596" y="447"/>
                  </a:lnTo>
                  <a:lnTo>
                    <a:pt x="605" y="459"/>
                  </a:lnTo>
                  <a:lnTo>
                    <a:pt x="615" y="470"/>
                  </a:lnTo>
                  <a:lnTo>
                    <a:pt x="624" y="481"/>
                  </a:lnTo>
                  <a:lnTo>
                    <a:pt x="634" y="491"/>
                  </a:lnTo>
                  <a:lnTo>
                    <a:pt x="644" y="500"/>
                  </a:lnTo>
                  <a:lnTo>
                    <a:pt x="654" y="508"/>
                  </a:lnTo>
                  <a:lnTo>
                    <a:pt x="663" y="515"/>
                  </a:lnTo>
                  <a:lnTo>
                    <a:pt x="673" y="523"/>
                  </a:lnTo>
                  <a:lnTo>
                    <a:pt x="693" y="535"/>
                  </a:lnTo>
                  <a:lnTo>
                    <a:pt x="712" y="545"/>
                  </a:lnTo>
                  <a:lnTo>
                    <a:pt x="731" y="552"/>
                  </a:lnTo>
                  <a:lnTo>
                    <a:pt x="749" y="558"/>
                  </a:lnTo>
                  <a:lnTo>
                    <a:pt x="767" y="561"/>
                  </a:lnTo>
                  <a:lnTo>
                    <a:pt x="783" y="564"/>
                  </a:lnTo>
                  <a:lnTo>
                    <a:pt x="799" y="565"/>
                  </a:lnTo>
                  <a:lnTo>
                    <a:pt x="813" y="566"/>
                  </a:lnTo>
                  <a:lnTo>
                    <a:pt x="828" y="565"/>
                  </a:lnTo>
                  <a:lnTo>
                    <a:pt x="843" y="564"/>
                  </a:lnTo>
                  <a:lnTo>
                    <a:pt x="853" y="562"/>
                  </a:lnTo>
                  <a:lnTo>
                    <a:pt x="861" y="559"/>
                  </a:lnTo>
                  <a:lnTo>
                    <a:pt x="868" y="555"/>
                  </a:lnTo>
                  <a:lnTo>
                    <a:pt x="874" y="550"/>
                  </a:lnTo>
                  <a:lnTo>
                    <a:pt x="878" y="545"/>
                  </a:lnTo>
                  <a:lnTo>
                    <a:pt x="881" y="539"/>
                  </a:lnTo>
                  <a:lnTo>
                    <a:pt x="883" y="533"/>
                  </a:lnTo>
                  <a:lnTo>
                    <a:pt x="883" y="528"/>
                  </a:lnTo>
                  <a:lnTo>
                    <a:pt x="883" y="524"/>
                  </a:lnTo>
                  <a:lnTo>
                    <a:pt x="882" y="520"/>
                  </a:lnTo>
                  <a:lnTo>
                    <a:pt x="880" y="518"/>
                  </a:lnTo>
                  <a:lnTo>
                    <a:pt x="878" y="515"/>
                  </a:lnTo>
                  <a:lnTo>
                    <a:pt x="875" y="514"/>
                  </a:lnTo>
                  <a:lnTo>
                    <a:pt x="872" y="512"/>
                  </a:lnTo>
                  <a:lnTo>
                    <a:pt x="868" y="512"/>
                  </a:lnTo>
                  <a:lnTo>
                    <a:pt x="864" y="511"/>
                  </a:lnTo>
                  <a:lnTo>
                    <a:pt x="860" y="511"/>
                  </a:lnTo>
                  <a:lnTo>
                    <a:pt x="851" y="511"/>
                  </a:lnTo>
                  <a:lnTo>
                    <a:pt x="840" y="510"/>
                  </a:lnTo>
                  <a:lnTo>
                    <a:pt x="832" y="509"/>
                  </a:lnTo>
                  <a:lnTo>
                    <a:pt x="823" y="507"/>
                  </a:lnTo>
                  <a:lnTo>
                    <a:pt x="815" y="504"/>
                  </a:lnTo>
                  <a:lnTo>
                    <a:pt x="808" y="501"/>
                  </a:lnTo>
                  <a:lnTo>
                    <a:pt x="801" y="497"/>
                  </a:lnTo>
                  <a:lnTo>
                    <a:pt x="794" y="493"/>
                  </a:lnTo>
                  <a:lnTo>
                    <a:pt x="787" y="488"/>
                  </a:lnTo>
                  <a:lnTo>
                    <a:pt x="781" y="483"/>
                  </a:lnTo>
                  <a:lnTo>
                    <a:pt x="775" y="477"/>
                  </a:lnTo>
                  <a:lnTo>
                    <a:pt x="770" y="469"/>
                  </a:lnTo>
                  <a:lnTo>
                    <a:pt x="760" y="455"/>
                  </a:lnTo>
                  <a:lnTo>
                    <a:pt x="751" y="440"/>
                  </a:lnTo>
                  <a:lnTo>
                    <a:pt x="743" y="421"/>
                  </a:lnTo>
                  <a:lnTo>
                    <a:pt x="735" y="402"/>
                  </a:lnTo>
                  <a:lnTo>
                    <a:pt x="728" y="381"/>
                  </a:lnTo>
                  <a:lnTo>
                    <a:pt x="722" y="358"/>
                  </a:lnTo>
                  <a:lnTo>
                    <a:pt x="711" y="309"/>
                  </a:lnTo>
                  <a:lnTo>
                    <a:pt x="700" y="255"/>
                  </a:lnTo>
                  <a:lnTo>
                    <a:pt x="697" y="240"/>
                  </a:lnTo>
                  <a:lnTo>
                    <a:pt x="694" y="231"/>
                  </a:lnTo>
                  <a:lnTo>
                    <a:pt x="692" y="222"/>
                  </a:lnTo>
                  <a:lnTo>
                    <a:pt x="687" y="213"/>
                  </a:lnTo>
                  <a:lnTo>
                    <a:pt x="683" y="205"/>
                  </a:lnTo>
                  <a:lnTo>
                    <a:pt x="679" y="197"/>
                  </a:lnTo>
                  <a:lnTo>
                    <a:pt x="674" y="189"/>
                  </a:lnTo>
                  <a:lnTo>
                    <a:pt x="668" y="182"/>
                  </a:lnTo>
                  <a:lnTo>
                    <a:pt x="662" y="174"/>
                  </a:lnTo>
                  <a:lnTo>
                    <a:pt x="655" y="168"/>
                  </a:lnTo>
                  <a:lnTo>
                    <a:pt x="648" y="161"/>
                  </a:lnTo>
                  <a:lnTo>
                    <a:pt x="639" y="155"/>
                  </a:lnTo>
                  <a:lnTo>
                    <a:pt x="631" y="150"/>
                  </a:lnTo>
                  <a:lnTo>
                    <a:pt x="622" y="145"/>
                  </a:lnTo>
                  <a:lnTo>
                    <a:pt x="613" y="140"/>
                  </a:lnTo>
                  <a:lnTo>
                    <a:pt x="603" y="135"/>
                  </a:lnTo>
                  <a:lnTo>
                    <a:pt x="592" y="131"/>
                  </a:lnTo>
                  <a:lnTo>
                    <a:pt x="580" y="127"/>
                  </a:lnTo>
                  <a:lnTo>
                    <a:pt x="569" y="124"/>
                  </a:lnTo>
                  <a:lnTo>
                    <a:pt x="559" y="122"/>
                  </a:lnTo>
                  <a:lnTo>
                    <a:pt x="549" y="121"/>
                  </a:lnTo>
                  <a:lnTo>
                    <a:pt x="537" y="122"/>
                  </a:lnTo>
                  <a:lnTo>
                    <a:pt x="527" y="124"/>
                  </a:lnTo>
                  <a:lnTo>
                    <a:pt x="518" y="128"/>
                  </a:lnTo>
                  <a:lnTo>
                    <a:pt x="510" y="131"/>
                  </a:lnTo>
                  <a:lnTo>
                    <a:pt x="494" y="140"/>
                  </a:lnTo>
                  <a:lnTo>
                    <a:pt x="478" y="150"/>
                  </a:lnTo>
                  <a:lnTo>
                    <a:pt x="457" y="167"/>
                  </a:lnTo>
                  <a:lnTo>
                    <a:pt x="433" y="187"/>
                  </a:lnTo>
                  <a:lnTo>
                    <a:pt x="409" y="209"/>
                  </a:lnTo>
                  <a:lnTo>
                    <a:pt x="383" y="233"/>
                  </a:lnTo>
                  <a:lnTo>
                    <a:pt x="358" y="258"/>
                  </a:lnTo>
                  <a:lnTo>
                    <a:pt x="332" y="284"/>
                  </a:lnTo>
                  <a:lnTo>
                    <a:pt x="308" y="309"/>
                  </a:lnTo>
                  <a:lnTo>
                    <a:pt x="284" y="334"/>
                  </a:lnTo>
                  <a:lnTo>
                    <a:pt x="246" y="372"/>
                  </a:lnTo>
                  <a:lnTo>
                    <a:pt x="218" y="400"/>
                  </a:lnTo>
                  <a:lnTo>
                    <a:pt x="207" y="410"/>
                  </a:lnTo>
                  <a:lnTo>
                    <a:pt x="199" y="417"/>
                  </a:lnTo>
                  <a:lnTo>
                    <a:pt x="192" y="423"/>
                  </a:lnTo>
                  <a:lnTo>
                    <a:pt x="188" y="425"/>
                  </a:lnTo>
                  <a:lnTo>
                    <a:pt x="179" y="427"/>
                  </a:lnTo>
                  <a:lnTo>
                    <a:pt x="180" y="417"/>
                  </a:lnTo>
                  <a:lnTo>
                    <a:pt x="185" y="392"/>
                  </a:lnTo>
                  <a:lnTo>
                    <a:pt x="192" y="360"/>
                  </a:lnTo>
                  <a:lnTo>
                    <a:pt x="201" y="322"/>
                  </a:lnTo>
                  <a:lnTo>
                    <a:pt x="211" y="283"/>
                  </a:lnTo>
                  <a:lnTo>
                    <a:pt x="224" y="239"/>
                  </a:lnTo>
                  <a:lnTo>
                    <a:pt x="239" y="194"/>
                  </a:lnTo>
                  <a:lnTo>
                    <a:pt x="255" y="149"/>
                  </a:lnTo>
                  <a:lnTo>
                    <a:pt x="272" y="105"/>
                  </a:lnTo>
                  <a:lnTo>
                    <a:pt x="275" y="100"/>
                  </a:lnTo>
                  <a:lnTo>
                    <a:pt x="276" y="94"/>
                  </a:lnTo>
                  <a:lnTo>
                    <a:pt x="277" y="89"/>
                  </a:lnTo>
                  <a:lnTo>
                    <a:pt x="278" y="84"/>
                  </a:lnTo>
                  <a:lnTo>
                    <a:pt x="278" y="78"/>
                  </a:lnTo>
                  <a:lnTo>
                    <a:pt x="277" y="72"/>
                  </a:lnTo>
                  <a:lnTo>
                    <a:pt x="276" y="67"/>
                  </a:lnTo>
                  <a:lnTo>
                    <a:pt x="274" y="62"/>
                  </a:lnTo>
                  <a:lnTo>
                    <a:pt x="271" y="55"/>
                  </a:lnTo>
                  <a:lnTo>
                    <a:pt x="266" y="48"/>
                  </a:lnTo>
                  <a:lnTo>
                    <a:pt x="261" y="42"/>
                  </a:lnTo>
                  <a:lnTo>
                    <a:pt x="254" y="36"/>
                  </a:lnTo>
                  <a:lnTo>
                    <a:pt x="246" y="30"/>
                  </a:lnTo>
                  <a:lnTo>
                    <a:pt x="237" y="23"/>
                  </a:lnTo>
                  <a:lnTo>
                    <a:pt x="226" y="18"/>
                  </a:lnTo>
                  <a:lnTo>
                    <a:pt x="215" y="13"/>
                  </a:lnTo>
                  <a:lnTo>
                    <a:pt x="201" y="7"/>
                  </a:lnTo>
                  <a:lnTo>
                    <a:pt x="187" y="3"/>
                  </a:lnTo>
                  <a:lnTo>
                    <a:pt x="174" y="1"/>
                  </a:lnTo>
                  <a:lnTo>
                    <a:pt x="162"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7" name="Freeform 41"/>
            <p:cNvSpPr>
              <a:spLocks/>
            </p:cNvSpPr>
            <p:nvPr userDrawn="1"/>
          </p:nvSpPr>
          <p:spPr bwMode="auto">
            <a:xfrm>
              <a:off x="6666" y="603"/>
              <a:ext cx="60" cy="44"/>
            </a:xfrm>
            <a:custGeom>
              <a:avLst/>
              <a:gdLst>
                <a:gd name="T0" fmla="*/ 518 w 721"/>
                <a:gd name="T1" fmla="*/ 321 h 522"/>
                <a:gd name="T2" fmla="*/ 536 w 721"/>
                <a:gd name="T3" fmla="*/ 387 h 522"/>
                <a:gd name="T4" fmla="*/ 575 w 721"/>
                <a:gd name="T5" fmla="*/ 455 h 522"/>
                <a:gd name="T6" fmla="*/ 622 w 721"/>
                <a:gd name="T7" fmla="*/ 498 h 522"/>
                <a:gd name="T8" fmla="*/ 664 w 721"/>
                <a:gd name="T9" fmla="*/ 519 h 522"/>
                <a:gd name="T10" fmla="*/ 699 w 721"/>
                <a:gd name="T11" fmla="*/ 522 h 522"/>
                <a:gd name="T12" fmla="*/ 719 w 721"/>
                <a:gd name="T13" fmla="*/ 510 h 522"/>
                <a:gd name="T14" fmla="*/ 717 w 721"/>
                <a:gd name="T15" fmla="*/ 488 h 522"/>
                <a:gd name="T16" fmla="*/ 698 w 721"/>
                <a:gd name="T17" fmla="*/ 444 h 522"/>
                <a:gd name="T18" fmla="*/ 682 w 721"/>
                <a:gd name="T19" fmla="*/ 342 h 522"/>
                <a:gd name="T20" fmla="*/ 685 w 721"/>
                <a:gd name="T21" fmla="*/ 242 h 522"/>
                <a:gd name="T22" fmla="*/ 697 w 721"/>
                <a:gd name="T23" fmla="*/ 155 h 522"/>
                <a:gd name="T24" fmla="*/ 699 w 721"/>
                <a:gd name="T25" fmla="*/ 112 h 522"/>
                <a:gd name="T26" fmla="*/ 687 w 721"/>
                <a:gd name="T27" fmla="*/ 82 h 522"/>
                <a:gd name="T28" fmla="*/ 664 w 721"/>
                <a:gd name="T29" fmla="*/ 59 h 522"/>
                <a:gd name="T30" fmla="*/ 622 w 721"/>
                <a:gd name="T31" fmla="*/ 34 h 522"/>
                <a:gd name="T32" fmla="*/ 574 w 721"/>
                <a:gd name="T33" fmla="*/ 25 h 522"/>
                <a:gd name="T34" fmla="*/ 553 w 721"/>
                <a:gd name="T35" fmla="*/ 38 h 522"/>
                <a:gd name="T36" fmla="*/ 510 w 721"/>
                <a:gd name="T37" fmla="*/ 116 h 522"/>
                <a:gd name="T38" fmla="*/ 432 w 721"/>
                <a:gd name="T39" fmla="*/ 216 h 522"/>
                <a:gd name="T40" fmla="*/ 343 w 721"/>
                <a:gd name="T41" fmla="*/ 300 h 522"/>
                <a:gd name="T42" fmla="*/ 291 w 721"/>
                <a:gd name="T43" fmla="*/ 334 h 522"/>
                <a:gd name="T44" fmla="*/ 254 w 721"/>
                <a:gd name="T45" fmla="*/ 345 h 522"/>
                <a:gd name="T46" fmla="*/ 222 w 721"/>
                <a:gd name="T47" fmla="*/ 342 h 522"/>
                <a:gd name="T48" fmla="*/ 197 w 721"/>
                <a:gd name="T49" fmla="*/ 326 h 522"/>
                <a:gd name="T50" fmla="*/ 183 w 721"/>
                <a:gd name="T51" fmla="*/ 290 h 522"/>
                <a:gd name="T52" fmla="*/ 183 w 721"/>
                <a:gd name="T53" fmla="*/ 242 h 522"/>
                <a:gd name="T54" fmla="*/ 195 w 721"/>
                <a:gd name="T55" fmla="*/ 187 h 522"/>
                <a:gd name="T56" fmla="*/ 225 w 721"/>
                <a:gd name="T57" fmla="*/ 111 h 522"/>
                <a:gd name="T58" fmla="*/ 231 w 721"/>
                <a:gd name="T59" fmla="*/ 83 h 522"/>
                <a:gd name="T60" fmla="*/ 225 w 721"/>
                <a:gd name="T61" fmla="*/ 58 h 522"/>
                <a:gd name="T62" fmla="*/ 205 w 721"/>
                <a:gd name="T63" fmla="*/ 36 h 522"/>
                <a:gd name="T64" fmla="*/ 163 w 721"/>
                <a:gd name="T65" fmla="*/ 12 h 522"/>
                <a:gd name="T66" fmla="*/ 123 w 721"/>
                <a:gd name="T67" fmla="*/ 1 h 522"/>
                <a:gd name="T68" fmla="*/ 91 w 721"/>
                <a:gd name="T69" fmla="*/ 5 h 522"/>
                <a:gd name="T70" fmla="*/ 68 w 721"/>
                <a:gd name="T71" fmla="*/ 26 h 522"/>
                <a:gd name="T72" fmla="*/ 42 w 721"/>
                <a:gd name="T73" fmla="*/ 90 h 522"/>
                <a:gd name="T74" fmla="*/ 9 w 721"/>
                <a:gd name="T75" fmla="*/ 214 h 522"/>
                <a:gd name="T76" fmla="*/ 0 w 721"/>
                <a:gd name="T77" fmla="*/ 279 h 522"/>
                <a:gd name="T78" fmla="*/ 5 w 721"/>
                <a:gd name="T79" fmla="*/ 313 h 522"/>
                <a:gd name="T80" fmla="*/ 34 w 721"/>
                <a:gd name="T81" fmla="*/ 375 h 522"/>
                <a:gd name="T82" fmla="*/ 73 w 721"/>
                <a:gd name="T83" fmla="*/ 418 h 522"/>
                <a:gd name="T84" fmla="*/ 112 w 721"/>
                <a:gd name="T85" fmla="*/ 446 h 522"/>
                <a:gd name="T86" fmla="*/ 155 w 721"/>
                <a:gd name="T87" fmla="*/ 466 h 522"/>
                <a:gd name="T88" fmla="*/ 198 w 721"/>
                <a:gd name="T89" fmla="*/ 475 h 522"/>
                <a:gd name="T90" fmla="*/ 251 w 721"/>
                <a:gd name="T91" fmla="*/ 469 h 522"/>
                <a:gd name="T92" fmla="*/ 316 w 721"/>
                <a:gd name="T93" fmla="*/ 440 h 522"/>
                <a:gd name="T94" fmla="*/ 394 w 721"/>
                <a:gd name="T95" fmla="*/ 388 h 522"/>
                <a:gd name="T96" fmla="*/ 483 w 721"/>
                <a:gd name="T97" fmla="*/ 313 h 5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Lst>
              <a:rect l="0" t="0" r="r" b="b"/>
              <a:pathLst>
                <a:path w="721" h="522">
                  <a:moveTo>
                    <a:pt x="515" y="282"/>
                  </a:moveTo>
                  <a:lnTo>
                    <a:pt x="516" y="294"/>
                  </a:lnTo>
                  <a:lnTo>
                    <a:pt x="516" y="307"/>
                  </a:lnTo>
                  <a:lnTo>
                    <a:pt x="518" y="321"/>
                  </a:lnTo>
                  <a:lnTo>
                    <a:pt x="520" y="332"/>
                  </a:lnTo>
                  <a:lnTo>
                    <a:pt x="522" y="344"/>
                  </a:lnTo>
                  <a:lnTo>
                    <a:pt x="528" y="367"/>
                  </a:lnTo>
                  <a:lnTo>
                    <a:pt x="536" y="387"/>
                  </a:lnTo>
                  <a:lnTo>
                    <a:pt x="544" y="406"/>
                  </a:lnTo>
                  <a:lnTo>
                    <a:pt x="553" y="424"/>
                  </a:lnTo>
                  <a:lnTo>
                    <a:pt x="564" y="440"/>
                  </a:lnTo>
                  <a:lnTo>
                    <a:pt x="575" y="455"/>
                  </a:lnTo>
                  <a:lnTo>
                    <a:pt x="587" y="468"/>
                  </a:lnTo>
                  <a:lnTo>
                    <a:pt x="599" y="480"/>
                  </a:lnTo>
                  <a:lnTo>
                    <a:pt x="610" y="490"/>
                  </a:lnTo>
                  <a:lnTo>
                    <a:pt x="622" y="498"/>
                  </a:lnTo>
                  <a:lnTo>
                    <a:pt x="634" y="505"/>
                  </a:lnTo>
                  <a:lnTo>
                    <a:pt x="645" y="511"/>
                  </a:lnTo>
                  <a:lnTo>
                    <a:pt x="655" y="516"/>
                  </a:lnTo>
                  <a:lnTo>
                    <a:pt x="664" y="519"/>
                  </a:lnTo>
                  <a:lnTo>
                    <a:pt x="673" y="521"/>
                  </a:lnTo>
                  <a:lnTo>
                    <a:pt x="683" y="522"/>
                  </a:lnTo>
                  <a:lnTo>
                    <a:pt x="692" y="522"/>
                  </a:lnTo>
                  <a:lnTo>
                    <a:pt x="699" y="522"/>
                  </a:lnTo>
                  <a:lnTo>
                    <a:pt x="706" y="520"/>
                  </a:lnTo>
                  <a:lnTo>
                    <a:pt x="712" y="518"/>
                  </a:lnTo>
                  <a:lnTo>
                    <a:pt x="716" y="515"/>
                  </a:lnTo>
                  <a:lnTo>
                    <a:pt x="719" y="510"/>
                  </a:lnTo>
                  <a:lnTo>
                    <a:pt x="721" y="505"/>
                  </a:lnTo>
                  <a:lnTo>
                    <a:pt x="721" y="500"/>
                  </a:lnTo>
                  <a:lnTo>
                    <a:pt x="720" y="494"/>
                  </a:lnTo>
                  <a:lnTo>
                    <a:pt x="717" y="488"/>
                  </a:lnTo>
                  <a:lnTo>
                    <a:pt x="711" y="478"/>
                  </a:lnTo>
                  <a:lnTo>
                    <a:pt x="706" y="467"/>
                  </a:lnTo>
                  <a:lnTo>
                    <a:pt x="702" y="455"/>
                  </a:lnTo>
                  <a:lnTo>
                    <a:pt x="698" y="444"/>
                  </a:lnTo>
                  <a:lnTo>
                    <a:pt x="692" y="420"/>
                  </a:lnTo>
                  <a:lnTo>
                    <a:pt x="687" y="394"/>
                  </a:lnTo>
                  <a:lnTo>
                    <a:pt x="684" y="368"/>
                  </a:lnTo>
                  <a:lnTo>
                    <a:pt x="682" y="342"/>
                  </a:lnTo>
                  <a:lnTo>
                    <a:pt x="682" y="315"/>
                  </a:lnTo>
                  <a:lnTo>
                    <a:pt x="682" y="290"/>
                  </a:lnTo>
                  <a:lnTo>
                    <a:pt x="683" y="265"/>
                  </a:lnTo>
                  <a:lnTo>
                    <a:pt x="685" y="242"/>
                  </a:lnTo>
                  <a:lnTo>
                    <a:pt x="687" y="221"/>
                  </a:lnTo>
                  <a:lnTo>
                    <a:pt x="690" y="202"/>
                  </a:lnTo>
                  <a:lnTo>
                    <a:pt x="694" y="172"/>
                  </a:lnTo>
                  <a:lnTo>
                    <a:pt x="697" y="155"/>
                  </a:lnTo>
                  <a:lnTo>
                    <a:pt x="699" y="143"/>
                  </a:lnTo>
                  <a:lnTo>
                    <a:pt x="700" y="132"/>
                  </a:lnTo>
                  <a:lnTo>
                    <a:pt x="700" y="122"/>
                  </a:lnTo>
                  <a:lnTo>
                    <a:pt x="699" y="112"/>
                  </a:lnTo>
                  <a:lnTo>
                    <a:pt x="697" y="103"/>
                  </a:lnTo>
                  <a:lnTo>
                    <a:pt x="695" y="96"/>
                  </a:lnTo>
                  <a:lnTo>
                    <a:pt x="691" y="89"/>
                  </a:lnTo>
                  <a:lnTo>
                    <a:pt x="687" y="82"/>
                  </a:lnTo>
                  <a:lnTo>
                    <a:pt x="682" y="76"/>
                  </a:lnTo>
                  <a:lnTo>
                    <a:pt x="676" y="69"/>
                  </a:lnTo>
                  <a:lnTo>
                    <a:pt x="671" y="64"/>
                  </a:lnTo>
                  <a:lnTo>
                    <a:pt x="664" y="59"/>
                  </a:lnTo>
                  <a:lnTo>
                    <a:pt x="651" y="50"/>
                  </a:lnTo>
                  <a:lnTo>
                    <a:pt x="638" y="42"/>
                  </a:lnTo>
                  <a:lnTo>
                    <a:pt x="636" y="41"/>
                  </a:lnTo>
                  <a:lnTo>
                    <a:pt x="622" y="34"/>
                  </a:lnTo>
                  <a:lnTo>
                    <a:pt x="609" y="29"/>
                  </a:lnTo>
                  <a:lnTo>
                    <a:pt x="596" y="26"/>
                  </a:lnTo>
                  <a:lnTo>
                    <a:pt x="584" y="24"/>
                  </a:lnTo>
                  <a:lnTo>
                    <a:pt x="574" y="25"/>
                  </a:lnTo>
                  <a:lnTo>
                    <a:pt x="565" y="28"/>
                  </a:lnTo>
                  <a:lnTo>
                    <a:pt x="561" y="30"/>
                  </a:lnTo>
                  <a:lnTo>
                    <a:pt x="557" y="34"/>
                  </a:lnTo>
                  <a:lnTo>
                    <a:pt x="553" y="38"/>
                  </a:lnTo>
                  <a:lnTo>
                    <a:pt x="551" y="43"/>
                  </a:lnTo>
                  <a:lnTo>
                    <a:pt x="540" y="66"/>
                  </a:lnTo>
                  <a:lnTo>
                    <a:pt x="526" y="91"/>
                  </a:lnTo>
                  <a:lnTo>
                    <a:pt x="510" y="116"/>
                  </a:lnTo>
                  <a:lnTo>
                    <a:pt x="493" y="142"/>
                  </a:lnTo>
                  <a:lnTo>
                    <a:pt x="473" y="167"/>
                  </a:lnTo>
                  <a:lnTo>
                    <a:pt x="453" y="192"/>
                  </a:lnTo>
                  <a:lnTo>
                    <a:pt x="432" y="216"/>
                  </a:lnTo>
                  <a:lnTo>
                    <a:pt x="409" y="240"/>
                  </a:lnTo>
                  <a:lnTo>
                    <a:pt x="388" y="262"/>
                  </a:lnTo>
                  <a:lnTo>
                    <a:pt x="365" y="282"/>
                  </a:lnTo>
                  <a:lnTo>
                    <a:pt x="343" y="300"/>
                  </a:lnTo>
                  <a:lnTo>
                    <a:pt x="322" y="315"/>
                  </a:lnTo>
                  <a:lnTo>
                    <a:pt x="310" y="323"/>
                  </a:lnTo>
                  <a:lnTo>
                    <a:pt x="300" y="329"/>
                  </a:lnTo>
                  <a:lnTo>
                    <a:pt x="291" y="334"/>
                  </a:lnTo>
                  <a:lnTo>
                    <a:pt x="281" y="338"/>
                  </a:lnTo>
                  <a:lnTo>
                    <a:pt x="272" y="341"/>
                  </a:lnTo>
                  <a:lnTo>
                    <a:pt x="262" y="344"/>
                  </a:lnTo>
                  <a:lnTo>
                    <a:pt x="254" y="345"/>
                  </a:lnTo>
                  <a:lnTo>
                    <a:pt x="246" y="346"/>
                  </a:lnTo>
                  <a:lnTo>
                    <a:pt x="238" y="345"/>
                  </a:lnTo>
                  <a:lnTo>
                    <a:pt x="230" y="344"/>
                  </a:lnTo>
                  <a:lnTo>
                    <a:pt x="222" y="342"/>
                  </a:lnTo>
                  <a:lnTo>
                    <a:pt x="214" y="339"/>
                  </a:lnTo>
                  <a:lnTo>
                    <a:pt x="208" y="336"/>
                  </a:lnTo>
                  <a:lnTo>
                    <a:pt x="202" y="331"/>
                  </a:lnTo>
                  <a:lnTo>
                    <a:pt x="197" y="326"/>
                  </a:lnTo>
                  <a:lnTo>
                    <a:pt x="193" y="320"/>
                  </a:lnTo>
                  <a:lnTo>
                    <a:pt x="188" y="310"/>
                  </a:lnTo>
                  <a:lnTo>
                    <a:pt x="185" y="301"/>
                  </a:lnTo>
                  <a:lnTo>
                    <a:pt x="183" y="290"/>
                  </a:lnTo>
                  <a:lnTo>
                    <a:pt x="181" y="279"/>
                  </a:lnTo>
                  <a:lnTo>
                    <a:pt x="181" y="267"/>
                  </a:lnTo>
                  <a:lnTo>
                    <a:pt x="181" y="255"/>
                  </a:lnTo>
                  <a:lnTo>
                    <a:pt x="183" y="242"/>
                  </a:lnTo>
                  <a:lnTo>
                    <a:pt x="185" y="229"/>
                  </a:lnTo>
                  <a:lnTo>
                    <a:pt x="187" y="214"/>
                  </a:lnTo>
                  <a:lnTo>
                    <a:pt x="191" y="201"/>
                  </a:lnTo>
                  <a:lnTo>
                    <a:pt x="195" y="187"/>
                  </a:lnTo>
                  <a:lnTo>
                    <a:pt x="199" y="174"/>
                  </a:lnTo>
                  <a:lnTo>
                    <a:pt x="209" y="146"/>
                  </a:lnTo>
                  <a:lnTo>
                    <a:pt x="221" y="120"/>
                  </a:lnTo>
                  <a:lnTo>
                    <a:pt x="225" y="111"/>
                  </a:lnTo>
                  <a:lnTo>
                    <a:pt x="227" y="104"/>
                  </a:lnTo>
                  <a:lnTo>
                    <a:pt x="229" y="97"/>
                  </a:lnTo>
                  <a:lnTo>
                    <a:pt x="231" y="90"/>
                  </a:lnTo>
                  <a:lnTo>
                    <a:pt x="231" y="83"/>
                  </a:lnTo>
                  <a:lnTo>
                    <a:pt x="231" y="77"/>
                  </a:lnTo>
                  <a:lnTo>
                    <a:pt x="229" y="71"/>
                  </a:lnTo>
                  <a:lnTo>
                    <a:pt x="228" y="64"/>
                  </a:lnTo>
                  <a:lnTo>
                    <a:pt x="225" y="58"/>
                  </a:lnTo>
                  <a:lnTo>
                    <a:pt x="221" y="52"/>
                  </a:lnTo>
                  <a:lnTo>
                    <a:pt x="216" y="47"/>
                  </a:lnTo>
                  <a:lnTo>
                    <a:pt x="211" y="42"/>
                  </a:lnTo>
                  <a:lnTo>
                    <a:pt x="205" y="36"/>
                  </a:lnTo>
                  <a:lnTo>
                    <a:pt x="198" y="31"/>
                  </a:lnTo>
                  <a:lnTo>
                    <a:pt x="190" y="26"/>
                  </a:lnTo>
                  <a:lnTo>
                    <a:pt x="181" y="20"/>
                  </a:lnTo>
                  <a:lnTo>
                    <a:pt x="163" y="12"/>
                  </a:lnTo>
                  <a:lnTo>
                    <a:pt x="146" y="5"/>
                  </a:lnTo>
                  <a:lnTo>
                    <a:pt x="138" y="3"/>
                  </a:lnTo>
                  <a:lnTo>
                    <a:pt x="130" y="2"/>
                  </a:lnTo>
                  <a:lnTo>
                    <a:pt x="123" y="1"/>
                  </a:lnTo>
                  <a:lnTo>
                    <a:pt x="115" y="0"/>
                  </a:lnTo>
                  <a:lnTo>
                    <a:pt x="106" y="1"/>
                  </a:lnTo>
                  <a:lnTo>
                    <a:pt x="98" y="2"/>
                  </a:lnTo>
                  <a:lnTo>
                    <a:pt x="91" y="5"/>
                  </a:lnTo>
                  <a:lnTo>
                    <a:pt x="84" y="8"/>
                  </a:lnTo>
                  <a:lnTo>
                    <a:pt x="78" y="13"/>
                  </a:lnTo>
                  <a:lnTo>
                    <a:pt x="73" y="18"/>
                  </a:lnTo>
                  <a:lnTo>
                    <a:pt x="68" y="26"/>
                  </a:lnTo>
                  <a:lnTo>
                    <a:pt x="63" y="33"/>
                  </a:lnTo>
                  <a:lnTo>
                    <a:pt x="57" y="48"/>
                  </a:lnTo>
                  <a:lnTo>
                    <a:pt x="50" y="66"/>
                  </a:lnTo>
                  <a:lnTo>
                    <a:pt x="42" y="90"/>
                  </a:lnTo>
                  <a:lnTo>
                    <a:pt x="34" y="116"/>
                  </a:lnTo>
                  <a:lnTo>
                    <a:pt x="25" y="146"/>
                  </a:lnTo>
                  <a:lnTo>
                    <a:pt x="17" y="179"/>
                  </a:lnTo>
                  <a:lnTo>
                    <a:pt x="9" y="214"/>
                  </a:lnTo>
                  <a:lnTo>
                    <a:pt x="2" y="252"/>
                  </a:lnTo>
                  <a:lnTo>
                    <a:pt x="1" y="260"/>
                  </a:lnTo>
                  <a:lnTo>
                    <a:pt x="0" y="270"/>
                  </a:lnTo>
                  <a:lnTo>
                    <a:pt x="0" y="279"/>
                  </a:lnTo>
                  <a:lnTo>
                    <a:pt x="1" y="287"/>
                  </a:lnTo>
                  <a:lnTo>
                    <a:pt x="2" y="296"/>
                  </a:lnTo>
                  <a:lnTo>
                    <a:pt x="3" y="305"/>
                  </a:lnTo>
                  <a:lnTo>
                    <a:pt x="5" y="313"/>
                  </a:lnTo>
                  <a:lnTo>
                    <a:pt x="8" y="323"/>
                  </a:lnTo>
                  <a:lnTo>
                    <a:pt x="14" y="340"/>
                  </a:lnTo>
                  <a:lnTo>
                    <a:pt x="24" y="357"/>
                  </a:lnTo>
                  <a:lnTo>
                    <a:pt x="34" y="375"/>
                  </a:lnTo>
                  <a:lnTo>
                    <a:pt x="46" y="391"/>
                  </a:lnTo>
                  <a:lnTo>
                    <a:pt x="55" y="400"/>
                  </a:lnTo>
                  <a:lnTo>
                    <a:pt x="63" y="408"/>
                  </a:lnTo>
                  <a:lnTo>
                    <a:pt x="73" y="418"/>
                  </a:lnTo>
                  <a:lnTo>
                    <a:pt x="83" y="425"/>
                  </a:lnTo>
                  <a:lnTo>
                    <a:pt x="92" y="433"/>
                  </a:lnTo>
                  <a:lnTo>
                    <a:pt x="102" y="440"/>
                  </a:lnTo>
                  <a:lnTo>
                    <a:pt x="112" y="446"/>
                  </a:lnTo>
                  <a:lnTo>
                    <a:pt x="124" y="452"/>
                  </a:lnTo>
                  <a:lnTo>
                    <a:pt x="134" y="457"/>
                  </a:lnTo>
                  <a:lnTo>
                    <a:pt x="145" y="461"/>
                  </a:lnTo>
                  <a:lnTo>
                    <a:pt x="155" y="466"/>
                  </a:lnTo>
                  <a:lnTo>
                    <a:pt x="166" y="469"/>
                  </a:lnTo>
                  <a:lnTo>
                    <a:pt x="177" y="472"/>
                  </a:lnTo>
                  <a:lnTo>
                    <a:pt x="188" y="474"/>
                  </a:lnTo>
                  <a:lnTo>
                    <a:pt x="198" y="475"/>
                  </a:lnTo>
                  <a:lnTo>
                    <a:pt x="208" y="475"/>
                  </a:lnTo>
                  <a:lnTo>
                    <a:pt x="222" y="475"/>
                  </a:lnTo>
                  <a:lnTo>
                    <a:pt x="236" y="473"/>
                  </a:lnTo>
                  <a:lnTo>
                    <a:pt x="251" y="469"/>
                  </a:lnTo>
                  <a:lnTo>
                    <a:pt x="266" y="463"/>
                  </a:lnTo>
                  <a:lnTo>
                    <a:pt x="283" y="457"/>
                  </a:lnTo>
                  <a:lnTo>
                    <a:pt x="299" y="449"/>
                  </a:lnTo>
                  <a:lnTo>
                    <a:pt x="316" y="440"/>
                  </a:lnTo>
                  <a:lnTo>
                    <a:pt x="335" y="430"/>
                  </a:lnTo>
                  <a:lnTo>
                    <a:pt x="354" y="418"/>
                  </a:lnTo>
                  <a:lnTo>
                    <a:pt x="374" y="403"/>
                  </a:lnTo>
                  <a:lnTo>
                    <a:pt x="394" y="388"/>
                  </a:lnTo>
                  <a:lnTo>
                    <a:pt x="414" y="372"/>
                  </a:lnTo>
                  <a:lnTo>
                    <a:pt x="437" y="353"/>
                  </a:lnTo>
                  <a:lnTo>
                    <a:pt x="459" y="334"/>
                  </a:lnTo>
                  <a:lnTo>
                    <a:pt x="483" y="313"/>
                  </a:lnTo>
                  <a:lnTo>
                    <a:pt x="506" y="291"/>
                  </a:lnTo>
                  <a:lnTo>
                    <a:pt x="515" y="282"/>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8" name="Freeform 42"/>
            <p:cNvSpPr>
              <a:spLocks/>
            </p:cNvSpPr>
            <p:nvPr userDrawn="1"/>
          </p:nvSpPr>
          <p:spPr bwMode="auto">
            <a:xfrm>
              <a:off x="6739" y="604"/>
              <a:ext cx="18" cy="42"/>
            </a:xfrm>
            <a:custGeom>
              <a:avLst/>
              <a:gdLst>
                <a:gd name="T0" fmla="*/ 85 w 214"/>
                <a:gd name="T1" fmla="*/ 0 h 504"/>
                <a:gd name="T2" fmla="*/ 74 w 214"/>
                <a:gd name="T3" fmla="*/ 2 h 504"/>
                <a:gd name="T4" fmla="*/ 65 w 214"/>
                <a:gd name="T5" fmla="*/ 6 h 504"/>
                <a:gd name="T6" fmla="*/ 56 w 214"/>
                <a:gd name="T7" fmla="*/ 13 h 504"/>
                <a:gd name="T8" fmla="*/ 44 w 214"/>
                <a:gd name="T9" fmla="*/ 29 h 504"/>
                <a:gd name="T10" fmla="*/ 31 w 214"/>
                <a:gd name="T11" fmla="*/ 57 h 504"/>
                <a:gd name="T12" fmla="*/ 19 w 214"/>
                <a:gd name="T13" fmla="*/ 102 h 504"/>
                <a:gd name="T14" fmla="*/ 9 w 214"/>
                <a:gd name="T15" fmla="*/ 155 h 504"/>
                <a:gd name="T16" fmla="*/ 2 w 214"/>
                <a:gd name="T17" fmla="*/ 206 h 504"/>
                <a:gd name="T18" fmla="*/ 0 w 214"/>
                <a:gd name="T19" fmla="*/ 254 h 504"/>
                <a:gd name="T20" fmla="*/ 2 w 214"/>
                <a:gd name="T21" fmla="*/ 299 h 504"/>
                <a:gd name="T22" fmla="*/ 9 w 214"/>
                <a:gd name="T23" fmla="*/ 341 h 504"/>
                <a:gd name="T24" fmla="*/ 19 w 214"/>
                <a:gd name="T25" fmla="*/ 380 h 504"/>
                <a:gd name="T26" fmla="*/ 33 w 214"/>
                <a:gd name="T27" fmla="*/ 413 h 504"/>
                <a:gd name="T28" fmla="*/ 51 w 214"/>
                <a:gd name="T29" fmla="*/ 443 h 504"/>
                <a:gd name="T30" fmla="*/ 74 w 214"/>
                <a:gd name="T31" fmla="*/ 468 h 504"/>
                <a:gd name="T32" fmla="*/ 100 w 214"/>
                <a:gd name="T33" fmla="*/ 486 h 504"/>
                <a:gd name="T34" fmla="*/ 130 w 214"/>
                <a:gd name="T35" fmla="*/ 498 h 504"/>
                <a:gd name="T36" fmla="*/ 154 w 214"/>
                <a:gd name="T37" fmla="*/ 504 h 504"/>
                <a:gd name="T38" fmla="*/ 171 w 214"/>
                <a:gd name="T39" fmla="*/ 504 h 504"/>
                <a:gd name="T40" fmla="*/ 184 w 214"/>
                <a:gd name="T41" fmla="*/ 502 h 504"/>
                <a:gd name="T42" fmla="*/ 194 w 214"/>
                <a:gd name="T43" fmla="*/ 497 h 504"/>
                <a:gd name="T44" fmla="*/ 199 w 214"/>
                <a:gd name="T45" fmla="*/ 488 h 504"/>
                <a:gd name="T46" fmla="*/ 199 w 214"/>
                <a:gd name="T47" fmla="*/ 479 h 504"/>
                <a:gd name="T48" fmla="*/ 191 w 214"/>
                <a:gd name="T49" fmla="*/ 459 h 504"/>
                <a:gd name="T50" fmla="*/ 180 w 214"/>
                <a:gd name="T51" fmla="*/ 424 h 504"/>
                <a:gd name="T52" fmla="*/ 172 w 214"/>
                <a:gd name="T53" fmla="*/ 384 h 504"/>
                <a:gd name="T54" fmla="*/ 167 w 214"/>
                <a:gd name="T55" fmla="*/ 341 h 504"/>
                <a:gd name="T56" fmla="*/ 167 w 214"/>
                <a:gd name="T57" fmla="*/ 295 h 504"/>
                <a:gd name="T58" fmla="*/ 170 w 214"/>
                <a:gd name="T59" fmla="*/ 249 h 504"/>
                <a:gd name="T60" fmla="*/ 179 w 214"/>
                <a:gd name="T61" fmla="*/ 202 h 504"/>
                <a:gd name="T62" fmla="*/ 192 w 214"/>
                <a:gd name="T63" fmla="*/ 157 h 504"/>
                <a:gd name="T64" fmla="*/ 205 w 214"/>
                <a:gd name="T65" fmla="*/ 125 h 504"/>
                <a:gd name="T66" fmla="*/ 212 w 214"/>
                <a:gd name="T67" fmla="*/ 104 h 504"/>
                <a:gd name="T68" fmla="*/ 214 w 214"/>
                <a:gd name="T69" fmla="*/ 87 h 504"/>
                <a:gd name="T70" fmla="*/ 212 w 214"/>
                <a:gd name="T71" fmla="*/ 72 h 504"/>
                <a:gd name="T72" fmla="*/ 206 w 214"/>
                <a:gd name="T73" fmla="*/ 57 h 504"/>
                <a:gd name="T74" fmla="*/ 196 w 214"/>
                <a:gd name="T75" fmla="*/ 45 h 504"/>
                <a:gd name="T76" fmla="*/ 183 w 214"/>
                <a:gd name="T77" fmla="*/ 34 h 504"/>
                <a:gd name="T78" fmla="*/ 165 w 214"/>
                <a:gd name="T79" fmla="*/ 23 h 504"/>
                <a:gd name="T80" fmla="*/ 136 w 214"/>
                <a:gd name="T81" fmla="*/ 9 h 504"/>
                <a:gd name="T82" fmla="*/ 104 w 214"/>
                <a:gd name="T83" fmla="*/ 1 h 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214" h="504">
                  <a:moveTo>
                    <a:pt x="91" y="0"/>
                  </a:moveTo>
                  <a:lnTo>
                    <a:pt x="85" y="0"/>
                  </a:lnTo>
                  <a:lnTo>
                    <a:pt x="80" y="1"/>
                  </a:lnTo>
                  <a:lnTo>
                    <a:pt x="74" y="2"/>
                  </a:lnTo>
                  <a:lnTo>
                    <a:pt x="69" y="4"/>
                  </a:lnTo>
                  <a:lnTo>
                    <a:pt x="65" y="6"/>
                  </a:lnTo>
                  <a:lnTo>
                    <a:pt x="60" y="9"/>
                  </a:lnTo>
                  <a:lnTo>
                    <a:pt x="56" y="13"/>
                  </a:lnTo>
                  <a:lnTo>
                    <a:pt x="51" y="17"/>
                  </a:lnTo>
                  <a:lnTo>
                    <a:pt x="44" y="29"/>
                  </a:lnTo>
                  <a:lnTo>
                    <a:pt x="37" y="41"/>
                  </a:lnTo>
                  <a:lnTo>
                    <a:pt x="31" y="57"/>
                  </a:lnTo>
                  <a:lnTo>
                    <a:pt x="26" y="76"/>
                  </a:lnTo>
                  <a:lnTo>
                    <a:pt x="19" y="102"/>
                  </a:lnTo>
                  <a:lnTo>
                    <a:pt x="13" y="130"/>
                  </a:lnTo>
                  <a:lnTo>
                    <a:pt x="9" y="155"/>
                  </a:lnTo>
                  <a:lnTo>
                    <a:pt x="5" y="181"/>
                  </a:lnTo>
                  <a:lnTo>
                    <a:pt x="2" y="206"/>
                  </a:lnTo>
                  <a:lnTo>
                    <a:pt x="0" y="231"/>
                  </a:lnTo>
                  <a:lnTo>
                    <a:pt x="0" y="254"/>
                  </a:lnTo>
                  <a:lnTo>
                    <a:pt x="0" y="278"/>
                  </a:lnTo>
                  <a:lnTo>
                    <a:pt x="2" y="299"/>
                  </a:lnTo>
                  <a:lnTo>
                    <a:pt x="5" y="321"/>
                  </a:lnTo>
                  <a:lnTo>
                    <a:pt x="9" y="341"/>
                  </a:lnTo>
                  <a:lnTo>
                    <a:pt x="14" y="360"/>
                  </a:lnTo>
                  <a:lnTo>
                    <a:pt x="19" y="380"/>
                  </a:lnTo>
                  <a:lnTo>
                    <a:pt x="26" y="397"/>
                  </a:lnTo>
                  <a:lnTo>
                    <a:pt x="33" y="413"/>
                  </a:lnTo>
                  <a:lnTo>
                    <a:pt x="42" y="429"/>
                  </a:lnTo>
                  <a:lnTo>
                    <a:pt x="51" y="443"/>
                  </a:lnTo>
                  <a:lnTo>
                    <a:pt x="63" y="456"/>
                  </a:lnTo>
                  <a:lnTo>
                    <a:pt x="74" y="468"/>
                  </a:lnTo>
                  <a:lnTo>
                    <a:pt x="87" y="478"/>
                  </a:lnTo>
                  <a:lnTo>
                    <a:pt x="100" y="486"/>
                  </a:lnTo>
                  <a:lnTo>
                    <a:pt x="115" y="493"/>
                  </a:lnTo>
                  <a:lnTo>
                    <a:pt x="130" y="498"/>
                  </a:lnTo>
                  <a:lnTo>
                    <a:pt x="145" y="502"/>
                  </a:lnTo>
                  <a:lnTo>
                    <a:pt x="154" y="504"/>
                  </a:lnTo>
                  <a:lnTo>
                    <a:pt x="164" y="504"/>
                  </a:lnTo>
                  <a:lnTo>
                    <a:pt x="171" y="504"/>
                  </a:lnTo>
                  <a:lnTo>
                    <a:pt x="178" y="503"/>
                  </a:lnTo>
                  <a:lnTo>
                    <a:pt x="184" y="502"/>
                  </a:lnTo>
                  <a:lnTo>
                    <a:pt x="190" y="500"/>
                  </a:lnTo>
                  <a:lnTo>
                    <a:pt x="194" y="497"/>
                  </a:lnTo>
                  <a:lnTo>
                    <a:pt x="197" y="493"/>
                  </a:lnTo>
                  <a:lnTo>
                    <a:pt x="199" y="488"/>
                  </a:lnTo>
                  <a:lnTo>
                    <a:pt x="199" y="484"/>
                  </a:lnTo>
                  <a:lnTo>
                    <a:pt x="199" y="479"/>
                  </a:lnTo>
                  <a:lnTo>
                    <a:pt x="197" y="475"/>
                  </a:lnTo>
                  <a:lnTo>
                    <a:pt x="191" y="459"/>
                  </a:lnTo>
                  <a:lnTo>
                    <a:pt x="185" y="442"/>
                  </a:lnTo>
                  <a:lnTo>
                    <a:pt x="180" y="424"/>
                  </a:lnTo>
                  <a:lnTo>
                    <a:pt x="175" y="404"/>
                  </a:lnTo>
                  <a:lnTo>
                    <a:pt x="172" y="384"/>
                  </a:lnTo>
                  <a:lnTo>
                    <a:pt x="169" y="362"/>
                  </a:lnTo>
                  <a:lnTo>
                    <a:pt x="167" y="341"/>
                  </a:lnTo>
                  <a:lnTo>
                    <a:pt x="167" y="319"/>
                  </a:lnTo>
                  <a:lnTo>
                    <a:pt x="167" y="295"/>
                  </a:lnTo>
                  <a:lnTo>
                    <a:pt x="168" y="273"/>
                  </a:lnTo>
                  <a:lnTo>
                    <a:pt x="170" y="249"/>
                  </a:lnTo>
                  <a:lnTo>
                    <a:pt x="174" y="226"/>
                  </a:lnTo>
                  <a:lnTo>
                    <a:pt x="179" y="202"/>
                  </a:lnTo>
                  <a:lnTo>
                    <a:pt x="185" y="180"/>
                  </a:lnTo>
                  <a:lnTo>
                    <a:pt x="192" y="157"/>
                  </a:lnTo>
                  <a:lnTo>
                    <a:pt x="200" y="135"/>
                  </a:lnTo>
                  <a:lnTo>
                    <a:pt x="205" y="125"/>
                  </a:lnTo>
                  <a:lnTo>
                    <a:pt x="209" y="114"/>
                  </a:lnTo>
                  <a:lnTo>
                    <a:pt x="212" y="104"/>
                  </a:lnTo>
                  <a:lnTo>
                    <a:pt x="213" y="96"/>
                  </a:lnTo>
                  <a:lnTo>
                    <a:pt x="214" y="87"/>
                  </a:lnTo>
                  <a:lnTo>
                    <a:pt x="214" y="79"/>
                  </a:lnTo>
                  <a:lnTo>
                    <a:pt x="212" y="72"/>
                  </a:lnTo>
                  <a:lnTo>
                    <a:pt x="210" y="64"/>
                  </a:lnTo>
                  <a:lnTo>
                    <a:pt x="206" y="57"/>
                  </a:lnTo>
                  <a:lnTo>
                    <a:pt x="202" y="51"/>
                  </a:lnTo>
                  <a:lnTo>
                    <a:pt x="196" y="45"/>
                  </a:lnTo>
                  <a:lnTo>
                    <a:pt x="190" y="39"/>
                  </a:lnTo>
                  <a:lnTo>
                    <a:pt x="183" y="34"/>
                  </a:lnTo>
                  <a:lnTo>
                    <a:pt x="175" y="28"/>
                  </a:lnTo>
                  <a:lnTo>
                    <a:pt x="165" y="23"/>
                  </a:lnTo>
                  <a:lnTo>
                    <a:pt x="154" y="17"/>
                  </a:lnTo>
                  <a:lnTo>
                    <a:pt x="136" y="9"/>
                  </a:lnTo>
                  <a:lnTo>
                    <a:pt x="119" y="4"/>
                  </a:lnTo>
                  <a:lnTo>
                    <a:pt x="104" y="1"/>
                  </a:lnTo>
                  <a:lnTo>
                    <a:pt x="91"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19" name="Freeform 43"/>
            <p:cNvSpPr>
              <a:spLocks/>
            </p:cNvSpPr>
            <p:nvPr userDrawn="1"/>
          </p:nvSpPr>
          <p:spPr bwMode="auto">
            <a:xfrm>
              <a:off x="6966" y="608"/>
              <a:ext cx="26" cy="41"/>
            </a:xfrm>
            <a:custGeom>
              <a:avLst/>
              <a:gdLst>
                <a:gd name="T0" fmla="*/ 91 w 315"/>
                <a:gd name="T1" fmla="*/ 120 h 486"/>
                <a:gd name="T2" fmla="*/ 110 w 315"/>
                <a:gd name="T3" fmla="*/ 124 h 486"/>
                <a:gd name="T4" fmla="*/ 128 w 315"/>
                <a:gd name="T5" fmla="*/ 132 h 486"/>
                <a:gd name="T6" fmla="*/ 144 w 315"/>
                <a:gd name="T7" fmla="*/ 143 h 486"/>
                <a:gd name="T8" fmla="*/ 160 w 315"/>
                <a:gd name="T9" fmla="*/ 161 h 486"/>
                <a:gd name="T10" fmla="*/ 172 w 315"/>
                <a:gd name="T11" fmla="*/ 183 h 486"/>
                <a:gd name="T12" fmla="*/ 180 w 315"/>
                <a:gd name="T13" fmla="*/ 206 h 486"/>
                <a:gd name="T14" fmla="*/ 183 w 315"/>
                <a:gd name="T15" fmla="*/ 228 h 486"/>
                <a:gd name="T16" fmla="*/ 181 w 315"/>
                <a:gd name="T17" fmla="*/ 251 h 486"/>
                <a:gd name="T18" fmla="*/ 174 w 315"/>
                <a:gd name="T19" fmla="*/ 279 h 486"/>
                <a:gd name="T20" fmla="*/ 161 w 315"/>
                <a:gd name="T21" fmla="*/ 304 h 486"/>
                <a:gd name="T22" fmla="*/ 144 w 315"/>
                <a:gd name="T23" fmla="*/ 327 h 486"/>
                <a:gd name="T24" fmla="*/ 123 w 315"/>
                <a:gd name="T25" fmla="*/ 347 h 486"/>
                <a:gd name="T26" fmla="*/ 100 w 315"/>
                <a:gd name="T27" fmla="*/ 363 h 486"/>
                <a:gd name="T28" fmla="*/ 74 w 315"/>
                <a:gd name="T29" fmla="*/ 374 h 486"/>
                <a:gd name="T30" fmla="*/ 47 w 315"/>
                <a:gd name="T31" fmla="*/ 380 h 486"/>
                <a:gd name="T32" fmla="*/ 0 w 315"/>
                <a:gd name="T33" fmla="*/ 434 h 486"/>
                <a:gd name="T34" fmla="*/ 74 w 315"/>
                <a:gd name="T35" fmla="*/ 486 h 486"/>
                <a:gd name="T36" fmla="*/ 97 w 315"/>
                <a:gd name="T37" fmla="*/ 484 h 486"/>
                <a:gd name="T38" fmla="*/ 129 w 315"/>
                <a:gd name="T39" fmla="*/ 476 h 486"/>
                <a:gd name="T40" fmla="*/ 172 w 315"/>
                <a:gd name="T41" fmla="*/ 460 h 486"/>
                <a:gd name="T42" fmla="*/ 213 w 315"/>
                <a:gd name="T43" fmla="*/ 435 h 486"/>
                <a:gd name="T44" fmla="*/ 250 w 315"/>
                <a:gd name="T45" fmla="*/ 406 h 486"/>
                <a:gd name="T46" fmla="*/ 273 w 315"/>
                <a:gd name="T47" fmla="*/ 379 h 486"/>
                <a:gd name="T48" fmla="*/ 286 w 315"/>
                <a:gd name="T49" fmla="*/ 361 h 486"/>
                <a:gd name="T50" fmla="*/ 297 w 315"/>
                <a:gd name="T51" fmla="*/ 340 h 486"/>
                <a:gd name="T52" fmla="*/ 306 w 315"/>
                <a:gd name="T53" fmla="*/ 320 h 486"/>
                <a:gd name="T54" fmla="*/ 312 w 315"/>
                <a:gd name="T55" fmla="*/ 297 h 486"/>
                <a:gd name="T56" fmla="*/ 315 w 315"/>
                <a:gd name="T57" fmla="*/ 275 h 486"/>
                <a:gd name="T58" fmla="*/ 315 w 315"/>
                <a:gd name="T59" fmla="*/ 249 h 486"/>
                <a:gd name="T60" fmla="*/ 312 w 315"/>
                <a:gd name="T61" fmla="*/ 221 h 486"/>
                <a:gd name="T62" fmla="*/ 306 w 315"/>
                <a:gd name="T63" fmla="*/ 194 h 486"/>
                <a:gd name="T64" fmla="*/ 298 w 315"/>
                <a:gd name="T65" fmla="*/ 169 h 486"/>
                <a:gd name="T66" fmla="*/ 287 w 315"/>
                <a:gd name="T67" fmla="*/ 144 h 486"/>
                <a:gd name="T68" fmla="*/ 274 w 315"/>
                <a:gd name="T69" fmla="*/ 122 h 486"/>
                <a:gd name="T70" fmla="*/ 259 w 315"/>
                <a:gd name="T71" fmla="*/ 101 h 486"/>
                <a:gd name="T72" fmla="*/ 243 w 315"/>
                <a:gd name="T73" fmla="*/ 82 h 486"/>
                <a:gd name="T74" fmla="*/ 224 w 315"/>
                <a:gd name="T75" fmla="*/ 65 h 486"/>
                <a:gd name="T76" fmla="*/ 205 w 315"/>
                <a:gd name="T77" fmla="*/ 49 h 486"/>
                <a:gd name="T78" fmla="*/ 184 w 315"/>
                <a:gd name="T79" fmla="*/ 36 h 486"/>
                <a:gd name="T80" fmla="*/ 163 w 315"/>
                <a:gd name="T81" fmla="*/ 25 h 486"/>
                <a:gd name="T82" fmla="*/ 141 w 315"/>
                <a:gd name="T83" fmla="*/ 15 h 486"/>
                <a:gd name="T84" fmla="*/ 118 w 315"/>
                <a:gd name="T85" fmla="*/ 7 h 486"/>
                <a:gd name="T86" fmla="*/ 95 w 315"/>
                <a:gd name="T87" fmla="*/ 3 h 486"/>
                <a:gd name="T88" fmla="*/ 72 w 315"/>
                <a:gd name="T89" fmla="*/ 0 h 486"/>
                <a:gd name="T90" fmla="*/ 21 w 315"/>
                <a:gd name="T91" fmla="*/ 68 h 4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315" h="486">
                  <a:moveTo>
                    <a:pt x="80" y="120"/>
                  </a:moveTo>
                  <a:lnTo>
                    <a:pt x="91" y="120"/>
                  </a:lnTo>
                  <a:lnTo>
                    <a:pt x="101" y="122"/>
                  </a:lnTo>
                  <a:lnTo>
                    <a:pt x="110" y="124"/>
                  </a:lnTo>
                  <a:lnTo>
                    <a:pt x="119" y="128"/>
                  </a:lnTo>
                  <a:lnTo>
                    <a:pt x="128" y="132"/>
                  </a:lnTo>
                  <a:lnTo>
                    <a:pt x="136" y="137"/>
                  </a:lnTo>
                  <a:lnTo>
                    <a:pt x="144" y="143"/>
                  </a:lnTo>
                  <a:lnTo>
                    <a:pt x="151" y="150"/>
                  </a:lnTo>
                  <a:lnTo>
                    <a:pt x="160" y="161"/>
                  </a:lnTo>
                  <a:lnTo>
                    <a:pt x="167" y="172"/>
                  </a:lnTo>
                  <a:lnTo>
                    <a:pt x="172" y="183"/>
                  </a:lnTo>
                  <a:lnTo>
                    <a:pt x="177" y="194"/>
                  </a:lnTo>
                  <a:lnTo>
                    <a:pt x="180" y="206"/>
                  </a:lnTo>
                  <a:lnTo>
                    <a:pt x="182" y="218"/>
                  </a:lnTo>
                  <a:lnTo>
                    <a:pt x="183" y="228"/>
                  </a:lnTo>
                  <a:lnTo>
                    <a:pt x="183" y="237"/>
                  </a:lnTo>
                  <a:lnTo>
                    <a:pt x="181" y="251"/>
                  </a:lnTo>
                  <a:lnTo>
                    <a:pt x="178" y="266"/>
                  </a:lnTo>
                  <a:lnTo>
                    <a:pt x="174" y="279"/>
                  </a:lnTo>
                  <a:lnTo>
                    <a:pt x="168" y="292"/>
                  </a:lnTo>
                  <a:lnTo>
                    <a:pt x="161" y="304"/>
                  </a:lnTo>
                  <a:lnTo>
                    <a:pt x="153" y="317"/>
                  </a:lnTo>
                  <a:lnTo>
                    <a:pt x="144" y="327"/>
                  </a:lnTo>
                  <a:lnTo>
                    <a:pt x="134" y="338"/>
                  </a:lnTo>
                  <a:lnTo>
                    <a:pt x="123" y="347"/>
                  </a:lnTo>
                  <a:lnTo>
                    <a:pt x="112" y="355"/>
                  </a:lnTo>
                  <a:lnTo>
                    <a:pt x="100" y="363"/>
                  </a:lnTo>
                  <a:lnTo>
                    <a:pt x="87" y="369"/>
                  </a:lnTo>
                  <a:lnTo>
                    <a:pt x="74" y="374"/>
                  </a:lnTo>
                  <a:lnTo>
                    <a:pt x="61" y="378"/>
                  </a:lnTo>
                  <a:lnTo>
                    <a:pt x="47" y="380"/>
                  </a:lnTo>
                  <a:lnTo>
                    <a:pt x="33" y="381"/>
                  </a:lnTo>
                  <a:lnTo>
                    <a:pt x="0" y="434"/>
                  </a:lnTo>
                  <a:lnTo>
                    <a:pt x="64" y="486"/>
                  </a:lnTo>
                  <a:lnTo>
                    <a:pt x="74" y="486"/>
                  </a:lnTo>
                  <a:lnTo>
                    <a:pt x="85" y="485"/>
                  </a:lnTo>
                  <a:lnTo>
                    <a:pt x="97" y="484"/>
                  </a:lnTo>
                  <a:lnTo>
                    <a:pt x="107" y="482"/>
                  </a:lnTo>
                  <a:lnTo>
                    <a:pt x="129" y="476"/>
                  </a:lnTo>
                  <a:lnTo>
                    <a:pt x="151" y="469"/>
                  </a:lnTo>
                  <a:lnTo>
                    <a:pt x="172" y="460"/>
                  </a:lnTo>
                  <a:lnTo>
                    <a:pt x="194" y="448"/>
                  </a:lnTo>
                  <a:lnTo>
                    <a:pt x="213" y="435"/>
                  </a:lnTo>
                  <a:lnTo>
                    <a:pt x="232" y="421"/>
                  </a:lnTo>
                  <a:lnTo>
                    <a:pt x="250" y="406"/>
                  </a:lnTo>
                  <a:lnTo>
                    <a:pt x="266" y="388"/>
                  </a:lnTo>
                  <a:lnTo>
                    <a:pt x="273" y="379"/>
                  </a:lnTo>
                  <a:lnTo>
                    <a:pt x="279" y="370"/>
                  </a:lnTo>
                  <a:lnTo>
                    <a:pt x="286" y="361"/>
                  </a:lnTo>
                  <a:lnTo>
                    <a:pt x="291" y="350"/>
                  </a:lnTo>
                  <a:lnTo>
                    <a:pt x="297" y="340"/>
                  </a:lnTo>
                  <a:lnTo>
                    <a:pt x="302" y="330"/>
                  </a:lnTo>
                  <a:lnTo>
                    <a:pt x="306" y="320"/>
                  </a:lnTo>
                  <a:lnTo>
                    <a:pt x="309" y="309"/>
                  </a:lnTo>
                  <a:lnTo>
                    <a:pt x="312" y="297"/>
                  </a:lnTo>
                  <a:lnTo>
                    <a:pt x="314" y="287"/>
                  </a:lnTo>
                  <a:lnTo>
                    <a:pt x="315" y="275"/>
                  </a:lnTo>
                  <a:lnTo>
                    <a:pt x="315" y="264"/>
                  </a:lnTo>
                  <a:lnTo>
                    <a:pt x="315" y="249"/>
                  </a:lnTo>
                  <a:lnTo>
                    <a:pt x="314" y="235"/>
                  </a:lnTo>
                  <a:lnTo>
                    <a:pt x="312" y="221"/>
                  </a:lnTo>
                  <a:lnTo>
                    <a:pt x="309" y="207"/>
                  </a:lnTo>
                  <a:lnTo>
                    <a:pt x="306" y="194"/>
                  </a:lnTo>
                  <a:lnTo>
                    <a:pt x="302" y="181"/>
                  </a:lnTo>
                  <a:lnTo>
                    <a:pt x="298" y="169"/>
                  </a:lnTo>
                  <a:lnTo>
                    <a:pt x="293" y="156"/>
                  </a:lnTo>
                  <a:lnTo>
                    <a:pt x="287" y="144"/>
                  </a:lnTo>
                  <a:lnTo>
                    <a:pt x="280" y="133"/>
                  </a:lnTo>
                  <a:lnTo>
                    <a:pt x="274" y="122"/>
                  </a:lnTo>
                  <a:lnTo>
                    <a:pt x="267" y="112"/>
                  </a:lnTo>
                  <a:lnTo>
                    <a:pt x="259" y="101"/>
                  </a:lnTo>
                  <a:lnTo>
                    <a:pt x="251" y="91"/>
                  </a:lnTo>
                  <a:lnTo>
                    <a:pt x="243" y="82"/>
                  </a:lnTo>
                  <a:lnTo>
                    <a:pt x="233" y="73"/>
                  </a:lnTo>
                  <a:lnTo>
                    <a:pt x="224" y="65"/>
                  </a:lnTo>
                  <a:lnTo>
                    <a:pt x="215" y="56"/>
                  </a:lnTo>
                  <a:lnTo>
                    <a:pt x="205" y="49"/>
                  </a:lnTo>
                  <a:lnTo>
                    <a:pt x="195" y="42"/>
                  </a:lnTo>
                  <a:lnTo>
                    <a:pt x="184" y="36"/>
                  </a:lnTo>
                  <a:lnTo>
                    <a:pt x="174" y="30"/>
                  </a:lnTo>
                  <a:lnTo>
                    <a:pt x="163" y="25"/>
                  </a:lnTo>
                  <a:lnTo>
                    <a:pt x="152" y="20"/>
                  </a:lnTo>
                  <a:lnTo>
                    <a:pt x="141" y="15"/>
                  </a:lnTo>
                  <a:lnTo>
                    <a:pt x="129" y="12"/>
                  </a:lnTo>
                  <a:lnTo>
                    <a:pt x="118" y="7"/>
                  </a:lnTo>
                  <a:lnTo>
                    <a:pt x="107" y="5"/>
                  </a:lnTo>
                  <a:lnTo>
                    <a:pt x="95" y="3"/>
                  </a:lnTo>
                  <a:lnTo>
                    <a:pt x="83" y="1"/>
                  </a:lnTo>
                  <a:lnTo>
                    <a:pt x="72" y="0"/>
                  </a:lnTo>
                  <a:lnTo>
                    <a:pt x="60" y="0"/>
                  </a:lnTo>
                  <a:lnTo>
                    <a:pt x="21" y="68"/>
                  </a:lnTo>
                  <a:lnTo>
                    <a:pt x="80" y="12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0" name="Freeform 44"/>
            <p:cNvSpPr>
              <a:spLocks/>
            </p:cNvSpPr>
            <p:nvPr userDrawn="1"/>
          </p:nvSpPr>
          <p:spPr bwMode="auto">
            <a:xfrm>
              <a:off x="6884" y="562"/>
              <a:ext cx="92" cy="118"/>
            </a:xfrm>
            <a:custGeom>
              <a:avLst/>
              <a:gdLst>
                <a:gd name="T0" fmla="*/ 1007 w 1095"/>
                <a:gd name="T1" fmla="*/ 693 h 1421"/>
                <a:gd name="T2" fmla="*/ 952 w 1095"/>
                <a:gd name="T3" fmla="*/ 735 h 1421"/>
                <a:gd name="T4" fmla="*/ 915 w 1095"/>
                <a:gd name="T5" fmla="*/ 791 h 1421"/>
                <a:gd name="T6" fmla="*/ 906 w 1095"/>
                <a:gd name="T7" fmla="*/ 852 h 1421"/>
                <a:gd name="T8" fmla="*/ 929 w 1095"/>
                <a:gd name="T9" fmla="*/ 906 h 1421"/>
                <a:gd name="T10" fmla="*/ 974 w 1095"/>
                <a:gd name="T11" fmla="*/ 937 h 1421"/>
                <a:gd name="T12" fmla="*/ 1040 w 1095"/>
                <a:gd name="T13" fmla="*/ 1047 h 1421"/>
                <a:gd name="T14" fmla="*/ 955 w 1095"/>
                <a:gd name="T15" fmla="*/ 1038 h 1421"/>
                <a:gd name="T16" fmla="*/ 881 w 1095"/>
                <a:gd name="T17" fmla="*/ 1012 h 1421"/>
                <a:gd name="T18" fmla="*/ 821 w 1095"/>
                <a:gd name="T19" fmla="*/ 976 h 1421"/>
                <a:gd name="T20" fmla="*/ 774 w 1095"/>
                <a:gd name="T21" fmla="*/ 931 h 1421"/>
                <a:gd name="T22" fmla="*/ 741 w 1095"/>
                <a:gd name="T23" fmla="*/ 883 h 1421"/>
                <a:gd name="T24" fmla="*/ 726 w 1095"/>
                <a:gd name="T25" fmla="*/ 835 h 1421"/>
                <a:gd name="T26" fmla="*/ 728 w 1095"/>
                <a:gd name="T27" fmla="*/ 774 h 1421"/>
                <a:gd name="T28" fmla="*/ 749 w 1095"/>
                <a:gd name="T29" fmla="*/ 723 h 1421"/>
                <a:gd name="T30" fmla="*/ 650 w 1095"/>
                <a:gd name="T31" fmla="*/ 723 h 1421"/>
                <a:gd name="T32" fmla="*/ 491 w 1095"/>
                <a:gd name="T33" fmla="*/ 745 h 1421"/>
                <a:gd name="T34" fmla="*/ 462 w 1095"/>
                <a:gd name="T35" fmla="*/ 886 h 1421"/>
                <a:gd name="T36" fmla="*/ 435 w 1095"/>
                <a:gd name="T37" fmla="*/ 1103 h 1421"/>
                <a:gd name="T38" fmla="*/ 427 w 1095"/>
                <a:gd name="T39" fmla="*/ 1291 h 1421"/>
                <a:gd name="T40" fmla="*/ 431 w 1095"/>
                <a:gd name="T41" fmla="*/ 1398 h 1421"/>
                <a:gd name="T42" fmla="*/ 416 w 1095"/>
                <a:gd name="T43" fmla="*/ 1418 h 1421"/>
                <a:gd name="T44" fmla="*/ 378 w 1095"/>
                <a:gd name="T45" fmla="*/ 1418 h 1421"/>
                <a:gd name="T46" fmla="*/ 337 w 1095"/>
                <a:gd name="T47" fmla="*/ 1390 h 1421"/>
                <a:gd name="T48" fmla="*/ 310 w 1095"/>
                <a:gd name="T49" fmla="*/ 1337 h 1421"/>
                <a:gd name="T50" fmla="*/ 293 w 1095"/>
                <a:gd name="T51" fmla="*/ 1256 h 1421"/>
                <a:gd name="T52" fmla="*/ 288 w 1095"/>
                <a:gd name="T53" fmla="*/ 1109 h 1421"/>
                <a:gd name="T54" fmla="*/ 313 w 1095"/>
                <a:gd name="T55" fmla="*/ 843 h 1421"/>
                <a:gd name="T56" fmla="*/ 226 w 1095"/>
                <a:gd name="T57" fmla="*/ 803 h 1421"/>
                <a:gd name="T58" fmla="*/ 161 w 1095"/>
                <a:gd name="T59" fmla="*/ 831 h 1421"/>
                <a:gd name="T60" fmla="*/ 125 w 1095"/>
                <a:gd name="T61" fmla="*/ 840 h 1421"/>
                <a:gd name="T62" fmla="*/ 86 w 1095"/>
                <a:gd name="T63" fmla="*/ 834 h 1421"/>
                <a:gd name="T64" fmla="*/ 24 w 1095"/>
                <a:gd name="T65" fmla="*/ 796 h 1421"/>
                <a:gd name="T66" fmla="*/ 0 w 1095"/>
                <a:gd name="T67" fmla="*/ 762 h 1421"/>
                <a:gd name="T68" fmla="*/ 8 w 1095"/>
                <a:gd name="T69" fmla="*/ 740 h 1421"/>
                <a:gd name="T70" fmla="*/ 62 w 1095"/>
                <a:gd name="T71" fmla="*/ 713 h 1421"/>
                <a:gd name="T72" fmla="*/ 251 w 1095"/>
                <a:gd name="T73" fmla="*/ 663 h 1421"/>
                <a:gd name="T74" fmla="*/ 364 w 1095"/>
                <a:gd name="T75" fmla="*/ 577 h 1421"/>
                <a:gd name="T76" fmla="*/ 431 w 1095"/>
                <a:gd name="T77" fmla="*/ 350 h 1421"/>
                <a:gd name="T78" fmla="*/ 514 w 1095"/>
                <a:gd name="T79" fmla="*/ 162 h 1421"/>
                <a:gd name="T80" fmla="*/ 599 w 1095"/>
                <a:gd name="T81" fmla="*/ 34 h 1421"/>
                <a:gd name="T82" fmla="*/ 669 w 1095"/>
                <a:gd name="T83" fmla="*/ 1 h 1421"/>
                <a:gd name="T84" fmla="*/ 732 w 1095"/>
                <a:gd name="T85" fmla="*/ 7 h 1421"/>
                <a:gd name="T86" fmla="*/ 799 w 1095"/>
                <a:gd name="T87" fmla="*/ 37 h 1421"/>
                <a:gd name="T88" fmla="*/ 852 w 1095"/>
                <a:gd name="T89" fmla="*/ 97 h 1421"/>
                <a:gd name="T90" fmla="*/ 866 w 1095"/>
                <a:gd name="T91" fmla="*/ 159 h 1421"/>
                <a:gd name="T92" fmla="*/ 852 w 1095"/>
                <a:gd name="T93" fmla="*/ 204 h 1421"/>
                <a:gd name="T94" fmla="*/ 824 w 1095"/>
                <a:gd name="T95" fmla="*/ 224 h 1421"/>
                <a:gd name="T96" fmla="*/ 807 w 1095"/>
                <a:gd name="T97" fmla="*/ 220 h 1421"/>
                <a:gd name="T98" fmla="*/ 778 w 1095"/>
                <a:gd name="T99" fmla="*/ 172 h 1421"/>
                <a:gd name="T100" fmla="*/ 731 w 1095"/>
                <a:gd name="T101" fmla="*/ 149 h 1421"/>
                <a:gd name="T102" fmla="*/ 697 w 1095"/>
                <a:gd name="T103" fmla="*/ 160 h 1421"/>
                <a:gd name="T104" fmla="*/ 660 w 1095"/>
                <a:gd name="T105" fmla="*/ 210 h 1421"/>
                <a:gd name="T106" fmla="*/ 601 w 1095"/>
                <a:gd name="T107" fmla="*/ 339 h 1421"/>
                <a:gd name="T108" fmla="*/ 514 w 1095"/>
                <a:gd name="T109" fmla="*/ 627 h 1421"/>
                <a:gd name="T110" fmla="*/ 618 w 1095"/>
                <a:gd name="T111" fmla="*/ 629 h 1421"/>
                <a:gd name="T112" fmla="*/ 798 w 1095"/>
                <a:gd name="T113" fmla="*/ 626 h 1421"/>
                <a:gd name="T114" fmla="*/ 892 w 1095"/>
                <a:gd name="T115" fmla="*/ 627 h 1421"/>
                <a:gd name="T116" fmla="*/ 961 w 1095"/>
                <a:gd name="T117" fmla="*/ 578 h 1421"/>
                <a:gd name="T118" fmla="*/ 1027 w 1095"/>
                <a:gd name="T119" fmla="*/ 561 h 142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1095" h="1421">
                  <a:moveTo>
                    <a:pt x="1056" y="681"/>
                  </a:moveTo>
                  <a:lnTo>
                    <a:pt x="1044" y="682"/>
                  </a:lnTo>
                  <a:lnTo>
                    <a:pt x="1032" y="684"/>
                  </a:lnTo>
                  <a:lnTo>
                    <a:pt x="1020" y="688"/>
                  </a:lnTo>
                  <a:lnTo>
                    <a:pt x="1007" y="693"/>
                  </a:lnTo>
                  <a:lnTo>
                    <a:pt x="995" y="699"/>
                  </a:lnTo>
                  <a:lnTo>
                    <a:pt x="984" y="707"/>
                  </a:lnTo>
                  <a:lnTo>
                    <a:pt x="973" y="715"/>
                  </a:lnTo>
                  <a:lnTo>
                    <a:pt x="961" y="725"/>
                  </a:lnTo>
                  <a:lnTo>
                    <a:pt x="952" y="735"/>
                  </a:lnTo>
                  <a:lnTo>
                    <a:pt x="943" y="745"/>
                  </a:lnTo>
                  <a:lnTo>
                    <a:pt x="934" y="756"/>
                  </a:lnTo>
                  <a:lnTo>
                    <a:pt x="927" y="767"/>
                  </a:lnTo>
                  <a:lnTo>
                    <a:pt x="921" y="779"/>
                  </a:lnTo>
                  <a:lnTo>
                    <a:pt x="915" y="791"/>
                  </a:lnTo>
                  <a:lnTo>
                    <a:pt x="910" y="802"/>
                  </a:lnTo>
                  <a:lnTo>
                    <a:pt x="908" y="813"/>
                  </a:lnTo>
                  <a:lnTo>
                    <a:pt x="906" y="827"/>
                  </a:lnTo>
                  <a:lnTo>
                    <a:pt x="905" y="839"/>
                  </a:lnTo>
                  <a:lnTo>
                    <a:pt x="906" y="852"/>
                  </a:lnTo>
                  <a:lnTo>
                    <a:pt x="908" y="863"/>
                  </a:lnTo>
                  <a:lnTo>
                    <a:pt x="912" y="876"/>
                  </a:lnTo>
                  <a:lnTo>
                    <a:pt x="917" y="886"/>
                  </a:lnTo>
                  <a:lnTo>
                    <a:pt x="922" y="897"/>
                  </a:lnTo>
                  <a:lnTo>
                    <a:pt x="929" y="906"/>
                  </a:lnTo>
                  <a:lnTo>
                    <a:pt x="936" y="914"/>
                  </a:lnTo>
                  <a:lnTo>
                    <a:pt x="945" y="922"/>
                  </a:lnTo>
                  <a:lnTo>
                    <a:pt x="953" y="928"/>
                  </a:lnTo>
                  <a:lnTo>
                    <a:pt x="964" y="933"/>
                  </a:lnTo>
                  <a:lnTo>
                    <a:pt x="974" y="937"/>
                  </a:lnTo>
                  <a:lnTo>
                    <a:pt x="985" y="940"/>
                  </a:lnTo>
                  <a:lnTo>
                    <a:pt x="997" y="941"/>
                  </a:lnTo>
                  <a:lnTo>
                    <a:pt x="1009" y="942"/>
                  </a:lnTo>
                  <a:lnTo>
                    <a:pt x="1073" y="984"/>
                  </a:lnTo>
                  <a:lnTo>
                    <a:pt x="1040" y="1047"/>
                  </a:lnTo>
                  <a:lnTo>
                    <a:pt x="1022" y="1047"/>
                  </a:lnTo>
                  <a:lnTo>
                    <a:pt x="1004" y="1046"/>
                  </a:lnTo>
                  <a:lnTo>
                    <a:pt x="988" y="1044"/>
                  </a:lnTo>
                  <a:lnTo>
                    <a:pt x="971" y="1041"/>
                  </a:lnTo>
                  <a:lnTo>
                    <a:pt x="955" y="1038"/>
                  </a:lnTo>
                  <a:lnTo>
                    <a:pt x="939" y="1034"/>
                  </a:lnTo>
                  <a:lnTo>
                    <a:pt x="924" y="1030"/>
                  </a:lnTo>
                  <a:lnTo>
                    <a:pt x="909" y="1025"/>
                  </a:lnTo>
                  <a:lnTo>
                    <a:pt x="895" y="1019"/>
                  </a:lnTo>
                  <a:lnTo>
                    <a:pt x="881" y="1012"/>
                  </a:lnTo>
                  <a:lnTo>
                    <a:pt x="869" y="1006"/>
                  </a:lnTo>
                  <a:lnTo>
                    <a:pt x="855" y="999"/>
                  </a:lnTo>
                  <a:lnTo>
                    <a:pt x="843" y="992"/>
                  </a:lnTo>
                  <a:lnTo>
                    <a:pt x="832" y="984"/>
                  </a:lnTo>
                  <a:lnTo>
                    <a:pt x="821" y="976"/>
                  </a:lnTo>
                  <a:lnTo>
                    <a:pt x="810" y="968"/>
                  </a:lnTo>
                  <a:lnTo>
                    <a:pt x="800" y="958"/>
                  </a:lnTo>
                  <a:lnTo>
                    <a:pt x="790" y="949"/>
                  </a:lnTo>
                  <a:lnTo>
                    <a:pt x="782" y="940"/>
                  </a:lnTo>
                  <a:lnTo>
                    <a:pt x="774" y="931"/>
                  </a:lnTo>
                  <a:lnTo>
                    <a:pt x="766" y="922"/>
                  </a:lnTo>
                  <a:lnTo>
                    <a:pt x="759" y="911"/>
                  </a:lnTo>
                  <a:lnTo>
                    <a:pt x="752" y="902"/>
                  </a:lnTo>
                  <a:lnTo>
                    <a:pt x="746" y="892"/>
                  </a:lnTo>
                  <a:lnTo>
                    <a:pt x="741" y="883"/>
                  </a:lnTo>
                  <a:lnTo>
                    <a:pt x="737" y="873"/>
                  </a:lnTo>
                  <a:lnTo>
                    <a:pt x="733" y="863"/>
                  </a:lnTo>
                  <a:lnTo>
                    <a:pt x="730" y="853"/>
                  </a:lnTo>
                  <a:lnTo>
                    <a:pt x="728" y="844"/>
                  </a:lnTo>
                  <a:lnTo>
                    <a:pt x="726" y="835"/>
                  </a:lnTo>
                  <a:lnTo>
                    <a:pt x="725" y="826"/>
                  </a:lnTo>
                  <a:lnTo>
                    <a:pt x="725" y="816"/>
                  </a:lnTo>
                  <a:lnTo>
                    <a:pt x="725" y="801"/>
                  </a:lnTo>
                  <a:lnTo>
                    <a:pt x="726" y="787"/>
                  </a:lnTo>
                  <a:lnTo>
                    <a:pt x="728" y="774"/>
                  </a:lnTo>
                  <a:lnTo>
                    <a:pt x="731" y="761"/>
                  </a:lnTo>
                  <a:lnTo>
                    <a:pt x="734" y="750"/>
                  </a:lnTo>
                  <a:lnTo>
                    <a:pt x="739" y="740"/>
                  </a:lnTo>
                  <a:lnTo>
                    <a:pt x="744" y="731"/>
                  </a:lnTo>
                  <a:lnTo>
                    <a:pt x="749" y="723"/>
                  </a:lnTo>
                  <a:lnTo>
                    <a:pt x="759" y="712"/>
                  </a:lnTo>
                  <a:lnTo>
                    <a:pt x="745" y="713"/>
                  </a:lnTo>
                  <a:lnTo>
                    <a:pt x="714" y="716"/>
                  </a:lnTo>
                  <a:lnTo>
                    <a:pt x="682" y="720"/>
                  </a:lnTo>
                  <a:lnTo>
                    <a:pt x="650" y="723"/>
                  </a:lnTo>
                  <a:lnTo>
                    <a:pt x="619" y="727"/>
                  </a:lnTo>
                  <a:lnTo>
                    <a:pt x="586" y="731"/>
                  </a:lnTo>
                  <a:lnTo>
                    <a:pt x="555" y="735"/>
                  </a:lnTo>
                  <a:lnTo>
                    <a:pt x="523" y="740"/>
                  </a:lnTo>
                  <a:lnTo>
                    <a:pt x="491" y="745"/>
                  </a:lnTo>
                  <a:lnTo>
                    <a:pt x="487" y="745"/>
                  </a:lnTo>
                  <a:lnTo>
                    <a:pt x="487" y="749"/>
                  </a:lnTo>
                  <a:lnTo>
                    <a:pt x="478" y="795"/>
                  </a:lnTo>
                  <a:lnTo>
                    <a:pt x="470" y="841"/>
                  </a:lnTo>
                  <a:lnTo>
                    <a:pt x="462" y="886"/>
                  </a:lnTo>
                  <a:lnTo>
                    <a:pt x="455" y="931"/>
                  </a:lnTo>
                  <a:lnTo>
                    <a:pt x="448" y="976"/>
                  </a:lnTo>
                  <a:lnTo>
                    <a:pt x="443" y="1019"/>
                  </a:lnTo>
                  <a:lnTo>
                    <a:pt x="439" y="1061"/>
                  </a:lnTo>
                  <a:lnTo>
                    <a:pt x="435" y="1103"/>
                  </a:lnTo>
                  <a:lnTo>
                    <a:pt x="432" y="1143"/>
                  </a:lnTo>
                  <a:lnTo>
                    <a:pt x="429" y="1183"/>
                  </a:lnTo>
                  <a:lnTo>
                    <a:pt x="428" y="1221"/>
                  </a:lnTo>
                  <a:lnTo>
                    <a:pt x="427" y="1256"/>
                  </a:lnTo>
                  <a:lnTo>
                    <a:pt x="427" y="1291"/>
                  </a:lnTo>
                  <a:lnTo>
                    <a:pt x="428" y="1323"/>
                  </a:lnTo>
                  <a:lnTo>
                    <a:pt x="429" y="1353"/>
                  </a:lnTo>
                  <a:lnTo>
                    <a:pt x="432" y="1382"/>
                  </a:lnTo>
                  <a:lnTo>
                    <a:pt x="432" y="1391"/>
                  </a:lnTo>
                  <a:lnTo>
                    <a:pt x="431" y="1398"/>
                  </a:lnTo>
                  <a:lnTo>
                    <a:pt x="429" y="1405"/>
                  </a:lnTo>
                  <a:lnTo>
                    <a:pt x="426" y="1411"/>
                  </a:lnTo>
                  <a:lnTo>
                    <a:pt x="423" y="1414"/>
                  </a:lnTo>
                  <a:lnTo>
                    <a:pt x="420" y="1416"/>
                  </a:lnTo>
                  <a:lnTo>
                    <a:pt x="416" y="1418"/>
                  </a:lnTo>
                  <a:lnTo>
                    <a:pt x="413" y="1419"/>
                  </a:lnTo>
                  <a:lnTo>
                    <a:pt x="406" y="1420"/>
                  </a:lnTo>
                  <a:lnTo>
                    <a:pt x="398" y="1421"/>
                  </a:lnTo>
                  <a:lnTo>
                    <a:pt x="388" y="1420"/>
                  </a:lnTo>
                  <a:lnTo>
                    <a:pt x="378" y="1418"/>
                  </a:lnTo>
                  <a:lnTo>
                    <a:pt x="368" y="1414"/>
                  </a:lnTo>
                  <a:lnTo>
                    <a:pt x="359" y="1409"/>
                  </a:lnTo>
                  <a:lnTo>
                    <a:pt x="352" y="1403"/>
                  </a:lnTo>
                  <a:lnTo>
                    <a:pt x="344" y="1397"/>
                  </a:lnTo>
                  <a:lnTo>
                    <a:pt x="337" y="1390"/>
                  </a:lnTo>
                  <a:lnTo>
                    <a:pt x="331" y="1381"/>
                  </a:lnTo>
                  <a:lnTo>
                    <a:pt x="325" y="1372"/>
                  </a:lnTo>
                  <a:lnTo>
                    <a:pt x="319" y="1362"/>
                  </a:lnTo>
                  <a:lnTo>
                    <a:pt x="314" y="1349"/>
                  </a:lnTo>
                  <a:lnTo>
                    <a:pt x="310" y="1337"/>
                  </a:lnTo>
                  <a:lnTo>
                    <a:pt x="306" y="1323"/>
                  </a:lnTo>
                  <a:lnTo>
                    <a:pt x="302" y="1307"/>
                  </a:lnTo>
                  <a:lnTo>
                    <a:pt x="298" y="1292"/>
                  </a:lnTo>
                  <a:lnTo>
                    <a:pt x="295" y="1275"/>
                  </a:lnTo>
                  <a:lnTo>
                    <a:pt x="293" y="1256"/>
                  </a:lnTo>
                  <a:lnTo>
                    <a:pt x="291" y="1237"/>
                  </a:lnTo>
                  <a:lnTo>
                    <a:pt x="289" y="1217"/>
                  </a:lnTo>
                  <a:lnTo>
                    <a:pt x="288" y="1195"/>
                  </a:lnTo>
                  <a:lnTo>
                    <a:pt x="287" y="1154"/>
                  </a:lnTo>
                  <a:lnTo>
                    <a:pt x="288" y="1109"/>
                  </a:lnTo>
                  <a:lnTo>
                    <a:pt x="290" y="1060"/>
                  </a:lnTo>
                  <a:lnTo>
                    <a:pt x="294" y="1009"/>
                  </a:lnTo>
                  <a:lnTo>
                    <a:pt x="298" y="955"/>
                  </a:lnTo>
                  <a:lnTo>
                    <a:pt x="306" y="900"/>
                  </a:lnTo>
                  <a:lnTo>
                    <a:pt x="313" y="843"/>
                  </a:lnTo>
                  <a:lnTo>
                    <a:pt x="322" y="786"/>
                  </a:lnTo>
                  <a:lnTo>
                    <a:pt x="323" y="777"/>
                  </a:lnTo>
                  <a:lnTo>
                    <a:pt x="315" y="779"/>
                  </a:lnTo>
                  <a:lnTo>
                    <a:pt x="267" y="791"/>
                  </a:lnTo>
                  <a:lnTo>
                    <a:pt x="226" y="803"/>
                  </a:lnTo>
                  <a:lnTo>
                    <a:pt x="209" y="809"/>
                  </a:lnTo>
                  <a:lnTo>
                    <a:pt x="193" y="815"/>
                  </a:lnTo>
                  <a:lnTo>
                    <a:pt x="180" y="822"/>
                  </a:lnTo>
                  <a:lnTo>
                    <a:pt x="168" y="827"/>
                  </a:lnTo>
                  <a:lnTo>
                    <a:pt x="161" y="831"/>
                  </a:lnTo>
                  <a:lnTo>
                    <a:pt x="154" y="834"/>
                  </a:lnTo>
                  <a:lnTo>
                    <a:pt x="147" y="836"/>
                  </a:lnTo>
                  <a:lnTo>
                    <a:pt x="139" y="838"/>
                  </a:lnTo>
                  <a:lnTo>
                    <a:pt x="132" y="839"/>
                  </a:lnTo>
                  <a:lnTo>
                    <a:pt x="125" y="840"/>
                  </a:lnTo>
                  <a:lnTo>
                    <a:pt x="117" y="840"/>
                  </a:lnTo>
                  <a:lnTo>
                    <a:pt x="110" y="839"/>
                  </a:lnTo>
                  <a:lnTo>
                    <a:pt x="102" y="838"/>
                  </a:lnTo>
                  <a:lnTo>
                    <a:pt x="94" y="836"/>
                  </a:lnTo>
                  <a:lnTo>
                    <a:pt x="86" y="834"/>
                  </a:lnTo>
                  <a:lnTo>
                    <a:pt x="78" y="830"/>
                  </a:lnTo>
                  <a:lnTo>
                    <a:pt x="62" y="822"/>
                  </a:lnTo>
                  <a:lnTo>
                    <a:pt x="45" y="811"/>
                  </a:lnTo>
                  <a:lnTo>
                    <a:pt x="33" y="803"/>
                  </a:lnTo>
                  <a:lnTo>
                    <a:pt x="24" y="796"/>
                  </a:lnTo>
                  <a:lnTo>
                    <a:pt x="16" y="789"/>
                  </a:lnTo>
                  <a:lnTo>
                    <a:pt x="10" y="782"/>
                  </a:lnTo>
                  <a:lnTo>
                    <a:pt x="5" y="775"/>
                  </a:lnTo>
                  <a:lnTo>
                    <a:pt x="2" y="768"/>
                  </a:lnTo>
                  <a:lnTo>
                    <a:pt x="0" y="762"/>
                  </a:lnTo>
                  <a:lnTo>
                    <a:pt x="0" y="756"/>
                  </a:lnTo>
                  <a:lnTo>
                    <a:pt x="0" y="752"/>
                  </a:lnTo>
                  <a:lnTo>
                    <a:pt x="2" y="748"/>
                  </a:lnTo>
                  <a:lnTo>
                    <a:pt x="5" y="744"/>
                  </a:lnTo>
                  <a:lnTo>
                    <a:pt x="8" y="740"/>
                  </a:lnTo>
                  <a:lnTo>
                    <a:pt x="13" y="736"/>
                  </a:lnTo>
                  <a:lnTo>
                    <a:pt x="18" y="733"/>
                  </a:lnTo>
                  <a:lnTo>
                    <a:pt x="24" y="729"/>
                  </a:lnTo>
                  <a:lnTo>
                    <a:pt x="31" y="726"/>
                  </a:lnTo>
                  <a:lnTo>
                    <a:pt x="62" y="713"/>
                  </a:lnTo>
                  <a:lnTo>
                    <a:pt x="94" y="701"/>
                  </a:lnTo>
                  <a:lnTo>
                    <a:pt x="129" y="691"/>
                  </a:lnTo>
                  <a:lnTo>
                    <a:pt x="167" y="681"/>
                  </a:lnTo>
                  <a:lnTo>
                    <a:pt x="208" y="672"/>
                  </a:lnTo>
                  <a:lnTo>
                    <a:pt x="251" y="663"/>
                  </a:lnTo>
                  <a:lnTo>
                    <a:pt x="295" y="656"/>
                  </a:lnTo>
                  <a:lnTo>
                    <a:pt x="343" y="649"/>
                  </a:lnTo>
                  <a:lnTo>
                    <a:pt x="347" y="649"/>
                  </a:lnTo>
                  <a:lnTo>
                    <a:pt x="348" y="645"/>
                  </a:lnTo>
                  <a:lnTo>
                    <a:pt x="364" y="577"/>
                  </a:lnTo>
                  <a:lnTo>
                    <a:pt x="383" y="503"/>
                  </a:lnTo>
                  <a:lnTo>
                    <a:pt x="393" y="465"/>
                  </a:lnTo>
                  <a:lnTo>
                    <a:pt x="406" y="428"/>
                  </a:lnTo>
                  <a:lnTo>
                    <a:pt x="418" y="389"/>
                  </a:lnTo>
                  <a:lnTo>
                    <a:pt x="431" y="350"/>
                  </a:lnTo>
                  <a:lnTo>
                    <a:pt x="445" y="311"/>
                  </a:lnTo>
                  <a:lnTo>
                    <a:pt x="462" y="272"/>
                  </a:lnTo>
                  <a:lnTo>
                    <a:pt x="478" y="235"/>
                  </a:lnTo>
                  <a:lnTo>
                    <a:pt x="495" y="198"/>
                  </a:lnTo>
                  <a:lnTo>
                    <a:pt x="514" y="162"/>
                  </a:lnTo>
                  <a:lnTo>
                    <a:pt x="533" y="126"/>
                  </a:lnTo>
                  <a:lnTo>
                    <a:pt x="555" y="93"/>
                  </a:lnTo>
                  <a:lnTo>
                    <a:pt x="576" y="61"/>
                  </a:lnTo>
                  <a:lnTo>
                    <a:pt x="588" y="47"/>
                  </a:lnTo>
                  <a:lnTo>
                    <a:pt x="599" y="34"/>
                  </a:lnTo>
                  <a:lnTo>
                    <a:pt x="613" y="23"/>
                  </a:lnTo>
                  <a:lnTo>
                    <a:pt x="626" y="15"/>
                  </a:lnTo>
                  <a:lnTo>
                    <a:pt x="639" y="8"/>
                  </a:lnTo>
                  <a:lnTo>
                    <a:pt x="653" y="3"/>
                  </a:lnTo>
                  <a:lnTo>
                    <a:pt x="669" y="1"/>
                  </a:lnTo>
                  <a:lnTo>
                    <a:pt x="684" y="0"/>
                  </a:lnTo>
                  <a:lnTo>
                    <a:pt x="695" y="0"/>
                  </a:lnTo>
                  <a:lnTo>
                    <a:pt x="708" y="2"/>
                  </a:lnTo>
                  <a:lnTo>
                    <a:pt x="719" y="4"/>
                  </a:lnTo>
                  <a:lnTo>
                    <a:pt x="732" y="7"/>
                  </a:lnTo>
                  <a:lnTo>
                    <a:pt x="744" y="11"/>
                  </a:lnTo>
                  <a:lnTo>
                    <a:pt x="757" y="16"/>
                  </a:lnTo>
                  <a:lnTo>
                    <a:pt x="771" y="22"/>
                  </a:lnTo>
                  <a:lnTo>
                    <a:pt x="785" y="29"/>
                  </a:lnTo>
                  <a:lnTo>
                    <a:pt x="799" y="37"/>
                  </a:lnTo>
                  <a:lnTo>
                    <a:pt x="813" y="47"/>
                  </a:lnTo>
                  <a:lnTo>
                    <a:pt x="825" y="58"/>
                  </a:lnTo>
                  <a:lnTo>
                    <a:pt x="835" y="70"/>
                  </a:lnTo>
                  <a:lnTo>
                    <a:pt x="844" y="83"/>
                  </a:lnTo>
                  <a:lnTo>
                    <a:pt x="852" y="97"/>
                  </a:lnTo>
                  <a:lnTo>
                    <a:pt x="858" y="111"/>
                  </a:lnTo>
                  <a:lnTo>
                    <a:pt x="863" y="126"/>
                  </a:lnTo>
                  <a:lnTo>
                    <a:pt x="865" y="138"/>
                  </a:lnTo>
                  <a:lnTo>
                    <a:pt x="866" y="149"/>
                  </a:lnTo>
                  <a:lnTo>
                    <a:pt x="866" y="159"/>
                  </a:lnTo>
                  <a:lnTo>
                    <a:pt x="865" y="169"/>
                  </a:lnTo>
                  <a:lnTo>
                    <a:pt x="864" y="180"/>
                  </a:lnTo>
                  <a:lnTo>
                    <a:pt x="861" y="188"/>
                  </a:lnTo>
                  <a:lnTo>
                    <a:pt x="856" y="196"/>
                  </a:lnTo>
                  <a:lnTo>
                    <a:pt x="852" y="204"/>
                  </a:lnTo>
                  <a:lnTo>
                    <a:pt x="844" y="213"/>
                  </a:lnTo>
                  <a:lnTo>
                    <a:pt x="836" y="219"/>
                  </a:lnTo>
                  <a:lnTo>
                    <a:pt x="832" y="222"/>
                  </a:lnTo>
                  <a:lnTo>
                    <a:pt x="828" y="223"/>
                  </a:lnTo>
                  <a:lnTo>
                    <a:pt x="824" y="224"/>
                  </a:lnTo>
                  <a:lnTo>
                    <a:pt x="820" y="226"/>
                  </a:lnTo>
                  <a:lnTo>
                    <a:pt x="817" y="224"/>
                  </a:lnTo>
                  <a:lnTo>
                    <a:pt x="813" y="223"/>
                  </a:lnTo>
                  <a:lnTo>
                    <a:pt x="810" y="222"/>
                  </a:lnTo>
                  <a:lnTo>
                    <a:pt x="807" y="220"/>
                  </a:lnTo>
                  <a:lnTo>
                    <a:pt x="802" y="215"/>
                  </a:lnTo>
                  <a:lnTo>
                    <a:pt x="799" y="209"/>
                  </a:lnTo>
                  <a:lnTo>
                    <a:pt x="792" y="195"/>
                  </a:lnTo>
                  <a:lnTo>
                    <a:pt x="785" y="184"/>
                  </a:lnTo>
                  <a:lnTo>
                    <a:pt x="778" y="172"/>
                  </a:lnTo>
                  <a:lnTo>
                    <a:pt x="770" y="164"/>
                  </a:lnTo>
                  <a:lnTo>
                    <a:pt x="761" y="158"/>
                  </a:lnTo>
                  <a:lnTo>
                    <a:pt x="751" y="153"/>
                  </a:lnTo>
                  <a:lnTo>
                    <a:pt x="741" y="150"/>
                  </a:lnTo>
                  <a:lnTo>
                    <a:pt x="731" y="149"/>
                  </a:lnTo>
                  <a:lnTo>
                    <a:pt x="728" y="149"/>
                  </a:lnTo>
                  <a:lnTo>
                    <a:pt x="725" y="150"/>
                  </a:lnTo>
                  <a:lnTo>
                    <a:pt x="715" y="152"/>
                  </a:lnTo>
                  <a:lnTo>
                    <a:pt x="705" y="155"/>
                  </a:lnTo>
                  <a:lnTo>
                    <a:pt x="697" y="160"/>
                  </a:lnTo>
                  <a:lnTo>
                    <a:pt x="689" y="166"/>
                  </a:lnTo>
                  <a:lnTo>
                    <a:pt x="682" y="174"/>
                  </a:lnTo>
                  <a:lnTo>
                    <a:pt x="675" y="185"/>
                  </a:lnTo>
                  <a:lnTo>
                    <a:pt x="668" y="196"/>
                  </a:lnTo>
                  <a:lnTo>
                    <a:pt x="660" y="210"/>
                  </a:lnTo>
                  <a:lnTo>
                    <a:pt x="650" y="229"/>
                  </a:lnTo>
                  <a:lnTo>
                    <a:pt x="640" y="249"/>
                  </a:lnTo>
                  <a:lnTo>
                    <a:pt x="630" y="270"/>
                  </a:lnTo>
                  <a:lnTo>
                    <a:pt x="621" y="292"/>
                  </a:lnTo>
                  <a:lnTo>
                    <a:pt x="601" y="339"/>
                  </a:lnTo>
                  <a:lnTo>
                    <a:pt x="583" y="390"/>
                  </a:lnTo>
                  <a:lnTo>
                    <a:pt x="565" y="444"/>
                  </a:lnTo>
                  <a:lnTo>
                    <a:pt x="547" y="502"/>
                  </a:lnTo>
                  <a:lnTo>
                    <a:pt x="530" y="562"/>
                  </a:lnTo>
                  <a:lnTo>
                    <a:pt x="514" y="627"/>
                  </a:lnTo>
                  <a:lnTo>
                    <a:pt x="512" y="634"/>
                  </a:lnTo>
                  <a:lnTo>
                    <a:pt x="520" y="634"/>
                  </a:lnTo>
                  <a:lnTo>
                    <a:pt x="551" y="632"/>
                  </a:lnTo>
                  <a:lnTo>
                    <a:pt x="584" y="630"/>
                  </a:lnTo>
                  <a:lnTo>
                    <a:pt x="618" y="629"/>
                  </a:lnTo>
                  <a:lnTo>
                    <a:pt x="652" y="628"/>
                  </a:lnTo>
                  <a:lnTo>
                    <a:pt x="688" y="627"/>
                  </a:lnTo>
                  <a:lnTo>
                    <a:pt x="724" y="627"/>
                  </a:lnTo>
                  <a:lnTo>
                    <a:pt x="761" y="626"/>
                  </a:lnTo>
                  <a:lnTo>
                    <a:pt x="798" y="626"/>
                  </a:lnTo>
                  <a:lnTo>
                    <a:pt x="821" y="626"/>
                  </a:lnTo>
                  <a:lnTo>
                    <a:pt x="843" y="626"/>
                  </a:lnTo>
                  <a:lnTo>
                    <a:pt x="867" y="627"/>
                  </a:lnTo>
                  <a:lnTo>
                    <a:pt x="889" y="627"/>
                  </a:lnTo>
                  <a:lnTo>
                    <a:pt x="892" y="627"/>
                  </a:lnTo>
                  <a:lnTo>
                    <a:pt x="893" y="625"/>
                  </a:lnTo>
                  <a:lnTo>
                    <a:pt x="909" y="610"/>
                  </a:lnTo>
                  <a:lnTo>
                    <a:pt x="926" y="598"/>
                  </a:lnTo>
                  <a:lnTo>
                    <a:pt x="943" y="587"/>
                  </a:lnTo>
                  <a:lnTo>
                    <a:pt x="961" y="578"/>
                  </a:lnTo>
                  <a:lnTo>
                    <a:pt x="980" y="570"/>
                  </a:lnTo>
                  <a:lnTo>
                    <a:pt x="998" y="565"/>
                  </a:lnTo>
                  <a:lnTo>
                    <a:pt x="1007" y="563"/>
                  </a:lnTo>
                  <a:lnTo>
                    <a:pt x="1018" y="562"/>
                  </a:lnTo>
                  <a:lnTo>
                    <a:pt x="1027" y="561"/>
                  </a:lnTo>
                  <a:lnTo>
                    <a:pt x="1036" y="561"/>
                  </a:lnTo>
                  <a:lnTo>
                    <a:pt x="1095" y="622"/>
                  </a:lnTo>
                  <a:lnTo>
                    <a:pt x="1056" y="68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1" name="Freeform 45"/>
            <p:cNvSpPr>
              <a:spLocks/>
            </p:cNvSpPr>
            <p:nvPr userDrawn="1"/>
          </p:nvSpPr>
          <p:spPr bwMode="auto">
            <a:xfrm>
              <a:off x="6462" y="602"/>
              <a:ext cx="36" cy="42"/>
            </a:xfrm>
            <a:custGeom>
              <a:avLst/>
              <a:gdLst>
                <a:gd name="T0" fmla="*/ 212 w 427"/>
                <a:gd name="T1" fmla="*/ 377 h 496"/>
                <a:gd name="T2" fmla="*/ 201 w 427"/>
                <a:gd name="T3" fmla="*/ 371 h 496"/>
                <a:gd name="T4" fmla="*/ 196 w 427"/>
                <a:gd name="T5" fmla="*/ 364 h 496"/>
                <a:gd name="T6" fmla="*/ 193 w 427"/>
                <a:gd name="T7" fmla="*/ 355 h 496"/>
                <a:gd name="T8" fmla="*/ 192 w 427"/>
                <a:gd name="T9" fmla="*/ 345 h 496"/>
                <a:gd name="T10" fmla="*/ 193 w 427"/>
                <a:gd name="T11" fmla="*/ 333 h 496"/>
                <a:gd name="T12" fmla="*/ 199 w 427"/>
                <a:gd name="T13" fmla="*/ 315 h 496"/>
                <a:gd name="T14" fmla="*/ 213 w 427"/>
                <a:gd name="T15" fmla="*/ 286 h 496"/>
                <a:gd name="T16" fmla="*/ 235 w 427"/>
                <a:gd name="T17" fmla="*/ 250 h 496"/>
                <a:gd name="T18" fmla="*/ 260 w 427"/>
                <a:gd name="T19" fmla="*/ 212 h 496"/>
                <a:gd name="T20" fmla="*/ 289 w 427"/>
                <a:gd name="T21" fmla="*/ 174 h 496"/>
                <a:gd name="T22" fmla="*/ 318 w 427"/>
                <a:gd name="T23" fmla="*/ 142 h 496"/>
                <a:gd name="T24" fmla="*/ 346 w 427"/>
                <a:gd name="T25" fmla="*/ 116 h 496"/>
                <a:gd name="T26" fmla="*/ 365 w 427"/>
                <a:gd name="T27" fmla="*/ 104 h 496"/>
                <a:gd name="T28" fmla="*/ 377 w 427"/>
                <a:gd name="T29" fmla="*/ 101 h 496"/>
                <a:gd name="T30" fmla="*/ 427 w 427"/>
                <a:gd name="T31" fmla="*/ 50 h 496"/>
                <a:gd name="T32" fmla="*/ 359 w 427"/>
                <a:gd name="T33" fmla="*/ 1 h 496"/>
                <a:gd name="T34" fmla="*/ 331 w 427"/>
                <a:gd name="T35" fmla="*/ 6 h 496"/>
                <a:gd name="T36" fmla="*/ 301 w 427"/>
                <a:gd name="T37" fmla="*/ 17 h 496"/>
                <a:gd name="T38" fmla="*/ 272 w 427"/>
                <a:gd name="T39" fmla="*/ 31 h 496"/>
                <a:gd name="T40" fmla="*/ 241 w 427"/>
                <a:gd name="T41" fmla="*/ 50 h 496"/>
                <a:gd name="T42" fmla="*/ 210 w 427"/>
                <a:gd name="T43" fmla="*/ 72 h 496"/>
                <a:gd name="T44" fmla="*/ 167 w 427"/>
                <a:gd name="T45" fmla="*/ 109 h 496"/>
                <a:gd name="T46" fmla="*/ 112 w 427"/>
                <a:gd name="T47" fmla="*/ 165 h 496"/>
                <a:gd name="T48" fmla="*/ 66 w 427"/>
                <a:gd name="T49" fmla="*/ 222 h 496"/>
                <a:gd name="T50" fmla="*/ 37 w 427"/>
                <a:gd name="T51" fmla="*/ 264 h 496"/>
                <a:gd name="T52" fmla="*/ 22 w 427"/>
                <a:gd name="T53" fmla="*/ 291 h 496"/>
                <a:gd name="T54" fmla="*/ 10 w 427"/>
                <a:gd name="T55" fmla="*/ 315 h 496"/>
                <a:gd name="T56" fmla="*/ 3 w 427"/>
                <a:gd name="T57" fmla="*/ 337 h 496"/>
                <a:gd name="T58" fmla="*/ 0 w 427"/>
                <a:gd name="T59" fmla="*/ 356 h 496"/>
                <a:gd name="T60" fmla="*/ 1 w 427"/>
                <a:gd name="T61" fmla="*/ 374 h 496"/>
                <a:gd name="T62" fmla="*/ 7 w 427"/>
                <a:gd name="T63" fmla="*/ 394 h 496"/>
                <a:gd name="T64" fmla="*/ 19 w 427"/>
                <a:gd name="T65" fmla="*/ 412 h 496"/>
                <a:gd name="T66" fmla="*/ 33 w 427"/>
                <a:gd name="T67" fmla="*/ 429 h 496"/>
                <a:gd name="T68" fmla="*/ 51 w 427"/>
                <a:gd name="T69" fmla="*/ 445 h 496"/>
                <a:gd name="T70" fmla="*/ 72 w 427"/>
                <a:gd name="T71" fmla="*/ 459 h 496"/>
                <a:gd name="T72" fmla="*/ 94 w 427"/>
                <a:gd name="T73" fmla="*/ 471 h 496"/>
                <a:gd name="T74" fmla="*/ 119 w 427"/>
                <a:gd name="T75" fmla="*/ 482 h 496"/>
                <a:gd name="T76" fmla="*/ 144 w 427"/>
                <a:gd name="T77" fmla="*/ 490 h 496"/>
                <a:gd name="T78" fmla="*/ 169 w 427"/>
                <a:gd name="T79" fmla="*/ 494 h 496"/>
                <a:gd name="T80" fmla="*/ 193 w 427"/>
                <a:gd name="T81" fmla="*/ 496 h 496"/>
                <a:gd name="T82" fmla="*/ 262 w 427"/>
                <a:gd name="T83" fmla="*/ 437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427" h="496">
                  <a:moveTo>
                    <a:pt x="222" y="377"/>
                  </a:moveTo>
                  <a:lnTo>
                    <a:pt x="212" y="377"/>
                  </a:lnTo>
                  <a:lnTo>
                    <a:pt x="206" y="374"/>
                  </a:lnTo>
                  <a:lnTo>
                    <a:pt x="201" y="371"/>
                  </a:lnTo>
                  <a:lnTo>
                    <a:pt x="198" y="367"/>
                  </a:lnTo>
                  <a:lnTo>
                    <a:pt x="196" y="364"/>
                  </a:lnTo>
                  <a:lnTo>
                    <a:pt x="194" y="359"/>
                  </a:lnTo>
                  <a:lnTo>
                    <a:pt x="193" y="355"/>
                  </a:lnTo>
                  <a:lnTo>
                    <a:pt x="192" y="350"/>
                  </a:lnTo>
                  <a:lnTo>
                    <a:pt x="192" y="345"/>
                  </a:lnTo>
                  <a:lnTo>
                    <a:pt x="192" y="339"/>
                  </a:lnTo>
                  <a:lnTo>
                    <a:pt x="193" y="333"/>
                  </a:lnTo>
                  <a:lnTo>
                    <a:pt x="195" y="326"/>
                  </a:lnTo>
                  <a:lnTo>
                    <a:pt x="199" y="315"/>
                  </a:lnTo>
                  <a:lnTo>
                    <a:pt x="205" y="302"/>
                  </a:lnTo>
                  <a:lnTo>
                    <a:pt x="213" y="286"/>
                  </a:lnTo>
                  <a:lnTo>
                    <a:pt x="224" y="268"/>
                  </a:lnTo>
                  <a:lnTo>
                    <a:pt x="235" y="250"/>
                  </a:lnTo>
                  <a:lnTo>
                    <a:pt x="247" y="231"/>
                  </a:lnTo>
                  <a:lnTo>
                    <a:pt x="260" y="212"/>
                  </a:lnTo>
                  <a:lnTo>
                    <a:pt x="275" y="193"/>
                  </a:lnTo>
                  <a:lnTo>
                    <a:pt x="289" y="174"/>
                  </a:lnTo>
                  <a:lnTo>
                    <a:pt x="303" y="157"/>
                  </a:lnTo>
                  <a:lnTo>
                    <a:pt x="318" y="142"/>
                  </a:lnTo>
                  <a:lnTo>
                    <a:pt x="333" y="127"/>
                  </a:lnTo>
                  <a:lnTo>
                    <a:pt x="346" y="116"/>
                  </a:lnTo>
                  <a:lnTo>
                    <a:pt x="359" y="107"/>
                  </a:lnTo>
                  <a:lnTo>
                    <a:pt x="365" y="104"/>
                  </a:lnTo>
                  <a:lnTo>
                    <a:pt x="372" y="102"/>
                  </a:lnTo>
                  <a:lnTo>
                    <a:pt x="377" y="101"/>
                  </a:lnTo>
                  <a:lnTo>
                    <a:pt x="383" y="100"/>
                  </a:lnTo>
                  <a:lnTo>
                    <a:pt x="427" y="50"/>
                  </a:lnTo>
                  <a:lnTo>
                    <a:pt x="373" y="0"/>
                  </a:lnTo>
                  <a:lnTo>
                    <a:pt x="359" y="1"/>
                  </a:lnTo>
                  <a:lnTo>
                    <a:pt x="345" y="3"/>
                  </a:lnTo>
                  <a:lnTo>
                    <a:pt x="331" y="6"/>
                  </a:lnTo>
                  <a:lnTo>
                    <a:pt x="316" y="11"/>
                  </a:lnTo>
                  <a:lnTo>
                    <a:pt x="301" y="17"/>
                  </a:lnTo>
                  <a:lnTo>
                    <a:pt x="286" y="23"/>
                  </a:lnTo>
                  <a:lnTo>
                    <a:pt x="272" y="31"/>
                  </a:lnTo>
                  <a:lnTo>
                    <a:pt x="256" y="41"/>
                  </a:lnTo>
                  <a:lnTo>
                    <a:pt x="241" y="50"/>
                  </a:lnTo>
                  <a:lnTo>
                    <a:pt x="226" y="61"/>
                  </a:lnTo>
                  <a:lnTo>
                    <a:pt x="210" y="72"/>
                  </a:lnTo>
                  <a:lnTo>
                    <a:pt x="196" y="83"/>
                  </a:lnTo>
                  <a:lnTo>
                    <a:pt x="167" y="109"/>
                  </a:lnTo>
                  <a:lnTo>
                    <a:pt x="139" y="137"/>
                  </a:lnTo>
                  <a:lnTo>
                    <a:pt x="112" y="165"/>
                  </a:lnTo>
                  <a:lnTo>
                    <a:pt x="88" y="194"/>
                  </a:lnTo>
                  <a:lnTo>
                    <a:pt x="66" y="222"/>
                  </a:lnTo>
                  <a:lnTo>
                    <a:pt x="45" y="251"/>
                  </a:lnTo>
                  <a:lnTo>
                    <a:pt x="37" y="264"/>
                  </a:lnTo>
                  <a:lnTo>
                    <a:pt x="29" y="278"/>
                  </a:lnTo>
                  <a:lnTo>
                    <a:pt x="22" y="291"/>
                  </a:lnTo>
                  <a:lnTo>
                    <a:pt x="16" y="303"/>
                  </a:lnTo>
                  <a:lnTo>
                    <a:pt x="10" y="315"/>
                  </a:lnTo>
                  <a:lnTo>
                    <a:pt x="6" y="326"/>
                  </a:lnTo>
                  <a:lnTo>
                    <a:pt x="3" y="337"/>
                  </a:lnTo>
                  <a:lnTo>
                    <a:pt x="1" y="346"/>
                  </a:lnTo>
                  <a:lnTo>
                    <a:pt x="0" y="356"/>
                  </a:lnTo>
                  <a:lnTo>
                    <a:pt x="0" y="365"/>
                  </a:lnTo>
                  <a:lnTo>
                    <a:pt x="1" y="374"/>
                  </a:lnTo>
                  <a:lnTo>
                    <a:pt x="4" y="385"/>
                  </a:lnTo>
                  <a:lnTo>
                    <a:pt x="7" y="394"/>
                  </a:lnTo>
                  <a:lnTo>
                    <a:pt x="13" y="403"/>
                  </a:lnTo>
                  <a:lnTo>
                    <a:pt x="19" y="412"/>
                  </a:lnTo>
                  <a:lnTo>
                    <a:pt x="26" y="420"/>
                  </a:lnTo>
                  <a:lnTo>
                    <a:pt x="33" y="429"/>
                  </a:lnTo>
                  <a:lnTo>
                    <a:pt x="42" y="437"/>
                  </a:lnTo>
                  <a:lnTo>
                    <a:pt x="51" y="445"/>
                  </a:lnTo>
                  <a:lnTo>
                    <a:pt x="61" y="452"/>
                  </a:lnTo>
                  <a:lnTo>
                    <a:pt x="72" y="459"/>
                  </a:lnTo>
                  <a:lnTo>
                    <a:pt x="83" y="465"/>
                  </a:lnTo>
                  <a:lnTo>
                    <a:pt x="94" y="471"/>
                  </a:lnTo>
                  <a:lnTo>
                    <a:pt x="106" y="476"/>
                  </a:lnTo>
                  <a:lnTo>
                    <a:pt x="119" y="482"/>
                  </a:lnTo>
                  <a:lnTo>
                    <a:pt x="131" y="486"/>
                  </a:lnTo>
                  <a:lnTo>
                    <a:pt x="144" y="490"/>
                  </a:lnTo>
                  <a:lnTo>
                    <a:pt x="156" y="492"/>
                  </a:lnTo>
                  <a:lnTo>
                    <a:pt x="169" y="494"/>
                  </a:lnTo>
                  <a:lnTo>
                    <a:pt x="181" y="496"/>
                  </a:lnTo>
                  <a:lnTo>
                    <a:pt x="193" y="496"/>
                  </a:lnTo>
                  <a:lnTo>
                    <a:pt x="204" y="496"/>
                  </a:lnTo>
                  <a:lnTo>
                    <a:pt x="262" y="437"/>
                  </a:lnTo>
                  <a:lnTo>
                    <a:pt x="222" y="377"/>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2" name="Freeform 46"/>
            <p:cNvSpPr>
              <a:spLocks/>
            </p:cNvSpPr>
            <p:nvPr userDrawn="1"/>
          </p:nvSpPr>
          <p:spPr bwMode="auto">
            <a:xfrm>
              <a:off x="7208" y="606"/>
              <a:ext cx="34" cy="28"/>
            </a:xfrm>
            <a:custGeom>
              <a:avLst/>
              <a:gdLst>
                <a:gd name="T0" fmla="*/ 217 w 410"/>
                <a:gd name="T1" fmla="*/ 96 h 335"/>
                <a:gd name="T2" fmla="*/ 233 w 410"/>
                <a:gd name="T3" fmla="*/ 100 h 335"/>
                <a:gd name="T4" fmla="*/ 248 w 410"/>
                <a:gd name="T5" fmla="*/ 107 h 335"/>
                <a:gd name="T6" fmla="*/ 258 w 410"/>
                <a:gd name="T7" fmla="*/ 117 h 335"/>
                <a:gd name="T8" fmla="*/ 264 w 410"/>
                <a:gd name="T9" fmla="*/ 129 h 335"/>
                <a:gd name="T10" fmla="*/ 265 w 410"/>
                <a:gd name="T11" fmla="*/ 141 h 335"/>
                <a:gd name="T12" fmla="*/ 263 w 410"/>
                <a:gd name="T13" fmla="*/ 155 h 335"/>
                <a:gd name="T14" fmla="*/ 256 w 410"/>
                <a:gd name="T15" fmla="*/ 169 h 335"/>
                <a:gd name="T16" fmla="*/ 245 w 410"/>
                <a:gd name="T17" fmla="*/ 183 h 335"/>
                <a:gd name="T18" fmla="*/ 227 w 410"/>
                <a:gd name="T19" fmla="*/ 199 h 335"/>
                <a:gd name="T20" fmla="*/ 208 w 410"/>
                <a:gd name="T21" fmla="*/ 211 h 335"/>
                <a:gd name="T22" fmla="*/ 185 w 410"/>
                <a:gd name="T23" fmla="*/ 221 h 335"/>
                <a:gd name="T24" fmla="*/ 151 w 410"/>
                <a:gd name="T25" fmla="*/ 233 h 335"/>
                <a:gd name="T26" fmla="*/ 107 w 410"/>
                <a:gd name="T27" fmla="*/ 245 h 335"/>
                <a:gd name="T28" fmla="*/ 81 w 410"/>
                <a:gd name="T29" fmla="*/ 249 h 335"/>
                <a:gd name="T30" fmla="*/ 112 w 410"/>
                <a:gd name="T31" fmla="*/ 335 h 335"/>
                <a:gd name="T32" fmla="*/ 144 w 410"/>
                <a:gd name="T33" fmla="*/ 331 h 335"/>
                <a:gd name="T34" fmla="*/ 189 w 410"/>
                <a:gd name="T35" fmla="*/ 321 h 335"/>
                <a:gd name="T36" fmla="*/ 232 w 410"/>
                <a:gd name="T37" fmla="*/ 308 h 335"/>
                <a:gd name="T38" fmla="*/ 275 w 410"/>
                <a:gd name="T39" fmla="*/ 292 h 335"/>
                <a:gd name="T40" fmla="*/ 315 w 410"/>
                <a:gd name="T41" fmla="*/ 273 h 335"/>
                <a:gd name="T42" fmla="*/ 349 w 410"/>
                <a:gd name="T43" fmla="*/ 253 h 335"/>
                <a:gd name="T44" fmla="*/ 376 w 410"/>
                <a:gd name="T45" fmla="*/ 232 h 335"/>
                <a:gd name="T46" fmla="*/ 395 w 410"/>
                <a:gd name="T47" fmla="*/ 212 h 335"/>
                <a:gd name="T48" fmla="*/ 404 w 410"/>
                <a:gd name="T49" fmla="*/ 194 h 335"/>
                <a:gd name="T50" fmla="*/ 408 w 410"/>
                <a:gd name="T51" fmla="*/ 177 h 335"/>
                <a:gd name="T52" fmla="*/ 410 w 410"/>
                <a:gd name="T53" fmla="*/ 162 h 335"/>
                <a:gd name="T54" fmla="*/ 409 w 410"/>
                <a:gd name="T55" fmla="*/ 147 h 335"/>
                <a:gd name="T56" fmla="*/ 405 w 410"/>
                <a:gd name="T57" fmla="*/ 126 h 335"/>
                <a:gd name="T58" fmla="*/ 395 w 410"/>
                <a:gd name="T59" fmla="*/ 103 h 335"/>
                <a:gd name="T60" fmla="*/ 381 w 410"/>
                <a:gd name="T61" fmla="*/ 83 h 335"/>
                <a:gd name="T62" fmla="*/ 365 w 410"/>
                <a:gd name="T63" fmla="*/ 64 h 335"/>
                <a:gd name="T64" fmla="*/ 346 w 410"/>
                <a:gd name="T65" fmla="*/ 48 h 335"/>
                <a:gd name="T66" fmla="*/ 323 w 410"/>
                <a:gd name="T67" fmla="*/ 32 h 335"/>
                <a:gd name="T68" fmla="*/ 301 w 410"/>
                <a:gd name="T69" fmla="*/ 20 h 335"/>
                <a:gd name="T70" fmla="*/ 276 w 410"/>
                <a:gd name="T71" fmla="*/ 11 h 335"/>
                <a:gd name="T72" fmla="*/ 251 w 410"/>
                <a:gd name="T73" fmla="*/ 4 h 335"/>
                <a:gd name="T74" fmla="*/ 225 w 410"/>
                <a:gd name="T75" fmla="*/ 1 h 335"/>
                <a:gd name="T76" fmla="*/ 162 w 410"/>
                <a:gd name="T77" fmla="*/ 56 h 33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0" h="335">
                  <a:moveTo>
                    <a:pt x="209" y="96"/>
                  </a:moveTo>
                  <a:lnTo>
                    <a:pt x="217" y="96"/>
                  </a:lnTo>
                  <a:lnTo>
                    <a:pt x="226" y="98"/>
                  </a:lnTo>
                  <a:lnTo>
                    <a:pt x="233" y="100"/>
                  </a:lnTo>
                  <a:lnTo>
                    <a:pt x="241" y="103"/>
                  </a:lnTo>
                  <a:lnTo>
                    <a:pt x="248" y="107"/>
                  </a:lnTo>
                  <a:lnTo>
                    <a:pt x="253" y="111"/>
                  </a:lnTo>
                  <a:lnTo>
                    <a:pt x="258" y="117"/>
                  </a:lnTo>
                  <a:lnTo>
                    <a:pt x="261" y="123"/>
                  </a:lnTo>
                  <a:lnTo>
                    <a:pt x="264" y="129"/>
                  </a:lnTo>
                  <a:lnTo>
                    <a:pt x="265" y="135"/>
                  </a:lnTo>
                  <a:lnTo>
                    <a:pt x="265" y="141"/>
                  </a:lnTo>
                  <a:lnTo>
                    <a:pt x="264" y="148"/>
                  </a:lnTo>
                  <a:lnTo>
                    <a:pt x="263" y="155"/>
                  </a:lnTo>
                  <a:lnTo>
                    <a:pt x="260" y="162"/>
                  </a:lnTo>
                  <a:lnTo>
                    <a:pt x="256" y="169"/>
                  </a:lnTo>
                  <a:lnTo>
                    <a:pt x="252" y="175"/>
                  </a:lnTo>
                  <a:lnTo>
                    <a:pt x="245" y="183"/>
                  </a:lnTo>
                  <a:lnTo>
                    <a:pt x="236" y="192"/>
                  </a:lnTo>
                  <a:lnTo>
                    <a:pt x="227" y="199"/>
                  </a:lnTo>
                  <a:lnTo>
                    <a:pt x="218" y="205"/>
                  </a:lnTo>
                  <a:lnTo>
                    <a:pt x="208" y="211"/>
                  </a:lnTo>
                  <a:lnTo>
                    <a:pt x="197" y="216"/>
                  </a:lnTo>
                  <a:lnTo>
                    <a:pt x="185" y="221"/>
                  </a:lnTo>
                  <a:lnTo>
                    <a:pt x="174" y="226"/>
                  </a:lnTo>
                  <a:lnTo>
                    <a:pt x="151" y="233"/>
                  </a:lnTo>
                  <a:lnTo>
                    <a:pt x="128" y="239"/>
                  </a:lnTo>
                  <a:lnTo>
                    <a:pt x="107" y="245"/>
                  </a:lnTo>
                  <a:lnTo>
                    <a:pt x="88" y="248"/>
                  </a:lnTo>
                  <a:lnTo>
                    <a:pt x="81" y="249"/>
                  </a:lnTo>
                  <a:lnTo>
                    <a:pt x="0" y="328"/>
                  </a:lnTo>
                  <a:lnTo>
                    <a:pt x="112" y="335"/>
                  </a:lnTo>
                  <a:lnTo>
                    <a:pt x="121" y="334"/>
                  </a:lnTo>
                  <a:lnTo>
                    <a:pt x="144" y="331"/>
                  </a:lnTo>
                  <a:lnTo>
                    <a:pt x="165" y="326"/>
                  </a:lnTo>
                  <a:lnTo>
                    <a:pt x="189" y="321"/>
                  </a:lnTo>
                  <a:lnTo>
                    <a:pt x="211" y="315"/>
                  </a:lnTo>
                  <a:lnTo>
                    <a:pt x="232" y="308"/>
                  </a:lnTo>
                  <a:lnTo>
                    <a:pt x="255" y="300"/>
                  </a:lnTo>
                  <a:lnTo>
                    <a:pt x="275" y="292"/>
                  </a:lnTo>
                  <a:lnTo>
                    <a:pt x="296" y="282"/>
                  </a:lnTo>
                  <a:lnTo>
                    <a:pt x="315" y="273"/>
                  </a:lnTo>
                  <a:lnTo>
                    <a:pt x="332" y="263"/>
                  </a:lnTo>
                  <a:lnTo>
                    <a:pt x="349" y="253"/>
                  </a:lnTo>
                  <a:lnTo>
                    <a:pt x="363" y="243"/>
                  </a:lnTo>
                  <a:lnTo>
                    <a:pt x="376" y="232"/>
                  </a:lnTo>
                  <a:lnTo>
                    <a:pt x="386" y="222"/>
                  </a:lnTo>
                  <a:lnTo>
                    <a:pt x="395" y="212"/>
                  </a:lnTo>
                  <a:lnTo>
                    <a:pt x="400" y="203"/>
                  </a:lnTo>
                  <a:lnTo>
                    <a:pt x="404" y="194"/>
                  </a:lnTo>
                  <a:lnTo>
                    <a:pt x="406" y="185"/>
                  </a:lnTo>
                  <a:lnTo>
                    <a:pt x="408" y="177"/>
                  </a:lnTo>
                  <a:lnTo>
                    <a:pt x="409" y="169"/>
                  </a:lnTo>
                  <a:lnTo>
                    <a:pt x="410" y="162"/>
                  </a:lnTo>
                  <a:lnTo>
                    <a:pt x="409" y="154"/>
                  </a:lnTo>
                  <a:lnTo>
                    <a:pt x="409" y="147"/>
                  </a:lnTo>
                  <a:lnTo>
                    <a:pt x="408" y="139"/>
                  </a:lnTo>
                  <a:lnTo>
                    <a:pt x="405" y="126"/>
                  </a:lnTo>
                  <a:lnTo>
                    <a:pt x="400" y="114"/>
                  </a:lnTo>
                  <a:lnTo>
                    <a:pt x="395" y="103"/>
                  </a:lnTo>
                  <a:lnTo>
                    <a:pt x="388" y="93"/>
                  </a:lnTo>
                  <a:lnTo>
                    <a:pt x="381" y="83"/>
                  </a:lnTo>
                  <a:lnTo>
                    <a:pt x="373" y="73"/>
                  </a:lnTo>
                  <a:lnTo>
                    <a:pt x="365" y="64"/>
                  </a:lnTo>
                  <a:lnTo>
                    <a:pt x="355" y="56"/>
                  </a:lnTo>
                  <a:lnTo>
                    <a:pt x="346" y="48"/>
                  </a:lnTo>
                  <a:lnTo>
                    <a:pt x="334" y="39"/>
                  </a:lnTo>
                  <a:lnTo>
                    <a:pt x="323" y="32"/>
                  </a:lnTo>
                  <a:lnTo>
                    <a:pt x="312" y="26"/>
                  </a:lnTo>
                  <a:lnTo>
                    <a:pt x="301" y="20"/>
                  </a:lnTo>
                  <a:lnTo>
                    <a:pt x="288" y="15"/>
                  </a:lnTo>
                  <a:lnTo>
                    <a:pt x="276" y="11"/>
                  </a:lnTo>
                  <a:lnTo>
                    <a:pt x="263" y="7"/>
                  </a:lnTo>
                  <a:lnTo>
                    <a:pt x="251" y="4"/>
                  </a:lnTo>
                  <a:lnTo>
                    <a:pt x="239" y="2"/>
                  </a:lnTo>
                  <a:lnTo>
                    <a:pt x="225" y="1"/>
                  </a:lnTo>
                  <a:lnTo>
                    <a:pt x="213" y="0"/>
                  </a:lnTo>
                  <a:lnTo>
                    <a:pt x="162" y="56"/>
                  </a:lnTo>
                  <a:lnTo>
                    <a:pt x="209" y="96"/>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3" name="Freeform 47"/>
            <p:cNvSpPr>
              <a:spLocks/>
            </p:cNvSpPr>
            <p:nvPr userDrawn="1"/>
          </p:nvSpPr>
          <p:spPr bwMode="auto">
            <a:xfrm>
              <a:off x="7156" y="565"/>
              <a:ext cx="109" cy="121"/>
            </a:xfrm>
            <a:custGeom>
              <a:avLst/>
              <a:gdLst>
                <a:gd name="T0" fmla="*/ 802 w 1307"/>
                <a:gd name="T1" fmla="*/ 593 h 1456"/>
                <a:gd name="T2" fmla="*/ 746 w 1307"/>
                <a:gd name="T3" fmla="*/ 629 h 1456"/>
                <a:gd name="T4" fmla="*/ 713 w 1307"/>
                <a:gd name="T5" fmla="*/ 692 h 1456"/>
                <a:gd name="T6" fmla="*/ 748 w 1307"/>
                <a:gd name="T7" fmla="*/ 832 h 1456"/>
                <a:gd name="T8" fmla="*/ 838 w 1307"/>
                <a:gd name="T9" fmla="*/ 916 h 1456"/>
                <a:gd name="T10" fmla="*/ 970 w 1307"/>
                <a:gd name="T11" fmla="*/ 963 h 1456"/>
                <a:gd name="T12" fmla="*/ 1127 w 1307"/>
                <a:gd name="T13" fmla="*/ 971 h 1456"/>
                <a:gd name="T14" fmla="*/ 1282 w 1307"/>
                <a:gd name="T15" fmla="*/ 944 h 1456"/>
                <a:gd name="T16" fmla="*/ 1306 w 1307"/>
                <a:gd name="T17" fmla="*/ 948 h 1456"/>
                <a:gd name="T18" fmla="*/ 1299 w 1307"/>
                <a:gd name="T19" fmla="*/ 972 h 1456"/>
                <a:gd name="T20" fmla="*/ 1255 w 1307"/>
                <a:gd name="T21" fmla="*/ 1007 h 1456"/>
                <a:gd name="T22" fmla="*/ 1166 w 1307"/>
                <a:gd name="T23" fmla="*/ 1042 h 1456"/>
                <a:gd name="T24" fmla="*/ 1051 w 1307"/>
                <a:gd name="T25" fmla="*/ 1057 h 1456"/>
                <a:gd name="T26" fmla="*/ 851 w 1307"/>
                <a:gd name="T27" fmla="*/ 1032 h 1456"/>
                <a:gd name="T28" fmla="*/ 687 w 1307"/>
                <a:gd name="T29" fmla="*/ 959 h 1456"/>
                <a:gd name="T30" fmla="*/ 585 w 1307"/>
                <a:gd name="T31" fmla="*/ 864 h 1456"/>
                <a:gd name="T32" fmla="*/ 547 w 1307"/>
                <a:gd name="T33" fmla="*/ 796 h 1456"/>
                <a:gd name="T34" fmla="*/ 533 w 1307"/>
                <a:gd name="T35" fmla="*/ 728 h 1456"/>
                <a:gd name="T36" fmla="*/ 471 w 1307"/>
                <a:gd name="T37" fmla="*/ 717 h 1456"/>
                <a:gd name="T38" fmla="*/ 295 w 1307"/>
                <a:gd name="T39" fmla="*/ 760 h 1456"/>
                <a:gd name="T40" fmla="*/ 263 w 1307"/>
                <a:gd name="T41" fmla="*/ 950 h 1456"/>
                <a:gd name="T42" fmla="*/ 242 w 1307"/>
                <a:gd name="T43" fmla="*/ 1207 h 1456"/>
                <a:gd name="T44" fmla="*/ 249 w 1307"/>
                <a:gd name="T45" fmla="*/ 1425 h 1456"/>
                <a:gd name="T46" fmla="*/ 235 w 1307"/>
                <a:gd name="T47" fmla="*/ 1455 h 1456"/>
                <a:gd name="T48" fmla="*/ 183 w 1307"/>
                <a:gd name="T49" fmla="*/ 1441 h 1456"/>
                <a:gd name="T50" fmla="*/ 132 w 1307"/>
                <a:gd name="T51" fmla="*/ 1388 h 1456"/>
                <a:gd name="T52" fmla="*/ 101 w 1307"/>
                <a:gd name="T53" fmla="*/ 1291 h 1456"/>
                <a:gd name="T54" fmla="*/ 98 w 1307"/>
                <a:gd name="T55" fmla="*/ 1045 h 1456"/>
                <a:gd name="T56" fmla="*/ 123 w 1307"/>
                <a:gd name="T57" fmla="*/ 785 h 1456"/>
                <a:gd name="T58" fmla="*/ 59 w 1307"/>
                <a:gd name="T59" fmla="*/ 774 h 1456"/>
                <a:gd name="T60" fmla="*/ 29 w 1307"/>
                <a:gd name="T61" fmla="*/ 747 h 1456"/>
                <a:gd name="T62" fmla="*/ 0 w 1307"/>
                <a:gd name="T63" fmla="*/ 679 h 1456"/>
                <a:gd name="T64" fmla="*/ 21 w 1307"/>
                <a:gd name="T65" fmla="*/ 654 h 1456"/>
                <a:gd name="T66" fmla="*/ 95 w 1307"/>
                <a:gd name="T67" fmla="*/ 659 h 1456"/>
                <a:gd name="T68" fmla="*/ 174 w 1307"/>
                <a:gd name="T69" fmla="*/ 563 h 1456"/>
                <a:gd name="T70" fmla="*/ 246 w 1307"/>
                <a:gd name="T71" fmla="*/ 312 h 1456"/>
                <a:gd name="T72" fmla="*/ 332 w 1307"/>
                <a:gd name="T73" fmla="*/ 113 h 1456"/>
                <a:gd name="T74" fmla="*/ 407 w 1307"/>
                <a:gd name="T75" fmla="*/ 15 h 1456"/>
                <a:gd name="T76" fmla="*/ 488 w 1307"/>
                <a:gd name="T77" fmla="*/ 3 h 1456"/>
                <a:gd name="T78" fmla="*/ 569 w 1307"/>
                <a:gd name="T79" fmla="*/ 39 h 1456"/>
                <a:gd name="T80" fmla="*/ 619 w 1307"/>
                <a:gd name="T81" fmla="*/ 95 h 1456"/>
                <a:gd name="T82" fmla="*/ 634 w 1307"/>
                <a:gd name="T83" fmla="*/ 156 h 1456"/>
                <a:gd name="T84" fmla="*/ 621 w 1307"/>
                <a:gd name="T85" fmla="*/ 200 h 1456"/>
                <a:gd name="T86" fmla="*/ 598 w 1307"/>
                <a:gd name="T87" fmla="*/ 214 h 1456"/>
                <a:gd name="T88" fmla="*/ 578 w 1307"/>
                <a:gd name="T89" fmla="*/ 195 h 1456"/>
                <a:gd name="T90" fmla="*/ 535 w 1307"/>
                <a:gd name="T91" fmla="*/ 146 h 1456"/>
                <a:gd name="T92" fmla="*/ 494 w 1307"/>
                <a:gd name="T93" fmla="*/ 149 h 1456"/>
                <a:gd name="T94" fmla="*/ 451 w 1307"/>
                <a:gd name="T95" fmla="*/ 206 h 1456"/>
                <a:gd name="T96" fmla="*/ 345 w 1307"/>
                <a:gd name="T97" fmla="*/ 519 h 1456"/>
                <a:gd name="T98" fmla="*/ 388 w 1307"/>
                <a:gd name="T99" fmla="*/ 638 h 1456"/>
                <a:gd name="T100" fmla="*/ 594 w 1307"/>
                <a:gd name="T101" fmla="*/ 595 h 1456"/>
                <a:gd name="T102" fmla="*/ 650 w 1307"/>
                <a:gd name="T103" fmla="*/ 551 h 1456"/>
                <a:gd name="T104" fmla="*/ 746 w 1307"/>
                <a:gd name="T105" fmla="*/ 506 h 1456"/>
                <a:gd name="T106" fmla="*/ 844 w 1307"/>
                <a:gd name="T107" fmla="*/ 489 h 14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307" h="1456">
                  <a:moveTo>
                    <a:pt x="840" y="585"/>
                  </a:moveTo>
                  <a:lnTo>
                    <a:pt x="833" y="585"/>
                  </a:lnTo>
                  <a:lnTo>
                    <a:pt x="826" y="586"/>
                  </a:lnTo>
                  <a:lnTo>
                    <a:pt x="820" y="587"/>
                  </a:lnTo>
                  <a:lnTo>
                    <a:pt x="812" y="589"/>
                  </a:lnTo>
                  <a:lnTo>
                    <a:pt x="802" y="593"/>
                  </a:lnTo>
                  <a:lnTo>
                    <a:pt x="792" y="597"/>
                  </a:lnTo>
                  <a:lnTo>
                    <a:pt x="783" y="602"/>
                  </a:lnTo>
                  <a:lnTo>
                    <a:pt x="773" y="608"/>
                  </a:lnTo>
                  <a:lnTo>
                    <a:pt x="763" y="615"/>
                  </a:lnTo>
                  <a:lnTo>
                    <a:pt x="755" y="622"/>
                  </a:lnTo>
                  <a:lnTo>
                    <a:pt x="746" y="629"/>
                  </a:lnTo>
                  <a:lnTo>
                    <a:pt x="739" y="639"/>
                  </a:lnTo>
                  <a:lnTo>
                    <a:pt x="732" y="648"/>
                  </a:lnTo>
                  <a:lnTo>
                    <a:pt x="726" y="658"/>
                  </a:lnTo>
                  <a:lnTo>
                    <a:pt x="721" y="668"/>
                  </a:lnTo>
                  <a:lnTo>
                    <a:pt x="717" y="679"/>
                  </a:lnTo>
                  <a:lnTo>
                    <a:pt x="713" y="692"/>
                  </a:lnTo>
                  <a:lnTo>
                    <a:pt x="711" y="704"/>
                  </a:lnTo>
                  <a:lnTo>
                    <a:pt x="711" y="717"/>
                  </a:lnTo>
                  <a:lnTo>
                    <a:pt x="711" y="732"/>
                  </a:lnTo>
                  <a:lnTo>
                    <a:pt x="712" y="738"/>
                  </a:lnTo>
                  <a:lnTo>
                    <a:pt x="743" y="824"/>
                  </a:lnTo>
                  <a:lnTo>
                    <a:pt x="748" y="832"/>
                  </a:lnTo>
                  <a:lnTo>
                    <a:pt x="759" y="848"/>
                  </a:lnTo>
                  <a:lnTo>
                    <a:pt x="773" y="863"/>
                  </a:lnTo>
                  <a:lnTo>
                    <a:pt x="787" y="879"/>
                  </a:lnTo>
                  <a:lnTo>
                    <a:pt x="803" y="892"/>
                  </a:lnTo>
                  <a:lnTo>
                    <a:pt x="820" y="904"/>
                  </a:lnTo>
                  <a:lnTo>
                    <a:pt x="838" y="916"/>
                  </a:lnTo>
                  <a:lnTo>
                    <a:pt x="857" y="926"/>
                  </a:lnTo>
                  <a:lnTo>
                    <a:pt x="878" y="936"/>
                  </a:lnTo>
                  <a:lnTo>
                    <a:pt x="899" y="945"/>
                  </a:lnTo>
                  <a:lnTo>
                    <a:pt x="922" y="952"/>
                  </a:lnTo>
                  <a:lnTo>
                    <a:pt x="946" y="958"/>
                  </a:lnTo>
                  <a:lnTo>
                    <a:pt x="970" y="963"/>
                  </a:lnTo>
                  <a:lnTo>
                    <a:pt x="996" y="967"/>
                  </a:lnTo>
                  <a:lnTo>
                    <a:pt x="1021" y="970"/>
                  </a:lnTo>
                  <a:lnTo>
                    <a:pt x="1049" y="972"/>
                  </a:lnTo>
                  <a:lnTo>
                    <a:pt x="1077" y="973"/>
                  </a:lnTo>
                  <a:lnTo>
                    <a:pt x="1102" y="972"/>
                  </a:lnTo>
                  <a:lnTo>
                    <a:pt x="1127" y="971"/>
                  </a:lnTo>
                  <a:lnTo>
                    <a:pt x="1152" y="968"/>
                  </a:lnTo>
                  <a:lnTo>
                    <a:pt x="1178" y="965"/>
                  </a:lnTo>
                  <a:lnTo>
                    <a:pt x="1204" y="961"/>
                  </a:lnTo>
                  <a:lnTo>
                    <a:pt x="1230" y="956"/>
                  </a:lnTo>
                  <a:lnTo>
                    <a:pt x="1255" y="950"/>
                  </a:lnTo>
                  <a:lnTo>
                    <a:pt x="1282" y="944"/>
                  </a:lnTo>
                  <a:lnTo>
                    <a:pt x="1291" y="942"/>
                  </a:lnTo>
                  <a:lnTo>
                    <a:pt x="1298" y="942"/>
                  </a:lnTo>
                  <a:lnTo>
                    <a:pt x="1301" y="943"/>
                  </a:lnTo>
                  <a:lnTo>
                    <a:pt x="1303" y="944"/>
                  </a:lnTo>
                  <a:lnTo>
                    <a:pt x="1305" y="945"/>
                  </a:lnTo>
                  <a:lnTo>
                    <a:pt x="1306" y="948"/>
                  </a:lnTo>
                  <a:lnTo>
                    <a:pt x="1307" y="951"/>
                  </a:lnTo>
                  <a:lnTo>
                    <a:pt x="1307" y="954"/>
                  </a:lnTo>
                  <a:lnTo>
                    <a:pt x="1306" y="958"/>
                  </a:lnTo>
                  <a:lnTo>
                    <a:pt x="1305" y="963"/>
                  </a:lnTo>
                  <a:lnTo>
                    <a:pt x="1302" y="967"/>
                  </a:lnTo>
                  <a:lnTo>
                    <a:pt x="1299" y="972"/>
                  </a:lnTo>
                  <a:lnTo>
                    <a:pt x="1295" y="978"/>
                  </a:lnTo>
                  <a:lnTo>
                    <a:pt x="1291" y="983"/>
                  </a:lnTo>
                  <a:lnTo>
                    <a:pt x="1284" y="989"/>
                  </a:lnTo>
                  <a:lnTo>
                    <a:pt x="1275" y="995"/>
                  </a:lnTo>
                  <a:lnTo>
                    <a:pt x="1265" y="1001"/>
                  </a:lnTo>
                  <a:lnTo>
                    <a:pt x="1255" y="1007"/>
                  </a:lnTo>
                  <a:lnTo>
                    <a:pt x="1243" y="1013"/>
                  </a:lnTo>
                  <a:lnTo>
                    <a:pt x="1230" y="1019"/>
                  </a:lnTo>
                  <a:lnTo>
                    <a:pt x="1215" y="1025"/>
                  </a:lnTo>
                  <a:lnTo>
                    <a:pt x="1200" y="1032"/>
                  </a:lnTo>
                  <a:lnTo>
                    <a:pt x="1184" y="1037"/>
                  </a:lnTo>
                  <a:lnTo>
                    <a:pt x="1166" y="1042"/>
                  </a:lnTo>
                  <a:lnTo>
                    <a:pt x="1149" y="1046"/>
                  </a:lnTo>
                  <a:lnTo>
                    <a:pt x="1131" y="1050"/>
                  </a:lnTo>
                  <a:lnTo>
                    <a:pt x="1111" y="1053"/>
                  </a:lnTo>
                  <a:lnTo>
                    <a:pt x="1092" y="1055"/>
                  </a:lnTo>
                  <a:lnTo>
                    <a:pt x="1071" y="1056"/>
                  </a:lnTo>
                  <a:lnTo>
                    <a:pt x="1051" y="1057"/>
                  </a:lnTo>
                  <a:lnTo>
                    <a:pt x="1015" y="1056"/>
                  </a:lnTo>
                  <a:lnTo>
                    <a:pt x="981" y="1054"/>
                  </a:lnTo>
                  <a:lnTo>
                    <a:pt x="947" y="1050"/>
                  </a:lnTo>
                  <a:lnTo>
                    <a:pt x="914" y="1046"/>
                  </a:lnTo>
                  <a:lnTo>
                    <a:pt x="882" y="1039"/>
                  </a:lnTo>
                  <a:lnTo>
                    <a:pt x="851" y="1032"/>
                  </a:lnTo>
                  <a:lnTo>
                    <a:pt x="821" y="1022"/>
                  </a:lnTo>
                  <a:lnTo>
                    <a:pt x="792" y="1012"/>
                  </a:lnTo>
                  <a:lnTo>
                    <a:pt x="763" y="1001"/>
                  </a:lnTo>
                  <a:lnTo>
                    <a:pt x="737" y="988"/>
                  </a:lnTo>
                  <a:lnTo>
                    <a:pt x="710" y="974"/>
                  </a:lnTo>
                  <a:lnTo>
                    <a:pt x="687" y="959"/>
                  </a:lnTo>
                  <a:lnTo>
                    <a:pt x="663" y="943"/>
                  </a:lnTo>
                  <a:lnTo>
                    <a:pt x="642" y="925"/>
                  </a:lnTo>
                  <a:lnTo>
                    <a:pt x="622" y="906"/>
                  </a:lnTo>
                  <a:lnTo>
                    <a:pt x="603" y="887"/>
                  </a:lnTo>
                  <a:lnTo>
                    <a:pt x="594" y="875"/>
                  </a:lnTo>
                  <a:lnTo>
                    <a:pt x="585" y="864"/>
                  </a:lnTo>
                  <a:lnTo>
                    <a:pt x="577" y="853"/>
                  </a:lnTo>
                  <a:lnTo>
                    <a:pt x="570" y="842"/>
                  </a:lnTo>
                  <a:lnTo>
                    <a:pt x="562" y="831"/>
                  </a:lnTo>
                  <a:lnTo>
                    <a:pt x="557" y="819"/>
                  </a:lnTo>
                  <a:lnTo>
                    <a:pt x="551" y="808"/>
                  </a:lnTo>
                  <a:lnTo>
                    <a:pt x="547" y="796"/>
                  </a:lnTo>
                  <a:lnTo>
                    <a:pt x="543" y="785"/>
                  </a:lnTo>
                  <a:lnTo>
                    <a:pt x="539" y="773"/>
                  </a:lnTo>
                  <a:lnTo>
                    <a:pt x="537" y="762"/>
                  </a:lnTo>
                  <a:lnTo>
                    <a:pt x="535" y="751"/>
                  </a:lnTo>
                  <a:lnTo>
                    <a:pt x="534" y="740"/>
                  </a:lnTo>
                  <a:lnTo>
                    <a:pt x="533" y="728"/>
                  </a:lnTo>
                  <a:lnTo>
                    <a:pt x="533" y="718"/>
                  </a:lnTo>
                  <a:lnTo>
                    <a:pt x="534" y="707"/>
                  </a:lnTo>
                  <a:lnTo>
                    <a:pt x="535" y="699"/>
                  </a:lnTo>
                  <a:lnTo>
                    <a:pt x="527" y="701"/>
                  </a:lnTo>
                  <a:lnTo>
                    <a:pt x="499" y="709"/>
                  </a:lnTo>
                  <a:lnTo>
                    <a:pt x="471" y="717"/>
                  </a:lnTo>
                  <a:lnTo>
                    <a:pt x="442" y="725"/>
                  </a:lnTo>
                  <a:lnTo>
                    <a:pt x="413" y="733"/>
                  </a:lnTo>
                  <a:lnTo>
                    <a:pt x="383" y="740"/>
                  </a:lnTo>
                  <a:lnTo>
                    <a:pt x="353" y="747"/>
                  </a:lnTo>
                  <a:lnTo>
                    <a:pt x="325" y="754"/>
                  </a:lnTo>
                  <a:lnTo>
                    <a:pt x="295" y="760"/>
                  </a:lnTo>
                  <a:lnTo>
                    <a:pt x="292" y="761"/>
                  </a:lnTo>
                  <a:lnTo>
                    <a:pt x="291" y="764"/>
                  </a:lnTo>
                  <a:lnTo>
                    <a:pt x="283" y="811"/>
                  </a:lnTo>
                  <a:lnTo>
                    <a:pt x="275" y="858"/>
                  </a:lnTo>
                  <a:lnTo>
                    <a:pt x="269" y="904"/>
                  </a:lnTo>
                  <a:lnTo>
                    <a:pt x="263" y="950"/>
                  </a:lnTo>
                  <a:lnTo>
                    <a:pt x="258" y="995"/>
                  </a:lnTo>
                  <a:lnTo>
                    <a:pt x="252" y="1039"/>
                  </a:lnTo>
                  <a:lnTo>
                    <a:pt x="248" y="1083"/>
                  </a:lnTo>
                  <a:lnTo>
                    <a:pt x="245" y="1126"/>
                  </a:lnTo>
                  <a:lnTo>
                    <a:pt x="243" y="1167"/>
                  </a:lnTo>
                  <a:lnTo>
                    <a:pt x="242" y="1207"/>
                  </a:lnTo>
                  <a:lnTo>
                    <a:pt x="241" y="1247"/>
                  </a:lnTo>
                  <a:lnTo>
                    <a:pt x="241" y="1286"/>
                  </a:lnTo>
                  <a:lnTo>
                    <a:pt x="242" y="1323"/>
                  </a:lnTo>
                  <a:lnTo>
                    <a:pt x="243" y="1358"/>
                  </a:lnTo>
                  <a:lnTo>
                    <a:pt x="246" y="1392"/>
                  </a:lnTo>
                  <a:lnTo>
                    <a:pt x="249" y="1425"/>
                  </a:lnTo>
                  <a:lnTo>
                    <a:pt x="250" y="1433"/>
                  </a:lnTo>
                  <a:lnTo>
                    <a:pt x="249" y="1440"/>
                  </a:lnTo>
                  <a:lnTo>
                    <a:pt x="247" y="1446"/>
                  </a:lnTo>
                  <a:lnTo>
                    <a:pt x="245" y="1450"/>
                  </a:lnTo>
                  <a:lnTo>
                    <a:pt x="240" y="1454"/>
                  </a:lnTo>
                  <a:lnTo>
                    <a:pt x="235" y="1455"/>
                  </a:lnTo>
                  <a:lnTo>
                    <a:pt x="228" y="1456"/>
                  </a:lnTo>
                  <a:lnTo>
                    <a:pt x="221" y="1455"/>
                  </a:lnTo>
                  <a:lnTo>
                    <a:pt x="212" y="1453"/>
                  </a:lnTo>
                  <a:lnTo>
                    <a:pt x="202" y="1450"/>
                  </a:lnTo>
                  <a:lnTo>
                    <a:pt x="193" y="1446"/>
                  </a:lnTo>
                  <a:lnTo>
                    <a:pt x="183" y="1441"/>
                  </a:lnTo>
                  <a:lnTo>
                    <a:pt x="171" y="1434"/>
                  </a:lnTo>
                  <a:lnTo>
                    <a:pt x="158" y="1423"/>
                  </a:lnTo>
                  <a:lnTo>
                    <a:pt x="150" y="1415"/>
                  </a:lnTo>
                  <a:lnTo>
                    <a:pt x="144" y="1407"/>
                  </a:lnTo>
                  <a:lnTo>
                    <a:pt x="138" y="1398"/>
                  </a:lnTo>
                  <a:lnTo>
                    <a:pt x="132" y="1388"/>
                  </a:lnTo>
                  <a:lnTo>
                    <a:pt x="126" y="1376"/>
                  </a:lnTo>
                  <a:lnTo>
                    <a:pt x="120" y="1362"/>
                  </a:lnTo>
                  <a:lnTo>
                    <a:pt x="115" y="1347"/>
                  </a:lnTo>
                  <a:lnTo>
                    <a:pt x="110" y="1331"/>
                  </a:lnTo>
                  <a:lnTo>
                    <a:pt x="106" y="1311"/>
                  </a:lnTo>
                  <a:lnTo>
                    <a:pt x="101" y="1291"/>
                  </a:lnTo>
                  <a:lnTo>
                    <a:pt x="98" y="1268"/>
                  </a:lnTo>
                  <a:lnTo>
                    <a:pt x="96" y="1243"/>
                  </a:lnTo>
                  <a:lnTo>
                    <a:pt x="94" y="1201"/>
                  </a:lnTo>
                  <a:lnTo>
                    <a:pt x="94" y="1154"/>
                  </a:lnTo>
                  <a:lnTo>
                    <a:pt x="95" y="1101"/>
                  </a:lnTo>
                  <a:lnTo>
                    <a:pt x="98" y="1045"/>
                  </a:lnTo>
                  <a:lnTo>
                    <a:pt x="103" y="985"/>
                  </a:lnTo>
                  <a:lnTo>
                    <a:pt x="111" y="922"/>
                  </a:lnTo>
                  <a:lnTo>
                    <a:pt x="119" y="858"/>
                  </a:lnTo>
                  <a:lnTo>
                    <a:pt x="129" y="791"/>
                  </a:lnTo>
                  <a:lnTo>
                    <a:pt x="130" y="785"/>
                  </a:lnTo>
                  <a:lnTo>
                    <a:pt x="123" y="785"/>
                  </a:lnTo>
                  <a:lnTo>
                    <a:pt x="109" y="785"/>
                  </a:lnTo>
                  <a:lnTo>
                    <a:pt x="95" y="784"/>
                  </a:lnTo>
                  <a:lnTo>
                    <a:pt x="82" y="782"/>
                  </a:lnTo>
                  <a:lnTo>
                    <a:pt x="70" y="778"/>
                  </a:lnTo>
                  <a:lnTo>
                    <a:pt x="64" y="776"/>
                  </a:lnTo>
                  <a:lnTo>
                    <a:pt x="59" y="774"/>
                  </a:lnTo>
                  <a:lnTo>
                    <a:pt x="52" y="771"/>
                  </a:lnTo>
                  <a:lnTo>
                    <a:pt x="47" y="767"/>
                  </a:lnTo>
                  <a:lnTo>
                    <a:pt x="42" y="763"/>
                  </a:lnTo>
                  <a:lnTo>
                    <a:pt x="38" y="758"/>
                  </a:lnTo>
                  <a:lnTo>
                    <a:pt x="33" y="753"/>
                  </a:lnTo>
                  <a:lnTo>
                    <a:pt x="29" y="747"/>
                  </a:lnTo>
                  <a:lnTo>
                    <a:pt x="21" y="734"/>
                  </a:lnTo>
                  <a:lnTo>
                    <a:pt x="14" y="721"/>
                  </a:lnTo>
                  <a:lnTo>
                    <a:pt x="8" y="709"/>
                  </a:lnTo>
                  <a:lnTo>
                    <a:pt x="4" y="698"/>
                  </a:lnTo>
                  <a:lnTo>
                    <a:pt x="1" y="689"/>
                  </a:lnTo>
                  <a:lnTo>
                    <a:pt x="0" y="679"/>
                  </a:lnTo>
                  <a:lnTo>
                    <a:pt x="1" y="672"/>
                  </a:lnTo>
                  <a:lnTo>
                    <a:pt x="4" y="665"/>
                  </a:lnTo>
                  <a:lnTo>
                    <a:pt x="7" y="662"/>
                  </a:lnTo>
                  <a:lnTo>
                    <a:pt x="10" y="658"/>
                  </a:lnTo>
                  <a:lnTo>
                    <a:pt x="15" y="656"/>
                  </a:lnTo>
                  <a:lnTo>
                    <a:pt x="21" y="654"/>
                  </a:lnTo>
                  <a:lnTo>
                    <a:pt x="27" y="653"/>
                  </a:lnTo>
                  <a:lnTo>
                    <a:pt x="35" y="653"/>
                  </a:lnTo>
                  <a:lnTo>
                    <a:pt x="43" y="653"/>
                  </a:lnTo>
                  <a:lnTo>
                    <a:pt x="52" y="655"/>
                  </a:lnTo>
                  <a:lnTo>
                    <a:pt x="73" y="657"/>
                  </a:lnTo>
                  <a:lnTo>
                    <a:pt x="95" y="659"/>
                  </a:lnTo>
                  <a:lnTo>
                    <a:pt x="119" y="661"/>
                  </a:lnTo>
                  <a:lnTo>
                    <a:pt x="145" y="661"/>
                  </a:lnTo>
                  <a:lnTo>
                    <a:pt x="152" y="661"/>
                  </a:lnTo>
                  <a:lnTo>
                    <a:pt x="153" y="656"/>
                  </a:lnTo>
                  <a:lnTo>
                    <a:pt x="164" y="609"/>
                  </a:lnTo>
                  <a:lnTo>
                    <a:pt x="174" y="563"/>
                  </a:lnTo>
                  <a:lnTo>
                    <a:pt x="184" y="518"/>
                  </a:lnTo>
                  <a:lnTo>
                    <a:pt x="196" y="474"/>
                  </a:lnTo>
                  <a:lnTo>
                    <a:pt x="208" y="431"/>
                  </a:lnTo>
                  <a:lnTo>
                    <a:pt x="220" y="391"/>
                  </a:lnTo>
                  <a:lnTo>
                    <a:pt x="233" y="351"/>
                  </a:lnTo>
                  <a:lnTo>
                    <a:pt x="246" y="312"/>
                  </a:lnTo>
                  <a:lnTo>
                    <a:pt x="260" y="275"/>
                  </a:lnTo>
                  <a:lnTo>
                    <a:pt x="273" y="240"/>
                  </a:lnTo>
                  <a:lnTo>
                    <a:pt x="287" y="205"/>
                  </a:lnTo>
                  <a:lnTo>
                    <a:pt x="301" y="172"/>
                  </a:lnTo>
                  <a:lnTo>
                    <a:pt x="317" y="142"/>
                  </a:lnTo>
                  <a:lnTo>
                    <a:pt x="332" y="113"/>
                  </a:lnTo>
                  <a:lnTo>
                    <a:pt x="347" y="85"/>
                  </a:lnTo>
                  <a:lnTo>
                    <a:pt x="363" y="60"/>
                  </a:lnTo>
                  <a:lnTo>
                    <a:pt x="373" y="46"/>
                  </a:lnTo>
                  <a:lnTo>
                    <a:pt x="383" y="34"/>
                  </a:lnTo>
                  <a:lnTo>
                    <a:pt x="395" y="23"/>
                  </a:lnTo>
                  <a:lnTo>
                    <a:pt x="407" y="15"/>
                  </a:lnTo>
                  <a:lnTo>
                    <a:pt x="420" y="9"/>
                  </a:lnTo>
                  <a:lnTo>
                    <a:pt x="434" y="4"/>
                  </a:lnTo>
                  <a:lnTo>
                    <a:pt x="448" y="1"/>
                  </a:lnTo>
                  <a:lnTo>
                    <a:pt x="463" y="0"/>
                  </a:lnTo>
                  <a:lnTo>
                    <a:pt x="475" y="1"/>
                  </a:lnTo>
                  <a:lnTo>
                    <a:pt x="488" y="3"/>
                  </a:lnTo>
                  <a:lnTo>
                    <a:pt x="500" y="5"/>
                  </a:lnTo>
                  <a:lnTo>
                    <a:pt x="514" y="10"/>
                  </a:lnTo>
                  <a:lnTo>
                    <a:pt x="527" y="15"/>
                  </a:lnTo>
                  <a:lnTo>
                    <a:pt x="541" y="21"/>
                  </a:lnTo>
                  <a:lnTo>
                    <a:pt x="554" y="29"/>
                  </a:lnTo>
                  <a:lnTo>
                    <a:pt x="569" y="39"/>
                  </a:lnTo>
                  <a:lnTo>
                    <a:pt x="580" y="47"/>
                  </a:lnTo>
                  <a:lnTo>
                    <a:pt x="589" y="55"/>
                  </a:lnTo>
                  <a:lnTo>
                    <a:pt x="598" y="64"/>
                  </a:lnTo>
                  <a:lnTo>
                    <a:pt x="606" y="74"/>
                  </a:lnTo>
                  <a:lnTo>
                    <a:pt x="612" y="84"/>
                  </a:lnTo>
                  <a:lnTo>
                    <a:pt x="619" y="95"/>
                  </a:lnTo>
                  <a:lnTo>
                    <a:pt x="624" y="105"/>
                  </a:lnTo>
                  <a:lnTo>
                    <a:pt x="627" y="115"/>
                  </a:lnTo>
                  <a:lnTo>
                    <a:pt x="630" y="126"/>
                  </a:lnTo>
                  <a:lnTo>
                    <a:pt x="632" y="136"/>
                  </a:lnTo>
                  <a:lnTo>
                    <a:pt x="633" y="146"/>
                  </a:lnTo>
                  <a:lnTo>
                    <a:pt x="634" y="156"/>
                  </a:lnTo>
                  <a:lnTo>
                    <a:pt x="633" y="165"/>
                  </a:lnTo>
                  <a:lnTo>
                    <a:pt x="632" y="173"/>
                  </a:lnTo>
                  <a:lnTo>
                    <a:pt x="630" y="181"/>
                  </a:lnTo>
                  <a:lnTo>
                    <a:pt x="627" y="188"/>
                  </a:lnTo>
                  <a:lnTo>
                    <a:pt x="624" y="194"/>
                  </a:lnTo>
                  <a:lnTo>
                    <a:pt x="621" y="200"/>
                  </a:lnTo>
                  <a:lnTo>
                    <a:pt x="617" y="204"/>
                  </a:lnTo>
                  <a:lnTo>
                    <a:pt x="613" y="208"/>
                  </a:lnTo>
                  <a:lnTo>
                    <a:pt x="609" y="210"/>
                  </a:lnTo>
                  <a:lnTo>
                    <a:pt x="606" y="213"/>
                  </a:lnTo>
                  <a:lnTo>
                    <a:pt x="602" y="214"/>
                  </a:lnTo>
                  <a:lnTo>
                    <a:pt x="598" y="214"/>
                  </a:lnTo>
                  <a:lnTo>
                    <a:pt x="595" y="214"/>
                  </a:lnTo>
                  <a:lnTo>
                    <a:pt x="592" y="213"/>
                  </a:lnTo>
                  <a:lnTo>
                    <a:pt x="589" y="211"/>
                  </a:lnTo>
                  <a:lnTo>
                    <a:pt x="587" y="209"/>
                  </a:lnTo>
                  <a:lnTo>
                    <a:pt x="582" y="203"/>
                  </a:lnTo>
                  <a:lnTo>
                    <a:pt x="578" y="195"/>
                  </a:lnTo>
                  <a:lnTo>
                    <a:pt x="573" y="182"/>
                  </a:lnTo>
                  <a:lnTo>
                    <a:pt x="567" y="172"/>
                  </a:lnTo>
                  <a:lnTo>
                    <a:pt x="559" y="163"/>
                  </a:lnTo>
                  <a:lnTo>
                    <a:pt x="552" y="155"/>
                  </a:lnTo>
                  <a:lnTo>
                    <a:pt x="544" y="150"/>
                  </a:lnTo>
                  <a:lnTo>
                    <a:pt x="535" y="146"/>
                  </a:lnTo>
                  <a:lnTo>
                    <a:pt x="525" y="144"/>
                  </a:lnTo>
                  <a:lnTo>
                    <a:pt x="515" y="144"/>
                  </a:lnTo>
                  <a:lnTo>
                    <a:pt x="509" y="144"/>
                  </a:lnTo>
                  <a:lnTo>
                    <a:pt x="503" y="145"/>
                  </a:lnTo>
                  <a:lnTo>
                    <a:pt x="499" y="147"/>
                  </a:lnTo>
                  <a:lnTo>
                    <a:pt x="494" y="149"/>
                  </a:lnTo>
                  <a:lnTo>
                    <a:pt x="486" y="154"/>
                  </a:lnTo>
                  <a:lnTo>
                    <a:pt x="478" y="161"/>
                  </a:lnTo>
                  <a:lnTo>
                    <a:pt x="471" y="170"/>
                  </a:lnTo>
                  <a:lnTo>
                    <a:pt x="464" y="180"/>
                  </a:lnTo>
                  <a:lnTo>
                    <a:pt x="457" y="193"/>
                  </a:lnTo>
                  <a:lnTo>
                    <a:pt x="451" y="206"/>
                  </a:lnTo>
                  <a:lnTo>
                    <a:pt x="432" y="252"/>
                  </a:lnTo>
                  <a:lnTo>
                    <a:pt x="414" y="300"/>
                  </a:lnTo>
                  <a:lnTo>
                    <a:pt x="396" y="351"/>
                  </a:lnTo>
                  <a:lnTo>
                    <a:pt x="378" y="405"/>
                  </a:lnTo>
                  <a:lnTo>
                    <a:pt x="362" y="461"/>
                  </a:lnTo>
                  <a:lnTo>
                    <a:pt x="345" y="519"/>
                  </a:lnTo>
                  <a:lnTo>
                    <a:pt x="331" y="579"/>
                  </a:lnTo>
                  <a:lnTo>
                    <a:pt x="316" y="641"/>
                  </a:lnTo>
                  <a:lnTo>
                    <a:pt x="315" y="649"/>
                  </a:lnTo>
                  <a:lnTo>
                    <a:pt x="323" y="648"/>
                  </a:lnTo>
                  <a:lnTo>
                    <a:pt x="354" y="643"/>
                  </a:lnTo>
                  <a:lnTo>
                    <a:pt x="388" y="638"/>
                  </a:lnTo>
                  <a:lnTo>
                    <a:pt x="422" y="633"/>
                  </a:lnTo>
                  <a:lnTo>
                    <a:pt x="455" y="625"/>
                  </a:lnTo>
                  <a:lnTo>
                    <a:pt x="490" y="619"/>
                  </a:lnTo>
                  <a:lnTo>
                    <a:pt x="525" y="611"/>
                  </a:lnTo>
                  <a:lnTo>
                    <a:pt x="559" y="604"/>
                  </a:lnTo>
                  <a:lnTo>
                    <a:pt x="594" y="595"/>
                  </a:lnTo>
                  <a:lnTo>
                    <a:pt x="595" y="595"/>
                  </a:lnTo>
                  <a:lnTo>
                    <a:pt x="596" y="594"/>
                  </a:lnTo>
                  <a:lnTo>
                    <a:pt x="608" y="583"/>
                  </a:lnTo>
                  <a:lnTo>
                    <a:pt x="622" y="571"/>
                  </a:lnTo>
                  <a:lnTo>
                    <a:pt x="636" y="561"/>
                  </a:lnTo>
                  <a:lnTo>
                    <a:pt x="650" y="551"/>
                  </a:lnTo>
                  <a:lnTo>
                    <a:pt x="666" y="542"/>
                  </a:lnTo>
                  <a:lnTo>
                    <a:pt x="681" y="534"/>
                  </a:lnTo>
                  <a:lnTo>
                    <a:pt x="696" y="525"/>
                  </a:lnTo>
                  <a:lnTo>
                    <a:pt x="712" y="518"/>
                  </a:lnTo>
                  <a:lnTo>
                    <a:pt x="730" y="511"/>
                  </a:lnTo>
                  <a:lnTo>
                    <a:pt x="746" y="506"/>
                  </a:lnTo>
                  <a:lnTo>
                    <a:pt x="762" y="501"/>
                  </a:lnTo>
                  <a:lnTo>
                    <a:pt x="780" y="497"/>
                  </a:lnTo>
                  <a:lnTo>
                    <a:pt x="796" y="493"/>
                  </a:lnTo>
                  <a:lnTo>
                    <a:pt x="812" y="491"/>
                  </a:lnTo>
                  <a:lnTo>
                    <a:pt x="829" y="490"/>
                  </a:lnTo>
                  <a:lnTo>
                    <a:pt x="844" y="489"/>
                  </a:lnTo>
                  <a:lnTo>
                    <a:pt x="891" y="544"/>
                  </a:lnTo>
                  <a:lnTo>
                    <a:pt x="840" y="585"/>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4" name="Freeform 48"/>
            <p:cNvSpPr>
              <a:spLocks/>
            </p:cNvSpPr>
            <p:nvPr userDrawn="1"/>
          </p:nvSpPr>
          <p:spPr bwMode="auto">
            <a:xfrm>
              <a:off x="6540" y="596"/>
              <a:ext cx="34" cy="32"/>
            </a:xfrm>
            <a:custGeom>
              <a:avLst/>
              <a:gdLst>
                <a:gd name="T0" fmla="*/ 255 w 405"/>
                <a:gd name="T1" fmla="*/ 101 h 383"/>
                <a:gd name="T2" fmla="*/ 269 w 405"/>
                <a:gd name="T3" fmla="*/ 105 h 383"/>
                <a:gd name="T4" fmla="*/ 281 w 405"/>
                <a:gd name="T5" fmla="*/ 113 h 383"/>
                <a:gd name="T6" fmla="*/ 289 w 405"/>
                <a:gd name="T7" fmla="*/ 122 h 383"/>
                <a:gd name="T8" fmla="*/ 293 w 405"/>
                <a:gd name="T9" fmla="*/ 132 h 383"/>
                <a:gd name="T10" fmla="*/ 294 w 405"/>
                <a:gd name="T11" fmla="*/ 143 h 383"/>
                <a:gd name="T12" fmla="*/ 290 w 405"/>
                <a:gd name="T13" fmla="*/ 159 h 383"/>
                <a:gd name="T14" fmla="*/ 277 w 405"/>
                <a:gd name="T15" fmla="*/ 177 h 383"/>
                <a:gd name="T16" fmla="*/ 254 w 405"/>
                <a:gd name="T17" fmla="*/ 199 h 383"/>
                <a:gd name="T18" fmla="*/ 221 w 405"/>
                <a:gd name="T19" fmla="*/ 224 h 383"/>
                <a:gd name="T20" fmla="*/ 182 w 405"/>
                <a:gd name="T21" fmla="*/ 249 h 383"/>
                <a:gd name="T22" fmla="*/ 136 w 405"/>
                <a:gd name="T23" fmla="*/ 275 h 383"/>
                <a:gd name="T24" fmla="*/ 99 w 405"/>
                <a:gd name="T25" fmla="*/ 294 h 383"/>
                <a:gd name="T26" fmla="*/ 95 w 405"/>
                <a:gd name="T27" fmla="*/ 383 h 383"/>
                <a:gd name="T28" fmla="*/ 141 w 405"/>
                <a:gd name="T29" fmla="*/ 362 h 383"/>
                <a:gd name="T30" fmla="*/ 223 w 405"/>
                <a:gd name="T31" fmla="*/ 322 h 383"/>
                <a:gd name="T32" fmla="*/ 279 w 405"/>
                <a:gd name="T33" fmla="*/ 289 h 383"/>
                <a:gd name="T34" fmla="*/ 312 w 405"/>
                <a:gd name="T35" fmla="*/ 268 h 383"/>
                <a:gd name="T36" fmla="*/ 341 w 405"/>
                <a:gd name="T37" fmla="*/ 244 h 383"/>
                <a:gd name="T38" fmla="*/ 367 w 405"/>
                <a:gd name="T39" fmla="*/ 221 h 383"/>
                <a:gd name="T40" fmla="*/ 384 w 405"/>
                <a:gd name="T41" fmla="*/ 200 h 383"/>
                <a:gd name="T42" fmla="*/ 394 w 405"/>
                <a:gd name="T43" fmla="*/ 183 h 383"/>
                <a:gd name="T44" fmla="*/ 401 w 405"/>
                <a:gd name="T45" fmla="*/ 167 h 383"/>
                <a:gd name="T46" fmla="*/ 404 w 405"/>
                <a:gd name="T47" fmla="*/ 150 h 383"/>
                <a:gd name="T48" fmla="*/ 405 w 405"/>
                <a:gd name="T49" fmla="*/ 129 h 383"/>
                <a:gd name="T50" fmla="*/ 400 w 405"/>
                <a:gd name="T51" fmla="*/ 103 h 383"/>
                <a:gd name="T52" fmla="*/ 390 w 405"/>
                <a:gd name="T53" fmla="*/ 83 h 383"/>
                <a:gd name="T54" fmla="*/ 378 w 405"/>
                <a:gd name="T55" fmla="*/ 65 h 383"/>
                <a:gd name="T56" fmla="*/ 363 w 405"/>
                <a:gd name="T57" fmla="*/ 48 h 383"/>
                <a:gd name="T58" fmla="*/ 344 w 405"/>
                <a:gd name="T59" fmla="*/ 34 h 383"/>
                <a:gd name="T60" fmla="*/ 324 w 405"/>
                <a:gd name="T61" fmla="*/ 22 h 383"/>
                <a:gd name="T62" fmla="*/ 302 w 405"/>
                <a:gd name="T63" fmla="*/ 12 h 383"/>
                <a:gd name="T64" fmla="*/ 281 w 405"/>
                <a:gd name="T65" fmla="*/ 4 h 383"/>
                <a:gd name="T66" fmla="*/ 259 w 405"/>
                <a:gd name="T67" fmla="*/ 1 h 383"/>
                <a:gd name="T68" fmla="*/ 198 w 405"/>
                <a:gd name="T69" fmla="*/ 59 h 38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405" h="383">
                  <a:moveTo>
                    <a:pt x="247" y="101"/>
                  </a:moveTo>
                  <a:lnTo>
                    <a:pt x="255" y="101"/>
                  </a:lnTo>
                  <a:lnTo>
                    <a:pt x="262" y="103"/>
                  </a:lnTo>
                  <a:lnTo>
                    <a:pt x="269" y="105"/>
                  </a:lnTo>
                  <a:lnTo>
                    <a:pt x="275" y="109"/>
                  </a:lnTo>
                  <a:lnTo>
                    <a:pt x="281" y="113"/>
                  </a:lnTo>
                  <a:lnTo>
                    <a:pt x="285" y="117"/>
                  </a:lnTo>
                  <a:lnTo>
                    <a:pt x="289" y="122"/>
                  </a:lnTo>
                  <a:lnTo>
                    <a:pt x="292" y="127"/>
                  </a:lnTo>
                  <a:lnTo>
                    <a:pt x="293" y="132"/>
                  </a:lnTo>
                  <a:lnTo>
                    <a:pt x="294" y="137"/>
                  </a:lnTo>
                  <a:lnTo>
                    <a:pt x="294" y="143"/>
                  </a:lnTo>
                  <a:lnTo>
                    <a:pt x="292" y="150"/>
                  </a:lnTo>
                  <a:lnTo>
                    <a:pt x="290" y="159"/>
                  </a:lnTo>
                  <a:lnTo>
                    <a:pt x="285" y="168"/>
                  </a:lnTo>
                  <a:lnTo>
                    <a:pt x="277" y="177"/>
                  </a:lnTo>
                  <a:lnTo>
                    <a:pt x="268" y="187"/>
                  </a:lnTo>
                  <a:lnTo>
                    <a:pt x="254" y="199"/>
                  </a:lnTo>
                  <a:lnTo>
                    <a:pt x="238" y="212"/>
                  </a:lnTo>
                  <a:lnTo>
                    <a:pt x="221" y="224"/>
                  </a:lnTo>
                  <a:lnTo>
                    <a:pt x="203" y="237"/>
                  </a:lnTo>
                  <a:lnTo>
                    <a:pt x="182" y="249"/>
                  </a:lnTo>
                  <a:lnTo>
                    <a:pt x="160" y="263"/>
                  </a:lnTo>
                  <a:lnTo>
                    <a:pt x="136" y="275"/>
                  </a:lnTo>
                  <a:lnTo>
                    <a:pt x="111" y="288"/>
                  </a:lnTo>
                  <a:lnTo>
                    <a:pt x="99" y="294"/>
                  </a:lnTo>
                  <a:lnTo>
                    <a:pt x="0" y="370"/>
                  </a:lnTo>
                  <a:lnTo>
                    <a:pt x="95" y="383"/>
                  </a:lnTo>
                  <a:lnTo>
                    <a:pt x="99" y="381"/>
                  </a:lnTo>
                  <a:lnTo>
                    <a:pt x="141" y="362"/>
                  </a:lnTo>
                  <a:lnTo>
                    <a:pt x="183" y="342"/>
                  </a:lnTo>
                  <a:lnTo>
                    <a:pt x="223" y="322"/>
                  </a:lnTo>
                  <a:lnTo>
                    <a:pt x="261" y="300"/>
                  </a:lnTo>
                  <a:lnTo>
                    <a:pt x="279" y="289"/>
                  </a:lnTo>
                  <a:lnTo>
                    <a:pt x="295" y="279"/>
                  </a:lnTo>
                  <a:lnTo>
                    <a:pt x="312" y="268"/>
                  </a:lnTo>
                  <a:lnTo>
                    <a:pt x="327" y="257"/>
                  </a:lnTo>
                  <a:lnTo>
                    <a:pt x="341" y="244"/>
                  </a:lnTo>
                  <a:lnTo>
                    <a:pt x="354" y="233"/>
                  </a:lnTo>
                  <a:lnTo>
                    <a:pt x="367" y="221"/>
                  </a:lnTo>
                  <a:lnTo>
                    <a:pt x="377" y="210"/>
                  </a:lnTo>
                  <a:lnTo>
                    <a:pt x="384" y="200"/>
                  </a:lnTo>
                  <a:lnTo>
                    <a:pt x="389" y="192"/>
                  </a:lnTo>
                  <a:lnTo>
                    <a:pt x="394" y="183"/>
                  </a:lnTo>
                  <a:lnTo>
                    <a:pt x="398" y="175"/>
                  </a:lnTo>
                  <a:lnTo>
                    <a:pt x="401" y="167"/>
                  </a:lnTo>
                  <a:lnTo>
                    <a:pt x="403" y="159"/>
                  </a:lnTo>
                  <a:lnTo>
                    <a:pt x="404" y="150"/>
                  </a:lnTo>
                  <a:lnTo>
                    <a:pt x="405" y="143"/>
                  </a:lnTo>
                  <a:lnTo>
                    <a:pt x="405" y="129"/>
                  </a:lnTo>
                  <a:lnTo>
                    <a:pt x="403" y="116"/>
                  </a:lnTo>
                  <a:lnTo>
                    <a:pt x="400" y="103"/>
                  </a:lnTo>
                  <a:lnTo>
                    <a:pt x="395" y="92"/>
                  </a:lnTo>
                  <a:lnTo>
                    <a:pt x="390" y="83"/>
                  </a:lnTo>
                  <a:lnTo>
                    <a:pt x="385" y="74"/>
                  </a:lnTo>
                  <a:lnTo>
                    <a:pt x="378" y="65"/>
                  </a:lnTo>
                  <a:lnTo>
                    <a:pt x="371" y="56"/>
                  </a:lnTo>
                  <a:lnTo>
                    <a:pt x="363" y="48"/>
                  </a:lnTo>
                  <a:lnTo>
                    <a:pt x="353" y="40"/>
                  </a:lnTo>
                  <a:lnTo>
                    <a:pt x="344" y="34"/>
                  </a:lnTo>
                  <a:lnTo>
                    <a:pt x="334" y="27"/>
                  </a:lnTo>
                  <a:lnTo>
                    <a:pt x="324" y="22"/>
                  </a:lnTo>
                  <a:lnTo>
                    <a:pt x="314" y="16"/>
                  </a:lnTo>
                  <a:lnTo>
                    <a:pt x="302" y="12"/>
                  </a:lnTo>
                  <a:lnTo>
                    <a:pt x="292" y="7"/>
                  </a:lnTo>
                  <a:lnTo>
                    <a:pt x="281" y="4"/>
                  </a:lnTo>
                  <a:lnTo>
                    <a:pt x="270" y="2"/>
                  </a:lnTo>
                  <a:lnTo>
                    <a:pt x="259" y="1"/>
                  </a:lnTo>
                  <a:lnTo>
                    <a:pt x="247" y="0"/>
                  </a:lnTo>
                  <a:lnTo>
                    <a:pt x="198" y="59"/>
                  </a:lnTo>
                  <a:lnTo>
                    <a:pt x="247"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5" name="Freeform 49"/>
            <p:cNvSpPr>
              <a:spLocks/>
            </p:cNvSpPr>
            <p:nvPr userDrawn="1"/>
          </p:nvSpPr>
          <p:spPr bwMode="auto">
            <a:xfrm>
              <a:off x="6473" y="596"/>
              <a:ext cx="191" cy="122"/>
            </a:xfrm>
            <a:custGeom>
              <a:avLst/>
              <a:gdLst>
                <a:gd name="T0" fmla="*/ 982 w 2289"/>
                <a:gd name="T1" fmla="*/ 130 h 1460"/>
                <a:gd name="T2" fmla="*/ 920 w 2289"/>
                <a:gd name="T3" fmla="*/ 214 h 1460"/>
                <a:gd name="T4" fmla="*/ 891 w 2289"/>
                <a:gd name="T5" fmla="*/ 387 h 1460"/>
                <a:gd name="T6" fmla="*/ 936 w 2289"/>
                <a:gd name="T7" fmla="*/ 481 h 1460"/>
                <a:gd name="T8" fmla="*/ 1034 w 2289"/>
                <a:gd name="T9" fmla="*/ 514 h 1460"/>
                <a:gd name="T10" fmla="*/ 1200 w 2289"/>
                <a:gd name="T11" fmla="*/ 464 h 1460"/>
                <a:gd name="T12" fmla="*/ 1394 w 2289"/>
                <a:gd name="T13" fmla="*/ 312 h 1460"/>
                <a:gd name="T14" fmla="*/ 1433 w 2289"/>
                <a:gd name="T15" fmla="*/ 157 h 1460"/>
                <a:gd name="T16" fmla="*/ 1486 w 2289"/>
                <a:gd name="T17" fmla="*/ 59 h 1460"/>
                <a:gd name="T18" fmla="*/ 1544 w 2289"/>
                <a:gd name="T19" fmla="*/ 51 h 1460"/>
                <a:gd name="T20" fmla="*/ 1625 w 2289"/>
                <a:gd name="T21" fmla="*/ 91 h 1460"/>
                <a:gd name="T22" fmla="*/ 1634 w 2289"/>
                <a:gd name="T23" fmla="*/ 139 h 1460"/>
                <a:gd name="T24" fmla="*/ 1565 w 2289"/>
                <a:gd name="T25" fmla="*/ 346 h 1460"/>
                <a:gd name="T26" fmla="*/ 1568 w 2289"/>
                <a:gd name="T27" fmla="*/ 436 h 1460"/>
                <a:gd name="T28" fmla="*/ 1616 w 2289"/>
                <a:gd name="T29" fmla="*/ 424 h 1460"/>
                <a:gd name="T30" fmla="*/ 1755 w 2289"/>
                <a:gd name="T31" fmla="*/ 283 h 1460"/>
                <a:gd name="T32" fmla="*/ 1888 w 2289"/>
                <a:gd name="T33" fmla="*/ 183 h 1460"/>
                <a:gd name="T34" fmla="*/ 1988 w 2289"/>
                <a:gd name="T35" fmla="*/ 199 h 1460"/>
                <a:gd name="T36" fmla="*/ 2063 w 2289"/>
                <a:gd name="T37" fmla="*/ 256 h 1460"/>
                <a:gd name="T38" fmla="*/ 2136 w 2289"/>
                <a:gd name="T39" fmla="*/ 408 h 1460"/>
                <a:gd name="T40" fmla="*/ 2229 w 2289"/>
                <a:gd name="T41" fmla="*/ 531 h 1460"/>
                <a:gd name="T42" fmla="*/ 2287 w 2289"/>
                <a:gd name="T43" fmla="*/ 580 h 1460"/>
                <a:gd name="T44" fmla="*/ 2259 w 2289"/>
                <a:gd name="T45" fmla="*/ 612 h 1460"/>
                <a:gd name="T46" fmla="*/ 2126 w 2289"/>
                <a:gd name="T47" fmla="*/ 583 h 1460"/>
                <a:gd name="T48" fmla="*/ 1973 w 2289"/>
                <a:gd name="T49" fmla="*/ 441 h 1460"/>
                <a:gd name="T50" fmla="*/ 1884 w 2289"/>
                <a:gd name="T51" fmla="*/ 335 h 1460"/>
                <a:gd name="T52" fmla="*/ 1759 w 2289"/>
                <a:gd name="T53" fmla="*/ 434 h 1460"/>
                <a:gd name="T54" fmla="*/ 1620 w 2289"/>
                <a:gd name="T55" fmla="*/ 580 h 1460"/>
                <a:gd name="T56" fmla="*/ 1534 w 2289"/>
                <a:gd name="T57" fmla="*/ 588 h 1460"/>
                <a:gd name="T58" fmla="*/ 1425 w 2289"/>
                <a:gd name="T59" fmla="*/ 523 h 1460"/>
                <a:gd name="T60" fmla="*/ 1351 w 2289"/>
                <a:gd name="T61" fmla="*/ 466 h 1460"/>
                <a:gd name="T62" fmla="*/ 1157 w 2289"/>
                <a:gd name="T63" fmla="*/ 584 h 1460"/>
                <a:gd name="T64" fmla="*/ 993 w 2289"/>
                <a:gd name="T65" fmla="*/ 613 h 1460"/>
                <a:gd name="T66" fmla="*/ 823 w 2289"/>
                <a:gd name="T67" fmla="*/ 555 h 1460"/>
                <a:gd name="T68" fmla="*/ 720 w 2289"/>
                <a:gd name="T69" fmla="*/ 457 h 1460"/>
                <a:gd name="T70" fmla="*/ 448 w 2289"/>
                <a:gd name="T71" fmla="*/ 594 h 1460"/>
                <a:gd name="T72" fmla="*/ 392 w 2289"/>
                <a:gd name="T73" fmla="*/ 862 h 1460"/>
                <a:gd name="T74" fmla="*/ 328 w 2289"/>
                <a:gd name="T75" fmla="*/ 1161 h 1460"/>
                <a:gd name="T76" fmla="*/ 215 w 2289"/>
                <a:gd name="T77" fmla="*/ 1376 h 1460"/>
                <a:gd name="T78" fmla="*/ 114 w 2289"/>
                <a:gd name="T79" fmla="*/ 1448 h 1460"/>
                <a:gd name="T80" fmla="*/ 0 w 2289"/>
                <a:gd name="T81" fmla="*/ 1423 h 1460"/>
                <a:gd name="T82" fmla="*/ 95 w 2289"/>
                <a:gd name="T83" fmla="*/ 1349 h 1460"/>
                <a:gd name="T84" fmla="*/ 163 w 2289"/>
                <a:gd name="T85" fmla="*/ 1228 h 1460"/>
                <a:gd name="T86" fmla="*/ 213 w 2289"/>
                <a:gd name="T87" fmla="*/ 1035 h 1460"/>
                <a:gd name="T88" fmla="*/ 240 w 2289"/>
                <a:gd name="T89" fmla="*/ 617 h 1460"/>
                <a:gd name="T90" fmla="*/ 195 w 2289"/>
                <a:gd name="T91" fmla="*/ 511 h 1460"/>
                <a:gd name="T92" fmla="*/ 92 w 2289"/>
                <a:gd name="T93" fmla="*/ 565 h 1460"/>
                <a:gd name="T94" fmla="*/ 143 w 2289"/>
                <a:gd name="T95" fmla="*/ 433 h 1460"/>
                <a:gd name="T96" fmla="*/ 254 w 2289"/>
                <a:gd name="T97" fmla="*/ 332 h 1460"/>
                <a:gd name="T98" fmla="*/ 297 w 2289"/>
                <a:gd name="T99" fmla="*/ 230 h 1460"/>
                <a:gd name="T100" fmla="*/ 267 w 2289"/>
                <a:gd name="T101" fmla="*/ 178 h 1460"/>
                <a:gd name="T102" fmla="*/ 261 w 2289"/>
                <a:gd name="T103" fmla="*/ 74 h 1460"/>
                <a:gd name="T104" fmla="*/ 335 w 2289"/>
                <a:gd name="T105" fmla="*/ 118 h 1460"/>
                <a:gd name="T106" fmla="*/ 398 w 2289"/>
                <a:gd name="T107" fmla="*/ 108 h 1460"/>
                <a:gd name="T108" fmla="*/ 489 w 2289"/>
                <a:gd name="T109" fmla="*/ 137 h 1460"/>
                <a:gd name="T110" fmla="*/ 505 w 2289"/>
                <a:gd name="T111" fmla="*/ 181 h 1460"/>
                <a:gd name="T112" fmla="*/ 456 w 2289"/>
                <a:gd name="T113" fmla="*/ 322 h 1460"/>
                <a:gd name="T114" fmla="*/ 427 w 2289"/>
                <a:gd name="T115" fmla="*/ 510 h 1460"/>
                <a:gd name="T116" fmla="*/ 690 w 2289"/>
                <a:gd name="T117" fmla="*/ 385 h 1460"/>
                <a:gd name="T118" fmla="*/ 720 w 2289"/>
                <a:gd name="T119" fmla="*/ 256 h 1460"/>
                <a:gd name="T120" fmla="*/ 812 w 2289"/>
                <a:gd name="T121" fmla="*/ 126 h 1460"/>
                <a:gd name="T122" fmla="*/ 957 w 2289"/>
                <a:gd name="T123" fmla="*/ 26 h 1460"/>
                <a:gd name="T124" fmla="*/ 1042 w 2289"/>
                <a:gd name="T125" fmla="*/ 101 h 14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289" h="1460">
                  <a:moveTo>
                    <a:pt x="1042" y="101"/>
                  </a:moveTo>
                  <a:lnTo>
                    <a:pt x="1034" y="101"/>
                  </a:lnTo>
                  <a:lnTo>
                    <a:pt x="1027" y="103"/>
                  </a:lnTo>
                  <a:lnTo>
                    <a:pt x="1020" y="105"/>
                  </a:lnTo>
                  <a:lnTo>
                    <a:pt x="1013" y="109"/>
                  </a:lnTo>
                  <a:lnTo>
                    <a:pt x="1003" y="116"/>
                  </a:lnTo>
                  <a:lnTo>
                    <a:pt x="992" y="122"/>
                  </a:lnTo>
                  <a:lnTo>
                    <a:pt x="982" y="130"/>
                  </a:lnTo>
                  <a:lnTo>
                    <a:pt x="973" y="138"/>
                  </a:lnTo>
                  <a:lnTo>
                    <a:pt x="964" y="147"/>
                  </a:lnTo>
                  <a:lnTo>
                    <a:pt x="956" y="158"/>
                  </a:lnTo>
                  <a:lnTo>
                    <a:pt x="948" y="168"/>
                  </a:lnTo>
                  <a:lnTo>
                    <a:pt x="939" y="178"/>
                  </a:lnTo>
                  <a:lnTo>
                    <a:pt x="932" y="189"/>
                  </a:lnTo>
                  <a:lnTo>
                    <a:pt x="926" y="201"/>
                  </a:lnTo>
                  <a:lnTo>
                    <a:pt x="920" y="214"/>
                  </a:lnTo>
                  <a:lnTo>
                    <a:pt x="914" y="226"/>
                  </a:lnTo>
                  <a:lnTo>
                    <a:pt x="909" y="239"/>
                  </a:lnTo>
                  <a:lnTo>
                    <a:pt x="905" y="253"/>
                  </a:lnTo>
                  <a:lnTo>
                    <a:pt x="901" y="268"/>
                  </a:lnTo>
                  <a:lnTo>
                    <a:pt x="898" y="282"/>
                  </a:lnTo>
                  <a:lnTo>
                    <a:pt x="894" y="294"/>
                  </a:lnTo>
                  <a:lnTo>
                    <a:pt x="890" y="383"/>
                  </a:lnTo>
                  <a:lnTo>
                    <a:pt x="891" y="387"/>
                  </a:lnTo>
                  <a:lnTo>
                    <a:pt x="893" y="401"/>
                  </a:lnTo>
                  <a:lnTo>
                    <a:pt x="898" y="416"/>
                  </a:lnTo>
                  <a:lnTo>
                    <a:pt x="902" y="429"/>
                  </a:lnTo>
                  <a:lnTo>
                    <a:pt x="907" y="441"/>
                  </a:lnTo>
                  <a:lnTo>
                    <a:pt x="913" y="453"/>
                  </a:lnTo>
                  <a:lnTo>
                    <a:pt x="920" y="463"/>
                  </a:lnTo>
                  <a:lnTo>
                    <a:pt x="928" y="472"/>
                  </a:lnTo>
                  <a:lnTo>
                    <a:pt x="936" y="481"/>
                  </a:lnTo>
                  <a:lnTo>
                    <a:pt x="947" y="488"/>
                  </a:lnTo>
                  <a:lnTo>
                    <a:pt x="957" y="495"/>
                  </a:lnTo>
                  <a:lnTo>
                    <a:pt x="968" y="500"/>
                  </a:lnTo>
                  <a:lnTo>
                    <a:pt x="979" y="506"/>
                  </a:lnTo>
                  <a:lnTo>
                    <a:pt x="992" y="510"/>
                  </a:lnTo>
                  <a:lnTo>
                    <a:pt x="1006" y="512"/>
                  </a:lnTo>
                  <a:lnTo>
                    <a:pt x="1019" y="514"/>
                  </a:lnTo>
                  <a:lnTo>
                    <a:pt x="1034" y="514"/>
                  </a:lnTo>
                  <a:lnTo>
                    <a:pt x="1054" y="513"/>
                  </a:lnTo>
                  <a:lnTo>
                    <a:pt x="1073" y="511"/>
                  </a:lnTo>
                  <a:lnTo>
                    <a:pt x="1093" y="507"/>
                  </a:lnTo>
                  <a:lnTo>
                    <a:pt x="1114" y="501"/>
                  </a:lnTo>
                  <a:lnTo>
                    <a:pt x="1135" y="494"/>
                  </a:lnTo>
                  <a:lnTo>
                    <a:pt x="1157" y="485"/>
                  </a:lnTo>
                  <a:lnTo>
                    <a:pt x="1178" y="475"/>
                  </a:lnTo>
                  <a:lnTo>
                    <a:pt x="1200" y="464"/>
                  </a:lnTo>
                  <a:lnTo>
                    <a:pt x="1224" y="449"/>
                  </a:lnTo>
                  <a:lnTo>
                    <a:pt x="1246" y="435"/>
                  </a:lnTo>
                  <a:lnTo>
                    <a:pt x="1271" y="418"/>
                  </a:lnTo>
                  <a:lnTo>
                    <a:pt x="1294" y="400"/>
                  </a:lnTo>
                  <a:lnTo>
                    <a:pt x="1319" y="380"/>
                  </a:lnTo>
                  <a:lnTo>
                    <a:pt x="1343" y="359"/>
                  </a:lnTo>
                  <a:lnTo>
                    <a:pt x="1369" y="336"/>
                  </a:lnTo>
                  <a:lnTo>
                    <a:pt x="1394" y="312"/>
                  </a:lnTo>
                  <a:lnTo>
                    <a:pt x="1395" y="311"/>
                  </a:lnTo>
                  <a:lnTo>
                    <a:pt x="1396" y="309"/>
                  </a:lnTo>
                  <a:lnTo>
                    <a:pt x="1401" y="279"/>
                  </a:lnTo>
                  <a:lnTo>
                    <a:pt x="1407" y="252"/>
                  </a:lnTo>
                  <a:lnTo>
                    <a:pt x="1413" y="227"/>
                  </a:lnTo>
                  <a:lnTo>
                    <a:pt x="1419" y="203"/>
                  </a:lnTo>
                  <a:lnTo>
                    <a:pt x="1425" y="180"/>
                  </a:lnTo>
                  <a:lnTo>
                    <a:pt x="1433" y="157"/>
                  </a:lnTo>
                  <a:lnTo>
                    <a:pt x="1441" y="133"/>
                  </a:lnTo>
                  <a:lnTo>
                    <a:pt x="1450" y="110"/>
                  </a:lnTo>
                  <a:lnTo>
                    <a:pt x="1457" y="96"/>
                  </a:lnTo>
                  <a:lnTo>
                    <a:pt x="1463" y="84"/>
                  </a:lnTo>
                  <a:lnTo>
                    <a:pt x="1470" y="74"/>
                  </a:lnTo>
                  <a:lnTo>
                    <a:pt x="1477" y="65"/>
                  </a:lnTo>
                  <a:lnTo>
                    <a:pt x="1482" y="62"/>
                  </a:lnTo>
                  <a:lnTo>
                    <a:pt x="1486" y="59"/>
                  </a:lnTo>
                  <a:lnTo>
                    <a:pt x="1491" y="55"/>
                  </a:lnTo>
                  <a:lnTo>
                    <a:pt x="1496" y="52"/>
                  </a:lnTo>
                  <a:lnTo>
                    <a:pt x="1501" y="51"/>
                  </a:lnTo>
                  <a:lnTo>
                    <a:pt x="1508" y="49"/>
                  </a:lnTo>
                  <a:lnTo>
                    <a:pt x="1515" y="48"/>
                  </a:lnTo>
                  <a:lnTo>
                    <a:pt x="1521" y="48"/>
                  </a:lnTo>
                  <a:lnTo>
                    <a:pt x="1532" y="49"/>
                  </a:lnTo>
                  <a:lnTo>
                    <a:pt x="1544" y="51"/>
                  </a:lnTo>
                  <a:lnTo>
                    <a:pt x="1557" y="54"/>
                  </a:lnTo>
                  <a:lnTo>
                    <a:pt x="1573" y="59"/>
                  </a:lnTo>
                  <a:lnTo>
                    <a:pt x="1584" y="64"/>
                  </a:lnTo>
                  <a:lnTo>
                    <a:pt x="1594" y="68"/>
                  </a:lnTo>
                  <a:lnTo>
                    <a:pt x="1603" y="73"/>
                  </a:lnTo>
                  <a:lnTo>
                    <a:pt x="1612" y="79"/>
                  </a:lnTo>
                  <a:lnTo>
                    <a:pt x="1619" y="85"/>
                  </a:lnTo>
                  <a:lnTo>
                    <a:pt x="1625" y="91"/>
                  </a:lnTo>
                  <a:lnTo>
                    <a:pt x="1629" y="97"/>
                  </a:lnTo>
                  <a:lnTo>
                    <a:pt x="1633" y="104"/>
                  </a:lnTo>
                  <a:lnTo>
                    <a:pt x="1635" y="110"/>
                  </a:lnTo>
                  <a:lnTo>
                    <a:pt x="1636" y="116"/>
                  </a:lnTo>
                  <a:lnTo>
                    <a:pt x="1636" y="121"/>
                  </a:lnTo>
                  <a:lnTo>
                    <a:pt x="1636" y="127"/>
                  </a:lnTo>
                  <a:lnTo>
                    <a:pt x="1636" y="133"/>
                  </a:lnTo>
                  <a:lnTo>
                    <a:pt x="1634" y="139"/>
                  </a:lnTo>
                  <a:lnTo>
                    <a:pt x="1632" y="145"/>
                  </a:lnTo>
                  <a:lnTo>
                    <a:pt x="1630" y="151"/>
                  </a:lnTo>
                  <a:lnTo>
                    <a:pt x="1614" y="187"/>
                  </a:lnTo>
                  <a:lnTo>
                    <a:pt x="1599" y="222"/>
                  </a:lnTo>
                  <a:lnTo>
                    <a:pt x="1588" y="254"/>
                  </a:lnTo>
                  <a:lnTo>
                    <a:pt x="1579" y="286"/>
                  </a:lnTo>
                  <a:lnTo>
                    <a:pt x="1571" y="317"/>
                  </a:lnTo>
                  <a:lnTo>
                    <a:pt x="1565" y="346"/>
                  </a:lnTo>
                  <a:lnTo>
                    <a:pt x="1562" y="376"/>
                  </a:lnTo>
                  <a:lnTo>
                    <a:pt x="1560" y="406"/>
                  </a:lnTo>
                  <a:lnTo>
                    <a:pt x="1560" y="414"/>
                  </a:lnTo>
                  <a:lnTo>
                    <a:pt x="1561" y="422"/>
                  </a:lnTo>
                  <a:lnTo>
                    <a:pt x="1562" y="426"/>
                  </a:lnTo>
                  <a:lnTo>
                    <a:pt x="1563" y="430"/>
                  </a:lnTo>
                  <a:lnTo>
                    <a:pt x="1565" y="433"/>
                  </a:lnTo>
                  <a:lnTo>
                    <a:pt x="1568" y="436"/>
                  </a:lnTo>
                  <a:lnTo>
                    <a:pt x="1572" y="439"/>
                  </a:lnTo>
                  <a:lnTo>
                    <a:pt x="1576" y="441"/>
                  </a:lnTo>
                  <a:lnTo>
                    <a:pt x="1581" y="442"/>
                  </a:lnTo>
                  <a:lnTo>
                    <a:pt x="1587" y="441"/>
                  </a:lnTo>
                  <a:lnTo>
                    <a:pt x="1593" y="439"/>
                  </a:lnTo>
                  <a:lnTo>
                    <a:pt x="1600" y="435"/>
                  </a:lnTo>
                  <a:lnTo>
                    <a:pt x="1607" y="430"/>
                  </a:lnTo>
                  <a:lnTo>
                    <a:pt x="1616" y="424"/>
                  </a:lnTo>
                  <a:lnTo>
                    <a:pt x="1626" y="414"/>
                  </a:lnTo>
                  <a:lnTo>
                    <a:pt x="1639" y="401"/>
                  </a:lnTo>
                  <a:lnTo>
                    <a:pt x="1653" y="386"/>
                  </a:lnTo>
                  <a:lnTo>
                    <a:pt x="1670" y="369"/>
                  </a:lnTo>
                  <a:lnTo>
                    <a:pt x="1690" y="348"/>
                  </a:lnTo>
                  <a:lnTo>
                    <a:pt x="1710" y="327"/>
                  </a:lnTo>
                  <a:lnTo>
                    <a:pt x="1733" y="306"/>
                  </a:lnTo>
                  <a:lnTo>
                    <a:pt x="1755" y="283"/>
                  </a:lnTo>
                  <a:lnTo>
                    <a:pt x="1778" y="262"/>
                  </a:lnTo>
                  <a:lnTo>
                    <a:pt x="1801" y="242"/>
                  </a:lnTo>
                  <a:lnTo>
                    <a:pt x="1824" y="224"/>
                  </a:lnTo>
                  <a:lnTo>
                    <a:pt x="1845" y="208"/>
                  </a:lnTo>
                  <a:lnTo>
                    <a:pt x="1850" y="204"/>
                  </a:lnTo>
                  <a:lnTo>
                    <a:pt x="1865" y="195"/>
                  </a:lnTo>
                  <a:lnTo>
                    <a:pt x="1880" y="187"/>
                  </a:lnTo>
                  <a:lnTo>
                    <a:pt x="1888" y="183"/>
                  </a:lnTo>
                  <a:lnTo>
                    <a:pt x="1897" y="181"/>
                  </a:lnTo>
                  <a:lnTo>
                    <a:pt x="1906" y="179"/>
                  </a:lnTo>
                  <a:lnTo>
                    <a:pt x="1917" y="178"/>
                  </a:lnTo>
                  <a:lnTo>
                    <a:pt x="1927" y="179"/>
                  </a:lnTo>
                  <a:lnTo>
                    <a:pt x="1937" y="181"/>
                  </a:lnTo>
                  <a:lnTo>
                    <a:pt x="1948" y="183"/>
                  </a:lnTo>
                  <a:lnTo>
                    <a:pt x="1959" y="187"/>
                  </a:lnTo>
                  <a:lnTo>
                    <a:pt x="1988" y="199"/>
                  </a:lnTo>
                  <a:lnTo>
                    <a:pt x="2011" y="212"/>
                  </a:lnTo>
                  <a:lnTo>
                    <a:pt x="2022" y="218"/>
                  </a:lnTo>
                  <a:lnTo>
                    <a:pt x="2030" y="224"/>
                  </a:lnTo>
                  <a:lnTo>
                    <a:pt x="2039" y="230"/>
                  </a:lnTo>
                  <a:lnTo>
                    <a:pt x="2046" y="236"/>
                  </a:lnTo>
                  <a:lnTo>
                    <a:pt x="2052" y="242"/>
                  </a:lnTo>
                  <a:lnTo>
                    <a:pt x="2058" y="249"/>
                  </a:lnTo>
                  <a:lnTo>
                    <a:pt x="2063" y="256"/>
                  </a:lnTo>
                  <a:lnTo>
                    <a:pt x="2069" y="263"/>
                  </a:lnTo>
                  <a:lnTo>
                    <a:pt x="2077" y="278"/>
                  </a:lnTo>
                  <a:lnTo>
                    <a:pt x="2084" y="294"/>
                  </a:lnTo>
                  <a:lnTo>
                    <a:pt x="2094" y="320"/>
                  </a:lnTo>
                  <a:lnTo>
                    <a:pt x="2104" y="343"/>
                  </a:lnTo>
                  <a:lnTo>
                    <a:pt x="2115" y="366"/>
                  </a:lnTo>
                  <a:lnTo>
                    <a:pt x="2126" y="387"/>
                  </a:lnTo>
                  <a:lnTo>
                    <a:pt x="2136" y="408"/>
                  </a:lnTo>
                  <a:lnTo>
                    <a:pt x="2147" y="427"/>
                  </a:lnTo>
                  <a:lnTo>
                    <a:pt x="2158" y="444"/>
                  </a:lnTo>
                  <a:lnTo>
                    <a:pt x="2169" y="462"/>
                  </a:lnTo>
                  <a:lnTo>
                    <a:pt x="2181" y="478"/>
                  </a:lnTo>
                  <a:lnTo>
                    <a:pt x="2192" y="492"/>
                  </a:lnTo>
                  <a:lnTo>
                    <a:pt x="2204" y="507"/>
                  </a:lnTo>
                  <a:lnTo>
                    <a:pt x="2216" y="519"/>
                  </a:lnTo>
                  <a:lnTo>
                    <a:pt x="2229" y="531"/>
                  </a:lnTo>
                  <a:lnTo>
                    <a:pt x="2241" y="541"/>
                  </a:lnTo>
                  <a:lnTo>
                    <a:pt x="2253" y="552"/>
                  </a:lnTo>
                  <a:lnTo>
                    <a:pt x="2266" y="560"/>
                  </a:lnTo>
                  <a:lnTo>
                    <a:pt x="2273" y="564"/>
                  </a:lnTo>
                  <a:lnTo>
                    <a:pt x="2278" y="568"/>
                  </a:lnTo>
                  <a:lnTo>
                    <a:pt x="2282" y="572"/>
                  </a:lnTo>
                  <a:lnTo>
                    <a:pt x="2285" y="576"/>
                  </a:lnTo>
                  <a:lnTo>
                    <a:pt x="2287" y="580"/>
                  </a:lnTo>
                  <a:lnTo>
                    <a:pt x="2289" y="584"/>
                  </a:lnTo>
                  <a:lnTo>
                    <a:pt x="2289" y="588"/>
                  </a:lnTo>
                  <a:lnTo>
                    <a:pt x="2289" y="592"/>
                  </a:lnTo>
                  <a:lnTo>
                    <a:pt x="2286" y="597"/>
                  </a:lnTo>
                  <a:lnTo>
                    <a:pt x="2282" y="602"/>
                  </a:lnTo>
                  <a:lnTo>
                    <a:pt x="2276" y="606"/>
                  </a:lnTo>
                  <a:lnTo>
                    <a:pt x="2267" y="609"/>
                  </a:lnTo>
                  <a:lnTo>
                    <a:pt x="2259" y="612"/>
                  </a:lnTo>
                  <a:lnTo>
                    <a:pt x="2249" y="613"/>
                  </a:lnTo>
                  <a:lnTo>
                    <a:pt x="2238" y="614"/>
                  </a:lnTo>
                  <a:lnTo>
                    <a:pt x="2226" y="614"/>
                  </a:lnTo>
                  <a:lnTo>
                    <a:pt x="2205" y="611"/>
                  </a:lnTo>
                  <a:lnTo>
                    <a:pt x="2186" y="607"/>
                  </a:lnTo>
                  <a:lnTo>
                    <a:pt x="2165" y="601"/>
                  </a:lnTo>
                  <a:lnTo>
                    <a:pt x="2145" y="592"/>
                  </a:lnTo>
                  <a:lnTo>
                    <a:pt x="2126" y="583"/>
                  </a:lnTo>
                  <a:lnTo>
                    <a:pt x="2106" y="571"/>
                  </a:lnTo>
                  <a:lnTo>
                    <a:pt x="2086" y="558"/>
                  </a:lnTo>
                  <a:lnTo>
                    <a:pt x="2066" y="543"/>
                  </a:lnTo>
                  <a:lnTo>
                    <a:pt x="2047" y="526"/>
                  </a:lnTo>
                  <a:lnTo>
                    <a:pt x="2029" y="508"/>
                  </a:lnTo>
                  <a:lnTo>
                    <a:pt x="2009" y="487"/>
                  </a:lnTo>
                  <a:lnTo>
                    <a:pt x="1991" y="465"/>
                  </a:lnTo>
                  <a:lnTo>
                    <a:pt x="1973" y="441"/>
                  </a:lnTo>
                  <a:lnTo>
                    <a:pt x="1954" y="416"/>
                  </a:lnTo>
                  <a:lnTo>
                    <a:pt x="1937" y="388"/>
                  </a:lnTo>
                  <a:lnTo>
                    <a:pt x="1920" y="360"/>
                  </a:lnTo>
                  <a:lnTo>
                    <a:pt x="1913" y="351"/>
                  </a:lnTo>
                  <a:lnTo>
                    <a:pt x="1906" y="344"/>
                  </a:lnTo>
                  <a:lnTo>
                    <a:pt x="1899" y="339"/>
                  </a:lnTo>
                  <a:lnTo>
                    <a:pt x="1892" y="336"/>
                  </a:lnTo>
                  <a:lnTo>
                    <a:pt x="1884" y="335"/>
                  </a:lnTo>
                  <a:lnTo>
                    <a:pt x="1875" y="335"/>
                  </a:lnTo>
                  <a:lnTo>
                    <a:pt x="1867" y="338"/>
                  </a:lnTo>
                  <a:lnTo>
                    <a:pt x="1857" y="343"/>
                  </a:lnTo>
                  <a:lnTo>
                    <a:pt x="1838" y="358"/>
                  </a:lnTo>
                  <a:lnTo>
                    <a:pt x="1821" y="372"/>
                  </a:lnTo>
                  <a:lnTo>
                    <a:pt x="1804" y="387"/>
                  </a:lnTo>
                  <a:lnTo>
                    <a:pt x="1789" y="402"/>
                  </a:lnTo>
                  <a:lnTo>
                    <a:pt x="1759" y="434"/>
                  </a:lnTo>
                  <a:lnTo>
                    <a:pt x="1730" y="468"/>
                  </a:lnTo>
                  <a:lnTo>
                    <a:pt x="1712" y="488"/>
                  </a:lnTo>
                  <a:lnTo>
                    <a:pt x="1692" y="511"/>
                  </a:lnTo>
                  <a:lnTo>
                    <a:pt x="1671" y="535"/>
                  </a:lnTo>
                  <a:lnTo>
                    <a:pt x="1647" y="560"/>
                  </a:lnTo>
                  <a:lnTo>
                    <a:pt x="1638" y="568"/>
                  </a:lnTo>
                  <a:lnTo>
                    <a:pt x="1629" y="574"/>
                  </a:lnTo>
                  <a:lnTo>
                    <a:pt x="1620" y="580"/>
                  </a:lnTo>
                  <a:lnTo>
                    <a:pt x="1611" y="585"/>
                  </a:lnTo>
                  <a:lnTo>
                    <a:pt x="1600" y="588"/>
                  </a:lnTo>
                  <a:lnTo>
                    <a:pt x="1590" y="591"/>
                  </a:lnTo>
                  <a:lnTo>
                    <a:pt x="1580" y="592"/>
                  </a:lnTo>
                  <a:lnTo>
                    <a:pt x="1569" y="593"/>
                  </a:lnTo>
                  <a:lnTo>
                    <a:pt x="1557" y="592"/>
                  </a:lnTo>
                  <a:lnTo>
                    <a:pt x="1545" y="590"/>
                  </a:lnTo>
                  <a:lnTo>
                    <a:pt x="1534" y="588"/>
                  </a:lnTo>
                  <a:lnTo>
                    <a:pt x="1522" y="584"/>
                  </a:lnTo>
                  <a:lnTo>
                    <a:pt x="1509" y="579"/>
                  </a:lnTo>
                  <a:lnTo>
                    <a:pt x="1495" y="573"/>
                  </a:lnTo>
                  <a:lnTo>
                    <a:pt x="1482" y="566"/>
                  </a:lnTo>
                  <a:lnTo>
                    <a:pt x="1469" y="558"/>
                  </a:lnTo>
                  <a:lnTo>
                    <a:pt x="1452" y="546"/>
                  </a:lnTo>
                  <a:lnTo>
                    <a:pt x="1438" y="535"/>
                  </a:lnTo>
                  <a:lnTo>
                    <a:pt x="1425" y="523"/>
                  </a:lnTo>
                  <a:lnTo>
                    <a:pt x="1414" y="510"/>
                  </a:lnTo>
                  <a:lnTo>
                    <a:pt x="1404" y="495"/>
                  </a:lnTo>
                  <a:lnTo>
                    <a:pt x="1397" y="480"/>
                  </a:lnTo>
                  <a:lnTo>
                    <a:pt x="1391" y="464"/>
                  </a:lnTo>
                  <a:lnTo>
                    <a:pt x="1387" y="446"/>
                  </a:lnTo>
                  <a:lnTo>
                    <a:pt x="1385" y="437"/>
                  </a:lnTo>
                  <a:lnTo>
                    <a:pt x="1378" y="443"/>
                  </a:lnTo>
                  <a:lnTo>
                    <a:pt x="1351" y="466"/>
                  </a:lnTo>
                  <a:lnTo>
                    <a:pt x="1319" y="491"/>
                  </a:lnTo>
                  <a:lnTo>
                    <a:pt x="1299" y="506"/>
                  </a:lnTo>
                  <a:lnTo>
                    <a:pt x="1279" y="520"/>
                  </a:lnTo>
                  <a:lnTo>
                    <a:pt x="1257" y="534"/>
                  </a:lnTo>
                  <a:lnTo>
                    <a:pt x="1233" y="547"/>
                  </a:lnTo>
                  <a:lnTo>
                    <a:pt x="1209" y="561"/>
                  </a:lnTo>
                  <a:lnTo>
                    <a:pt x="1183" y="573"/>
                  </a:lnTo>
                  <a:lnTo>
                    <a:pt x="1157" y="584"/>
                  </a:lnTo>
                  <a:lnTo>
                    <a:pt x="1130" y="594"/>
                  </a:lnTo>
                  <a:lnTo>
                    <a:pt x="1103" y="603"/>
                  </a:lnTo>
                  <a:lnTo>
                    <a:pt x="1074" y="609"/>
                  </a:lnTo>
                  <a:lnTo>
                    <a:pt x="1060" y="611"/>
                  </a:lnTo>
                  <a:lnTo>
                    <a:pt x="1045" y="613"/>
                  </a:lnTo>
                  <a:lnTo>
                    <a:pt x="1031" y="613"/>
                  </a:lnTo>
                  <a:lnTo>
                    <a:pt x="1017" y="614"/>
                  </a:lnTo>
                  <a:lnTo>
                    <a:pt x="993" y="613"/>
                  </a:lnTo>
                  <a:lnTo>
                    <a:pt x="970" y="610"/>
                  </a:lnTo>
                  <a:lnTo>
                    <a:pt x="948" y="606"/>
                  </a:lnTo>
                  <a:lnTo>
                    <a:pt x="925" y="601"/>
                  </a:lnTo>
                  <a:lnTo>
                    <a:pt x="904" y="593"/>
                  </a:lnTo>
                  <a:lnTo>
                    <a:pt x="882" y="585"/>
                  </a:lnTo>
                  <a:lnTo>
                    <a:pt x="862" y="576"/>
                  </a:lnTo>
                  <a:lnTo>
                    <a:pt x="842" y="566"/>
                  </a:lnTo>
                  <a:lnTo>
                    <a:pt x="823" y="555"/>
                  </a:lnTo>
                  <a:lnTo>
                    <a:pt x="806" y="542"/>
                  </a:lnTo>
                  <a:lnTo>
                    <a:pt x="788" y="530"/>
                  </a:lnTo>
                  <a:lnTo>
                    <a:pt x="773" y="517"/>
                  </a:lnTo>
                  <a:lnTo>
                    <a:pt x="759" y="503"/>
                  </a:lnTo>
                  <a:lnTo>
                    <a:pt x="746" y="489"/>
                  </a:lnTo>
                  <a:lnTo>
                    <a:pt x="733" y="475"/>
                  </a:lnTo>
                  <a:lnTo>
                    <a:pt x="723" y="461"/>
                  </a:lnTo>
                  <a:lnTo>
                    <a:pt x="720" y="457"/>
                  </a:lnTo>
                  <a:lnTo>
                    <a:pt x="716" y="459"/>
                  </a:lnTo>
                  <a:lnTo>
                    <a:pt x="673" y="477"/>
                  </a:lnTo>
                  <a:lnTo>
                    <a:pt x="632" y="496"/>
                  </a:lnTo>
                  <a:lnTo>
                    <a:pt x="593" y="516"/>
                  </a:lnTo>
                  <a:lnTo>
                    <a:pt x="555" y="535"/>
                  </a:lnTo>
                  <a:lnTo>
                    <a:pt x="517" y="556"/>
                  </a:lnTo>
                  <a:lnTo>
                    <a:pt x="481" y="575"/>
                  </a:lnTo>
                  <a:lnTo>
                    <a:pt x="448" y="594"/>
                  </a:lnTo>
                  <a:lnTo>
                    <a:pt x="414" y="615"/>
                  </a:lnTo>
                  <a:lnTo>
                    <a:pt x="412" y="616"/>
                  </a:lnTo>
                  <a:lnTo>
                    <a:pt x="412" y="619"/>
                  </a:lnTo>
                  <a:lnTo>
                    <a:pt x="408" y="683"/>
                  </a:lnTo>
                  <a:lnTo>
                    <a:pt x="404" y="752"/>
                  </a:lnTo>
                  <a:lnTo>
                    <a:pt x="401" y="787"/>
                  </a:lnTo>
                  <a:lnTo>
                    <a:pt x="397" y="824"/>
                  </a:lnTo>
                  <a:lnTo>
                    <a:pt x="392" y="862"/>
                  </a:lnTo>
                  <a:lnTo>
                    <a:pt x="387" y="900"/>
                  </a:lnTo>
                  <a:lnTo>
                    <a:pt x="381" y="937"/>
                  </a:lnTo>
                  <a:lnTo>
                    <a:pt x="374" y="975"/>
                  </a:lnTo>
                  <a:lnTo>
                    <a:pt x="367" y="1013"/>
                  </a:lnTo>
                  <a:lnTo>
                    <a:pt x="359" y="1051"/>
                  </a:lnTo>
                  <a:lnTo>
                    <a:pt x="350" y="1088"/>
                  </a:lnTo>
                  <a:lnTo>
                    <a:pt x="340" y="1125"/>
                  </a:lnTo>
                  <a:lnTo>
                    <a:pt x="328" y="1161"/>
                  </a:lnTo>
                  <a:lnTo>
                    <a:pt x="316" y="1196"/>
                  </a:lnTo>
                  <a:lnTo>
                    <a:pt x="304" y="1227"/>
                  </a:lnTo>
                  <a:lnTo>
                    <a:pt x="291" y="1257"/>
                  </a:lnTo>
                  <a:lnTo>
                    <a:pt x="276" y="1285"/>
                  </a:lnTo>
                  <a:lnTo>
                    <a:pt x="262" y="1311"/>
                  </a:lnTo>
                  <a:lnTo>
                    <a:pt x="247" y="1334"/>
                  </a:lnTo>
                  <a:lnTo>
                    <a:pt x="231" y="1357"/>
                  </a:lnTo>
                  <a:lnTo>
                    <a:pt x="215" y="1376"/>
                  </a:lnTo>
                  <a:lnTo>
                    <a:pt x="199" y="1394"/>
                  </a:lnTo>
                  <a:lnTo>
                    <a:pt x="180" y="1409"/>
                  </a:lnTo>
                  <a:lnTo>
                    <a:pt x="163" y="1423"/>
                  </a:lnTo>
                  <a:lnTo>
                    <a:pt x="153" y="1429"/>
                  </a:lnTo>
                  <a:lnTo>
                    <a:pt x="144" y="1434"/>
                  </a:lnTo>
                  <a:lnTo>
                    <a:pt x="135" y="1439"/>
                  </a:lnTo>
                  <a:lnTo>
                    <a:pt x="124" y="1444"/>
                  </a:lnTo>
                  <a:lnTo>
                    <a:pt x="114" y="1448"/>
                  </a:lnTo>
                  <a:lnTo>
                    <a:pt x="105" y="1451"/>
                  </a:lnTo>
                  <a:lnTo>
                    <a:pt x="95" y="1454"/>
                  </a:lnTo>
                  <a:lnTo>
                    <a:pt x="85" y="1456"/>
                  </a:lnTo>
                  <a:lnTo>
                    <a:pt x="73" y="1458"/>
                  </a:lnTo>
                  <a:lnTo>
                    <a:pt x="63" y="1459"/>
                  </a:lnTo>
                  <a:lnTo>
                    <a:pt x="52" y="1460"/>
                  </a:lnTo>
                  <a:lnTo>
                    <a:pt x="42" y="1460"/>
                  </a:lnTo>
                  <a:lnTo>
                    <a:pt x="0" y="1423"/>
                  </a:lnTo>
                  <a:lnTo>
                    <a:pt x="22" y="1384"/>
                  </a:lnTo>
                  <a:lnTo>
                    <a:pt x="34" y="1383"/>
                  </a:lnTo>
                  <a:lnTo>
                    <a:pt x="44" y="1381"/>
                  </a:lnTo>
                  <a:lnTo>
                    <a:pt x="55" y="1377"/>
                  </a:lnTo>
                  <a:lnTo>
                    <a:pt x="65" y="1372"/>
                  </a:lnTo>
                  <a:lnTo>
                    <a:pt x="75" y="1366"/>
                  </a:lnTo>
                  <a:lnTo>
                    <a:pt x="86" y="1358"/>
                  </a:lnTo>
                  <a:lnTo>
                    <a:pt x="95" y="1349"/>
                  </a:lnTo>
                  <a:lnTo>
                    <a:pt x="104" y="1337"/>
                  </a:lnTo>
                  <a:lnTo>
                    <a:pt x="113" y="1326"/>
                  </a:lnTo>
                  <a:lnTo>
                    <a:pt x="122" y="1313"/>
                  </a:lnTo>
                  <a:lnTo>
                    <a:pt x="132" y="1298"/>
                  </a:lnTo>
                  <a:lnTo>
                    <a:pt x="140" y="1282"/>
                  </a:lnTo>
                  <a:lnTo>
                    <a:pt x="148" y="1265"/>
                  </a:lnTo>
                  <a:lnTo>
                    <a:pt x="156" y="1248"/>
                  </a:lnTo>
                  <a:lnTo>
                    <a:pt x="163" y="1228"/>
                  </a:lnTo>
                  <a:lnTo>
                    <a:pt x="171" y="1208"/>
                  </a:lnTo>
                  <a:lnTo>
                    <a:pt x="177" y="1186"/>
                  </a:lnTo>
                  <a:lnTo>
                    <a:pt x="185" y="1164"/>
                  </a:lnTo>
                  <a:lnTo>
                    <a:pt x="191" y="1140"/>
                  </a:lnTo>
                  <a:lnTo>
                    <a:pt x="197" y="1115"/>
                  </a:lnTo>
                  <a:lnTo>
                    <a:pt x="203" y="1089"/>
                  </a:lnTo>
                  <a:lnTo>
                    <a:pt x="208" y="1063"/>
                  </a:lnTo>
                  <a:lnTo>
                    <a:pt x="213" y="1035"/>
                  </a:lnTo>
                  <a:lnTo>
                    <a:pt x="217" y="1008"/>
                  </a:lnTo>
                  <a:lnTo>
                    <a:pt x="225" y="949"/>
                  </a:lnTo>
                  <a:lnTo>
                    <a:pt x="231" y="885"/>
                  </a:lnTo>
                  <a:lnTo>
                    <a:pt x="237" y="820"/>
                  </a:lnTo>
                  <a:lnTo>
                    <a:pt x="239" y="752"/>
                  </a:lnTo>
                  <a:lnTo>
                    <a:pt x="240" y="738"/>
                  </a:lnTo>
                  <a:lnTo>
                    <a:pt x="240" y="620"/>
                  </a:lnTo>
                  <a:lnTo>
                    <a:pt x="240" y="617"/>
                  </a:lnTo>
                  <a:lnTo>
                    <a:pt x="239" y="585"/>
                  </a:lnTo>
                  <a:lnTo>
                    <a:pt x="238" y="553"/>
                  </a:lnTo>
                  <a:lnTo>
                    <a:pt x="236" y="519"/>
                  </a:lnTo>
                  <a:lnTo>
                    <a:pt x="235" y="485"/>
                  </a:lnTo>
                  <a:lnTo>
                    <a:pt x="234" y="470"/>
                  </a:lnTo>
                  <a:lnTo>
                    <a:pt x="224" y="481"/>
                  </a:lnTo>
                  <a:lnTo>
                    <a:pt x="210" y="496"/>
                  </a:lnTo>
                  <a:lnTo>
                    <a:pt x="195" y="511"/>
                  </a:lnTo>
                  <a:lnTo>
                    <a:pt x="176" y="525"/>
                  </a:lnTo>
                  <a:lnTo>
                    <a:pt x="157" y="538"/>
                  </a:lnTo>
                  <a:lnTo>
                    <a:pt x="147" y="544"/>
                  </a:lnTo>
                  <a:lnTo>
                    <a:pt x="136" y="549"/>
                  </a:lnTo>
                  <a:lnTo>
                    <a:pt x="125" y="555"/>
                  </a:lnTo>
                  <a:lnTo>
                    <a:pt x="114" y="559"/>
                  </a:lnTo>
                  <a:lnTo>
                    <a:pt x="103" y="562"/>
                  </a:lnTo>
                  <a:lnTo>
                    <a:pt x="92" y="565"/>
                  </a:lnTo>
                  <a:lnTo>
                    <a:pt x="80" y="567"/>
                  </a:lnTo>
                  <a:lnTo>
                    <a:pt x="68" y="568"/>
                  </a:lnTo>
                  <a:lnTo>
                    <a:pt x="27" y="514"/>
                  </a:lnTo>
                  <a:lnTo>
                    <a:pt x="86" y="449"/>
                  </a:lnTo>
                  <a:lnTo>
                    <a:pt x="99" y="448"/>
                  </a:lnTo>
                  <a:lnTo>
                    <a:pt x="113" y="445"/>
                  </a:lnTo>
                  <a:lnTo>
                    <a:pt x="128" y="440"/>
                  </a:lnTo>
                  <a:lnTo>
                    <a:pt x="143" y="433"/>
                  </a:lnTo>
                  <a:lnTo>
                    <a:pt x="158" y="425"/>
                  </a:lnTo>
                  <a:lnTo>
                    <a:pt x="172" y="415"/>
                  </a:lnTo>
                  <a:lnTo>
                    <a:pt x="188" y="402"/>
                  </a:lnTo>
                  <a:lnTo>
                    <a:pt x="202" y="390"/>
                  </a:lnTo>
                  <a:lnTo>
                    <a:pt x="216" y="377"/>
                  </a:lnTo>
                  <a:lnTo>
                    <a:pt x="229" y="363"/>
                  </a:lnTo>
                  <a:lnTo>
                    <a:pt x="242" y="347"/>
                  </a:lnTo>
                  <a:lnTo>
                    <a:pt x="254" y="332"/>
                  </a:lnTo>
                  <a:lnTo>
                    <a:pt x="265" y="316"/>
                  </a:lnTo>
                  <a:lnTo>
                    <a:pt x="274" y="300"/>
                  </a:lnTo>
                  <a:lnTo>
                    <a:pt x="284" y="285"/>
                  </a:lnTo>
                  <a:lnTo>
                    <a:pt x="291" y="269"/>
                  </a:lnTo>
                  <a:lnTo>
                    <a:pt x="294" y="260"/>
                  </a:lnTo>
                  <a:lnTo>
                    <a:pt x="296" y="249"/>
                  </a:lnTo>
                  <a:lnTo>
                    <a:pt x="297" y="240"/>
                  </a:lnTo>
                  <a:lnTo>
                    <a:pt x="297" y="230"/>
                  </a:lnTo>
                  <a:lnTo>
                    <a:pt x="296" y="221"/>
                  </a:lnTo>
                  <a:lnTo>
                    <a:pt x="293" y="212"/>
                  </a:lnTo>
                  <a:lnTo>
                    <a:pt x="290" y="202"/>
                  </a:lnTo>
                  <a:lnTo>
                    <a:pt x="285" y="194"/>
                  </a:lnTo>
                  <a:lnTo>
                    <a:pt x="281" y="189"/>
                  </a:lnTo>
                  <a:lnTo>
                    <a:pt x="277" y="185"/>
                  </a:lnTo>
                  <a:lnTo>
                    <a:pt x="272" y="181"/>
                  </a:lnTo>
                  <a:lnTo>
                    <a:pt x="267" y="178"/>
                  </a:lnTo>
                  <a:lnTo>
                    <a:pt x="263" y="175"/>
                  </a:lnTo>
                  <a:lnTo>
                    <a:pt x="257" y="174"/>
                  </a:lnTo>
                  <a:lnTo>
                    <a:pt x="252" y="172"/>
                  </a:lnTo>
                  <a:lnTo>
                    <a:pt x="247" y="172"/>
                  </a:lnTo>
                  <a:lnTo>
                    <a:pt x="193" y="124"/>
                  </a:lnTo>
                  <a:lnTo>
                    <a:pt x="237" y="72"/>
                  </a:lnTo>
                  <a:lnTo>
                    <a:pt x="250" y="73"/>
                  </a:lnTo>
                  <a:lnTo>
                    <a:pt x="261" y="74"/>
                  </a:lnTo>
                  <a:lnTo>
                    <a:pt x="272" y="77"/>
                  </a:lnTo>
                  <a:lnTo>
                    <a:pt x="282" y="80"/>
                  </a:lnTo>
                  <a:lnTo>
                    <a:pt x="292" y="84"/>
                  </a:lnTo>
                  <a:lnTo>
                    <a:pt x="301" y="89"/>
                  </a:lnTo>
                  <a:lnTo>
                    <a:pt x="308" y="94"/>
                  </a:lnTo>
                  <a:lnTo>
                    <a:pt x="315" y="99"/>
                  </a:lnTo>
                  <a:lnTo>
                    <a:pt x="326" y="109"/>
                  </a:lnTo>
                  <a:lnTo>
                    <a:pt x="335" y="118"/>
                  </a:lnTo>
                  <a:lnTo>
                    <a:pt x="340" y="124"/>
                  </a:lnTo>
                  <a:lnTo>
                    <a:pt x="342" y="127"/>
                  </a:lnTo>
                  <a:lnTo>
                    <a:pt x="345" y="132"/>
                  </a:lnTo>
                  <a:lnTo>
                    <a:pt x="350" y="128"/>
                  </a:lnTo>
                  <a:lnTo>
                    <a:pt x="361" y="120"/>
                  </a:lnTo>
                  <a:lnTo>
                    <a:pt x="372" y="114"/>
                  </a:lnTo>
                  <a:lnTo>
                    <a:pt x="386" y="110"/>
                  </a:lnTo>
                  <a:lnTo>
                    <a:pt x="398" y="108"/>
                  </a:lnTo>
                  <a:lnTo>
                    <a:pt x="412" y="106"/>
                  </a:lnTo>
                  <a:lnTo>
                    <a:pt x="425" y="109"/>
                  </a:lnTo>
                  <a:lnTo>
                    <a:pt x="440" y="112"/>
                  </a:lnTo>
                  <a:lnTo>
                    <a:pt x="454" y="118"/>
                  </a:lnTo>
                  <a:lnTo>
                    <a:pt x="464" y="123"/>
                  </a:lnTo>
                  <a:lnTo>
                    <a:pt x="473" y="127"/>
                  </a:lnTo>
                  <a:lnTo>
                    <a:pt x="481" y="132"/>
                  </a:lnTo>
                  <a:lnTo>
                    <a:pt x="489" y="137"/>
                  </a:lnTo>
                  <a:lnTo>
                    <a:pt x="494" y="141"/>
                  </a:lnTo>
                  <a:lnTo>
                    <a:pt x="498" y="146"/>
                  </a:lnTo>
                  <a:lnTo>
                    <a:pt x="502" y="151"/>
                  </a:lnTo>
                  <a:lnTo>
                    <a:pt x="504" y="157"/>
                  </a:lnTo>
                  <a:lnTo>
                    <a:pt x="505" y="162"/>
                  </a:lnTo>
                  <a:lnTo>
                    <a:pt x="506" y="168"/>
                  </a:lnTo>
                  <a:lnTo>
                    <a:pt x="506" y="174"/>
                  </a:lnTo>
                  <a:lnTo>
                    <a:pt x="505" y="181"/>
                  </a:lnTo>
                  <a:lnTo>
                    <a:pt x="504" y="188"/>
                  </a:lnTo>
                  <a:lnTo>
                    <a:pt x="501" y="196"/>
                  </a:lnTo>
                  <a:lnTo>
                    <a:pt x="498" y="206"/>
                  </a:lnTo>
                  <a:lnTo>
                    <a:pt x="494" y="215"/>
                  </a:lnTo>
                  <a:lnTo>
                    <a:pt x="485" y="233"/>
                  </a:lnTo>
                  <a:lnTo>
                    <a:pt x="476" y="258"/>
                  </a:lnTo>
                  <a:lnTo>
                    <a:pt x="466" y="287"/>
                  </a:lnTo>
                  <a:lnTo>
                    <a:pt x="456" y="322"/>
                  </a:lnTo>
                  <a:lnTo>
                    <a:pt x="445" y="362"/>
                  </a:lnTo>
                  <a:lnTo>
                    <a:pt x="435" y="406"/>
                  </a:lnTo>
                  <a:lnTo>
                    <a:pt x="430" y="429"/>
                  </a:lnTo>
                  <a:lnTo>
                    <a:pt x="426" y="454"/>
                  </a:lnTo>
                  <a:lnTo>
                    <a:pt x="422" y="478"/>
                  </a:lnTo>
                  <a:lnTo>
                    <a:pt x="419" y="504"/>
                  </a:lnTo>
                  <a:lnTo>
                    <a:pt x="418" y="515"/>
                  </a:lnTo>
                  <a:lnTo>
                    <a:pt x="427" y="510"/>
                  </a:lnTo>
                  <a:lnTo>
                    <a:pt x="464" y="490"/>
                  </a:lnTo>
                  <a:lnTo>
                    <a:pt x="501" y="472"/>
                  </a:lnTo>
                  <a:lnTo>
                    <a:pt x="536" y="455"/>
                  </a:lnTo>
                  <a:lnTo>
                    <a:pt x="571" y="438"/>
                  </a:lnTo>
                  <a:lnTo>
                    <a:pt x="604" y="423"/>
                  </a:lnTo>
                  <a:lnTo>
                    <a:pt x="635" y="410"/>
                  </a:lnTo>
                  <a:lnTo>
                    <a:pt x="664" y="396"/>
                  </a:lnTo>
                  <a:lnTo>
                    <a:pt x="690" y="385"/>
                  </a:lnTo>
                  <a:lnTo>
                    <a:pt x="694" y="383"/>
                  </a:lnTo>
                  <a:lnTo>
                    <a:pt x="694" y="380"/>
                  </a:lnTo>
                  <a:lnTo>
                    <a:pt x="695" y="358"/>
                  </a:lnTo>
                  <a:lnTo>
                    <a:pt x="697" y="335"/>
                  </a:lnTo>
                  <a:lnTo>
                    <a:pt x="701" y="315"/>
                  </a:lnTo>
                  <a:lnTo>
                    <a:pt x="706" y="294"/>
                  </a:lnTo>
                  <a:lnTo>
                    <a:pt x="712" y="274"/>
                  </a:lnTo>
                  <a:lnTo>
                    <a:pt x="720" y="256"/>
                  </a:lnTo>
                  <a:lnTo>
                    <a:pt x="728" y="236"/>
                  </a:lnTo>
                  <a:lnTo>
                    <a:pt x="737" y="219"/>
                  </a:lnTo>
                  <a:lnTo>
                    <a:pt x="749" y="201"/>
                  </a:lnTo>
                  <a:lnTo>
                    <a:pt x="760" y="185"/>
                  </a:lnTo>
                  <a:lnTo>
                    <a:pt x="772" y="169"/>
                  </a:lnTo>
                  <a:lnTo>
                    <a:pt x="784" y="153"/>
                  </a:lnTo>
                  <a:lnTo>
                    <a:pt x="798" y="139"/>
                  </a:lnTo>
                  <a:lnTo>
                    <a:pt x="812" y="126"/>
                  </a:lnTo>
                  <a:lnTo>
                    <a:pt x="826" y="113"/>
                  </a:lnTo>
                  <a:lnTo>
                    <a:pt x="840" y="99"/>
                  </a:lnTo>
                  <a:lnTo>
                    <a:pt x="855" y="88"/>
                  </a:lnTo>
                  <a:lnTo>
                    <a:pt x="870" y="77"/>
                  </a:lnTo>
                  <a:lnTo>
                    <a:pt x="884" y="67"/>
                  </a:lnTo>
                  <a:lnTo>
                    <a:pt x="900" y="58"/>
                  </a:lnTo>
                  <a:lnTo>
                    <a:pt x="928" y="40"/>
                  </a:lnTo>
                  <a:lnTo>
                    <a:pt x="957" y="26"/>
                  </a:lnTo>
                  <a:lnTo>
                    <a:pt x="982" y="15"/>
                  </a:lnTo>
                  <a:lnTo>
                    <a:pt x="1006" y="7"/>
                  </a:lnTo>
                  <a:lnTo>
                    <a:pt x="1017" y="4"/>
                  </a:lnTo>
                  <a:lnTo>
                    <a:pt x="1026" y="2"/>
                  </a:lnTo>
                  <a:lnTo>
                    <a:pt x="1035" y="1"/>
                  </a:lnTo>
                  <a:lnTo>
                    <a:pt x="1042" y="0"/>
                  </a:lnTo>
                  <a:lnTo>
                    <a:pt x="1091" y="53"/>
                  </a:lnTo>
                  <a:lnTo>
                    <a:pt x="1042" y="101"/>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6" name="Freeform 50"/>
            <p:cNvSpPr>
              <a:spLocks/>
            </p:cNvSpPr>
            <p:nvPr userDrawn="1"/>
          </p:nvSpPr>
          <p:spPr bwMode="auto">
            <a:xfrm>
              <a:off x="7147" y="571"/>
              <a:ext cx="17" cy="15"/>
            </a:xfrm>
            <a:custGeom>
              <a:avLst/>
              <a:gdLst>
                <a:gd name="T0" fmla="*/ 44 w 202"/>
                <a:gd name="T1" fmla="*/ 0 h 178"/>
                <a:gd name="T2" fmla="*/ 32 w 202"/>
                <a:gd name="T3" fmla="*/ 1 h 178"/>
                <a:gd name="T4" fmla="*/ 21 w 202"/>
                <a:gd name="T5" fmla="*/ 3 h 178"/>
                <a:gd name="T6" fmla="*/ 17 w 202"/>
                <a:gd name="T7" fmla="*/ 5 h 178"/>
                <a:gd name="T8" fmla="*/ 13 w 202"/>
                <a:gd name="T9" fmla="*/ 7 h 178"/>
                <a:gd name="T10" fmla="*/ 10 w 202"/>
                <a:gd name="T11" fmla="*/ 9 h 178"/>
                <a:gd name="T12" fmla="*/ 8 w 202"/>
                <a:gd name="T13" fmla="*/ 12 h 178"/>
                <a:gd name="T14" fmla="*/ 4 w 202"/>
                <a:gd name="T15" fmla="*/ 19 h 178"/>
                <a:gd name="T16" fmla="*/ 1 w 202"/>
                <a:gd name="T17" fmla="*/ 25 h 178"/>
                <a:gd name="T18" fmla="*/ 0 w 202"/>
                <a:gd name="T19" fmla="*/ 32 h 178"/>
                <a:gd name="T20" fmla="*/ 1 w 202"/>
                <a:gd name="T21" fmla="*/ 38 h 178"/>
                <a:gd name="T22" fmla="*/ 2 w 202"/>
                <a:gd name="T23" fmla="*/ 45 h 178"/>
                <a:gd name="T24" fmla="*/ 5 w 202"/>
                <a:gd name="T25" fmla="*/ 51 h 178"/>
                <a:gd name="T26" fmla="*/ 7 w 202"/>
                <a:gd name="T27" fmla="*/ 57 h 178"/>
                <a:gd name="T28" fmla="*/ 10 w 202"/>
                <a:gd name="T29" fmla="*/ 63 h 178"/>
                <a:gd name="T30" fmla="*/ 15 w 202"/>
                <a:gd name="T31" fmla="*/ 74 h 178"/>
                <a:gd name="T32" fmla="*/ 22 w 202"/>
                <a:gd name="T33" fmla="*/ 84 h 178"/>
                <a:gd name="T34" fmla="*/ 30 w 202"/>
                <a:gd name="T35" fmla="*/ 95 h 178"/>
                <a:gd name="T36" fmla="*/ 38 w 202"/>
                <a:gd name="T37" fmla="*/ 104 h 178"/>
                <a:gd name="T38" fmla="*/ 48 w 202"/>
                <a:gd name="T39" fmla="*/ 114 h 178"/>
                <a:gd name="T40" fmla="*/ 59 w 202"/>
                <a:gd name="T41" fmla="*/ 124 h 178"/>
                <a:gd name="T42" fmla="*/ 69 w 202"/>
                <a:gd name="T43" fmla="*/ 133 h 178"/>
                <a:gd name="T44" fmla="*/ 80 w 202"/>
                <a:gd name="T45" fmla="*/ 141 h 178"/>
                <a:gd name="T46" fmla="*/ 91 w 202"/>
                <a:gd name="T47" fmla="*/ 149 h 178"/>
                <a:gd name="T48" fmla="*/ 102 w 202"/>
                <a:gd name="T49" fmla="*/ 156 h 178"/>
                <a:gd name="T50" fmla="*/ 114 w 202"/>
                <a:gd name="T51" fmla="*/ 162 h 178"/>
                <a:gd name="T52" fmla="*/ 125 w 202"/>
                <a:gd name="T53" fmla="*/ 168 h 178"/>
                <a:gd name="T54" fmla="*/ 136 w 202"/>
                <a:gd name="T55" fmla="*/ 172 h 178"/>
                <a:gd name="T56" fmla="*/ 146 w 202"/>
                <a:gd name="T57" fmla="*/ 175 h 178"/>
                <a:gd name="T58" fmla="*/ 157 w 202"/>
                <a:gd name="T59" fmla="*/ 177 h 178"/>
                <a:gd name="T60" fmla="*/ 166 w 202"/>
                <a:gd name="T61" fmla="*/ 178 h 178"/>
                <a:gd name="T62" fmla="*/ 171 w 202"/>
                <a:gd name="T63" fmla="*/ 178 h 178"/>
                <a:gd name="T64" fmla="*/ 176 w 202"/>
                <a:gd name="T65" fmla="*/ 177 h 178"/>
                <a:gd name="T66" fmla="*/ 181 w 202"/>
                <a:gd name="T67" fmla="*/ 176 h 178"/>
                <a:gd name="T68" fmla="*/ 185 w 202"/>
                <a:gd name="T69" fmla="*/ 174 h 178"/>
                <a:gd name="T70" fmla="*/ 188 w 202"/>
                <a:gd name="T71" fmla="*/ 172 h 178"/>
                <a:gd name="T72" fmla="*/ 192 w 202"/>
                <a:gd name="T73" fmla="*/ 170 h 178"/>
                <a:gd name="T74" fmla="*/ 195 w 202"/>
                <a:gd name="T75" fmla="*/ 167 h 178"/>
                <a:gd name="T76" fmla="*/ 197 w 202"/>
                <a:gd name="T77" fmla="*/ 163 h 178"/>
                <a:gd name="T78" fmla="*/ 200 w 202"/>
                <a:gd name="T79" fmla="*/ 158 h 178"/>
                <a:gd name="T80" fmla="*/ 201 w 202"/>
                <a:gd name="T81" fmla="*/ 153 h 178"/>
                <a:gd name="T82" fmla="*/ 202 w 202"/>
                <a:gd name="T83" fmla="*/ 147 h 178"/>
                <a:gd name="T84" fmla="*/ 202 w 202"/>
                <a:gd name="T85" fmla="*/ 141 h 178"/>
                <a:gd name="T86" fmla="*/ 202 w 202"/>
                <a:gd name="T87" fmla="*/ 134 h 178"/>
                <a:gd name="T88" fmla="*/ 201 w 202"/>
                <a:gd name="T89" fmla="*/ 126 h 178"/>
                <a:gd name="T90" fmla="*/ 199 w 202"/>
                <a:gd name="T91" fmla="*/ 118 h 178"/>
                <a:gd name="T92" fmla="*/ 196 w 202"/>
                <a:gd name="T93" fmla="*/ 109 h 178"/>
                <a:gd name="T94" fmla="*/ 193 w 202"/>
                <a:gd name="T95" fmla="*/ 100 h 178"/>
                <a:gd name="T96" fmla="*/ 189 w 202"/>
                <a:gd name="T97" fmla="*/ 91 h 178"/>
                <a:gd name="T98" fmla="*/ 185 w 202"/>
                <a:gd name="T99" fmla="*/ 83 h 178"/>
                <a:gd name="T100" fmla="*/ 179 w 202"/>
                <a:gd name="T101" fmla="*/ 75 h 178"/>
                <a:gd name="T102" fmla="*/ 173 w 202"/>
                <a:gd name="T103" fmla="*/ 65 h 178"/>
                <a:gd name="T104" fmla="*/ 167 w 202"/>
                <a:gd name="T105" fmla="*/ 57 h 178"/>
                <a:gd name="T106" fmla="*/ 160 w 202"/>
                <a:gd name="T107" fmla="*/ 50 h 178"/>
                <a:gd name="T108" fmla="*/ 151 w 202"/>
                <a:gd name="T109" fmla="*/ 43 h 178"/>
                <a:gd name="T110" fmla="*/ 138 w 202"/>
                <a:gd name="T111" fmla="*/ 34 h 178"/>
                <a:gd name="T112" fmla="*/ 125 w 202"/>
                <a:gd name="T113" fmla="*/ 25 h 178"/>
                <a:gd name="T114" fmla="*/ 111 w 202"/>
                <a:gd name="T115" fmla="*/ 18 h 178"/>
                <a:gd name="T116" fmla="*/ 97 w 202"/>
                <a:gd name="T117" fmla="*/ 11 h 178"/>
                <a:gd name="T118" fmla="*/ 83 w 202"/>
                <a:gd name="T119" fmla="*/ 6 h 178"/>
                <a:gd name="T120" fmla="*/ 70 w 202"/>
                <a:gd name="T121" fmla="*/ 3 h 178"/>
                <a:gd name="T122" fmla="*/ 57 w 202"/>
                <a:gd name="T123" fmla="*/ 1 h 178"/>
                <a:gd name="T124" fmla="*/ 44 w 202"/>
                <a:gd name="T125" fmla="*/ 0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 ang="0">
                  <a:pos x="T124" y="T125"/>
                </a:cxn>
              </a:cxnLst>
              <a:rect l="0" t="0" r="r" b="b"/>
              <a:pathLst>
                <a:path w="202" h="178">
                  <a:moveTo>
                    <a:pt x="44" y="0"/>
                  </a:moveTo>
                  <a:lnTo>
                    <a:pt x="32" y="1"/>
                  </a:lnTo>
                  <a:lnTo>
                    <a:pt x="21" y="3"/>
                  </a:lnTo>
                  <a:lnTo>
                    <a:pt x="17" y="5"/>
                  </a:lnTo>
                  <a:lnTo>
                    <a:pt x="13" y="7"/>
                  </a:lnTo>
                  <a:lnTo>
                    <a:pt x="10" y="9"/>
                  </a:lnTo>
                  <a:lnTo>
                    <a:pt x="8" y="12"/>
                  </a:lnTo>
                  <a:lnTo>
                    <a:pt x="4" y="19"/>
                  </a:lnTo>
                  <a:lnTo>
                    <a:pt x="1" y="25"/>
                  </a:lnTo>
                  <a:lnTo>
                    <a:pt x="0" y="32"/>
                  </a:lnTo>
                  <a:lnTo>
                    <a:pt x="1" y="38"/>
                  </a:lnTo>
                  <a:lnTo>
                    <a:pt x="2" y="45"/>
                  </a:lnTo>
                  <a:lnTo>
                    <a:pt x="5" y="51"/>
                  </a:lnTo>
                  <a:lnTo>
                    <a:pt x="7" y="57"/>
                  </a:lnTo>
                  <a:lnTo>
                    <a:pt x="10" y="63"/>
                  </a:lnTo>
                  <a:lnTo>
                    <a:pt x="15" y="74"/>
                  </a:lnTo>
                  <a:lnTo>
                    <a:pt x="22" y="84"/>
                  </a:lnTo>
                  <a:lnTo>
                    <a:pt x="30" y="95"/>
                  </a:lnTo>
                  <a:lnTo>
                    <a:pt x="38" y="104"/>
                  </a:lnTo>
                  <a:lnTo>
                    <a:pt x="48" y="114"/>
                  </a:lnTo>
                  <a:lnTo>
                    <a:pt x="59" y="124"/>
                  </a:lnTo>
                  <a:lnTo>
                    <a:pt x="69" y="133"/>
                  </a:lnTo>
                  <a:lnTo>
                    <a:pt x="80" y="141"/>
                  </a:lnTo>
                  <a:lnTo>
                    <a:pt x="91" y="149"/>
                  </a:lnTo>
                  <a:lnTo>
                    <a:pt x="102" y="156"/>
                  </a:lnTo>
                  <a:lnTo>
                    <a:pt x="114" y="162"/>
                  </a:lnTo>
                  <a:lnTo>
                    <a:pt x="125" y="168"/>
                  </a:lnTo>
                  <a:lnTo>
                    <a:pt x="136" y="172"/>
                  </a:lnTo>
                  <a:lnTo>
                    <a:pt x="146" y="175"/>
                  </a:lnTo>
                  <a:lnTo>
                    <a:pt x="157" y="177"/>
                  </a:lnTo>
                  <a:lnTo>
                    <a:pt x="166" y="178"/>
                  </a:lnTo>
                  <a:lnTo>
                    <a:pt x="171" y="178"/>
                  </a:lnTo>
                  <a:lnTo>
                    <a:pt x="176" y="177"/>
                  </a:lnTo>
                  <a:lnTo>
                    <a:pt x="181" y="176"/>
                  </a:lnTo>
                  <a:lnTo>
                    <a:pt x="185" y="174"/>
                  </a:lnTo>
                  <a:lnTo>
                    <a:pt x="188" y="172"/>
                  </a:lnTo>
                  <a:lnTo>
                    <a:pt x="192" y="170"/>
                  </a:lnTo>
                  <a:lnTo>
                    <a:pt x="195" y="167"/>
                  </a:lnTo>
                  <a:lnTo>
                    <a:pt x="197" y="163"/>
                  </a:lnTo>
                  <a:lnTo>
                    <a:pt x="200" y="158"/>
                  </a:lnTo>
                  <a:lnTo>
                    <a:pt x="201" y="153"/>
                  </a:lnTo>
                  <a:lnTo>
                    <a:pt x="202" y="147"/>
                  </a:lnTo>
                  <a:lnTo>
                    <a:pt x="202" y="141"/>
                  </a:lnTo>
                  <a:lnTo>
                    <a:pt x="202" y="134"/>
                  </a:lnTo>
                  <a:lnTo>
                    <a:pt x="201" y="126"/>
                  </a:lnTo>
                  <a:lnTo>
                    <a:pt x="199" y="118"/>
                  </a:lnTo>
                  <a:lnTo>
                    <a:pt x="196" y="109"/>
                  </a:lnTo>
                  <a:lnTo>
                    <a:pt x="193" y="100"/>
                  </a:lnTo>
                  <a:lnTo>
                    <a:pt x="189" y="91"/>
                  </a:lnTo>
                  <a:lnTo>
                    <a:pt x="185" y="83"/>
                  </a:lnTo>
                  <a:lnTo>
                    <a:pt x="179" y="75"/>
                  </a:lnTo>
                  <a:lnTo>
                    <a:pt x="173" y="65"/>
                  </a:lnTo>
                  <a:lnTo>
                    <a:pt x="167" y="57"/>
                  </a:lnTo>
                  <a:lnTo>
                    <a:pt x="160" y="50"/>
                  </a:lnTo>
                  <a:lnTo>
                    <a:pt x="151" y="43"/>
                  </a:lnTo>
                  <a:lnTo>
                    <a:pt x="138" y="34"/>
                  </a:lnTo>
                  <a:lnTo>
                    <a:pt x="125" y="25"/>
                  </a:lnTo>
                  <a:lnTo>
                    <a:pt x="111" y="18"/>
                  </a:lnTo>
                  <a:lnTo>
                    <a:pt x="97" y="11"/>
                  </a:lnTo>
                  <a:lnTo>
                    <a:pt x="83" y="6"/>
                  </a:lnTo>
                  <a:lnTo>
                    <a:pt x="70" y="3"/>
                  </a:lnTo>
                  <a:lnTo>
                    <a:pt x="57" y="1"/>
                  </a:lnTo>
                  <a:lnTo>
                    <a:pt x="44"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7" name="Freeform 51"/>
            <p:cNvSpPr>
              <a:spLocks/>
            </p:cNvSpPr>
            <p:nvPr userDrawn="1"/>
          </p:nvSpPr>
          <p:spPr bwMode="auto">
            <a:xfrm>
              <a:off x="6747" y="571"/>
              <a:ext cx="17" cy="13"/>
            </a:xfrm>
            <a:custGeom>
              <a:avLst/>
              <a:gdLst>
                <a:gd name="T0" fmla="*/ 39 w 203"/>
                <a:gd name="T1" fmla="*/ 0 h 161"/>
                <a:gd name="T2" fmla="*/ 31 w 203"/>
                <a:gd name="T3" fmla="*/ 1 h 161"/>
                <a:gd name="T4" fmla="*/ 23 w 203"/>
                <a:gd name="T5" fmla="*/ 3 h 161"/>
                <a:gd name="T6" fmla="*/ 17 w 203"/>
                <a:gd name="T7" fmla="*/ 7 h 161"/>
                <a:gd name="T8" fmla="*/ 11 w 203"/>
                <a:gd name="T9" fmla="*/ 12 h 161"/>
                <a:gd name="T10" fmla="*/ 6 w 203"/>
                <a:gd name="T11" fmla="*/ 18 h 161"/>
                <a:gd name="T12" fmla="*/ 3 w 203"/>
                <a:gd name="T13" fmla="*/ 26 h 161"/>
                <a:gd name="T14" fmla="*/ 1 w 203"/>
                <a:gd name="T15" fmla="*/ 32 h 161"/>
                <a:gd name="T16" fmla="*/ 0 w 203"/>
                <a:gd name="T17" fmla="*/ 39 h 161"/>
                <a:gd name="T18" fmla="*/ 1 w 203"/>
                <a:gd name="T19" fmla="*/ 46 h 161"/>
                <a:gd name="T20" fmla="*/ 2 w 203"/>
                <a:gd name="T21" fmla="*/ 53 h 161"/>
                <a:gd name="T22" fmla="*/ 4 w 203"/>
                <a:gd name="T23" fmla="*/ 60 h 161"/>
                <a:gd name="T24" fmla="*/ 8 w 203"/>
                <a:gd name="T25" fmla="*/ 68 h 161"/>
                <a:gd name="T26" fmla="*/ 13 w 203"/>
                <a:gd name="T27" fmla="*/ 78 h 161"/>
                <a:gd name="T28" fmla="*/ 19 w 203"/>
                <a:gd name="T29" fmla="*/ 86 h 161"/>
                <a:gd name="T30" fmla="*/ 26 w 203"/>
                <a:gd name="T31" fmla="*/ 94 h 161"/>
                <a:gd name="T32" fmla="*/ 34 w 203"/>
                <a:gd name="T33" fmla="*/ 103 h 161"/>
                <a:gd name="T34" fmla="*/ 42 w 203"/>
                <a:gd name="T35" fmla="*/ 111 h 161"/>
                <a:gd name="T36" fmla="*/ 52 w 203"/>
                <a:gd name="T37" fmla="*/ 118 h 161"/>
                <a:gd name="T38" fmla="*/ 62 w 203"/>
                <a:gd name="T39" fmla="*/ 126 h 161"/>
                <a:gd name="T40" fmla="*/ 73 w 203"/>
                <a:gd name="T41" fmla="*/ 133 h 161"/>
                <a:gd name="T42" fmla="*/ 83 w 203"/>
                <a:gd name="T43" fmla="*/ 139 h 161"/>
                <a:gd name="T44" fmla="*/ 94 w 203"/>
                <a:gd name="T45" fmla="*/ 144 h 161"/>
                <a:gd name="T46" fmla="*/ 105 w 203"/>
                <a:gd name="T47" fmla="*/ 149 h 161"/>
                <a:gd name="T48" fmla="*/ 117 w 203"/>
                <a:gd name="T49" fmla="*/ 153 h 161"/>
                <a:gd name="T50" fmla="*/ 128 w 203"/>
                <a:gd name="T51" fmla="*/ 157 h 161"/>
                <a:gd name="T52" fmla="*/ 139 w 203"/>
                <a:gd name="T53" fmla="*/ 159 h 161"/>
                <a:gd name="T54" fmla="*/ 149 w 203"/>
                <a:gd name="T55" fmla="*/ 161 h 161"/>
                <a:gd name="T56" fmla="*/ 159 w 203"/>
                <a:gd name="T57" fmla="*/ 161 h 161"/>
                <a:gd name="T58" fmla="*/ 167 w 203"/>
                <a:gd name="T59" fmla="*/ 161 h 161"/>
                <a:gd name="T60" fmla="*/ 173 w 203"/>
                <a:gd name="T61" fmla="*/ 160 h 161"/>
                <a:gd name="T62" fmla="*/ 179 w 203"/>
                <a:gd name="T63" fmla="*/ 159 h 161"/>
                <a:gd name="T64" fmla="*/ 184 w 203"/>
                <a:gd name="T65" fmla="*/ 157 h 161"/>
                <a:gd name="T66" fmla="*/ 189 w 203"/>
                <a:gd name="T67" fmla="*/ 155 h 161"/>
                <a:gd name="T68" fmla="*/ 193 w 203"/>
                <a:gd name="T69" fmla="*/ 152 h 161"/>
                <a:gd name="T70" fmla="*/ 197 w 203"/>
                <a:gd name="T71" fmla="*/ 149 h 161"/>
                <a:gd name="T72" fmla="*/ 201 w 203"/>
                <a:gd name="T73" fmla="*/ 145 h 161"/>
                <a:gd name="T74" fmla="*/ 202 w 203"/>
                <a:gd name="T75" fmla="*/ 142 h 161"/>
                <a:gd name="T76" fmla="*/ 203 w 203"/>
                <a:gd name="T77" fmla="*/ 139 h 161"/>
                <a:gd name="T78" fmla="*/ 203 w 203"/>
                <a:gd name="T79" fmla="*/ 135 h 161"/>
                <a:gd name="T80" fmla="*/ 203 w 203"/>
                <a:gd name="T81" fmla="*/ 131 h 161"/>
                <a:gd name="T82" fmla="*/ 201 w 203"/>
                <a:gd name="T83" fmla="*/ 124 h 161"/>
                <a:gd name="T84" fmla="*/ 198 w 203"/>
                <a:gd name="T85" fmla="*/ 117 h 161"/>
                <a:gd name="T86" fmla="*/ 193 w 203"/>
                <a:gd name="T87" fmla="*/ 107 h 161"/>
                <a:gd name="T88" fmla="*/ 187 w 203"/>
                <a:gd name="T89" fmla="*/ 98 h 161"/>
                <a:gd name="T90" fmla="*/ 179 w 203"/>
                <a:gd name="T91" fmla="*/ 88 h 161"/>
                <a:gd name="T92" fmla="*/ 171 w 203"/>
                <a:gd name="T93" fmla="*/ 78 h 161"/>
                <a:gd name="T94" fmla="*/ 162 w 203"/>
                <a:gd name="T95" fmla="*/ 68 h 161"/>
                <a:gd name="T96" fmla="*/ 151 w 203"/>
                <a:gd name="T97" fmla="*/ 58 h 161"/>
                <a:gd name="T98" fmla="*/ 140 w 203"/>
                <a:gd name="T99" fmla="*/ 49 h 161"/>
                <a:gd name="T100" fmla="*/ 129 w 203"/>
                <a:gd name="T101" fmla="*/ 40 h 161"/>
                <a:gd name="T102" fmla="*/ 118 w 203"/>
                <a:gd name="T103" fmla="*/ 32 h 161"/>
                <a:gd name="T104" fmla="*/ 105 w 203"/>
                <a:gd name="T105" fmla="*/ 24 h 161"/>
                <a:gd name="T106" fmla="*/ 94 w 203"/>
                <a:gd name="T107" fmla="*/ 17 h 161"/>
                <a:gd name="T108" fmla="*/ 82 w 203"/>
                <a:gd name="T109" fmla="*/ 11 h 161"/>
                <a:gd name="T110" fmla="*/ 71 w 203"/>
                <a:gd name="T111" fmla="*/ 6 h 161"/>
                <a:gd name="T112" fmla="*/ 60 w 203"/>
                <a:gd name="T113" fmla="*/ 3 h 161"/>
                <a:gd name="T114" fmla="*/ 49 w 203"/>
                <a:gd name="T115" fmla="*/ 1 h 161"/>
                <a:gd name="T116" fmla="*/ 39 w 203"/>
                <a:gd name="T117" fmla="*/ 0 h 16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Lst>
              <a:rect l="0" t="0" r="r" b="b"/>
              <a:pathLst>
                <a:path w="203" h="161">
                  <a:moveTo>
                    <a:pt x="39" y="0"/>
                  </a:moveTo>
                  <a:lnTo>
                    <a:pt x="31" y="1"/>
                  </a:lnTo>
                  <a:lnTo>
                    <a:pt x="23" y="3"/>
                  </a:lnTo>
                  <a:lnTo>
                    <a:pt x="17" y="7"/>
                  </a:lnTo>
                  <a:lnTo>
                    <a:pt x="11" y="12"/>
                  </a:lnTo>
                  <a:lnTo>
                    <a:pt x="6" y="18"/>
                  </a:lnTo>
                  <a:lnTo>
                    <a:pt x="3" y="26"/>
                  </a:lnTo>
                  <a:lnTo>
                    <a:pt x="1" y="32"/>
                  </a:lnTo>
                  <a:lnTo>
                    <a:pt x="0" y="39"/>
                  </a:lnTo>
                  <a:lnTo>
                    <a:pt x="1" y="46"/>
                  </a:lnTo>
                  <a:lnTo>
                    <a:pt x="2" y="53"/>
                  </a:lnTo>
                  <a:lnTo>
                    <a:pt x="4" y="60"/>
                  </a:lnTo>
                  <a:lnTo>
                    <a:pt x="8" y="68"/>
                  </a:lnTo>
                  <a:lnTo>
                    <a:pt x="13" y="78"/>
                  </a:lnTo>
                  <a:lnTo>
                    <a:pt x="19" y="86"/>
                  </a:lnTo>
                  <a:lnTo>
                    <a:pt x="26" y="94"/>
                  </a:lnTo>
                  <a:lnTo>
                    <a:pt x="34" y="103"/>
                  </a:lnTo>
                  <a:lnTo>
                    <a:pt x="42" y="111"/>
                  </a:lnTo>
                  <a:lnTo>
                    <a:pt x="52" y="118"/>
                  </a:lnTo>
                  <a:lnTo>
                    <a:pt x="62" y="126"/>
                  </a:lnTo>
                  <a:lnTo>
                    <a:pt x="73" y="133"/>
                  </a:lnTo>
                  <a:lnTo>
                    <a:pt x="83" y="139"/>
                  </a:lnTo>
                  <a:lnTo>
                    <a:pt x="94" y="144"/>
                  </a:lnTo>
                  <a:lnTo>
                    <a:pt x="105" y="149"/>
                  </a:lnTo>
                  <a:lnTo>
                    <a:pt x="117" y="153"/>
                  </a:lnTo>
                  <a:lnTo>
                    <a:pt x="128" y="157"/>
                  </a:lnTo>
                  <a:lnTo>
                    <a:pt x="139" y="159"/>
                  </a:lnTo>
                  <a:lnTo>
                    <a:pt x="149" y="161"/>
                  </a:lnTo>
                  <a:lnTo>
                    <a:pt x="159" y="161"/>
                  </a:lnTo>
                  <a:lnTo>
                    <a:pt x="167" y="161"/>
                  </a:lnTo>
                  <a:lnTo>
                    <a:pt x="173" y="160"/>
                  </a:lnTo>
                  <a:lnTo>
                    <a:pt x="179" y="159"/>
                  </a:lnTo>
                  <a:lnTo>
                    <a:pt x="184" y="157"/>
                  </a:lnTo>
                  <a:lnTo>
                    <a:pt x="189" y="155"/>
                  </a:lnTo>
                  <a:lnTo>
                    <a:pt x="193" y="152"/>
                  </a:lnTo>
                  <a:lnTo>
                    <a:pt x="197" y="149"/>
                  </a:lnTo>
                  <a:lnTo>
                    <a:pt x="201" y="145"/>
                  </a:lnTo>
                  <a:lnTo>
                    <a:pt x="202" y="142"/>
                  </a:lnTo>
                  <a:lnTo>
                    <a:pt x="203" y="139"/>
                  </a:lnTo>
                  <a:lnTo>
                    <a:pt x="203" y="135"/>
                  </a:lnTo>
                  <a:lnTo>
                    <a:pt x="203" y="131"/>
                  </a:lnTo>
                  <a:lnTo>
                    <a:pt x="201" y="124"/>
                  </a:lnTo>
                  <a:lnTo>
                    <a:pt x="198" y="117"/>
                  </a:lnTo>
                  <a:lnTo>
                    <a:pt x="193" y="107"/>
                  </a:lnTo>
                  <a:lnTo>
                    <a:pt x="187" y="98"/>
                  </a:lnTo>
                  <a:lnTo>
                    <a:pt x="179" y="88"/>
                  </a:lnTo>
                  <a:lnTo>
                    <a:pt x="171" y="78"/>
                  </a:lnTo>
                  <a:lnTo>
                    <a:pt x="162" y="68"/>
                  </a:lnTo>
                  <a:lnTo>
                    <a:pt x="151" y="58"/>
                  </a:lnTo>
                  <a:lnTo>
                    <a:pt x="140" y="49"/>
                  </a:lnTo>
                  <a:lnTo>
                    <a:pt x="129" y="40"/>
                  </a:lnTo>
                  <a:lnTo>
                    <a:pt x="118" y="32"/>
                  </a:lnTo>
                  <a:lnTo>
                    <a:pt x="105" y="24"/>
                  </a:lnTo>
                  <a:lnTo>
                    <a:pt x="94" y="17"/>
                  </a:lnTo>
                  <a:lnTo>
                    <a:pt x="82" y="11"/>
                  </a:lnTo>
                  <a:lnTo>
                    <a:pt x="71" y="6"/>
                  </a:lnTo>
                  <a:lnTo>
                    <a:pt x="60" y="3"/>
                  </a:lnTo>
                  <a:lnTo>
                    <a:pt x="49" y="1"/>
                  </a:lnTo>
                  <a:lnTo>
                    <a:pt x="39" y="0"/>
                  </a:ln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8" name="Freeform 52"/>
            <p:cNvSpPr>
              <a:spLocks/>
            </p:cNvSpPr>
            <p:nvPr userDrawn="1"/>
          </p:nvSpPr>
          <p:spPr bwMode="auto">
            <a:xfrm>
              <a:off x="6162" y="347"/>
              <a:ext cx="109" cy="148"/>
            </a:xfrm>
            <a:custGeom>
              <a:avLst/>
              <a:gdLst>
                <a:gd name="T0" fmla="*/ 139 w 1310"/>
                <a:gd name="T1" fmla="*/ 1401 h 1770"/>
                <a:gd name="T2" fmla="*/ 306 w 1310"/>
                <a:gd name="T3" fmla="*/ 1438 h 1770"/>
                <a:gd name="T4" fmla="*/ 458 w 1310"/>
                <a:gd name="T5" fmla="*/ 1457 h 1770"/>
                <a:gd name="T6" fmla="*/ 615 w 1310"/>
                <a:gd name="T7" fmla="*/ 1458 h 1770"/>
                <a:gd name="T8" fmla="*/ 741 w 1310"/>
                <a:gd name="T9" fmla="*/ 1434 h 1770"/>
                <a:gd name="T10" fmla="*/ 790 w 1310"/>
                <a:gd name="T11" fmla="*/ 1409 h 1770"/>
                <a:gd name="T12" fmla="*/ 825 w 1310"/>
                <a:gd name="T13" fmla="*/ 1378 h 1770"/>
                <a:gd name="T14" fmla="*/ 844 w 1310"/>
                <a:gd name="T15" fmla="*/ 1337 h 1770"/>
                <a:gd name="T16" fmla="*/ 848 w 1310"/>
                <a:gd name="T17" fmla="*/ 1285 h 1770"/>
                <a:gd name="T18" fmla="*/ 824 w 1310"/>
                <a:gd name="T19" fmla="*/ 1220 h 1770"/>
                <a:gd name="T20" fmla="*/ 749 w 1310"/>
                <a:gd name="T21" fmla="*/ 1161 h 1770"/>
                <a:gd name="T22" fmla="*/ 571 w 1310"/>
                <a:gd name="T23" fmla="*/ 1078 h 1770"/>
                <a:gd name="T24" fmla="*/ 321 w 1310"/>
                <a:gd name="T25" fmla="*/ 964 h 1770"/>
                <a:gd name="T26" fmla="*/ 198 w 1310"/>
                <a:gd name="T27" fmla="*/ 893 h 1770"/>
                <a:gd name="T28" fmla="*/ 116 w 1310"/>
                <a:gd name="T29" fmla="*/ 826 h 1770"/>
                <a:gd name="T30" fmla="*/ 52 w 1310"/>
                <a:gd name="T31" fmla="*/ 736 h 1770"/>
                <a:gd name="T32" fmla="*/ 13 w 1310"/>
                <a:gd name="T33" fmla="*/ 633 h 1770"/>
                <a:gd name="T34" fmla="*/ 0 w 1310"/>
                <a:gd name="T35" fmla="*/ 516 h 1770"/>
                <a:gd name="T36" fmla="*/ 19 w 1310"/>
                <a:gd name="T37" fmla="*/ 370 h 1770"/>
                <a:gd name="T38" fmla="*/ 75 w 1310"/>
                <a:gd name="T39" fmla="*/ 247 h 1770"/>
                <a:gd name="T40" fmla="*/ 169 w 1310"/>
                <a:gd name="T41" fmla="*/ 148 h 1770"/>
                <a:gd name="T42" fmla="*/ 294 w 1310"/>
                <a:gd name="T43" fmla="*/ 73 h 1770"/>
                <a:gd name="T44" fmla="*/ 443 w 1310"/>
                <a:gd name="T45" fmla="*/ 24 h 1770"/>
                <a:gd name="T46" fmla="*/ 614 w 1310"/>
                <a:gd name="T47" fmla="*/ 2 h 1770"/>
                <a:gd name="T48" fmla="*/ 836 w 1310"/>
                <a:gd name="T49" fmla="*/ 8 h 1770"/>
                <a:gd name="T50" fmla="*/ 1177 w 1310"/>
                <a:gd name="T51" fmla="*/ 61 h 1770"/>
                <a:gd name="T52" fmla="*/ 1060 w 1310"/>
                <a:gd name="T53" fmla="*/ 344 h 1770"/>
                <a:gd name="T54" fmla="*/ 921 w 1310"/>
                <a:gd name="T55" fmla="*/ 309 h 1770"/>
                <a:gd name="T56" fmla="*/ 787 w 1310"/>
                <a:gd name="T57" fmla="*/ 292 h 1770"/>
                <a:gd name="T58" fmla="*/ 638 w 1310"/>
                <a:gd name="T59" fmla="*/ 296 h 1770"/>
                <a:gd name="T60" fmla="*/ 521 w 1310"/>
                <a:gd name="T61" fmla="*/ 331 h 1770"/>
                <a:gd name="T62" fmla="*/ 483 w 1310"/>
                <a:gd name="T63" fmla="*/ 359 h 1770"/>
                <a:gd name="T64" fmla="*/ 459 w 1310"/>
                <a:gd name="T65" fmla="*/ 395 h 1770"/>
                <a:gd name="T66" fmla="*/ 450 w 1310"/>
                <a:gd name="T67" fmla="*/ 439 h 1770"/>
                <a:gd name="T68" fmla="*/ 463 w 1310"/>
                <a:gd name="T69" fmla="*/ 502 h 1770"/>
                <a:gd name="T70" fmla="*/ 521 w 1310"/>
                <a:gd name="T71" fmla="*/ 553 h 1770"/>
                <a:gd name="T72" fmla="*/ 674 w 1310"/>
                <a:gd name="T73" fmla="*/ 629 h 1770"/>
                <a:gd name="T74" fmla="*/ 946 w 1310"/>
                <a:gd name="T75" fmla="*/ 756 h 1770"/>
                <a:gd name="T76" fmla="*/ 1080 w 1310"/>
                <a:gd name="T77" fmla="*/ 832 h 1770"/>
                <a:gd name="T78" fmla="*/ 1174 w 1310"/>
                <a:gd name="T79" fmla="*/ 901 h 1770"/>
                <a:gd name="T80" fmla="*/ 1241 w 1310"/>
                <a:gd name="T81" fmla="*/ 979 h 1770"/>
                <a:gd name="T82" fmla="*/ 1287 w 1310"/>
                <a:gd name="T83" fmla="*/ 1074 h 1770"/>
                <a:gd name="T84" fmla="*/ 1308 w 1310"/>
                <a:gd name="T85" fmla="*/ 1182 h 1770"/>
                <a:gd name="T86" fmla="*/ 1301 w 1310"/>
                <a:gd name="T87" fmla="*/ 1328 h 1770"/>
                <a:gd name="T88" fmla="*/ 1276 w 1310"/>
                <a:gd name="T89" fmla="*/ 1418 h 1770"/>
                <a:gd name="T90" fmla="*/ 1242 w 1310"/>
                <a:gd name="T91" fmla="*/ 1486 h 1770"/>
                <a:gd name="T92" fmla="*/ 1196 w 1310"/>
                <a:gd name="T93" fmla="*/ 1547 h 1770"/>
                <a:gd name="T94" fmla="*/ 1098 w 1310"/>
                <a:gd name="T95" fmla="*/ 1633 h 1770"/>
                <a:gd name="T96" fmla="*/ 965 w 1310"/>
                <a:gd name="T97" fmla="*/ 1703 h 1770"/>
                <a:gd name="T98" fmla="*/ 813 w 1310"/>
                <a:gd name="T99" fmla="*/ 1747 h 1770"/>
                <a:gd name="T100" fmla="*/ 639 w 1310"/>
                <a:gd name="T101" fmla="*/ 1768 h 1770"/>
                <a:gd name="T102" fmla="*/ 366 w 1310"/>
                <a:gd name="T103" fmla="*/ 1761 h 1770"/>
                <a:gd name="T104" fmla="*/ 34 w 1310"/>
                <a:gd name="T105" fmla="*/ 1707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1310" h="1770">
                  <a:moveTo>
                    <a:pt x="34" y="1707"/>
                  </a:moveTo>
                  <a:lnTo>
                    <a:pt x="34" y="1371"/>
                  </a:lnTo>
                  <a:lnTo>
                    <a:pt x="70" y="1382"/>
                  </a:lnTo>
                  <a:lnTo>
                    <a:pt x="105" y="1392"/>
                  </a:lnTo>
                  <a:lnTo>
                    <a:pt x="139" y="1401"/>
                  </a:lnTo>
                  <a:lnTo>
                    <a:pt x="174" y="1410"/>
                  </a:lnTo>
                  <a:lnTo>
                    <a:pt x="208" y="1419"/>
                  </a:lnTo>
                  <a:lnTo>
                    <a:pt x="240" y="1426"/>
                  </a:lnTo>
                  <a:lnTo>
                    <a:pt x="273" y="1432"/>
                  </a:lnTo>
                  <a:lnTo>
                    <a:pt x="306" y="1438"/>
                  </a:lnTo>
                  <a:lnTo>
                    <a:pt x="336" y="1444"/>
                  </a:lnTo>
                  <a:lnTo>
                    <a:pt x="368" y="1448"/>
                  </a:lnTo>
                  <a:lnTo>
                    <a:pt x="399" y="1452"/>
                  </a:lnTo>
                  <a:lnTo>
                    <a:pt x="428" y="1455"/>
                  </a:lnTo>
                  <a:lnTo>
                    <a:pt x="458" y="1457"/>
                  </a:lnTo>
                  <a:lnTo>
                    <a:pt x="486" y="1459"/>
                  </a:lnTo>
                  <a:lnTo>
                    <a:pt x="515" y="1460"/>
                  </a:lnTo>
                  <a:lnTo>
                    <a:pt x="543" y="1461"/>
                  </a:lnTo>
                  <a:lnTo>
                    <a:pt x="580" y="1460"/>
                  </a:lnTo>
                  <a:lnTo>
                    <a:pt x="615" y="1458"/>
                  </a:lnTo>
                  <a:lnTo>
                    <a:pt x="646" y="1455"/>
                  </a:lnTo>
                  <a:lnTo>
                    <a:pt x="677" y="1451"/>
                  </a:lnTo>
                  <a:lnTo>
                    <a:pt x="705" y="1445"/>
                  </a:lnTo>
                  <a:lnTo>
                    <a:pt x="729" y="1438"/>
                  </a:lnTo>
                  <a:lnTo>
                    <a:pt x="741" y="1434"/>
                  </a:lnTo>
                  <a:lnTo>
                    <a:pt x="751" y="1430"/>
                  </a:lnTo>
                  <a:lnTo>
                    <a:pt x="763" y="1426"/>
                  </a:lnTo>
                  <a:lnTo>
                    <a:pt x="772" y="1421"/>
                  </a:lnTo>
                  <a:lnTo>
                    <a:pt x="781" y="1416"/>
                  </a:lnTo>
                  <a:lnTo>
                    <a:pt x="790" y="1409"/>
                  </a:lnTo>
                  <a:lnTo>
                    <a:pt x="798" y="1404"/>
                  </a:lnTo>
                  <a:lnTo>
                    <a:pt x="805" y="1398"/>
                  </a:lnTo>
                  <a:lnTo>
                    <a:pt x="813" y="1391"/>
                  </a:lnTo>
                  <a:lnTo>
                    <a:pt x="819" y="1385"/>
                  </a:lnTo>
                  <a:lnTo>
                    <a:pt x="825" y="1378"/>
                  </a:lnTo>
                  <a:lnTo>
                    <a:pt x="829" y="1370"/>
                  </a:lnTo>
                  <a:lnTo>
                    <a:pt x="834" y="1362"/>
                  </a:lnTo>
                  <a:lnTo>
                    <a:pt x="838" y="1354"/>
                  </a:lnTo>
                  <a:lnTo>
                    <a:pt x="841" y="1346"/>
                  </a:lnTo>
                  <a:lnTo>
                    <a:pt x="844" y="1337"/>
                  </a:lnTo>
                  <a:lnTo>
                    <a:pt x="846" y="1329"/>
                  </a:lnTo>
                  <a:lnTo>
                    <a:pt x="847" y="1319"/>
                  </a:lnTo>
                  <a:lnTo>
                    <a:pt x="848" y="1309"/>
                  </a:lnTo>
                  <a:lnTo>
                    <a:pt x="848" y="1299"/>
                  </a:lnTo>
                  <a:lnTo>
                    <a:pt x="848" y="1285"/>
                  </a:lnTo>
                  <a:lnTo>
                    <a:pt x="845" y="1271"/>
                  </a:lnTo>
                  <a:lnTo>
                    <a:pt x="842" y="1257"/>
                  </a:lnTo>
                  <a:lnTo>
                    <a:pt x="837" y="1244"/>
                  </a:lnTo>
                  <a:lnTo>
                    <a:pt x="831" y="1232"/>
                  </a:lnTo>
                  <a:lnTo>
                    <a:pt x="824" y="1220"/>
                  </a:lnTo>
                  <a:lnTo>
                    <a:pt x="815" y="1208"/>
                  </a:lnTo>
                  <a:lnTo>
                    <a:pt x="804" y="1198"/>
                  </a:lnTo>
                  <a:lnTo>
                    <a:pt x="790" y="1187"/>
                  </a:lnTo>
                  <a:lnTo>
                    <a:pt x="773" y="1175"/>
                  </a:lnTo>
                  <a:lnTo>
                    <a:pt x="749" y="1161"/>
                  </a:lnTo>
                  <a:lnTo>
                    <a:pt x="723" y="1146"/>
                  </a:lnTo>
                  <a:lnTo>
                    <a:pt x="691" y="1131"/>
                  </a:lnTo>
                  <a:lnTo>
                    <a:pt x="656" y="1114"/>
                  </a:lnTo>
                  <a:lnTo>
                    <a:pt x="616" y="1096"/>
                  </a:lnTo>
                  <a:lnTo>
                    <a:pt x="571" y="1078"/>
                  </a:lnTo>
                  <a:lnTo>
                    <a:pt x="490" y="1044"/>
                  </a:lnTo>
                  <a:lnTo>
                    <a:pt x="417" y="1011"/>
                  </a:lnTo>
                  <a:lnTo>
                    <a:pt x="383" y="995"/>
                  </a:lnTo>
                  <a:lnTo>
                    <a:pt x="352" y="980"/>
                  </a:lnTo>
                  <a:lnTo>
                    <a:pt x="321" y="964"/>
                  </a:lnTo>
                  <a:lnTo>
                    <a:pt x="292" y="949"/>
                  </a:lnTo>
                  <a:lnTo>
                    <a:pt x="266" y="935"/>
                  </a:lnTo>
                  <a:lnTo>
                    <a:pt x="241" y="921"/>
                  </a:lnTo>
                  <a:lnTo>
                    <a:pt x="219" y="906"/>
                  </a:lnTo>
                  <a:lnTo>
                    <a:pt x="198" y="893"/>
                  </a:lnTo>
                  <a:lnTo>
                    <a:pt x="178" y="880"/>
                  </a:lnTo>
                  <a:lnTo>
                    <a:pt x="161" y="866"/>
                  </a:lnTo>
                  <a:lnTo>
                    <a:pt x="146" y="854"/>
                  </a:lnTo>
                  <a:lnTo>
                    <a:pt x="132" y="842"/>
                  </a:lnTo>
                  <a:lnTo>
                    <a:pt x="116" y="826"/>
                  </a:lnTo>
                  <a:lnTo>
                    <a:pt x="101" y="808"/>
                  </a:lnTo>
                  <a:lnTo>
                    <a:pt x="87" y="791"/>
                  </a:lnTo>
                  <a:lnTo>
                    <a:pt x="74" y="773"/>
                  </a:lnTo>
                  <a:lnTo>
                    <a:pt x="62" y="754"/>
                  </a:lnTo>
                  <a:lnTo>
                    <a:pt x="52" y="736"/>
                  </a:lnTo>
                  <a:lnTo>
                    <a:pt x="42" y="715"/>
                  </a:lnTo>
                  <a:lnTo>
                    <a:pt x="32" y="696"/>
                  </a:lnTo>
                  <a:lnTo>
                    <a:pt x="25" y="676"/>
                  </a:lnTo>
                  <a:lnTo>
                    <a:pt x="18" y="654"/>
                  </a:lnTo>
                  <a:lnTo>
                    <a:pt x="13" y="633"/>
                  </a:lnTo>
                  <a:lnTo>
                    <a:pt x="8" y="610"/>
                  </a:lnTo>
                  <a:lnTo>
                    <a:pt x="5" y="588"/>
                  </a:lnTo>
                  <a:lnTo>
                    <a:pt x="2" y="564"/>
                  </a:lnTo>
                  <a:lnTo>
                    <a:pt x="1" y="541"/>
                  </a:lnTo>
                  <a:lnTo>
                    <a:pt x="0" y="516"/>
                  </a:lnTo>
                  <a:lnTo>
                    <a:pt x="1" y="485"/>
                  </a:lnTo>
                  <a:lnTo>
                    <a:pt x="3" y="455"/>
                  </a:lnTo>
                  <a:lnTo>
                    <a:pt x="7" y="425"/>
                  </a:lnTo>
                  <a:lnTo>
                    <a:pt x="12" y="397"/>
                  </a:lnTo>
                  <a:lnTo>
                    <a:pt x="19" y="370"/>
                  </a:lnTo>
                  <a:lnTo>
                    <a:pt x="27" y="344"/>
                  </a:lnTo>
                  <a:lnTo>
                    <a:pt x="36" y="318"/>
                  </a:lnTo>
                  <a:lnTo>
                    <a:pt x="48" y="294"/>
                  </a:lnTo>
                  <a:lnTo>
                    <a:pt x="61" y="269"/>
                  </a:lnTo>
                  <a:lnTo>
                    <a:pt x="75" y="247"/>
                  </a:lnTo>
                  <a:lnTo>
                    <a:pt x="90" y="225"/>
                  </a:lnTo>
                  <a:lnTo>
                    <a:pt x="108" y="204"/>
                  </a:lnTo>
                  <a:lnTo>
                    <a:pt x="127" y="185"/>
                  </a:lnTo>
                  <a:lnTo>
                    <a:pt x="148" y="165"/>
                  </a:lnTo>
                  <a:lnTo>
                    <a:pt x="169" y="148"/>
                  </a:lnTo>
                  <a:lnTo>
                    <a:pt x="192" y="131"/>
                  </a:lnTo>
                  <a:lnTo>
                    <a:pt x="217" y="115"/>
                  </a:lnTo>
                  <a:lnTo>
                    <a:pt x="241" y="100"/>
                  </a:lnTo>
                  <a:lnTo>
                    <a:pt x="268" y="86"/>
                  </a:lnTo>
                  <a:lnTo>
                    <a:pt x="294" y="73"/>
                  </a:lnTo>
                  <a:lnTo>
                    <a:pt x="323" y="61"/>
                  </a:lnTo>
                  <a:lnTo>
                    <a:pt x="352" y="51"/>
                  </a:lnTo>
                  <a:lnTo>
                    <a:pt x="381" y="41"/>
                  </a:lnTo>
                  <a:lnTo>
                    <a:pt x="412" y="33"/>
                  </a:lnTo>
                  <a:lnTo>
                    <a:pt x="443" y="24"/>
                  </a:lnTo>
                  <a:lnTo>
                    <a:pt x="476" y="18"/>
                  </a:lnTo>
                  <a:lnTo>
                    <a:pt x="509" y="12"/>
                  </a:lnTo>
                  <a:lnTo>
                    <a:pt x="543" y="8"/>
                  </a:lnTo>
                  <a:lnTo>
                    <a:pt x="578" y="4"/>
                  </a:lnTo>
                  <a:lnTo>
                    <a:pt x="614" y="2"/>
                  </a:lnTo>
                  <a:lnTo>
                    <a:pt x="651" y="0"/>
                  </a:lnTo>
                  <a:lnTo>
                    <a:pt x="689" y="0"/>
                  </a:lnTo>
                  <a:lnTo>
                    <a:pt x="733" y="0"/>
                  </a:lnTo>
                  <a:lnTo>
                    <a:pt x="783" y="3"/>
                  </a:lnTo>
                  <a:lnTo>
                    <a:pt x="836" y="8"/>
                  </a:lnTo>
                  <a:lnTo>
                    <a:pt x="895" y="15"/>
                  </a:lnTo>
                  <a:lnTo>
                    <a:pt x="958" y="23"/>
                  </a:lnTo>
                  <a:lnTo>
                    <a:pt x="1027" y="35"/>
                  </a:lnTo>
                  <a:lnTo>
                    <a:pt x="1099" y="47"/>
                  </a:lnTo>
                  <a:lnTo>
                    <a:pt x="1177" y="61"/>
                  </a:lnTo>
                  <a:lnTo>
                    <a:pt x="1177" y="386"/>
                  </a:lnTo>
                  <a:lnTo>
                    <a:pt x="1147" y="374"/>
                  </a:lnTo>
                  <a:lnTo>
                    <a:pt x="1118" y="363"/>
                  </a:lnTo>
                  <a:lnTo>
                    <a:pt x="1089" y="353"/>
                  </a:lnTo>
                  <a:lnTo>
                    <a:pt x="1060" y="344"/>
                  </a:lnTo>
                  <a:lnTo>
                    <a:pt x="1032" y="336"/>
                  </a:lnTo>
                  <a:lnTo>
                    <a:pt x="1003" y="327"/>
                  </a:lnTo>
                  <a:lnTo>
                    <a:pt x="976" y="320"/>
                  </a:lnTo>
                  <a:lnTo>
                    <a:pt x="947" y="314"/>
                  </a:lnTo>
                  <a:lnTo>
                    <a:pt x="921" y="309"/>
                  </a:lnTo>
                  <a:lnTo>
                    <a:pt x="893" y="304"/>
                  </a:lnTo>
                  <a:lnTo>
                    <a:pt x="867" y="300"/>
                  </a:lnTo>
                  <a:lnTo>
                    <a:pt x="839" y="297"/>
                  </a:lnTo>
                  <a:lnTo>
                    <a:pt x="814" y="294"/>
                  </a:lnTo>
                  <a:lnTo>
                    <a:pt x="787" y="292"/>
                  </a:lnTo>
                  <a:lnTo>
                    <a:pt x="762" y="291"/>
                  </a:lnTo>
                  <a:lnTo>
                    <a:pt x="736" y="291"/>
                  </a:lnTo>
                  <a:lnTo>
                    <a:pt x="700" y="292"/>
                  </a:lnTo>
                  <a:lnTo>
                    <a:pt x="669" y="293"/>
                  </a:lnTo>
                  <a:lnTo>
                    <a:pt x="638" y="296"/>
                  </a:lnTo>
                  <a:lnTo>
                    <a:pt x="610" y="301"/>
                  </a:lnTo>
                  <a:lnTo>
                    <a:pt x="584" y="306"/>
                  </a:lnTo>
                  <a:lnTo>
                    <a:pt x="561" y="313"/>
                  </a:lnTo>
                  <a:lnTo>
                    <a:pt x="539" y="321"/>
                  </a:lnTo>
                  <a:lnTo>
                    <a:pt x="521" y="331"/>
                  </a:lnTo>
                  <a:lnTo>
                    <a:pt x="512" y="336"/>
                  </a:lnTo>
                  <a:lnTo>
                    <a:pt x="504" y="341"/>
                  </a:lnTo>
                  <a:lnTo>
                    <a:pt x="496" y="346"/>
                  </a:lnTo>
                  <a:lnTo>
                    <a:pt x="489" y="352"/>
                  </a:lnTo>
                  <a:lnTo>
                    <a:pt x="483" y="359"/>
                  </a:lnTo>
                  <a:lnTo>
                    <a:pt x="477" y="365"/>
                  </a:lnTo>
                  <a:lnTo>
                    <a:pt x="472" y="372"/>
                  </a:lnTo>
                  <a:lnTo>
                    <a:pt x="467" y="380"/>
                  </a:lnTo>
                  <a:lnTo>
                    <a:pt x="463" y="387"/>
                  </a:lnTo>
                  <a:lnTo>
                    <a:pt x="459" y="395"/>
                  </a:lnTo>
                  <a:lnTo>
                    <a:pt x="456" y="403"/>
                  </a:lnTo>
                  <a:lnTo>
                    <a:pt x="454" y="411"/>
                  </a:lnTo>
                  <a:lnTo>
                    <a:pt x="452" y="420"/>
                  </a:lnTo>
                  <a:lnTo>
                    <a:pt x="450" y="430"/>
                  </a:lnTo>
                  <a:lnTo>
                    <a:pt x="450" y="439"/>
                  </a:lnTo>
                  <a:lnTo>
                    <a:pt x="448" y="449"/>
                  </a:lnTo>
                  <a:lnTo>
                    <a:pt x="450" y="463"/>
                  </a:lnTo>
                  <a:lnTo>
                    <a:pt x="453" y="477"/>
                  </a:lnTo>
                  <a:lnTo>
                    <a:pt x="457" y="490"/>
                  </a:lnTo>
                  <a:lnTo>
                    <a:pt x="463" y="502"/>
                  </a:lnTo>
                  <a:lnTo>
                    <a:pt x="471" y="514"/>
                  </a:lnTo>
                  <a:lnTo>
                    <a:pt x="481" y="524"/>
                  </a:lnTo>
                  <a:lnTo>
                    <a:pt x="493" y="536"/>
                  </a:lnTo>
                  <a:lnTo>
                    <a:pt x="507" y="545"/>
                  </a:lnTo>
                  <a:lnTo>
                    <a:pt x="521" y="553"/>
                  </a:lnTo>
                  <a:lnTo>
                    <a:pt x="541" y="564"/>
                  </a:lnTo>
                  <a:lnTo>
                    <a:pt x="567" y="577"/>
                  </a:lnTo>
                  <a:lnTo>
                    <a:pt x="597" y="592"/>
                  </a:lnTo>
                  <a:lnTo>
                    <a:pt x="633" y="609"/>
                  </a:lnTo>
                  <a:lnTo>
                    <a:pt x="674" y="629"/>
                  </a:lnTo>
                  <a:lnTo>
                    <a:pt x="720" y="649"/>
                  </a:lnTo>
                  <a:lnTo>
                    <a:pt x="772" y="672"/>
                  </a:lnTo>
                  <a:lnTo>
                    <a:pt x="846" y="707"/>
                  </a:lnTo>
                  <a:lnTo>
                    <a:pt x="915" y="740"/>
                  </a:lnTo>
                  <a:lnTo>
                    <a:pt x="946" y="756"/>
                  </a:lnTo>
                  <a:lnTo>
                    <a:pt x="976" y="771"/>
                  </a:lnTo>
                  <a:lnTo>
                    <a:pt x="1004" y="787"/>
                  </a:lnTo>
                  <a:lnTo>
                    <a:pt x="1032" y="802"/>
                  </a:lnTo>
                  <a:lnTo>
                    <a:pt x="1056" y="817"/>
                  </a:lnTo>
                  <a:lnTo>
                    <a:pt x="1080" y="832"/>
                  </a:lnTo>
                  <a:lnTo>
                    <a:pt x="1102" y="846"/>
                  </a:lnTo>
                  <a:lnTo>
                    <a:pt x="1123" y="860"/>
                  </a:lnTo>
                  <a:lnTo>
                    <a:pt x="1141" y="875"/>
                  </a:lnTo>
                  <a:lnTo>
                    <a:pt x="1158" y="888"/>
                  </a:lnTo>
                  <a:lnTo>
                    <a:pt x="1174" y="901"/>
                  </a:lnTo>
                  <a:lnTo>
                    <a:pt x="1187" y="913"/>
                  </a:lnTo>
                  <a:lnTo>
                    <a:pt x="1202" y="930"/>
                  </a:lnTo>
                  <a:lnTo>
                    <a:pt x="1216" y="945"/>
                  </a:lnTo>
                  <a:lnTo>
                    <a:pt x="1229" y="962"/>
                  </a:lnTo>
                  <a:lnTo>
                    <a:pt x="1241" y="979"/>
                  </a:lnTo>
                  <a:lnTo>
                    <a:pt x="1252" y="997"/>
                  </a:lnTo>
                  <a:lnTo>
                    <a:pt x="1262" y="1015"/>
                  </a:lnTo>
                  <a:lnTo>
                    <a:pt x="1271" y="1034"/>
                  </a:lnTo>
                  <a:lnTo>
                    <a:pt x="1279" y="1053"/>
                  </a:lnTo>
                  <a:lnTo>
                    <a:pt x="1287" y="1074"/>
                  </a:lnTo>
                  <a:lnTo>
                    <a:pt x="1293" y="1094"/>
                  </a:lnTo>
                  <a:lnTo>
                    <a:pt x="1298" y="1114"/>
                  </a:lnTo>
                  <a:lnTo>
                    <a:pt x="1302" y="1137"/>
                  </a:lnTo>
                  <a:lnTo>
                    <a:pt x="1305" y="1158"/>
                  </a:lnTo>
                  <a:lnTo>
                    <a:pt x="1308" y="1182"/>
                  </a:lnTo>
                  <a:lnTo>
                    <a:pt x="1309" y="1204"/>
                  </a:lnTo>
                  <a:lnTo>
                    <a:pt x="1310" y="1229"/>
                  </a:lnTo>
                  <a:lnTo>
                    <a:pt x="1309" y="1262"/>
                  </a:lnTo>
                  <a:lnTo>
                    <a:pt x="1306" y="1296"/>
                  </a:lnTo>
                  <a:lnTo>
                    <a:pt x="1301" y="1328"/>
                  </a:lnTo>
                  <a:lnTo>
                    <a:pt x="1295" y="1358"/>
                  </a:lnTo>
                  <a:lnTo>
                    <a:pt x="1291" y="1374"/>
                  </a:lnTo>
                  <a:lnTo>
                    <a:pt x="1287" y="1389"/>
                  </a:lnTo>
                  <a:lnTo>
                    <a:pt x="1282" y="1403"/>
                  </a:lnTo>
                  <a:lnTo>
                    <a:pt x="1276" y="1418"/>
                  </a:lnTo>
                  <a:lnTo>
                    <a:pt x="1271"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8" y="1633"/>
                  </a:lnTo>
                  <a:lnTo>
                    <a:pt x="1069" y="1651"/>
                  </a:lnTo>
                  <a:lnTo>
                    <a:pt x="1044" y="1666"/>
                  </a:lnTo>
                  <a:lnTo>
                    <a:pt x="1019" y="1679"/>
                  </a:lnTo>
                  <a:lnTo>
                    <a:pt x="992" y="1691"/>
                  </a:lnTo>
                  <a:lnTo>
                    <a:pt x="965" y="1703"/>
                  </a:lnTo>
                  <a:lnTo>
                    <a:pt x="936" y="1714"/>
                  </a:lnTo>
                  <a:lnTo>
                    <a:pt x="906" y="1724"/>
                  </a:lnTo>
                  <a:lnTo>
                    <a:pt x="876" y="1732"/>
                  </a:lnTo>
                  <a:lnTo>
                    <a:pt x="845" y="1740"/>
                  </a:lnTo>
                  <a:lnTo>
                    <a:pt x="813" y="1747"/>
                  </a:lnTo>
                  <a:lnTo>
                    <a:pt x="780" y="1752"/>
                  </a:lnTo>
                  <a:lnTo>
                    <a:pt x="746" y="1757"/>
                  </a:lnTo>
                  <a:lnTo>
                    <a:pt x="712" y="1762"/>
                  </a:lnTo>
                  <a:lnTo>
                    <a:pt x="676" y="1766"/>
                  </a:lnTo>
                  <a:lnTo>
                    <a:pt x="639" y="1768"/>
                  </a:lnTo>
                  <a:lnTo>
                    <a:pt x="601" y="1769"/>
                  </a:lnTo>
                  <a:lnTo>
                    <a:pt x="563" y="1770"/>
                  </a:lnTo>
                  <a:lnTo>
                    <a:pt x="497" y="1769"/>
                  </a:lnTo>
                  <a:lnTo>
                    <a:pt x="431" y="1766"/>
                  </a:lnTo>
                  <a:lnTo>
                    <a:pt x="366" y="1761"/>
                  </a:lnTo>
                  <a:lnTo>
                    <a:pt x="300" y="1754"/>
                  </a:lnTo>
                  <a:lnTo>
                    <a:pt x="233" y="1745"/>
                  </a:lnTo>
                  <a:lnTo>
                    <a:pt x="167" y="1735"/>
                  </a:lnTo>
                  <a:lnTo>
                    <a:pt x="101"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29" name="Freeform 53"/>
            <p:cNvSpPr>
              <a:spLocks/>
            </p:cNvSpPr>
            <p:nvPr userDrawn="1"/>
          </p:nvSpPr>
          <p:spPr bwMode="auto">
            <a:xfrm>
              <a:off x="6294" y="350"/>
              <a:ext cx="39" cy="142"/>
            </a:xfrm>
            <a:custGeom>
              <a:avLst/>
              <a:gdLst>
                <a:gd name="T0" fmla="*/ 476 w 476"/>
                <a:gd name="T1" fmla="*/ 0 h 1706"/>
                <a:gd name="T2" fmla="*/ 476 w 476"/>
                <a:gd name="T3" fmla="*/ 1706 h 1706"/>
                <a:gd name="T4" fmla="*/ 0 w 476"/>
                <a:gd name="T5" fmla="*/ 1706 h 1706"/>
                <a:gd name="T6" fmla="*/ 0 w 476"/>
                <a:gd name="T7" fmla="*/ 0 h 1706"/>
                <a:gd name="T8" fmla="*/ 238 w 476"/>
                <a:gd name="T9" fmla="*/ 285 h 1706"/>
                <a:gd name="T10" fmla="*/ 476 w 476"/>
                <a:gd name="T11" fmla="*/ 0 h 1706"/>
              </a:gdLst>
              <a:ahLst/>
              <a:cxnLst>
                <a:cxn ang="0">
                  <a:pos x="T0" y="T1"/>
                </a:cxn>
                <a:cxn ang="0">
                  <a:pos x="T2" y="T3"/>
                </a:cxn>
                <a:cxn ang="0">
                  <a:pos x="T4" y="T5"/>
                </a:cxn>
                <a:cxn ang="0">
                  <a:pos x="T6" y="T7"/>
                </a:cxn>
                <a:cxn ang="0">
                  <a:pos x="T8" y="T9"/>
                </a:cxn>
                <a:cxn ang="0">
                  <a:pos x="T10" y="T11"/>
                </a:cxn>
              </a:cxnLst>
              <a:rect l="0" t="0" r="r" b="b"/>
              <a:pathLst>
                <a:path w="476" h="1706">
                  <a:moveTo>
                    <a:pt x="476" y="0"/>
                  </a:moveTo>
                  <a:lnTo>
                    <a:pt x="476" y="1706"/>
                  </a:lnTo>
                  <a:lnTo>
                    <a:pt x="0" y="1706"/>
                  </a:lnTo>
                  <a:lnTo>
                    <a:pt x="0" y="0"/>
                  </a:lnTo>
                  <a:lnTo>
                    <a:pt x="238" y="285"/>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0" name="Freeform 54"/>
            <p:cNvSpPr>
              <a:spLocks/>
            </p:cNvSpPr>
            <p:nvPr userDrawn="1"/>
          </p:nvSpPr>
          <p:spPr bwMode="auto">
            <a:xfrm>
              <a:off x="6294" y="350"/>
              <a:ext cx="39" cy="44"/>
            </a:xfrm>
            <a:custGeom>
              <a:avLst/>
              <a:gdLst>
                <a:gd name="T0" fmla="*/ 476 w 476"/>
                <a:gd name="T1" fmla="*/ 0 h 530"/>
                <a:gd name="T2" fmla="*/ 0 w 476"/>
                <a:gd name="T3" fmla="*/ 0 h 530"/>
                <a:gd name="T4" fmla="*/ 238 w 476"/>
                <a:gd name="T5" fmla="*/ 530 h 530"/>
                <a:gd name="T6" fmla="*/ 476 w 476"/>
                <a:gd name="T7" fmla="*/ 0 h 530"/>
              </a:gdLst>
              <a:ahLst/>
              <a:cxnLst>
                <a:cxn ang="0">
                  <a:pos x="T0" y="T1"/>
                </a:cxn>
                <a:cxn ang="0">
                  <a:pos x="T2" y="T3"/>
                </a:cxn>
                <a:cxn ang="0">
                  <a:pos x="T4" y="T5"/>
                </a:cxn>
                <a:cxn ang="0">
                  <a:pos x="T6" y="T7"/>
                </a:cxn>
              </a:cxnLst>
              <a:rect l="0" t="0" r="r" b="b"/>
              <a:pathLst>
                <a:path w="476" h="530">
                  <a:moveTo>
                    <a:pt x="476" y="0"/>
                  </a:moveTo>
                  <a:lnTo>
                    <a:pt x="0" y="0"/>
                  </a:lnTo>
                  <a:lnTo>
                    <a:pt x="238" y="530"/>
                  </a:lnTo>
                  <a:lnTo>
                    <a:pt x="476" y="0"/>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1" name="Freeform 55"/>
            <p:cNvSpPr>
              <a:spLocks/>
            </p:cNvSpPr>
            <p:nvPr userDrawn="1"/>
          </p:nvSpPr>
          <p:spPr bwMode="auto">
            <a:xfrm>
              <a:off x="6370" y="350"/>
              <a:ext cx="103" cy="142"/>
            </a:xfrm>
            <a:custGeom>
              <a:avLst/>
              <a:gdLst>
                <a:gd name="T0" fmla="*/ 0 w 1241"/>
                <a:gd name="T1" fmla="*/ 1706 h 1706"/>
                <a:gd name="T2" fmla="*/ 0 w 1241"/>
                <a:gd name="T3" fmla="*/ 0 h 1706"/>
                <a:gd name="T4" fmla="*/ 1222 w 1241"/>
                <a:gd name="T5" fmla="*/ 0 h 1706"/>
                <a:gd name="T6" fmla="*/ 1222 w 1241"/>
                <a:gd name="T7" fmla="*/ 309 h 1706"/>
                <a:gd name="T8" fmla="*/ 459 w 1241"/>
                <a:gd name="T9" fmla="*/ 309 h 1706"/>
                <a:gd name="T10" fmla="*/ 459 w 1241"/>
                <a:gd name="T11" fmla="*/ 693 h 1706"/>
                <a:gd name="T12" fmla="*/ 1123 w 1241"/>
                <a:gd name="T13" fmla="*/ 693 h 1706"/>
                <a:gd name="T14" fmla="*/ 1123 w 1241"/>
                <a:gd name="T15" fmla="*/ 975 h 1706"/>
                <a:gd name="T16" fmla="*/ 459 w 1241"/>
                <a:gd name="T17" fmla="*/ 975 h 1706"/>
                <a:gd name="T18" fmla="*/ 459 w 1241"/>
                <a:gd name="T19" fmla="*/ 1380 h 1706"/>
                <a:gd name="T20" fmla="*/ 1241 w 1241"/>
                <a:gd name="T21" fmla="*/ 1380 h 1706"/>
                <a:gd name="T22" fmla="*/ 1241 w 1241"/>
                <a:gd name="T23" fmla="*/ 1706 h 1706"/>
                <a:gd name="T24" fmla="*/ 0 w 1241"/>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1" h="1706">
                  <a:moveTo>
                    <a:pt x="0" y="1706"/>
                  </a:moveTo>
                  <a:lnTo>
                    <a:pt x="0" y="0"/>
                  </a:lnTo>
                  <a:lnTo>
                    <a:pt x="1222" y="0"/>
                  </a:lnTo>
                  <a:lnTo>
                    <a:pt x="1222" y="309"/>
                  </a:lnTo>
                  <a:lnTo>
                    <a:pt x="459" y="309"/>
                  </a:lnTo>
                  <a:lnTo>
                    <a:pt x="459" y="693"/>
                  </a:lnTo>
                  <a:lnTo>
                    <a:pt x="1123" y="693"/>
                  </a:lnTo>
                  <a:lnTo>
                    <a:pt x="1123" y="975"/>
                  </a:lnTo>
                  <a:lnTo>
                    <a:pt x="459" y="975"/>
                  </a:lnTo>
                  <a:lnTo>
                    <a:pt x="459" y="1380"/>
                  </a:lnTo>
                  <a:lnTo>
                    <a:pt x="1241" y="1380"/>
                  </a:lnTo>
                  <a:lnTo>
                    <a:pt x="1241"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2" name="Freeform 56"/>
            <p:cNvSpPr>
              <a:spLocks/>
            </p:cNvSpPr>
            <p:nvPr userDrawn="1"/>
          </p:nvSpPr>
          <p:spPr bwMode="auto">
            <a:xfrm>
              <a:off x="6499" y="350"/>
              <a:ext cx="173" cy="143"/>
            </a:xfrm>
            <a:custGeom>
              <a:avLst/>
              <a:gdLst>
                <a:gd name="T0" fmla="*/ 0 w 2073"/>
                <a:gd name="T1" fmla="*/ 1706 h 1723"/>
                <a:gd name="T2" fmla="*/ 0 w 2073"/>
                <a:gd name="T3" fmla="*/ 0 h 1723"/>
                <a:gd name="T4" fmla="*/ 617 w 2073"/>
                <a:gd name="T5" fmla="*/ 0 h 1723"/>
                <a:gd name="T6" fmla="*/ 1047 w 2073"/>
                <a:gd name="T7" fmla="*/ 1090 h 1723"/>
                <a:gd name="T8" fmla="*/ 1486 w 2073"/>
                <a:gd name="T9" fmla="*/ 0 h 1723"/>
                <a:gd name="T10" fmla="*/ 2073 w 2073"/>
                <a:gd name="T11" fmla="*/ 0 h 1723"/>
                <a:gd name="T12" fmla="*/ 2073 w 2073"/>
                <a:gd name="T13" fmla="*/ 1706 h 1723"/>
                <a:gd name="T14" fmla="*/ 1621 w 2073"/>
                <a:gd name="T15" fmla="*/ 1706 h 1723"/>
                <a:gd name="T16" fmla="*/ 1621 w 2073"/>
                <a:gd name="T17" fmla="*/ 499 h 1723"/>
                <a:gd name="T18" fmla="*/ 1121 w 2073"/>
                <a:gd name="T19" fmla="*/ 1723 h 1723"/>
                <a:gd name="T20" fmla="*/ 826 w 2073"/>
                <a:gd name="T21" fmla="*/ 1723 h 1723"/>
                <a:gd name="T22" fmla="*/ 336 w 2073"/>
                <a:gd name="T23" fmla="*/ 499 h 1723"/>
                <a:gd name="T24" fmla="*/ 336 w 2073"/>
                <a:gd name="T25" fmla="*/ 1706 h 1723"/>
                <a:gd name="T26" fmla="*/ 0 w 2073"/>
                <a:gd name="T27" fmla="*/ 1706 h 172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Lst>
              <a:rect l="0" t="0" r="r" b="b"/>
              <a:pathLst>
                <a:path w="2073" h="1723">
                  <a:moveTo>
                    <a:pt x="0" y="1706"/>
                  </a:moveTo>
                  <a:lnTo>
                    <a:pt x="0" y="0"/>
                  </a:lnTo>
                  <a:lnTo>
                    <a:pt x="617" y="0"/>
                  </a:lnTo>
                  <a:lnTo>
                    <a:pt x="1047" y="1090"/>
                  </a:lnTo>
                  <a:lnTo>
                    <a:pt x="1486" y="0"/>
                  </a:lnTo>
                  <a:lnTo>
                    <a:pt x="2073" y="0"/>
                  </a:lnTo>
                  <a:lnTo>
                    <a:pt x="2073" y="1706"/>
                  </a:lnTo>
                  <a:lnTo>
                    <a:pt x="1621" y="1706"/>
                  </a:lnTo>
                  <a:lnTo>
                    <a:pt x="1621" y="499"/>
                  </a:lnTo>
                  <a:lnTo>
                    <a:pt x="1121" y="1723"/>
                  </a:lnTo>
                  <a:lnTo>
                    <a:pt x="826" y="1723"/>
                  </a:lnTo>
                  <a:lnTo>
                    <a:pt x="336" y="499"/>
                  </a:lnTo>
                  <a:lnTo>
                    <a:pt x="336"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3" name="Freeform 57"/>
            <p:cNvSpPr>
              <a:spLocks/>
            </p:cNvSpPr>
            <p:nvPr userDrawn="1"/>
          </p:nvSpPr>
          <p:spPr bwMode="auto">
            <a:xfrm>
              <a:off x="6708" y="350"/>
              <a:ext cx="104" cy="142"/>
            </a:xfrm>
            <a:custGeom>
              <a:avLst/>
              <a:gdLst>
                <a:gd name="T0" fmla="*/ 0 w 1242"/>
                <a:gd name="T1" fmla="*/ 1706 h 1706"/>
                <a:gd name="T2" fmla="*/ 0 w 1242"/>
                <a:gd name="T3" fmla="*/ 0 h 1706"/>
                <a:gd name="T4" fmla="*/ 1221 w 1242"/>
                <a:gd name="T5" fmla="*/ 0 h 1706"/>
                <a:gd name="T6" fmla="*/ 1221 w 1242"/>
                <a:gd name="T7" fmla="*/ 309 h 1706"/>
                <a:gd name="T8" fmla="*/ 459 w 1242"/>
                <a:gd name="T9" fmla="*/ 309 h 1706"/>
                <a:gd name="T10" fmla="*/ 459 w 1242"/>
                <a:gd name="T11" fmla="*/ 693 h 1706"/>
                <a:gd name="T12" fmla="*/ 1123 w 1242"/>
                <a:gd name="T13" fmla="*/ 693 h 1706"/>
                <a:gd name="T14" fmla="*/ 1123 w 1242"/>
                <a:gd name="T15" fmla="*/ 975 h 1706"/>
                <a:gd name="T16" fmla="*/ 459 w 1242"/>
                <a:gd name="T17" fmla="*/ 975 h 1706"/>
                <a:gd name="T18" fmla="*/ 459 w 1242"/>
                <a:gd name="T19" fmla="*/ 1380 h 1706"/>
                <a:gd name="T20" fmla="*/ 1242 w 1242"/>
                <a:gd name="T21" fmla="*/ 1380 h 1706"/>
                <a:gd name="T22" fmla="*/ 1242 w 1242"/>
                <a:gd name="T23" fmla="*/ 1706 h 1706"/>
                <a:gd name="T24" fmla="*/ 0 w 1242"/>
                <a:gd name="T25"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242" h="1706">
                  <a:moveTo>
                    <a:pt x="0" y="1706"/>
                  </a:moveTo>
                  <a:lnTo>
                    <a:pt x="0" y="0"/>
                  </a:lnTo>
                  <a:lnTo>
                    <a:pt x="1221" y="0"/>
                  </a:lnTo>
                  <a:lnTo>
                    <a:pt x="1221" y="309"/>
                  </a:lnTo>
                  <a:lnTo>
                    <a:pt x="459" y="309"/>
                  </a:lnTo>
                  <a:lnTo>
                    <a:pt x="459" y="693"/>
                  </a:lnTo>
                  <a:lnTo>
                    <a:pt x="1123" y="693"/>
                  </a:lnTo>
                  <a:lnTo>
                    <a:pt x="1123" y="975"/>
                  </a:lnTo>
                  <a:lnTo>
                    <a:pt x="459" y="975"/>
                  </a:lnTo>
                  <a:lnTo>
                    <a:pt x="459" y="1380"/>
                  </a:lnTo>
                  <a:lnTo>
                    <a:pt x="1242" y="1380"/>
                  </a:lnTo>
                  <a:lnTo>
                    <a:pt x="1242"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4" name="Freeform 58"/>
            <p:cNvSpPr>
              <a:spLocks/>
            </p:cNvSpPr>
            <p:nvPr userDrawn="1"/>
          </p:nvSpPr>
          <p:spPr bwMode="auto">
            <a:xfrm>
              <a:off x="6838" y="350"/>
              <a:ext cx="123" cy="142"/>
            </a:xfrm>
            <a:custGeom>
              <a:avLst/>
              <a:gdLst>
                <a:gd name="T0" fmla="*/ 0 w 1473"/>
                <a:gd name="T1" fmla="*/ 1706 h 1706"/>
                <a:gd name="T2" fmla="*/ 0 w 1473"/>
                <a:gd name="T3" fmla="*/ 0 h 1706"/>
                <a:gd name="T4" fmla="*/ 551 w 1473"/>
                <a:gd name="T5" fmla="*/ 0 h 1706"/>
                <a:gd name="T6" fmla="*/ 1137 w 1473"/>
                <a:gd name="T7" fmla="*/ 1142 h 1706"/>
                <a:gd name="T8" fmla="*/ 1137 w 1473"/>
                <a:gd name="T9" fmla="*/ 0 h 1706"/>
                <a:gd name="T10" fmla="*/ 1473 w 1473"/>
                <a:gd name="T11" fmla="*/ 0 h 1706"/>
                <a:gd name="T12" fmla="*/ 1473 w 1473"/>
                <a:gd name="T13" fmla="*/ 1706 h 1706"/>
                <a:gd name="T14" fmla="*/ 936 w 1473"/>
                <a:gd name="T15" fmla="*/ 1706 h 1706"/>
                <a:gd name="T16" fmla="*/ 335 w 1473"/>
                <a:gd name="T17" fmla="*/ 549 h 1706"/>
                <a:gd name="T18" fmla="*/ 335 w 1473"/>
                <a:gd name="T19" fmla="*/ 1706 h 1706"/>
                <a:gd name="T20" fmla="*/ 0 w 1473"/>
                <a:gd name="T21" fmla="*/ 1706 h 17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473" h="1706">
                  <a:moveTo>
                    <a:pt x="0" y="1706"/>
                  </a:moveTo>
                  <a:lnTo>
                    <a:pt x="0" y="0"/>
                  </a:lnTo>
                  <a:lnTo>
                    <a:pt x="551" y="0"/>
                  </a:lnTo>
                  <a:lnTo>
                    <a:pt x="1137" y="1142"/>
                  </a:lnTo>
                  <a:lnTo>
                    <a:pt x="1137" y="0"/>
                  </a:lnTo>
                  <a:lnTo>
                    <a:pt x="1473" y="0"/>
                  </a:lnTo>
                  <a:lnTo>
                    <a:pt x="1473" y="1706"/>
                  </a:lnTo>
                  <a:lnTo>
                    <a:pt x="936" y="1706"/>
                  </a:lnTo>
                  <a:lnTo>
                    <a:pt x="335" y="549"/>
                  </a:lnTo>
                  <a:lnTo>
                    <a:pt x="335" y="1706"/>
                  </a:lnTo>
                  <a:lnTo>
                    <a:pt x="0" y="1706"/>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sp>
          <p:nvSpPr>
            <p:cNvPr id="35" name="Freeform 59"/>
            <p:cNvSpPr>
              <a:spLocks/>
            </p:cNvSpPr>
            <p:nvPr userDrawn="1"/>
          </p:nvSpPr>
          <p:spPr bwMode="auto">
            <a:xfrm>
              <a:off x="6986" y="347"/>
              <a:ext cx="109" cy="148"/>
            </a:xfrm>
            <a:custGeom>
              <a:avLst/>
              <a:gdLst>
                <a:gd name="T0" fmla="*/ 138 w 1309"/>
                <a:gd name="T1" fmla="*/ 1401 h 1770"/>
                <a:gd name="T2" fmla="*/ 303 w 1309"/>
                <a:gd name="T3" fmla="*/ 1438 h 1770"/>
                <a:gd name="T4" fmla="*/ 456 w 1309"/>
                <a:gd name="T5" fmla="*/ 1457 h 1770"/>
                <a:gd name="T6" fmla="*/ 615 w 1309"/>
                <a:gd name="T7" fmla="*/ 1458 h 1770"/>
                <a:gd name="T8" fmla="*/ 740 w 1309"/>
                <a:gd name="T9" fmla="*/ 1434 h 1770"/>
                <a:gd name="T10" fmla="*/ 790 w 1309"/>
                <a:gd name="T11" fmla="*/ 1409 h 1770"/>
                <a:gd name="T12" fmla="*/ 824 w 1309"/>
                <a:gd name="T13" fmla="*/ 1378 h 1770"/>
                <a:gd name="T14" fmla="*/ 843 w 1309"/>
                <a:gd name="T15" fmla="*/ 1337 h 1770"/>
                <a:gd name="T16" fmla="*/ 847 w 1309"/>
                <a:gd name="T17" fmla="*/ 1285 h 1770"/>
                <a:gd name="T18" fmla="*/ 824 w 1309"/>
                <a:gd name="T19" fmla="*/ 1220 h 1770"/>
                <a:gd name="T20" fmla="*/ 750 w 1309"/>
                <a:gd name="T21" fmla="*/ 1161 h 1770"/>
                <a:gd name="T22" fmla="*/ 571 w 1309"/>
                <a:gd name="T23" fmla="*/ 1078 h 1770"/>
                <a:gd name="T24" fmla="*/ 321 w 1309"/>
                <a:gd name="T25" fmla="*/ 965 h 1770"/>
                <a:gd name="T26" fmla="*/ 197 w 1309"/>
                <a:gd name="T27" fmla="*/ 893 h 1770"/>
                <a:gd name="T28" fmla="*/ 116 w 1309"/>
                <a:gd name="T29" fmla="*/ 826 h 1770"/>
                <a:gd name="T30" fmla="*/ 51 w 1309"/>
                <a:gd name="T31" fmla="*/ 736 h 1770"/>
                <a:gd name="T32" fmla="*/ 13 w 1309"/>
                <a:gd name="T33" fmla="*/ 633 h 1770"/>
                <a:gd name="T34" fmla="*/ 0 w 1309"/>
                <a:gd name="T35" fmla="*/ 515 h 1770"/>
                <a:gd name="T36" fmla="*/ 18 w 1309"/>
                <a:gd name="T37" fmla="*/ 369 h 1770"/>
                <a:gd name="T38" fmla="*/ 75 w 1309"/>
                <a:gd name="T39" fmla="*/ 247 h 1770"/>
                <a:gd name="T40" fmla="*/ 169 w 1309"/>
                <a:gd name="T41" fmla="*/ 148 h 1770"/>
                <a:gd name="T42" fmla="*/ 294 w 1309"/>
                <a:gd name="T43" fmla="*/ 73 h 1770"/>
                <a:gd name="T44" fmla="*/ 443 w 1309"/>
                <a:gd name="T45" fmla="*/ 24 h 1770"/>
                <a:gd name="T46" fmla="*/ 614 w 1309"/>
                <a:gd name="T47" fmla="*/ 2 h 1770"/>
                <a:gd name="T48" fmla="*/ 832 w 1309"/>
                <a:gd name="T49" fmla="*/ 7 h 1770"/>
                <a:gd name="T50" fmla="*/ 1134 w 1309"/>
                <a:gd name="T51" fmla="*/ 54 h 1770"/>
                <a:gd name="T52" fmla="*/ 1088 w 1309"/>
                <a:gd name="T53" fmla="*/ 353 h 1770"/>
                <a:gd name="T54" fmla="*/ 947 w 1309"/>
                <a:gd name="T55" fmla="*/ 314 h 1770"/>
                <a:gd name="T56" fmla="*/ 811 w 1309"/>
                <a:gd name="T57" fmla="*/ 294 h 1770"/>
                <a:gd name="T58" fmla="*/ 667 w 1309"/>
                <a:gd name="T59" fmla="*/ 293 h 1770"/>
                <a:gd name="T60" fmla="*/ 539 w 1309"/>
                <a:gd name="T61" fmla="*/ 321 h 1770"/>
                <a:gd name="T62" fmla="*/ 488 w 1309"/>
                <a:gd name="T63" fmla="*/ 352 h 1770"/>
                <a:gd name="T64" fmla="*/ 463 w 1309"/>
                <a:gd name="T65" fmla="*/ 387 h 1770"/>
                <a:gd name="T66" fmla="*/ 449 w 1309"/>
                <a:gd name="T67" fmla="*/ 430 h 1770"/>
                <a:gd name="T68" fmla="*/ 456 w 1309"/>
                <a:gd name="T69" fmla="*/ 490 h 1770"/>
                <a:gd name="T70" fmla="*/ 506 w 1309"/>
                <a:gd name="T71" fmla="*/ 545 h 1770"/>
                <a:gd name="T72" fmla="*/ 632 w 1309"/>
                <a:gd name="T73" fmla="*/ 608 h 1770"/>
                <a:gd name="T74" fmla="*/ 914 w 1309"/>
                <a:gd name="T75" fmla="*/ 740 h 1770"/>
                <a:gd name="T76" fmla="*/ 1101 w 1309"/>
                <a:gd name="T77" fmla="*/ 846 h 1770"/>
                <a:gd name="T78" fmla="*/ 1187 w 1309"/>
                <a:gd name="T79" fmla="*/ 913 h 1770"/>
                <a:gd name="T80" fmla="*/ 1251 w 1309"/>
                <a:gd name="T81" fmla="*/ 997 h 1770"/>
                <a:gd name="T82" fmla="*/ 1292 w 1309"/>
                <a:gd name="T83" fmla="*/ 1094 h 1770"/>
                <a:gd name="T84" fmla="*/ 1309 w 1309"/>
                <a:gd name="T85" fmla="*/ 1204 h 1770"/>
                <a:gd name="T86" fmla="*/ 1295 w 1309"/>
                <a:gd name="T87" fmla="*/ 1358 h 1770"/>
                <a:gd name="T88" fmla="*/ 1270 w 1309"/>
                <a:gd name="T89" fmla="*/ 1432 h 1770"/>
                <a:gd name="T90" fmla="*/ 1234 w 1309"/>
                <a:gd name="T91" fmla="*/ 1499 h 1770"/>
                <a:gd name="T92" fmla="*/ 1186 w 1309"/>
                <a:gd name="T93" fmla="*/ 1559 h 1770"/>
                <a:gd name="T94" fmla="*/ 1069 w 1309"/>
                <a:gd name="T95" fmla="*/ 1651 h 1770"/>
                <a:gd name="T96" fmla="*/ 936 w 1309"/>
                <a:gd name="T97" fmla="*/ 1714 h 1770"/>
                <a:gd name="T98" fmla="*/ 780 w 1309"/>
                <a:gd name="T99" fmla="*/ 1752 h 1770"/>
                <a:gd name="T100" fmla="*/ 601 w 1309"/>
                <a:gd name="T101" fmla="*/ 1769 h 1770"/>
                <a:gd name="T102" fmla="*/ 299 w 1309"/>
                <a:gd name="T103" fmla="*/ 1754 h 17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1309" h="1770">
                  <a:moveTo>
                    <a:pt x="34" y="1707"/>
                  </a:moveTo>
                  <a:lnTo>
                    <a:pt x="34" y="1371"/>
                  </a:lnTo>
                  <a:lnTo>
                    <a:pt x="69" y="1382"/>
                  </a:lnTo>
                  <a:lnTo>
                    <a:pt x="105" y="1392"/>
                  </a:lnTo>
                  <a:lnTo>
                    <a:pt x="138" y="1401"/>
                  </a:lnTo>
                  <a:lnTo>
                    <a:pt x="173" y="1410"/>
                  </a:lnTo>
                  <a:lnTo>
                    <a:pt x="206" y="1419"/>
                  </a:lnTo>
                  <a:lnTo>
                    <a:pt x="239" y="1426"/>
                  </a:lnTo>
                  <a:lnTo>
                    <a:pt x="272" y="1432"/>
                  </a:lnTo>
                  <a:lnTo>
                    <a:pt x="303" y="1438"/>
                  </a:lnTo>
                  <a:lnTo>
                    <a:pt x="335" y="1444"/>
                  </a:lnTo>
                  <a:lnTo>
                    <a:pt x="366" y="1448"/>
                  </a:lnTo>
                  <a:lnTo>
                    <a:pt x="396" y="1452"/>
                  </a:lnTo>
                  <a:lnTo>
                    <a:pt x="427" y="1455"/>
                  </a:lnTo>
                  <a:lnTo>
                    <a:pt x="456" y="1457"/>
                  </a:lnTo>
                  <a:lnTo>
                    <a:pt x="486" y="1459"/>
                  </a:lnTo>
                  <a:lnTo>
                    <a:pt x="515" y="1460"/>
                  </a:lnTo>
                  <a:lnTo>
                    <a:pt x="542" y="1461"/>
                  </a:lnTo>
                  <a:lnTo>
                    <a:pt x="580" y="1460"/>
                  </a:lnTo>
                  <a:lnTo>
                    <a:pt x="615" y="1458"/>
                  </a:lnTo>
                  <a:lnTo>
                    <a:pt x="646" y="1455"/>
                  </a:lnTo>
                  <a:lnTo>
                    <a:pt x="676" y="1451"/>
                  </a:lnTo>
                  <a:lnTo>
                    <a:pt x="703" y="1445"/>
                  </a:lnTo>
                  <a:lnTo>
                    <a:pt x="729" y="1438"/>
                  </a:lnTo>
                  <a:lnTo>
                    <a:pt x="740" y="1434"/>
                  </a:lnTo>
                  <a:lnTo>
                    <a:pt x="751" y="1430"/>
                  </a:lnTo>
                  <a:lnTo>
                    <a:pt x="761" y="1426"/>
                  </a:lnTo>
                  <a:lnTo>
                    <a:pt x="772" y="1421"/>
                  </a:lnTo>
                  <a:lnTo>
                    <a:pt x="781" y="1416"/>
                  </a:lnTo>
                  <a:lnTo>
                    <a:pt x="790" y="1409"/>
                  </a:lnTo>
                  <a:lnTo>
                    <a:pt x="798" y="1404"/>
                  </a:lnTo>
                  <a:lnTo>
                    <a:pt x="805" y="1398"/>
                  </a:lnTo>
                  <a:lnTo>
                    <a:pt x="812" y="1391"/>
                  </a:lnTo>
                  <a:lnTo>
                    <a:pt x="819" y="1385"/>
                  </a:lnTo>
                  <a:lnTo>
                    <a:pt x="824" y="1378"/>
                  </a:lnTo>
                  <a:lnTo>
                    <a:pt x="829" y="1370"/>
                  </a:lnTo>
                  <a:lnTo>
                    <a:pt x="834" y="1362"/>
                  </a:lnTo>
                  <a:lnTo>
                    <a:pt x="837" y="1354"/>
                  </a:lnTo>
                  <a:lnTo>
                    <a:pt x="841" y="1346"/>
                  </a:lnTo>
                  <a:lnTo>
                    <a:pt x="843" y="1337"/>
                  </a:lnTo>
                  <a:lnTo>
                    <a:pt x="845" y="1329"/>
                  </a:lnTo>
                  <a:lnTo>
                    <a:pt x="847" y="1319"/>
                  </a:lnTo>
                  <a:lnTo>
                    <a:pt x="848" y="1309"/>
                  </a:lnTo>
                  <a:lnTo>
                    <a:pt x="848" y="1299"/>
                  </a:lnTo>
                  <a:lnTo>
                    <a:pt x="847" y="1285"/>
                  </a:lnTo>
                  <a:lnTo>
                    <a:pt x="845" y="1271"/>
                  </a:lnTo>
                  <a:lnTo>
                    <a:pt x="842" y="1257"/>
                  </a:lnTo>
                  <a:lnTo>
                    <a:pt x="837" y="1244"/>
                  </a:lnTo>
                  <a:lnTo>
                    <a:pt x="831" y="1232"/>
                  </a:lnTo>
                  <a:lnTo>
                    <a:pt x="824" y="1220"/>
                  </a:lnTo>
                  <a:lnTo>
                    <a:pt x="814" y="1208"/>
                  </a:lnTo>
                  <a:lnTo>
                    <a:pt x="805" y="1198"/>
                  </a:lnTo>
                  <a:lnTo>
                    <a:pt x="791" y="1187"/>
                  </a:lnTo>
                  <a:lnTo>
                    <a:pt x="773" y="1175"/>
                  </a:lnTo>
                  <a:lnTo>
                    <a:pt x="750" y="1161"/>
                  </a:lnTo>
                  <a:lnTo>
                    <a:pt x="724" y="1146"/>
                  </a:lnTo>
                  <a:lnTo>
                    <a:pt x="692" y="1131"/>
                  </a:lnTo>
                  <a:lnTo>
                    <a:pt x="655" y="1114"/>
                  </a:lnTo>
                  <a:lnTo>
                    <a:pt x="616" y="1096"/>
                  </a:lnTo>
                  <a:lnTo>
                    <a:pt x="571" y="1078"/>
                  </a:lnTo>
                  <a:lnTo>
                    <a:pt x="490" y="1044"/>
                  </a:lnTo>
                  <a:lnTo>
                    <a:pt x="417" y="1011"/>
                  </a:lnTo>
                  <a:lnTo>
                    <a:pt x="383" y="996"/>
                  </a:lnTo>
                  <a:lnTo>
                    <a:pt x="351" y="980"/>
                  </a:lnTo>
                  <a:lnTo>
                    <a:pt x="321" y="965"/>
                  </a:lnTo>
                  <a:lnTo>
                    <a:pt x="293" y="950"/>
                  </a:lnTo>
                  <a:lnTo>
                    <a:pt x="267" y="936"/>
                  </a:lnTo>
                  <a:lnTo>
                    <a:pt x="241" y="922"/>
                  </a:lnTo>
                  <a:lnTo>
                    <a:pt x="219" y="907"/>
                  </a:lnTo>
                  <a:lnTo>
                    <a:pt x="197" y="893"/>
                  </a:lnTo>
                  <a:lnTo>
                    <a:pt x="178" y="880"/>
                  </a:lnTo>
                  <a:lnTo>
                    <a:pt x="161" y="866"/>
                  </a:lnTo>
                  <a:lnTo>
                    <a:pt x="145" y="854"/>
                  </a:lnTo>
                  <a:lnTo>
                    <a:pt x="131" y="842"/>
                  </a:lnTo>
                  <a:lnTo>
                    <a:pt x="116" y="826"/>
                  </a:lnTo>
                  <a:lnTo>
                    <a:pt x="100" y="808"/>
                  </a:lnTo>
                  <a:lnTo>
                    <a:pt x="86" y="791"/>
                  </a:lnTo>
                  <a:lnTo>
                    <a:pt x="74" y="774"/>
                  </a:lnTo>
                  <a:lnTo>
                    <a:pt x="62" y="755"/>
                  </a:lnTo>
                  <a:lnTo>
                    <a:pt x="51" y="736"/>
                  </a:lnTo>
                  <a:lnTo>
                    <a:pt x="41" y="716"/>
                  </a:lnTo>
                  <a:lnTo>
                    <a:pt x="32" y="696"/>
                  </a:lnTo>
                  <a:lnTo>
                    <a:pt x="25" y="676"/>
                  </a:lnTo>
                  <a:lnTo>
                    <a:pt x="18" y="654"/>
                  </a:lnTo>
                  <a:lnTo>
                    <a:pt x="13" y="633"/>
                  </a:lnTo>
                  <a:lnTo>
                    <a:pt x="8" y="610"/>
                  </a:lnTo>
                  <a:lnTo>
                    <a:pt x="4" y="587"/>
                  </a:lnTo>
                  <a:lnTo>
                    <a:pt x="2" y="563"/>
                  </a:lnTo>
                  <a:lnTo>
                    <a:pt x="0" y="540"/>
                  </a:lnTo>
                  <a:lnTo>
                    <a:pt x="0" y="515"/>
                  </a:lnTo>
                  <a:lnTo>
                    <a:pt x="1" y="484"/>
                  </a:lnTo>
                  <a:lnTo>
                    <a:pt x="3" y="454"/>
                  </a:lnTo>
                  <a:lnTo>
                    <a:pt x="7" y="424"/>
                  </a:lnTo>
                  <a:lnTo>
                    <a:pt x="12" y="397"/>
                  </a:lnTo>
                  <a:lnTo>
                    <a:pt x="18" y="369"/>
                  </a:lnTo>
                  <a:lnTo>
                    <a:pt x="26" y="343"/>
                  </a:lnTo>
                  <a:lnTo>
                    <a:pt x="36" y="317"/>
                  </a:lnTo>
                  <a:lnTo>
                    <a:pt x="47" y="293"/>
                  </a:lnTo>
                  <a:lnTo>
                    <a:pt x="61" y="269"/>
                  </a:lnTo>
                  <a:lnTo>
                    <a:pt x="75" y="247"/>
                  </a:lnTo>
                  <a:lnTo>
                    <a:pt x="90" y="225"/>
                  </a:lnTo>
                  <a:lnTo>
                    <a:pt x="108" y="204"/>
                  </a:lnTo>
                  <a:lnTo>
                    <a:pt x="127" y="185"/>
                  </a:lnTo>
                  <a:lnTo>
                    <a:pt x="146" y="165"/>
                  </a:lnTo>
                  <a:lnTo>
                    <a:pt x="169" y="148"/>
                  </a:lnTo>
                  <a:lnTo>
                    <a:pt x="192" y="131"/>
                  </a:lnTo>
                  <a:lnTo>
                    <a:pt x="217" y="115"/>
                  </a:lnTo>
                  <a:lnTo>
                    <a:pt x="241" y="100"/>
                  </a:lnTo>
                  <a:lnTo>
                    <a:pt x="268" y="86"/>
                  </a:lnTo>
                  <a:lnTo>
                    <a:pt x="294" y="73"/>
                  </a:lnTo>
                  <a:lnTo>
                    <a:pt x="322" y="61"/>
                  </a:lnTo>
                  <a:lnTo>
                    <a:pt x="351" y="51"/>
                  </a:lnTo>
                  <a:lnTo>
                    <a:pt x="381" y="41"/>
                  </a:lnTo>
                  <a:lnTo>
                    <a:pt x="412" y="33"/>
                  </a:lnTo>
                  <a:lnTo>
                    <a:pt x="443" y="24"/>
                  </a:lnTo>
                  <a:lnTo>
                    <a:pt x="475" y="18"/>
                  </a:lnTo>
                  <a:lnTo>
                    <a:pt x="508" y="12"/>
                  </a:lnTo>
                  <a:lnTo>
                    <a:pt x="543" y="8"/>
                  </a:lnTo>
                  <a:lnTo>
                    <a:pt x="578" y="4"/>
                  </a:lnTo>
                  <a:lnTo>
                    <a:pt x="614" y="2"/>
                  </a:lnTo>
                  <a:lnTo>
                    <a:pt x="650" y="0"/>
                  </a:lnTo>
                  <a:lnTo>
                    <a:pt x="688" y="0"/>
                  </a:lnTo>
                  <a:lnTo>
                    <a:pt x="733" y="0"/>
                  </a:lnTo>
                  <a:lnTo>
                    <a:pt x="781" y="3"/>
                  </a:lnTo>
                  <a:lnTo>
                    <a:pt x="832" y="7"/>
                  </a:lnTo>
                  <a:lnTo>
                    <a:pt x="886" y="13"/>
                  </a:lnTo>
                  <a:lnTo>
                    <a:pt x="943" y="20"/>
                  </a:lnTo>
                  <a:lnTo>
                    <a:pt x="1004" y="30"/>
                  </a:lnTo>
                  <a:lnTo>
                    <a:pt x="1067" y="42"/>
                  </a:lnTo>
                  <a:lnTo>
                    <a:pt x="1134" y="54"/>
                  </a:lnTo>
                  <a:lnTo>
                    <a:pt x="1177" y="61"/>
                  </a:lnTo>
                  <a:lnTo>
                    <a:pt x="1177" y="386"/>
                  </a:lnTo>
                  <a:lnTo>
                    <a:pt x="1147" y="374"/>
                  </a:lnTo>
                  <a:lnTo>
                    <a:pt x="1117" y="363"/>
                  </a:lnTo>
                  <a:lnTo>
                    <a:pt x="1088" y="353"/>
                  </a:lnTo>
                  <a:lnTo>
                    <a:pt x="1059" y="344"/>
                  </a:lnTo>
                  <a:lnTo>
                    <a:pt x="1031" y="336"/>
                  </a:lnTo>
                  <a:lnTo>
                    <a:pt x="1003" y="327"/>
                  </a:lnTo>
                  <a:lnTo>
                    <a:pt x="975" y="320"/>
                  </a:lnTo>
                  <a:lnTo>
                    <a:pt x="947" y="314"/>
                  </a:lnTo>
                  <a:lnTo>
                    <a:pt x="920" y="309"/>
                  </a:lnTo>
                  <a:lnTo>
                    <a:pt x="892" y="304"/>
                  </a:lnTo>
                  <a:lnTo>
                    <a:pt x="865" y="300"/>
                  </a:lnTo>
                  <a:lnTo>
                    <a:pt x="838" y="297"/>
                  </a:lnTo>
                  <a:lnTo>
                    <a:pt x="811" y="294"/>
                  </a:lnTo>
                  <a:lnTo>
                    <a:pt x="786" y="292"/>
                  </a:lnTo>
                  <a:lnTo>
                    <a:pt x="759" y="291"/>
                  </a:lnTo>
                  <a:lnTo>
                    <a:pt x="734" y="291"/>
                  </a:lnTo>
                  <a:lnTo>
                    <a:pt x="699" y="292"/>
                  </a:lnTo>
                  <a:lnTo>
                    <a:pt x="667" y="293"/>
                  </a:lnTo>
                  <a:lnTo>
                    <a:pt x="637" y="296"/>
                  </a:lnTo>
                  <a:lnTo>
                    <a:pt x="609" y="301"/>
                  </a:lnTo>
                  <a:lnTo>
                    <a:pt x="583" y="306"/>
                  </a:lnTo>
                  <a:lnTo>
                    <a:pt x="559" y="313"/>
                  </a:lnTo>
                  <a:lnTo>
                    <a:pt x="539" y="321"/>
                  </a:lnTo>
                  <a:lnTo>
                    <a:pt x="520" y="331"/>
                  </a:lnTo>
                  <a:lnTo>
                    <a:pt x="512" y="336"/>
                  </a:lnTo>
                  <a:lnTo>
                    <a:pt x="503" y="341"/>
                  </a:lnTo>
                  <a:lnTo>
                    <a:pt x="495" y="346"/>
                  </a:lnTo>
                  <a:lnTo>
                    <a:pt x="488" y="352"/>
                  </a:lnTo>
                  <a:lnTo>
                    <a:pt x="482" y="359"/>
                  </a:lnTo>
                  <a:lnTo>
                    <a:pt x="476" y="365"/>
                  </a:lnTo>
                  <a:lnTo>
                    <a:pt x="471" y="372"/>
                  </a:lnTo>
                  <a:lnTo>
                    <a:pt x="467" y="380"/>
                  </a:lnTo>
                  <a:lnTo>
                    <a:pt x="463" y="387"/>
                  </a:lnTo>
                  <a:lnTo>
                    <a:pt x="459" y="395"/>
                  </a:lnTo>
                  <a:lnTo>
                    <a:pt x="455" y="403"/>
                  </a:lnTo>
                  <a:lnTo>
                    <a:pt x="453" y="411"/>
                  </a:lnTo>
                  <a:lnTo>
                    <a:pt x="451" y="420"/>
                  </a:lnTo>
                  <a:lnTo>
                    <a:pt x="449" y="430"/>
                  </a:lnTo>
                  <a:lnTo>
                    <a:pt x="448" y="439"/>
                  </a:lnTo>
                  <a:lnTo>
                    <a:pt x="448" y="449"/>
                  </a:lnTo>
                  <a:lnTo>
                    <a:pt x="449" y="463"/>
                  </a:lnTo>
                  <a:lnTo>
                    <a:pt x="452" y="477"/>
                  </a:lnTo>
                  <a:lnTo>
                    <a:pt x="456" y="490"/>
                  </a:lnTo>
                  <a:lnTo>
                    <a:pt x="463" y="502"/>
                  </a:lnTo>
                  <a:lnTo>
                    <a:pt x="471" y="514"/>
                  </a:lnTo>
                  <a:lnTo>
                    <a:pt x="481" y="524"/>
                  </a:lnTo>
                  <a:lnTo>
                    <a:pt x="492" y="536"/>
                  </a:lnTo>
                  <a:lnTo>
                    <a:pt x="506" y="545"/>
                  </a:lnTo>
                  <a:lnTo>
                    <a:pt x="521" y="553"/>
                  </a:lnTo>
                  <a:lnTo>
                    <a:pt x="540" y="564"/>
                  </a:lnTo>
                  <a:lnTo>
                    <a:pt x="565" y="577"/>
                  </a:lnTo>
                  <a:lnTo>
                    <a:pt x="595" y="592"/>
                  </a:lnTo>
                  <a:lnTo>
                    <a:pt x="632" y="608"/>
                  </a:lnTo>
                  <a:lnTo>
                    <a:pt x="673" y="628"/>
                  </a:lnTo>
                  <a:lnTo>
                    <a:pt x="720" y="649"/>
                  </a:lnTo>
                  <a:lnTo>
                    <a:pt x="773" y="672"/>
                  </a:lnTo>
                  <a:lnTo>
                    <a:pt x="846" y="707"/>
                  </a:lnTo>
                  <a:lnTo>
                    <a:pt x="914" y="740"/>
                  </a:lnTo>
                  <a:lnTo>
                    <a:pt x="976" y="771"/>
                  </a:lnTo>
                  <a:lnTo>
                    <a:pt x="1031" y="802"/>
                  </a:lnTo>
                  <a:lnTo>
                    <a:pt x="1056" y="817"/>
                  </a:lnTo>
                  <a:lnTo>
                    <a:pt x="1080" y="832"/>
                  </a:lnTo>
                  <a:lnTo>
                    <a:pt x="1101" y="846"/>
                  </a:lnTo>
                  <a:lnTo>
                    <a:pt x="1122" y="860"/>
                  </a:lnTo>
                  <a:lnTo>
                    <a:pt x="1140" y="875"/>
                  </a:lnTo>
                  <a:lnTo>
                    <a:pt x="1157" y="888"/>
                  </a:lnTo>
                  <a:lnTo>
                    <a:pt x="1173" y="901"/>
                  </a:lnTo>
                  <a:lnTo>
                    <a:pt x="1187" y="913"/>
                  </a:lnTo>
                  <a:lnTo>
                    <a:pt x="1201" y="930"/>
                  </a:lnTo>
                  <a:lnTo>
                    <a:pt x="1215" y="945"/>
                  </a:lnTo>
                  <a:lnTo>
                    <a:pt x="1229" y="962"/>
                  </a:lnTo>
                  <a:lnTo>
                    <a:pt x="1241" y="979"/>
                  </a:lnTo>
                  <a:lnTo>
                    <a:pt x="1251" y="997"/>
                  </a:lnTo>
                  <a:lnTo>
                    <a:pt x="1261" y="1015"/>
                  </a:lnTo>
                  <a:lnTo>
                    <a:pt x="1270" y="1034"/>
                  </a:lnTo>
                  <a:lnTo>
                    <a:pt x="1279" y="1053"/>
                  </a:lnTo>
                  <a:lnTo>
                    <a:pt x="1286" y="1074"/>
                  </a:lnTo>
                  <a:lnTo>
                    <a:pt x="1292" y="1094"/>
                  </a:lnTo>
                  <a:lnTo>
                    <a:pt x="1298" y="1114"/>
                  </a:lnTo>
                  <a:lnTo>
                    <a:pt x="1302" y="1137"/>
                  </a:lnTo>
                  <a:lnTo>
                    <a:pt x="1305" y="1158"/>
                  </a:lnTo>
                  <a:lnTo>
                    <a:pt x="1307" y="1182"/>
                  </a:lnTo>
                  <a:lnTo>
                    <a:pt x="1309" y="1204"/>
                  </a:lnTo>
                  <a:lnTo>
                    <a:pt x="1309" y="1229"/>
                  </a:lnTo>
                  <a:lnTo>
                    <a:pt x="1308" y="1262"/>
                  </a:lnTo>
                  <a:lnTo>
                    <a:pt x="1306" y="1296"/>
                  </a:lnTo>
                  <a:lnTo>
                    <a:pt x="1301" y="1328"/>
                  </a:lnTo>
                  <a:lnTo>
                    <a:pt x="1295" y="1358"/>
                  </a:lnTo>
                  <a:lnTo>
                    <a:pt x="1291" y="1374"/>
                  </a:lnTo>
                  <a:lnTo>
                    <a:pt x="1286" y="1389"/>
                  </a:lnTo>
                  <a:lnTo>
                    <a:pt x="1282" y="1403"/>
                  </a:lnTo>
                  <a:lnTo>
                    <a:pt x="1276" y="1418"/>
                  </a:lnTo>
                  <a:lnTo>
                    <a:pt x="1270" y="1432"/>
                  </a:lnTo>
                  <a:lnTo>
                    <a:pt x="1263" y="1446"/>
                  </a:lnTo>
                  <a:lnTo>
                    <a:pt x="1257" y="1459"/>
                  </a:lnTo>
                  <a:lnTo>
                    <a:pt x="1250" y="1473"/>
                  </a:lnTo>
                  <a:lnTo>
                    <a:pt x="1242" y="1486"/>
                  </a:lnTo>
                  <a:lnTo>
                    <a:pt x="1234" y="1499"/>
                  </a:lnTo>
                  <a:lnTo>
                    <a:pt x="1225" y="1511"/>
                  </a:lnTo>
                  <a:lnTo>
                    <a:pt x="1216" y="1524"/>
                  </a:lnTo>
                  <a:lnTo>
                    <a:pt x="1206" y="1536"/>
                  </a:lnTo>
                  <a:lnTo>
                    <a:pt x="1196" y="1547"/>
                  </a:lnTo>
                  <a:lnTo>
                    <a:pt x="1186" y="1559"/>
                  </a:lnTo>
                  <a:lnTo>
                    <a:pt x="1175" y="1571"/>
                  </a:lnTo>
                  <a:lnTo>
                    <a:pt x="1151" y="1592"/>
                  </a:lnTo>
                  <a:lnTo>
                    <a:pt x="1126" y="1613"/>
                  </a:lnTo>
                  <a:lnTo>
                    <a:pt x="1099" y="1633"/>
                  </a:lnTo>
                  <a:lnTo>
                    <a:pt x="1069" y="1651"/>
                  </a:lnTo>
                  <a:lnTo>
                    <a:pt x="1045" y="1666"/>
                  </a:lnTo>
                  <a:lnTo>
                    <a:pt x="1018" y="1679"/>
                  </a:lnTo>
                  <a:lnTo>
                    <a:pt x="992" y="1691"/>
                  </a:lnTo>
                  <a:lnTo>
                    <a:pt x="964" y="1703"/>
                  </a:lnTo>
                  <a:lnTo>
                    <a:pt x="936" y="1714"/>
                  </a:lnTo>
                  <a:lnTo>
                    <a:pt x="906" y="1724"/>
                  </a:lnTo>
                  <a:lnTo>
                    <a:pt x="876" y="1732"/>
                  </a:lnTo>
                  <a:lnTo>
                    <a:pt x="845" y="1740"/>
                  </a:lnTo>
                  <a:lnTo>
                    <a:pt x="812" y="1747"/>
                  </a:lnTo>
                  <a:lnTo>
                    <a:pt x="780" y="1752"/>
                  </a:lnTo>
                  <a:lnTo>
                    <a:pt x="746" y="1757"/>
                  </a:lnTo>
                  <a:lnTo>
                    <a:pt x="710" y="1762"/>
                  </a:lnTo>
                  <a:lnTo>
                    <a:pt x="675" y="1766"/>
                  </a:lnTo>
                  <a:lnTo>
                    <a:pt x="639" y="1768"/>
                  </a:lnTo>
                  <a:lnTo>
                    <a:pt x="601" y="1769"/>
                  </a:lnTo>
                  <a:lnTo>
                    <a:pt x="563" y="1770"/>
                  </a:lnTo>
                  <a:lnTo>
                    <a:pt x="497" y="1769"/>
                  </a:lnTo>
                  <a:lnTo>
                    <a:pt x="431" y="1766"/>
                  </a:lnTo>
                  <a:lnTo>
                    <a:pt x="365" y="1761"/>
                  </a:lnTo>
                  <a:lnTo>
                    <a:pt x="299" y="1754"/>
                  </a:lnTo>
                  <a:lnTo>
                    <a:pt x="233" y="1745"/>
                  </a:lnTo>
                  <a:lnTo>
                    <a:pt x="167" y="1735"/>
                  </a:lnTo>
                  <a:lnTo>
                    <a:pt x="100" y="1722"/>
                  </a:lnTo>
                  <a:lnTo>
                    <a:pt x="34" y="1707"/>
                  </a:lnTo>
                  <a:close/>
                </a:path>
              </a:pathLst>
            </a:custGeom>
            <a:solidFill>
              <a:srgbClr val="009999"/>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fr-FR"/>
            </a:p>
          </p:txBody>
        </p:sp>
      </p:grpSp>
    </p:spTree>
    <p:extLst>
      <p:ext uri="{BB962C8B-B14F-4D97-AF65-F5344CB8AC3E}">
        <p14:creationId xmlns:p14="http://schemas.microsoft.com/office/powerpoint/2010/main" val="790332991"/>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65074367"/>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tags" Target="../tags/tag9.xml"/><Relationship Id="rId21" Type="http://schemas.openxmlformats.org/officeDocument/2006/relationships/slideLayout" Target="../slideLayouts/slideLayout21.xml"/><Relationship Id="rId34" Type="http://schemas.openxmlformats.org/officeDocument/2006/relationships/tags" Target="../tags/tag4.xml"/><Relationship Id="rId42" Type="http://schemas.openxmlformats.org/officeDocument/2006/relationships/tags" Target="../tags/tag12.xml"/><Relationship Id="rId47" Type="http://schemas.openxmlformats.org/officeDocument/2006/relationships/tags" Target="../tags/tag17.xml"/><Relationship Id="rId50" Type="http://schemas.openxmlformats.org/officeDocument/2006/relationships/tags" Target="../tags/tag20.xml"/><Relationship Id="rId55" Type="http://schemas.openxmlformats.org/officeDocument/2006/relationships/tags" Target="../tags/tag25.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tags" Target="../tags/tag3.xml"/><Relationship Id="rId38" Type="http://schemas.openxmlformats.org/officeDocument/2006/relationships/tags" Target="../tags/tag8.xml"/><Relationship Id="rId46" Type="http://schemas.openxmlformats.org/officeDocument/2006/relationships/tags" Target="../tags/tag16.xml"/><Relationship Id="rId59" Type="http://schemas.openxmlformats.org/officeDocument/2006/relationships/tags" Target="../tags/tag29.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41" Type="http://schemas.openxmlformats.org/officeDocument/2006/relationships/tags" Target="../tags/tag11.xml"/><Relationship Id="rId54" Type="http://schemas.openxmlformats.org/officeDocument/2006/relationships/tags" Target="../tags/tag2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tags" Target="../tags/tag2.xml"/><Relationship Id="rId37" Type="http://schemas.openxmlformats.org/officeDocument/2006/relationships/tags" Target="../tags/tag7.xml"/><Relationship Id="rId40" Type="http://schemas.openxmlformats.org/officeDocument/2006/relationships/tags" Target="../tags/tag10.xml"/><Relationship Id="rId45" Type="http://schemas.openxmlformats.org/officeDocument/2006/relationships/tags" Target="../tags/tag15.xml"/><Relationship Id="rId53" Type="http://schemas.openxmlformats.org/officeDocument/2006/relationships/tags" Target="../tags/tag23.xml"/><Relationship Id="rId58" Type="http://schemas.openxmlformats.org/officeDocument/2006/relationships/tags" Target="../tags/tag28.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tags" Target="../tags/tag6.xml"/><Relationship Id="rId49" Type="http://schemas.openxmlformats.org/officeDocument/2006/relationships/tags" Target="../tags/tag19.xml"/><Relationship Id="rId57" Type="http://schemas.openxmlformats.org/officeDocument/2006/relationships/tags" Target="../tags/tag27.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theme" Target="../theme/theme1.xml"/><Relationship Id="rId44" Type="http://schemas.openxmlformats.org/officeDocument/2006/relationships/tags" Target="../tags/tag14.xml"/><Relationship Id="rId52" Type="http://schemas.openxmlformats.org/officeDocument/2006/relationships/tags" Target="../tags/tag22.xml"/><Relationship Id="rId60" Type="http://schemas.openxmlformats.org/officeDocument/2006/relationships/tags" Target="../tags/tag3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5.xml"/><Relationship Id="rId43" Type="http://schemas.openxmlformats.org/officeDocument/2006/relationships/tags" Target="../tags/tag13.xml"/><Relationship Id="rId48" Type="http://schemas.openxmlformats.org/officeDocument/2006/relationships/tags" Target="../tags/tag18.xml"/><Relationship Id="rId56" Type="http://schemas.openxmlformats.org/officeDocument/2006/relationships/tags" Target="../tags/tag26.xml"/><Relationship Id="rId8" Type="http://schemas.openxmlformats.org/officeDocument/2006/relationships/slideLayout" Target="../slideLayouts/slideLayout8.xml"/><Relationship Id="rId51" Type="http://schemas.openxmlformats.org/officeDocument/2006/relationships/tags" Target="../tags/tag21.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bwMode="gray">
      <p:bgPr>
        <a:solidFill>
          <a:schemeClr val="bg1"/>
        </a:solidFill>
        <a:effectLst/>
      </p:bgPr>
    </p:bg>
    <p:spTree>
      <p:nvGrpSpPr>
        <p:cNvPr id="1" name=""/>
        <p:cNvGrpSpPr/>
        <p:nvPr/>
      </p:nvGrpSpPr>
      <p:grpSpPr>
        <a:xfrm>
          <a:off x="0" y="0"/>
          <a:ext cx="0" cy="0"/>
          <a:chOff x="0" y="0"/>
          <a:chExt cx="0" cy="0"/>
        </a:xfrm>
      </p:grpSpPr>
      <p:sp>
        <p:nvSpPr>
          <p:cNvPr id="3078" name="cdtRectangle 115 Id3078"/>
          <p:cNvSpPr>
            <a:spLocks noGrp="1" noChangeArrowheads="1"/>
          </p:cNvSpPr>
          <p:nvPr>
            <p:ph type="title"/>
            <p:custDataLst>
              <p:tags r:id="rId32"/>
            </p:custDataLst>
          </p:nvPr>
        </p:nvSpPr>
        <p:spPr bwMode="auto">
          <a:xfrm>
            <a:off x="0" y="-1"/>
            <a:ext cx="12198350" cy="1440000"/>
          </a:xfrm>
          <a:prstGeom prst="rect">
            <a:avLst/>
          </a:prstGeom>
          <a:noFill/>
          <a:ln w="9525">
            <a:noFill/>
            <a:miter lim="800000"/>
            <a:headEnd/>
            <a:tailEnd/>
          </a:ln>
        </p:spPr>
        <p:txBody>
          <a:bodyPr vert="horz" wrap="square" lIns="626400" tIns="432000" rIns="2746800" bIns="234000" numCol="1" anchor="t" anchorCtr="0" compatLnSpc="1">
            <a:prstTxWarp prst="textNoShape">
              <a:avLst/>
            </a:prstTxWarp>
          </a:bodyPr>
          <a:lstStyle/>
          <a:p>
            <a:pPr lvl="0"/>
            <a:r>
              <a:rPr lang="en-US" err="1"/>
              <a:t>Titelmasterformat</a:t>
            </a:r>
            <a:r>
              <a:rPr lang="en-US"/>
              <a:t> </a:t>
            </a:r>
            <a:r>
              <a:rPr lang="en-US" err="1"/>
              <a:t>durch</a:t>
            </a:r>
            <a:r>
              <a:rPr lang="en-US"/>
              <a:t> </a:t>
            </a:r>
            <a:r>
              <a:rPr lang="en-US" err="1"/>
              <a:t>Klicken</a:t>
            </a:r>
            <a:r>
              <a:rPr lang="en-US"/>
              <a:t> </a:t>
            </a:r>
            <a:r>
              <a:rPr lang="en-US" err="1"/>
              <a:t>bearbeiten</a:t>
            </a:r>
            <a:endParaRPr lang="en-US"/>
          </a:p>
        </p:txBody>
      </p:sp>
      <p:sp>
        <p:nvSpPr>
          <p:cNvPr id="3079" name="cdtRectangle 116 Id3079"/>
          <p:cNvSpPr>
            <a:spLocks noGrp="1" noChangeArrowheads="1"/>
          </p:cNvSpPr>
          <p:nvPr>
            <p:ph type="body" idx="1"/>
            <p:custDataLst>
              <p:tags r:id="rId33"/>
            </p:custDataLst>
          </p:nvPr>
        </p:nvSpPr>
        <p:spPr bwMode="auto">
          <a:xfrm>
            <a:off x="627063" y="1441451"/>
            <a:ext cx="8208962" cy="4752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lvl="0"/>
            <a:r>
              <a:rPr lang="en-US" err="1"/>
              <a:t>Textmasterformat</a:t>
            </a:r>
            <a:r>
              <a:rPr lang="en-US"/>
              <a:t> </a:t>
            </a:r>
            <a:r>
              <a:rPr lang="en-US" err="1"/>
              <a:t>bearbeiten</a:t>
            </a:r>
            <a:endParaRPr lang="en-US"/>
          </a:p>
          <a:p>
            <a:pPr lvl="1"/>
            <a:r>
              <a:rPr lang="en-US"/>
              <a:t>Second level</a:t>
            </a:r>
          </a:p>
          <a:p>
            <a:pPr lvl="2"/>
            <a:r>
              <a:rPr lang="en-US"/>
              <a:t>Third level</a:t>
            </a:r>
          </a:p>
          <a:p>
            <a:pPr lvl="3"/>
            <a:r>
              <a:rPr lang="en-US"/>
              <a:t>Fourth level</a:t>
            </a:r>
          </a:p>
          <a:p>
            <a:pPr lvl="4"/>
            <a:r>
              <a:rPr lang="en-US"/>
              <a:t>Fifth level</a:t>
            </a:r>
          </a:p>
        </p:txBody>
      </p:sp>
      <p:cxnSp>
        <p:nvCxnSpPr>
          <p:cNvPr id="3072" name="cdtMasterTags_CL1 Id3072"/>
          <p:cNvCxnSpPr/>
          <p:nvPr userDrawn="1">
            <p:custDataLst>
              <p:tags r:id="rId34"/>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3" name="cdtMasterTags_CL2 Id3073"/>
          <p:cNvCxnSpPr/>
          <p:nvPr userDrawn="1">
            <p:custDataLst>
              <p:tags r:id="rId3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4" name="cdtMasterTags_CL3 Id3074"/>
          <p:cNvCxnSpPr/>
          <p:nvPr userDrawn="1">
            <p:custDataLst>
              <p:tags r:id="rId36"/>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5" name="cdtMasterTags_CL4 Id3075"/>
          <p:cNvCxnSpPr/>
          <p:nvPr userDrawn="1">
            <p:custDataLst>
              <p:tags r:id="rId37"/>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6" name="cdtMasterTags_CL5 Id3076"/>
          <p:cNvCxnSpPr/>
          <p:nvPr userDrawn="1">
            <p:custDataLst>
              <p:tags r:id="rId38"/>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77" name="cdtMasterTags_CL6 Id3077"/>
          <p:cNvCxnSpPr/>
          <p:nvPr userDrawn="1">
            <p:custDataLst>
              <p:tags r:id="rId39"/>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0" name="cdtMasterTags_CL7 Id3080"/>
          <p:cNvCxnSpPr/>
          <p:nvPr userDrawn="1">
            <p:custDataLst>
              <p:tags r:id="rId40"/>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1" name="cdtMasterTags_CL8 Id3081"/>
          <p:cNvCxnSpPr/>
          <p:nvPr userDrawn="1">
            <p:custDataLst>
              <p:tags r:id="rId41"/>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2" name="cdtMasterTags_CL9 Id3082"/>
          <p:cNvCxnSpPr/>
          <p:nvPr userDrawn="1">
            <p:custDataLst>
              <p:tags r:id="rId42"/>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3" name="cdtMasterTags_CL10 Id3083"/>
          <p:cNvCxnSpPr/>
          <p:nvPr userDrawn="1">
            <p:custDataLst>
              <p:tags r:id="rId43"/>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4" name="cdtMasterTags_CL11 Id3084"/>
          <p:cNvCxnSpPr/>
          <p:nvPr userDrawn="1">
            <p:custDataLst>
              <p:tags r:id="rId44"/>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5" name="cdtMasterTags_CL12 Id3085"/>
          <p:cNvCxnSpPr/>
          <p:nvPr userDrawn="1">
            <p:custDataLst>
              <p:tags r:id="rId4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6" name="cdtMasterTags_CL13 Id3086"/>
          <p:cNvCxnSpPr/>
          <p:nvPr userDrawn="1">
            <p:custDataLst>
              <p:tags r:id="rId46"/>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7" name="cdtMasterTags_CL14 Id3087"/>
          <p:cNvCxnSpPr/>
          <p:nvPr userDrawn="1">
            <p:custDataLst>
              <p:tags r:id="rId47"/>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8" name="cdtMasterTags_CL15 Id3088"/>
          <p:cNvCxnSpPr/>
          <p:nvPr userDrawn="1">
            <p:custDataLst>
              <p:tags r:id="rId48"/>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89" name="cdtMasterTags_CL16 Id3089"/>
          <p:cNvCxnSpPr/>
          <p:nvPr userDrawn="1">
            <p:custDataLst>
              <p:tags r:id="rId49"/>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0" name="cdtMasterTags_CL17 Id3090"/>
          <p:cNvCxnSpPr/>
          <p:nvPr userDrawn="1">
            <p:custDataLst>
              <p:tags r:id="rId50"/>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1" name="cdtMasterTags_CL18 Id3091"/>
          <p:cNvCxnSpPr/>
          <p:nvPr userDrawn="1">
            <p:custDataLst>
              <p:tags r:id="rId51"/>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2" name="cdtMasterTags_CL19 Id3092"/>
          <p:cNvCxnSpPr/>
          <p:nvPr userDrawn="1">
            <p:custDataLst>
              <p:tags r:id="rId52"/>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3" name="cdtMasterTags_CL20 Id3093"/>
          <p:cNvCxnSpPr/>
          <p:nvPr userDrawn="1">
            <p:custDataLst>
              <p:tags r:id="rId53"/>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4" name="cdtMasterTags_CL21 Id3094"/>
          <p:cNvCxnSpPr/>
          <p:nvPr userDrawn="1">
            <p:custDataLst>
              <p:tags r:id="rId54"/>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5" name="cdtMasterTags_CL22 Id3095"/>
          <p:cNvCxnSpPr/>
          <p:nvPr userDrawn="1">
            <p:custDataLst>
              <p:tags r:id="rId55"/>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96" name="cdtMasterTags"/>
          <p:cNvCxnSpPr/>
          <p:nvPr userDrawn="1">
            <p:custDataLst>
              <p:tags r:id="rId56"/>
            </p:custDataLst>
          </p:nvPr>
        </p:nvCxnSpPr>
        <p:spPr bwMode="auto">
          <a:xfrm>
            <a:off x="0" y="0"/>
            <a:ext cx="0" cy="0"/>
          </a:xfrm>
          <a:prstGeom prst="line">
            <a:avLst/>
          </a:prstGeom>
          <a:solidFill>
            <a:schemeClr val="tx2"/>
          </a:solidFill>
          <a:ln w="9525" cap="flat" cmpd="sng" algn="ctr">
            <a:noFill/>
            <a:prstDash val="solid"/>
            <a:round/>
            <a:headEnd type="none" w="med" len="med"/>
            <a:tailEnd type="none" w="med" len="med"/>
          </a:ln>
          <a:effectLst/>
          <a:extLst>
            <a:ext uri="{91240B29-F687-4F45-9708-019B960494DF}">
              <a14:hiddenLine xmlns:a14="http://schemas.microsoft.com/office/drawing/2010/main" w="9525" cap="flat" cmpd="sng" algn="ctr">
                <a:solidFill>
                  <a:schemeClr val="tx1"/>
                </a:solidFill>
                <a:prstDash val="solid"/>
                <a:round/>
                <a:headEnd type="none" w="med" len="med"/>
                <a:tailEnd type="none" w="med" len="med"/>
              </a14:hiddenLine>
            </a:ex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3" name="cdtText Box 133 Id16"/>
          <p:cNvSpPr txBox="1">
            <a:spLocks noChangeArrowheads="1"/>
          </p:cNvSpPr>
          <p:nvPr userDrawn="1">
            <p:custDataLst>
              <p:tags r:id="rId57"/>
            </p:custDataLst>
          </p:nvPr>
        </p:nvSpPr>
        <p:spPr bwMode="auto">
          <a:xfrm>
            <a:off x="0" y="6200774"/>
            <a:ext cx="12198350" cy="396875"/>
          </a:xfrm>
          <a:prstGeom prst="rect">
            <a:avLst/>
          </a:prstGeom>
          <a:noFill/>
          <a:ln w="9525">
            <a:noFill/>
            <a:miter lim="800000"/>
            <a:headEnd/>
            <a:tailEnd/>
          </a:ln>
          <a:effectLst/>
        </p:spPr>
        <p:txBody>
          <a:bodyPr lIns="626400" tIns="144000" rIns="3211200" bIns="0" anchor="ctr"/>
          <a:lstStyle/>
          <a:p>
            <a:r>
              <a:rPr lang="de-DE" sz="1000" b="1">
                <a:solidFill>
                  <a:srgbClr val="879BAA"/>
                </a:solidFill>
              </a:rPr>
              <a:t>Internal © Siemens AG 2020</a:t>
            </a:r>
          </a:p>
        </p:txBody>
      </p:sp>
      <p:sp>
        <p:nvSpPr>
          <p:cNvPr id="64" name="cdtTextBox 12 Id17"/>
          <p:cNvSpPr txBox="1"/>
          <p:nvPr userDrawn="1">
            <p:custDataLst>
              <p:tags r:id="rId58"/>
            </p:custDataLst>
          </p:nvPr>
        </p:nvSpPr>
        <p:spPr>
          <a:xfrm>
            <a:off x="0" y="6597650"/>
            <a:ext cx="3932230" cy="260350"/>
          </a:xfrm>
          <a:prstGeom prst="rect">
            <a:avLst/>
          </a:prstGeom>
          <a:noFill/>
        </p:spPr>
        <p:txBody>
          <a:bodyPr wrap="square" lIns="1908000" tIns="0" rIns="0" bIns="115200" rtlCol="0">
            <a:noAutofit/>
          </a:bodyPr>
          <a:lstStyle/>
          <a:p>
            <a:pPr>
              <a:lnSpc>
                <a:spcPct val="110000"/>
              </a:lnSpc>
              <a:spcBef>
                <a:spcPts val="0"/>
              </a:spcBef>
            </a:pPr>
            <a:r>
              <a:rPr lang="de-DE" sz="1000" noProof="0">
                <a:solidFill>
                  <a:srgbClr val="000000"/>
                </a:solidFill>
              </a:rPr>
              <a:t>May2020</a:t>
            </a:r>
          </a:p>
        </p:txBody>
      </p:sp>
      <p:sp>
        <p:nvSpPr>
          <p:cNvPr id="65" name="cdtTextBox 11 Id18"/>
          <p:cNvSpPr txBox="1"/>
          <p:nvPr userDrawn="1">
            <p:custDataLst>
              <p:tags r:id="rId59"/>
            </p:custDataLst>
          </p:nvPr>
        </p:nvSpPr>
        <p:spPr>
          <a:xfrm>
            <a:off x="0" y="6597650"/>
            <a:ext cx="1765285" cy="260350"/>
          </a:xfrm>
          <a:prstGeom prst="rect">
            <a:avLst/>
          </a:prstGeom>
          <a:noFill/>
        </p:spPr>
        <p:txBody>
          <a:bodyPr wrap="square" lIns="626400" tIns="0" rIns="0" bIns="115200" rtlCol="0" anchor="t" anchorCtr="0">
            <a:noAutofit/>
          </a:bodyPr>
          <a:lstStyle/>
          <a:p>
            <a:pPr>
              <a:lnSpc>
                <a:spcPct val="110000"/>
              </a:lnSpc>
              <a:spcBef>
                <a:spcPts val="0"/>
              </a:spcBef>
            </a:pPr>
            <a:r>
              <a:rPr lang="de-DE" sz="1000" noProof="0">
                <a:solidFill>
                  <a:srgbClr val="000000"/>
                </a:solidFill>
              </a:rPr>
              <a:t>Page </a:t>
            </a:r>
            <a:fld id="{91E7552C-A157-4A4F-8E99-698C0325FC94}" type="slidenum">
              <a:rPr lang="de-DE" sz="1000" noProof="0" smtClean="0">
                <a:solidFill>
                  <a:srgbClr val="000000"/>
                </a:solidFill>
              </a:rPr>
              <a:pPr>
                <a:lnSpc>
                  <a:spcPct val="110000"/>
                </a:lnSpc>
                <a:spcBef>
                  <a:spcPts val="0"/>
                </a:spcBef>
              </a:pPr>
              <a:t>‹Nr.›</a:t>
            </a:fld>
            <a:endParaRPr lang="de-DE" sz="1000" noProof="0">
              <a:solidFill>
                <a:srgbClr val="000000"/>
              </a:solidFill>
            </a:endParaRPr>
          </a:p>
        </p:txBody>
      </p:sp>
      <p:sp>
        <p:nvSpPr>
          <p:cNvPr id="66" name="cdtTextBox 13 Id19"/>
          <p:cNvSpPr txBox="1"/>
          <p:nvPr userDrawn="1">
            <p:custDataLst>
              <p:tags r:id="rId60"/>
            </p:custDataLst>
          </p:nvPr>
        </p:nvSpPr>
        <p:spPr>
          <a:xfrm>
            <a:off x="3787765" y="6597650"/>
            <a:ext cx="8410584" cy="260350"/>
          </a:xfrm>
          <a:prstGeom prst="rect">
            <a:avLst/>
          </a:prstGeom>
          <a:noFill/>
        </p:spPr>
        <p:txBody>
          <a:bodyPr wrap="square" lIns="0" tIns="0" rIns="482400" bIns="115200" rtlCol="0">
            <a:noAutofit/>
          </a:bodyPr>
          <a:lstStyle/>
          <a:p>
            <a:pPr algn="r">
              <a:lnSpc>
                <a:spcPct val="110000"/>
              </a:lnSpc>
              <a:spcBef>
                <a:spcPts val="0"/>
              </a:spcBef>
            </a:pPr>
            <a:r>
              <a:rPr lang="de-DE" sz="1000" noProof="0">
                <a:solidFill>
                  <a:srgbClr val="000000"/>
                </a:solidFill>
              </a:rPr>
              <a:t>SE G QPI QM P</a:t>
            </a:r>
          </a:p>
        </p:txBody>
      </p:sp>
      <p:grpSp>
        <p:nvGrpSpPr>
          <p:cNvPr id="67" name="Gruppieren 66"/>
          <p:cNvGrpSpPr/>
          <p:nvPr userDrawn="1"/>
        </p:nvGrpSpPr>
        <p:grpSpPr>
          <a:xfrm>
            <a:off x="-216000" y="-216000"/>
            <a:ext cx="12628800" cy="7290000"/>
            <a:chOff x="-216000" y="-216000"/>
            <a:chExt cx="12628800" cy="7290000"/>
          </a:xfrm>
        </p:grpSpPr>
        <p:cxnSp>
          <p:nvCxnSpPr>
            <p:cNvPr id="68" name="Gerade Verbindung 67"/>
            <p:cNvCxnSpPr/>
            <p:nvPr userDrawn="1"/>
          </p:nvCxnSpPr>
          <p:spPr bwMode="auto">
            <a:xfrm>
              <a:off x="627063"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9" name="Gerade Verbindung 68"/>
            <p:cNvCxnSpPr/>
            <p:nvPr userDrawn="1"/>
          </p:nvCxnSpPr>
          <p:spPr bwMode="auto">
            <a:xfrm>
              <a:off x="6099175"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0" name="Gerade Verbindung 69"/>
            <p:cNvCxnSpPr/>
            <p:nvPr userDrawn="1"/>
          </p:nvCxnSpPr>
          <p:spPr bwMode="auto">
            <a:xfrm>
              <a:off x="62420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1" name="Gerade Verbindung 70"/>
            <p:cNvCxnSpPr/>
            <p:nvPr userDrawn="1"/>
          </p:nvCxnSpPr>
          <p:spPr bwMode="auto">
            <a:xfrm>
              <a:off x="8835479"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2" name="Gerade Verbindung 71"/>
            <p:cNvCxnSpPr/>
            <p:nvPr userDrawn="1"/>
          </p:nvCxnSpPr>
          <p:spPr bwMode="auto">
            <a:xfrm>
              <a:off x="11715750" y="-216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3" name="Gerade Verbindung 72"/>
            <p:cNvCxnSpPr/>
            <p:nvPr userDrawn="1"/>
          </p:nvCxnSpPr>
          <p:spPr bwMode="auto">
            <a:xfrm rot="5400000">
              <a:off x="123228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4" name="Gerade Verbindung 73"/>
            <p:cNvCxnSpPr/>
            <p:nvPr userDrawn="1"/>
          </p:nvCxnSpPr>
          <p:spPr bwMode="auto">
            <a:xfrm rot="5400000">
              <a:off x="12322800" y="945844"/>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5" name="Gerade Verbindung 74"/>
            <p:cNvCxnSpPr/>
            <p:nvPr userDrawn="1"/>
          </p:nvCxnSpPr>
          <p:spPr bwMode="auto">
            <a:xfrm rot="5400000">
              <a:off x="12322800" y="135145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6" name="Gerade Verbindung 75"/>
            <p:cNvCxnSpPr/>
            <p:nvPr userDrawn="1"/>
          </p:nvCxnSpPr>
          <p:spPr bwMode="auto">
            <a:xfrm rot="5400000">
              <a:off x="12322800" y="3653512"/>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7" name="Gerade Verbindung 76"/>
            <p:cNvCxnSpPr/>
            <p:nvPr userDrawn="1"/>
          </p:nvCxnSpPr>
          <p:spPr bwMode="auto">
            <a:xfrm rot="5400000">
              <a:off x="12322800" y="380105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8" name="Gerade Verbindung 77"/>
            <p:cNvCxnSpPr/>
            <p:nvPr userDrawn="1"/>
          </p:nvCxnSpPr>
          <p:spPr bwMode="auto">
            <a:xfrm rot="5400000">
              <a:off x="12322800" y="6101999"/>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9" name="Gerade Verbindung 78"/>
            <p:cNvCxnSpPr/>
            <p:nvPr userDrawn="1"/>
          </p:nvCxnSpPr>
          <p:spPr bwMode="auto">
            <a:xfrm>
              <a:off x="627063"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0" name="Gerade Verbindung 79"/>
            <p:cNvCxnSpPr/>
            <p:nvPr userDrawn="1"/>
          </p:nvCxnSpPr>
          <p:spPr bwMode="auto">
            <a:xfrm>
              <a:off x="6099175"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1" name="Gerade Verbindung 80"/>
            <p:cNvCxnSpPr/>
            <p:nvPr userDrawn="1"/>
          </p:nvCxnSpPr>
          <p:spPr bwMode="auto">
            <a:xfrm>
              <a:off x="62420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2" name="Gerade Verbindung 81"/>
            <p:cNvCxnSpPr/>
            <p:nvPr userDrawn="1"/>
          </p:nvCxnSpPr>
          <p:spPr bwMode="auto">
            <a:xfrm>
              <a:off x="8835479"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3" name="Gerade Verbindung 82"/>
            <p:cNvCxnSpPr/>
            <p:nvPr userDrawn="1"/>
          </p:nvCxnSpPr>
          <p:spPr bwMode="auto">
            <a:xfrm>
              <a:off x="11715750" y="68940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4" name="Gerade Verbindung 83"/>
            <p:cNvCxnSpPr/>
            <p:nvPr userDrawn="1"/>
          </p:nvCxnSpPr>
          <p:spPr bwMode="auto">
            <a:xfrm rot="5400000">
              <a:off x="-126000" y="242887"/>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5" name="Gerade Verbindung 84"/>
            <p:cNvCxnSpPr/>
            <p:nvPr userDrawn="1"/>
          </p:nvCxnSpPr>
          <p:spPr bwMode="auto">
            <a:xfrm rot="5400000">
              <a:off x="-126000" y="94680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6" name="Gerade Verbindung 85"/>
            <p:cNvCxnSpPr/>
            <p:nvPr userDrawn="1"/>
          </p:nvCxnSpPr>
          <p:spPr bwMode="auto">
            <a:xfrm rot="5400000">
              <a:off x="-126000" y="1351450"/>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7" name="Gerade Verbindung 86"/>
            <p:cNvCxnSpPr/>
            <p:nvPr userDrawn="1"/>
          </p:nvCxnSpPr>
          <p:spPr bwMode="auto">
            <a:xfrm rot="5400000">
              <a:off x="-126000" y="3653512"/>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8" name="Gerade Verbindung 87"/>
            <p:cNvCxnSpPr/>
            <p:nvPr userDrawn="1"/>
          </p:nvCxnSpPr>
          <p:spPr bwMode="auto">
            <a:xfrm rot="5400000">
              <a:off x="-126000" y="3801055"/>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9" name="Gerade Verbindung 88"/>
            <p:cNvCxnSpPr/>
            <p:nvPr userDrawn="1"/>
          </p:nvCxnSpPr>
          <p:spPr bwMode="auto">
            <a:xfrm rot="5400000">
              <a:off x="-126000" y="6101999"/>
              <a:ext cx="0" cy="180000"/>
            </a:xfrm>
            <a:prstGeom prst="line">
              <a:avLst/>
            </a:prstGeom>
            <a:solidFill>
              <a:schemeClr val="tx2"/>
            </a:solidFill>
            <a:ln w="31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cSld>
  <p:clrMap bg1="lt1" tx1="dk1" bg2="lt2" tx2="dk2" accent1="accent1" accent2="accent2" accent3="accent3" accent4="accent4" accent5="accent5" accent6="accent6" hlink="hlink" folHlink="folHlink"/>
  <p:sldLayoutIdLst>
    <p:sldLayoutId id="2147483700" r:id="rId1"/>
    <p:sldLayoutId id="2147483702" r:id="rId2"/>
    <p:sldLayoutId id="2147483708" r:id="rId3"/>
    <p:sldLayoutId id="2147483709" r:id="rId4"/>
    <p:sldLayoutId id="2147483710" r:id="rId5"/>
    <p:sldLayoutId id="2147483711" r:id="rId6"/>
    <p:sldLayoutId id="2147483703" r:id="rId7"/>
    <p:sldLayoutId id="2147483679" r:id="rId8"/>
    <p:sldLayoutId id="2147483695" r:id="rId9"/>
    <p:sldLayoutId id="2147483705" r:id="rId10"/>
    <p:sldLayoutId id="2147483706" r:id="rId11"/>
    <p:sldLayoutId id="2147483713" r:id="rId12"/>
    <p:sldLayoutId id="2147483712" r:id="rId13"/>
    <p:sldLayoutId id="2147483670" r:id="rId14"/>
    <p:sldLayoutId id="2147483692" r:id="rId15"/>
    <p:sldLayoutId id="2147483696" r:id="rId16"/>
    <p:sldLayoutId id="2147483707" r:id="rId17"/>
    <p:sldLayoutId id="2147483715" r:id="rId18"/>
    <p:sldLayoutId id="2147483683" r:id="rId19"/>
    <p:sldLayoutId id="2147483681" r:id="rId20"/>
    <p:sldLayoutId id="2147483697" r:id="rId21"/>
    <p:sldLayoutId id="2147483691" r:id="rId22"/>
    <p:sldLayoutId id="2147483693" r:id="rId23"/>
    <p:sldLayoutId id="2147483684" r:id="rId24"/>
    <p:sldLayoutId id="2147483685" r:id="rId25"/>
    <p:sldLayoutId id="2147483694" r:id="rId26"/>
    <p:sldLayoutId id="2147483686" r:id="rId27"/>
    <p:sldLayoutId id="2147483688" r:id="rId28"/>
    <p:sldLayoutId id="2147483704" r:id="rId29"/>
    <p:sldLayoutId id="2147483716" r:id="rId30"/>
  </p:sldLayoutIdLst>
  <p:hf hdr="0"/>
  <p:txStyles>
    <p:title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p:titleStyle>
    <p:bodyStyle>
      <a:lvl1pPr marL="0" indent="0" algn="l" rtl="0" fontAlgn="base">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2pPr>
      <a:lvl3pPr marL="358775"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3pPr>
      <a:lvl4pPr marL="538163"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4pPr>
      <a:lvl5pPr marL="717550" indent="-177800" algn="l" rtl="0" fontAlgn="base">
        <a:lnSpc>
          <a:spcPct val="110000"/>
        </a:lnSpc>
        <a:spcBef>
          <a:spcPct val="0"/>
        </a:spcBef>
        <a:spcAft>
          <a:spcPct val="0"/>
        </a:spcAft>
        <a:buClr>
          <a:schemeClr val="accent1"/>
        </a:buClr>
        <a:buChar char="•"/>
        <a:tabLst/>
        <a:defRPr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hyperlink" Target="https://forms.office.com/Pages/ResponsePage.aspx?id=PqlLJW8f80iQ5uJ2ZmS0d-5LdjYRShZEhN3YmsD7St9UMFZZTFFVQjFSUUxTMzhQNTM3S1hSM0ExVS4u" TargetMode="External"/><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15.xml"/><Relationship Id="rId1" Type="http://schemas.openxmlformats.org/officeDocument/2006/relationships/tags" Target="../tags/tag97.xml"/><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9.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9.xml"/></Relationships>
</file>

<file path=ppt/slides/_rels/slide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9.xml"/></Relationships>
</file>

<file path=ppt/slides/_rels/slide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9.xml"/><Relationship Id="rId4" Type="http://schemas.openxmlformats.org/officeDocument/2006/relationships/image" Target="../media/image13.png"/></Relationships>
</file>

<file path=ppt/slides/_rels/slide14.xml.rels><?xml version="1.0" encoding="UTF-8" standalone="yes"?>
<Relationships xmlns="http://schemas.openxmlformats.org/package/2006/relationships"><Relationship Id="rId3" Type="http://schemas.openxmlformats.org/officeDocument/2006/relationships/hyperlink" Target="mailto:groh.matthias@siemens.com" TargetMode="External"/><Relationship Id="rId2" Type="http://schemas.openxmlformats.org/officeDocument/2006/relationships/hyperlink" Target="mailto:datasciencesupport.energy@siemens.com" TargetMode="External"/><Relationship Id="rId1" Type="http://schemas.openxmlformats.org/officeDocument/2006/relationships/slideLayout" Target="../slideLayouts/slideLayout17.xml"/><Relationship Id="rId4" Type="http://schemas.openxmlformats.org/officeDocument/2006/relationships/image" Target="../media/image14.jpeg"/></Relationships>
</file>

<file path=ppt/slides/_rels/slide15.xml.rels><?xml version="1.0" encoding="UTF-8" standalone="yes"?>
<Relationships xmlns="http://schemas.openxmlformats.org/package/2006/relationships"><Relationship Id="rId8" Type="http://schemas.openxmlformats.org/officeDocument/2006/relationships/image" Target="../media/image16.png"/><Relationship Id="rId13" Type="http://schemas.microsoft.com/office/2007/relationships/hdphoto" Target="../media/hdphoto1.wdp"/><Relationship Id="rId18" Type="http://schemas.microsoft.com/office/2007/relationships/hdphoto" Target="../media/hdphoto2.wdp"/><Relationship Id="rId3" Type="http://schemas.openxmlformats.org/officeDocument/2006/relationships/tags" Target="../tags/tag100.xml"/><Relationship Id="rId21" Type="http://schemas.openxmlformats.org/officeDocument/2006/relationships/image" Target="../media/image27.jpeg"/><Relationship Id="rId7" Type="http://schemas.openxmlformats.org/officeDocument/2006/relationships/image" Target="../media/image15.emf"/><Relationship Id="rId12" Type="http://schemas.openxmlformats.org/officeDocument/2006/relationships/image" Target="../media/image20.png"/><Relationship Id="rId17" Type="http://schemas.openxmlformats.org/officeDocument/2006/relationships/image" Target="../media/image24.png"/><Relationship Id="rId2" Type="http://schemas.openxmlformats.org/officeDocument/2006/relationships/tags" Target="../tags/tag99.xml"/><Relationship Id="rId16" Type="http://schemas.openxmlformats.org/officeDocument/2006/relationships/image" Target="../media/image23.jpeg"/><Relationship Id="rId20" Type="http://schemas.openxmlformats.org/officeDocument/2006/relationships/image" Target="../media/image26.jpeg"/><Relationship Id="rId1" Type="http://schemas.openxmlformats.org/officeDocument/2006/relationships/tags" Target="../tags/tag98.xml"/><Relationship Id="rId6" Type="http://schemas.openxmlformats.org/officeDocument/2006/relationships/oleObject" Target="../embeddings/oleObject1.bin"/><Relationship Id="rId11" Type="http://schemas.openxmlformats.org/officeDocument/2006/relationships/image" Target="../media/image19.png"/><Relationship Id="rId5" Type="http://schemas.openxmlformats.org/officeDocument/2006/relationships/slideLayout" Target="../slideLayouts/slideLayout9.xml"/><Relationship Id="rId15" Type="http://schemas.openxmlformats.org/officeDocument/2006/relationships/image" Target="../media/image22.png"/><Relationship Id="rId23" Type="http://schemas.openxmlformats.org/officeDocument/2006/relationships/image" Target="../media/image29.png"/><Relationship Id="rId10" Type="http://schemas.openxmlformats.org/officeDocument/2006/relationships/image" Target="../media/image18.png"/><Relationship Id="rId19" Type="http://schemas.openxmlformats.org/officeDocument/2006/relationships/image" Target="../media/image25.jpeg"/><Relationship Id="rId4" Type="http://schemas.openxmlformats.org/officeDocument/2006/relationships/tags" Target="../tags/tag101.xml"/><Relationship Id="rId9" Type="http://schemas.openxmlformats.org/officeDocument/2006/relationships/image" Target="../media/image17.jpeg"/><Relationship Id="rId14" Type="http://schemas.openxmlformats.org/officeDocument/2006/relationships/image" Target="../media/image21.jpeg"/><Relationship Id="rId22" Type="http://schemas.openxmlformats.org/officeDocument/2006/relationships/image" Target="../media/image28.png"/></Relationships>
</file>

<file path=ppt/slides/_rels/slide16.xml.rels><?xml version="1.0" encoding="UTF-8" standalone="yes"?>
<Relationships xmlns="http://schemas.openxmlformats.org/package/2006/relationships"><Relationship Id="rId2" Type="http://schemas.openxmlformats.org/officeDocument/2006/relationships/image" Target="../media/image30.jpeg"/><Relationship Id="rId1" Type="http://schemas.openxmlformats.org/officeDocument/2006/relationships/slideLayout" Target="../slideLayouts/slideLayout17.xml"/></Relationships>
</file>

<file path=ppt/slides/_rels/slide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2.svg"/><Relationship Id="rId2" Type="http://schemas.openxmlformats.org/officeDocument/2006/relationships/image" Target="../media/image31.png"/><Relationship Id="rId1" Type="http://schemas.openxmlformats.org/officeDocument/2006/relationships/slideLayout" Target="../slideLayouts/slideLayout17.xml"/><Relationship Id="rId5" Type="http://schemas.openxmlformats.org/officeDocument/2006/relationships/image" Target="../media/image34.svg"/><Relationship Id="rId4" Type="http://schemas.openxmlformats.org/officeDocument/2006/relationships/image" Target="../media/image33.png"/></Relationships>
</file>

<file path=ppt/slides/_rels/slide19.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2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36.jpeg"/><Relationship Id="rId2" Type="http://schemas.openxmlformats.org/officeDocument/2006/relationships/notesSlide" Target="../notesSlides/notesSlide5.xml"/><Relationship Id="rId1" Type="http://schemas.openxmlformats.org/officeDocument/2006/relationships/slideLayout" Target="../slideLayouts/slideLayout17.xml"/><Relationship Id="rId4" Type="http://schemas.openxmlformats.org/officeDocument/2006/relationships/image" Target="../media/image37.png"/></Relationships>
</file>

<file path=ppt/slides/_rels/slide2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6.xml"/><Relationship Id="rId1" Type="http://schemas.openxmlformats.org/officeDocument/2006/relationships/slideLayout" Target="../slideLayouts/slideLayout17.xml"/><Relationship Id="rId5" Type="http://schemas.openxmlformats.org/officeDocument/2006/relationships/image" Target="../media/image40.png"/><Relationship Id="rId4" Type="http://schemas.openxmlformats.org/officeDocument/2006/relationships/image" Target="../media/image39.png"/></Relationships>
</file>

<file path=ppt/slides/_rels/slide24.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17.xml"/><Relationship Id="rId5" Type="http://schemas.openxmlformats.org/officeDocument/2006/relationships/image" Target="../media/image44.png"/><Relationship Id="rId4" Type="http://schemas.openxmlformats.org/officeDocument/2006/relationships/image" Target="../media/image4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7.xml"/><Relationship Id="rId1" Type="http://schemas.openxmlformats.org/officeDocument/2006/relationships/slideLayout" Target="../slideLayouts/slideLayout14.xml"/></Relationships>
</file>

<file path=ppt/slides/_rels/slide28.xml.rels><?xml version="1.0" encoding="UTF-8" standalone="yes"?>
<Relationships xmlns="http://schemas.openxmlformats.org/package/2006/relationships"><Relationship Id="rId3" Type="http://schemas.openxmlformats.org/officeDocument/2006/relationships/image" Target="../media/image46.png"/><Relationship Id="rId2" Type="http://schemas.openxmlformats.org/officeDocument/2006/relationships/notesSlide" Target="../notesSlides/notesSlide8.xml"/><Relationship Id="rId1" Type="http://schemas.openxmlformats.org/officeDocument/2006/relationships/slideLayout" Target="../slideLayouts/slideLayout14.xml"/></Relationships>
</file>

<file path=ppt/slides/_rels/slide29.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notesSlide" Target="../notesSlides/notesSlide9.xml"/><Relationship Id="rId1" Type="http://schemas.openxmlformats.org/officeDocument/2006/relationships/slideLayout" Target="../slideLayouts/slideLayout9.xml"/><Relationship Id="rId6" Type="http://schemas.openxmlformats.org/officeDocument/2006/relationships/image" Target="../media/image48.png"/><Relationship Id="rId5" Type="http://schemas.openxmlformats.org/officeDocument/2006/relationships/image" Target="../media/image47.png"/><Relationship Id="rId4" Type="http://schemas.openxmlformats.org/officeDocument/2006/relationships/image" Target="../media/image460.png"/></Relationships>
</file>

<file path=ppt/slides/_rels/slide30.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50.png"/></Relationships>
</file>

<file path=ppt/slides/_rels/slide31.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notesSlide" Target="../notesSlides/notesSlide11.xml"/><Relationship Id="rId1" Type="http://schemas.openxmlformats.org/officeDocument/2006/relationships/slideLayout" Target="../slideLayouts/slideLayout9.xml"/><Relationship Id="rId5" Type="http://schemas.openxmlformats.org/officeDocument/2006/relationships/image" Target="../media/image52.png"/><Relationship Id="rId4" Type="http://schemas.openxmlformats.org/officeDocument/2006/relationships/image" Target="../media/image51.png"/></Relationships>
</file>

<file path=ppt/slides/_rels/slide3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12.xml"/><Relationship Id="rId1" Type="http://schemas.openxmlformats.org/officeDocument/2006/relationships/slideLayout" Target="../slideLayouts/slideLayout9.xml"/><Relationship Id="rId6" Type="http://schemas.openxmlformats.org/officeDocument/2006/relationships/image" Target="../media/image54.png"/><Relationship Id="rId5" Type="http://schemas.openxmlformats.org/officeDocument/2006/relationships/image" Target="../media/image460.png"/><Relationship Id="rId4" Type="http://schemas.openxmlformats.org/officeDocument/2006/relationships/image" Target="../media/image49.png"/></Relationships>
</file>

<file path=ppt/slides/_rels/slide33.xml.rels><?xml version="1.0" encoding="UTF-8" standalone="yes"?>
<Relationships xmlns="http://schemas.openxmlformats.org/package/2006/relationships"><Relationship Id="rId3" Type="http://schemas.openxmlformats.org/officeDocument/2006/relationships/image" Target="../media/image49.png"/><Relationship Id="rId7" Type="http://schemas.openxmlformats.org/officeDocument/2006/relationships/image" Target="../media/image56.png"/><Relationship Id="rId2" Type="http://schemas.openxmlformats.org/officeDocument/2006/relationships/notesSlide" Target="../notesSlides/notesSlide13.xml"/><Relationship Id="rId1" Type="http://schemas.openxmlformats.org/officeDocument/2006/relationships/slideLayout" Target="../slideLayouts/slideLayout9.xml"/><Relationship Id="rId6" Type="http://schemas.openxmlformats.org/officeDocument/2006/relationships/image" Target="../media/image47.png"/><Relationship Id="rId5" Type="http://schemas.openxmlformats.org/officeDocument/2006/relationships/image" Target="../media/image460.png"/><Relationship Id="rId4" Type="http://schemas.openxmlformats.org/officeDocument/2006/relationships/image" Target="../media/image55.png"/></Relationships>
</file>

<file path=ppt/slides/_rels/slide34.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14.xml"/><Relationship Id="rId1" Type="http://schemas.openxmlformats.org/officeDocument/2006/relationships/slideLayout" Target="../slideLayouts/slideLayout9.xml"/><Relationship Id="rId6" Type="http://schemas.openxmlformats.org/officeDocument/2006/relationships/image" Target="../media/image47.png"/><Relationship Id="rId5" Type="http://schemas.openxmlformats.org/officeDocument/2006/relationships/image" Target="../media/image460.png"/><Relationship Id="rId4" Type="http://schemas.openxmlformats.org/officeDocument/2006/relationships/image" Target="../media/image450.png"/></Relationships>
</file>

<file path=ppt/slides/_rels/slide35.xml.rels><?xml version="1.0" encoding="UTF-8" standalone="yes"?>
<Relationships xmlns="http://schemas.openxmlformats.org/package/2006/relationships"><Relationship Id="rId8" Type="http://schemas.openxmlformats.org/officeDocument/2006/relationships/image" Target="../media/image62.png"/><Relationship Id="rId3" Type="http://schemas.openxmlformats.org/officeDocument/2006/relationships/image" Target="../media/image58.png"/><Relationship Id="rId7" Type="http://schemas.openxmlformats.org/officeDocument/2006/relationships/image" Target="../media/image61.png"/><Relationship Id="rId2" Type="http://schemas.openxmlformats.org/officeDocument/2006/relationships/notesSlide" Target="../notesSlides/notesSlide15.xml"/><Relationship Id="rId1" Type="http://schemas.openxmlformats.org/officeDocument/2006/relationships/slideLayout" Target="../slideLayouts/slideLayout9.xml"/><Relationship Id="rId6" Type="http://schemas.openxmlformats.org/officeDocument/2006/relationships/chart" Target="../charts/chart1.xml"/><Relationship Id="rId5" Type="http://schemas.openxmlformats.org/officeDocument/2006/relationships/image" Target="../media/image60.png"/><Relationship Id="rId4" Type="http://schemas.openxmlformats.org/officeDocument/2006/relationships/image" Target="../media/image59.png"/><Relationship Id="rId9" Type="http://schemas.openxmlformats.org/officeDocument/2006/relationships/image" Target="../media/image63.png"/></Relationships>
</file>

<file path=ppt/slides/_rels/slide36.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6.xml"/><Relationship Id="rId1" Type="http://schemas.openxmlformats.org/officeDocument/2006/relationships/slideLayout" Target="../slideLayouts/slideLayout9.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7.xml.rels><?xml version="1.0" encoding="UTF-8" standalone="yes"?>
<Relationships xmlns="http://schemas.openxmlformats.org/package/2006/relationships"><Relationship Id="rId3" Type="http://schemas.openxmlformats.org/officeDocument/2006/relationships/chart" Target="../charts/chart3.xml"/><Relationship Id="rId7" Type="http://schemas.openxmlformats.org/officeDocument/2006/relationships/image" Target="../media/image64.png"/><Relationship Id="rId2" Type="http://schemas.openxmlformats.org/officeDocument/2006/relationships/notesSlide" Target="../notesSlides/notesSlide17.xml"/><Relationship Id="rId1" Type="http://schemas.openxmlformats.org/officeDocument/2006/relationships/slideLayout" Target="../slideLayouts/slideLayout9.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61.png"/></Relationships>
</file>

<file path=ppt/slides/_rels/slide38.xml.rels><?xml version="1.0" encoding="UTF-8" standalone="yes"?>
<Relationships xmlns="http://schemas.openxmlformats.org/package/2006/relationships"><Relationship Id="rId3" Type="http://schemas.openxmlformats.org/officeDocument/2006/relationships/chart" Target="../charts/chart4.xml"/><Relationship Id="rId7" Type="http://schemas.openxmlformats.org/officeDocument/2006/relationships/image" Target="../media/image67.png"/><Relationship Id="rId2" Type="http://schemas.openxmlformats.org/officeDocument/2006/relationships/notesSlide" Target="../notesSlides/notesSlide18.xml"/><Relationship Id="rId1" Type="http://schemas.openxmlformats.org/officeDocument/2006/relationships/slideLayout" Target="../slideLayouts/slideLayout9.xml"/><Relationship Id="rId6" Type="http://schemas.openxmlformats.org/officeDocument/2006/relationships/image" Target="../media/image66.png"/><Relationship Id="rId5" Type="http://schemas.openxmlformats.org/officeDocument/2006/relationships/image" Target="../media/image65.png"/><Relationship Id="rId4" Type="http://schemas.openxmlformats.org/officeDocument/2006/relationships/chart" Target="../charts/chart5.xml"/></Relationships>
</file>

<file path=ppt/slides/_rels/slide39.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19.xml"/><Relationship Id="rId1" Type="http://schemas.openxmlformats.org/officeDocument/2006/relationships/slideLayout" Target="../slideLayouts/slideLayout9.xml"/></Relationships>
</file>

<file path=ppt/slides/_rels/slide40.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notesSlide" Target="../notesSlides/notesSlide20.xml"/><Relationship Id="rId1" Type="http://schemas.openxmlformats.org/officeDocument/2006/relationships/slideLayout" Target="../slideLayouts/slideLayout9.xml"/></Relationships>
</file>

<file path=ppt/slides/_rels/slide41.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image" Target="../media/image70.png"/><Relationship Id="rId1" Type="http://schemas.openxmlformats.org/officeDocument/2006/relationships/slideLayout" Target="../slideLayouts/slideLayout9.xml"/></Relationships>
</file>

<file path=ppt/slides/_rels/slide42.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image" Target="../media/image72.png"/><Relationship Id="rId1" Type="http://schemas.openxmlformats.org/officeDocument/2006/relationships/slideLayout" Target="../slideLayouts/slideLayout9.xml"/><Relationship Id="rId6" Type="http://schemas.openxmlformats.org/officeDocument/2006/relationships/image" Target="../media/image75.png"/><Relationship Id="rId5" Type="http://schemas.openxmlformats.org/officeDocument/2006/relationships/chart" Target="../charts/chart6.xml"/><Relationship Id="rId4" Type="http://schemas.openxmlformats.org/officeDocument/2006/relationships/image" Target="../media/image74.png"/></Relationships>
</file>

<file path=ppt/slides/_rels/slide43.xml.rels><?xml version="1.0" encoding="UTF-8" standalone="yes"?>
<Relationships xmlns="http://schemas.openxmlformats.org/package/2006/relationships"><Relationship Id="rId8" Type="http://schemas.openxmlformats.org/officeDocument/2006/relationships/image" Target="../media/image75.png"/><Relationship Id="rId3" Type="http://schemas.openxmlformats.org/officeDocument/2006/relationships/image" Target="../media/image73.png"/><Relationship Id="rId7" Type="http://schemas.openxmlformats.org/officeDocument/2006/relationships/image" Target="../media/image77.png"/><Relationship Id="rId2" Type="http://schemas.openxmlformats.org/officeDocument/2006/relationships/image" Target="../media/image72.png"/><Relationship Id="rId1" Type="http://schemas.openxmlformats.org/officeDocument/2006/relationships/slideLayout" Target="../slideLayouts/slideLayout9.xml"/><Relationship Id="rId6" Type="http://schemas.openxmlformats.org/officeDocument/2006/relationships/chart" Target="../charts/chart7.xml"/><Relationship Id="rId5" Type="http://schemas.openxmlformats.org/officeDocument/2006/relationships/image" Target="../media/image76.png"/><Relationship Id="rId4" Type="http://schemas.openxmlformats.org/officeDocument/2006/relationships/image" Target="../media/image74.png"/></Relationships>
</file>

<file path=ppt/slides/_rels/slide44.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3.png"/><Relationship Id="rId7" Type="http://schemas.openxmlformats.org/officeDocument/2006/relationships/chart" Target="../charts/chart8.xml"/><Relationship Id="rId2" Type="http://schemas.openxmlformats.org/officeDocument/2006/relationships/image" Target="../media/image72.png"/><Relationship Id="rId1" Type="http://schemas.openxmlformats.org/officeDocument/2006/relationships/slideLayout" Target="../slideLayouts/slideLayout9.xml"/><Relationship Id="rId6" Type="http://schemas.openxmlformats.org/officeDocument/2006/relationships/image" Target="../media/image76.png"/><Relationship Id="rId5" Type="http://schemas.openxmlformats.org/officeDocument/2006/relationships/image" Target="../media/image74.png"/><Relationship Id="rId4" Type="http://schemas.openxmlformats.org/officeDocument/2006/relationships/image" Target="../media/image78.png"/><Relationship Id="rId9" Type="http://schemas.openxmlformats.org/officeDocument/2006/relationships/image" Target="../media/image75.png"/></Relationships>
</file>

<file path=ppt/slides/_rels/slide45.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3.png"/><Relationship Id="rId7" Type="http://schemas.openxmlformats.org/officeDocument/2006/relationships/chart" Target="../charts/chart9.xml"/><Relationship Id="rId2" Type="http://schemas.openxmlformats.org/officeDocument/2006/relationships/image" Target="../media/image72.png"/><Relationship Id="rId1" Type="http://schemas.openxmlformats.org/officeDocument/2006/relationships/slideLayout" Target="../slideLayouts/slideLayout9.xml"/><Relationship Id="rId6" Type="http://schemas.openxmlformats.org/officeDocument/2006/relationships/image" Target="../media/image81.png"/><Relationship Id="rId5" Type="http://schemas.openxmlformats.org/officeDocument/2006/relationships/image" Target="../media/image80.png"/><Relationship Id="rId4" Type="http://schemas.openxmlformats.org/officeDocument/2006/relationships/image" Target="../media/image79.png"/><Relationship Id="rId9" Type="http://schemas.openxmlformats.org/officeDocument/2006/relationships/image" Target="../media/image82.png"/></Relationships>
</file>

<file path=ppt/slides/_rels/slide46.xml.rels><?xml version="1.0" encoding="UTF-8" standalone="yes"?>
<Relationships xmlns="http://schemas.openxmlformats.org/package/2006/relationships"><Relationship Id="rId8" Type="http://schemas.openxmlformats.org/officeDocument/2006/relationships/image" Target="../media/image86.png"/><Relationship Id="rId3" Type="http://schemas.openxmlformats.org/officeDocument/2006/relationships/image" Target="../media/image73.png"/><Relationship Id="rId7" Type="http://schemas.openxmlformats.org/officeDocument/2006/relationships/chart" Target="../charts/chart10.xml"/><Relationship Id="rId2" Type="http://schemas.openxmlformats.org/officeDocument/2006/relationships/image" Target="../media/image72.png"/><Relationship Id="rId1" Type="http://schemas.openxmlformats.org/officeDocument/2006/relationships/slideLayout" Target="../slideLayouts/slideLayout9.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7.png"/></Relationships>
</file>

<file path=ppt/slides/_rels/slide47.xml.rels><?xml version="1.0" encoding="UTF-8" standalone="yes"?>
<Relationships xmlns="http://schemas.openxmlformats.org/package/2006/relationships"><Relationship Id="rId8" Type="http://schemas.openxmlformats.org/officeDocument/2006/relationships/image" Target="../media/image77.png"/><Relationship Id="rId3" Type="http://schemas.openxmlformats.org/officeDocument/2006/relationships/image" Target="../media/image73.png"/><Relationship Id="rId7" Type="http://schemas.openxmlformats.org/officeDocument/2006/relationships/chart" Target="../charts/chart11.xml"/><Relationship Id="rId2" Type="http://schemas.openxmlformats.org/officeDocument/2006/relationships/image" Target="../media/image72.png"/><Relationship Id="rId1" Type="http://schemas.openxmlformats.org/officeDocument/2006/relationships/slideLayout" Target="../slideLayouts/slideLayout9.xml"/><Relationship Id="rId6" Type="http://schemas.openxmlformats.org/officeDocument/2006/relationships/image" Target="../media/image90.png"/><Relationship Id="rId5" Type="http://schemas.openxmlformats.org/officeDocument/2006/relationships/image" Target="../media/image89.png"/><Relationship Id="rId4" Type="http://schemas.openxmlformats.org/officeDocument/2006/relationships/image" Target="../media/image88.png"/><Relationship Id="rId9" Type="http://schemas.openxmlformats.org/officeDocument/2006/relationships/image" Target="../media/image82.png"/></Relationships>
</file>

<file path=ppt/slides/_rels/slide48.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9.xml"/><Relationship Id="rId6" Type="http://schemas.openxmlformats.org/officeDocument/2006/relationships/image" Target="../media/image93.svg"/><Relationship Id="rId5" Type="http://schemas.openxmlformats.org/officeDocument/2006/relationships/image" Target="../media/image92.svg"/><Relationship Id="rId4" Type="http://schemas.openxmlformats.org/officeDocument/2006/relationships/image" Target="../media/image9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4.xml.rels><?xml version="1.0" encoding="UTF-8" standalone="yes"?>
<Relationships xmlns="http://schemas.openxmlformats.org/package/2006/relationships"><Relationship Id="rId2" Type="http://schemas.openxmlformats.org/officeDocument/2006/relationships/image" Target="../media/image92.png"/><Relationship Id="rId1" Type="http://schemas.openxmlformats.org/officeDocument/2006/relationships/slideLayout" Target="../slideLayouts/slideLayout9.xml"/></Relationships>
</file>

<file path=ppt/slides/_rels/slide55.xml.rels><?xml version="1.0" encoding="UTF-8" standalone="yes"?>
<Relationships xmlns="http://schemas.openxmlformats.org/package/2006/relationships"><Relationship Id="rId2" Type="http://schemas.openxmlformats.org/officeDocument/2006/relationships/image" Target="../media/image93.png"/><Relationship Id="rId1" Type="http://schemas.openxmlformats.org/officeDocument/2006/relationships/slideLayout" Target="../slideLayouts/slideLayout9.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7.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9.xml"/><Relationship Id="rId4" Type="http://schemas.openxmlformats.org/officeDocument/2006/relationships/image" Target="../media/image96.png"/></Relationships>
</file>

<file path=ppt/slides/_rels/slide58.xml.rels><?xml version="1.0" encoding="UTF-8" standalone="yes"?>
<Relationships xmlns="http://schemas.openxmlformats.org/package/2006/relationships"><Relationship Id="rId3" Type="http://schemas.openxmlformats.org/officeDocument/2006/relationships/image" Target="../media/image97.png"/><Relationship Id="rId2" Type="http://schemas.openxmlformats.org/officeDocument/2006/relationships/image" Target="../media/image94.png"/><Relationship Id="rId1" Type="http://schemas.openxmlformats.org/officeDocument/2006/relationships/slideLayout" Target="../slideLayouts/slideLayout9.xml"/><Relationship Id="rId4" Type="http://schemas.openxmlformats.org/officeDocument/2006/relationships/image" Target="../media/image98.png"/></Relationships>
</file>

<file path=ppt/slides/_rels/slide59.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9.xml"/></Relationships>
</file>

<file path=ppt/slides/_rels/slide6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9.xml"/></Relationships>
</file>

<file path=ppt/slides/_rels/slide61.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9.xml"/></Relationships>
</file>

<file path=ppt/slides/_rels/slide62.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0.png"/><Relationship Id="rId1" Type="http://schemas.openxmlformats.org/officeDocument/2006/relationships/slideLayout" Target="../slideLayouts/slideLayout9.xml"/><Relationship Id="rId4" Type="http://schemas.openxmlformats.org/officeDocument/2006/relationships/image" Target="../media/image104.png"/></Relationships>
</file>

<file path=ppt/slides/_rels/slide63.xml.rels><?xml version="1.0" encoding="UTF-8" standalone="yes"?>
<Relationships xmlns="http://schemas.openxmlformats.org/package/2006/relationships"><Relationship Id="rId2" Type="http://schemas.openxmlformats.org/officeDocument/2006/relationships/image" Target="../media/image105.png"/><Relationship Id="rId1" Type="http://schemas.openxmlformats.org/officeDocument/2006/relationships/slideLayout" Target="../slideLayouts/slideLayout9.xml"/></Relationships>
</file>

<file path=ppt/slides/_rels/slide64.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6.png"/><Relationship Id="rId1" Type="http://schemas.openxmlformats.org/officeDocument/2006/relationships/slideLayout" Target="../slideLayouts/slideLayout9.xml"/><Relationship Id="rId5" Type="http://schemas.openxmlformats.org/officeDocument/2006/relationships/image" Target="../media/image109.png"/><Relationship Id="rId4" Type="http://schemas.openxmlformats.org/officeDocument/2006/relationships/image" Target="../media/image108.png"/></Relationships>
</file>

<file path=ppt/slides/_rels/slide65.xml.rels><?xml version="1.0" encoding="UTF-8" standalone="yes"?>
<Relationships xmlns="http://schemas.openxmlformats.org/package/2006/relationships"><Relationship Id="rId3" Type="http://schemas.openxmlformats.org/officeDocument/2006/relationships/image" Target="../media/image110.png"/><Relationship Id="rId2" Type="http://schemas.openxmlformats.org/officeDocument/2006/relationships/image" Target="../media/image93.png"/><Relationship Id="rId1" Type="http://schemas.openxmlformats.org/officeDocument/2006/relationships/slideLayout" Target="../slideLayouts/slideLayout9.xml"/><Relationship Id="rId5" Type="http://schemas.openxmlformats.org/officeDocument/2006/relationships/image" Target="../media/image112.png"/><Relationship Id="rId4" Type="http://schemas.openxmlformats.org/officeDocument/2006/relationships/image" Target="../media/image111.png"/></Relationships>
</file>

<file path=ppt/slides/_rels/slide66.xml.rels><?xml version="1.0" encoding="UTF-8" standalone="yes"?>
<Relationships xmlns="http://schemas.openxmlformats.org/package/2006/relationships"><Relationship Id="rId3" Type="http://schemas.openxmlformats.org/officeDocument/2006/relationships/hyperlink" Target="https://forms.office.com/r/yGdHArDsHu" TargetMode="External"/><Relationship Id="rId2" Type="http://schemas.openxmlformats.org/officeDocument/2006/relationships/notesSlide" Target="../notesSlides/notesSlide22.xml"/><Relationship Id="rId1" Type="http://schemas.openxmlformats.org/officeDocument/2006/relationships/slideLayout" Target="../slideLayouts/slideLayout14.xml"/><Relationship Id="rId6" Type="http://schemas.openxmlformats.org/officeDocument/2006/relationships/hyperlink" Target="https://forms.office.com/Pages/DesignPage.aspx" TargetMode="External"/><Relationship Id="rId5" Type="http://schemas.openxmlformats.org/officeDocument/2006/relationships/image" Target="../media/image114.png"/><Relationship Id="rId4" Type="http://schemas.openxmlformats.org/officeDocument/2006/relationships/image" Target="../media/image113.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0.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3.xml"/><Relationship Id="rId1" Type="http://schemas.openxmlformats.org/officeDocument/2006/relationships/slideLayout" Target="../slideLayouts/slideLayout14.xml"/></Relationships>
</file>

<file path=ppt/slides/_rels/slide71.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1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7.xml"/></Relationships>
</file>

<file path=ppt/slides/_rels/slide73.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116.png"/><Relationship Id="rId1" Type="http://schemas.openxmlformats.org/officeDocument/2006/relationships/slideLayout" Target="../slideLayouts/slideLayout17.xml"/></Relationships>
</file>

<file path=ppt/slides/_rels/slide74.xml.rels><?xml version="1.0" encoding="UTF-8" standalone="yes"?>
<Relationships xmlns="http://schemas.openxmlformats.org/package/2006/relationships"><Relationship Id="rId3" Type="http://schemas.openxmlformats.org/officeDocument/2006/relationships/hyperlink" Target="https://machinelearningmastery.com/k-fold-cross-validation/" TargetMode="External"/><Relationship Id="rId2" Type="http://schemas.openxmlformats.org/officeDocument/2006/relationships/notesSlide" Target="../notesSlides/notesSlide24.xml"/><Relationship Id="rId1" Type="http://schemas.openxmlformats.org/officeDocument/2006/relationships/slideLayout" Target="../slideLayouts/slideLayout25.xml"/></Relationships>
</file>

<file path=ppt/slides/_rels/slide75.xml.rels><?xml version="1.0" encoding="UTF-8" standalone="yes"?>
<Relationships xmlns="http://schemas.openxmlformats.org/package/2006/relationships"><Relationship Id="rId3" Type="http://schemas.openxmlformats.org/officeDocument/2006/relationships/hyperlink" Target="https://forms.office.com/r/d0fArXiVtm" TargetMode="External"/><Relationship Id="rId2" Type="http://schemas.openxmlformats.org/officeDocument/2006/relationships/notesSlide" Target="../notesSlides/notesSlide25.xml"/><Relationship Id="rId1" Type="http://schemas.openxmlformats.org/officeDocument/2006/relationships/slideLayout" Target="../slideLayouts/slideLayout14.xml"/><Relationship Id="rId6" Type="http://schemas.openxmlformats.org/officeDocument/2006/relationships/hyperlink" Target="https://forms.office.com/Pages/DesignPage.aspx" TargetMode="External"/><Relationship Id="rId5" Type="http://schemas.openxmlformats.org/officeDocument/2006/relationships/image" Target="../media/image119.png"/><Relationship Id="rId4" Type="http://schemas.openxmlformats.org/officeDocument/2006/relationships/image" Target="../media/image118.png"/></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notesSlide" Target="../notesSlides/notesSlide26.xml"/><Relationship Id="rId1" Type="http://schemas.openxmlformats.org/officeDocument/2006/relationships/slideLayout" Target="../slideLayouts/slideLayout9.xml"/><Relationship Id="rId4" Type="http://schemas.openxmlformats.org/officeDocument/2006/relationships/image" Target="../media/image120.png"/></Relationships>
</file>

<file path=ppt/slides/_rels/slide8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6.xml"/></Relationships>
</file>

<file path=ppt/slides/_rels/slide83.xml.rels><?xml version="1.0" encoding="UTF-8" standalone="yes"?>
<Relationships xmlns="http://schemas.openxmlformats.org/package/2006/relationships"><Relationship Id="rId2" Type="http://schemas.openxmlformats.org/officeDocument/2006/relationships/image" Target="../media/image122.png"/><Relationship Id="rId1" Type="http://schemas.openxmlformats.org/officeDocument/2006/relationships/slideLayout" Target="../slideLayouts/slideLayout14.xml"/></Relationships>
</file>

<file path=ppt/slides/_rels/slide84.xml.rels><?xml version="1.0" encoding="UTF-8" standalone="yes"?>
<Relationships xmlns="http://schemas.openxmlformats.org/package/2006/relationships"><Relationship Id="rId3" Type="http://schemas.openxmlformats.org/officeDocument/2006/relationships/image" Target="../media/image123.png"/><Relationship Id="rId2" Type="http://schemas.openxmlformats.org/officeDocument/2006/relationships/notesSlide" Target="../notesSlides/notesSlide27.xml"/><Relationship Id="rId1" Type="http://schemas.openxmlformats.org/officeDocument/2006/relationships/slideLayout" Target="../slideLayouts/slideLayout9.xml"/><Relationship Id="rId4" Type="http://schemas.openxmlformats.org/officeDocument/2006/relationships/image" Target="../media/image124.png"/></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6.xml.rels><?xml version="1.0" encoding="UTF-8" standalone="yes"?>
<Relationships xmlns="http://schemas.openxmlformats.org/package/2006/relationships"><Relationship Id="rId2" Type="http://schemas.openxmlformats.org/officeDocument/2006/relationships/image" Target="../media/image125.png"/><Relationship Id="rId1" Type="http://schemas.openxmlformats.org/officeDocument/2006/relationships/slideLayout" Target="../slideLayouts/slideLayout9.xml"/></Relationships>
</file>

<file path=ppt/slides/_rels/slide87.xml.rels><?xml version="1.0" encoding="UTF-8" standalone="yes"?>
<Relationships xmlns="http://schemas.openxmlformats.org/package/2006/relationships"><Relationship Id="rId2" Type="http://schemas.openxmlformats.org/officeDocument/2006/relationships/image" Target="../media/image126.png"/><Relationship Id="rId1" Type="http://schemas.openxmlformats.org/officeDocument/2006/relationships/slideLayout" Target="../slideLayouts/slideLayout9.xml"/></Relationships>
</file>

<file path=ppt/slides/_rels/slide88.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27.png"/><Relationship Id="rId1" Type="http://schemas.openxmlformats.org/officeDocument/2006/relationships/slideLayout" Target="../slideLayouts/slideLayout21.xml"/></Relationships>
</file>

<file path=ppt/slides/_rels/slide89.xml.rels><?xml version="1.0" encoding="UTF-8" standalone="yes"?>
<Relationships xmlns="http://schemas.openxmlformats.org/package/2006/relationships"><Relationship Id="rId3" Type="http://schemas.openxmlformats.org/officeDocument/2006/relationships/image" Target="../media/image129.png"/><Relationship Id="rId2" Type="http://schemas.openxmlformats.org/officeDocument/2006/relationships/notesSlide" Target="../notesSlides/notesSlide28.xml"/><Relationship Id="rId1" Type="http://schemas.openxmlformats.org/officeDocument/2006/relationships/slideLayout" Target="../slideLayouts/slideLayout16.xml"/></Relationships>
</file>

<file path=ppt/slides/_rels/slide90.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16.xml"/></Relationships>
</file>

<file path=ppt/slides/_rels/slide91.xml.rels><?xml version="1.0" encoding="UTF-8" standalone="yes"?>
<Relationships xmlns="http://schemas.openxmlformats.org/package/2006/relationships"><Relationship Id="rId3" Type="http://schemas.openxmlformats.org/officeDocument/2006/relationships/image" Target="../media/image131.png"/><Relationship Id="rId2" Type="http://schemas.openxmlformats.org/officeDocument/2006/relationships/notesSlide" Target="../notesSlides/notesSlide29.xml"/><Relationship Id="rId1" Type="http://schemas.openxmlformats.org/officeDocument/2006/relationships/slideLayout" Target="../slideLayouts/slideLayout16.xml"/></Relationships>
</file>

<file path=ppt/slides/_rels/slide92.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16.xml"/></Relationships>
</file>

<file path=ppt/slides/_rels/slide93.xml.rels><?xml version="1.0" encoding="UTF-8" standalone="yes"?>
<Relationships xmlns="http://schemas.openxmlformats.org/package/2006/relationships"><Relationship Id="rId3" Type="http://schemas.openxmlformats.org/officeDocument/2006/relationships/hyperlink" Target="https://scikit-learn.org/stable/modules/generated/sklearn.tree.DecisionTreeClassifier.html#sklearn.tree.DecisionTreeClassifier" TargetMode="External"/><Relationship Id="rId2" Type="http://schemas.openxmlformats.org/officeDocument/2006/relationships/hyperlink" Target="https://scikit-learn.org/stable/modules/generated/sklearn.ensemble.RandomForestClassifier.html" TargetMode="External"/><Relationship Id="rId1" Type="http://schemas.openxmlformats.org/officeDocument/2006/relationships/slideLayout" Target="../slideLayouts/slideLayout9.xml"/></Relationships>
</file>

<file path=ppt/slides/_rels/slide94.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14.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3" Type="http://schemas.openxmlformats.org/officeDocument/2006/relationships/image" Target="../media/image134.png"/><Relationship Id="rId2" Type="http://schemas.openxmlformats.org/officeDocument/2006/relationships/notesSlide" Target="../notesSlides/notesSlide30.xml"/><Relationship Id="rId1" Type="http://schemas.openxmlformats.org/officeDocument/2006/relationships/slideLayout" Target="../slideLayouts/slideLayout17.xml"/><Relationship Id="rId4" Type="http://schemas.openxmlformats.org/officeDocument/2006/relationships/image" Target="../media/image135.jpeg"/></Relationships>
</file>

<file path=ppt/slides/_rels/slide9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136.png"/><Relationship Id="rId1" Type="http://schemas.openxmlformats.org/officeDocument/2006/relationships/slideLayout" Target="../slideLayouts/slideLayout17.xml"/></Relationships>
</file>

<file path=ppt/slides/_rels/slide100.xml.rels><?xml version="1.0" encoding="UTF-8" standalone="yes"?>
<Relationships xmlns="http://schemas.openxmlformats.org/package/2006/relationships"><Relationship Id="rId3" Type="http://schemas.openxmlformats.org/officeDocument/2006/relationships/image" Target="../media/image138.png"/><Relationship Id="rId2" Type="http://schemas.openxmlformats.org/officeDocument/2006/relationships/notesSlide" Target="../notesSlides/notesSlide31.xml"/><Relationship Id="rId1" Type="http://schemas.openxmlformats.org/officeDocument/2006/relationships/slideLayout" Target="../slideLayouts/slideLayout17.xml"/><Relationship Id="rId4" Type="http://schemas.openxmlformats.org/officeDocument/2006/relationships/image" Target="../media/image139.png"/></Relationships>
</file>

<file path=ppt/slides/_rels/slide101.xml.rels><?xml version="1.0" encoding="UTF-8" standalone="yes"?>
<Relationships xmlns="http://schemas.openxmlformats.org/package/2006/relationships"><Relationship Id="rId3" Type="http://schemas.openxmlformats.org/officeDocument/2006/relationships/image" Target="../media/image140.png"/><Relationship Id="rId7" Type="http://schemas.openxmlformats.org/officeDocument/2006/relationships/image" Target="../media/image139.png"/><Relationship Id="rId2" Type="http://schemas.openxmlformats.org/officeDocument/2006/relationships/notesSlide" Target="../notesSlides/notesSlide32.xml"/><Relationship Id="rId1" Type="http://schemas.openxmlformats.org/officeDocument/2006/relationships/slideLayout" Target="../slideLayouts/slideLayout14.xml"/><Relationship Id="rId6" Type="http://schemas.openxmlformats.org/officeDocument/2006/relationships/image" Target="../media/image143.png"/><Relationship Id="rId5" Type="http://schemas.openxmlformats.org/officeDocument/2006/relationships/image" Target="../media/image142.png"/><Relationship Id="rId4" Type="http://schemas.openxmlformats.org/officeDocument/2006/relationships/image" Target="../media/image141.png"/></Relationships>
</file>

<file path=ppt/slides/_rels/slide102.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33.xml"/><Relationship Id="rId1" Type="http://schemas.openxmlformats.org/officeDocument/2006/relationships/slideLayout" Target="../slideLayouts/slideLayout14.xml"/><Relationship Id="rId4" Type="http://schemas.openxmlformats.org/officeDocument/2006/relationships/image" Target="../media/image139.png"/></Relationships>
</file>

<file path=ppt/slides/_rels/slide103.xml.rels><?xml version="1.0" encoding="UTF-8" standalone="yes"?>
<Relationships xmlns="http://schemas.openxmlformats.org/package/2006/relationships"><Relationship Id="rId3" Type="http://schemas.openxmlformats.org/officeDocument/2006/relationships/image" Target="../media/image144.jpeg"/><Relationship Id="rId2" Type="http://schemas.openxmlformats.org/officeDocument/2006/relationships/notesSlide" Target="../notesSlides/notesSlide34.xml"/><Relationship Id="rId1" Type="http://schemas.openxmlformats.org/officeDocument/2006/relationships/slideLayout" Target="../slideLayouts/slideLayout17.xml"/><Relationship Id="rId4" Type="http://schemas.openxmlformats.org/officeDocument/2006/relationships/image" Target="../media/image145.jpeg"/></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0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17.xml"/></Relationships>
</file>

<file path=ppt/slides/_rels/slide107.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148.png"/><Relationship Id="rId1" Type="http://schemas.openxmlformats.org/officeDocument/2006/relationships/slideLayout" Target="../slideLayouts/slideLayout17.xml"/></Relationships>
</file>

<file path=ppt/slides/_rels/slide108.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notesSlide" Target="../notesSlides/notesSlide35.xml"/><Relationship Id="rId1" Type="http://schemas.openxmlformats.org/officeDocument/2006/relationships/slideLayout" Target="../slideLayouts/slideLayout17.xml"/><Relationship Id="rId4" Type="http://schemas.openxmlformats.org/officeDocument/2006/relationships/image" Target="../media/image151.png"/></Relationships>
</file>

<file path=ppt/slides/_rels/slide109.xml.rels><?xml version="1.0" encoding="UTF-8" standalone="yes"?>
<Relationships xmlns="http://schemas.openxmlformats.org/package/2006/relationships"><Relationship Id="rId2" Type="http://schemas.openxmlformats.org/officeDocument/2006/relationships/image" Target="../media/image152.png"/><Relationship Id="rId1" Type="http://schemas.openxmlformats.org/officeDocument/2006/relationships/slideLayout" Target="../slideLayouts/slideLayout9.xml"/></Relationships>
</file>

<file path=ppt/slides/_rels/slide110.xml.rels><?xml version="1.0" encoding="UTF-8" standalone="yes"?>
<Relationships xmlns="http://schemas.openxmlformats.org/package/2006/relationships"><Relationship Id="rId2" Type="http://schemas.openxmlformats.org/officeDocument/2006/relationships/image" Target="../media/image153.png"/><Relationship Id="rId1" Type="http://schemas.openxmlformats.org/officeDocument/2006/relationships/slideLayout" Target="../slideLayouts/slideLayout9.xml"/></Relationships>
</file>

<file path=ppt/slides/_rels/slide111.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image" Target="../media/image153.png"/><Relationship Id="rId1" Type="http://schemas.openxmlformats.org/officeDocument/2006/relationships/slideLayout" Target="../slideLayouts/slideLayout9.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112.xml.rels><?xml version="1.0" encoding="UTF-8" standalone="yes"?>
<Relationships xmlns="http://schemas.openxmlformats.org/package/2006/relationships"><Relationship Id="rId8" Type="http://schemas.openxmlformats.org/officeDocument/2006/relationships/image" Target="../media/image153.png"/><Relationship Id="rId3" Type="http://schemas.openxmlformats.org/officeDocument/2006/relationships/image" Target="../media/image155.png"/><Relationship Id="rId7" Type="http://schemas.openxmlformats.org/officeDocument/2006/relationships/image" Target="../media/image159.png"/><Relationship Id="rId2" Type="http://schemas.openxmlformats.org/officeDocument/2006/relationships/image" Target="../media/image154.png"/><Relationship Id="rId1" Type="http://schemas.openxmlformats.org/officeDocument/2006/relationships/slideLayout" Target="../slideLayouts/slideLayout9.xml"/><Relationship Id="rId6" Type="http://schemas.openxmlformats.org/officeDocument/2006/relationships/image" Target="../media/image158.png"/><Relationship Id="rId5" Type="http://schemas.openxmlformats.org/officeDocument/2006/relationships/image" Target="../media/image157.png"/><Relationship Id="rId4" Type="http://schemas.openxmlformats.org/officeDocument/2006/relationships/image" Target="../media/image156.png"/></Relationships>
</file>

<file path=ppt/slides/_rels/slide113.xml.rels><?xml version="1.0" encoding="UTF-8" standalone="yes"?>
<Relationships xmlns="http://schemas.openxmlformats.org/package/2006/relationships"><Relationship Id="rId8" Type="http://schemas.openxmlformats.org/officeDocument/2006/relationships/image" Target="../media/image159.png"/><Relationship Id="rId3" Type="http://schemas.openxmlformats.org/officeDocument/2006/relationships/image" Target="../media/image154.png"/><Relationship Id="rId7" Type="http://schemas.openxmlformats.org/officeDocument/2006/relationships/image" Target="../media/image158.png"/><Relationship Id="rId2" Type="http://schemas.openxmlformats.org/officeDocument/2006/relationships/image" Target="../media/image160.png"/><Relationship Id="rId1" Type="http://schemas.openxmlformats.org/officeDocument/2006/relationships/slideLayout" Target="../slideLayouts/slideLayout9.xml"/><Relationship Id="rId6" Type="http://schemas.openxmlformats.org/officeDocument/2006/relationships/image" Target="../media/image157.png"/><Relationship Id="rId5" Type="http://schemas.openxmlformats.org/officeDocument/2006/relationships/image" Target="../media/image156.png"/><Relationship Id="rId4" Type="http://schemas.openxmlformats.org/officeDocument/2006/relationships/image" Target="../media/image155.png"/></Relationships>
</file>

<file path=ppt/slides/_rels/slide114.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0.png"/><Relationship Id="rId1" Type="http://schemas.openxmlformats.org/officeDocument/2006/relationships/slideLayout" Target="../slideLayouts/slideLayout9.xml"/></Relationships>
</file>

<file path=ppt/slides/_rels/slide115.xml.rels><?xml version="1.0" encoding="UTF-8" standalone="yes"?>
<Relationships xmlns="http://schemas.openxmlformats.org/package/2006/relationships"><Relationship Id="rId3" Type="http://schemas.openxmlformats.org/officeDocument/2006/relationships/image" Target="../media/image161.png"/><Relationship Id="rId2" Type="http://schemas.openxmlformats.org/officeDocument/2006/relationships/image" Target="../media/image162.png"/><Relationship Id="rId1" Type="http://schemas.openxmlformats.org/officeDocument/2006/relationships/slideLayout" Target="../slideLayouts/slideLayout9.xml"/></Relationships>
</file>

<file path=ppt/slides/_rels/slide116.xml.rels><?xml version="1.0" encoding="UTF-8" standalone="yes"?>
<Relationships xmlns="http://schemas.openxmlformats.org/package/2006/relationships"><Relationship Id="rId2" Type="http://schemas.openxmlformats.org/officeDocument/2006/relationships/image" Target="../media/image163.png"/><Relationship Id="rId1" Type="http://schemas.openxmlformats.org/officeDocument/2006/relationships/slideLayout" Target="../slideLayouts/slideLayout9.xml"/></Relationships>
</file>

<file path=ppt/slides/_rels/slide117.xml.rels><?xml version="1.0" encoding="UTF-8" standalone="yes"?>
<Relationships xmlns="http://schemas.openxmlformats.org/package/2006/relationships"><Relationship Id="rId3" Type="http://schemas.openxmlformats.org/officeDocument/2006/relationships/image" Target="../media/image128.png"/><Relationship Id="rId2" Type="http://schemas.openxmlformats.org/officeDocument/2006/relationships/image" Target="../media/image164.png"/><Relationship Id="rId1" Type="http://schemas.openxmlformats.org/officeDocument/2006/relationships/slideLayout" Target="../slideLayouts/slideLayout14.xml"/><Relationship Id="rId4" Type="http://schemas.openxmlformats.org/officeDocument/2006/relationships/image" Target="../media/image127.png"/></Relationships>
</file>

<file path=ppt/slides/_rels/slide118.xml.rels><?xml version="1.0" encoding="UTF-8" standalone="yes"?>
<Relationships xmlns="http://schemas.openxmlformats.org/package/2006/relationships"><Relationship Id="rId3" Type="http://schemas.openxmlformats.org/officeDocument/2006/relationships/image" Target="../media/image166.png"/><Relationship Id="rId2" Type="http://schemas.openxmlformats.org/officeDocument/2006/relationships/image" Target="../media/image165.png"/><Relationship Id="rId1" Type="http://schemas.openxmlformats.org/officeDocument/2006/relationships/slideLayout" Target="../slideLayouts/slideLayout16.xml"/></Relationships>
</file>

<file path=ppt/slides/_rels/slide119.xml.rels><?xml version="1.0" encoding="UTF-8" standalone="yes"?>
<Relationships xmlns="http://schemas.openxmlformats.org/package/2006/relationships"><Relationship Id="rId2" Type="http://schemas.openxmlformats.org/officeDocument/2006/relationships/image" Target="../media/image167.png"/><Relationship Id="rId1" Type="http://schemas.openxmlformats.org/officeDocument/2006/relationships/slideLayout" Target="../slideLayouts/slideLayout17.xml"/></Relationships>
</file>

<file path=ppt/slides/_rels/slide120.xml.rels><?xml version="1.0" encoding="UTF-8" standalone="yes"?>
<Relationships xmlns="http://schemas.openxmlformats.org/package/2006/relationships"><Relationship Id="rId3" Type="http://schemas.openxmlformats.org/officeDocument/2006/relationships/image" Target="../media/image169.png"/><Relationship Id="rId2" Type="http://schemas.openxmlformats.org/officeDocument/2006/relationships/image" Target="../media/image168.png"/><Relationship Id="rId1" Type="http://schemas.openxmlformats.org/officeDocument/2006/relationships/slideLayout" Target="../slideLayouts/slideLayout17.xml"/><Relationship Id="rId4" Type="http://schemas.openxmlformats.org/officeDocument/2006/relationships/image" Target="../media/image170.png"/></Relationships>
</file>

<file path=ppt/slides/_rels/slide121.xml.rels><?xml version="1.0" encoding="UTF-8" standalone="yes"?>
<Relationships xmlns="http://schemas.openxmlformats.org/package/2006/relationships"><Relationship Id="rId3" Type="http://schemas.openxmlformats.org/officeDocument/2006/relationships/image" Target="../media/image147.png"/><Relationship Id="rId2" Type="http://schemas.openxmlformats.org/officeDocument/2006/relationships/image" Target="../media/image146.png"/><Relationship Id="rId1" Type="http://schemas.openxmlformats.org/officeDocument/2006/relationships/slideLayout" Target="../slideLayouts/slideLayout17.xml"/></Relationships>
</file>

<file path=ppt/slides/_rels/slide122.xml.rels><?xml version="1.0" encoding="UTF-8" standalone="yes"?>
<Relationships xmlns="http://schemas.openxmlformats.org/package/2006/relationships"><Relationship Id="rId3" Type="http://schemas.openxmlformats.org/officeDocument/2006/relationships/image" Target="../media/image171.png"/><Relationship Id="rId2" Type="http://schemas.openxmlformats.org/officeDocument/2006/relationships/notesSlide" Target="../notesSlides/notesSlide36.xml"/><Relationship Id="rId1" Type="http://schemas.openxmlformats.org/officeDocument/2006/relationships/slideLayout" Target="../slideLayouts/slideLayout17.xml"/></Relationships>
</file>

<file path=ppt/slides/_rels/slide123.xml.rels><?xml version="1.0" encoding="UTF-8" standalone="yes"?>
<Relationships xmlns="http://schemas.openxmlformats.org/package/2006/relationships"><Relationship Id="rId3" Type="http://schemas.openxmlformats.org/officeDocument/2006/relationships/image" Target="../media/image172.png"/><Relationship Id="rId2" Type="http://schemas.openxmlformats.org/officeDocument/2006/relationships/hyperlink" Target="https://scikit-learn.org/stable/modules/generated/sklearn.preprocessing.StandardScaler.html#sklearn.preprocessing.StandardScaler" TargetMode="External"/><Relationship Id="rId1" Type="http://schemas.openxmlformats.org/officeDocument/2006/relationships/slideLayout" Target="../slideLayouts/slideLayout1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3" Type="http://schemas.openxmlformats.org/officeDocument/2006/relationships/image" Target="../media/image173.png"/><Relationship Id="rId2" Type="http://schemas.openxmlformats.org/officeDocument/2006/relationships/notesSlide" Target="../notesSlides/notesSlide37.xml"/><Relationship Id="rId1" Type="http://schemas.openxmlformats.org/officeDocument/2006/relationships/slideLayout" Target="../slideLayouts/slideLayout16.xml"/></Relationships>
</file>

<file path=ppt/slides/_rels/slide127.xml.rels><?xml version="1.0" encoding="UTF-8" standalone="yes"?>
<Relationships xmlns="http://schemas.openxmlformats.org/package/2006/relationships"><Relationship Id="rId2" Type="http://schemas.openxmlformats.org/officeDocument/2006/relationships/hyperlink" Target="https://scikit-learn.org/stable/modules/generated/sklearn.neural_network.MLPClassifier.html#sklearn.neural_network.MLPClassifier" TargetMode="External"/><Relationship Id="rId1" Type="http://schemas.openxmlformats.org/officeDocument/2006/relationships/slideLayout" Target="../slideLayouts/slideLayout9.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130.xml.rels><?xml version="1.0" encoding="UTF-8" standalone="yes"?>
<Relationships xmlns="http://schemas.openxmlformats.org/package/2006/relationships"><Relationship Id="rId3" Type="http://schemas.openxmlformats.org/officeDocument/2006/relationships/image" Target="../media/image174.png"/><Relationship Id="rId2" Type="http://schemas.openxmlformats.org/officeDocument/2006/relationships/hyperlink" Target="https://scikit-learn.org/stable/" TargetMode="External"/><Relationship Id="rId1" Type="http://schemas.openxmlformats.org/officeDocument/2006/relationships/slideLayout" Target="../slideLayouts/slideLayout14.xml"/><Relationship Id="rId4" Type="http://schemas.openxmlformats.org/officeDocument/2006/relationships/hyperlink" Target="https://scikit-learn.org/stable/modules/generated/sklearn.neural_network.MLPRegressor.html" TargetMode="External"/></Relationships>
</file>

<file path=ppt/slides/_rels/slide13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8" Type="http://schemas.openxmlformats.org/officeDocument/2006/relationships/image" Target="../media/image181.png"/><Relationship Id="rId13" Type="http://schemas.openxmlformats.org/officeDocument/2006/relationships/image" Target="../media/image186.png"/><Relationship Id="rId18" Type="http://schemas.openxmlformats.org/officeDocument/2006/relationships/image" Target="../media/image191.png"/><Relationship Id="rId3" Type="http://schemas.openxmlformats.org/officeDocument/2006/relationships/image" Target="../media/image176.png"/><Relationship Id="rId21" Type="http://schemas.openxmlformats.org/officeDocument/2006/relationships/image" Target="../media/image194.png"/><Relationship Id="rId7" Type="http://schemas.openxmlformats.org/officeDocument/2006/relationships/image" Target="../media/image180.png"/><Relationship Id="rId12" Type="http://schemas.openxmlformats.org/officeDocument/2006/relationships/image" Target="../media/image185.png"/><Relationship Id="rId17" Type="http://schemas.openxmlformats.org/officeDocument/2006/relationships/image" Target="../media/image190.png"/><Relationship Id="rId2" Type="http://schemas.openxmlformats.org/officeDocument/2006/relationships/image" Target="../media/image175.png"/><Relationship Id="rId16" Type="http://schemas.openxmlformats.org/officeDocument/2006/relationships/image" Target="../media/image189.png"/><Relationship Id="rId20" Type="http://schemas.openxmlformats.org/officeDocument/2006/relationships/image" Target="../media/image193.png"/><Relationship Id="rId1" Type="http://schemas.openxmlformats.org/officeDocument/2006/relationships/slideLayout" Target="../slideLayouts/slideLayout17.xml"/><Relationship Id="rId6" Type="http://schemas.openxmlformats.org/officeDocument/2006/relationships/image" Target="../media/image179.png"/><Relationship Id="rId11" Type="http://schemas.openxmlformats.org/officeDocument/2006/relationships/image" Target="../media/image184.png"/><Relationship Id="rId5" Type="http://schemas.openxmlformats.org/officeDocument/2006/relationships/image" Target="../media/image178.png"/><Relationship Id="rId15" Type="http://schemas.openxmlformats.org/officeDocument/2006/relationships/image" Target="../media/image188.png"/><Relationship Id="rId23" Type="http://schemas.openxmlformats.org/officeDocument/2006/relationships/image" Target="../media/image196.png"/><Relationship Id="rId10" Type="http://schemas.openxmlformats.org/officeDocument/2006/relationships/image" Target="../media/image183.png"/><Relationship Id="rId19" Type="http://schemas.openxmlformats.org/officeDocument/2006/relationships/image" Target="../media/image192.png"/><Relationship Id="rId4" Type="http://schemas.openxmlformats.org/officeDocument/2006/relationships/image" Target="../media/image177.png"/><Relationship Id="rId9" Type="http://schemas.openxmlformats.org/officeDocument/2006/relationships/image" Target="../media/image182.png"/><Relationship Id="rId14" Type="http://schemas.openxmlformats.org/officeDocument/2006/relationships/image" Target="../media/image187.png"/><Relationship Id="rId22" Type="http://schemas.openxmlformats.org/officeDocument/2006/relationships/image" Target="../media/image195.png"/></Relationships>
</file>

<file path=ppt/slides/_rels/slide133.xml.rels><?xml version="1.0" encoding="UTF-8" standalone="yes"?>
<Relationships xmlns="http://schemas.openxmlformats.org/package/2006/relationships"><Relationship Id="rId3" Type="http://schemas.openxmlformats.org/officeDocument/2006/relationships/image" Target="../media/image198.png"/><Relationship Id="rId2" Type="http://schemas.openxmlformats.org/officeDocument/2006/relationships/image" Target="../media/image197.png"/><Relationship Id="rId1" Type="http://schemas.openxmlformats.org/officeDocument/2006/relationships/slideLayout" Target="../slideLayouts/slideLayout14.xml"/><Relationship Id="rId5" Type="http://schemas.openxmlformats.org/officeDocument/2006/relationships/image" Target="../media/image200.jpeg"/><Relationship Id="rId4" Type="http://schemas.openxmlformats.org/officeDocument/2006/relationships/image" Target="../media/image199.png"/></Relationships>
</file>

<file path=ppt/slides/_rels/slide134.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1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35.xml.rels><?xml version="1.0" encoding="UTF-8" standalone="yes"?>
<Relationships xmlns="http://schemas.openxmlformats.org/package/2006/relationships"><Relationship Id="rId2" Type="http://schemas.openxmlformats.org/officeDocument/2006/relationships/image" Target="../media/image201.png"/><Relationship Id="rId1" Type="http://schemas.openxmlformats.org/officeDocument/2006/relationships/slideLayout" Target="../slideLayouts/slideLayout17.xml"/></Relationships>
</file>

<file path=ppt/slides/_rels/slide13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hyperlink" Target="https://forms.office.com/Pages/ResponsePage.aspx?id=PqlLJW8f80iQ5uJ2ZmS0d-5LdjYRShZEhN3YmsD7St9UMFZZTFFVQjFSUUxTMzhQNTM3S1hSM0ExVS4u" TargetMode="External"/><Relationship Id="rId2" Type="http://schemas.openxmlformats.org/officeDocument/2006/relationships/notesSlide" Target="../notesSlides/notesSlide38.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B26EC9-E1F5-4E8C-898D-ED7C3DDDA2E5}"/>
              </a:ext>
            </a:extLst>
          </p:cNvPr>
          <p:cNvSpPr>
            <a:spLocks noGrp="1"/>
          </p:cNvSpPr>
          <p:nvPr>
            <p:ph type="ctrTitle"/>
          </p:nvPr>
        </p:nvSpPr>
        <p:spPr>
          <a:xfrm>
            <a:off x="627063" y="2846628"/>
            <a:ext cx="6480000" cy="2955867"/>
          </a:xfrm>
        </p:spPr>
        <p:txBody>
          <a:bodyPr/>
          <a:lstStyle/>
          <a:p>
            <a:r>
              <a:rPr lang="en-US"/>
              <a:t>Introduction to Machine Learning 2: Adding Background</a:t>
            </a:r>
            <a:br>
              <a:rPr lang="en-US"/>
            </a:br>
            <a:br>
              <a:rPr lang="en-US" sz="2000"/>
            </a:br>
            <a:r>
              <a:rPr lang="en-US" sz="2000"/>
              <a:t>SE G QPI QM P</a:t>
            </a:r>
          </a:p>
        </p:txBody>
      </p:sp>
      <p:sp>
        <p:nvSpPr>
          <p:cNvPr id="3" name="Textplatzhalter 2">
            <a:extLst>
              <a:ext uri="{FF2B5EF4-FFF2-40B4-BE49-F238E27FC236}">
                <a16:creationId xmlns:a16="http://schemas.microsoft.com/office/drawing/2014/main" id="{D2DCE8D9-8AB9-416E-89B5-BE9D20BDB95D}"/>
              </a:ext>
            </a:extLst>
          </p:cNvPr>
          <p:cNvSpPr>
            <a:spLocks noGrp="1"/>
          </p:cNvSpPr>
          <p:nvPr>
            <p:ph type="body" sz="quarter" idx="12"/>
          </p:nvPr>
        </p:nvSpPr>
        <p:spPr/>
        <p:txBody>
          <a:bodyPr/>
          <a:lstStyle/>
          <a:p>
            <a:endParaRPr lang="de-DE"/>
          </a:p>
        </p:txBody>
      </p:sp>
      <p:sp>
        <p:nvSpPr>
          <p:cNvPr id="4" name="Textplatzhalter 3">
            <a:extLst>
              <a:ext uri="{FF2B5EF4-FFF2-40B4-BE49-F238E27FC236}">
                <a16:creationId xmlns:a16="http://schemas.microsoft.com/office/drawing/2014/main" id="{E42D33F8-AE0C-4FAB-9FA3-0B90974C0B96}"/>
              </a:ext>
            </a:extLst>
          </p:cNvPr>
          <p:cNvSpPr>
            <a:spLocks noGrp="1"/>
          </p:cNvSpPr>
          <p:nvPr>
            <p:ph type="body" sz="quarter" idx="13"/>
          </p:nvPr>
        </p:nvSpPr>
        <p:spPr/>
        <p:txBody>
          <a:bodyPr/>
          <a:lstStyle/>
          <a:p>
            <a:endParaRPr lang="de-DE"/>
          </a:p>
        </p:txBody>
      </p:sp>
    </p:spTree>
    <p:extLst>
      <p:ext uri="{BB962C8B-B14F-4D97-AF65-F5344CB8AC3E}">
        <p14:creationId xmlns:p14="http://schemas.microsoft.com/office/powerpoint/2010/main" val="115152490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335B155-BA44-4ABA-B3C1-6744346B9B7A}"/>
              </a:ext>
            </a:extLst>
          </p:cNvPr>
          <p:cNvSpPr>
            <a:spLocks noGrp="1"/>
          </p:cNvSpPr>
          <p:nvPr>
            <p:ph type="title"/>
          </p:nvPr>
        </p:nvSpPr>
        <p:spPr/>
        <p:txBody>
          <a:bodyPr/>
          <a:lstStyle/>
          <a:p>
            <a:r>
              <a:rPr lang="en-US"/>
              <a:t>Training Objective</a:t>
            </a:r>
          </a:p>
        </p:txBody>
      </p:sp>
      <p:pic>
        <p:nvPicPr>
          <p:cNvPr id="6" name="Picture 25" descr="http://steverothschild.org/images/uploads/purpose.jpg">
            <a:extLst>
              <a:ext uri="{FF2B5EF4-FFF2-40B4-BE49-F238E27FC236}">
                <a16:creationId xmlns:a16="http://schemas.microsoft.com/office/drawing/2014/main" id="{CF2BCF0A-DF88-49E3-B39D-DAB0A5A9AD59}"/>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8972339" y="1258310"/>
            <a:ext cx="2995488" cy="2764756"/>
          </a:xfrm>
          <a:prstGeom prst="rect">
            <a:avLst/>
          </a:prstGeom>
          <a:noFill/>
          <a:extLst>
            <a:ext uri="{909E8E84-426E-40DD-AFC4-6F175D3DCCD1}">
              <a14:hiddenFill xmlns:a14="http://schemas.microsoft.com/office/drawing/2010/main">
                <a:solidFill>
                  <a:srgbClr val="FFFFFF"/>
                </a:solidFill>
              </a14:hiddenFill>
            </a:ext>
          </a:extLst>
        </p:spPr>
      </p:pic>
      <p:sp>
        <p:nvSpPr>
          <p:cNvPr id="7" name="Rectangle 3">
            <a:extLst>
              <a:ext uri="{FF2B5EF4-FFF2-40B4-BE49-F238E27FC236}">
                <a16:creationId xmlns:a16="http://schemas.microsoft.com/office/drawing/2014/main" id="{06229730-7A6F-4EAF-AB90-AB2D4CD194AF}"/>
              </a:ext>
            </a:extLst>
          </p:cNvPr>
          <p:cNvSpPr txBox="1">
            <a:spLocks noChangeArrowheads="1"/>
          </p:cNvSpPr>
          <p:nvPr/>
        </p:nvSpPr>
        <p:spPr bwMode="auto">
          <a:xfrm>
            <a:off x="584728" y="1919754"/>
            <a:ext cx="8574787" cy="1992950"/>
          </a:xfrm>
          <a:prstGeom prst="rect">
            <a:avLst/>
          </a:prstGeom>
          <a:noFill/>
          <a:ln w="9525">
            <a:noFill/>
            <a:miter lim="800000"/>
            <a:headEnd/>
            <a:tailEnd/>
          </a:ln>
        </p:spPr>
        <p:txBody>
          <a:bodyPr vert="horz" wrap="square" lIns="252000" tIns="108000" rIns="108000" bIns="0" numCol="1" anchor="t" anchorCtr="0" compatLnSpc="1">
            <a:prstTxWarp prst="textNoShape">
              <a:avLst/>
            </a:prstTxWarp>
          </a:bodyPr>
          <a:lstStyle>
            <a:lvl1pPr marL="0" indent="0" algn="l" rtl="0" fontAlgn="base">
              <a:lnSpc>
                <a:spcPct val="110000"/>
              </a:lnSpc>
              <a:spcBef>
                <a:spcPct val="0"/>
              </a:spcBef>
              <a:spcAft>
                <a:spcPct val="0"/>
              </a:spcAft>
              <a:buClr>
                <a:schemeClr val="accent1"/>
              </a:buClr>
              <a:buFont typeface="Arial" pitchFamily="34" charset="0"/>
              <a:buNone/>
              <a:tabLst/>
              <a:defRPr>
                <a:solidFill>
                  <a:schemeClr val="tx1"/>
                </a:solidFill>
                <a:latin typeface="Arial" pitchFamily="34" charset="0"/>
                <a:ea typeface="+mn-ea"/>
                <a:cs typeface="Arial" pitchFamily="34" charset="0"/>
              </a:defRPr>
            </a:lvl1pPr>
            <a:lvl2pPr marL="179388"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2pPr>
            <a:lvl3pPr marL="358775"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3pPr>
            <a:lvl4pPr marL="538163" indent="-177800" algn="l" rtl="0" fontAlgn="base">
              <a:lnSpc>
                <a:spcPct val="110000"/>
              </a:lnSpc>
              <a:spcBef>
                <a:spcPct val="0"/>
              </a:spcBef>
              <a:spcAft>
                <a:spcPct val="0"/>
              </a:spcAft>
              <a:buClr>
                <a:schemeClr val="accent1"/>
              </a:buClr>
              <a:buChar char="•"/>
              <a:tabLst/>
              <a:defRPr>
                <a:solidFill>
                  <a:schemeClr val="tx1"/>
                </a:solidFill>
                <a:latin typeface="Arial" pitchFamily="34" charset="0"/>
                <a:ea typeface="+mn-ea"/>
                <a:cs typeface="Arial" pitchFamily="34" charset="0"/>
              </a:defRPr>
            </a:lvl4pPr>
            <a:lvl5pPr marL="717550" indent="-177800" algn="l" rtl="0" fontAlgn="base">
              <a:lnSpc>
                <a:spcPct val="110000"/>
              </a:lnSpc>
              <a:spcBef>
                <a:spcPct val="0"/>
              </a:spcBef>
              <a:spcAft>
                <a:spcPct val="0"/>
              </a:spcAft>
              <a:buClr>
                <a:schemeClr val="accent1"/>
              </a:buClr>
              <a:buChar char="•"/>
              <a:tabLst/>
              <a:defRPr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a:lstStyle>
          <a:p>
            <a:pPr marL="642937" lvl="1" indent="-285750" defTabSz="1055688">
              <a:lnSpc>
                <a:spcPct val="100000"/>
              </a:lnSpc>
              <a:spcAft>
                <a:spcPts val="600"/>
              </a:spcAft>
              <a:buClrTx/>
            </a:pPr>
            <a:r>
              <a:rPr lang="en-US" altLang="en-US" sz="1600" kern="0"/>
              <a:t>Have an understanding / basic mathematical background of decision tree and neural networks taught in ML1</a:t>
            </a:r>
          </a:p>
          <a:p>
            <a:pPr marL="642937" lvl="1" indent="-285750" defTabSz="1055688">
              <a:lnSpc>
                <a:spcPct val="100000"/>
              </a:lnSpc>
              <a:spcAft>
                <a:spcPts val="600"/>
              </a:spcAft>
              <a:buClrTx/>
            </a:pPr>
            <a:r>
              <a:rPr lang="en-US" altLang="en-US" sz="1600" kern="0">
                <a:latin typeface="Arial" charset="0"/>
                <a:cs typeface="Arial" charset="0"/>
              </a:rPr>
              <a:t>Be enabled to better interpret Machine Learning results using this background </a:t>
            </a:r>
          </a:p>
          <a:p>
            <a:pPr marL="642937" lvl="1" indent="-285750" defTabSz="1055688">
              <a:lnSpc>
                <a:spcPct val="100000"/>
              </a:lnSpc>
              <a:spcAft>
                <a:spcPts val="600"/>
              </a:spcAft>
              <a:buClrTx/>
            </a:pPr>
            <a:r>
              <a:rPr lang="en-US" altLang="en-US" sz="1600" kern="0">
                <a:latin typeface="Arial" charset="0"/>
                <a:cs typeface="Arial" charset="0"/>
              </a:rPr>
              <a:t>Know enough about ML to explore other algorithms on your own</a:t>
            </a:r>
          </a:p>
          <a:p>
            <a:pPr marL="642937" lvl="1" indent="-285750" defTabSz="1055688">
              <a:lnSpc>
                <a:spcPct val="100000"/>
              </a:lnSpc>
              <a:spcAft>
                <a:spcPts val="600"/>
              </a:spcAft>
              <a:buClrTx/>
            </a:pPr>
            <a:r>
              <a:rPr lang="en-US" altLang="en-US" sz="1600" kern="0">
                <a:latin typeface="Arial" charset="0"/>
                <a:cs typeface="Arial" charset="0"/>
              </a:rPr>
              <a:t>Discuss application opportunities of Machine Learning in our business</a:t>
            </a:r>
          </a:p>
        </p:txBody>
      </p:sp>
      <p:sp>
        <p:nvSpPr>
          <p:cNvPr id="8" name="Rectangle 4">
            <a:extLst>
              <a:ext uri="{FF2B5EF4-FFF2-40B4-BE49-F238E27FC236}">
                <a16:creationId xmlns:a16="http://schemas.microsoft.com/office/drawing/2014/main" id="{064289CA-AD88-4BB1-B6C4-6475FB169BC0}"/>
              </a:ext>
            </a:extLst>
          </p:cNvPr>
          <p:cNvSpPr>
            <a:spLocks noChangeArrowheads="1"/>
          </p:cNvSpPr>
          <p:nvPr/>
        </p:nvSpPr>
        <p:spPr bwMode="auto">
          <a:xfrm>
            <a:off x="672528" y="1439999"/>
            <a:ext cx="11519149" cy="433387"/>
          </a:xfrm>
          <a:prstGeom prst="rect">
            <a:avLst/>
          </a:prstGeom>
          <a:solidFill>
            <a:srgbClr val="D7D7CD"/>
          </a:solidFill>
          <a:ln>
            <a:noFill/>
          </a:ln>
        </p:spPr>
        <p:txBody>
          <a:bodyPr wrap="none" lIns="252000" tIns="0" rIns="432000" bIns="0" anchor="ctr"/>
          <a:lstStyle>
            <a:lvl1pPr algn="l" eaLnBrk="0" hangingPunct="0">
              <a:lnSpc>
                <a:spcPct val="110000"/>
              </a:lnSpc>
              <a:buClr>
                <a:schemeClr val="accent1"/>
              </a:buClr>
              <a:buFont typeface="Arial" charset="0"/>
              <a:defRPr>
                <a:solidFill>
                  <a:srgbClr val="000000"/>
                </a:solidFill>
                <a:latin typeface="Arial" charset="0"/>
                <a:ea typeface="ＭＳ Ｐゴシック" pitchFamily="34" charset="-128"/>
                <a:cs typeface="Arial" charset="0"/>
              </a:defRPr>
            </a:lvl1pPr>
            <a:lvl2pPr marL="742950" indent="-28575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2pPr>
            <a:lvl3pPr marL="11430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3pPr>
            <a:lvl4pPr marL="16002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4pPr>
            <a:lvl5pPr marL="20574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5pPr>
            <a:lvl6pPr marL="25146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6pPr>
            <a:lvl7pPr marL="29718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7pPr>
            <a:lvl8pPr marL="34290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8pPr>
            <a:lvl9pPr marL="38862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9pPr>
          </a:lstStyle>
          <a:p>
            <a:pPr eaLnBrk="1" hangingPunct="1">
              <a:lnSpc>
                <a:spcPct val="100000"/>
              </a:lnSpc>
              <a:buClrTx/>
              <a:buFontTx/>
              <a:buNone/>
            </a:pPr>
            <a:r>
              <a:rPr lang="en-US" altLang="en-US" sz="1800" b="0" i="0">
                <a:solidFill>
                  <a:schemeClr val="tx1"/>
                </a:solidFill>
              </a:rPr>
              <a:t>By the end of this course, you will </a:t>
            </a:r>
            <a:r>
              <a:rPr lang="en-US" altLang="en-US"/>
              <a:t>…</a:t>
            </a:r>
            <a:endParaRPr lang="en-US" altLang="en-US" sz="1800" b="0" i="0">
              <a:solidFill>
                <a:schemeClr val="tx1"/>
              </a:solidFill>
            </a:endParaRPr>
          </a:p>
        </p:txBody>
      </p:sp>
      <p:sp>
        <p:nvSpPr>
          <p:cNvPr id="9" name="Rectangle 4">
            <a:extLst>
              <a:ext uri="{FF2B5EF4-FFF2-40B4-BE49-F238E27FC236}">
                <a16:creationId xmlns:a16="http://schemas.microsoft.com/office/drawing/2014/main" id="{F277882C-DD07-464B-A5F6-1B007601A163}"/>
              </a:ext>
            </a:extLst>
          </p:cNvPr>
          <p:cNvSpPr>
            <a:spLocks noChangeArrowheads="1"/>
          </p:cNvSpPr>
          <p:nvPr/>
        </p:nvSpPr>
        <p:spPr bwMode="auto">
          <a:xfrm>
            <a:off x="584728" y="3838193"/>
            <a:ext cx="11633922" cy="433387"/>
          </a:xfrm>
          <a:prstGeom prst="rect">
            <a:avLst/>
          </a:prstGeom>
          <a:solidFill>
            <a:srgbClr val="D7D7CD"/>
          </a:solidFill>
          <a:ln>
            <a:noFill/>
          </a:ln>
        </p:spPr>
        <p:txBody>
          <a:bodyPr wrap="none" lIns="252000" tIns="0" rIns="432000" bIns="0" anchor="ctr"/>
          <a:lstStyle>
            <a:lvl1pPr algn="l" eaLnBrk="0" hangingPunct="0">
              <a:lnSpc>
                <a:spcPct val="110000"/>
              </a:lnSpc>
              <a:buClr>
                <a:schemeClr val="accent1"/>
              </a:buClr>
              <a:buFont typeface="Arial" charset="0"/>
              <a:defRPr>
                <a:solidFill>
                  <a:srgbClr val="000000"/>
                </a:solidFill>
                <a:latin typeface="Arial" charset="0"/>
                <a:ea typeface="ＭＳ Ｐゴシック" pitchFamily="34" charset="-128"/>
                <a:cs typeface="Arial" charset="0"/>
              </a:defRPr>
            </a:lvl1pPr>
            <a:lvl2pPr marL="742950" indent="-28575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2pPr>
            <a:lvl3pPr marL="11430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3pPr>
            <a:lvl4pPr marL="16002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4pPr>
            <a:lvl5pPr marL="2057400" indent="-228600" algn="l" eaLnBrk="0" hangingPunct="0">
              <a:lnSpc>
                <a:spcPct val="110000"/>
              </a:lnSpc>
              <a:buClr>
                <a:schemeClr val="accent1"/>
              </a:buClr>
              <a:buChar char="•"/>
              <a:defRPr>
                <a:solidFill>
                  <a:srgbClr val="000000"/>
                </a:solidFill>
                <a:latin typeface="Arial" charset="0"/>
                <a:ea typeface="ＭＳ Ｐゴシック" pitchFamily="34" charset="-128"/>
                <a:cs typeface="Arial" charset="0"/>
              </a:defRPr>
            </a:lvl5pPr>
            <a:lvl6pPr marL="25146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6pPr>
            <a:lvl7pPr marL="29718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7pPr>
            <a:lvl8pPr marL="34290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8pPr>
            <a:lvl9pPr marL="3886200" indent="-228600" eaLnBrk="0" fontAlgn="base" hangingPunct="0">
              <a:lnSpc>
                <a:spcPct val="110000"/>
              </a:lnSpc>
              <a:spcBef>
                <a:spcPct val="0"/>
              </a:spcBef>
              <a:spcAft>
                <a:spcPct val="0"/>
              </a:spcAft>
              <a:buClr>
                <a:schemeClr val="accent1"/>
              </a:buClr>
              <a:buChar char="•"/>
              <a:defRPr>
                <a:solidFill>
                  <a:srgbClr val="000000"/>
                </a:solidFill>
                <a:latin typeface="Arial" charset="0"/>
                <a:ea typeface="ＭＳ Ｐゴシック" pitchFamily="34" charset="-128"/>
                <a:cs typeface="Arial" charset="0"/>
              </a:defRPr>
            </a:lvl9pPr>
          </a:lstStyle>
          <a:p>
            <a:pPr eaLnBrk="1" hangingPunct="1">
              <a:lnSpc>
                <a:spcPct val="100000"/>
              </a:lnSpc>
              <a:buClrTx/>
              <a:buFontTx/>
              <a:buNone/>
            </a:pPr>
            <a:r>
              <a:rPr lang="en-US" altLang="en-US" sz="1800" b="0" i="0">
                <a:solidFill>
                  <a:schemeClr val="tx1"/>
                </a:solidFill>
              </a:rPr>
              <a:t>This training is an experiment</a:t>
            </a:r>
          </a:p>
        </p:txBody>
      </p:sp>
      <p:sp>
        <p:nvSpPr>
          <p:cNvPr id="13" name="Rectangle 3">
            <a:extLst>
              <a:ext uri="{FF2B5EF4-FFF2-40B4-BE49-F238E27FC236}">
                <a16:creationId xmlns:a16="http://schemas.microsoft.com/office/drawing/2014/main" id="{49D5487B-5982-4C30-9D58-C2E6D342516F}"/>
              </a:ext>
            </a:extLst>
          </p:cNvPr>
          <p:cNvSpPr txBox="1">
            <a:spLocks noChangeArrowheads="1"/>
          </p:cNvSpPr>
          <p:nvPr/>
        </p:nvSpPr>
        <p:spPr bwMode="auto">
          <a:xfrm>
            <a:off x="570475" y="4240508"/>
            <a:ext cx="11256371" cy="1992950"/>
          </a:xfrm>
          <a:prstGeom prst="rect">
            <a:avLst/>
          </a:prstGeom>
          <a:noFill/>
          <a:ln w="9525">
            <a:noFill/>
            <a:miter lim="800000"/>
            <a:headEnd/>
            <a:tailEnd/>
          </a:ln>
        </p:spPr>
        <p:txBody>
          <a:bodyPr vert="horz" wrap="square" lIns="252000" tIns="108000" rIns="108000" bIns="0" numCol="1" anchor="t" anchorCtr="0" compatLnSpc="1">
            <a:prstTxWarp prst="textNoShape">
              <a:avLst/>
            </a:prstTxWarp>
          </a:bodyPr>
          <a:lstStyle>
            <a:defPPr>
              <a:defRPr lang="de-DE"/>
            </a:defPPr>
            <a:lvl1pPr marL="0" indent="0">
              <a:lnSpc>
                <a:spcPct val="110000"/>
              </a:lnSpc>
              <a:spcBef>
                <a:spcPct val="0"/>
              </a:spcBef>
              <a:buClr>
                <a:schemeClr val="accent1"/>
              </a:buClr>
              <a:buFont typeface="Arial" pitchFamily="34" charset="0"/>
              <a:buNone/>
              <a:tabLst/>
              <a:defRPr>
                <a:solidFill>
                  <a:schemeClr val="tx1"/>
                </a:solidFill>
                <a:ea typeface="+mn-ea"/>
                <a:cs typeface="Arial" pitchFamily="34" charset="0"/>
              </a:defRPr>
            </a:lvl1pPr>
            <a:lvl2pPr marL="642937" lvl="1" indent="-285750" defTabSz="1055688">
              <a:lnSpc>
                <a:spcPct val="100000"/>
              </a:lnSpc>
              <a:spcBef>
                <a:spcPct val="0"/>
              </a:spcBef>
              <a:spcAft>
                <a:spcPts val="1200"/>
              </a:spcAft>
              <a:buClrTx/>
              <a:buChar char="•"/>
              <a:tabLst/>
              <a:defRPr sz="1600" kern="0">
                <a:solidFill>
                  <a:schemeClr val="tx1"/>
                </a:solidFill>
                <a:ea typeface="+mn-ea"/>
                <a:cs typeface="Arial" pitchFamily="34" charset="0"/>
              </a:defRPr>
            </a:lvl2pPr>
            <a:lvl3pPr marL="358775" indent="-177800">
              <a:lnSpc>
                <a:spcPct val="110000"/>
              </a:lnSpc>
              <a:spcBef>
                <a:spcPct val="0"/>
              </a:spcBef>
              <a:buClr>
                <a:schemeClr val="accent1"/>
              </a:buClr>
              <a:buChar char="•"/>
              <a:tabLst/>
              <a:defRPr>
                <a:solidFill>
                  <a:schemeClr val="tx1"/>
                </a:solidFill>
                <a:ea typeface="+mn-ea"/>
                <a:cs typeface="Arial" pitchFamily="34" charset="0"/>
              </a:defRPr>
            </a:lvl3pPr>
            <a:lvl4pPr marL="538163" indent="-177800">
              <a:lnSpc>
                <a:spcPct val="110000"/>
              </a:lnSpc>
              <a:spcBef>
                <a:spcPct val="0"/>
              </a:spcBef>
              <a:buClr>
                <a:schemeClr val="accent1"/>
              </a:buClr>
              <a:buChar char="•"/>
              <a:tabLst/>
              <a:defRPr>
                <a:solidFill>
                  <a:schemeClr val="tx1"/>
                </a:solidFill>
                <a:ea typeface="+mn-ea"/>
                <a:cs typeface="Arial" pitchFamily="34" charset="0"/>
              </a:defRPr>
            </a:lvl4pPr>
            <a:lvl5pPr marL="717550" indent="-177800">
              <a:lnSpc>
                <a:spcPct val="110000"/>
              </a:lnSpc>
              <a:spcBef>
                <a:spcPct val="0"/>
              </a:spcBef>
              <a:buClr>
                <a:schemeClr val="accent1"/>
              </a:buClr>
              <a:buChar char="•"/>
              <a:tabLst/>
              <a:defRPr baseline="0">
                <a:solidFill>
                  <a:schemeClr val="tx1"/>
                </a:solidFill>
                <a:ea typeface="+mn-ea"/>
                <a:cs typeface="Arial" pitchFamily="34" charset="0"/>
              </a:defRPr>
            </a:lvl5pPr>
            <a:lvl6pPr marL="1220788" indent="-188913" fontAlgn="base">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fontAlgn="base">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fontAlgn="base">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fontAlgn="base">
              <a:lnSpc>
                <a:spcPct val="110000"/>
              </a:lnSpc>
              <a:spcBef>
                <a:spcPct val="0"/>
              </a:spcBef>
              <a:spcAft>
                <a:spcPct val="0"/>
              </a:spcAft>
              <a:buClr>
                <a:schemeClr val="accent1"/>
              </a:buClr>
              <a:buFont typeface="Wingdings" charset="0"/>
              <a:buChar char="§"/>
              <a:defRPr>
                <a:solidFill>
                  <a:schemeClr val="tx1"/>
                </a:solidFill>
                <a:latin typeface="+mn-lt"/>
                <a:ea typeface="+mn-ea"/>
              </a:defRPr>
            </a:lvl9pPr>
          </a:lstStyle>
          <a:p>
            <a:pPr lvl="1">
              <a:spcAft>
                <a:spcPts val="600"/>
              </a:spcAft>
            </a:pPr>
            <a:r>
              <a:rPr lang="en-US" altLang="en-US"/>
              <a:t>New teaching approach, digging deeper after  targeting “everybody”</a:t>
            </a:r>
          </a:p>
          <a:p>
            <a:pPr lvl="1">
              <a:spcAft>
                <a:spcPts val="600"/>
              </a:spcAft>
            </a:pPr>
            <a:r>
              <a:rPr lang="en-US" altLang="en-US">
                <a:latin typeface="Arial" charset="0"/>
                <a:cs typeface="Arial" charset="0"/>
              </a:rPr>
              <a:t>Focus is not to program it yourself in python</a:t>
            </a:r>
          </a:p>
          <a:p>
            <a:pPr lvl="1">
              <a:spcAft>
                <a:spcPts val="600"/>
              </a:spcAft>
            </a:pPr>
            <a:r>
              <a:rPr lang="en-US" altLang="en-US"/>
              <a:t>Helpline (Kay)</a:t>
            </a:r>
          </a:p>
        </p:txBody>
      </p:sp>
      <p:sp>
        <p:nvSpPr>
          <p:cNvPr id="11" name="Rechteck 10">
            <a:extLst>
              <a:ext uri="{FF2B5EF4-FFF2-40B4-BE49-F238E27FC236}">
                <a16:creationId xmlns:a16="http://schemas.microsoft.com/office/drawing/2014/main" id="{C3EB78AF-B18F-4F33-9038-3C49DABF916C}"/>
              </a:ext>
            </a:extLst>
          </p:cNvPr>
          <p:cNvSpPr/>
          <p:nvPr/>
        </p:nvSpPr>
        <p:spPr>
          <a:xfrm>
            <a:off x="627064" y="5697252"/>
            <a:ext cx="11340763" cy="537034"/>
          </a:xfrm>
          <a:prstGeom prst="rect">
            <a:avLst/>
          </a:prstGeom>
          <a:ln w="28575">
            <a:solidFill>
              <a:srgbClr val="00646E"/>
            </a:solidFill>
          </a:ln>
        </p:spPr>
        <p:txBody>
          <a:bodyPr wrap="square" tIns="144000" bIns="144000">
            <a:spAutoFit/>
          </a:bodyPr>
          <a:lstStyle/>
          <a:p>
            <a:pPr algn="ctr"/>
            <a:r>
              <a:rPr lang="en-US" sz="1600">
                <a:solidFill>
                  <a:schemeClr val="tx1"/>
                </a:solidFill>
              </a:rPr>
              <a:t>We are all learning: We don’t have very much experience yet, where Machine Learning is actually improving our business.</a:t>
            </a:r>
          </a:p>
        </p:txBody>
      </p:sp>
    </p:spTree>
    <p:extLst>
      <p:ext uri="{BB962C8B-B14F-4D97-AF65-F5344CB8AC3E}">
        <p14:creationId xmlns:p14="http://schemas.microsoft.com/office/powerpoint/2010/main" val="425800838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AF2898E-9D0A-4F9E-B273-6673704FAD4F}"/>
              </a:ext>
            </a:extLst>
          </p:cNvPr>
          <p:cNvSpPr>
            <a:spLocks noGrp="1"/>
          </p:cNvSpPr>
          <p:nvPr>
            <p:ph type="title"/>
          </p:nvPr>
        </p:nvSpPr>
        <p:spPr/>
        <p:txBody>
          <a:bodyPr/>
          <a:lstStyle/>
          <a:p>
            <a:r>
              <a:rPr lang="en-US"/>
              <a:t>How This Training Works</a:t>
            </a:r>
          </a:p>
        </p:txBody>
      </p:sp>
      <p:sp>
        <p:nvSpPr>
          <p:cNvPr id="3" name="Inhaltsplatzhalter 2">
            <a:extLst>
              <a:ext uri="{FF2B5EF4-FFF2-40B4-BE49-F238E27FC236}">
                <a16:creationId xmlns:a16="http://schemas.microsoft.com/office/drawing/2014/main" id="{24CE9D69-D6B0-4824-A6E4-E95FE89F0A0C}"/>
              </a:ext>
            </a:extLst>
          </p:cNvPr>
          <p:cNvSpPr>
            <a:spLocks noGrp="1"/>
          </p:cNvSpPr>
          <p:nvPr>
            <p:ph sz="half" idx="1"/>
          </p:nvPr>
        </p:nvSpPr>
        <p:spPr>
          <a:xfrm>
            <a:off x="627063" y="1440000"/>
            <a:ext cx="6444220" cy="4752000"/>
          </a:xfrm>
        </p:spPr>
        <p:txBody>
          <a:bodyPr/>
          <a:lstStyle/>
          <a:p>
            <a:pPr marL="285750" indent="-285750">
              <a:lnSpc>
                <a:spcPct val="200000"/>
              </a:lnSpc>
              <a:buFont typeface="Arial" panose="020B0604020202020204" pitchFamily="34" charset="0"/>
              <a:buChar char="•"/>
            </a:pPr>
            <a:r>
              <a:rPr lang="en-US"/>
              <a:t>Experiment, we are all learning</a:t>
            </a:r>
          </a:p>
          <a:p>
            <a:pPr marL="285750" indent="-285750">
              <a:lnSpc>
                <a:spcPct val="200000"/>
              </a:lnSpc>
              <a:buFont typeface="Arial" panose="020B0604020202020204" pitchFamily="34" charset="0"/>
              <a:buChar char="•"/>
            </a:pPr>
            <a:r>
              <a:rPr lang="en-US"/>
              <a:t>ML1 is prerequisite (enough to read through slides)</a:t>
            </a:r>
          </a:p>
          <a:p>
            <a:pPr marL="285750" indent="-285750">
              <a:lnSpc>
                <a:spcPct val="200000"/>
              </a:lnSpc>
              <a:buFont typeface="Arial" panose="020B0604020202020204" pitchFamily="34" charset="0"/>
              <a:buChar char="•"/>
            </a:pPr>
            <a:r>
              <a:rPr lang="en-US" altLang="en-US"/>
              <a:t>2x10 Min Break</a:t>
            </a:r>
          </a:p>
          <a:p>
            <a:pPr marL="285750" indent="-285750">
              <a:lnSpc>
                <a:spcPct val="200000"/>
              </a:lnSpc>
              <a:buFont typeface="Arial" panose="020B0604020202020204" pitchFamily="34" charset="0"/>
              <a:buChar char="•"/>
            </a:pPr>
            <a:r>
              <a:rPr lang="en-US">
                <a:solidFill>
                  <a:srgbClr val="FF0000"/>
                </a:solidFill>
              </a:rPr>
              <a:t>Recording</a:t>
            </a:r>
            <a:r>
              <a:rPr lang="en-US"/>
              <a:t>: high demand, few training seats</a:t>
            </a:r>
          </a:p>
          <a:p>
            <a:pPr marL="285750" indent="-285750">
              <a:lnSpc>
                <a:spcPct val="200000"/>
              </a:lnSpc>
              <a:buFont typeface="Arial" panose="020B0604020202020204" pitchFamily="34" charset="0"/>
              <a:buChar char="•"/>
            </a:pPr>
            <a:r>
              <a:rPr lang="en-US"/>
              <a:t>Based on interaction</a:t>
            </a:r>
          </a:p>
          <a:p>
            <a:pPr marL="644525" lvl="2" indent="-285750">
              <a:lnSpc>
                <a:spcPct val="200000"/>
              </a:lnSpc>
              <a:buFont typeface="Courier New" panose="02070309020205020404" pitchFamily="49" charset="0"/>
              <a:buChar char="o"/>
            </a:pPr>
            <a:r>
              <a:rPr lang="en-US"/>
              <a:t>Discussions, Exercises + Debriefs</a:t>
            </a:r>
          </a:p>
          <a:p>
            <a:pPr marL="644525" lvl="2" indent="-285750">
              <a:lnSpc>
                <a:spcPct val="200000"/>
              </a:lnSpc>
              <a:buFont typeface="Courier New" panose="02070309020205020404" pitchFamily="49" charset="0"/>
              <a:buChar char="o"/>
            </a:pPr>
            <a:r>
              <a:rPr lang="en-US"/>
              <a:t>Harder in Circuit</a:t>
            </a:r>
          </a:p>
          <a:p>
            <a:pPr marL="644525" lvl="2" indent="-285750">
              <a:lnSpc>
                <a:spcPct val="200000"/>
              </a:lnSpc>
              <a:buFont typeface="Courier New" panose="02070309020205020404" pitchFamily="49" charset="0"/>
              <a:buChar char="o"/>
            </a:pPr>
            <a:r>
              <a:rPr lang="en-US">
                <a:solidFill>
                  <a:srgbClr val="FF0000"/>
                </a:solidFill>
              </a:rPr>
              <a:t>If I should not call on you, please tell us now</a:t>
            </a:r>
          </a:p>
          <a:p>
            <a:endParaRPr lang="en-US"/>
          </a:p>
        </p:txBody>
      </p:sp>
      <p:pic>
        <p:nvPicPr>
          <p:cNvPr id="6" name="Picture 8" descr="17947_dpi150">
            <a:extLst>
              <a:ext uri="{FF2B5EF4-FFF2-40B4-BE49-F238E27FC236}">
                <a16:creationId xmlns:a16="http://schemas.microsoft.com/office/drawing/2014/main" id="{4DEC0B93-4D94-4398-84D2-E081E03745F4}"/>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7379530" y="1435026"/>
            <a:ext cx="4336107" cy="35695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6426039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B793D4-EC53-45EA-8D6A-9C397530E29D}"/>
              </a:ext>
            </a:extLst>
          </p:cNvPr>
          <p:cNvSpPr>
            <a:spLocks noGrp="1"/>
          </p:cNvSpPr>
          <p:nvPr>
            <p:ph type="title"/>
          </p:nvPr>
        </p:nvSpPr>
        <p:spPr/>
        <p:txBody>
          <a:bodyPr/>
          <a:lstStyle/>
          <a:p>
            <a:r>
              <a:rPr lang="en-US"/>
              <a:t>Please Give Us Feedback!</a:t>
            </a:r>
          </a:p>
        </p:txBody>
      </p:sp>
      <p:sp>
        <p:nvSpPr>
          <p:cNvPr id="3" name="Textfeld 2">
            <a:extLst>
              <a:ext uri="{FF2B5EF4-FFF2-40B4-BE49-F238E27FC236}">
                <a16:creationId xmlns:a16="http://schemas.microsoft.com/office/drawing/2014/main" id="{140ABB90-1C37-4037-BEEB-EA0B417705F2}"/>
              </a:ext>
            </a:extLst>
          </p:cNvPr>
          <p:cNvSpPr txBox="1"/>
          <p:nvPr/>
        </p:nvSpPr>
        <p:spPr>
          <a:xfrm>
            <a:off x="627062" y="1461922"/>
            <a:ext cx="11088687" cy="4775366"/>
          </a:xfrm>
          <a:prstGeom prst="rect">
            <a:avLst/>
          </a:prstGeom>
          <a:noFill/>
        </p:spPr>
        <p:txBody>
          <a:bodyPr wrap="square" lIns="0" tIns="0" rIns="0" bIns="0" rtlCol="0">
            <a:noAutofit/>
          </a:bodyPr>
          <a:lstStyle/>
          <a:p>
            <a:pPr marL="171450" indent="-171450">
              <a:lnSpc>
                <a:spcPct val="110000"/>
              </a:lnSpc>
              <a:spcBef>
                <a:spcPts val="0"/>
              </a:spcBef>
              <a:buFont typeface="Arial" panose="020B0604020202020204" pitchFamily="34" charset="0"/>
              <a:buChar char="•"/>
            </a:pPr>
            <a:r>
              <a:rPr lang="en-US" b="1" dirty="0">
                <a:solidFill>
                  <a:schemeClr val="tx1"/>
                </a:solidFill>
                <a:latin typeface="+mn-lt"/>
                <a:ea typeface="Arial Unicode MS" panose="020B0604020202020204" pitchFamily="34" charset="-128"/>
                <a:cs typeface="Arial Unicode MS" panose="020B0604020202020204" pitchFamily="34" charset="-128"/>
              </a:rPr>
              <a:t>Feedback is very important for us. This course is free, but we need to know if this is beneficial for you. </a:t>
            </a:r>
          </a:p>
          <a:p>
            <a:pPr marL="171450" indent="-171450">
              <a:lnSpc>
                <a:spcPct val="110000"/>
              </a:lnSpc>
              <a:spcBef>
                <a:spcPts val="0"/>
              </a:spcBef>
              <a:buFont typeface="Arial" panose="020B0604020202020204" pitchFamily="34" charset="0"/>
              <a:buChar char="•"/>
            </a:pPr>
            <a:r>
              <a:rPr lang="en-US" b="1" dirty="0">
                <a:solidFill>
                  <a:schemeClr val="tx1"/>
                </a:solidFill>
                <a:latin typeface="+mn-lt"/>
                <a:ea typeface="Arial Unicode MS" panose="020B0604020202020204" pitchFamily="34" charset="-128"/>
                <a:cs typeface="Arial Unicode MS" panose="020B0604020202020204" pitchFamily="34" charset="-128"/>
              </a:rPr>
              <a:t>Based on your feedback, we will continue to offer this, develop additional courses – or not.</a:t>
            </a:r>
          </a:p>
          <a:p>
            <a:pPr marL="171450" indent="-171450">
              <a:lnSpc>
                <a:spcPct val="110000"/>
              </a:lnSpc>
              <a:spcBef>
                <a:spcPts val="0"/>
              </a:spcBef>
              <a:buFont typeface="Arial" panose="020B0604020202020204" pitchFamily="34" charset="0"/>
              <a:buChar char="•"/>
            </a:pPr>
            <a:endParaRPr lang="en-US" dirty="0">
              <a:solidFill>
                <a:schemeClr val="tx1"/>
              </a:solidFill>
              <a:latin typeface="+mn-lt"/>
              <a:ea typeface="Arial Unicode MS" panose="020B0604020202020204" pitchFamily="34" charset="-128"/>
              <a:cs typeface="Arial Unicode MS" panose="020B0604020202020204" pitchFamily="34" charset="-128"/>
            </a:endParaRPr>
          </a:p>
          <a:p>
            <a:pPr marL="171450" indent="-171450">
              <a:lnSpc>
                <a:spcPct val="110000"/>
              </a:lnSpc>
              <a:spcBef>
                <a:spcPts val="0"/>
              </a:spcBef>
              <a:buFont typeface="Arial" panose="020B0604020202020204" pitchFamily="34" charset="0"/>
              <a:buChar char="•"/>
            </a:pPr>
            <a:r>
              <a:rPr lang="en-US" sz="1600" dirty="0">
                <a:solidFill>
                  <a:schemeClr val="tx1"/>
                </a:solidFill>
                <a:latin typeface="+mn-lt"/>
                <a:ea typeface="Arial Unicode MS" panose="020B0604020202020204" pitchFamily="34" charset="-128"/>
                <a:cs typeface="Arial Unicode MS" panose="020B0604020202020204" pitchFamily="34" charset="-128"/>
              </a:rPr>
              <a:t>Please visit at the end of this course the following website: </a:t>
            </a:r>
            <a:r>
              <a:rPr lang="en-US" sz="1600" dirty="0">
                <a:solidFill>
                  <a:schemeClr val="tx1"/>
                </a:solidFill>
                <a:latin typeface="+mn-lt"/>
                <a:ea typeface="Arial Unicode MS" panose="020B0604020202020204" pitchFamily="34" charset="-128"/>
                <a:cs typeface="Arial Unicode MS" panose="020B0604020202020204" pitchFamily="34" charset="-128"/>
                <a:hlinkClick r:id="rId2"/>
              </a:rPr>
              <a:t>https://forms.office.com/Pages/ResponsePage.aspx?id=PqlLJW8f80iQ5uJ2ZmS0d-5LdjYRShZEhN3YmsD7St9UMFZZTFFVQjFSUUxTMzhQNTM3S1hSM0ExVS4u</a:t>
            </a:r>
            <a:r>
              <a:rPr lang="en-US" sz="1600" dirty="0">
                <a:solidFill>
                  <a:schemeClr val="tx1"/>
                </a:solidFill>
                <a:latin typeface="+mn-lt"/>
                <a:ea typeface="Arial Unicode MS" panose="020B0604020202020204" pitchFamily="34" charset="-128"/>
                <a:cs typeface="Arial Unicode MS" panose="020B0604020202020204" pitchFamily="34" charset="-128"/>
              </a:rPr>
              <a:t> </a:t>
            </a:r>
          </a:p>
        </p:txBody>
      </p:sp>
    </p:spTree>
    <p:extLst>
      <p:ext uri="{BB962C8B-B14F-4D97-AF65-F5344CB8AC3E}">
        <p14:creationId xmlns:p14="http://schemas.microsoft.com/office/powerpoint/2010/main" val="313230986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9336264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err="1"/>
              <a:t>Overview</a:t>
            </a:r>
            <a:endParaRPr lang="de-DE"/>
          </a:p>
        </p:txBody>
      </p:sp>
      <p:graphicFrame>
        <p:nvGraphicFramePr>
          <p:cNvPr id="8" name="Tabelle 8">
            <a:extLst>
              <a:ext uri="{FF2B5EF4-FFF2-40B4-BE49-F238E27FC236}">
                <a16:creationId xmlns:a16="http://schemas.microsoft.com/office/drawing/2014/main" id="{5F58DBC5-4155-48F7-BDFF-6C068F155D8D}"/>
              </a:ext>
            </a:extLst>
          </p:cNvPr>
          <p:cNvGraphicFramePr>
            <a:graphicFrameLocks noGrp="1"/>
          </p:cNvGraphicFramePr>
          <p:nvPr>
            <p:extLst>
              <p:ext uri="{D42A27DB-BD31-4B8C-83A1-F6EECF244321}">
                <p14:modId xmlns:p14="http://schemas.microsoft.com/office/powerpoint/2010/main" val="2018340233"/>
              </p:ext>
            </p:extLst>
          </p:nvPr>
        </p:nvGraphicFramePr>
        <p:xfrm>
          <a:off x="626567" y="1601995"/>
          <a:ext cx="10693188" cy="3114040"/>
        </p:xfrm>
        <a:graphic>
          <a:graphicData uri="http://schemas.openxmlformats.org/drawingml/2006/table">
            <a:tbl>
              <a:tblPr firstRow="1" bandRow="1">
                <a:tableStyleId>{5C22544A-7EE6-4342-B048-85BDC9FD1C3A}</a:tableStyleId>
              </a:tblPr>
              <a:tblGrid>
                <a:gridCol w="1782198">
                  <a:extLst>
                    <a:ext uri="{9D8B030D-6E8A-4147-A177-3AD203B41FA5}">
                      <a16:colId xmlns:a16="http://schemas.microsoft.com/office/drawing/2014/main" val="2087970704"/>
                    </a:ext>
                  </a:extLst>
                </a:gridCol>
                <a:gridCol w="1437070">
                  <a:extLst>
                    <a:ext uri="{9D8B030D-6E8A-4147-A177-3AD203B41FA5}">
                      <a16:colId xmlns:a16="http://schemas.microsoft.com/office/drawing/2014/main" val="1708460055"/>
                    </a:ext>
                  </a:extLst>
                </a:gridCol>
                <a:gridCol w="2127326">
                  <a:extLst>
                    <a:ext uri="{9D8B030D-6E8A-4147-A177-3AD203B41FA5}">
                      <a16:colId xmlns:a16="http://schemas.microsoft.com/office/drawing/2014/main" val="1810983359"/>
                    </a:ext>
                  </a:extLst>
                </a:gridCol>
                <a:gridCol w="1975662">
                  <a:extLst>
                    <a:ext uri="{9D8B030D-6E8A-4147-A177-3AD203B41FA5}">
                      <a16:colId xmlns:a16="http://schemas.microsoft.com/office/drawing/2014/main" val="4033084280"/>
                    </a:ext>
                  </a:extLst>
                </a:gridCol>
                <a:gridCol w="1588734">
                  <a:extLst>
                    <a:ext uri="{9D8B030D-6E8A-4147-A177-3AD203B41FA5}">
                      <a16:colId xmlns:a16="http://schemas.microsoft.com/office/drawing/2014/main" val="4045622136"/>
                    </a:ext>
                  </a:extLst>
                </a:gridCol>
                <a:gridCol w="1782198">
                  <a:extLst>
                    <a:ext uri="{9D8B030D-6E8A-4147-A177-3AD203B41FA5}">
                      <a16:colId xmlns:a16="http://schemas.microsoft.com/office/drawing/2014/main" val="3988611160"/>
                    </a:ext>
                  </a:extLst>
                </a:gridCol>
              </a:tblGrid>
              <a:tr h="370840">
                <a:tc>
                  <a:txBody>
                    <a:bodyPr/>
                    <a:lstStyle/>
                    <a:p>
                      <a:endParaRPr lang="de-DE"/>
                    </a:p>
                  </a:txBody>
                  <a:tcPr/>
                </a:tc>
                <a:tc>
                  <a:txBody>
                    <a:bodyPr/>
                    <a:lstStyle/>
                    <a:p>
                      <a:r>
                        <a:rPr lang="de-DE"/>
                        <a:t>Target </a:t>
                      </a:r>
                      <a:r>
                        <a:rPr lang="de-DE" err="1"/>
                        <a:t>values</a:t>
                      </a:r>
                      <a:endParaRPr lang="de-DE"/>
                    </a:p>
                  </a:txBody>
                  <a:tcPr/>
                </a:tc>
                <a:tc>
                  <a:txBody>
                    <a:bodyPr/>
                    <a:lstStyle/>
                    <a:p>
                      <a:r>
                        <a:rPr lang="de-DE"/>
                        <a:t>Loss </a:t>
                      </a:r>
                      <a:r>
                        <a:rPr lang="de-DE" err="1"/>
                        <a:t>function</a:t>
                      </a:r>
                      <a:endParaRPr lang="de-DE"/>
                    </a:p>
                  </a:txBody>
                  <a:tcPr/>
                </a:tc>
                <a:tc>
                  <a:txBody>
                    <a:bodyPr/>
                    <a:lstStyle/>
                    <a:p>
                      <a:r>
                        <a:rPr lang="de-DE"/>
                        <a:t>Error </a:t>
                      </a:r>
                      <a:r>
                        <a:rPr lang="de-DE" err="1"/>
                        <a:t>metric</a:t>
                      </a:r>
                      <a:endParaRPr lang="de-DE"/>
                    </a:p>
                  </a:txBody>
                  <a:tcPr>
                    <a:lnR w="12700" cap="flat" cmpd="sng" algn="ctr">
                      <a:solidFill>
                        <a:schemeClr val="tx1"/>
                      </a:solidFill>
                      <a:prstDash val="solid"/>
                      <a:round/>
                      <a:headEnd type="none" w="med" len="med"/>
                      <a:tailEnd type="none" w="med" len="med"/>
                    </a:lnR>
                  </a:tcPr>
                </a:tc>
                <a:tc>
                  <a:txBody>
                    <a:bodyPr/>
                    <a:lstStyle/>
                    <a:p>
                      <a:r>
                        <a:rPr lang="de-DE"/>
                        <a:t>Act </a:t>
                      </a:r>
                      <a:r>
                        <a:rPr lang="de-DE" err="1"/>
                        <a:t>function</a:t>
                      </a:r>
                      <a:r>
                        <a:rPr lang="de-DE"/>
                        <a:t> last </a:t>
                      </a:r>
                      <a:r>
                        <a:rPr lang="de-DE" err="1"/>
                        <a:t>layer</a:t>
                      </a:r>
                      <a:endParaRPr lang="de-DE"/>
                    </a:p>
                    <a:p>
                      <a:r>
                        <a:rPr lang="de-DE"/>
                        <a:t>(for NN)</a:t>
                      </a:r>
                    </a:p>
                  </a:txBody>
                  <a:tcPr>
                    <a:lnL w="12700" cap="flat" cmpd="sng" algn="ctr">
                      <a:solidFill>
                        <a:schemeClr val="tx1"/>
                      </a:solidFill>
                      <a:prstDash val="solid"/>
                      <a:round/>
                      <a:headEnd type="none" w="med" len="med"/>
                      <a:tailEnd type="none" w="med" len="med"/>
                    </a:lnL>
                  </a:tcPr>
                </a:tc>
                <a:tc>
                  <a:txBody>
                    <a:bodyPr/>
                    <a:lstStyle/>
                    <a:p>
                      <a:r>
                        <a:rPr lang="de-DE"/>
                        <a:t>Act </a:t>
                      </a:r>
                      <a:r>
                        <a:rPr lang="de-DE" err="1"/>
                        <a:t>func</a:t>
                      </a:r>
                      <a:r>
                        <a:rPr lang="de-DE"/>
                        <a:t> </a:t>
                      </a:r>
                      <a:r>
                        <a:rPr lang="de-DE" err="1"/>
                        <a:t>hidden</a:t>
                      </a:r>
                      <a:r>
                        <a:rPr lang="de-DE"/>
                        <a:t> </a:t>
                      </a:r>
                      <a:r>
                        <a:rPr lang="de-DE" err="1"/>
                        <a:t>layers</a:t>
                      </a:r>
                      <a:endParaRPr lang="de-DE"/>
                    </a:p>
                    <a:p>
                      <a:r>
                        <a:rPr lang="de-DE"/>
                        <a:t>(For NN)</a:t>
                      </a:r>
                    </a:p>
                  </a:txBody>
                  <a:tcPr/>
                </a:tc>
                <a:extLst>
                  <a:ext uri="{0D108BD9-81ED-4DB2-BD59-A6C34878D82A}">
                    <a16:rowId xmlns:a16="http://schemas.microsoft.com/office/drawing/2014/main" val="1837334432"/>
                  </a:ext>
                </a:extLst>
              </a:tr>
              <a:tr h="370840">
                <a:tc>
                  <a:txBody>
                    <a:bodyPr/>
                    <a:lstStyle/>
                    <a:p>
                      <a:r>
                        <a:rPr lang="de-DE"/>
                        <a:t>Regression</a:t>
                      </a:r>
                    </a:p>
                  </a:txBody>
                  <a:tcPr>
                    <a:lnB w="12700" cap="flat" cmpd="sng" algn="ctr">
                      <a:solidFill>
                        <a:schemeClr val="tx1"/>
                      </a:solidFill>
                      <a:prstDash val="solid"/>
                      <a:round/>
                      <a:headEnd type="none" w="med" len="med"/>
                      <a:tailEnd type="none" w="med" len="med"/>
                    </a:lnB>
                  </a:tcPr>
                </a:tc>
                <a:tc>
                  <a:txBody>
                    <a:bodyPr/>
                    <a:lstStyle/>
                    <a:p>
                      <a:r>
                        <a:rPr lang="de-DE" err="1"/>
                        <a:t>Continuous</a:t>
                      </a:r>
                      <a:endParaRPr lang="de-DE"/>
                    </a:p>
                  </a:txBody>
                  <a:tcPr>
                    <a:lnB w="12700" cap="flat" cmpd="sng" algn="ctr">
                      <a:solidFill>
                        <a:schemeClr val="tx1"/>
                      </a:solidFill>
                      <a:prstDash val="solid"/>
                      <a:round/>
                      <a:headEnd type="none" w="med" len="med"/>
                      <a:tailEnd type="none" w="med" len="med"/>
                    </a:lnB>
                  </a:tcPr>
                </a:tc>
                <a:tc>
                  <a:txBody>
                    <a:bodyPr/>
                    <a:lstStyle/>
                    <a:p>
                      <a:r>
                        <a:rPr lang="de-DE"/>
                        <a:t>MSE, R², MAE,…</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MSE, R², MAE,…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de-DE"/>
                        <a:t>Linear/ </a:t>
                      </a:r>
                      <a:r>
                        <a:rPr lang="de-DE" err="1"/>
                        <a:t>ReLu</a:t>
                      </a:r>
                      <a:endParaRPr lang="de-DE"/>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de-DE" err="1"/>
                        <a:t>ReLu</a:t>
                      </a:r>
                      <a:endParaRPr lang="de-DE"/>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49673"/>
                  </a:ext>
                </a:extLst>
              </a:tr>
              <a:tr h="370840">
                <a:tc>
                  <a:txBody>
                    <a:bodyPr/>
                    <a:lstStyle/>
                    <a:p>
                      <a:r>
                        <a:rPr lang="de-DE"/>
                        <a:t>Classification</a:t>
                      </a:r>
                    </a:p>
                  </a:txBody>
                  <a:tcPr>
                    <a:lnT w="12700" cap="flat" cmpd="sng" algn="ctr">
                      <a:solidFill>
                        <a:schemeClr val="tx1"/>
                      </a:solidFill>
                      <a:prstDash val="solid"/>
                      <a:round/>
                      <a:headEnd type="none" w="med" len="med"/>
                      <a:tailEnd type="none" w="med" len="med"/>
                    </a:lnT>
                  </a:tcPr>
                </a:tc>
                <a:tc>
                  <a:txBody>
                    <a:bodyPr/>
                    <a:lstStyle/>
                    <a:p>
                      <a:r>
                        <a:rPr lang="de-DE"/>
                        <a:t>Binary</a:t>
                      </a:r>
                    </a:p>
                  </a:txBody>
                  <a:tcPr>
                    <a:lnT w="12700" cap="flat" cmpd="sng" algn="ctr">
                      <a:solidFill>
                        <a:schemeClr val="tx1"/>
                      </a:solidFill>
                      <a:prstDash val="solid"/>
                      <a:round/>
                      <a:headEnd type="none" w="med" len="med"/>
                      <a:tailEnd type="none" w="med" len="med"/>
                    </a:lnT>
                  </a:tcPr>
                </a:tc>
                <a:tc>
                  <a:txBody>
                    <a:bodyPr/>
                    <a:lstStyle/>
                    <a:p>
                      <a:r>
                        <a:rPr lang="de-DE"/>
                        <a:t>Binary </a:t>
                      </a:r>
                      <a:r>
                        <a:rPr lang="de-DE" err="1"/>
                        <a:t>cross</a:t>
                      </a:r>
                      <a:r>
                        <a:rPr lang="de-DE"/>
                        <a:t> </a:t>
                      </a:r>
                      <a:r>
                        <a:rPr lang="de-DE" err="1"/>
                        <a:t>entropy</a:t>
                      </a:r>
                      <a:endParaRPr lang="de-DE"/>
                    </a:p>
                  </a:txBody>
                  <a:tcPr>
                    <a:lnT w="12700" cap="flat" cmpd="sng" algn="ctr">
                      <a:solidFill>
                        <a:schemeClr val="tx1"/>
                      </a:solidFill>
                      <a:prstDash val="solid"/>
                      <a:round/>
                      <a:headEnd type="none" w="med" len="med"/>
                      <a:tailEnd type="none" w="med" len="med"/>
                    </a:lnT>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de-DE"/>
                        <a:t>Sigmoid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de-DE" err="1"/>
                        <a:t>ReLu</a:t>
                      </a:r>
                      <a:endParaRPr lang="de-DE"/>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53496704"/>
                  </a:ext>
                </a:extLst>
              </a:tr>
              <a:tr h="370840">
                <a:tc>
                  <a:txBody>
                    <a:bodyPr/>
                    <a:lstStyle/>
                    <a:p>
                      <a:endParaRPr lang="de-DE"/>
                    </a:p>
                  </a:txBody>
                  <a:tcPr/>
                </a:tc>
                <a:tc>
                  <a:txBody>
                    <a:bodyPr/>
                    <a:lstStyle/>
                    <a:p>
                      <a:r>
                        <a:rPr lang="de-DE"/>
                        <a:t>multiple </a:t>
                      </a:r>
                      <a:r>
                        <a:rPr lang="de-DE" err="1"/>
                        <a:t>classes</a:t>
                      </a:r>
                      <a:endParaRPr lang="de-DE"/>
                    </a:p>
                  </a:txBody>
                  <a:tcPr/>
                </a:tc>
                <a:tc>
                  <a:txBody>
                    <a:bodyPr/>
                    <a:lstStyle/>
                    <a:p>
                      <a:r>
                        <a:rPr lang="de-DE" err="1"/>
                        <a:t>categorical</a:t>
                      </a:r>
                      <a:r>
                        <a:rPr lang="de-DE"/>
                        <a:t> </a:t>
                      </a:r>
                      <a:r>
                        <a:rPr lang="de-DE" err="1"/>
                        <a:t>cross</a:t>
                      </a:r>
                      <a:r>
                        <a:rPr lang="de-DE"/>
                        <a:t> </a:t>
                      </a:r>
                      <a:r>
                        <a:rPr lang="de-DE" err="1"/>
                        <a:t>entropy</a:t>
                      </a:r>
                      <a:endParaRPr lang="de-DE"/>
                    </a:p>
                  </a:txBody>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tcPr>
                </a:tc>
                <a:tc>
                  <a:txBody>
                    <a:bodyPr/>
                    <a:lstStyle/>
                    <a:p>
                      <a:r>
                        <a:rPr lang="de-DE" err="1"/>
                        <a:t>Softmax</a:t>
                      </a:r>
                      <a:endParaRPr lang="de-DE"/>
                    </a:p>
                  </a:txBody>
                  <a:tcPr>
                    <a:lnL w="12700" cap="flat" cmpd="sng" algn="ctr">
                      <a:solidFill>
                        <a:schemeClr val="tx1"/>
                      </a:solidFill>
                      <a:prstDash val="solid"/>
                      <a:round/>
                      <a:headEnd type="none" w="med" len="med"/>
                      <a:tailEnd type="none" w="med" len="med"/>
                    </a:lnL>
                  </a:tcPr>
                </a:tc>
                <a:tc>
                  <a:txBody>
                    <a:bodyPr/>
                    <a:lstStyle/>
                    <a:p>
                      <a:r>
                        <a:rPr lang="de-DE" err="1"/>
                        <a:t>ReLu</a:t>
                      </a:r>
                      <a:endParaRPr lang="de-DE"/>
                    </a:p>
                  </a:txBody>
                  <a:tcPr/>
                </a:tc>
                <a:extLst>
                  <a:ext uri="{0D108BD9-81ED-4DB2-BD59-A6C34878D82A}">
                    <a16:rowId xmlns:a16="http://schemas.microsoft.com/office/drawing/2014/main" val="4206115666"/>
                  </a:ext>
                </a:extLst>
              </a:tr>
            </a:tbl>
          </a:graphicData>
        </a:graphic>
      </p:graphicFrame>
      <p:graphicFrame>
        <p:nvGraphicFramePr>
          <p:cNvPr id="10" name="Tabelle 10">
            <a:extLst>
              <a:ext uri="{FF2B5EF4-FFF2-40B4-BE49-F238E27FC236}">
                <a16:creationId xmlns:a16="http://schemas.microsoft.com/office/drawing/2014/main" id="{1D6B67EA-476B-4CCB-B75D-E65AB8EDAFD8}"/>
              </a:ext>
            </a:extLst>
          </p:cNvPr>
          <p:cNvGraphicFramePr>
            <a:graphicFrameLocks noGrp="1"/>
          </p:cNvGraphicFramePr>
          <p:nvPr>
            <p:extLst>
              <p:ext uri="{D42A27DB-BD31-4B8C-83A1-F6EECF244321}">
                <p14:modId xmlns:p14="http://schemas.microsoft.com/office/powerpoint/2010/main" val="4129426381"/>
              </p:ext>
            </p:extLst>
          </p:nvPr>
        </p:nvGraphicFramePr>
        <p:xfrm>
          <a:off x="624909" y="4603711"/>
          <a:ext cx="10693188" cy="1752600"/>
        </p:xfrm>
        <a:graphic>
          <a:graphicData uri="http://schemas.openxmlformats.org/drawingml/2006/table">
            <a:tbl>
              <a:tblPr firstRow="1" bandRow="1">
                <a:tableStyleId>{5C22544A-7EE6-4342-B048-85BDC9FD1C3A}</a:tableStyleId>
              </a:tblPr>
              <a:tblGrid>
                <a:gridCol w="1801858">
                  <a:extLst>
                    <a:ext uri="{9D8B030D-6E8A-4147-A177-3AD203B41FA5}">
                      <a16:colId xmlns:a16="http://schemas.microsoft.com/office/drawing/2014/main" val="2422419246"/>
                    </a:ext>
                  </a:extLst>
                </a:gridCol>
                <a:gridCol w="3564396">
                  <a:extLst>
                    <a:ext uri="{9D8B030D-6E8A-4147-A177-3AD203B41FA5}">
                      <a16:colId xmlns:a16="http://schemas.microsoft.com/office/drawing/2014/main" val="2997731740"/>
                    </a:ext>
                  </a:extLst>
                </a:gridCol>
                <a:gridCol w="5326934">
                  <a:extLst>
                    <a:ext uri="{9D8B030D-6E8A-4147-A177-3AD203B41FA5}">
                      <a16:colId xmlns:a16="http://schemas.microsoft.com/office/drawing/2014/main" val="666087568"/>
                    </a:ext>
                  </a:extLst>
                </a:gridCol>
              </a:tblGrid>
              <a:tr h="370840">
                <a:tc>
                  <a:txBody>
                    <a:bodyPr/>
                    <a:lstStyle/>
                    <a:p>
                      <a:endParaRPr lang="de-DE"/>
                    </a:p>
                  </a:txBody>
                  <a:tcPr/>
                </a:tc>
                <a:tc>
                  <a:txBody>
                    <a:bodyPr/>
                    <a:lstStyle/>
                    <a:p>
                      <a:r>
                        <a:rPr lang="de-DE" err="1"/>
                        <a:t>Decision</a:t>
                      </a:r>
                      <a:r>
                        <a:rPr lang="de-DE"/>
                        <a:t> </a:t>
                      </a:r>
                      <a:r>
                        <a:rPr lang="de-DE" err="1"/>
                        <a:t>Trees</a:t>
                      </a:r>
                      <a:endParaRPr lang="de-DE"/>
                    </a:p>
                  </a:txBody>
                  <a:tcPr/>
                </a:tc>
                <a:tc>
                  <a:txBody>
                    <a:bodyPr/>
                    <a:lstStyle/>
                    <a:p>
                      <a:r>
                        <a:rPr lang="de-DE" err="1"/>
                        <a:t>Artificial</a:t>
                      </a:r>
                      <a:r>
                        <a:rPr lang="de-DE"/>
                        <a:t> </a:t>
                      </a:r>
                      <a:r>
                        <a:rPr lang="de-DE" err="1"/>
                        <a:t>Neural</a:t>
                      </a:r>
                      <a:r>
                        <a:rPr lang="de-DE"/>
                        <a:t> Nets</a:t>
                      </a:r>
                    </a:p>
                  </a:txBody>
                  <a:tcPr/>
                </a:tc>
                <a:extLst>
                  <a:ext uri="{0D108BD9-81ED-4DB2-BD59-A6C34878D82A}">
                    <a16:rowId xmlns:a16="http://schemas.microsoft.com/office/drawing/2014/main" val="2726745514"/>
                  </a:ext>
                </a:extLst>
              </a:tr>
              <a:tr h="370840">
                <a:tc>
                  <a:txBody>
                    <a:bodyPr/>
                    <a:lstStyle/>
                    <a:p>
                      <a:r>
                        <a:rPr lang="de-DE" err="1"/>
                        <a:t>Tabular</a:t>
                      </a:r>
                      <a:r>
                        <a:rPr lang="de-DE"/>
                        <a:t> </a:t>
                      </a:r>
                      <a:r>
                        <a:rPr lang="de-DE" err="1"/>
                        <a:t>data</a:t>
                      </a:r>
                      <a:endParaRPr lang="de-DE"/>
                    </a:p>
                  </a:txBody>
                  <a:tcPr/>
                </a:tc>
                <a:tc>
                  <a:txBody>
                    <a:bodyPr/>
                    <a:lstStyle/>
                    <a:p>
                      <a:r>
                        <a:rPr lang="de-DE"/>
                        <a:t>Ensemble </a:t>
                      </a:r>
                      <a:r>
                        <a:rPr lang="de-DE" err="1"/>
                        <a:t>methods</a:t>
                      </a:r>
                      <a:r>
                        <a:rPr lang="de-DE"/>
                        <a:t>: Random Forest, </a:t>
                      </a:r>
                      <a:r>
                        <a:rPr lang="de-DE" err="1"/>
                        <a:t>Boosting</a:t>
                      </a:r>
                      <a:endParaRPr lang="de-DE"/>
                    </a:p>
                  </a:txBody>
                  <a:tcPr/>
                </a:tc>
                <a:tc>
                  <a:txBody>
                    <a:bodyPr/>
                    <a:lstStyle/>
                    <a:p>
                      <a:r>
                        <a:rPr lang="de-DE" err="1"/>
                        <a:t>Starting</a:t>
                      </a:r>
                      <a:r>
                        <a:rPr lang="de-DE"/>
                        <a:t> </a:t>
                      </a:r>
                      <a:r>
                        <a:rPr lang="de-DE" err="1"/>
                        <a:t>from</a:t>
                      </a:r>
                      <a:r>
                        <a:rPr lang="de-DE"/>
                        <a:t> simple </a:t>
                      </a:r>
                      <a:r>
                        <a:rPr lang="de-DE" err="1"/>
                        <a:t>architectures</a:t>
                      </a:r>
                      <a:endParaRPr lang="de-DE"/>
                    </a:p>
                  </a:txBody>
                  <a:tcPr/>
                </a:tc>
                <a:extLst>
                  <a:ext uri="{0D108BD9-81ED-4DB2-BD59-A6C34878D82A}">
                    <a16:rowId xmlns:a16="http://schemas.microsoft.com/office/drawing/2014/main" val="1605544526"/>
                  </a:ext>
                </a:extLst>
              </a:tr>
              <a:tr h="370840">
                <a:tc>
                  <a:txBody>
                    <a:bodyPr/>
                    <a:lstStyle/>
                    <a:p>
                      <a:r>
                        <a:rPr lang="de-DE"/>
                        <a:t>Text</a:t>
                      </a:r>
                    </a:p>
                  </a:txBody>
                  <a:tcPr/>
                </a:tc>
                <a:tc>
                  <a:txBody>
                    <a:bodyPr/>
                    <a:lstStyle/>
                    <a:p>
                      <a:r>
                        <a:rPr lang="de-DE"/>
                        <a:t>-</a:t>
                      </a:r>
                    </a:p>
                  </a:txBody>
                  <a:tcPr/>
                </a:tc>
                <a:tc>
                  <a:txBody>
                    <a:bodyPr/>
                    <a:lstStyle/>
                    <a:p>
                      <a:r>
                        <a:rPr lang="de-DE"/>
                        <a:t>Transformers (</a:t>
                      </a:r>
                      <a:r>
                        <a:rPr lang="de-DE" err="1"/>
                        <a:t>encoding</a:t>
                      </a:r>
                      <a:r>
                        <a:rPr lang="de-DE"/>
                        <a:t>, </a:t>
                      </a:r>
                      <a:r>
                        <a:rPr lang="de-DE" err="1"/>
                        <a:t>decoding</a:t>
                      </a:r>
                      <a:r>
                        <a:rPr lang="de-DE"/>
                        <a:t>, </a:t>
                      </a:r>
                      <a:r>
                        <a:rPr lang="de-DE" err="1"/>
                        <a:t>attention</a:t>
                      </a:r>
                      <a:r>
                        <a:rPr lang="de-DE"/>
                        <a:t>)</a:t>
                      </a:r>
                    </a:p>
                  </a:txBody>
                  <a:tcPr/>
                </a:tc>
                <a:extLst>
                  <a:ext uri="{0D108BD9-81ED-4DB2-BD59-A6C34878D82A}">
                    <a16:rowId xmlns:a16="http://schemas.microsoft.com/office/drawing/2014/main" val="2472260996"/>
                  </a:ext>
                </a:extLst>
              </a:tr>
              <a:tr h="370840">
                <a:tc>
                  <a:txBody>
                    <a:bodyPr/>
                    <a:lstStyle/>
                    <a:p>
                      <a:r>
                        <a:rPr lang="de-DE"/>
                        <a:t>Images</a:t>
                      </a:r>
                    </a:p>
                  </a:txBody>
                  <a:tcPr/>
                </a:tc>
                <a:tc>
                  <a:txBody>
                    <a:bodyPr/>
                    <a:lstStyle/>
                    <a:p>
                      <a:r>
                        <a:rPr lang="de-DE"/>
                        <a:t>-</a:t>
                      </a:r>
                    </a:p>
                  </a:txBody>
                  <a:tcPr/>
                </a:tc>
                <a:tc>
                  <a:txBody>
                    <a:bodyPr/>
                    <a:lstStyle/>
                    <a:p>
                      <a:r>
                        <a:rPr lang="de-DE"/>
                        <a:t>CNNs</a:t>
                      </a:r>
                    </a:p>
                  </a:txBody>
                  <a:tcPr/>
                </a:tc>
                <a:extLst>
                  <a:ext uri="{0D108BD9-81ED-4DB2-BD59-A6C34878D82A}">
                    <a16:rowId xmlns:a16="http://schemas.microsoft.com/office/drawing/2014/main" val="3245338458"/>
                  </a:ext>
                </a:extLst>
              </a:tr>
            </a:tbl>
          </a:graphicData>
        </a:graphic>
      </p:graphicFrame>
    </p:spTree>
    <p:extLst>
      <p:ext uri="{BB962C8B-B14F-4D97-AF65-F5344CB8AC3E}">
        <p14:creationId xmlns:p14="http://schemas.microsoft.com/office/powerpoint/2010/main" val="25717254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2CD42DE-4722-4276-87D2-33A4B1A57398}"/>
              </a:ext>
            </a:extLst>
          </p:cNvPr>
          <p:cNvSpPr>
            <a:spLocks noGrp="1"/>
          </p:cNvSpPr>
          <p:nvPr>
            <p:ph type="title"/>
          </p:nvPr>
        </p:nvSpPr>
        <p:spPr/>
        <p:txBody>
          <a:bodyPr/>
          <a:lstStyle/>
          <a:p>
            <a:r>
              <a:rPr lang="en-US"/>
              <a:t>We Are Using EnergyAI as a Tool to Run Machine Learning Algorithms</a:t>
            </a:r>
          </a:p>
        </p:txBody>
      </p:sp>
      <p:sp>
        <p:nvSpPr>
          <p:cNvPr id="6" name="Inhaltsplatzhalter 5">
            <a:extLst>
              <a:ext uri="{FF2B5EF4-FFF2-40B4-BE49-F238E27FC236}">
                <a16:creationId xmlns:a16="http://schemas.microsoft.com/office/drawing/2014/main" id="{0E8E9817-4963-42BF-BC45-C79C280B393E}"/>
              </a:ext>
            </a:extLst>
          </p:cNvPr>
          <p:cNvSpPr>
            <a:spLocks noGrp="1"/>
          </p:cNvSpPr>
          <p:nvPr>
            <p:ph idx="1"/>
          </p:nvPr>
        </p:nvSpPr>
        <p:spPr>
          <a:xfrm>
            <a:off x="627063" y="1440000"/>
            <a:ext cx="11088736" cy="4752000"/>
          </a:xfrm>
        </p:spPr>
        <p:txBody>
          <a:bodyPr/>
          <a:lstStyle/>
          <a:p>
            <a:pPr marL="285750" indent="-285750">
              <a:buFont typeface="Arial" panose="020B0604020202020204" pitchFamily="34" charset="0"/>
              <a:buChar char="•"/>
            </a:pPr>
            <a:r>
              <a:rPr lang="en-US" sz="1400"/>
              <a:t>Please register on EnergyAI before starting the training:(https://</a:t>
            </a:r>
            <a:r>
              <a:rPr lang="en-US" sz="1400" b="1"/>
              <a:t>energyai.siemens.cloud</a:t>
            </a:r>
            <a:r>
              <a:rPr lang="en-US" sz="1400"/>
              <a:t>/)</a:t>
            </a:r>
          </a:p>
          <a:p>
            <a:pPr marL="285750" indent="-285750">
              <a:buFont typeface="Arial" panose="020B0604020202020204" pitchFamily="34" charset="0"/>
              <a:buChar char="•"/>
            </a:pPr>
            <a:r>
              <a:rPr lang="en-US" sz="1400"/>
              <a:t>Request access to “Analyse” </a:t>
            </a:r>
          </a:p>
          <a:p>
            <a:pPr marL="285750" indent="-285750">
              <a:buFont typeface="Arial" panose="020B0604020202020204" pitchFamily="34" charset="0"/>
              <a:buChar char="•"/>
            </a:pPr>
            <a:r>
              <a:rPr lang="en-US" sz="1400"/>
              <a:t>You will find the files in EnergyAI in the folder shared&gt;users&gt;kay.toepfer@siemens.com&gt;Data Science Workshop.</a:t>
            </a:r>
          </a:p>
          <a:p>
            <a:pPr marL="285750" indent="-285750">
              <a:buFont typeface="Arial" panose="020B0604020202020204" pitchFamily="34" charset="0"/>
              <a:buChar char="•"/>
            </a:pPr>
            <a:r>
              <a:rPr lang="en-US" sz="1400"/>
              <a:t>More details how to get to Kay’s folder in the following slides</a:t>
            </a:r>
          </a:p>
          <a:p>
            <a:endParaRPr lang="en-US"/>
          </a:p>
        </p:txBody>
      </p:sp>
      <p:pic>
        <p:nvPicPr>
          <p:cNvPr id="7" name="Grafik 6">
            <a:extLst>
              <a:ext uri="{FF2B5EF4-FFF2-40B4-BE49-F238E27FC236}">
                <a16:creationId xmlns:a16="http://schemas.microsoft.com/office/drawing/2014/main" id="{F1EFAAE9-A294-4408-A3EE-8B4FCA5D963A}"/>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9586" y="2956550"/>
            <a:ext cx="4317462" cy="3234836"/>
          </a:xfrm>
          <a:prstGeom prst="rect">
            <a:avLst/>
          </a:prstGeom>
        </p:spPr>
      </p:pic>
      <p:sp>
        <p:nvSpPr>
          <p:cNvPr id="11" name="Pfeil: nach links 10">
            <a:extLst>
              <a:ext uri="{FF2B5EF4-FFF2-40B4-BE49-F238E27FC236}">
                <a16:creationId xmlns:a16="http://schemas.microsoft.com/office/drawing/2014/main" id="{DAE4F3B6-136D-43A3-9502-935E00131B11}"/>
              </a:ext>
            </a:extLst>
          </p:cNvPr>
          <p:cNvSpPr/>
          <p:nvPr/>
        </p:nvSpPr>
        <p:spPr bwMode="auto">
          <a:xfrm>
            <a:off x="4722706" y="4517900"/>
            <a:ext cx="2340260" cy="900100"/>
          </a:xfrm>
          <a:prstGeom prst="lef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Request Access</a:t>
            </a:r>
          </a:p>
        </p:txBody>
      </p:sp>
    </p:spTree>
    <p:extLst>
      <p:ext uri="{BB962C8B-B14F-4D97-AF65-F5344CB8AC3E}">
        <p14:creationId xmlns:p14="http://schemas.microsoft.com/office/powerpoint/2010/main" val="110520808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5B0DEEF4-ACE2-48AE-B843-D6A731FE0C3B}"/>
              </a:ext>
            </a:extLst>
          </p:cNvPr>
          <p:cNvPicPr>
            <a:picLocks noChangeAspect="1"/>
          </p:cNvPicPr>
          <p:nvPr/>
        </p:nvPicPr>
        <p:blipFill>
          <a:blip r:embed="rId4"/>
          <a:stretch>
            <a:fillRect/>
          </a:stretch>
        </p:blipFill>
        <p:spPr>
          <a:xfrm>
            <a:off x="643614" y="1412875"/>
            <a:ext cx="9607979" cy="4734102"/>
          </a:xfrm>
          <a:prstGeom prst="rect">
            <a:avLst/>
          </a:prstGeom>
        </p:spPr>
      </p:pic>
      <p:sp>
        <p:nvSpPr>
          <p:cNvPr id="114690" name="cdtRectangle 2 Id114690"/>
          <p:cNvSpPr>
            <a:spLocks noGrp="1" noChangeArrowheads="1"/>
          </p:cNvSpPr>
          <p:nvPr>
            <p:ph type="title"/>
          </p:nvPr>
        </p:nvSpPr>
        <p:spPr/>
        <p:txBody>
          <a:bodyPr/>
          <a:lstStyle/>
          <a:p>
            <a:r>
              <a:rPr lang="en-US">
                <a:latin typeface="Arial" pitchFamily="34" charset="0"/>
              </a:rPr>
              <a:t>Go to Analyse</a:t>
            </a:r>
          </a:p>
        </p:txBody>
      </p:sp>
      <p:sp>
        <p:nvSpPr>
          <p:cNvPr id="2" name="Textfeld 1"/>
          <p:cNvSpPr txBox="1"/>
          <p:nvPr/>
        </p:nvSpPr>
        <p:spPr>
          <a:xfrm>
            <a:off x="4875039" y="1439999"/>
            <a:ext cx="914400" cy="914400"/>
          </a:xfrm>
          <a:prstGeom prst="rect">
            <a:avLst/>
          </a:prstGeom>
          <a:noFill/>
        </p:spPr>
        <p:txBody>
          <a:bodyPr wrap="none" lIns="0" tIns="0" rIns="0" bIns="0" rtlCol="0">
            <a:noAutofit/>
          </a:bodyPr>
          <a:lstStyle/>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sp>
        <p:nvSpPr>
          <p:cNvPr id="8" name="cdtRectangle 3 Id114691"/>
          <p:cNvSpPr>
            <a:spLocks noGrp="1" noChangeArrowheads="1"/>
          </p:cNvSpPr>
          <p:nvPr>
            <p:ph idx="1"/>
          </p:nvPr>
        </p:nvSpPr>
        <p:spPr>
          <a:xfrm>
            <a:off x="592411" y="1376772"/>
            <a:ext cx="10512672" cy="4941328"/>
          </a:xfrm>
        </p:spPr>
        <p:txBody>
          <a:bodyPr/>
          <a:lstStyle/>
          <a:p>
            <a:pPr marL="285750" indent="-285750">
              <a:spcBef>
                <a:spcPts val="0"/>
              </a:spcBef>
              <a:buFont typeface="Arial" panose="020B0604020202020204" pitchFamily="34" charset="0"/>
              <a:buChar char="•"/>
            </a:pPr>
            <a:endParaRPr lang="de-DE" sz="1600">
              <a:ea typeface="Arial Unicode MS" panose="020B0604020202020204" pitchFamily="34" charset="-128"/>
              <a:cs typeface="Arial Unicode MS" panose="020B0604020202020204" pitchFamily="34" charset="-128"/>
              <a:sym typeface="Wingdings" panose="05000000000000000000" pitchFamily="2" charset="2"/>
            </a:endParaRPr>
          </a:p>
          <a:p>
            <a:pPr marL="285750" indent="-285750">
              <a:spcBef>
                <a:spcPts val="0"/>
              </a:spcBef>
              <a:buFont typeface="Arial" panose="020B0604020202020204" pitchFamily="34" charset="0"/>
              <a:buChar char="•"/>
            </a:pPr>
            <a:endParaRPr lang="de-DE" sz="1600">
              <a:ea typeface="Arial Unicode MS" panose="020B0604020202020204" pitchFamily="34" charset="-128"/>
              <a:cs typeface="Arial Unicode MS" panose="020B0604020202020204" pitchFamily="34" charset="-128"/>
            </a:endParaRPr>
          </a:p>
          <a:p>
            <a:pPr marL="285750" indent="-285750">
              <a:spcBef>
                <a:spcPts val="0"/>
              </a:spcBef>
              <a:buFont typeface="Arial" panose="020B0604020202020204" pitchFamily="34" charset="0"/>
              <a:buChar char="•"/>
            </a:pPr>
            <a:endParaRPr lang="de-DE" sz="1600">
              <a:ea typeface="Arial Unicode MS" panose="020B0604020202020204" pitchFamily="34" charset="-128"/>
              <a:cs typeface="Arial Unicode MS" panose="020B0604020202020204" pitchFamily="34" charset="-128"/>
            </a:endParaRPr>
          </a:p>
          <a:p>
            <a:pPr marL="285750" indent="-285750">
              <a:spcBef>
                <a:spcPts val="0"/>
              </a:spcBef>
              <a:buFont typeface="Arial" panose="020B0604020202020204" pitchFamily="34" charset="0"/>
              <a:buChar char="•"/>
            </a:pPr>
            <a:endParaRPr lang="de-DE" sz="1600">
              <a:ea typeface="Arial Unicode MS" panose="020B0604020202020204" pitchFamily="34" charset="-128"/>
              <a:cs typeface="Arial Unicode MS" panose="020B0604020202020204" pitchFamily="34" charset="-128"/>
            </a:endParaRPr>
          </a:p>
          <a:p>
            <a:pPr marL="285750" indent="-285750">
              <a:spcBef>
                <a:spcPts val="0"/>
              </a:spcBef>
              <a:buFont typeface="Arial" panose="020B0604020202020204" pitchFamily="34" charset="0"/>
              <a:buChar char="•"/>
            </a:pPr>
            <a:endParaRPr lang="en-US" sz="1600">
              <a:ea typeface="Arial Unicode MS" panose="020B0604020202020204" pitchFamily="34" charset="-128"/>
              <a:cs typeface="Arial Unicode MS" panose="020B0604020202020204" pitchFamily="34" charset="-128"/>
            </a:endParaRPr>
          </a:p>
        </p:txBody>
      </p:sp>
      <p:sp>
        <p:nvSpPr>
          <p:cNvPr id="3" name="Pfeil: nach rechts 2">
            <a:extLst>
              <a:ext uri="{FF2B5EF4-FFF2-40B4-BE49-F238E27FC236}">
                <a16:creationId xmlns:a16="http://schemas.microsoft.com/office/drawing/2014/main" id="{17F6723F-3710-44EB-91F3-E307CA3F29C3}"/>
              </a:ext>
            </a:extLst>
          </p:cNvPr>
          <p:cNvSpPr/>
          <p:nvPr/>
        </p:nvSpPr>
        <p:spPr bwMode="auto">
          <a:xfrm rot="8049205">
            <a:off x="2528937" y="2243653"/>
            <a:ext cx="1512168" cy="575370"/>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custDataLst>
      <p:tags r:id="rId1"/>
    </p:custDataLst>
    <p:extLst>
      <p:ext uri="{BB962C8B-B14F-4D97-AF65-F5344CB8AC3E}">
        <p14:creationId xmlns:p14="http://schemas.microsoft.com/office/powerpoint/2010/main" val="48962405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C8986122-3C58-4014-8611-B12CC1DFBCAC}"/>
              </a:ext>
            </a:extLst>
          </p:cNvPr>
          <p:cNvSpPr>
            <a:spLocks noGrp="1"/>
          </p:cNvSpPr>
          <p:nvPr>
            <p:ph type="title"/>
          </p:nvPr>
        </p:nvSpPr>
        <p:spPr/>
        <p:txBody>
          <a:bodyPr/>
          <a:lstStyle/>
          <a:p>
            <a:r>
              <a:rPr lang="en-US"/>
              <a:t>Click on Shared</a:t>
            </a:r>
          </a:p>
        </p:txBody>
      </p:sp>
      <p:pic>
        <p:nvPicPr>
          <p:cNvPr id="5" name="Grafik 4">
            <a:extLst>
              <a:ext uri="{FF2B5EF4-FFF2-40B4-BE49-F238E27FC236}">
                <a16:creationId xmlns:a16="http://schemas.microsoft.com/office/drawing/2014/main" id="{1A007582-A232-4854-96E4-27E32E53252F}"/>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43537" y="1424769"/>
            <a:ext cx="10259856" cy="4769041"/>
          </a:xfrm>
          <a:prstGeom prst="rect">
            <a:avLst/>
          </a:prstGeom>
        </p:spPr>
      </p:pic>
      <p:sp>
        <p:nvSpPr>
          <p:cNvPr id="7" name="Rechteck 6">
            <a:extLst>
              <a:ext uri="{FF2B5EF4-FFF2-40B4-BE49-F238E27FC236}">
                <a16:creationId xmlns:a16="http://schemas.microsoft.com/office/drawing/2014/main" id="{05FED367-D93A-49FF-A269-CAD13DB473DE}"/>
              </a:ext>
            </a:extLst>
          </p:cNvPr>
          <p:cNvSpPr/>
          <p:nvPr/>
        </p:nvSpPr>
        <p:spPr bwMode="auto">
          <a:xfrm>
            <a:off x="878595" y="2816932"/>
            <a:ext cx="2196244" cy="79208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 name="Rechteck 7">
            <a:extLst>
              <a:ext uri="{FF2B5EF4-FFF2-40B4-BE49-F238E27FC236}">
                <a16:creationId xmlns:a16="http://schemas.microsoft.com/office/drawing/2014/main" id="{2465E7BD-CFD2-4404-B80E-8178F2471E00}"/>
              </a:ext>
            </a:extLst>
          </p:cNvPr>
          <p:cNvSpPr/>
          <p:nvPr/>
        </p:nvSpPr>
        <p:spPr bwMode="auto">
          <a:xfrm>
            <a:off x="878595" y="2096852"/>
            <a:ext cx="2196244" cy="43204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9" name="Pfeil: nach rechts 8">
            <a:extLst>
              <a:ext uri="{FF2B5EF4-FFF2-40B4-BE49-F238E27FC236}">
                <a16:creationId xmlns:a16="http://schemas.microsoft.com/office/drawing/2014/main" id="{88D6C1D7-88F5-4CDB-AE36-76009906A24C}"/>
              </a:ext>
            </a:extLst>
          </p:cNvPr>
          <p:cNvSpPr/>
          <p:nvPr/>
        </p:nvSpPr>
        <p:spPr bwMode="auto">
          <a:xfrm rot="10800000">
            <a:off x="1452242" y="2564903"/>
            <a:ext cx="1512168" cy="432048"/>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56056003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E6CF88-77B7-433D-96C6-5043907FD570}"/>
              </a:ext>
            </a:extLst>
          </p:cNvPr>
          <p:cNvSpPr>
            <a:spLocks noGrp="1"/>
          </p:cNvSpPr>
          <p:nvPr>
            <p:ph type="title"/>
          </p:nvPr>
        </p:nvSpPr>
        <p:spPr/>
        <p:txBody>
          <a:bodyPr/>
          <a:lstStyle/>
          <a:p>
            <a:r>
              <a:rPr lang="en-US"/>
              <a:t>Click on Users</a:t>
            </a:r>
          </a:p>
        </p:txBody>
      </p:sp>
      <p:pic>
        <p:nvPicPr>
          <p:cNvPr id="3" name="Grafik 2">
            <a:extLst>
              <a:ext uri="{FF2B5EF4-FFF2-40B4-BE49-F238E27FC236}">
                <a16:creationId xmlns:a16="http://schemas.microsoft.com/office/drawing/2014/main" id="{D376FBA2-E7B2-48F9-8BD4-D43DD64B0EA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7064" y="1412875"/>
            <a:ext cx="8424440" cy="4800788"/>
          </a:xfrm>
          <a:prstGeom prst="rect">
            <a:avLst/>
          </a:prstGeom>
        </p:spPr>
      </p:pic>
      <p:sp>
        <p:nvSpPr>
          <p:cNvPr id="4" name="Pfeil: nach rechts 3">
            <a:extLst>
              <a:ext uri="{FF2B5EF4-FFF2-40B4-BE49-F238E27FC236}">
                <a16:creationId xmlns:a16="http://schemas.microsoft.com/office/drawing/2014/main" id="{F2780CFE-59F1-4483-9DA6-91F5AEB30A1E}"/>
              </a:ext>
            </a:extLst>
          </p:cNvPr>
          <p:cNvSpPr/>
          <p:nvPr/>
        </p:nvSpPr>
        <p:spPr bwMode="auto">
          <a:xfrm rot="10800000">
            <a:off x="1238635" y="2060848"/>
            <a:ext cx="1512168" cy="432048"/>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76261870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C5BD80-0FB3-4E42-9C5B-B2161037B469}"/>
              </a:ext>
            </a:extLst>
          </p:cNvPr>
          <p:cNvSpPr>
            <a:spLocks noGrp="1"/>
          </p:cNvSpPr>
          <p:nvPr>
            <p:ph type="title"/>
          </p:nvPr>
        </p:nvSpPr>
        <p:spPr/>
        <p:txBody>
          <a:bodyPr/>
          <a:lstStyle/>
          <a:p>
            <a:r>
              <a:rPr lang="en-US"/>
              <a:t>Search for kay.toepfer@siemens.com</a:t>
            </a:r>
          </a:p>
        </p:txBody>
      </p:sp>
      <p:pic>
        <p:nvPicPr>
          <p:cNvPr id="3" name="Grafik 2">
            <a:extLst>
              <a:ext uri="{FF2B5EF4-FFF2-40B4-BE49-F238E27FC236}">
                <a16:creationId xmlns:a16="http://schemas.microsoft.com/office/drawing/2014/main" id="{AC851AD8-E07F-4A23-94EC-27CAD540AFF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27063" y="1443038"/>
            <a:ext cx="8721877" cy="4716375"/>
          </a:xfrm>
          <a:prstGeom prst="rect">
            <a:avLst/>
          </a:prstGeom>
        </p:spPr>
      </p:pic>
      <p:sp>
        <p:nvSpPr>
          <p:cNvPr id="4" name="Pfeil: nach rechts 3">
            <a:extLst>
              <a:ext uri="{FF2B5EF4-FFF2-40B4-BE49-F238E27FC236}">
                <a16:creationId xmlns:a16="http://schemas.microsoft.com/office/drawing/2014/main" id="{BAB904CD-BFBC-4AEA-85A9-DCE7BB523564}"/>
              </a:ext>
            </a:extLst>
          </p:cNvPr>
          <p:cNvSpPr/>
          <p:nvPr/>
        </p:nvSpPr>
        <p:spPr bwMode="auto">
          <a:xfrm rot="10800000">
            <a:off x="2093326" y="4221088"/>
            <a:ext cx="1512168" cy="432048"/>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3007797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pic>
        <p:nvPicPr>
          <p:cNvPr id="5" name="Grafik 4">
            <a:extLst>
              <a:ext uri="{FF2B5EF4-FFF2-40B4-BE49-F238E27FC236}">
                <a16:creationId xmlns:a16="http://schemas.microsoft.com/office/drawing/2014/main" id="{B1680E23-E997-4C68-9244-5B6884BF9BEE}"/>
              </a:ext>
            </a:extLst>
          </p:cNvPr>
          <p:cNvPicPr>
            <a:picLocks noChangeAspect="1"/>
          </p:cNvPicPr>
          <p:nvPr/>
        </p:nvPicPr>
        <p:blipFill>
          <a:blip r:embed="rId2"/>
          <a:stretch>
            <a:fillRect/>
          </a:stretch>
        </p:blipFill>
        <p:spPr>
          <a:xfrm>
            <a:off x="627062" y="1443038"/>
            <a:ext cx="8208963" cy="4722812"/>
          </a:xfrm>
          <a:prstGeom prst="rect">
            <a:avLst/>
          </a:prstGeom>
        </p:spPr>
      </p:pic>
      <p:sp>
        <p:nvSpPr>
          <p:cNvPr id="2" name="Titel 1">
            <a:extLst>
              <a:ext uri="{FF2B5EF4-FFF2-40B4-BE49-F238E27FC236}">
                <a16:creationId xmlns:a16="http://schemas.microsoft.com/office/drawing/2014/main" id="{C1C5BD80-0FB3-4E42-9C5B-B2161037B469}"/>
              </a:ext>
            </a:extLst>
          </p:cNvPr>
          <p:cNvSpPr>
            <a:spLocks noGrp="1"/>
          </p:cNvSpPr>
          <p:nvPr>
            <p:ph type="title"/>
          </p:nvPr>
        </p:nvSpPr>
        <p:spPr/>
        <p:txBody>
          <a:bodyPr/>
          <a:lstStyle/>
          <a:p>
            <a:r>
              <a:rPr lang="en-US"/>
              <a:t>Click on Machine Learning Workshop</a:t>
            </a:r>
          </a:p>
        </p:txBody>
      </p:sp>
      <p:sp>
        <p:nvSpPr>
          <p:cNvPr id="4" name="Pfeil: nach rechts 3">
            <a:extLst>
              <a:ext uri="{FF2B5EF4-FFF2-40B4-BE49-F238E27FC236}">
                <a16:creationId xmlns:a16="http://schemas.microsoft.com/office/drawing/2014/main" id="{BAB904CD-BFBC-4AEA-85A9-DCE7BB523564}"/>
              </a:ext>
            </a:extLst>
          </p:cNvPr>
          <p:cNvSpPr/>
          <p:nvPr/>
        </p:nvSpPr>
        <p:spPr bwMode="auto">
          <a:xfrm rot="10800000">
            <a:off x="2318755" y="2636912"/>
            <a:ext cx="1512168" cy="432048"/>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28803287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C5BD80-0FB3-4E42-9C5B-B2161037B469}"/>
              </a:ext>
            </a:extLst>
          </p:cNvPr>
          <p:cNvSpPr>
            <a:spLocks noGrp="1"/>
          </p:cNvSpPr>
          <p:nvPr>
            <p:ph type="title"/>
          </p:nvPr>
        </p:nvSpPr>
        <p:spPr/>
        <p:txBody>
          <a:bodyPr/>
          <a:lstStyle/>
          <a:p>
            <a:r>
              <a:rPr lang="en-US"/>
              <a:t>Copy All Files in Your Own Folder</a:t>
            </a:r>
          </a:p>
        </p:txBody>
      </p:sp>
      <p:pic>
        <p:nvPicPr>
          <p:cNvPr id="3" name="Grafik 2">
            <a:extLst>
              <a:ext uri="{FF2B5EF4-FFF2-40B4-BE49-F238E27FC236}">
                <a16:creationId xmlns:a16="http://schemas.microsoft.com/office/drawing/2014/main" id="{03910E8D-252D-481B-AB83-629BE6DF1DCC}"/>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41138" y="1412875"/>
            <a:ext cx="3369805" cy="2794190"/>
          </a:xfrm>
          <a:prstGeom prst="rect">
            <a:avLst/>
          </a:prstGeom>
        </p:spPr>
      </p:pic>
      <p:pic>
        <p:nvPicPr>
          <p:cNvPr id="5" name="Grafik 4">
            <a:extLst>
              <a:ext uri="{FF2B5EF4-FFF2-40B4-BE49-F238E27FC236}">
                <a16:creationId xmlns:a16="http://schemas.microsoft.com/office/drawing/2014/main" id="{0C87BCB1-33E5-431E-A322-14CA635B4D6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199075" y="1556792"/>
            <a:ext cx="2484276" cy="3492388"/>
          </a:xfrm>
          <a:prstGeom prst="rect">
            <a:avLst/>
          </a:prstGeom>
        </p:spPr>
      </p:pic>
      <p:sp>
        <p:nvSpPr>
          <p:cNvPr id="6" name="Pfeil: nach rechts 5">
            <a:extLst>
              <a:ext uri="{FF2B5EF4-FFF2-40B4-BE49-F238E27FC236}">
                <a16:creationId xmlns:a16="http://schemas.microsoft.com/office/drawing/2014/main" id="{5C7C92EE-50AB-46A4-AB52-2C86D02A3D84}"/>
              </a:ext>
            </a:extLst>
          </p:cNvPr>
          <p:cNvSpPr/>
          <p:nvPr/>
        </p:nvSpPr>
        <p:spPr bwMode="auto">
          <a:xfrm rot="196364">
            <a:off x="4795918" y="2806181"/>
            <a:ext cx="1609074" cy="1324405"/>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1. Right Click on Files -&gt; Copy</a:t>
            </a:r>
          </a:p>
        </p:txBody>
      </p:sp>
      <p:pic>
        <p:nvPicPr>
          <p:cNvPr id="8" name="Grafik 7">
            <a:extLst>
              <a:ext uri="{FF2B5EF4-FFF2-40B4-BE49-F238E27FC236}">
                <a16:creationId xmlns:a16="http://schemas.microsoft.com/office/drawing/2014/main" id="{1B08FB6A-7E2B-429E-859F-F1C04BB69AC3}"/>
              </a:ext>
            </a:extLst>
          </p:cNvPr>
          <p:cNvPicPr>
            <a:picLocks noChangeAspect="1"/>
          </p:cNvPicPr>
          <p:nvPr/>
        </p:nvPicPr>
        <p:blipFill>
          <a:blip r:embed="rId4"/>
          <a:stretch>
            <a:fillRect/>
          </a:stretch>
        </p:blipFill>
        <p:spPr>
          <a:xfrm>
            <a:off x="8123001" y="1622562"/>
            <a:ext cx="3434211" cy="3298812"/>
          </a:xfrm>
          <a:prstGeom prst="rect">
            <a:avLst/>
          </a:prstGeom>
        </p:spPr>
      </p:pic>
      <p:sp>
        <p:nvSpPr>
          <p:cNvPr id="10" name="Pfeil: nach rechts 9">
            <a:extLst>
              <a:ext uri="{FF2B5EF4-FFF2-40B4-BE49-F238E27FC236}">
                <a16:creationId xmlns:a16="http://schemas.microsoft.com/office/drawing/2014/main" id="{7D2362E0-8B49-4A4E-A764-A4228DD14E88}"/>
              </a:ext>
            </a:extLst>
          </p:cNvPr>
          <p:cNvSpPr/>
          <p:nvPr/>
        </p:nvSpPr>
        <p:spPr bwMode="auto">
          <a:xfrm rot="196364">
            <a:off x="6711731" y="1097585"/>
            <a:ext cx="1609074" cy="1324405"/>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2. Left Click on your folder</a:t>
            </a:r>
          </a:p>
        </p:txBody>
      </p:sp>
      <p:sp>
        <p:nvSpPr>
          <p:cNvPr id="11" name="Pfeil: nach rechts 10">
            <a:extLst>
              <a:ext uri="{FF2B5EF4-FFF2-40B4-BE49-F238E27FC236}">
                <a16:creationId xmlns:a16="http://schemas.microsoft.com/office/drawing/2014/main" id="{E456EBFA-105A-4535-A958-3A60F86B5E30}"/>
              </a:ext>
            </a:extLst>
          </p:cNvPr>
          <p:cNvSpPr/>
          <p:nvPr/>
        </p:nvSpPr>
        <p:spPr bwMode="auto">
          <a:xfrm rot="196364">
            <a:off x="7726139" y="2985756"/>
            <a:ext cx="1609074" cy="1324405"/>
          </a:xfrm>
          <a:prstGeom prst="rightArrow">
            <a:avLst/>
          </a:prstGeom>
          <a:solidFill>
            <a:schemeClr val="accent3"/>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400">
                <a:solidFill>
                  <a:schemeClr val="tx1"/>
                </a:solidFill>
                <a:latin typeface="+mn-lt"/>
                <a:ea typeface="Arial Unicode MS" panose="020B0604020202020204" pitchFamily="34" charset="-128"/>
                <a:cs typeface="Arial Unicode MS" panose="020B0604020202020204" pitchFamily="34" charset="-128"/>
              </a:rPr>
              <a:t>3. Right Click -&gt; Paste</a:t>
            </a:r>
          </a:p>
        </p:txBody>
      </p:sp>
    </p:spTree>
    <p:extLst>
      <p:ext uri="{BB962C8B-B14F-4D97-AF65-F5344CB8AC3E}">
        <p14:creationId xmlns:p14="http://schemas.microsoft.com/office/powerpoint/2010/main" val="11720024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A668A4-B447-449D-A470-58FDFEA35C2E}"/>
              </a:ext>
            </a:extLst>
          </p:cNvPr>
          <p:cNvSpPr>
            <a:spLocks noGrp="1"/>
          </p:cNvSpPr>
          <p:nvPr>
            <p:ph type="title"/>
          </p:nvPr>
        </p:nvSpPr>
        <p:spPr/>
        <p:txBody>
          <a:bodyPr/>
          <a:lstStyle/>
          <a:p>
            <a:r>
              <a:rPr lang="en-US"/>
              <a:t>Matthias Groh, Your Instructor</a:t>
            </a:r>
          </a:p>
        </p:txBody>
      </p:sp>
      <p:sp>
        <p:nvSpPr>
          <p:cNvPr id="3" name="Inhaltsplatzhalter 2">
            <a:extLst>
              <a:ext uri="{FF2B5EF4-FFF2-40B4-BE49-F238E27FC236}">
                <a16:creationId xmlns:a16="http://schemas.microsoft.com/office/drawing/2014/main" id="{EE087F08-43EF-4FDE-85CD-50AA49F3E281}"/>
              </a:ext>
            </a:extLst>
          </p:cNvPr>
          <p:cNvSpPr>
            <a:spLocks noGrp="1"/>
          </p:cNvSpPr>
          <p:nvPr>
            <p:ph sz="half" idx="1"/>
          </p:nvPr>
        </p:nvSpPr>
        <p:spPr>
          <a:xfrm>
            <a:off x="627063" y="1451928"/>
            <a:ext cx="7740364" cy="4752000"/>
          </a:xfrm>
        </p:spPr>
        <p:txBody>
          <a:bodyPr/>
          <a:lstStyle/>
          <a:p>
            <a:pPr marL="285750" indent="-285750">
              <a:spcBef>
                <a:spcPts val="0"/>
              </a:spcBef>
              <a:spcAft>
                <a:spcPts val="600"/>
              </a:spcAft>
              <a:buFont typeface="Arial" panose="020B0604020202020204" pitchFamily="34" charset="0"/>
              <a:buChar char="•"/>
            </a:pPr>
            <a:r>
              <a:rPr lang="en-US" sz="1400" dirty="0"/>
              <a:t>Department “Improvement Projects” of SE Generation Quality </a:t>
            </a:r>
          </a:p>
          <a:p>
            <a:pPr marL="285750" indent="-285750">
              <a:spcBef>
                <a:spcPts val="0"/>
              </a:spcBef>
              <a:spcAft>
                <a:spcPts val="600"/>
              </a:spcAft>
              <a:buFont typeface="Arial" panose="020B0604020202020204" pitchFamily="34" charset="0"/>
              <a:buChar char="•"/>
            </a:pPr>
            <a:r>
              <a:rPr lang="en-US" sz="1400" dirty="0"/>
              <a:t>Data Science consultant </a:t>
            </a:r>
          </a:p>
          <a:p>
            <a:pPr marL="285750" indent="-285750">
              <a:spcBef>
                <a:spcPts val="0"/>
              </a:spcBef>
              <a:spcAft>
                <a:spcPts val="600"/>
              </a:spcAft>
              <a:buFont typeface="Arial" panose="020B0604020202020204" pitchFamily="34" charset="0"/>
              <a:buChar char="•"/>
            </a:pPr>
            <a:r>
              <a:rPr lang="en-US" sz="1400" dirty="0"/>
              <a:t>Six Sigma Master Black Belt</a:t>
            </a:r>
          </a:p>
          <a:p>
            <a:pPr>
              <a:spcBef>
                <a:spcPts val="0"/>
              </a:spcBef>
              <a:spcAft>
                <a:spcPts val="600"/>
              </a:spcAft>
            </a:pPr>
            <a:r>
              <a:rPr lang="en-US" sz="1400" b="1" dirty="0"/>
              <a:t>Previous engagements:</a:t>
            </a:r>
          </a:p>
          <a:p>
            <a:pPr marL="285750" indent="-285750">
              <a:spcBef>
                <a:spcPts val="0"/>
              </a:spcBef>
              <a:spcAft>
                <a:spcPts val="600"/>
              </a:spcAft>
              <a:buFont typeface="Arial" panose="020B0604020202020204" pitchFamily="34" charset="0"/>
              <a:buChar char="•"/>
            </a:pPr>
            <a:r>
              <a:rPr lang="en-US" sz="1400" dirty="0"/>
              <a:t>Senior Lean Expert focusing on administration processes </a:t>
            </a:r>
            <a:br>
              <a:rPr lang="en-US" sz="1400" dirty="0"/>
            </a:br>
            <a:r>
              <a:rPr lang="en-US" sz="1400" dirty="0"/>
              <a:t>@ Siemens Energy Fossil Products, Berlin, Germany</a:t>
            </a:r>
          </a:p>
          <a:p>
            <a:pPr marL="285750" indent="-285750">
              <a:spcBef>
                <a:spcPts val="0"/>
              </a:spcBef>
              <a:spcAft>
                <a:spcPts val="600"/>
              </a:spcAft>
              <a:buFont typeface="Arial" panose="020B0604020202020204" pitchFamily="34" charset="0"/>
              <a:buChar char="•"/>
            </a:pPr>
            <a:r>
              <a:rPr lang="en-US" sz="1400" dirty="0"/>
              <a:t>Director Six Sigma @ IIL, New York, NY</a:t>
            </a:r>
          </a:p>
          <a:p>
            <a:pPr marL="285750" indent="-285750">
              <a:spcBef>
                <a:spcPts val="0"/>
              </a:spcBef>
              <a:spcAft>
                <a:spcPts val="600"/>
              </a:spcAft>
              <a:buFont typeface="Arial" panose="020B0604020202020204" pitchFamily="34" charset="0"/>
              <a:buChar char="•"/>
            </a:pPr>
            <a:r>
              <a:rPr lang="en-US" sz="1400" dirty="0"/>
              <a:t>Six Sigma Black Belt @ Deutsche Bahn, Frankfurt, Germany</a:t>
            </a:r>
          </a:p>
          <a:p>
            <a:pPr marL="285750" indent="-285750">
              <a:spcBef>
                <a:spcPts val="0"/>
              </a:spcBef>
              <a:spcAft>
                <a:spcPts val="600"/>
              </a:spcAft>
              <a:buFont typeface="Arial" panose="020B0604020202020204" pitchFamily="34" charset="0"/>
              <a:buChar char="•"/>
            </a:pPr>
            <a:endParaRPr lang="en-US" sz="1400" dirty="0"/>
          </a:p>
          <a:p>
            <a:pPr>
              <a:spcBef>
                <a:spcPts val="0"/>
              </a:spcBef>
              <a:spcAft>
                <a:spcPts val="600"/>
              </a:spcAft>
            </a:pPr>
            <a:r>
              <a:rPr lang="en-US" sz="1400" b="1" dirty="0"/>
              <a:t>Professional degrees in:</a:t>
            </a:r>
          </a:p>
          <a:p>
            <a:pPr marL="285750" indent="-285750">
              <a:spcBef>
                <a:spcPts val="0"/>
              </a:spcBef>
              <a:spcAft>
                <a:spcPts val="600"/>
              </a:spcAft>
              <a:buFont typeface="Arial" panose="020B0604020202020204" pitchFamily="34" charset="0"/>
              <a:buChar char="•"/>
            </a:pPr>
            <a:r>
              <a:rPr lang="en-US" sz="1400" dirty="0"/>
              <a:t>Precision Mechanics</a:t>
            </a:r>
          </a:p>
          <a:p>
            <a:pPr marL="285750" indent="-285750">
              <a:spcBef>
                <a:spcPts val="0"/>
              </a:spcBef>
              <a:spcAft>
                <a:spcPts val="600"/>
              </a:spcAft>
              <a:buFont typeface="Arial" panose="020B0604020202020204" pitchFamily="34" charset="0"/>
              <a:buChar char="•"/>
            </a:pPr>
            <a:r>
              <a:rPr lang="en-US" sz="1400" dirty="0"/>
              <a:t>Mathematics</a:t>
            </a:r>
          </a:p>
          <a:p>
            <a:pPr marL="285750" indent="-285750">
              <a:spcBef>
                <a:spcPts val="0"/>
              </a:spcBef>
              <a:spcAft>
                <a:spcPts val="600"/>
              </a:spcAft>
              <a:buFont typeface="Arial" panose="020B0604020202020204" pitchFamily="34" charset="0"/>
              <a:buChar char="•"/>
            </a:pPr>
            <a:r>
              <a:rPr lang="en-US" sz="1400" dirty="0"/>
              <a:t>Psychology</a:t>
            </a:r>
          </a:p>
          <a:p>
            <a:endParaRPr lang="en-US" sz="1400" dirty="0"/>
          </a:p>
          <a:p>
            <a:endParaRPr lang="en-US" sz="1400" dirty="0"/>
          </a:p>
          <a:p>
            <a:r>
              <a:rPr lang="en-US" sz="1400" dirty="0"/>
              <a:t>If you need help, please contact our support mail box: </a:t>
            </a:r>
            <a:r>
              <a:rPr lang="en-US" sz="1400" u="sng" dirty="0">
                <a:hlinkClick r:id="rId2"/>
              </a:rPr>
              <a:t>dataScienceSupport.energy@siemens.com</a:t>
            </a:r>
            <a:endParaRPr lang="en-US" sz="1400" dirty="0"/>
          </a:p>
          <a:p>
            <a:r>
              <a:rPr lang="en-US" sz="1400" dirty="0"/>
              <a:t>To contact me personally, email me at </a:t>
            </a:r>
            <a:r>
              <a:rPr lang="en-US" sz="1400" dirty="0">
                <a:hlinkClick r:id="rId3"/>
              </a:rPr>
              <a:t>groh.matthias@siemens-energy.com</a:t>
            </a:r>
            <a:r>
              <a:rPr lang="en-US" sz="1400" dirty="0"/>
              <a:t> </a:t>
            </a:r>
          </a:p>
        </p:txBody>
      </p:sp>
      <p:pic>
        <p:nvPicPr>
          <p:cNvPr id="7" name="Bildplatzhalter 6">
            <a:extLst>
              <a:ext uri="{FF2B5EF4-FFF2-40B4-BE49-F238E27FC236}">
                <a16:creationId xmlns:a16="http://schemas.microsoft.com/office/drawing/2014/main" id="{144F3A7C-60A7-4A38-B547-F4F898292BF5}"/>
              </a:ext>
            </a:extLst>
          </p:cNvPr>
          <p:cNvPicPr>
            <a:picLocks noGrp="1" noChangeAspect="1"/>
          </p:cNvPicPr>
          <p:nvPr>
            <p:ph type="pic" sz="quarter" idx="10"/>
          </p:nvPr>
        </p:nvPicPr>
        <p:blipFill rotWithShape="1">
          <a:blip r:embed="rId4" cstate="screen">
            <a:extLst>
              <a:ext uri="{28A0092B-C50C-407E-A947-70E740481C1C}">
                <a14:useLocalDpi xmlns:a14="http://schemas.microsoft.com/office/drawing/2010/main"/>
              </a:ext>
            </a:extLst>
          </a:blip>
          <a:srcRect/>
          <a:stretch/>
        </p:blipFill>
        <p:spPr>
          <a:xfrm>
            <a:off x="8615165" y="1439999"/>
            <a:ext cx="3102014" cy="4041230"/>
          </a:xfrm>
          <a:ln>
            <a:solidFill>
              <a:schemeClr val="tx1"/>
            </a:solidFill>
          </a:ln>
        </p:spPr>
      </p:pic>
      <p:sp>
        <p:nvSpPr>
          <p:cNvPr id="6" name="Textfeld 5">
            <a:extLst>
              <a:ext uri="{FF2B5EF4-FFF2-40B4-BE49-F238E27FC236}">
                <a16:creationId xmlns:a16="http://schemas.microsoft.com/office/drawing/2014/main" id="{EFFC09AA-1E02-4FDE-A38E-BBEE71F843CE}"/>
              </a:ext>
            </a:extLst>
          </p:cNvPr>
          <p:cNvSpPr txBox="1"/>
          <p:nvPr/>
        </p:nvSpPr>
        <p:spPr>
          <a:xfrm>
            <a:off x="3650903" y="4149080"/>
            <a:ext cx="6321828" cy="1600438"/>
          </a:xfrm>
          <a:prstGeom prst="rect">
            <a:avLst/>
          </a:prstGeom>
          <a:noFill/>
        </p:spPr>
        <p:txBody>
          <a:bodyPr wrap="square">
            <a:spAutoFit/>
          </a:bodyPr>
          <a:lstStyle/>
          <a:p>
            <a:r>
              <a:rPr lang="en-US" sz="1400" b="1">
                <a:solidFill>
                  <a:schemeClr val="tx1"/>
                </a:solidFill>
              </a:rPr>
              <a:t>Additional qualifications:</a:t>
            </a:r>
          </a:p>
          <a:p>
            <a:pPr marL="285750" indent="-285750">
              <a:buFont typeface="Arial" panose="020B0604020202020204" pitchFamily="34" charset="0"/>
              <a:buChar char="•"/>
            </a:pPr>
            <a:r>
              <a:rPr lang="en-US" sz="1400">
                <a:solidFill>
                  <a:schemeClr val="tx1"/>
                </a:solidFill>
              </a:rPr>
              <a:t>Certified Group Facilitator and Trainer (ABF)</a:t>
            </a:r>
          </a:p>
          <a:p>
            <a:pPr marL="285750" indent="-285750">
              <a:buFont typeface="Arial" panose="020B0604020202020204" pitchFamily="34" charset="0"/>
              <a:buChar char="•"/>
            </a:pPr>
            <a:r>
              <a:rPr lang="en-US" sz="1400">
                <a:solidFill>
                  <a:schemeClr val="tx1"/>
                </a:solidFill>
              </a:rPr>
              <a:t>Certified Six Sigma Master Black Belt (IIL)</a:t>
            </a:r>
          </a:p>
          <a:p>
            <a:pPr marL="285750" indent="-285750">
              <a:buFont typeface="Arial" panose="020B0604020202020204" pitchFamily="34" charset="0"/>
              <a:buChar char="•"/>
            </a:pPr>
            <a:r>
              <a:rPr lang="en-US" sz="1400">
                <a:solidFill>
                  <a:schemeClr val="tx1"/>
                </a:solidFill>
              </a:rPr>
              <a:t>Certified Project Management Professional (PMI)</a:t>
            </a:r>
          </a:p>
          <a:p>
            <a:pPr marL="285750" indent="-285750">
              <a:buFont typeface="Arial" panose="020B0604020202020204" pitchFamily="34" charset="0"/>
              <a:buChar char="•"/>
            </a:pPr>
            <a:r>
              <a:rPr lang="en-US" sz="1400">
                <a:solidFill>
                  <a:schemeClr val="tx1"/>
                </a:solidFill>
              </a:rPr>
              <a:t>Certified Senior Lean Expert (LMI)</a:t>
            </a:r>
          </a:p>
        </p:txBody>
      </p:sp>
    </p:spTree>
    <p:extLst>
      <p:ext uri="{BB962C8B-B14F-4D97-AF65-F5344CB8AC3E}">
        <p14:creationId xmlns:p14="http://schemas.microsoft.com/office/powerpoint/2010/main" val="23471230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graphicFrame>
        <p:nvGraphicFramePr>
          <p:cNvPr id="8" name="Objekt 7" hidden="1">
            <a:extLst>
              <a:ext uri="{FF2B5EF4-FFF2-40B4-BE49-F238E27FC236}">
                <a16:creationId xmlns:a16="http://schemas.microsoft.com/office/drawing/2014/main" id="{F9F7AA05-8C19-4E5B-9497-5C210E6F2090}"/>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Folie" r:id="rId6" imgW="444" imgH="443" progId="TCLayout.ActiveDocument.1">
                  <p:embed/>
                </p:oleObj>
              </mc:Choice>
              <mc:Fallback>
                <p:oleObj name="think-cell Folie" r:id="rId6" imgW="444" imgH="443" progId="TCLayout.ActiveDocument.1">
                  <p:embed/>
                  <p:pic>
                    <p:nvPicPr>
                      <p:cNvPr id="8" name="Objekt 7" hidden="1">
                        <a:extLst>
                          <a:ext uri="{FF2B5EF4-FFF2-40B4-BE49-F238E27FC236}">
                            <a16:creationId xmlns:a16="http://schemas.microsoft.com/office/drawing/2014/main" id="{F9F7AA05-8C19-4E5B-9497-5C210E6F2090}"/>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hteck 6" hidden="1">
            <a:extLst>
              <a:ext uri="{FF2B5EF4-FFF2-40B4-BE49-F238E27FC236}">
                <a16:creationId xmlns:a16="http://schemas.microsoft.com/office/drawing/2014/main" id="{15B14335-7D3B-4C26-9543-C18F90A80F6E}"/>
              </a:ext>
            </a:extLst>
          </p:cNvPr>
          <p:cNvSpPr/>
          <p:nvPr>
            <p:custDataLst>
              <p:tags r:id="rId2"/>
            </p:custDataLst>
          </p:nvPr>
        </p:nvSpPr>
        <p:spPr bwMode="auto">
          <a:xfrm>
            <a:off x="0" y="0"/>
            <a:ext cx="158750" cy="158750"/>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none" lIns="0" tIns="0" rIns="0" bIns="0" numCol="1" spcCol="0" rtlCol="0" anchor="ctr" anchorCtr="0">
            <a:noAutofit/>
          </a:bodyPr>
          <a:lstStyle/>
          <a:p>
            <a:pPr algn="ctr">
              <a:lnSpc>
                <a:spcPct val="110000"/>
              </a:lnSpc>
              <a:spcBef>
                <a:spcPct val="0"/>
              </a:spcBef>
              <a:buFont typeface="Wingdings" charset="0"/>
              <a:buNone/>
            </a:pPr>
            <a:endParaRPr lang="de-DE" sz="2200" b="1">
              <a:solidFill>
                <a:schemeClr val="tx1"/>
              </a:solidFill>
              <a:ea typeface="+mj-ea"/>
              <a:cs typeface="Arial" panose="020B0604020202020204" pitchFamily="34" charset="0"/>
              <a:sym typeface="Arial" panose="020B0604020202020204" pitchFamily="34" charset="0"/>
            </a:endParaRPr>
          </a:p>
        </p:txBody>
      </p:sp>
      <p:pic>
        <p:nvPicPr>
          <p:cNvPr id="18" name="Grafik 17">
            <a:extLst>
              <a:ext uri="{FF2B5EF4-FFF2-40B4-BE49-F238E27FC236}">
                <a16:creationId xmlns:a16="http://schemas.microsoft.com/office/drawing/2014/main" id="{F83B4522-4F7D-4515-8352-248AFF010810}"/>
              </a:ext>
            </a:extLst>
          </p:cNvPr>
          <p:cNvPicPr>
            <a:picLocks noChangeAspect="1"/>
          </p:cNvPicPr>
          <p:nvPr/>
        </p:nvPicPr>
        <p:blipFill rotWithShape="1">
          <a:blip r:embed="rId8" cstate="screen">
            <a:extLst>
              <a:ext uri="{28A0092B-C50C-407E-A947-70E740481C1C}">
                <a14:useLocalDpi xmlns:a14="http://schemas.microsoft.com/office/drawing/2010/main"/>
              </a:ext>
            </a:extLst>
          </a:blip>
          <a:srcRect/>
          <a:stretch/>
        </p:blipFill>
        <p:spPr>
          <a:xfrm>
            <a:off x="3176" y="865482"/>
            <a:ext cx="12109205" cy="5408364"/>
          </a:xfrm>
          <a:prstGeom prst="rect">
            <a:avLst/>
          </a:prstGeom>
        </p:spPr>
      </p:pic>
      <p:sp>
        <p:nvSpPr>
          <p:cNvPr id="2" name="Titel 1">
            <a:extLst>
              <a:ext uri="{FF2B5EF4-FFF2-40B4-BE49-F238E27FC236}">
                <a16:creationId xmlns:a16="http://schemas.microsoft.com/office/drawing/2014/main" id="{D071FA44-CFD5-4B89-B44F-F3699384F313}"/>
              </a:ext>
            </a:extLst>
          </p:cNvPr>
          <p:cNvSpPr>
            <a:spLocks noGrp="1"/>
          </p:cNvSpPr>
          <p:nvPr>
            <p:ph type="title"/>
          </p:nvPr>
        </p:nvSpPr>
        <p:spPr/>
        <p:txBody>
          <a:bodyPr/>
          <a:lstStyle/>
          <a:p>
            <a:r>
              <a:rPr lang="en-US"/>
              <a:t>SE G QPI QM P – Improvement Projects</a:t>
            </a:r>
            <a:br>
              <a:rPr lang="en-US"/>
            </a:br>
            <a:r>
              <a:rPr lang="en-US"/>
              <a:t>The Team</a:t>
            </a:r>
          </a:p>
        </p:txBody>
      </p:sp>
      <p:grpSp>
        <p:nvGrpSpPr>
          <p:cNvPr id="3" name="Gruppieren 2">
            <a:extLst>
              <a:ext uri="{FF2B5EF4-FFF2-40B4-BE49-F238E27FC236}">
                <a16:creationId xmlns:a16="http://schemas.microsoft.com/office/drawing/2014/main" id="{1469D201-5269-4711-B573-386BDE9CE1DA}"/>
              </a:ext>
            </a:extLst>
          </p:cNvPr>
          <p:cNvGrpSpPr/>
          <p:nvPr/>
        </p:nvGrpSpPr>
        <p:grpSpPr>
          <a:xfrm>
            <a:off x="545540" y="5466472"/>
            <a:ext cx="11229733" cy="863646"/>
            <a:chOff x="630722" y="5465345"/>
            <a:chExt cx="11229733" cy="863646"/>
          </a:xfrm>
        </p:grpSpPr>
        <p:sp>
          <p:nvSpPr>
            <p:cNvPr id="4" name="Rectangle 4">
              <a:extLst>
                <a:ext uri="{FF2B5EF4-FFF2-40B4-BE49-F238E27FC236}">
                  <a16:creationId xmlns:a16="http://schemas.microsoft.com/office/drawing/2014/main" id="{96C31969-5FDD-4C33-81CF-0A661F411B40}"/>
                </a:ext>
              </a:extLst>
            </p:cNvPr>
            <p:cNvSpPr>
              <a:spLocks noChangeArrowheads="1"/>
            </p:cNvSpPr>
            <p:nvPr>
              <p:custDataLst>
                <p:tags r:id="rId3"/>
              </p:custDataLst>
            </p:nvPr>
          </p:nvSpPr>
          <p:spPr bwMode="auto">
            <a:xfrm>
              <a:off x="986606" y="5465345"/>
              <a:ext cx="10873849" cy="863646"/>
            </a:xfrm>
            <a:prstGeom prst="rect">
              <a:avLst/>
            </a:prstGeom>
            <a:solidFill>
              <a:srgbClr val="7DD2E6"/>
            </a:solidFill>
            <a:ln w="9525">
              <a:solidFill>
                <a:srgbClr val="7DD2E6"/>
              </a:solidFill>
              <a:miter lim="800000"/>
              <a:headEnd/>
              <a:tailEnd/>
            </a:ln>
            <a:effectLst/>
          </p:spPr>
          <p:txBody>
            <a:bodyPr wrap="square" lIns="1919240" tIns="71963" rIns="71963" bIns="71963" anchor="ctr">
              <a:noAutofit/>
            </a:bodyPr>
            <a:lstStyle/>
            <a:p>
              <a:pPr defTabSz="913943">
                <a:spcBef>
                  <a:spcPts val="300"/>
                </a:spcBef>
                <a:buClr>
                  <a:srgbClr val="41AAAA"/>
                </a:buClr>
              </a:pPr>
              <a:endParaRPr lang="en-US" sz="1599">
                <a:solidFill>
                  <a:srgbClr val="000000"/>
                </a:solidFill>
              </a:endParaRPr>
            </a:p>
          </p:txBody>
        </p:sp>
        <p:sp>
          <p:nvSpPr>
            <p:cNvPr id="5" name="AutoShape 5">
              <a:extLst>
                <a:ext uri="{FF2B5EF4-FFF2-40B4-BE49-F238E27FC236}">
                  <a16:creationId xmlns:a16="http://schemas.microsoft.com/office/drawing/2014/main" id="{1A1DB3AE-376B-4201-A6FF-D2BA31535EDD}"/>
                </a:ext>
              </a:extLst>
            </p:cNvPr>
            <p:cNvSpPr>
              <a:spLocks noChangeArrowheads="1"/>
            </p:cNvSpPr>
            <p:nvPr>
              <p:custDataLst>
                <p:tags r:id="rId4"/>
              </p:custDataLst>
            </p:nvPr>
          </p:nvSpPr>
          <p:spPr bwMode="auto">
            <a:xfrm>
              <a:off x="630722" y="5653674"/>
              <a:ext cx="2019721" cy="502658"/>
            </a:xfrm>
            <a:prstGeom prst="homePlate">
              <a:avLst>
                <a:gd name="adj" fmla="val 19978"/>
              </a:avLst>
            </a:prstGeom>
            <a:solidFill>
              <a:srgbClr val="2387AA"/>
            </a:solidFill>
            <a:ln>
              <a:solidFill>
                <a:srgbClr val="004669"/>
              </a:solidFill>
            </a:ln>
          </p:spPr>
          <p:style>
            <a:lnRef idx="1">
              <a:schemeClr val="accent5"/>
            </a:lnRef>
            <a:fillRef idx="2">
              <a:schemeClr val="accent5"/>
            </a:fillRef>
            <a:effectRef idx="1">
              <a:schemeClr val="accent5"/>
            </a:effectRef>
            <a:fontRef idx="minor">
              <a:schemeClr val="dk1"/>
            </a:fontRef>
          </p:style>
          <p:txBody>
            <a:bodyPr lIns="91392" tIns="71963" rIns="35981" bIns="71963" anchor="ctr"/>
            <a:lstStyle/>
            <a:p>
              <a:pPr defTabSz="913943" eaLnBrk="0" hangingPunct="0">
                <a:lnSpc>
                  <a:spcPct val="90000"/>
                </a:lnSpc>
                <a:spcBef>
                  <a:spcPct val="0"/>
                </a:spcBef>
              </a:pPr>
              <a:r>
                <a:rPr lang="en-US" sz="1599" b="1">
                  <a:solidFill>
                    <a:srgbClr val="FFFFFF"/>
                  </a:solidFill>
                  <a:latin typeface="Arial"/>
                </a:rPr>
                <a:t>The P Team</a:t>
              </a:r>
            </a:p>
          </p:txBody>
        </p:sp>
        <p:sp>
          <p:nvSpPr>
            <p:cNvPr id="6" name="Textfeld 5">
              <a:extLst>
                <a:ext uri="{FF2B5EF4-FFF2-40B4-BE49-F238E27FC236}">
                  <a16:creationId xmlns:a16="http://schemas.microsoft.com/office/drawing/2014/main" id="{56875A93-FBAB-440E-A47E-E7BB81C9A8A4}"/>
                </a:ext>
              </a:extLst>
            </p:cNvPr>
            <p:cNvSpPr txBox="1"/>
            <p:nvPr/>
          </p:nvSpPr>
          <p:spPr>
            <a:xfrm>
              <a:off x="2822812" y="5465345"/>
              <a:ext cx="8984420" cy="863646"/>
            </a:xfrm>
            <a:prstGeom prst="rect">
              <a:avLst/>
            </a:prstGeom>
            <a:noFill/>
          </p:spPr>
          <p:txBody>
            <a:bodyPr wrap="square" lIns="0" tIns="0" rIns="0" bIns="0" rtlCol="0" anchor="ctr">
              <a:noAutofit/>
            </a:bodyPr>
            <a:lstStyle/>
            <a:p>
              <a:pPr marL="285750" indent="-285750" fontAlgn="auto">
                <a:lnSpc>
                  <a:spcPct val="110000"/>
                </a:lnSpc>
                <a:spcBef>
                  <a:spcPts val="0"/>
                </a:spcBef>
                <a:spcAft>
                  <a:spcPts val="0"/>
                </a:spcAft>
                <a:buFont typeface="Arial" panose="020B0604020202020204" pitchFamily="34" charset="0"/>
                <a:buChar char="•"/>
              </a:pPr>
              <a:r>
                <a:rPr lang="en-US" sz="1599">
                  <a:solidFill>
                    <a:srgbClr val="000000"/>
                  </a:solidFill>
                </a:rPr>
                <a:t>Global diverse team – highly skilled, strong characters, strong ownership </a:t>
              </a:r>
            </a:p>
            <a:p>
              <a:pPr marL="285750" indent="-285750" fontAlgn="auto">
                <a:lnSpc>
                  <a:spcPct val="110000"/>
                </a:lnSpc>
                <a:spcBef>
                  <a:spcPts val="0"/>
                </a:spcBef>
                <a:spcAft>
                  <a:spcPts val="0"/>
                </a:spcAft>
                <a:buFont typeface="Arial" panose="020B0604020202020204" pitchFamily="34" charset="0"/>
                <a:buChar char="•"/>
              </a:pPr>
              <a:r>
                <a:rPr lang="en-US" sz="1599">
                  <a:solidFill>
                    <a:srgbClr val="000000"/>
                  </a:solidFill>
                </a:rPr>
                <a:t>Business support: Learning from organization - transferring experiences into other organizations</a:t>
              </a:r>
            </a:p>
            <a:p>
              <a:pPr marL="285750" indent="-285750" fontAlgn="auto">
                <a:lnSpc>
                  <a:spcPct val="110000"/>
                </a:lnSpc>
                <a:spcBef>
                  <a:spcPts val="0"/>
                </a:spcBef>
                <a:spcAft>
                  <a:spcPts val="0"/>
                </a:spcAft>
                <a:buFont typeface="Arial" panose="020B0604020202020204" pitchFamily="34" charset="0"/>
                <a:buChar char="•"/>
              </a:pPr>
              <a:r>
                <a:rPr lang="en-US" sz="1599">
                  <a:solidFill>
                    <a:srgbClr val="000000"/>
                  </a:solidFill>
                </a:rPr>
                <a:t>Connecting networks and develop new approaches</a:t>
              </a:r>
            </a:p>
          </p:txBody>
        </p:sp>
      </p:grpSp>
      <p:grpSp>
        <p:nvGrpSpPr>
          <p:cNvPr id="50" name="Gruppieren 49">
            <a:extLst>
              <a:ext uri="{FF2B5EF4-FFF2-40B4-BE49-F238E27FC236}">
                <a16:creationId xmlns:a16="http://schemas.microsoft.com/office/drawing/2014/main" id="{CBC9D65D-247B-4CD1-9577-B565A06D1E5A}"/>
              </a:ext>
            </a:extLst>
          </p:cNvPr>
          <p:cNvGrpSpPr/>
          <p:nvPr/>
        </p:nvGrpSpPr>
        <p:grpSpPr>
          <a:xfrm>
            <a:off x="545540" y="1374514"/>
            <a:ext cx="2581891" cy="1595169"/>
            <a:chOff x="545540" y="1374514"/>
            <a:chExt cx="2581891" cy="1595169"/>
          </a:xfrm>
        </p:grpSpPr>
        <p:sp>
          <p:nvSpPr>
            <p:cNvPr id="19" name="Rectangle 21">
              <a:extLst>
                <a:ext uri="{FF2B5EF4-FFF2-40B4-BE49-F238E27FC236}">
                  <a16:creationId xmlns:a16="http://schemas.microsoft.com/office/drawing/2014/main" id="{FC083F43-78A5-4D4B-9B37-0BB6A94E910B}"/>
                </a:ext>
              </a:extLst>
            </p:cNvPr>
            <p:cNvSpPr>
              <a:spLocks noChangeArrowheads="1"/>
            </p:cNvSpPr>
            <p:nvPr/>
          </p:nvSpPr>
          <p:spPr bwMode="auto">
            <a:xfrm>
              <a:off x="545541" y="1374514"/>
              <a:ext cx="2581890" cy="373923"/>
            </a:xfrm>
            <a:prstGeom prst="rect">
              <a:avLst/>
            </a:prstGeom>
            <a:solidFill>
              <a:srgbClr val="2387AA"/>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solidFill>
                    <a:schemeClr val="bg1"/>
                  </a:solidFill>
                </a:rPr>
                <a:t>Charlotte</a:t>
              </a:r>
            </a:p>
          </p:txBody>
        </p:sp>
        <p:grpSp>
          <p:nvGrpSpPr>
            <p:cNvPr id="20" name="Gruppieren 19">
              <a:extLst>
                <a:ext uri="{FF2B5EF4-FFF2-40B4-BE49-F238E27FC236}">
                  <a16:creationId xmlns:a16="http://schemas.microsoft.com/office/drawing/2014/main" id="{2A1E39C9-23BB-4292-8644-19415A1065E2}"/>
                </a:ext>
              </a:extLst>
            </p:cNvPr>
            <p:cNvGrpSpPr/>
            <p:nvPr/>
          </p:nvGrpSpPr>
          <p:grpSpPr>
            <a:xfrm>
              <a:off x="545540" y="1840130"/>
              <a:ext cx="2581890" cy="521208"/>
              <a:chOff x="6383141" y="4579762"/>
              <a:chExt cx="2581890" cy="521208"/>
            </a:xfrm>
          </p:grpSpPr>
          <p:sp>
            <p:nvSpPr>
              <p:cNvPr id="21" name="Rechteck 20">
                <a:extLst>
                  <a:ext uri="{FF2B5EF4-FFF2-40B4-BE49-F238E27FC236}">
                    <a16:creationId xmlns:a16="http://schemas.microsoft.com/office/drawing/2014/main" id="{B2BCD3A0-4533-432A-BDB5-06340C76B6F1}"/>
                  </a:ext>
                </a:extLst>
              </p:cNvPr>
              <p:cNvSpPr/>
              <p:nvPr/>
            </p:nvSpPr>
            <p:spPr bwMode="auto">
              <a:xfrm>
                <a:off x="6383141" y="4579762"/>
                <a:ext cx="2581890"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22" name="Rectangle 21">
                <a:extLst>
                  <a:ext uri="{FF2B5EF4-FFF2-40B4-BE49-F238E27FC236}">
                    <a16:creationId xmlns:a16="http://schemas.microsoft.com/office/drawing/2014/main" id="{7EDF6BD9-6B18-428B-A7C7-774A4C10CA15}"/>
                  </a:ext>
                </a:extLst>
              </p:cNvPr>
              <p:cNvSpPr>
                <a:spLocks noChangeArrowheads="1"/>
              </p:cNvSpPr>
              <p:nvPr/>
            </p:nvSpPr>
            <p:spPr bwMode="auto">
              <a:xfrm>
                <a:off x="6919777" y="4579762"/>
                <a:ext cx="2045254" cy="485377"/>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Julie Davis</a:t>
                </a:r>
                <a:br>
                  <a:rPr lang="en-US" altLang="de-DE" sz="1200" b="1"/>
                </a:br>
                <a:r>
                  <a:rPr lang="en-US" altLang="de-DE" sz="1200"/>
                  <a:t>Lean Principal Expert &amp; Coach</a:t>
                </a:r>
              </a:p>
            </p:txBody>
          </p:sp>
          <p:pic>
            <p:nvPicPr>
              <p:cNvPr id="23" name="Picture 4">
                <a:extLst>
                  <a:ext uri="{FF2B5EF4-FFF2-40B4-BE49-F238E27FC236}">
                    <a16:creationId xmlns:a16="http://schemas.microsoft.com/office/drawing/2014/main" id="{4E9344E8-E27B-4E41-8315-11FD5EA4B1EC}"/>
                  </a:ext>
                </a:extLst>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6401700" y="4624465"/>
                <a:ext cx="461123" cy="44959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24" name="Gruppieren 23">
              <a:extLst>
                <a:ext uri="{FF2B5EF4-FFF2-40B4-BE49-F238E27FC236}">
                  <a16:creationId xmlns:a16="http://schemas.microsoft.com/office/drawing/2014/main" id="{4894BBB6-6397-4E29-A232-3BD97E4C896A}"/>
                </a:ext>
              </a:extLst>
            </p:cNvPr>
            <p:cNvGrpSpPr/>
            <p:nvPr/>
          </p:nvGrpSpPr>
          <p:grpSpPr>
            <a:xfrm>
              <a:off x="545540" y="2448475"/>
              <a:ext cx="2581890" cy="521208"/>
              <a:chOff x="6383141" y="4579762"/>
              <a:chExt cx="2581890" cy="521208"/>
            </a:xfrm>
          </p:grpSpPr>
          <p:sp>
            <p:nvSpPr>
              <p:cNvPr id="25" name="Rechteck 24">
                <a:extLst>
                  <a:ext uri="{FF2B5EF4-FFF2-40B4-BE49-F238E27FC236}">
                    <a16:creationId xmlns:a16="http://schemas.microsoft.com/office/drawing/2014/main" id="{266C623C-1B4F-44CF-9837-47EC465264E9}"/>
                  </a:ext>
                </a:extLst>
              </p:cNvPr>
              <p:cNvSpPr/>
              <p:nvPr/>
            </p:nvSpPr>
            <p:spPr bwMode="auto">
              <a:xfrm>
                <a:off x="6383141" y="4579762"/>
                <a:ext cx="2581890"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26" name="Rectangle 21">
                <a:extLst>
                  <a:ext uri="{FF2B5EF4-FFF2-40B4-BE49-F238E27FC236}">
                    <a16:creationId xmlns:a16="http://schemas.microsoft.com/office/drawing/2014/main" id="{9C42578B-B3FA-49FD-9D0F-1CAFBF782FFE}"/>
                  </a:ext>
                </a:extLst>
              </p:cNvPr>
              <p:cNvSpPr>
                <a:spLocks noChangeArrowheads="1"/>
              </p:cNvSpPr>
              <p:nvPr/>
            </p:nvSpPr>
            <p:spPr bwMode="auto">
              <a:xfrm>
                <a:off x="6919777" y="4579762"/>
                <a:ext cx="2045254" cy="485377"/>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Jochen Uhde</a:t>
                </a:r>
                <a:br>
                  <a:rPr lang="en-US" altLang="de-DE" sz="1200" b="1"/>
                </a:br>
                <a:r>
                  <a:rPr lang="en-US" altLang="de-DE" sz="1200"/>
                  <a:t>Root Cause Coordinator &amp; Lead</a:t>
                </a:r>
              </a:p>
            </p:txBody>
          </p:sp>
        </p:grpSp>
        <p:pic>
          <p:nvPicPr>
            <p:cNvPr id="27" name="Grafik 26">
              <a:extLst>
                <a:ext uri="{FF2B5EF4-FFF2-40B4-BE49-F238E27FC236}">
                  <a16:creationId xmlns:a16="http://schemas.microsoft.com/office/drawing/2014/main" id="{AF6EB4F8-C207-408E-A1FE-5FA71292D9B4}"/>
                </a:ext>
              </a:extLst>
            </p:cNvPr>
            <p:cNvPicPr>
              <a:picLocks noChangeAspect="1"/>
            </p:cNvPicPr>
            <p:nvPr/>
          </p:nvPicPr>
          <p:blipFill>
            <a:blip r:embed="rId10" cstate="screen">
              <a:extLst>
                <a:ext uri="{28A0092B-C50C-407E-A947-70E740481C1C}">
                  <a14:useLocalDpi xmlns:a14="http://schemas.microsoft.com/office/drawing/2010/main"/>
                </a:ext>
              </a:extLst>
            </a:blip>
            <a:stretch>
              <a:fillRect/>
            </a:stretch>
          </p:blipFill>
          <p:spPr>
            <a:xfrm>
              <a:off x="635814" y="2496621"/>
              <a:ext cx="363189" cy="451057"/>
            </a:xfrm>
            <a:prstGeom prst="rect">
              <a:avLst/>
            </a:prstGeom>
          </p:spPr>
        </p:pic>
      </p:grpSp>
      <p:sp>
        <p:nvSpPr>
          <p:cNvPr id="28" name="Rectangle 21">
            <a:extLst>
              <a:ext uri="{FF2B5EF4-FFF2-40B4-BE49-F238E27FC236}">
                <a16:creationId xmlns:a16="http://schemas.microsoft.com/office/drawing/2014/main" id="{924FB024-4280-4721-BFB7-79ECCCEC3B73}"/>
              </a:ext>
            </a:extLst>
          </p:cNvPr>
          <p:cNvSpPr>
            <a:spLocks noChangeArrowheads="1"/>
          </p:cNvSpPr>
          <p:nvPr/>
        </p:nvSpPr>
        <p:spPr bwMode="auto">
          <a:xfrm>
            <a:off x="545537" y="3567377"/>
            <a:ext cx="2581893" cy="373923"/>
          </a:xfrm>
          <a:prstGeom prst="rect">
            <a:avLst/>
          </a:prstGeom>
          <a:solidFill>
            <a:srgbClr val="2387AA"/>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solidFill>
                  <a:schemeClr val="bg1"/>
                </a:solidFill>
              </a:rPr>
              <a:t>Orlando</a:t>
            </a:r>
          </a:p>
        </p:txBody>
      </p:sp>
      <p:grpSp>
        <p:nvGrpSpPr>
          <p:cNvPr id="29" name="Gruppieren 28">
            <a:extLst>
              <a:ext uri="{FF2B5EF4-FFF2-40B4-BE49-F238E27FC236}">
                <a16:creationId xmlns:a16="http://schemas.microsoft.com/office/drawing/2014/main" id="{E0E32C2A-DF12-4004-A7E0-BF47CAF50959}"/>
              </a:ext>
            </a:extLst>
          </p:cNvPr>
          <p:cNvGrpSpPr/>
          <p:nvPr/>
        </p:nvGrpSpPr>
        <p:grpSpPr>
          <a:xfrm>
            <a:off x="545537" y="4023392"/>
            <a:ext cx="2581892" cy="521208"/>
            <a:chOff x="6383141" y="3550931"/>
            <a:chExt cx="2581892" cy="521208"/>
          </a:xfrm>
        </p:grpSpPr>
        <p:sp>
          <p:nvSpPr>
            <p:cNvPr id="30" name="Rechteck 29">
              <a:extLst>
                <a:ext uri="{FF2B5EF4-FFF2-40B4-BE49-F238E27FC236}">
                  <a16:creationId xmlns:a16="http://schemas.microsoft.com/office/drawing/2014/main" id="{30B3CED5-D178-4F44-8427-9C6C69E25E0F}"/>
                </a:ext>
              </a:extLst>
            </p:cNvPr>
            <p:cNvSpPr/>
            <p:nvPr/>
          </p:nvSpPr>
          <p:spPr bwMode="auto">
            <a:xfrm>
              <a:off x="6383141" y="3550931"/>
              <a:ext cx="2581892"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31" name="Rectangle 21">
              <a:extLst>
                <a:ext uri="{FF2B5EF4-FFF2-40B4-BE49-F238E27FC236}">
                  <a16:creationId xmlns:a16="http://schemas.microsoft.com/office/drawing/2014/main" id="{D6D30522-BB36-497E-8158-F7ED81A81C86}"/>
                </a:ext>
              </a:extLst>
            </p:cNvPr>
            <p:cNvSpPr>
              <a:spLocks noChangeArrowheads="1"/>
            </p:cNvSpPr>
            <p:nvPr/>
          </p:nvSpPr>
          <p:spPr bwMode="auto">
            <a:xfrm>
              <a:off x="6919777" y="3550931"/>
              <a:ext cx="2045256"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Raymond Pcolar</a:t>
              </a:r>
              <a:br>
                <a:rPr lang="en-US" altLang="de-DE" sz="1200" b="1"/>
              </a:br>
              <a:r>
                <a:rPr lang="en-US" altLang="de-DE" sz="1200"/>
                <a:t>Master Black Belt &amp; Lean Expert</a:t>
              </a:r>
            </a:p>
          </p:txBody>
        </p:sp>
        <p:pic>
          <p:nvPicPr>
            <p:cNvPr id="32" name="Picture 10">
              <a:extLst>
                <a:ext uri="{FF2B5EF4-FFF2-40B4-BE49-F238E27FC236}">
                  <a16:creationId xmlns:a16="http://schemas.microsoft.com/office/drawing/2014/main" id="{8F33EAA6-F60A-465B-B850-A6995E0BF926}"/>
                </a:ext>
              </a:extLst>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6406656" y="3611738"/>
              <a:ext cx="465714" cy="43204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grpSp>
      <p:grpSp>
        <p:nvGrpSpPr>
          <p:cNvPr id="33" name="Gruppieren 32">
            <a:extLst>
              <a:ext uri="{FF2B5EF4-FFF2-40B4-BE49-F238E27FC236}">
                <a16:creationId xmlns:a16="http://schemas.microsoft.com/office/drawing/2014/main" id="{DB7D9E95-AD9C-47DB-AA7B-F79325AC276F}"/>
              </a:ext>
            </a:extLst>
          </p:cNvPr>
          <p:cNvGrpSpPr/>
          <p:nvPr/>
        </p:nvGrpSpPr>
        <p:grpSpPr>
          <a:xfrm>
            <a:off x="545537" y="4633732"/>
            <a:ext cx="2581892" cy="521208"/>
            <a:chOff x="6383141" y="3550931"/>
            <a:chExt cx="2581892" cy="521208"/>
          </a:xfrm>
        </p:grpSpPr>
        <p:sp>
          <p:nvSpPr>
            <p:cNvPr id="34" name="Rechteck 33">
              <a:extLst>
                <a:ext uri="{FF2B5EF4-FFF2-40B4-BE49-F238E27FC236}">
                  <a16:creationId xmlns:a16="http://schemas.microsoft.com/office/drawing/2014/main" id="{E7FC9E6B-3DE4-413C-AB8A-947054BF682E}"/>
                </a:ext>
              </a:extLst>
            </p:cNvPr>
            <p:cNvSpPr/>
            <p:nvPr/>
          </p:nvSpPr>
          <p:spPr bwMode="auto">
            <a:xfrm>
              <a:off x="6383141" y="3550931"/>
              <a:ext cx="2581892"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Rectangle 21">
              <a:extLst>
                <a:ext uri="{FF2B5EF4-FFF2-40B4-BE49-F238E27FC236}">
                  <a16:creationId xmlns:a16="http://schemas.microsoft.com/office/drawing/2014/main" id="{96A0A423-5858-45C5-A3C8-D85F01A3D53B}"/>
                </a:ext>
              </a:extLst>
            </p:cNvPr>
            <p:cNvSpPr>
              <a:spLocks noChangeArrowheads="1"/>
            </p:cNvSpPr>
            <p:nvPr/>
          </p:nvSpPr>
          <p:spPr bwMode="auto">
            <a:xfrm>
              <a:off x="6919777" y="3550931"/>
              <a:ext cx="2045256"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pPr>
              <a:r>
                <a:rPr lang="en-US" altLang="de-DE" sz="1200" b="1"/>
                <a:t>Tim Mazzotta</a:t>
              </a:r>
              <a:br>
                <a:rPr lang="en-US" altLang="de-DE" sz="1200" b="1"/>
              </a:br>
              <a:r>
                <a:rPr lang="en-US" altLang="de-DE" sz="1200" b="1"/>
                <a:t>Advisory Expert</a:t>
              </a:r>
              <a:br>
                <a:rPr lang="en-US" altLang="de-DE" sz="1200" b="1"/>
              </a:br>
              <a:r>
                <a:rPr lang="en-US" altLang="de-DE" sz="1200"/>
                <a:t>Data Analytics Expert</a:t>
              </a:r>
            </a:p>
          </p:txBody>
        </p:sp>
      </p:grpSp>
      <p:pic>
        <p:nvPicPr>
          <p:cNvPr id="36" name="Grafik 35">
            <a:extLst>
              <a:ext uri="{FF2B5EF4-FFF2-40B4-BE49-F238E27FC236}">
                <a16:creationId xmlns:a16="http://schemas.microsoft.com/office/drawing/2014/main" id="{311BC61D-50B3-4889-BBBC-185FA947BDF5}"/>
              </a:ext>
            </a:extLst>
          </p:cNvPr>
          <p:cNvPicPr>
            <a:picLocks noChangeAspect="1"/>
          </p:cNvPicPr>
          <p:nvPr/>
        </p:nvPicPr>
        <p:blipFill>
          <a:blip r:embed="rId12" cstate="screen">
            <a:extLst>
              <a:ext uri="{BEBA8EAE-BF5A-486C-A8C5-ECC9F3942E4B}">
                <a14:imgProps xmlns:a14="http://schemas.microsoft.com/office/drawing/2010/main">
                  <a14:imgLayer r:embed="rId13">
                    <a14:imgEffect>
                      <a14:backgroundRemoval t="9793" b="99435" l="252" r="99748">
                        <a14:foregroundMark x1="36020" y1="11111" x2="57683" y2="10358"/>
                        <a14:foregroundMark x1="8564" y1="72505" x2="38287" y2="70245"/>
                        <a14:foregroundMark x1="252" y1="74576" x2="19395" y2="73635"/>
                        <a14:foregroundMark x1="64987" y1="66667" x2="72292" y2="72881"/>
                        <a14:foregroundMark x1="46851" y1="89077" x2="44081" y2="99623"/>
                        <a14:foregroundMark x1="71033" y1="73823" x2="99748" y2="89077"/>
                        <a14:backgroundMark x1="70529" y1="64595" x2="70529" y2="64595"/>
                        <a14:backgroundMark x1="72040" y1="64595" x2="72040" y2="64595"/>
                        <a14:backgroundMark x1="83123" y1="61582" x2="83123" y2="61582"/>
                        <a14:backgroundMark x1="72292" y1="54614" x2="72292" y2="54614"/>
                        <a14:backgroundMark x1="24937" y1="65537" x2="24937" y2="65537"/>
                        <a14:backgroundMark x1="27204" y1="65913" x2="27204" y2="65913"/>
                      </a14:backgroundRemoval>
                    </a14:imgEffect>
                  </a14:imgLayer>
                </a14:imgProps>
              </a:ext>
              <a:ext uri="{28A0092B-C50C-407E-A947-70E740481C1C}">
                <a14:useLocalDpi xmlns:a14="http://schemas.microsoft.com/office/drawing/2010/main"/>
              </a:ext>
            </a:extLst>
          </a:blip>
          <a:stretch>
            <a:fillRect/>
          </a:stretch>
        </p:blipFill>
        <p:spPr>
          <a:xfrm>
            <a:off x="637771" y="4655410"/>
            <a:ext cx="328613" cy="439531"/>
          </a:xfrm>
          <a:prstGeom prst="rect">
            <a:avLst/>
          </a:prstGeom>
        </p:spPr>
      </p:pic>
      <p:sp>
        <p:nvSpPr>
          <p:cNvPr id="37" name="Rechteck 36">
            <a:extLst>
              <a:ext uri="{FF2B5EF4-FFF2-40B4-BE49-F238E27FC236}">
                <a16:creationId xmlns:a16="http://schemas.microsoft.com/office/drawing/2014/main" id="{2C7C4CA0-37FD-4D16-8407-4FA810F04F29}"/>
              </a:ext>
            </a:extLst>
          </p:cNvPr>
          <p:cNvSpPr/>
          <p:nvPr/>
        </p:nvSpPr>
        <p:spPr bwMode="auto">
          <a:xfrm>
            <a:off x="4049962" y="4630739"/>
            <a:ext cx="2587467"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Rectangle 21">
            <a:extLst>
              <a:ext uri="{FF2B5EF4-FFF2-40B4-BE49-F238E27FC236}">
                <a16:creationId xmlns:a16="http://schemas.microsoft.com/office/drawing/2014/main" id="{574800E3-BE78-4BF9-8318-79DB73070E5D}"/>
              </a:ext>
            </a:extLst>
          </p:cNvPr>
          <p:cNvSpPr>
            <a:spLocks noChangeArrowheads="1"/>
          </p:cNvSpPr>
          <p:nvPr/>
        </p:nvSpPr>
        <p:spPr bwMode="auto">
          <a:xfrm>
            <a:off x="4470633" y="4630765"/>
            <a:ext cx="2166796"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Bernd Buckard</a:t>
            </a:r>
            <a:br>
              <a:rPr lang="en-US" altLang="de-DE" sz="1200" b="1"/>
            </a:br>
            <a:r>
              <a:rPr lang="en-US" altLang="de-DE" sz="1200"/>
              <a:t>Senior Consultant Project / Claim Mgnt., Engineering.</a:t>
            </a:r>
          </a:p>
        </p:txBody>
      </p:sp>
      <p:sp>
        <p:nvSpPr>
          <p:cNvPr id="39" name="Rectangle 21">
            <a:extLst>
              <a:ext uri="{FF2B5EF4-FFF2-40B4-BE49-F238E27FC236}">
                <a16:creationId xmlns:a16="http://schemas.microsoft.com/office/drawing/2014/main" id="{3E51D1EB-977C-447E-99C1-676267FDBA71}"/>
              </a:ext>
            </a:extLst>
          </p:cNvPr>
          <p:cNvSpPr>
            <a:spLocks noChangeArrowheads="1"/>
          </p:cNvSpPr>
          <p:nvPr/>
        </p:nvSpPr>
        <p:spPr bwMode="auto">
          <a:xfrm>
            <a:off x="4049962" y="4168300"/>
            <a:ext cx="2581893" cy="373923"/>
          </a:xfrm>
          <a:prstGeom prst="rect">
            <a:avLst/>
          </a:prstGeom>
          <a:solidFill>
            <a:srgbClr val="2387AA"/>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solidFill>
                  <a:schemeClr val="bg1"/>
                </a:solidFill>
              </a:rPr>
              <a:t>Erlangen</a:t>
            </a:r>
          </a:p>
        </p:txBody>
      </p:sp>
      <p:pic>
        <p:nvPicPr>
          <p:cNvPr id="40" name="Picture 2">
            <a:extLst>
              <a:ext uri="{FF2B5EF4-FFF2-40B4-BE49-F238E27FC236}">
                <a16:creationId xmlns:a16="http://schemas.microsoft.com/office/drawing/2014/main" id="{4BC0E969-71CE-4AFC-8E80-7798D8791F08}"/>
              </a:ext>
            </a:extLst>
          </p:cNvPr>
          <p:cNvPicPr>
            <a:picLocks noChangeAspect="1" noChangeArrowheads="1"/>
          </p:cNvPicPr>
          <p:nvPr/>
        </p:nvPicPr>
        <p:blipFill rotWithShape="1">
          <a:blip r:embed="rId14" cstate="screen">
            <a:extLst>
              <a:ext uri="{28A0092B-C50C-407E-A947-70E740481C1C}">
                <a14:useLocalDpi xmlns:a14="http://schemas.microsoft.com/office/drawing/2010/main"/>
              </a:ext>
            </a:extLst>
          </a:blip>
          <a:srcRect/>
          <a:stretch/>
        </p:blipFill>
        <p:spPr bwMode="auto">
          <a:xfrm>
            <a:off x="4157719" y="4659143"/>
            <a:ext cx="338505" cy="4644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1" name="Rechteck 40">
            <a:extLst>
              <a:ext uri="{FF2B5EF4-FFF2-40B4-BE49-F238E27FC236}">
                <a16:creationId xmlns:a16="http://schemas.microsoft.com/office/drawing/2014/main" id="{3BEF20BA-DC38-4DE5-96AA-AB5A177B3C28}"/>
              </a:ext>
            </a:extLst>
          </p:cNvPr>
          <p:cNvSpPr/>
          <p:nvPr/>
        </p:nvSpPr>
        <p:spPr bwMode="auto">
          <a:xfrm>
            <a:off x="3504332" y="1832730"/>
            <a:ext cx="2587467"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42" name="Rectangle 21">
            <a:extLst>
              <a:ext uri="{FF2B5EF4-FFF2-40B4-BE49-F238E27FC236}">
                <a16:creationId xmlns:a16="http://schemas.microsoft.com/office/drawing/2014/main" id="{75BA595B-9D93-423A-924C-0ADB39E10F18}"/>
              </a:ext>
            </a:extLst>
          </p:cNvPr>
          <p:cNvSpPr>
            <a:spLocks noChangeArrowheads="1"/>
          </p:cNvSpPr>
          <p:nvPr/>
        </p:nvSpPr>
        <p:spPr bwMode="auto">
          <a:xfrm>
            <a:off x="3925003" y="1832756"/>
            <a:ext cx="2166796"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Gunnel Sundberg</a:t>
            </a:r>
            <a:br>
              <a:rPr lang="en-US" altLang="de-DE" sz="1200" b="1"/>
            </a:br>
            <a:r>
              <a:rPr lang="en-US" altLang="de-DE" sz="1200"/>
              <a:t>Operational Excellence Consultant</a:t>
            </a:r>
            <a:endParaRPr lang="en-US" altLang="de-DE" sz="1200" b="1"/>
          </a:p>
        </p:txBody>
      </p:sp>
      <p:sp>
        <p:nvSpPr>
          <p:cNvPr id="43" name="Rectangle 21">
            <a:extLst>
              <a:ext uri="{FF2B5EF4-FFF2-40B4-BE49-F238E27FC236}">
                <a16:creationId xmlns:a16="http://schemas.microsoft.com/office/drawing/2014/main" id="{728A4302-C582-43FF-ABAA-42E007EC5BB2}"/>
              </a:ext>
            </a:extLst>
          </p:cNvPr>
          <p:cNvSpPr>
            <a:spLocks noChangeArrowheads="1"/>
          </p:cNvSpPr>
          <p:nvPr/>
        </p:nvSpPr>
        <p:spPr bwMode="auto">
          <a:xfrm>
            <a:off x="3504332" y="1370291"/>
            <a:ext cx="2581893" cy="373923"/>
          </a:xfrm>
          <a:prstGeom prst="rect">
            <a:avLst/>
          </a:prstGeom>
          <a:solidFill>
            <a:srgbClr val="2387AA"/>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solidFill>
                  <a:schemeClr val="bg1"/>
                </a:solidFill>
              </a:rPr>
              <a:t>Finspång</a:t>
            </a:r>
          </a:p>
        </p:txBody>
      </p:sp>
      <p:pic>
        <p:nvPicPr>
          <p:cNvPr id="44" name="Inhaltsplatzhalter 9">
            <a:extLst>
              <a:ext uri="{FF2B5EF4-FFF2-40B4-BE49-F238E27FC236}">
                <a16:creationId xmlns:a16="http://schemas.microsoft.com/office/drawing/2014/main" id="{F459564D-61D2-4DDD-BB0D-C48433356A8E}"/>
              </a:ext>
            </a:extLst>
          </p:cNvPr>
          <p:cNvPicPr>
            <a:picLocks noGrp="1" noChangeAspect="1"/>
          </p:cNvPicPr>
          <p:nvPr/>
        </p:nvPicPr>
        <p:blipFill>
          <a:blip r:embed="rId15" cstate="screen">
            <a:extLst>
              <a:ext uri="{28A0092B-C50C-407E-A947-70E740481C1C}">
                <a14:useLocalDpi xmlns:a14="http://schemas.microsoft.com/office/drawing/2010/main"/>
              </a:ext>
            </a:extLst>
          </a:blip>
          <a:stretch>
            <a:fillRect/>
          </a:stretch>
        </p:blipFill>
        <p:spPr bwMode="auto">
          <a:xfrm>
            <a:off x="3552190" y="1863094"/>
            <a:ext cx="422182" cy="464400"/>
          </a:xfrm>
          <a:prstGeom prst="rect">
            <a:avLst/>
          </a:prstGeom>
          <a:noFill/>
          <a:ln w="9525">
            <a:noFill/>
            <a:miter lim="800000"/>
            <a:headEnd/>
            <a:tailEnd/>
          </a:ln>
        </p:spPr>
      </p:pic>
      <p:cxnSp>
        <p:nvCxnSpPr>
          <p:cNvPr id="46" name="Gerade Verbindung mit Pfeil 45">
            <a:extLst>
              <a:ext uri="{FF2B5EF4-FFF2-40B4-BE49-F238E27FC236}">
                <a16:creationId xmlns:a16="http://schemas.microsoft.com/office/drawing/2014/main" id="{204F13A0-97E6-4311-8474-2795BC03B905}"/>
              </a:ext>
            </a:extLst>
          </p:cNvPr>
          <p:cNvCxnSpPr>
            <a:cxnSpLocks/>
          </p:cNvCxnSpPr>
          <p:nvPr/>
        </p:nvCxnSpPr>
        <p:spPr bwMode="auto">
          <a:xfrm>
            <a:off x="3127429" y="2694332"/>
            <a:ext cx="420672" cy="1115668"/>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cxnSp>
        <p:nvCxnSpPr>
          <p:cNvPr id="48" name="Gerade Verbindung mit Pfeil 47">
            <a:extLst>
              <a:ext uri="{FF2B5EF4-FFF2-40B4-BE49-F238E27FC236}">
                <a16:creationId xmlns:a16="http://schemas.microsoft.com/office/drawing/2014/main" id="{3334020A-C5EB-46C5-93FD-14394143B14A}"/>
              </a:ext>
            </a:extLst>
          </p:cNvPr>
          <p:cNvCxnSpPr>
            <a:cxnSpLocks/>
            <a:stCxn id="31" idx="3"/>
          </p:cNvCxnSpPr>
          <p:nvPr/>
        </p:nvCxnSpPr>
        <p:spPr bwMode="auto">
          <a:xfrm flipV="1">
            <a:off x="3127429" y="4014022"/>
            <a:ext cx="420672" cy="269974"/>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cxnSp>
        <p:nvCxnSpPr>
          <p:cNvPr id="56" name="Gerade Verbindung mit Pfeil 55">
            <a:extLst>
              <a:ext uri="{FF2B5EF4-FFF2-40B4-BE49-F238E27FC236}">
                <a16:creationId xmlns:a16="http://schemas.microsoft.com/office/drawing/2014/main" id="{66A162A8-6A52-4CB4-A8DF-DC6667414A17}"/>
              </a:ext>
            </a:extLst>
          </p:cNvPr>
          <p:cNvCxnSpPr>
            <a:cxnSpLocks/>
            <a:stCxn id="42" idx="3"/>
          </p:cNvCxnSpPr>
          <p:nvPr/>
        </p:nvCxnSpPr>
        <p:spPr bwMode="auto">
          <a:xfrm>
            <a:off x="6091799" y="2093360"/>
            <a:ext cx="420671" cy="497440"/>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cxnSp>
        <p:nvCxnSpPr>
          <p:cNvPr id="61" name="Gerade Verbindung mit Pfeil 60">
            <a:extLst>
              <a:ext uri="{FF2B5EF4-FFF2-40B4-BE49-F238E27FC236}">
                <a16:creationId xmlns:a16="http://schemas.microsoft.com/office/drawing/2014/main" id="{1981B06A-2A7C-4B12-854B-4037BACACEEB}"/>
              </a:ext>
            </a:extLst>
          </p:cNvPr>
          <p:cNvCxnSpPr>
            <a:cxnSpLocks/>
            <a:stCxn id="39" idx="0"/>
          </p:cNvCxnSpPr>
          <p:nvPr/>
        </p:nvCxnSpPr>
        <p:spPr bwMode="auto">
          <a:xfrm flipV="1">
            <a:off x="5340909" y="3118089"/>
            <a:ext cx="1063066" cy="1050211"/>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grpSp>
        <p:nvGrpSpPr>
          <p:cNvPr id="92" name="Gruppieren 91">
            <a:extLst>
              <a:ext uri="{FF2B5EF4-FFF2-40B4-BE49-F238E27FC236}">
                <a16:creationId xmlns:a16="http://schemas.microsoft.com/office/drawing/2014/main" id="{7FEDBBE7-843C-4306-9217-5A7C99BF59BF}"/>
              </a:ext>
            </a:extLst>
          </p:cNvPr>
          <p:cNvGrpSpPr/>
          <p:nvPr/>
        </p:nvGrpSpPr>
        <p:grpSpPr>
          <a:xfrm>
            <a:off x="6316670" y="1377665"/>
            <a:ext cx="2587467" cy="983673"/>
            <a:chOff x="6489028" y="1377665"/>
            <a:chExt cx="2587467" cy="983673"/>
          </a:xfrm>
        </p:grpSpPr>
        <p:sp>
          <p:nvSpPr>
            <p:cNvPr id="64" name="Rechteck 63">
              <a:extLst>
                <a:ext uri="{FF2B5EF4-FFF2-40B4-BE49-F238E27FC236}">
                  <a16:creationId xmlns:a16="http://schemas.microsoft.com/office/drawing/2014/main" id="{13757C85-4FDA-47E8-B290-E8614DB5E850}"/>
                </a:ext>
              </a:extLst>
            </p:cNvPr>
            <p:cNvSpPr/>
            <p:nvPr/>
          </p:nvSpPr>
          <p:spPr bwMode="auto">
            <a:xfrm>
              <a:off x="6489028" y="1840104"/>
              <a:ext cx="2587467"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Rectangle 21">
              <a:extLst>
                <a:ext uri="{FF2B5EF4-FFF2-40B4-BE49-F238E27FC236}">
                  <a16:creationId xmlns:a16="http://schemas.microsoft.com/office/drawing/2014/main" id="{6A648F65-CDC6-42F4-BB61-7F60F7A2FFD6}"/>
                </a:ext>
              </a:extLst>
            </p:cNvPr>
            <p:cNvSpPr>
              <a:spLocks noChangeArrowheads="1"/>
            </p:cNvSpPr>
            <p:nvPr/>
          </p:nvSpPr>
          <p:spPr bwMode="auto">
            <a:xfrm>
              <a:off x="6909699" y="1840130"/>
              <a:ext cx="2166796"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Matthias Groh</a:t>
              </a:r>
              <a:br>
                <a:rPr lang="en-US" altLang="de-DE" sz="1200" b="1"/>
              </a:br>
              <a:r>
                <a:rPr lang="en-US" altLang="de-DE" sz="1200"/>
                <a:t>Master Black Belt</a:t>
              </a:r>
              <a:endParaRPr lang="en-US" altLang="de-DE" sz="1200" b="1"/>
            </a:p>
          </p:txBody>
        </p:sp>
        <p:sp>
          <p:nvSpPr>
            <p:cNvPr id="66" name="Rectangle 21">
              <a:extLst>
                <a:ext uri="{FF2B5EF4-FFF2-40B4-BE49-F238E27FC236}">
                  <a16:creationId xmlns:a16="http://schemas.microsoft.com/office/drawing/2014/main" id="{0775F6D1-FADF-4D1E-AFAC-FE2FCB0D2FDF}"/>
                </a:ext>
              </a:extLst>
            </p:cNvPr>
            <p:cNvSpPr>
              <a:spLocks noChangeArrowheads="1"/>
            </p:cNvSpPr>
            <p:nvPr/>
          </p:nvSpPr>
          <p:spPr bwMode="auto">
            <a:xfrm>
              <a:off x="6489028" y="1377665"/>
              <a:ext cx="2581893" cy="373923"/>
            </a:xfrm>
            <a:prstGeom prst="rect">
              <a:avLst/>
            </a:prstGeom>
            <a:solidFill>
              <a:srgbClr val="2387AA"/>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solidFill>
                    <a:schemeClr val="bg1"/>
                  </a:solidFill>
                </a:rPr>
                <a:t>Berlin</a:t>
              </a:r>
            </a:p>
          </p:txBody>
        </p:sp>
        <p:pic>
          <p:nvPicPr>
            <p:cNvPr id="67" name="Grafik 66">
              <a:extLst>
                <a:ext uri="{FF2B5EF4-FFF2-40B4-BE49-F238E27FC236}">
                  <a16:creationId xmlns:a16="http://schemas.microsoft.com/office/drawing/2014/main" id="{9766FA50-ED48-4EB9-A8E7-0F7F9770B758}"/>
                </a:ext>
              </a:extLst>
            </p:cNvPr>
            <p:cNvPicPr>
              <a:picLocks noChangeAspect="1"/>
            </p:cNvPicPr>
            <p:nvPr/>
          </p:nvPicPr>
          <p:blipFill>
            <a:blip r:embed="rId16" cstate="screen">
              <a:extLst>
                <a:ext uri="{28A0092B-C50C-407E-A947-70E740481C1C}">
                  <a14:useLocalDpi xmlns:a14="http://schemas.microsoft.com/office/drawing/2010/main"/>
                </a:ext>
              </a:extLst>
            </a:blip>
            <a:stretch>
              <a:fillRect/>
            </a:stretch>
          </p:blipFill>
          <p:spPr>
            <a:xfrm>
              <a:off x="6578432" y="1865523"/>
              <a:ext cx="364057" cy="470555"/>
            </a:xfrm>
            <a:prstGeom prst="rect">
              <a:avLst/>
            </a:prstGeom>
          </p:spPr>
        </p:pic>
      </p:grpSp>
      <p:cxnSp>
        <p:nvCxnSpPr>
          <p:cNvPr id="68" name="Gerade Verbindung mit Pfeil 67">
            <a:extLst>
              <a:ext uri="{FF2B5EF4-FFF2-40B4-BE49-F238E27FC236}">
                <a16:creationId xmlns:a16="http://schemas.microsoft.com/office/drawing/2014/main" id="{0E2BA1BF-AB74-4232-AAE8-CAA4B643A2C7}"/>
              </a:ext>
            </a:extLst>
          </p:cNvPr>
          <p:cNvCxnSpPr>
            <a:cxnSpLocks/>
            <a:stCxn id="65" idx="2"/>
          </p:cNvCxnSpPr>
          <p:nvPr/>
        </p:nvCxnSpPr>
        <p:spPr bwMode="auto">
          <a:xfrm flipH="1">
            <a:off x="6406075" y="2361338"/>
            <a:ext cx="1414664" cy="620346"/>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sp>
        <p:nvSpPr>
          <p:cNvPr id="74" name="Rectangle 21">
            <a:extLst>
              <a:ext uri="{FF2B5EF4-FFF2-40B4-BE49-F238E27FC236}">
                <a16:creationId xmlns:a16="http://schemas.microsoft.com/office/drawing/2014/main" id="{A8E3A900-9538-4370-A831-A8909BD8A0B9}"/>
              </a:ext>
            </a:extLst>
          </p:cNvPr>
          <p:cNvSpPr>
            <a:spLocks noChangeArrowheads="1"/>
          </p:cNvSpPr>
          <p:nvPr/>
        </p:nvSpPr>
        <p:spPr bwMode="auto">
          <a:xfrm>
            <a:off x="9140157" y="1381782"/>
            <a:ext cx="2581893" cy="373923"/>
          </a:xfrm>
          <a:prstGeom prst="rect">
            <a:avLst/>
          </a:prstGeom>
          <a:solidFill>
            <a:srgbClr val="2387AA"/>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solidFill>
                  <a:schemeClr val="bg1"/>
                </a:solidFill>
              </a:rPr>
              <a:t>Mülheim</a:t>
            </a:r>
          </a:p>
        </p:txBody>
      </p:sp>
      <p:grpSp>
        <p:nvGrpSpPr>
          <p:cNvPr id="99" name="Gruppieren 98">
            <a:extLst>
              <a:ext uri="{FF2B5EF4-FFF2-40B4-BE49-F238E27FC236}">
                <a16:creationId xmlns:a16="http://schemas.microsoft.com/office/drawing/2014/main" id="{F7BD8F6B-95CE-48DC-9852-82B442FB09A0}"/>
              </a:ext>
            </a:extLst>
          </p:cNvPr>
          <p:cNvGrpSpPr/>
          <p:nvPr/>
        </p:nvGrpSpPr>
        <p:grpSpPr>
          <a:xfrm>
            <a:off x="9120441" y="2450679"/>
            <a:ext cx="2605877" cy="2979449"/>
            <a:chOff x="9120441" y="1844221"/>
            <a:chExt cx="2605877" cy="2979449"/>
          </a:xfrm>
        </p:grpSpPr>
        <p:grpSp>
          <p:nvGrpSpPr>
            <p:cNvPr id="71" name="Gruppieren 70">
              <a:extLst>
                <a:ext uri="{FF2B5EF4-FFF2-40B4-BE49-F238E27FC236}">
                  <a16:creationId xmlns:a16="http://schemas.microsoft.com/office/drawing/2014/main" id="{81F3A34C-E813-43B0-A6A5-61E1CAB07825}"/>
                </a:ext>
              </a:extLst>
            </p:cNvPr>
            <p:cNvGrpSpPr/>
            <p:nvPr/>
          </p:nvGrpSpPr>
          <p:grpSpPr>
            <a:xfrm>
              <a:off x="9140157" y="1844221"/>
              <a:ext cx="2586161" cy="521208"/>
              <a:chOff x="3513413" y="2487283"/>
              <a:chExt cx="2586161" cy="521208"/>
            </a:xfrm>
          </p:grpSpPr>
          <p:sp>
            <p:nvSpPr>
              <p:cNvPr id="72" name="Rechteck 71">
                <a:extLst>
                  <a:ext uri="{FF2B5EF4-FFF2-40B4-BE49-F238E27FC236}">
                    <a16:creationId xmlns:a16="http://schemas.microsoft.com/office/drawing/2014/main" id="{FF8C6E5D-E734-4B87-88EA-8B116B004169}"/>
                  </a:ext>
                </a:extLst>
              </p:cNvPr>
              <p:cNvSpPr/>
              <p:nvPr/>
            </p:nvSpPr>
            <p:spPr bwMode="auto">
              <a:xfrm>
                <a:off x="3513413" y="2487283"/>
                <a:ext cx="2581893"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73" name="Rectangle 21">
                <a:extLst>
                  <a:ext uri="{FF2B5EF4-FFF2-40B4-BE49-F238E27FC236}">
                    <a16:creationId xmlns:a16="http://schemas.microsoft.com/office/drawing/2014/main" id="{2C6AD19D-E61F-4584-8A63-CD8DF7ECEB1B}"/>
                  </a:ext>
                </a:extLst>
              </p:cNvPr>
              <p:cNvSpPr>
                <a:spLocks noChangeArrowheads="1"/>
              </p:cNvSpPr>
              <p:nvPr/>
            </p:nvSpPr>
            <p:spPr bwMode="auto">
              <a:xfrm>
                <a:off x="4050049" y="2487283"/>
                <a:ext cx="2049525"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Frank Unterlehberg</a:t>
                </a:r>
              </a:p>
              <a:p>
                <a:pPr>
                  <a:lnSpc>
                    <a:spcPct val="100000"/>
                  </a:lnSpc>
                  <a:buFontTx/>
                  <a:buNone/>
                </a:pPr>
                <a:r>
                  <a:rPr lang="en-US" altLang="de-DE" sz="1200"/>
                  <a:t>Master Black Belt </a:t>
                </a:r>
              </a:p>
            </p:txBody>
          </p:sp>
        </p:grpSp>
        <p:grpSp>
          <p:nvGrpSpPr>
            <p:cNvPr id="75" name="Gruppieren 74">
              <a:extLst>
                <a:ext uri="{FF2B5EF4-FFF2-40B4-BE49-F238E27FC236}">
                  <a16:creationId xmlns:a16="http://schemas.microsoft.com/office/drawing/2014/main" id="{023D6E1C-E14C-4564-8601-00874D179DA5}"/>
                </a:ext>
              </a:extLst>
            </p:cNvPr>
            <p:cNvGrpSpPr/>
            <p:nvPr/>
          </p:nvGrpSpPr>
          <p:grpSpPr>
            <a:xfrm>
              <a:off x="9131127" y="2460475"/>
              <a:ext cx="2586161" cy="521208"/>
              <a:chOff x="3513413" y="3068960"/>
              <a:chExt cx="2586161" cy="521208"/>
            </a:xfrm>
          </p:grpSpPr>
          <p:sp>
            <p:nvSpPr>
              <p:cNvPr id="76" name="Rechteck 75">
                <a:extLst>
                  <a:ext uri="{FF2B5EF4-FFF2-40B4-BE49-F238E27FC236}">
                    <a16:creationId xmlns:a16="http://schemas.microsoft.com/office/drawing/2014/main" id="{8FA66EF5-683D-4209-9F1E-B18CD5A8A28F}"/>
                  </a:ext>
                </a:extLst>
              </p:cNvPr>
              <p:cNvSpPr/>
              <p:nvPr/>
            </p:nvSpPr>
            <p:spPr bwMode="auto">
              <a:xfrm>
                <a:off x="3513413" y="3068960"/>
                <a:ext cx="2583222"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77" name="Rectangle 21">
                <a:extLst>
                  <a:ext uri="{FF2B5EF4-FFF2-40B4-BE49-F238E27FC236}">
                    <a16:creationId xmlns:a16="http://schemas.microsoft.com/office/drawing/2014/main" id="{08E49763-3C2B-4193-B87C-2EC57577B6D0}"/>
                  </a:ext>
                </a:extLst>
              </p:cNvPr>
              <p:cNvSpPr>
                <a:spLocks noChangeArrowheads="1"/>
              </p:cNvSpPr>
              <p:nvPr/>
            </p:nvSpPr>
            <p:spPr bwMode="auto">
              <a:xfrm>
                <a:off x="4050049" y="3068960"/>
                <a:ext cx="2049525"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Marijana Šimleša</a:t>
                </a:r>
                <a:br>
                  <a:rPr lang="en-US" altLang="de-DE" sz="1200" b="1"/>
                </a:br>
                <a:r>
                  <a:rPr lang="en-US" altLang="de-DE" sz="1200"/>
                  <a:t>Lean, Competency Management</a:t>
                </a:r>
              </a:p>
            </p:txBody>
          </p:sp>
        </p:grpSp>
        <p:grpSp>
          <p:nvGrpSpPr>
            <p:cNvPr id="78" name="Gruppieren 77">
              <a:extLst>
                <a:ext uri="{FF2B5EF4-FFF2-40B4-BE49-F238E27FC236}">
                  <a16:creationId xmlns:a16="http://schemas.microsoft.com/office/drawing/2014/main" id="{79E81C1E-DDA1-4AFF-B331-866C52884A53}"/>
                </a:ext>
              </a:extLst>
            </p:cNvPr>
            <p:cNvGrpSpPr/>
            <p:nvPr/>
          </p:nvGrpSpPr>
          <p:grpSpPr>
            <a:xfrm>
              <a:off x="9129470" y="3686453"/>
              <a:ext cx="2581891" cy="521208"/>
              <a:chOff x="5331114" y="360374"/>
              <a:chExt cx="2581891" cy="521208"/>
            </a:xfrm>
          </p:grpSpPr>
          <p:sp>
            <p:nvSpPr>
              <p:cNvPr id="79" name="Rechteck 78">
                <a:extLst>
                  <a:ext uri="{FF2B5EF4-FFF2-40B4-BE49-F238E27FC236}">
                    <a16:creationId xmlns:a16="http://schemas.microsoft.com/office/drawing/2014/main" id="{132E6959-A636-46DE-9E02-02F6B9138B94}"/>
                  </a:ext>
                </a:extLst>
              </p:cNvPr>
              <p:cNvSpPr/>
              <p:nvPr/>
            </p:nvSpPr>
            <p:spPr bwMode="auto">
              <a:xfrm>
                <a:off x="5331114" y="360374"/>
                <a:ext cx="2581890"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80" name="Rectangle 21">
                <a:extLst>
                  <a:ext uri="{FF2B5EF4-FFF2-40B4-BE49-F238E27FC236}">
                    <a16:creationId xmlns:a16="http://schemas.microsoft.com/office/drawing/2014/main" id="{594F86BA-A268-4037-822A-4CFEF4A64807}"/>
                  </a:ext>
                </a:extLst>
              </p:cNvPr>
              <p:cNvSpPr>
                <a:spLocks noChangeArrowheads="1"/>
              </p:cNvSpPr>
              <p:nvPr/>
            </p:nvSpPr>
            <p:spPr bwMode="auto">
              <a:xfrm>
                <a:off x="5867747" y="360374"/>
                <a:ext cx="2045258"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Alexander Iannotta</a:t>
                </a:r>
                <a:br>
                  <a:rPr lang="en-US" altLang="de-DE" sz="1200" b="1"/>
                </a:br>
                <a:r>
                  <a:rPr lang="en-US" altLang="de-DE" sz="1200" b="1"/>
                  <a:t>Advisory Expert</a:t>
                </a:r>
                <a:br>
                  <a:rPr lang="en-US" altLang="de-DE" sz="1200" b="1"/>
                </a:br>
                <a:r>
                  <a:rPr lang="en-US" altLang="de-DE" sz="1200"/>
                  <a:t>Root Cause Expert</a:t>
                </a:r>
              </a:p>
            </p:txBody>
          </p:sp>
        </p:grpSp>
        <p:grpSp>
          <p:nvGrpSpPr>
            <p:cNvPr id="81" name="Gruppieren 80">
              <a:extLst>
                <a:ext uri="{FF2B5EF4-FFF2-40B4-BE49-F238E27FC236}">
                  <a16:creationId xmlns:a16="http://schemas.microsoft.com/office/drawing/2014/main" id="{51ED9157-FF13-4DB0-BB1F-8401208981D1}"/>
                </a:ext>
              </a:extLst>
            </p:cNvPr>
            <p:cNvGrpSpPr/>
            <p:nvPr/>
          </p:nvGrpSpPr>
          <p:grpSpPr>
            <a:xfrm>
              <a:off x="9140157" y="3061374"/>
              <a:ext cx="2581892" cy="525734"/>
              <a:chOff x="3513413" y="3704436"/>
              <a:chExt cx="2581892" cy="525734"/>
            </a:xfrm>
          </p:grpSpPr>
          <p:sp>
            <p:nvSpPr>
              <p:cNvPr id="82" name="Rechteck 81">
                <a:extLst>
                  <a:ext uri="{FF2B5EF4-FFF2-40B4-BE49-F238E27FC236}">
                    <a16:creationId xmlns:a16="http://schemas.microsoft.com/office/drawing/2014/main" id="{F566D467-782C-41BB-83C0-D417D4C97071}"/>
                  </a:ext>
                </a:extLst>
              </p:cNvPr>
              <p:cNvSpPr/>
              <p:nvPr/>
            </p:nvSpPr>
            <p:spPr bwMode="auto">
              <a:xfrm>
                <a:off x="3513413" y="3704436"/>
                <a:ext cx="2581892"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83" name="Rectangle 21">
                <a:extLst>
                  <a:ext uri="{FF2B5EF4-FFF2-40B4-BE49-F238E27FC236}">
                    <a16:creationId xmlns:a16="http://schemas.microsoft.com/office/drawing/2014/main" id="{E594AF6D-9558-41E1-928B-F944C2801CF1}"/>
                  </a:ext>
                </a:extLst>
              </p:cNvPr>
              <p:cNvSpPr>
                <a:spLocks noChangeArrowheads="1"/>
              </p:cNvSpPr>
              <p:nvPr/>
            </p:nvSpPr>
            <p:spPr bwMode="auto">
              <a:xfrm>
                <a:off x="4050048" y="3708962"/>
                <a:ext cx="2045257"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Ralf Flosbach</a:t>
                </a:r>
              </a:p>
              <a:p>
                <a:pPr>
                  <a:lnSpc>
                    <a:spcPct val="100000"/>
                  </a:lnSpc>
                  <a:buFontTx/>
                  <a:buNone/>
                </a:pPr>
                <a:r>
                  <a:rPr lang="en-US" altLang="de-DE" sz="1200"/>
                  <a:t>Lean Expert</a:t>
                </a:r>
              </a:p>
            </p:txBody>
          </p:sp>
        </p:grpSp>
        <p:pic>
          <p:nvPicPr>
            <p:cNvPr id="84" name="Grafik 83">
              <a:extLst>
                <a:ext uri="{FF2B5EF4-FFF2-40B4-BE49-F238E27FC236}">
                  <a16:creationId xmlns:a16="http://schemas.microsoft.com/office/drawing/2014/main" id="{8322D50C-9DBC-4C48-A70D-73A18B49A64E}"/>
                </a:ext>
              </a:extLst>
            </p:cNvPr>
            <p:cNvPicPr>
              <a:picLocks noChangeAspect="1"/>
            </p:cNvPicPr>
            <p:nvPr/>
          </p:nvPicPr>
          <p:blipFill>
            <a:blip r:embed="rId17" cstate="screen">
              <a:extLst>
                <a:ext uri="{BEBA8EAE-BF5A-486C-A8C5-ECC9F3942E4B}">
                  <a14:imgProps xmlns:a14="http://schemas.microsoft.com/office/drawing/2010/main">
                    <a14:imgLayer r:embed="rId18">
                      <a14:imgEffect>
                        <a14:backgroundRemoval t="9896" b="98958" l="0" r="92000">
                          <a14:foregroundMark x1="24000" y1="86458" x2="24000" y2="86458"/>
                          <a14:foregroundMark x1="26000" y1="77604" x2="667" y2="81771"/>
                          <a14:foregroundMark x1="667" y1="81771" x2="0" y2="82292"/>
                          <a14:foregroundMark x1="76667" y1="73438" x2="99333" y2="89063"/>
                          <a14:foregroundMark x1="99333" y1="89063" x2="68000" y2="99479"/>
                          <a14:foregroundMark x1="68000" y1="99479" x2="3333" y2="99479"/>
                          <a14:foregroundMark x1="3333" y1="99479" x2="4000" y2="85938"/>
                          <a14:foregroundMark x1="92000" y1="78125" x2="91333" y2="97917"/>
                          <a14:foregroundMark x1="91333" y1="97917" x2="92000" y2="80208"/>
                        </a14:backgroundRemoval>
                      </a14:imgEffect>
                    </a14:imgLayer>
                  </a14:imgProps>
                </a:ext>
                <a:ext uri="{28A0092B-C50C-407E-A947-70E740481C1C}">
                  <a14:useLocalDpi xmlns:a14="http://schemas.microsoft.com/office/drawing/2010/main"/>
                </a:ext>
              </a:extLst>
            </a:blip>
            <a:stretch>
              <a:fillRect/>
            </a:stretch>
          </p:blipFill>
          <p:spPr>
            <a:xfrm>
              <a:off x="9204630" y="3690979"/>
              <a:ext cx="362926" cy="464545"/>
            </a:xfrm>
            <a:prstGeom prst="rect">
              <a:avLst/>
            </a:prstGeom>
          </p:spPr>
        </p:pic>
        <p:pic>
          <p:nvPicPr>
            <p:cNvPr id="85" name="Grafik 84">
              <a:extLst>
                <a:ext uri="{FF2B5EF4-FFF2-40B4-BE49-F238E27FC236}">
                  <a16:creationId xmlns:a16="http://schemas.microsoft.com/office/drawing/2014/main" id="{98B77844-0BCF-476C-A28C-37ABE676865B}"/>
                </a:ext>
              </a:extLst>
            </p:cNvPr>
            <p:cNvPicPr>
              <a:picLocks noChangeAspect="1"/>
            </p:cNvPicPr>
            <p:nvPr/>
          </p:nvPicPr>
          <p:blipFill rotWithShape="1">
            <a:blip r:embed="rId19" cstate="screen">
              <a:extLst>
                <a:ext uri="{28A0092B-C50C-407E-A947-70E740481C1C}">
                  <a14:useLocalDpi xmlns:a14="http://schemas.microsoft.com/office/drawing/2010/main"/>
                </a:ext>
              </a:extLst>
            </a:blip>
            <a:srcRect/>
            <a:stretch/>
          </p:blipFill>
          <p:spPr>
            <a:xfrm>
              <a:off x="9218452" y="2492762"/>
              <a:ext cx="349513" cy="450000"/>
            </a:xfrm>
            <a:prstGeom prst="rect">
              <a:avLst/>
            </a:prstGeom>
          </p:spPr>
        </p:pic>
        <p:pic>
          <p:nvPicPr>
            <p:cNvPr id="86" name="Grafik 85">
              <a:extLst>
                <a:ext uri="{FF2B5EF4-FFF2-40B4-BE49-F238E27FC236}">
                  <a16:creationId xmlns:a16="http://schemas.microsoft.com/office/drawing/2014/main" id="{5F0555E4-15F7-4B14-976E-285AAD1FE4FE}"/>
                </a:ext>
              </a:extLst>
            </p:cNvPr>
            <p:cNvPicPr>
              <a:picLocks noChangeAspect="1"/>
            </p:cNvPicPr>
            <p:nvPr/>
          </p:nvPicPr>
          <p:blipFill rotWithShape="1">
            <a:blip r:embed="rId20" cstate="screen">
              <a:extLst>
                <a:ext uri="{28A0092B-C50C-407E-A947-70E740481C1C}">
                  <a14:useLocalDpi xmlns:a14="http://schemas.microsoft.com/office/drawing/2010/main"/>
                </a:ext>
              </a:extLst>
            </a:blip>
            <a:srcRect/>
            <a:stretch/>
          </p:blipFill>
          <p:spPr>
            <a:xfrm>
              <a:off x="9214195" y="1870930"/>
              <a:ext cx="353769" cy="456494"/>
            </a:xfrm>
            <a:prstGeom prst="rect">
              <a:avLst/>
            </a:prstGeom>
          </p:spPr>
        </p:pic>
        <p:pic>
          <p:nvPicPr>
            <p:cNvPr id="87" name="Grafik 86">
              <a:extLst>
                <a:ext uri="{FF2B5EF4-FFF2-40B4-BE49-F238E27FC236}">
                  <a16:creationId xmlns:a16="http://schemas.microsoft.com/office/drawing/2014/main" id="{A9CA3C5A-6446-4C09-9338-5F53F111CD12}"/>
                </a:ext>
              </a:extLst>
            </p:cNvPr>
            <p:cNvPicPr>
              <a:picLocks noChangeAspect="1"/>
            </p:cNvPicPr>
            <p:nvPr/>
          </p:nvPicPr>
          <p:blipFill rotWithShape="1">
            <a:blip r:embed="rId21" cstate="screen">
              <a:extLst>
                <a:ext uri="{28A0092B-C50C-407E-A947-70E740481C1C}">
                  <a14:useLocalDpi xmlns:a14="http://schemas.microsoft.com/office/drawing/2010/main"/>
                </a:ext>
              </a:extLst>
            </a:blip>
            <a:srcRect/>
            <a:stretch/>
          </p:blipFill>
          <p:spPr>
            <a:xfrm>
              <a:off x="9205533" y="3094897"/>
              <a:ext cx="362431" cy="452055"/>
            </a:xfrm>
            <a:prstGeom prst="rect">
              <a:avLst/>
            </a:prstGeom>
          </p:spPr>
        </p:pic>
        <p:grpSp>
          <p:nvGrpSpPr>
            <p:cNvPr id="88" name="Gruppieren 87">
              <a:extLst>
                <a:ext uri="{FF2B5EF4-FFF2-40B4-BE49-F238E27FC236}">
                  <a16:creationId xmlns:a16="http://schemas.microsoft.com/office/drawing/2014/main" id="{97F6C64C-CAF3-4363-88AC-E2DD47403614}"/>
                </a:ext>
              </a:extLst>
            </p:cNvPr>
            <p:cNvGrpSpPr/>
            <p:nvPr/>
          </p:nvGrpSpPr>
          <p:grpSpPr>
            <a:xfrm>
              <a:off x="9120441" y="4302462"/>
              <a:ext cx="2581891" cy="521208"/>
              <a:chOff x="5331114" y="360374"/>
              <a:chExt cx="2581891" cy="521208"/>
            </a:xfrm>
          </p:grpSpPr>
          <p:sp>
            <p:nvSpPr>
              <p:cNvPr id="89" name="Rechteck 88">
                <a:extLst>
                  <a:ext uri="{FF2B5EF4-FFF2-40B4-BE49-F238E27FC236}">
                    <a16:creationId xmlns:a16="http://schemas.microsoft.com/office/drawing/2014/main" id="{431A8735-1A48-4CEE-87DD-CDE3AFF49AFB}"/>
                  </a:ext>
                </a:extLst>
              </p:cNvPr>
              <p:cNvSpPr/>
              <p:nvPr/>
            </p:nvSpPr>
            <p:spPr bwMode="auto">
              <a:xfrm>
                <a:off x="5331114" y="360374"/>
                <a:ext cx="2581890"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90" name="Rectangle 21">
                <a:extLst>
                  <a:ext uri="{FF2B5EF4-FFF2-40B4-BE49-F238E27FC236}">
                    <a16:creationId xmlns:a16="http://schemas.microsoft.com/office/drawing/2014/main" id="{858EDE3A-4254-4273-9C5A-3B538D3ECF33}"/>
                  </a:ext>
                </a:extLst>
              </p:cNvPr>
              <p:cNvSpPr>
                <a:spLocks noChangeArrowheads="1"/>
              </p:cNvSpPr>
              <p:nvPr/>
            </p:nvSpPr>
            <p:spPr bwMode="auto">
              <a:xfrm>
                <a:off x="5867747" y="360374"/>
                <a:ext cx="2045258"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Burkhard Ludes</a:t>
                </a:r>
                <a:br>
                  <a:rPr lang="en-US" altLang="de-DE" sz="1200" b="1"/>
                </a:br>
                <a:r>
                  <a:rPr lang="en-US" altLang="de-DE" sz="1200"/>
                  <a:t>Business Excellence Consultant</a:t>
                </a:r>
              </a:p>
            </p:txBody>
          </p:sp>
        </p:grpSp>
        <p:pic>
          <p:nvPicPr>
            <p:cNvPr id="91" name="Grafik 90">
              <a:extLst>
                <a:ext uri="{FF2B5EF4-FFF2-40B4-BE49-F238E27FC236}">
                  <a16:creationId xmlns:a16="http://schemas.microsoft.com/office/drawing/2014/main" id="{715E35BE-8FFC-44A8-AE20-591C8AE83B9C}"/>
                </a:ext>
              </a:extLst>
            </p:cNvPr>
            <p:cNvPicPr>
              <a:picLocks noChangeAspect="1"/>
            </p:cNvPicPr>
            <p:nvPr/>
          </p:nvPicPr>
          <p:blipFill>
            <a:blip r:embed="rId22" cstate="screen">
              <a:extLst>
                <a:ext uri="{28A0092B-C50C-407E-A947-70E740481C1C}">
                  <a14:useLocalDpi xmlns:a14="http://schemas.microsoft.com/office/drawing/2010/main"/>
                </a:ext>
              </a:extLst>
            </a:blip>
            <a:stretch>
              <a:fillRect/>
            </a:stretch>
          </p:blipFill>
          <p:spPr>
            <a:xfrm>
              <a:off x="9205985" y="4337546"/>
              <a:ext cx="348816" cy="464400"/>
            </a:xfrm>
            <a:prstGeom prst="rect">
              <a:avLst/>
            </a:prstGeom>
          </p:spPr>
        </p:pic>
      </p:grpSp>
      <p:grpSp>
        <p:nvGrpSpPr>
          <p:cNvPr id="95" name="Gruppieren 94">
            <a:extLst>
              <a:ext uri="{FF2B5EF4-FFF2-40B4-BE49-F238E27FC236}">
                <a16:creationId xmlns:a16="http://schemas.microsoft.com/office/drawing/2014/main" id="{13E01B30-99E2-41A7-81F0-E2307B55EA84}"/>
              </a:ext>
            </a:extLst>
          </p:cNvPr>
          <p:cNvGrpSpPr/>
          <p:nvPr/>
        </p:nvGrpSpPr>
        <p:grpSpPr>
          <a:xfrm>
            <a:off x="9144427" y="1843073"/>
            <a:ext cx="2581891" cy="521208"/>
            <a:chOff x="5331114" y="360374"/>
            <a:chExt cx="2581891" cy="521208"/>
          </a:xfrm>
        </p:grpSpPr>
        <p:sp>
          <p:nvSpPr>
            <p:cNvPr id="96" name="Rechteck 95">
              <a:extLst>
                <a:ext uri="{FF2B5EF4-FFF2-40B4-BE49-F238E27FC236}">
                  <a16:creationId xmlns:a16="http://schemas.microsoft.com/office/drawing/2014/main" id="{99FF283D-2E88-4026-A41E-4D37DFEF188A}"/>
                </a:ext>
              </a:extLst>
            </p:cNvPr>
            <p:cNvSpPr/>
            <p:nvPr/>
          </p:nvSpPr>
          <p:spPr bwMode="auto">
            <a:xfrm>
              <a:off x="5331114" y="360374"/>
              <a:ext cx="2581890" cy="521208"/>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000">
                <a:solidFill>
                  <a:schemeClr val="tx1"/>
                </a:solidFill>
                <a:latin typeface="+mn-lt"/>
                <a:ea typeface="Arial Unicode MS" panose="020B0604020202020204" pitchFamily="34" charset="-128"/>
                <a:cs typeface="Arial Unicode MS" panose="020B0604020202020204" pitchFamily="34" charset="-128"/>
              </a:endParaRPr>
            </a:p>
          </p:txBody>
        </p:sp>
        <p:sp>
          <p:nvSpPr>
            <p:cNvPr id="97" name="Rectangle 21">
              <a:extLst>
                <a:ext uri="{FF2B5EF4-FFF2-40B4-BE49-F238E27FC236}">
                  <a16:creationId xmlns:a16="http://schemas.microsoft.com/office/drawing/2014/main" id="{3DB66FD4-8BE5-47A5-9C73-928843E52446}"/>
                </a:ext>
              </a:extLst>
            </p:cNvPr>
            <p:cNvSpPr>
              <a:spLocks noChangeArrowheads="1"/>
            </p:cNvSpPr>
            <p:nvPr/>
          </p:nvSpPr>
          <p:spPr bwMode="auto">
            <a:xfrm>
              <a:off x="5867747" y="360374"/>
              <a:ext cx="2045258" cy="521208"/>
            </a:xfrm>
            <a:prstGeom prst="rect">
              <a:avLst/>
            </a:prstGeom>
            <a:solidFill>
              <a:schemeClr val="bg1"/>
            </a:solidFill>
            <a:ln>
              <a:noFill/>
            </a:ln>
          </p:spPr>
          <p:txBody>
            <a:bodyPr tIns="72000" bIns="72000" anchor="ctr"/>
            <a:lstStyle>
              <a:lvl1pPr algn="l" eaLnBrk="0" hangingPunct="0">
                <a:lnSpc>
                  <a:spcPts val="2400"/>
                </a:lnSpc>
                <a:buFont typeface="Wingdings" pitchFamily="2" charset="2"/>
                <a:defRPr sz="2000">
                  <a:solidFill>
                    <a:schemeClr val="tx1"/>
                  </a:solidFill>
                  <a:latin typeface="Arial" charset="0"/>
                </a:defRPr>
              </a:lvl1pPr>
              <a:lvl2pPr marL="742950" indent="-285750" algn="l" eaLnBrk="0" hangingPunct="0">
                <a:lnSpc>
                  <a:spcPts val="2400"/>
                </a:lnSpc>
                <a:buClr>
                  <a:schemeClr val="tx2"/>
                </a:buClr>
                <a:buFont typeface="Wingdings" pitchFamily="2" charset="2"/>
                <a:buChar char="§"/>
                <a:defRPr sz="2000">
                  <a:solidFill>
                    <a:schemeClr val="tx1"/>
                  </a:solidFill>
                  <a:latin typeface="Arial" charset="0"/>
                </a:defRPr>
              </a:lvl2pPr>
              <a:lvl3pPr marL="1143000" indent="-228600" algn="l" eaLnBrk="0" hangingPunct="0">
                <a:lnSpc>
                  <a:spcPts val="2400"/>
                </a:lnSpc>
                <a:buClr>
                  <a:schemeClr val="tx2"/>
                </a:buClr>
                <a:buFont typeface="Wingdings" pitchFamily="2" charset="2"/>
                <a:buChar char="§"/>
                <a:defRPr sz="2000">
                  <a:solidFill>
                    <a:schemeClr val="tx1"/>
                  </a:solidFill>
                  <a:latin typeface="Arial" charset="0"/>
                </a:defRPr>
              </a:lvl3pPr>
              <a:lvl4pPr marL="1600200" indent="-228600" algn="l" eaLnBrk="0" hangingPunct="0">
                <a:lnSpc>
                  <a:spcPts val="2400"/>
                </a:lnSpc>
                <a:buClr>
                  <a:schemeClr val="tx2"/>
                </a:buClr>
                <a:buFont typeface="Wingdings" pitchFamily="2" charset="2"/>
                <a:buChar char="§"/>
                <a:defRPr sz="2000">
                  <a:solidFill>
                    <a:schemeClr val="tx1"/>
                  </a:solidFill>
                  <a:latin typeface="Arial" charset="0"/>
                </a:defRPr>
              </a:lvl4pPr>
              <a:lvl5pPr marL="2057400" indent="-228600" algn="l" eaLnBrk="0" hangingPunct="0">
                <a:lnSpc>
                  <a:spcPts val="2400"/>
                </a:lnSpc>
                <a:buClr>
                  <a:schemeClr val="tx2"/>
                </a:buClr>
                <a:buFont typeface="Wingdings" pitchFamily="2" charset="2"/>
                <a:buChar char="§"/>
                <a:defRPr sz="2000">
                  <a:solidFill>
                    <a:schemeClr val="tx1"/>
                  </a:solidFill>
                  <a:latin typeface="Arial" charset="0"/>
                </a:defRPr>
              </a:lvl5pPr>
              <a:lvl6pPr marL="25146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6pPr>
              <a:lvl7pPr marL="29718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7pPr>
              <a:lvl8pPr marL="34290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8pPr>
              <a:lvl9pPr marL="3886200" indent="-228600" eaLnBrk="0" fontAlgn="base" hangingPunct="0">
                <a:lnSpc>
                  <a:spcPts val="2400"/>
                </a:lnSpc>
                <a:spcBef>
                  <a:spcPct val="0"/>
                </a:spcBef>
                <a:spcAft>
                  <a:spcPct val="0"/>
                </a:spcAft>
                <a:buClr>
                  <a:schemeClr val="tx2"/>
                </a:buClr>
                <a:buFont typeface="Wingdings" pitchFamily="2" charset="2"/>
                <a:buChar char="§"/>
                <a:defRPr sz="2000">
                  <a:solidFill>
                    <a:schemeClr val="tx1"/>
                  </a:solidFill>
                  <a:latin typeface="Arial" charset="0"/>
                </a:defRPr>
              </a:lvl9pPr>
            </a:lstStyle>
            <a:p>
              <a:pPr>
                <a:lnSpc>
                  <a:spcPct val="100000"/>
                </a:lnSpc>
                <a:buFontTx/>
                <a:buNone/>
              </a:pPr>
              <a:r>
                <a:rPr lang="en-US" altLang="de-DE" sz="1200" b="1"/>
                <a:t>Jennifer Bottke</a:t>
              </a:r>
            </a:p>
            <a:p>
              <a:pPr>
                <a:lnSpc>
                  <a:spcPct val="100000"/>
                </a:lnSpc>
                <a:buFontTx/>
                <a:buNone/>
              </a:pPr>
              <a:r>
                <a:rPr lang="en-US" altLang="de-DE" sz="1200" b="1"/>
                <a:t>Head of Department</a:t>
              </a:r>
              <a:endParaRPr lang="en-US" altLang="de-DE" sz="1200"/>
            </a:p>
          </p:txBody>
        </p:sp>
      </p:grpSp>
      <p:pic>
        <p:nvPicPr>
          <p:cNvPr id="101" name="Grafik 100">
            <a:extLst>
              <a:ext uri="{FF2B5EF4-FFF2-40B4-BE49-F238E27FC236}">
                <a16:creationId xmlns:a16="http://schemas.microsoft.com/office/drawing/2014/main" id="{340A3AF7-09FC-4DF8-8AAB-85B44D647922}"/>
              </a:ext>
            </a:extLst>
          </p:cNvPr>
          <p:cNvPicPr>
            <a:picLocks noChangeAspect="1"/>
          </p:cNvPicPr>
          <p:nvPr/>
        </p:nvPicPr>
        <p:blipFill>
          <a:blip r:embed="rId23" cstate="screen">
            <a:extLst>
              <a:ext uri="{28A0092B-C50C-407E-A947-70E740481C1C}">
                <a14:useLocalDpi xmlns:a14="http://schemas.microsoft.com/office/drawing/2010/main"/>
              </a:ext>
            </a:extLst>
          </a:blip>
          <a:stretch>
            <a:fillRect/>
          </a:stretch>
        </p:blipFill>
        <p:spPr>
          <a:xfrm>
            <a:off x="9204630" y="1859704"/>
            <a:ext cx="385353" cy="464400"/>
          </a:xfrm>
          <a:prstGeom prst="rect">
            <a:avLst/>
          </a:prstGeom>
        </p:spPr>
      </p:pic>
      <p:cxnSp>
        <p:nvCxnSpPr>
          <p:cNvPr id="93" name="Gerade Verbindung mit Pfeil 92">
            <a:extLst>
              <a:ext uri="{FF2B5EF4-FFF2-40B4-BE49-F238E27FC236}">
                <a16:creationId xmlns:a16="http://schemas.microsoft.com/office/drawing/2014/main" id="{934F8F59-91F7-45D2-9C17-175023485B1D}"/>
              </a:ext>
            </a:extLst>
          </p:cNvPr>
          <p:cNvCxnSpPr>
            <a:cxnSpLocks/>
            <a:stCxn id="82" idx="1"/>
          </p:cNvCxnSpPr>
          <p:nvPr/>
        </p:nvCxnSpPr>
        <p:spPr bwMode="auto">
          <a:xfrm flipH="1" flipV="1">
            <a:off x="6302134" y="3058285"/>
            <a:ext cx="2838023" cy="870151"/>
          </a:xfrm>
          <a:prstGeom prst="straightConnector1">
            <a:avLst/>
          </a:prstGeom>
          <a:ln>
            <a:headEnd type="none" w="med" len="med"/>
            <a:tailEnd type="triangle"/>
          </a:ln>
        </p:spPr>
        <p:style>
          <a:lnRef idx="2">
            <a:schemeClr val="accent3"/>
          </a:lnRef>
          <a:fillRef idx="0">
            <a:schemeClr val="accent3"/>
          </a:fillRef>
          <a:effectRef idx="1">
            <a:schemeClr val="accent3"/>
          </a:effectRef>
          <a:fontRef idx="minor">
            <a:schemeClr val="tx1"/>
          </a:fontRef>
        </p:style>
      </p:cxnSp>
    </p:spTree>
    <p:extLst>
      <p:ext uri="{BB962C8B-B14F-4D97-AF65-F5344CB8AC3E}">
        <p14:creationId xmlns:p14="http://schemas.microsoft.com/office/powerpoint/2010/main" val="108702465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E189250-6EDD-40A5-B6A2-41386235CE94}"/>
              </a:ext>
            </a:extLst>
          </p:cNvPr>
          <p:cNvSpPr>
            <a:spLocks noGrp="1"/>
          </p:cNvSpPr>
          <p:nvPr>
            <p:ph type="title"/>
          </p:nvPr>
        </p:nvSpPr>
        <p:spPr/>
        <p:txBody>
          <a:bodyPr/>
          <a:lstStyle/>
          <a:p>
            <a:r>
              <a:rPr lang="en-US" altLang="en-US">
                <a:latin typeface="Arial" charset="0"/>
                <a:cs typeface="Arial" charset="0"/>
              </a:rPr>
              <a:t>Please Quickly Introduce Yourself</a:t>
            </a:r>
          </a:p>
        </p:txBody>
      </p:sp>
      <p:sp>
        <p:nvSpPr>
          <p:cNvPr id="6" name="Rectangle 3">
            <a:extLst>
              <a:ext uri="{FF2B5EF4-FFF2-40B4-BE49-F238E27FC236}">
                <a16:creationId xmlns:a16="http://schemas.microsoft.com/office/drawing/2014/main" id="{E8AD73F1-1C9F-4061-AE53-6B2821EFE35B}"/>
              </a:ext>
            </a:extLst>
          </p:cNvPr>
          <p:cNvSpPr>
            <a:spLocks noGrp="1" noChangeArrowheads="1"/>
          </p:cNvSpPr>
          <p:nvPr>
            <p:ph idx="1"/>
          </p:nvPr>
        </p:nvSpPr>
        <p:spPr>
          <a:xfrm>
            <a:off x="4478995" y="1522189"/>
            <a:ext cx="6157111" cy="4283075"/>
          </a:xfrm>
          <a:ln/>
        </p:spPr>
        <p:txBody>
          <a:bodyPr/>
          <a:lstStyle/>
          <a:p>
            <a:pPr marL="357187" lvl="1" indent="0" defTabSz="1055688">
              <a:lnSpc>
                <a:spcPct val="130000"/>
              </a:lnSpc>
              <a:buClrTx/>
              <a:buNone/>
            </a:pPr>
            <a:r>
              <a:rPr lang="en-US" altLang="en-US" sz="2000">
                <a:latin typeface="Arial" charset="0"/>
                <a:cs typeface="Arial" charset="0"/>
              </a:rPr>
              <a:t>Who is new (has not attended ML 1 class)?</a:t>
            </a:r>
          </a:p>
          <a:p>
            <a:pPr marL="642937" lvl="1" indent="-285750" defTabSz="1055688">
              <a:lnSpc>
                <a:spcPct val="130000"/>
              </a:lnSpc>
              <a:buClrTx/>
              <a:buFont typeface="Arial" panose="020B0604020202020204" pitchFamily="34" charset="0"/>
              <a:buChar char="•"/>
            </a:pPr>
            <a:endParaRPr lang="en-US" altLang="en-US" sz="2000">
              <a:latin typeface="Arial" charset="0"/>
              <a:cs typeface="Arial" charset="0"/>
            </a:endParaRPr>
          </a:p>
          <a:p>
            <a:pPr marL="642937" lvl="1" indent="-285750" defTabSz="1055688">
              <a:lnSpc>
                <a:spcPct val="130000"/>
              </a:lnSpc>
              <a:buClrTx/>
              <a:buFont typeface="Arial" panose="020B0604020202020204" pitchFamily="34" charset="0"/>
              <a:buChar char="•"/>
            </a:pPr>
            <a:r>
              <a:rPr lang="en-US" altLang="en-US" sz="2000">
                <a:latin typeface="Arial" charset="0"/>
                <a:cs typeface="Arial" charset="0"/>
              </a:rPr>
              <a:t>Your name and function / organization</a:t>
            </a:r>
          </a:p>
          <a:p>
            <a:pPr marL="642937" lvl="1" indent="-285750" defTabSz="1055688">
              <a:lnSpc>
                <a:spcPct val="130000"/>
              </a:lnSpc>
              <a:buClrTx/>
            </a:pPr>
            <a:r>
              <a:rPr lang="en-US" altLang="en-US" sz="2000">
                <a:latin typeface="Arial" charset="0"/>
                <a:cs typeface="Arial" charset="0"/>
              </a:rPr>
              <a:t>Your background regarding Machine Learning</a:t>
            </a:r>
          </a:p>
        </p:txBody>
      </p:sp>
      <p:pic>
        <p:nvPicPr>
          <p:cNvPr id="8196" name="Picture 4" descr="Bildergebnis fÃ¼r machine learning cartoon">
            <a:extLst>
              <a:ext uri="{FF2B5EF4-FFF2-40B4-BE49-F238E27FC236}">
                <a16:creationId xmlns:a16="http://schemas.microsoft.com/office/drawing/2014/main" id="{7FD011B0-3143-4346-9EC9-BAEFF205A73A}"/>
              </a:ext>
            </a:extLst>
          </p:cNvPr>
          <p:cNvPicPr>
            <a:picLocks noChangeAspect="1" noChangeArrowheads="1"/>
          </p:cNvPicPr>
          <p:nvPr/>
        </p:nvPicPr>
        <p:blipFill>
          <a:blip r:embed="rId2" cstate="screen">
            <a:extLst>
              <a:ext uri="{28A0092B-C50C-407E-A947-70E740481C1C}">
                <a14:useLocalDpi xmlns:a14="http://schemas.microsoft.com/office/drawing/2010/main"/>
              </a:ext>
            </a:extLst>
          </a:blip>
          <a:srcRect/>
          <a:stretch>
            <a:fillRect/>
          </a:stretch>
        </p:blipFill>
        <p:spPr bwMode="auto">
          <a:xfrm>
            <a:off x="590563" y="1330586"/>
            <a:ext cx="3686708" cy="47613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145733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49570" y="1271142"/>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de-DE"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2303330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1"/>
            <a:ext cx="12198350" cy="1440000"/>
          </a:xfrm>
        </p:spPr>
        <p:txBody>
          <a:bodyPr/>
          <a:lstStyle/>
          <a:p>
            <a:r>
              <a:rPr lang="en-US"/>
              <a:t>Learning Types</a:t>
            </a:r>
          </a:p>
        </p:txBody>
      </p:sp>
      <p:sp>
        <p:nvSpPr>
          <p:cNvPr id="7" name="Rechteck 6">
            <a:extLst>
              <a:ext uri="{FF2B5EF4-FFF2-40B4-BE49-F238E27FC236}">
                <a16:creationId xmlns:a16="http://schemas.microsoft.com/office/drawing/2014/main" id="{A860E207-445B-4C26-AEF6-34A730ED78D0}"/>
              </a:ext>
            </a:extLst>
          </p:cNvPr>
          <p:cNvSpPr/>
          <p:nvPr/>
        </p:nvSpPr>
        <p:spPr>
          <a:xfrm>
            <a:off x="627063" y="5805264"/>
            <a:ext cx="11088687" cy="396139"/>
          </a:xfrm>
          <a:prstGeom prst="rect">
            <a:avLst/>
          </a:prstGeom>
          <a:noFill/>
          <a:ln w="9525">
            <a:solidFill>
              <a:schemeClr val="accent1"/>
            </a:solidFill>
            <a:miter lim="800000"/>
            <a:headEnd/>
            <a:tailEnd/>
          </a:ln>
        </p:spPr>
        <p:txBody>
          <a:bodyPr vert="horz" wrap="square" lIns="180000" tIns="432000" rIns="180000" bIns="432000" numCol="1" anchor="ctr" anchorCtr="0" compatLnSpc="1">
            <a:prstTxWarp prst="textNoShape">
              <a:avLst/>
            </a:prstTxWarp>
            <a:noAutofit/>
          </a:bodyPr>
          <a:lstStyle/>
          <a:p>
            <a:pPr algn="ctr">
              <a:spcBef>
                <a:spcPct val="0"/>
              </a:spcBef>
            </a:pPr>
            <a:r>
              <a:rPr lang="en-US" b="1">
                <a:solidFill>
                  <a:srgbClr val="00646E"/>
                </a:solidFill>
                <a:ea typeface="+mj-ea"/>
                <a:cs typeface="Arial" pitchFamily="34" charset="0"/>
              </a:rPr>
              <a:t>For our business „supervised learning“ is probably the most frequent relevant learning type</a:t>
            </a:r>
          </a:p>
        </p:txBody>
      </p:sp>
      <p:grpSp>
        <p:nvGrpSpPr>
          <p:cNvPr id="41" name="Gruppieren 40">
            <a:extLst>
              <a:ext uri="{FF2B5EF4-FFF2-40B4-BE49-F238E27FC236}">
                <a16:creationId xmlns:a16="http://schemas.microsoft.com/office/drawing/2014/main" id="{43745BE8-A784-4110-9A17-4A6F656E699E}"/>
              </a:ext>
            </a:extLst>
          </p:cNvPr>
          <p:cNvGrpSpPr/>
          <p:nvPr/>
        </p:nvGrpSpPr>
        <p:grpSpPr>
          <a:xfrm>
            <a:off x="1124104" y="2966006"/>
            <a:ext cx="2951014" cy="1985185"/>
            <a:chOff x="1382652" y="3275968"/>
            <a:chExt cx="2901711" cy="2457288"/>
          </a:xfrm>
        </p:grpSpPr>
        <p:cxnSp>
          <p:nvCxnSpPr>
            <p:cNvPr id="8" name="Gerade Verbindung mit Pfeil 7">
              <a:extLst>
                <a:ext uri="{FF2B5EF4-FFF2-40B4-BE49-F238E27FC236}">
                  <a16:creationId xmlns:a16="http://schemas.microsoft.com/office/drawing/2014/main" id="{061B91E6-EAEC-4A87-9C14-EE844A56AFEB}"/>
                </a:ext>
              </a:extLst>
            </p:cNvPr>
            <p:cNvCxnSpPr/>
            <p:nvPr/>
          </p:nvCxnSpPr>
          <p:spPr bwMode="auto">
            <a:xfrm flipV="1">
              <a:off x="1692387" y="3275968"/>
              <a:ext cx="0" cy="2340000"/>
            </a:xfrm>
            <a:prstGeom prst="straightConnector1">
              <a:avLst/>
            </a:prstGeom>
            <a:solidFill>
              <a:schemeClr val="tx2"/>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mit Pfeil 13">
              <a:extLst>
                <a:ext uri="{FF2B5EF4-FFF2-40B4-BE49-F238E27FC236}">
                  <a16:creationId xmlns:a16="http://schemas.microsoft.com/office/drawing/2014/main" id="{EA327A5B-B04E-4D0E-AE1D-3F88D42C010B}"/>
                </a:ext>
              </a:extLst>
            </p:cNvPr>
            <p:cNvCxnSpPr/>
            <p:nvPr/>
          </p:nvCxnSpPr>
          <p:spPr bwMode="auto">
            <a:xfrm>
              <a:off x="1476363" y="5449972"/>
              <a:ext cx="2808000" cy="0"/>
            </a:xfrm>
            <a:prstGeom prst="straightConnector1">
              <a:avLst/>
            </a:prstGeom>
            <a:solidFill>
              <a:schemeClr val="tx2"/>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 name="Textfeld 15">
              <a:extLst>
                <a:ext uri="{FF2B5EF4-FFF2-40B4-BE49-F238E27FC236}">
                  <a16:creationId xmlns:a16="http://schemas.microsoft.com/office/drawing/2014/main" id="{D5950199-997E-4D16-80B9-3BA105DEBF4B}"/>
                </a:ext>
              </a:extLst>
            </p:cNvPr>
            <p:cNvSpPr txBox="1"/>
            <p:nvPr/>
          </p:nvSpPr>
          <p:spPr>
            <a:xfrm rot="16200000">
              <a:off x="959395" y="4273895"/>
              <a:ext cx="1033937"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P-Stage [mbar]</a:t>
              </a:r>
            </a:p>
          </p:txBody>
        </p:sp>
        <p:sp>
          <p:nvSpPr>
            <p:cNvPr id="17" name="Textfeld 16">
              <a:extLst>
                <a:ext uri="{FF2B5EF4-FFF2-40B4-BE49-F238E27FC236}">
                  <a16:creationId xmlns:a16="http://schemas.microsoft.com/office/drawing/2014/main" id="{C721B7C1-ECE6-4ED6-9D92-97B5A239CA9E}"/>
                </a:ext>
              </a:extLst>
            </p:cNvPr>
            <p:cNvSpPr txBox="1"/>
            <p:nvPr/>
          </p:nvSpPr>
          <p:spPr>
            <a:xfrm>
              <a:off x="2461756" y="5545832"/>
              <a:ext cx="1033937"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D-Stage [mbar]</a:t>
              </a:r>
            </a:p>
          </p:txBody>
        </p:sp>
        <p:pic>
          <p:nvPicPr>
            <p:cNvPr id="19" name="Grafik 18" descr="Schließen">
              <a:extLst>
                <a:ext uri="{FF2B5EF4-FFF2-40B4-BE49-F238E27FC236}">
                  <a16:creationId xmlns:a16="http://schemas.microsoft.com/office/drawing/2014/main" id="{BD1218E1-3CB5-4C02-A802-0C1C526FF8B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96607" y="4577894"/>
              <a:ext cx="288000" cy="288000"/>
            </a:xfrm>
            <a:prstGeom prst="rect">
              <a:avLst/>
            </a:prstGeom>
          </p:spPr>
        </p:pic>
        <p:pic>
          <p:nvPicPr>
            <p:cNvPr id="20" name="Grafik 19" descr="Schließen">
              <a:extLst>
                <a:ext uri="{FF2B5EF4-FFF2-40B4-BE49-F238E27FC236}">
                  <a16:creationId xmlns:a16="http://schemas.microsoft.com/office/drawing/2014/main" id="{65CF6974-7507-4FF6-A69F-CEEA287844B3}"/>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383582" y="4910713"/>
              <a:ext cx="288000" cy="288000"/>
            </a:xfrm>
            <a:prstGeom prst="rect">
              <a:avLst/>
            </a:prstGeom>
          </p:spPr>
        </p:pic>
        <p:pic>
          <p:nvPicPr>
            <p:cNvPr id="21" name="Grafik 20" descr="Schließen">
              <a:extLst>
                <a:ext uri="{FF2B5EF4-FFF2-40B4-BE49-F238E27FC236}">
                  <a16:creationId xmlns:a16="http://schemas.microsoft.com/office/drawing/2014/main" id="{69837630-0322-491C-BB87-295812768C2D}"/>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908412" y="4973153"/>
              <a:ext cx="288000" cy="288000"/>
            </a:xfrm>
            <a:prstGeom prst="rect">
              <a:avLst/>
            </a:prstGeom>
          </p:spPr>
        </p:pic>
        <p:pic>
          <p:nvPicPr>
            <p:cNvPr id="22" name="Grafik 21" descr="Schließen">
              <a:extLst>
                <a:ext uri="{FF2B5EF4-FFF2-40B4-BE49-F238E27FC236}">
                  <a16:creationId xmlns:a16="http://schemas.microsoft.com/office/drawing/2014/main" id="{951FBE0A-326D-4464-883E-5665B1849119}"/>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3507030" y="4997213"/>
              <a:ext cx="288000" cy="288000"/>
            </a:xfrm>
            <a:prstGeom prst="rect">
              <a:avLst/>
            </a:prstGeom>
          </p:spPr>
        </p:pic>
        <p:pic>
          <p:nvPicPr>
            <p:cNvPr id="23" name="Grafik 22" descr="Schließen">
              <a:extLst>
                <a:ext uri="{FF2B5EF4-FFF2-40B4-BE49-F238E27FC236}">
                  <a16:creationId xmlns:a16="http://schemas.microsoft.com/office/drawing/2014/main" id="{3EB09282-6B36-4DA6-9F2C-AC2A12E1918C}"/>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1841681" y="3930970"/>
              <a:ext cx="288000" cy="288000"/>
            </a:xfrm>
            <a:prstGeom prst="rect">
              <a:avLst/>
            </a:prstGeom>
          </p:spPr>
        </p:pic>
        <p:pic>
          <p:nvPicPr>
            <p:cNvPr id="24" name="Grafik 23" descr="Schließen">
              <a:extLst>
                <a:ext uri="{FF2B5EF4-FFF2-40B4-BE49-F238E27FC236}">
                  <a16:creationId xmlns:a16="http://schemas.microsoft.com/office/drawing/2014/main" id="{90B56455-FC10-4895-8959-8F1FDB3A2DE6}"/>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239582" y="3674393"/>
              <a:ext cx="288000" cy="288000"/>
            </a:xfrm>
            <a:prstGeom prst="rect">
              <a:avLst/>
            </a:prstGeom>
          </p:spPr>
        </p:pic>
        <p:pic>
          <p:nvPicPr>
            <p:cNvPr id="25" name="Grafik 24" descr="Schließen">
              <a:extLst>
                <a:ext uri="{FF2B5EF4-FFF2-40B4-BE49-F238E27FC236}">
                  <a16:creationId xmlns:a16="http://schemas.microsoft.com/office/drawing/2014/main" id="{90B04231-8B59-4BDE-AFA4-774D04FC2BAB}"/>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2945306" y="4723388"/>
              <a:ext cx="288000" cy="288000"/>
            </a:xfrm>
            <a:prstGeom prst="rect">
              <a:avLst/>
            </a:prstGeom>
          </p:spPr>
        </p:pic>
        <p:pic>
          <p:nvPicPr>
            <p:cNvPr id="28" name="Grafik 27" descr="Häkchen">
              <a:extLst>
                <a:ext uri="{FF2B5EF4-FFF2-40B4-BE49-F238E27FC236}">
                  <a16:creationId xmlns:a16="http://schemas.microsoft.com/office/drawing/2014/main" id="{4511FB98-2585-45D1-9645-0170C3B5DE9C}"/>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901126" y="3594008"/>
              <a:ext cx="288000" cy="288000"/>
            </a:xfrm>
            <a:prstGeom prst="rect">
              <a:avLst/>
            </a:prstGeom>
          </p:spPr>
        </p:pic>
        <p:pic>
          <p:nvPicPr>
            <p:cNvPr id="29" name="Grafik 28" descr="Häkchen">
              <a:extLst>
                <a:ext uri="{FF2B5EF4-FFF2-40B4-BE49-F238E27FC236}">
                  <a16:creationId xmlns:a16="http://schemas.microsoft.com/office/drawing/2014/main" id="{E42232D4-000F-4F3A-9933-35101AA7593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567688" y="3505904"/>
              <a:ext cx="288000" cy="288000"/>
            </a:xfrm>
            <a:prstGeom prst="rect">
              <a:avLst/>
            </a:prstGeom>
          </p:spPr>
        </p:pic>
        <p:pic>
          <p:nvPicPr>
            <p:cNvPr id="30" name="Grafik 29" descr="Häkchen">
              <a:extLst>
                <a:ext uri="{FF2B5EF4-FFF2-40B4-BE49-F238E27FC236}">
                  <a16:creationId xmlns:a16="http://schemas.microsoft.com/office/drawing/2014/main" id="{2B6E120D-8180-4FD2-B219-10C05C87BDD3}"/>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333190" y="4203434"/>
              <a:ext cx="288000" cy="288000"/>
            </a:xfrm>
            <a:prstGeom prst="rect">
              <a:avLst/>
            </a:prstGeom>
          </p:spPr>
        </p:pic>
        <p:pic>
          <p:nvPicPr>
            <p:cNvPr id="31" name="Grafik 30" descr="Häkchen">
              <a:extLst>
                <a:ext uri="{FF2B5EF4-FFF2-40B4-BE49-F238E27FC236}">
                  <a16:creationId xmlns:a16="http://schemas.microsoft.com/office/drawing/2014/main" id="{4ADEB68B-706B-4ACA-BD10-49D056132582}"/>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731058" y="3886461"/>
              <a:ext cx="288000" cy="288000"/>
            </a:xfrm>
            <a:prstGeom prst="rect">
              <a:avLst/>
            </a:prstGeom>
          </p:spPr>
        </p:pic>
        <p:pic>
          <p:nvPicPr>
            <p:cNvPr id="32" name="Grafik 31" descr="Häkchen">
              <a:extLst>
                <a:ext uri="{FF2B5EF4-FFF2-40B4-BE49-F238E27FC236}">
                  <a16:creationId xmlns:a16="http://schemas.microsoft.com/office/drawing/2014/main" id="{ABB5D8BD-8D86-45A3-BDFD-BCB11704D3FA}"/>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3228560" y="3870698"/>
              <a:ext cx="288000" cy="288000"/>
            </a:xfrm>
            <a:prstGeom prst="rect">
              <a:avLst/>
            </a:prstGeom>
          </p:spPr>
        </p:pic>
        <p:pic>
          <p:nvPicPr>
            <p:cNvPr id="33" name="Grafik 32" descr="Häkchen">
              <a:extLst>
                <a:ext uri="{FF2B5EF4-FFF2-40B4-BE49-F238E27FC236}">
                  <a16:creationId xmlns:a16="http://schemas.microsoft.com/office/drawing/2014/main" id="{B357D8ED-E002-4CEF-BDC0-E2A6ECBBDA3D}"/>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843837" y="4101392"/>
              <a:ext cx="288000" cy="288000"/>
            </a:xfrm>
            <a:prstGeom prst="rect">
              <a:avLst/>
            </a:prstGeom>
          </p:spPr>
        </p:pic>
      </p:grpSp>
      <p:sp>
        <p:nvSpPr>
          <p:cNvPr id="34" name="Rechteck 33">
            <a:extLst>
              <a:ext uri="{FF2B5EF4-FFF2-40B4-BE49-F238E27FC236}">
                <a16:creationId xmlns:a16="http://schemas.microsoft.com/office/drawing/2014/main" id="{F349FEF8-9CBE-454C-8CB0-F3036DEE2037}"/>
              </a:ext>
            </a:extLst>
          </p:cNvPr>
          <p:cNvSpPr/>
          <p:nvPr/>
        </p:nvSpPr>
        <p:spPr bwMode="auto">
          <a:xfrm>
            <a:off x="878595" y="1340768"/>
            <a:ext cx="3262064" cy="357851"/>
          </a:xfrm>
          <a:prstGeom prst="rect">
            <a:avLst/>
          </a:prstGeom>
          <a:solidFill>
            <a:srgbClr val="92D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Supervised Learning</a:t>
            </a:r>
          </a:p>
        </p:txBody>
      </p:sp>
      <p:sp>
        <p:nvSpPr>
          <p:cNvPr id="35" name="Rechteck 34">
            <a:extLst>
              <a:ext uri="{FF2B5EF4-FFF2-40B4-BE49-F238E27FC236}">
                <a16:creationId xmlns:a16="http://schemas.microsoft.com/office/drawing/2014/main" id="{7377BD36-A4A5-4043-9F5C-6F70AA173EF7}"/>
              </a:ext>
            </a:extLst>
          </p:cNvPr>
          <p:cNvSpPr/>
          <p:nvPr/>
        </p:nvSpPr>
        <p:spPr bwMode="auto">
          <a:xfrm>
            <a:off x="7974550" y="1340768"/>
            <a:ext cx="3262064" cy="357851"/>
          </a:xfrm>
          <a:prstGeom prst="rect">
            <a:avLst/>
          </a:prstGeom>
          <a:solidFill>
            <a:srgbClr val="0070C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Unsupervised Learning</a:t>
            </a:r>
          </a:p>
        </p:txBody>
      </p:sp>
      <p:sp>
        <p:nvSpPr>
          <p:cNvPr id="36" name="Textfeld 35">
            <a:extLst>
              <a:ext uri="{FF2B5EF4-FFF2-40B4-BE49-F238E27FC236}">
                <a16:creationId xmlns:a16="http://schemas.microsoft.com/office/drawing/2014/main" id="{9EF7C626-C142-4AFD-BA26-42A95640EBC8}"/>
              </a:ext>
            </a:extLst>
          </p:cNvPr>
          <p:cNvSpPr txBox="1"/>
          <p:nvPr/>
        </p:nvSpPr>
        <p:spPr>
          <a:xfrm>
            <a:off x="898582" y="1816594"/>
            <a:ext cx="3418466" cy="1000338"/>
          </a:xfrm>
          <a:prstGeom prst="rect">
            <a:avLst/>
          </a:prstGeom>
          <a:noFill/>
        </p:spPr>
        <p:txBody>
          <a:bodyPr wrap="square" lIns="0" tIns="0" rIns="0" bIns="0" rtlCol="0">
            <a:spAutoFit/>
          </a:bodyPr>
          <a:lstStyle/>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“Features” (Xs) and “Targets” (Ys)</a:t>
            </a:r>
          </a:p>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Example: Start Reliability </a:t>
            </a:r>
          </a:p>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Y: Successful ignition         / Failure ignition</a:t>
            </a:r>
          </a:p>
        </p:txBody>
      </p:sp>
      <p:pic>
        <p:nvPicPr>
          <p:cNvPr id="37" name="Grafik 36" descr="Häkchen">
            <a:extLst>
              <a:ext uri="{FF2B5EF4-FFF2-40B4-BE49-F238E27FC236}">
                <a16:creationId xmlns:a16="http://schemas.microsoft.com/office/drawing/2014/main" id="{6F4B3A35-BA21-4244-958F-F5CA7B629080}"/>
              </a:ext>
            </a:extLst>
          </p:cNvPr>
          <p:cNvPicPr>
            <a:picLocks noChangeAspect="1"/>
          </p:cNvPicPr>
          <p:nvPr/>
        </p:nvPicPr>
        <p:blipFill>
          <a:blip r:embed="rId4" cstate="screen">
            <a:extLst>
              <a:ext uri="{28A0092B-C50C-407E-A947-70E740481C1C}">
                <a14:useLocalDpi xmlns:a14="http://schemas.microsoft.com/office/drawing/2010/main"/>
              </a:ext>
              <a:ext uri="{96DAC541-7B7A-43D3-8B79-37D633B846F1}">
                <asvg:svgBlip xmlns:asvg="http://schemas.microsoft.com/office/drawing/2016/SVG/main" r:embed="rId5"/>
              </a:ext>
            </a:extLst>
          </a:blip>
          <a:stretch>
            <a:fillRect/>
          </a:stretch>
        </p:blipFill>
        <p:spPr>
          <a:xfrm>
            <a:off x="2679125" y="2547753"/>
            <a:ext cx="288000" cy="288000"/>
          </a:xfrm>
          <a:prstGeom prst="rect">
            <a:avLst/>
          </a:prstGeom>
        </p:spPr>
      </p:pic>
      <p:pic>
        <p:nvPicPr>
          <p:cNvPr id="38" name="Grafik 37" descr="Schließen">
            <a:extLst>
              <a:ext uri="{FF2B5EF4-FFF2-40B4-BE49-F238E27FC236}">
                <a16:creationId xmlns:a16="http://schemas.microsoft.com/office/drawing/2014/main" id="{F908064B-E8D1-4C71-8113-5A86DD5C51D4}"/>
              </a:ext>
            </a:extLst>
          </p:cNvPr>
          <p:cNvPicPr>
            <a:picLocks noChangeAspect="1"/>
          </p:cNvPicPr>
          <p:nvPr/>
        </p:nvPicPr>
        <p:blipFill>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tretch>
            <a:fillRect/>
          </a:stretch>
        </p:blipFill>
        <p:spPr>
          <a:xfrm>
            <a:off x="4306707" y="2564920"/>
            <a:ext cx="288000" cy="288000"/>
          </a:xfrm>
          <a:prstGeom prst="rect">
            <a:avLst/>
          </a:prstGeom>
        </p:spPr>
      </p:pic>
      <p:sp>
        <p:nvSpPr>
          <p:cNvPr id="40" name="Textfeld 39">
            <a:extLst>
              <a:ext uri="{FF2B5EF4-FFF2-40B4-BE49-F238E27FC236}">
                <a16:creationId xmlns:a16="http://schemas.microsoft.com/office/drawing/2014/main" id="{FA1F368D-5D55-4677-8AFA-339DCE561DF2}"/>
              </a:ext>
            </a:extLst>
          </p:cNvPr>
          <p:cNvSpPr txBox="1"/>
          <p:nvPr/>
        </p:nvSpPr>
        <p:spPr>
          <a:xfrm>
            <a:off x="7974550" y="1775422"/>
            <a:ext cx="4349695" cy="609462"/>
          </a:xfrm>
          <a:prstGeom prst="rect">
            <a:avLst/>
          </a:prstGeom>
          <a:noFill/>
        </p:spPr>
        <p:txBody>
          <a:bodyPr wrap="square" lIns="0" tIns="0" rIns="0" bIns="0" rtlCol="0">
            <a:spAutoFit/>
          </a:bodyPr>
          <a:lstStyle/>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Only “</a:t>
            </a:r>
            <a:r>
              <a:rPr lang="en-US" sz="1400">
                <a:solidFill>
                  <a:schemeClr val="tx1"/>
                </a:solidFill>
                <a:ea typeface="Arial Unicode MS" panose="020B0604020202020204" pitchFamily="34" charset="-128"/>
                <a:cs typeface="Arial Unicode MS" panose="020B0604020202020204" pitchFamily="34" charset="-128"/>
              </a:rPr>
              <a:t>Features” (Xs) </a:t>
            </a:r>
            <a:endParaRPr lang="en-US" sz="14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Example: Amazon Customer analysis</a:t>
            </a:r>
          </a:p>
        </p:txBody>
      </p:sp>
      <p:sp>
        <p:nvSpPr>
          <p:cNvPr id="75" name="Pfeil: nach rechts 74">
            <a:extLst>
              <a:ext uri="{FF2B5EF4-FFF2-40B4-BE49-F238E27FC236}">
                <a16:creationId xmlns:a16="http://schemas.microsoft.com/office/drawing/2014/main" id="{2DF66FB2-83F4-4F72-8A20-F4610DF96C80}"/>
              </a:ext>
            </a:extLst>
          </p:cNvPr>
          <p:cNvSpPr/>
          <p:nvPr/>
        </p:nvSpPr>
        <p:spPr bwMode="auto">
          <a:xfrm>
            <a:off x="5078403" y="4005064"/>
            <a:ext cx="2784968" cy="1237706"/>
          </a:xfrm>
          <a:prstGeom prst="rightArrow">
            <a:avLst>
              <a:gd name="adj1" fmla="val 50000"/>
              <a:gd name="adj2" fmla="val 43653"/>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Only X are known</a:t>
            </a:r>
          </a:p>
        </p:txBody>
      </p:sp>
      <p:sp>
        <p:nvSpPr>
          <p:cNvPr id="77" name="Pfeil: nach links 76">
            <a:extLst>
              <a:ext uri="{FF2B5EF4-FFF2-40B4-BE49-F238E27FC236}">
                <a16:creationId xmlns:a16="http://schemas.microsoft.com/office/drawing/2014/main" id="{5A2CE3AC-F180-4313-968A-F6D40D7CA6DA}"/>
              </a:ext>
            </a:extLst>
          </p:cNvPr>
          <p:cNvSpPr/>
          <p:nvPr/>
        </p:nvSpPr>
        <p:spPr bwMode="auto">
          <a:xfrm>
            <a:off x="4558719" y="2708920"/>
            <a:ext cx="2651435" cy="1247136"/>
          </a:xfrm>
          <a:prstGeom prst="leftArrow">
            <a:avLst>
              <a:gd name="adj1" fmla="val 50000"/>
              <a:gd name="adj2" fmla="val 37271"/>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a:solidFill>
                  <a:schemeClr val="tx1"/>
                </a:solidFill>
                <a:latin typeface="+mn-lt"/>
                <a:ea typeface="Arial Unicode MS" panose="020B0604020202020204" pitchFamily="34" charset="-128"/>
                <a:cs typeface="Arial Unicode MS" panose="020B0604020202020204" pitchFamily="34" charset="-128"/>
              </a:rPr>
              <a:t>X and Y are known</a:t>
            </a:r>
          </a:p>
        </p:txBody>
      </p:sp>
      <p:sp>
        <p:nvSpPr>
          <p:cNvPr id="26" name="Ellipse 25">
            <a:extLst>
              <a:ext uri="{FF2B5EF4-FFF2-40B4-BE49-F238E27FC236}">
                <a16:creationId xmlns:a16="http://schemas.microsoft.com/office/drawing/2014/main" id="{E44069F2-6318-414D-8C3E-885FF4398673}"/>
              </a:ext>
            </a:extLst>
          </p:cNvPr>
          <p:cNvSpPr/>
          <p:nvPr/>
        </p:nvSpPr>
        <p:spPr bwMode="auto">
          <a:xfrm flipH="1">
            <a:off x="10144451" y="4117966"/>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4" name="Gerade Verbindung mit Pfeil 43">
            <a:extLst>
              <a:ext uri="{FF2B5EF4-FFF2-40B4-BE49-F238E27FC236}">
                <a16:creationId xmlns:a16="http://schemas.microsoft.com/office/drawing/2014/main" id="{BA15C25E-4549-43AC-8707-312D1FC7711F}"/>
              </a:ext>
            </a:extLst>
          </p:cNvPr>
          <p:cNvCxnSpPr/>
          <p:nvPr/>
        </p:nvCxnSpPr>
        <p:spPr bwMode="auto">
          <a:xfrm flipV="1">
            <a:off x="8476049" y="2803248"/>
            <a:ext cx="0" cy="1977312"/>
          </a:xfrm>
          <a:prstGeom prst="straightConnector1">
            <a:avLst/>
          </a:prstGeom>
          <a:solidFill>
            <a:schemeClr val="tx2"/>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5" name="Gerade Verbindung mit Pfeil 44">
            <a:extLst>
              <a:ext uri="{FF2B5EF4-FFF2-40B4-BE49-F238E27FC236}">
                <a16:creationId xmlns:a16="http://schemas.microsoft.com/office/drawing/2014/main" id="{87D63D63-3E98-4A83-B665-AD2D62B2A6A0}"/>
              </a:ext>
            </a:extLst>
          </p:cNvPr>
          <p:cNvCxnSpPr/>
          <p:nvPr/>
        </p:nvCxnSpPr>
        <p:spPr bwMode="auto">
          <a:xfrm>
            <a:off x="8260025" y="4640293"/>
            <a:ext cx="2808000" cy="0"/>
          </a:xfrm>
          <a:prstGeom prst="straightConnector1">
            <a:avLst/>
          </a:prstGeom>
          <a:solidFill>
            <a:schemeClr val="tx2"/>
          </a:solidFill>
          <a:ln w="2857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6" name="Textfeld 45">
            <a:extLst>
              <a:ext uri="{FF2B5EF4-FFF2-40B4-BE49-F238E27FC236}">
                <a16:creationId xmlns:a16="http://schemas.microsoft.com/office/drawing/2014/main" id="{007F576B-F984-453C-BA5F-9D4BA81123F5}"/>
              </a:ext>
            </a:extLst>
          </p:cNvPr>
          <p:cNvSpPr txBox="1"/>
          <p:nvPr/>
        </p:nvSpPr>
        <p:spPr>
          <a:xfrm rot="16200000">
            <a:off x="7335729" y="3426234"/>
            <a:ext cx="1458733"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Preferred Price Class</a:t>
            </a:r>
          </a:p>
        </p:txBody>
      </p:sp>
      <p:sp>
        <p:nvSpPr>
          <p:cNvPr id="47" name="Textfeld 46">
            <a:extLst>
              <a:ext uri="{FF2B5EF4-FFF2-40B4-BE49-F238E27FC236}">
                <a16:creationId xmlns:a16="http://schemas.microsoft.com/office/drawing/2014/main" id="{0B2BE48D-9360-4FC3-96C9-20E0F6F4F3DA}"/>
              </a:ext>
            </a:extLst>
          </p:cNvPr>
          <p:cNvSpPr txBox="1"/>
          <p:nvPr/>
        </p:nvSpPr>
        <p:spPr>
          <a:xfrm>
            <a:off x="9245418" y="4721295"/>
            <a:ext cx="1211870" cy="15837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Purchases / week</a:t>
            </a:r>
          </a:p>
        </p:txBody>
      </p:sp>
      <p:sp>
        <p:nvSpPr>
          <p:cNvPr id="61" name="Ellipse 60">
            <a:extLst>
              <a:ext uri="{FF2B5EF4-FFF2-40B4-BE49-F238E27FC236}">
                <a16:creationId xmlns:a16="http://schemas.microsoft.com/office/drawing/2014/main" id="{1229A576-5EFB-4BDD-A00B-1279DD9BCA4C}"/>
              </a:ext>
            </a:extLst>
          </p:cNvPr>
          <p:cNvSpPr/>
          <p:nvPr/>
        </p:nvSpPr>
        <p:spPr bwMode="auto">
          <a:xfrm flipH="1">
            <a:off x="10512851" y="438138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B972220B-A5DB-4E49-9FCA-51EFEA09D452}"/>
              </a:ext>
            </a:extLst>
          </p:cNvPr>
          <p:cNvSpPr/>
          <p:nvPr/>
        </p:nvSpPr>
        <p:spPr bwMode="auto">
          <a:xfrm flipH="1">
            <a:off x="10497669" y="3765068"/>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3" name="Ellipse 62">
            <a:extLst>
              <a:ext uri="{FF2B5EF4-FFF2-40B4-BE49-F238E27FC236}">
                <a16:creationId xmlns:a16="http://schemas.microsoft.com/office/drawing/2014/main" id="{9A1861CA-3159-41DA-8BD6-6D77F3EB63B6}"/>
              </a:ext>
            </a:extLst>
          </p:cNvPr>
          <p:cNvSpPr/>
          <p:nvPr/>
        </p:nvSpPr>
        <p:spPr bwMode="auto">
          <a:xfrm flipH="1">
            <a:off x="10233526" y="363936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4" name="Ellipse 63">
            <a:extLst>
              <a:ext uri="{FF2B5EF4-FFF2-40B4-BE49-F238E27FC236}">
                <a16:creationId xmlns:a16="http://schemas.microsoft.com/office/drawing/2014/main" id="{78D7D433-1A2E-4C75-AAD8-AE73A6129813}"/>
              </a:ext>
            </a:extLst>
          </p:cNvPr>
          <p:cNvSpPr/>
          <p:nvPr/>
        </p:nvSpPr>
        <p:spPr bwMode="auto">
          <a:xfrm flipH="1">
            <a:off x="9918597" y="443906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Ellipse 64">
            <a:extLst>
              <a:ext uri="{FF2B5EF4-FFF2-40B4-BE49-F238E27FC236}">
                <a16:creationId xmlns:a16="http://schemas.microsoft.com/office/drawing/2014/main" id="{B946D8B2-9E6D-4ADF-A826-4CC5E0D8109B}"/>
              </a:ext>
            </a:extLst>
          </p:cNvPr>
          <p:cNvSpPr/>
          <p:nvPr/>
        </p:nvSpPr>
        <p:spPr bwMode="auto">
          <a:xfrm flipH="1">
            <a:off x="8640168" y="283600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8DE9D6FE-6FCB-4383-B00D-FD39FFCE59CA}"/>
              </a:ext>
            </a:extLst>
          </p:cNvPr>
          <p:cNvSpPr/>
          <p:nvPr/>
        </p:nvSpPr>
        <p:spPr bwMode="auto">
          <a:xfrm flipH="1">
            <a:off x="8939869" y="3119226"/>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7" name="Ellipse 66">
            <a:extLst>
              <a:ext uri="{FF2B5EF4-FFF2-40B4-BE49-F238E27FC236}">
                <a16:creationId xmlns:a16="http://schemas.microsoft.com/office/drawing/2014/main" id="{6CB5C8C1-2418-4337-86EC-02AAC18E653B}"/>
              </a:ext>
            </a:extLst>
          </p:cNvPr>
          <p:cNvSpPr/>
          <p:nvPr/>
        </p:nvSpPr>
        <p:spPr bwMode="auto">
          <a:xfrm flipH="1">
            <a:off x="8674462" y="311486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E3579906-CDFB-4048-907D-689084C68991}"/>
              </a:ext>
            </a:extLst>
          </p:cNvPr>
          <p:cNvSpPr/>
          <p:nvPr/>
        </p:nvSpPr>
        <p:spPr bwMode="auto">
          <a:xfrm flipH="1">
            <a:off x="8515970" y="334734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9" name="Ellipse 68">
            <a:extLst>
              <a:ext uri="{FF2B5EF4-FFF2-40B4-BE49-F238E27FC236}">
                <a16:creationId xmlns:a16="http://schemas.microsoft.com/office/drawing/2014/main" id="{8389681D-6771-4918-81AB-B2FF839AD5E6}"/>
              </a:ext>
            </a:extLst>
          </p:cNvPr>
          <p:cNvSpPr/>
          <p:nvPr/>
        </p:nvSpPr>
        <p:spPr bwMode="auto">
          <a:xfrm flipH="1">
            <a:off x="10215663" y="3505562"/>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0" name="Ellipse 69">
            <a:extLst>
              <a:ext uri="{FF2B5EF4-FFF2-40B4-BE49-F238E27FC236}">
                <a16:creationId xmlns:a16="http://schemas.microsoft.com/office/drawing/2014/main" id="{02186473-BAF4-4A28-A67B-89978E5700DB}"/>
              </a:ext>
            </a:extLst>
          </p:cNvPr>
          <p:cNvSpPr/>
          <p:nvPr/>
        </p:nvSpPr>
        <p:spPr bwMode="auto">
          <a:xfrm flipH="1">
            <a:off x="10042395" y="430807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1" name="Ellipse 70">
            <a:extLst>
              <a:ext uri="{FF2B5EF4-FFF2-40B4-BE49-F238E27FC236}">
                <a16:creationId xmlns:a16="http://schemas.microsoft.com/office/drawing/2014/main" id="{E7F4D883-C936-4F1D-9C2A-32B4569110AE}"/>
              </a:ext>
            </a:extLst>
          </p:cNvPr>
          <p:cNvSpPr/>
          <p:nvPr/>
        </p:nvSpPr>
        <p:spPr bwMode="auto">
          <a:xfrm flipH="1">
            <a:off x="9540697" y="4304559"/>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2" name="Ellipse 71">
            <a:extLst>
              <a:ext uri="{FF2B5EF4-FFF2-40B4-BE49-F238E27FC236}">
                <a16:creationId xmlns:a16="http://schemas.microsoft.com/office/drawing/2014/main" id="{77B9FA04-2039-4683-B620-48340F776A8D}"/>
              </a:ext>
            </a:extLst>
          </p:cNvPr>
          <p:cNvSpPr/>
          <p:nvPr/>
        </p:nvSpPr>
        <p:spPr bwMode="auto">
          <a:xfrm flipH="1">
            <a:off x="8875534" y="291421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3" name="Ellipse 72">
            <a:extLst>
              <a:ext uri="{FF2B5EF4-FFF2-40B4-BE49-F238E27FC236}">
                <a16:creationId xmlns:a16="http://schemas.microsoft.com/office/drawing/2014/main" id="{7B22ED4C-79C6-4667-B3BC-AA2E19D62E88}"/>
              </a:ext>
            </a:extLst>
          </p:cNvPr>
          <p:cNvSpPr/>
          <p:nvPr/>
        </p:nvSpPr>
        <p:spPr bwMode="auto">
          <a:xfrm flipH="1">
            <a:off x="10329215" y="337975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0" name="Textfeld 49">
            <a:extLst>
              <a:ext uri="{FF2B5EF4-FFF2-40B4-BE49-F238E27FC236}">
                <a16:creationId xmlns:a16="http://schemas.microsoft.com/office/drawing/2014/main" id="{42DF5BB7-2520-473D-B4F4-955623128DEB}"/>
              </a:ext>
            </a:extLst>
          </p:cNvPr>
          <p:cNvSpPr txBox="1"/>
          <p:nvPr/>
        </p:nvSpPr>
        <p:spPr>
          <a:xfrm rot="16200000">
            <a:off x="8099265" y="4273955"/>
            <a:ext cx="380628"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Cheap</a:t>
            </a:r>
          </a:p>
        </p:txBody>
      </p:sp>
      <p:sp>
        <p:nvSpPr>
          <p:cNvPr id="51" name="Textfeld 50">
            <a:extLst>
              <a:ext uri="{FF2B5EF4-FFF2-40B4-BE49-F238E27FC236}">
                <a16:creationId xmlns:a16="http://schemas.microsoft.com/office/drawing/2014/main" id="{E96948FC-1344-4A0E-B352-3BE1D596874E}"/>
              </a:ext>
            </a:extLst>
          </p:cNvPr>
          <p:cNvSpPr txBox="1"/>
          <p:nvPr/>
        </p:nvSpPr>
        <p:spPr>
          <a:xfrm rot="16200000">
            <a:off x="8048416" y="2789921"/>
            <a:ext cx="525564" cy="187424"/>
          </a:xfrm>
          <a:prstGeom prst="rect">
            <a:avLst/>
          </a:prstGeom>
          <a:noFill/>
        </p:spPr>
        <p:txBody>
          <a:bodyPr wrap="none" lIns="0" tIns="0" rIns="0" bIns="0" rtlCol="0">
            <a:sp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Exquisite</a:t>
            </a:r>
          </a:p>
        </p:txBody>
      </p:sp>
      <p:sp>
        <p:nvSpPr>
          <p:cNvPr id="52" name="Ellipse 51">
            <a:extLst>
              <a:ext uri="{FF2B5EF4-FFF2-40B4-BE49-F238E27FC236}">
                <a16:creationId xmlns:a16="http://schemas.microsoft.com/office/drawing/2014/main" id="{32A49100-178A-4956-AF1C-207BE6CBBA43}"/>
              </a:ext>
            </a:extLst>
          </p:cNvPr>
          <p:cNvSpPr/>
          <p:nvPr/>
        </p:nvSpPr>
        <p:spPr bwMode="auto">
          <a:xfrm flipH="1">
            <a:off x="10352414" y="3900992"/>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F61F19FD-7341-4410-8B0C-409FB5C8A610}"/>
              </a:ext>
            </a:extLst>
          </p:cNvPr>
          <p:cNvSpPr/>
          <p:nvPr/>
        </p:nvSpPr>
        <p:spPr bwMode="auto">
          <a:xfrm flipH="1">
            <a:off x="10655220" y="3598449"/>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71FD8E44-D217-4117-8333-A323D44F63FF}"/>
              </a:ext>
            </a:extLst>
          </p:cNvPr>
          <p:cNvSpPr/>
          <p:nvPr/>
        </p:nvSpPr>
        <p:spPr bwMode="auto">
          <a:xfrm flipH="1">
            <a:off x="10400832" y="417015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107DBE2C-CC64-41E2-B4BE-A6A666027D23}"/>
              </a:ext>
            </a:extLst>
          </p:cNvPr>
          <p:cNvSpPr/>
          <p:nvPr/>
        </p:nvSpPr>
        <p:spPr bwMode="auto">
          <a:xfrm flipH="1">
            <a:off x="11037154" y="430807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6" name="Ellipse 55">
            <a:extLst>
              <a:ext uri="{FF2B5EF4-FFF2-40B4-BE49-F238E27FC236}">
                <a16:creationId xmlns:a16="http://schemas.microsoft.com/office/drawing/2014/main" id="{3A3A8687-D9C1-44E5-B282-24B9A24F34A8}"/>
              </a:ext>
            </a:extLst>
          </p:cNvPr>
          <p:cNvSpPr/>
          <p:nvPr/>
        </p:nvSpPr>
        <p:spPr bwMode="auto">
          <a:xfrm flipH="1">
            <a:off x="9836134" y="4295456"/>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7" name="Ellipse 56">
            <a:extLst>
              <a:ext uri="{FF2B5EF4-FFF2-40B4-BE49-F238E27FC236}">
                <a16:creationId xmlns:a16="http://schemas.microsoft.com/office/drawing/2014/main" id="{8A605E82-B7FF-4959-8833-63AA9429833A}"/>
              </a:ext>
            </a:extLst>
          </p:cNvPr>
          <p:cNvSpPr/>
          <p:nvPr/>
        </p:nvSpPr>
        <p:spPr bwMode="auto">
          <a:xfrm flipH="1">
            <a:off x="9945558" y="339837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8" name="Ellipse 57">
            <a:extLst>
              <a:ext uri="{FF2B5EF4-FFF2-40B4-BE49-F238E27FC236}">
                <a16:creationId xmlns:a16="http://schemas.microsoft.com/office/drawing/2014/main" id="{9830EDF1-6043-43E1-A5EE-0ABF4EAC42E0}"/>
              </a:ext>
            </a:extLst>
          </p:cNvPr>
          <p:cNvSpPr/>
          <p:nvPr/>
        </p:nvSpPr>
        <p:spPr bwMode="auto">
          <a:xfrm flipH="1">
            <a:off x="9244669" y="3376783"/>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75B8C07E-AA0E-4FB1-9A47-7C8931CC30FB}"/>
              </a:ext>
            </a:extLst>
          </p:cNvPr>
          <p:cNvSpPr/>
          <p:nvPr/>
        </p:nvSpPr>
        <p:spPr bwMode="auto">
          <a:xfrm flipH="1">
            <a:off x="9397069" y="3505562"/>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73BDE3F6-5A81-4930-A16A-2D5B367A32F3}"/>
              </a:ext>
            </a:extLst>
          </p:cNvPr>
          <p:cNvSpPr/>
          <p:nvPr/>
        </p:nvSpPr>
        <p:spPr bwMode="auto">
          <a:xfrm flipH="1">
            <a:off x="9549469" y="363434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4" name="Ellipse 73">
            <a:extLst>
              <a:ext uri="{FF2B5EF4-FFF2-40B4-BE49-F238E27FC236}">
                <a16:creationId xmlns:a16="http://schemas.microsoft.com/office/drawing/2014/main" id="{37E6A85C-0E58-417A-A254-F760A2DB4C99}"/>
              </a:ext>
            </a:extLst>
          </p:cNvPr>
          <p:cNvSpPr/>
          <p:nvPr/>
        </p:nvSpPr>
        <p:spPr bwMode="auto">
          <a:xfrm flipH="1">
            <a:off x="9027934" y="304299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6" name="Ellipse 75">
            <a:extLst>
              <a:ext uri="{FF2B5EF4-FFF2-40B4-BE49-F238E27FC236}">
                <a16:creationId xmlns:a16="http://schemas.microsoft.com/office/drawing/2014/main" id="{E70BEDC7-52FF-452E-87E2-C8013961CB53}"/>
              </a:ext>
            </a:extLst>
          </p:cNvPr>
          <p:cNvSpPr/>
          <p:nvPr/>
        </p:nvSpPr>
        <p:spPr bwMode="auto">
          <a:xfrm flipH="1">
            <a:off x="9095523" y="2905444"/>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79" name="Ellipse 78">
            <a:extLst>
              <a:ext uri="{FF2B5EF4-FFF2-40B4-BE49-F238E27FC236}">
                <a16:creationId xmlns:a16="http://schemas.microsoft.com/office/drawing/2014/main" id="{03E93D3D-3AA5-4322-9B88-82912EA489C3}"/>
              </a:ext>
            </a:extLst>
          </p:cNvPr>
          <p:cNvSpPr/>
          <p:nvPr/>
        </p:nvSpPr>
        <p:spPr bwMode="auto">
          <a:xfrm flipH="1">
            <a:off x="9870044" y="2726189"/>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0" name="Ellipse 79">
            <a:extLst>
              <a:ext uri="{FF2B5EF4-FFF2-40B4-BE49-F238E27FC236}">
                <a16:creationId xmlns:a16="http://schemas.microsoft.com/office/drawing/2014/main" id="{D50C5064-FFC2-4148-8258-40B2F6E5F3FE}"/>
              </a:ext>
            </a:extLst>
          </p:cNvPr>
          <p:cNvSpPr/>
          <p:nvPr/>
        </p:nvSpPr>
        <p:spPr bwMode="auto">
          <a:xfrm flipH="1">
            <a:off x="9485134" y="3429327"/>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1" name="Ellipse 80">
            <a:extLst>
              <a:ext uri="{FF2B5EF4-FFF2-40B4-BE49-F238E27FC236}">
                <a16:creationId xmlns:a16="http://schemas.microsoft.com/office/drawing/2014/main" id="{3022CD22-9D08-4A33-8938-E84995FCA91B}"/>
              </a:ext>
            </a:extLst>
          </p:cNvPr>
          <p:cNvSpPr/>
          <p:nvPr/>
        </p:nvSpPr>
        <p:spPr bwMode="auto">
          <a:xfrm flipH="1">
            <a:off x="9637534" y="3558105"/>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2" name="Ellipse 81">
            <a:extLst>
              <a:ext uri="{FF2B5EF4-FFF2-40B4-BE49-F238E27FC236}">
                <a16:creationId xmlns:a16="http://schemas.microsoft.com/office/drawing/2014/main" id="{D306E71F-3BC1-418D-8D28-497EB4861DDE}"/>
              </a:ext>
            </a:extLst>
          </p:cNvPr>
          <p:cNvSpPr/>
          <p:nvPr/>
        </p:nvSpPr>
        <p:spPr bwMode="auto">
          <a:xfrm flipH="1">
            <a:off x="9693504" y="3395768"/>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3" name="Ellipse 82">
            <a:extLst>
              <a:ext uri="{FF2B5EF4-FFF2-40B4-BE49-F238E27FC236}">
                <a16:creationId xmlns:a16="http://schemas.microsoft.com/office/drawing/2014/main" id="{AFC1C5EA-6D07-418B-AD9B-928CEBD36011}"/>
              </a:ext>
            </a:extLst>
          </p:cNvPr>
          <p:cNvSpPr/>
          <p:nvPr/>
        </p:nvSpPr>
        <p:spPr bwMode="auto">
          <a:xfrm flipH="1">
            <a:off x="9675200" y="380631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4" name="Ellipse 83">
            <a:extLst>
              <a:ext uri="{FF2B5EF4-FFF2-40B4-BE49-F238E27FC236}">
                <a16:creationId xmlns:a16="http://schemas.microsoft.com/office/drawing/2014/main" id="{B2D9F07F-CDA5-472B-A728-FBC0049492E0}"/>
              </a:ext>
            </a:extLst>
          </p:cNvPr>
          <p:cNvSpPr/>
          <p:nvPr/>
        </p:nvSpPr>
        <p:spPr bwMode="auto">
          <a:xfrm flipH="1">
            <a:off x="10005507" y="3680277"/>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5" name="Ellipse 84">
            <a:extLst>
              <a:ext uri="{FF2B5EF4-FFF2-40B4-BE49-F238E27FC236}">
                <a16:creationId xmlns:a16="http://schemas.microsoft.com/office/drawing/2014/main" id="{FB5B694F-02EC-4B0E-BAB3-B5A4925F1C47}"/>
              </a:ext>
            </a:extLst>
          </p:cNvPr>
          <p:cNvSpPr/>
          <p:nvPr/>
        </p:nvSpPr>
        <p:spPr bwMode="auto">
          <a:xfrm flipH="1">
            <a:off x="9185565" y="4403152"/>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3" name="Ellipse 2">
            <a:extLst>
              <a:ext uri="{FF2B5EF4-FFF2-40B4-BE49-F238E27FC236}">
                <a16:creationId xmlns:a16="http://schemas.microsoft.com/office/drawing/2014/main" id="{0B16CB02-1A15-4EAF-9ED8-D22487D12E51}"/>
              </a:ext>
            </a:extLst>
          </p:cNvPr>
          <p:cNvSpPr/>
          <p:nvPr/>
        </p:nvSpPr>
        <p:spPr bwMode="auto">
          <a:xfrm>
            <a:off x="8461318" y="2629618"/>
            <a:ext cx="806209" cy="979402"/>
          </a:xfrm>
          <a:prstGeom prst="ellipse">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noFill/>
              <a:latin typeface="+mn-lt"/>
              <a:ea typeface="Arial Unicode MS" panose="020B0604020202020204" pitchFamily="34" charset="-128"/>
              <a:cs typeface="Arial Unicode MS" panose="020B0604020202020204" pitchFamily="34" charset="-128"/>
            </a:endParaRPr>
          </a:p>
        </p:txBody>
      </p:sp>
      <p:sp>
        <p:nvSpPr>
          <p:cNvPr id="86" name="Ellipse 85">
            <a:extLst>
              <a:ext uri="{FF2B5EF4-FFF2-40B4-BE49-F238E27FC236}">
                <a16:creationId xmlns:a16="http://schemas.microsoft.com/office/drawing/2014/main" id="{A18339D4-A0B1-4290-869F-9BFE54A6CF9D}"/>
              </a:ext>
            </a:extLst>
          </p:cNvPr>
          <p:cNvSpPr/>
          <p:nvPr/>
        </p:nvSpPr>
        <p:spPr bwMode="auto">
          <a:xfrm>
            <a:off x="9199451" y="3104726"/>
            <a:ext cx="1952224" cy="900338"/>
          </a:xfrm>
          <a:prstGeom prst="ellipse">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noFill/>
              <a:latin typeface="+mn-lt"/>
              <a:ea typeface="Arial Unicode MS" panose="020B0604020202020204" pitchFamily="34" charset="-128"/>
              <a:cs typeface="Arial Unicode MS" panose="020B0604020202020204" pitchFamily="34" charset="-128"/>
            </a:endParaRPr>
          </a:p>
        </p:txBody>
      </p:sp>
      <p:sp>
        <p:nvSpPr>
          <p:cNvPr id="87" name="Ellipse 86">
            <a:extLst>
              <a:ext uri="{FF2B5EF4-FFF2-40B4-BE49-F238E27FC236}">
                <a16:creationId xmlns:a16="http://schemas.microsoft.com/office/drawing/2014/main" id="{2F9EAB0D-4282-401B-9D02-E2CDCCD7473A}"/>
              </a:ext>
            </a:extLst>
          </p:cNvPr>
          <p:cNvSpPr/>
          <p:nvPr/>
        </p:nvSpPr>
        <p:spPr bwMode="auto">
          <a:xfrm>
            <a:off x="8995969" y="4100475"/>
            <a:ext cx="2468710" cy="541587"/>
          </a:xfrm>
          <a:prstGeom prst="ellipse">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noFill/>
              <a:latin typeface="+mn-lt"/>
              <a:ea typeface="Arial Unicode MS" panose="020B0604020202020204" pitchFamily="34" charset="-128"/>
              <a:cs typeface="Arial Unicode MS" panose="020B0604020202020204" pitchFamily="34" charset="-128"/>
            </a:endParaRPr>
          </a:p>
        </p:txBody>
      </p:sp>
      <p:sp>
        <p:nvSpPr>
          <p:cNvPr id="88" name="Ellipse 87">
            <a:extLst>
              <a:ext uri="{FF2B5EF4-FFF2-40B4-BE49-F238E27FC236}">
                <a16:creationId xmlns:a16="http://schemas.microsoft.com/office/drawing/2014/main" id="{E517D062-3B4F-4DD0-816C-FEE5D1965E5D}"/>
              </a:ext>
            </a:extLst>
          </p:cNvPr>
          <p:cNvSpPr/>
          <p:nvPr/>
        </p:nvSpPr>
        <p:spPr bwMode="auto">
          <a:xfrm flipH="1">
            <a:off x="10822592" y="270643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89" name="Ellipse 88">
            <a:extLst>
              <a:ext uri="{FF2B5EF4-FFF2-40B4-BE49-F238E27FC236}">
                <a16:creationId xmlns:a16="http://schemas.microsoft.com/office/drawing/2014/main" id="{0039B075-8BCE-48B3-B157-A524EB26647F}"/>
              </a:ext>
            </a:extLst>
          </p:cNvPr>
          <p:cNvSpPr/>
          <p:nvPr/>
        </p:nvSpPr>
        <p:spPr bwMode="auto">
          <a:xfrm flipH="1">
            <a:off x="10185107" y="2822230"/>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90" name="Ellipse 89">
            <a:extLst>
              <a:ext uri="{FF2B5EF4-FFF2-40B4-BE49-F238E27FC236}">
                <a16:creationId xmlns:a16="http://schemas.microsoft.com/office/drawing/2014/main" id="{009C944F-B50A-4A2B-A6D2-7DDDB3A76084}"/>
              </a:ext>
            </a:extLst>
          </p:cNvPr>
          <p:cNvSpPr/>
          <p:nvPr/>
        </p:nvSpPr>
        <p:spPr bwMode="auto">
          <a:xfrm flipH="1">
            <a:off x="10774173" y="1889297"/>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91" name="Ellipse 90">
            <a:extLst>
              <a:ext uri="{FF2B5EF4-FFF2-40B4-BE49-F238E27FC236}">
                <a16:creationId xmlns:a16="http://schemas.microsoft.com/office/drawing/2014/main" id="{E8441992-E60E-497C-8C83-BF1F9AD5FAB6}"/>
              </a:ext>
            </a:extLst>
          </p:cNvPr>
          <p:cNvSpPr/>
          <p:nvPr/>
        </p:nvSpPr>
        <p:spPr bwMode="auto">
          <a:xfrm flipH="1">
            <a:off x="8812315" y="4073971"/>
            <a:ext cx="96837" cy="81828"/>
          </a:xfrm>
          <a:prstGeom prst="ellipse">
            <a:avLst/>
          </a:prstGeom>
          <a:noFill/>
          <a:ln w="38100">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500">
              <a:solidFill>
                <a:schemeClr val="tx1"/>
              </a:solidFill>
              <a:latin typeface="+mn-lt"/>
              <a:ea typeface="Arial Unicode MS" panose="020B0604020202020204" pitchFamily="34" charset="-128"/>
              <a:cs typeface="Arial Unicode MS" panose="020B0604020202020204" pitchFamily="34" charset="-128"/>
            </a:endParaRPr>
          </a:p>
        </p:txBody>
      </p:sp>
      <p:sp>
        <p:nvSpPr>
          <p:cNvPr id="92" name="Textfeld 91">
            <a:extLst>
              <a:ext uri="{FF2B5EF4-FFF2-40B4-BE49-F238E27FC236}">
                <a16:creationId xmlns:a16="http://schemas.microsoft.com/office/drawing/2014/main" id="{E78EF42E-0B4A-4C0F-B5EA-95C581F81271}"/>
              </a:ext>
            </a:extLst>
          </p:cNvPr>
          <p:cNvSpPr txBox="1"/>
          <p:nvPr/>
        </p:nvSpPr>
        <p:spPr>
          <a:xfrm>
            <a:off x="878594" y="5273118"/>
            <a:ext cx="4199803" cy="455574"/>
          </a:xfrm>
          <a:prstGeom prst="rect">
            <a:avLst/>
          </a:prstGeom>
          <a:noFill/>
        </p:spPr>
        <p:txBody>
          <a:bodyPr wrap="square" lIns="0" tIns="0" rIns="0" bIns="0" rtlCol="0">
            <a:spAutoFit/>
          </a:bodyPr>
          <a:lstStyle/>
          <a:p>
            <a:pPr>
              <a:lnSpc>
                <a:spcPct val="110000"/>
              </a:lnSpc>
              <a:spcBef>
                <a:spcPts val="0"/>
              </a:spcBef>
              <a:spcAft>
                <a:spcPts val="0"/>
              </a:spcAft>
            </a:pPr>
            <a:r>
              <a:rPr lang="en-US" sz="1400">
                <a:solidFill>
                  <a:schemeClr val="tx1"/>
                </a:solidFill>
                <a:latin typeface="+mn-lt"/>
                <a:ea typeface="Arial Unicode MS" panose="020B0604020202020204" pitchFamily="34" charset="-128"/>
                <a:cs typeface="Arial Unicode MS" panose="020B0604020202020204" pitchFamily="34" charset="-128"/>
              </a:rPr>
              <a:t>Result: Model to predict Y: </a:t>
            </a:r>
            <a:r>
              <a:rPr lang="en-US" sz="1400">
                <a:solidFill>
                  <a:schemeClr val="tx1"/>
                </a:solidFill>
                <a:ea typeface="Arial Unicode MS" panose="020B0604020202020204" pitchFamily="34" charset="-128"/>
                <a:cs typeface="Arial Unicode MS" panose="020B0604020202020204" pitchFamily="34" charset="-128"/>
              </a:rPr>
              <a:t>Y = f (X1, … , Xn)</a:t>
            </a:r>
          </a:p>
          <a:p>
            <a:pPr>
              <a:lnSpc>
                <a:spcPct val="110000"/>
              </a:lnSpc>
              <a:spcBef>
                <a:spcPts val="0"/>
              </a:spcBef>
              <a:spcAft>
                <a:spcPts val="0"/>
              </a:spcAft>
            </a:pPr>
            <a:r>
              <a:rPr lang="en-US" sz="1400">
                <a:solidFill>
                  <a:schemeClr val="tx1"/>
                </a:solidFill>
                <a:latin typeface="+mn-lt"/>
                <a:ea typeface="Arial Unicode MS" panose="020B0604020202020204" pitchFamily="34" charset="-128"/>
                <a:cs typeface="Arial Unicode MS" panose="020B0604020202020204" pitchFamily="34" charset="-128"/>
              </a:rPr>
              <a:t>	i.e. for assuring next start is reliable</a:t>
            </a:r>
          </a:p>
        </p:txBody>
      </p:sp>
      <p:sp>
        <p:nvSpPr>
          <p:cNvPr id="93" name="Textfeld 92">
            <a:extLst>
              <a:ext uri="{FF2B5EF4-FFF2-40B4-BE49-F238E27FC236}">
                <a16:creationId xmlns:a16="http://schemas.microsoft.com/office/drawing/2014/main" id="{C55D60EF-3DCE-42D7-B369-F58298D32BE0}"/>
              </a:ext>
            </a:extLst>
          </p:cNvPr>
          <p:cNvSpPr txBox="1"/>
          <p:nvPr/>
        </p:nvSpPr>
        <p:spPr>
          <a:xfrm>
            <a:off x="7690439" y="5273118"/>
            <a:ext cx="4199803" cy="455574"/>
          </a:xfrm>
          <a:prstGeom prst="rect">
            <a:avLst/>
          </a:prstGeom>
          <a:noFill/>
        </p:spPr>
        <p:txBody>
          <a:bodyPr wrap="square" lIns="0" tIns="0" rIns="0" bIns="0" rtlCol="0">
            <a:spAutoFit/>
          </a:bodyPr>
          <a:lstStyle/>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Result: Clusters to group customers in, </a:t>
            </a:r>
            <a:br>
              <a:rPr lang="en-US" sz="1400">
                <a:solidFill>
                  <a:schemeClr val="tx1"/>
                </a:solidFill>
                <a:latin typeface="+mn-lt"/>
                <a:ea typeface="Arial Unicode MS" panose="020B0604020202020204" pitchFamily="34" charset="-128"/>
                <a:cs typeface="Arial Unicode MS" panose="020B0604020202020204" pitchFamily="34" charset="-128"/>
              </a:rPr>
            </a:br>
            <a:r>
              <a:rPr lang="en-US" sz="1400">
                <a:solidFill>
                  <a:schemeClr val="tx1"/>
                </a:solidFill>
                <a:latin typeface="+mn-lt"/>
                <a:ea typeface="Arial Unicode MS" panose="020B0604020202020204" pitchFamily="34" charset="-128"/>
                <a:cs typeface="Arial Unicode MS" panose="020B0604020202020204" pitchFamily="34" charset="-128"/>
              </a:rPr>
              <a:t>	i.e. for targeting advertisement</a:t>
            </a:r>
          </a:p>
        </p:txBody>
      </p:sp>
    </p:spTree>
    <p:extLst>
      <p:ext uri="{BB962C8B-B14F-4D97-AF65-F5344CB8AC3E}">
        <p14:creationId xmlns:p14="http://schemas.microsoft.com/office/powerpoint/2010/main" val="12339218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1EFADA0-0DC3-492A-AB84-F49A2DCE8E6B}"/>
              </a:ext>
            </a:extLst>
          </p:cNvPr>
          <p:cNvSpPr>
            <a:spLocks noGrp="1"/>
          </p:cNvSpPr>
          <p:nvPr>
            <p:ph type="title"/>
          </p:nvPr>
        </p:nvSpPr>
        <p:spPr/>
        <p:txBody>
          <a:bodyPr/>
          <a:lstStyle/>
          <a:p>
            <a:r>
              <a:rPr lang="en-US"/>
              <a:t>Having a „Supervised Learning“ Approach, We Should Distinguish between the Different Data Types of the Target Variable</a:t>
            </a:r>
          </a:p>
        </p:txBody>
      </p:sp>
      <p:sp>
        <p:nvSpPr>
          <p:cNvPr id="6" name="Textfeld 5">
            <a:extLst>
              <a:ext uri="{FF2B5EF4-FFF2-40B4-BE49-F238E27FC236}">
                <a16:creationId xmlns:a16="http://schemas.microsoft.com/office/drawing/2014/main" id="{F8AAD4C5-E027-4729-B415-176D5ACEF1EE}"/>
              </a:ext>
            </a:extLst>
          </p:cNvPr>
          <p:cNvSpPr txBox="1"/>
          <p:nvPr/>
        </p:nvSpPr>
        <p:spPr>
          <a:xfrm>
            <a:off x="590563" y="1895103"/>
            <a:ext cx="10621180" cy="342145"/>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sz="1600"/>
              <a:t>The target variable is			</a:t>
            </a:r>
            <a:r>
              <a:rPr lang="en-US" sz="1600" b="1"/>
              <a:t>Attributive			Numerical</a:t>
            </a:r>
          </a:p>
        </p:txBody>
      </p:sp>
      <p:sp>
        <p:nvSpPr>
          <p:cNvPr id="7" name="Textfeld 6">
            <a:extLst>
              <a:ext uri="{FF2B5EF4-FFF2-40B4-BE49-F238E27FC236}">
                <a16:creationId xmlns:a16="http://schemas.microsoft.com/office/drawing/2014/main" id="{D5ADA01C-4529-4BAB-87C1-7E735336B1F2}"/>
              </a:ext>
            </a:extLst>
          </p:cNvPr>
          <p:cNvSpPr txBox="1"/>
          <p:nvPr/>
        </p:nvSpPr>
        <p:spPr>
          <a:xfrm>
            <a:off x="590563" y="3576287"/>
            <a:ext cx="3652556" cy="342145"/>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sz="1600"/>
              <a:t>The learning approach is called:</a:t>
            </a:r>
          </a:p>
        </p:txBody>
      </p:sp>
      <p:pic>
        <p:nvPicPr>
          <p:cNvPr id="9" name="Grafik 8">
            <a:extLst>
              <a:ext uri="{FF2B5EF4-FFF2-40B4-BE49-F238E27FC236}">
                <a16:creationId xmlns:a16="http://schemas.microsoft.com/office/drawing/2014/main" id="{B3CD78F4-EAD7-4BF3-9539-7DB075B38954}"/>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5994611" y="2362025"/>
            <a:ext cx="900101" cy="982833"/>
          </a:xfrm>
          <a:prstGeom prst="rect">
            <a:avLst/>
          </a:prstGeom>
        </p:spPr>
      </p:pic>
      <p:sp>
        <p:nvSpPr>
          <p:cNvPr id="10" name="Textfeld 9">
            <a:extLst>
              <a:ext uri="{FF2B5EF4-FFF2-40B4-BE49-F238E27FC236}">
                <a16:creationId xmlns:a16="http://schemas.microsoft.com/office/drawing/2014/main" id="{CD2E9217-7DCB-4E08-82E9-EB21C6780762}"/>
              </a:ext>
            </a:extLst>
          </p:cNvPr>
          <p:cNvSpPr txBox="1"/>
          <p:nvPr/>
        </p:nvSpPr>
        <p:spPr>
          <a:xfrm>
            <a:off x="4623011" y="2430458"/>
            <a:ext cx="914400" cy="914400"/>
          </a:xfrm>
          <a:prstGeom prst="rect">
            <a:avLst/>
          </a:prstGeom>
          <a:noFill/>
        </p:spPr>
        <p:txBody>
          <a:bodyPr wrap="none" lIns="0" tIns="0" rIns="0" bIns="0" rtlCol="0">
            <a:noAutofit/>
          </a:bodyPr>
          <a:lstStyle/>
          <a:p>
            <a:pPr marL="171450" indent="-171450">
              <a:lnSpc>
                <a:spcPct val="110000"/>
              </a:lnSpc>
              <a:spcBef>
                <a:spcPts val="0"/>
              </a:spcBef>
              <a:buFont typeface="Wingdings" panose="05000000000000000000" pitchFamily="2" charset="2"/>
              <a:buChar char="ü"/>
            </a:pPr>
            <a:r>
              <a:rPr lang="en-US" sz="4000">
                <a:solidFill>
                  <a:srgbClr val="00B050"/>
                </a:solidFill>
                <a:latin typeface="+mn-lt"/>
                <a:ea typeface="Arial Unicode MS" panose="020B0604020202020204" pitchFamily="34" charset="-128"/>
                <a:cs typeface="Arial Unicode MS" panose="020B0604020202020204" pitchFamily="34" charset="-128"/>
              </a:rPr>
              <a:t> </a:t>
            </a:r>
          </a:p>
        </p:txBody>
      </p:sp>
      <p:sp>
        <p:nvSpPr>
          <p:cNvPr id="11" name="Textfeld 10">
            <a:extLst>
              <a:ext uri="{FF2B5EF4-FFF2-40B4-BE49-F238E27FC236}">
                <a16:creationId xmlns:a16="http://schemas.microsoft.com/office/drawing/2014/main" id="{3886BCF2-F427-4903-9652-C0D3E9FED260}"/>
              </a:ext>
            </a:extLst>
          </p:cNvPr>
          <p:cNvSpPr txBox="1"/>
          <p:nvPr/>
        </p:nvSpPr>
        <p:spPr>
          <a:xfrm>
            <a:off x="5232611" y="2268539"/>
            <a:ext cx="914400" cy="914400"/>
          </a:xfrm>
          <a:prstGeom prst="rect">
            <a:avLst/>
          </a:prstGeom>
          <a:noFill/>
        </p:spPr>
        <p:txBody>
          <a:bodyPr wrap="none" lIns="0" tIns="0" rIns="0" bIns="0" rtlCol="0">
            <a:noAutofit/>
          </a:bodyPr>
          <a:lstStyle/>
          <a:p>
            <a:pPr marL="171450" indent="-171450">
              <a:lnSpc>
                <a:spcPct val="110000"/>
              </a:lnSpc>
              <a:spcBef>
                <a:spcPts val="0"/>
              </a:spcBef>
              <a:buFont typeface="Wingdings" panose="05000000000000000000" pitchFamily="2" charset="2"/>
              <a:buChar char="ü"/>
            </a:pPr>
            <a:r>
              <a:rPr lang="en-US" sz="4000">
                <a:solidFill>
                  <a:srgbClr val="00B050"/>
                </a:solidFill>
                <a:latin typeface="+mn-lt"/>
                <a:ea typeface="Arial Unicode MS" panose="020B0604020202020204" pitchFamily="34" charset="-128"/>
                <a:cs typeface="Arial Unicode MS" panose="020B0604020202020204" pitchFamily="34" charset="-128"/>
              </a:rPr>
              <a:t> </a:t>
            </a:r>
          </a:p>
        </p:txBody>
      </p:sp>
      <p:sp>
        <p:nvSpPr>
          <p:cNvPr id="12" name="Textfeld 11">
            <a:extLst>
              <a:ext uri="{FF2B5EF4-FFF2-40B4-BE49-F238E27FC236}">
                <a16:creationId xmlns:a16="http://schemas.microsoft.com/office/drawing/2014/main" id="{4EADEC2E-30F2-4EC3-8EE7-0BF56F0807C7}"/>
              </a:ext>
            </a:extLst>
          </p:cNvPr>
          <p:cNvSpPr txBox="1"/>
          <p:nvPr/>
        </p:nvSpPr>
        <p:spPr>
          <a:xfrm>
            <a:off x="4986753" y="2715701"/>
            <a:ext cx="914400" cy="914400"/>
          </a:xfrm>
          <a:prstGeom prst="rect">
            <a:avLst/>
          </a:prstGeom>
          <a:noFill/>
        </p:spPr>
        <p:txBody>
          <a:bodyPr wrap="none" lIns="0" tIns="0" rIns="0" bIns="0" rtlCol="0">
            <a:noAutofit/>
          </a:bodyPr>
          <a:lstStyle/>
          <a:p>
            <a:pPr marL="171450" indent="-171450">
              <a:lnSpc>
                <a:spcPct val="110000"/>
              </a:lnSpc>
              <a:spcBef>
                <a:spcPts val="0"/>
              </a:spcBef>
              <a:buFont typeface="Wingdings" panose="05000000000000000000" pitchFamily="2" charset="2"/>
              <a:buChar char="ü"/>
            </a:pPr>
            <a:r>
              <a:rPr lang="en-US" sz="4000">
                <a:solidFill>
                  <a:srgbClr val="00B050"/>
                </a:solidFill>
                <a:latin typeface="+mn-lt"/>
                <a:ea typeface="Arial Unicode MS" panose="020B0604020202020204" pitchFamily="34" charset="-128"/>
                <a:cs typeface="Arial Unicode MS" panose="020B0604020202020204" pitchFamily="34" charset="-128"/>
              </a:rPr>
              <a:t> </a:t>
            </a:r>
          </a:p>
        </p:txBody>
      </p:sp>
      <p:sp>
        <p:nvSpPr>
          <p:cNvPr id="13" name="Textfeld 12">
            <a:extLst>
              <a:ext uri="{FF2B5EF4-FFF2-40B4-BE49-F238E27FC236}">
                <a16:creationId xmlns:a16="http://schemas.microsoft.com/office/drawing/2014/main" id="{C8488973-8CB7-4B0D-94E5-D0624B6360BD}"/>
              </a:ext>
            </a:extLst>
          </p:cNvPr>
          <p:cNvSpPr txBox="1"/>
          <p:nvPr/>
        </p:nvSpPr>
        <p:spPr>
          <a:xfrm>
            <a:off x="5352091" y="2641975"/>
            <a:ext cx="914400" cy="914400"/>
          </a:xfrm>
          <a:prstGeom prst="rect">
            <a:avLst/>
          </a:prstGeom>
          <a:noFill/>
        </p:spPr>
        <p:txBody>
          <a:bodyPr wrap="none" lIns="0" tIns="0" rIns="0" bIns="0" rtlCol="0">
            <a:noAutofit/>
          </a:bodyPr>
          <a:lstStyle/>
          <a:p>
            <a:pPr marL="171450" indent="-171450">
              <a:lnSpc>
                <a:spcPct val="110000"/>
              </a:lnSpc>
              <a:spcBef>
                <a:spcPts val="0"/>
              </a:spcBef>
              <a:buFont typeface="Wingdings" panose="05000000000000000000" pitchFamily="2" charset="2"/>
              <a:buChar char="ü"/>
            </a:pPr>
            <a:r>
              <a:rPr lang="en-US" sz="4000">
                <a:solidFill>
                  <a:srgbClr val="00B050"/>
                </a:solidFill>
                <a:latin typeface="+mn-lt"/>
                <a:ea typeface="Arial Unicode MS" panose="020B0604020202020204" pitchFamily="34" charset="-128"/>
                <a:cs typeface="Arial Unicode MS" panose="020B0604020202020204" pitchFamily="34" charset="-128"/>
              </a:rPr>
              <a:t> </a:t>
            </a:r>
          </a:p>
        </p:txBody>
      </p:sp>
      <p:sp>
        <p:nvSpPr>
          <p:cNvPr id="14" name="Textfeld 13">
            <a:extLst>
              <a:ext uri="{FF2B5EF4-FFF2-40B4-BE49-F238E27FC236}">
                <a16:creationId xmlns:a16="http://schemas.microsoft.com/office/drawing/2014/main" id="{6213A876-6040-45C2-8027-6B994D2C26C5}"/>
              </a:ext>
            </a:extLst>
          </p:cNvPr>
          <p:cNvSpPr txBox="1"/>
          <p:nvPr/>
        </p:nvSpPr>
        <p:spPr>
          <a:xfrm>
            <a:off x="5080211" y="3246627"/>
            <a:ext cx="914400" cy="914400"/>
          </a:xfrm>
          <a:prstGeom prst="rect">
            <a:avLst/>
          </a:prstGeom>
          <a:noFill/>
        </p:spPr>
        <p:txBody>
          <a:bodyPr wrap="none" lIns="0" tIns="0" rIns="0" bIns="0" rtlCol="0">
            <a:no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success</a:t>
            </a:r>
          </a:p>
        </p:txBody>
      </p:sp>
      <p:sp>
        <p:nvSpPr>
          <p:cNvPr id="15" name="Textfeld 14">
            <a:extLst>
              <a:ext uri="{FF2B5EF4-FFF2-40B4-BE49-F238E27FC236}">
                <a16:creationId xmlns:a16="http://schemas.microsoft.com/office/drawing/2014/main" id="{94761D7B-E78D-4AFC-9459-15E576052DE2}"/>
              </a:ext>
            </a:extLst>
          </p:cNvPr>
          <p:cNvSpPr txBox="1"/>
          <p:nvPr/>
        </p:nvSpPr>
        <p:spPr>
          <a:xfrm>
            <a:off x="6211209" y="3273630"/>
            <a:ext cx="914400" cy="914400"/>
          </a:xfrm>
          <a:prstGeom prst="rect">
            <a:avLst/>
          </a:prstGeom>
          <a:noFill/>
        </p:spPr>
        <p:txBody>
          <a:bodyPr wrap="none" lIns="0" tIns="0" rIns="0" bIns="0" rtlCol="0">
            <a:noAutofit/>
          </a:bodyPr>
          <a:lstStyle/>
          <a:p>
            <a:pPr>
              <a:lnSpc>
                <a:spcPct val="110000"/>
              </a:lnSpc>
              <a:spcBef>
                <a:spcPts val="0"/>
              </a:spcBef>
            </a:pPr>
            <a:r>
              <a:rPr lang="en-US" sz="1200">
                <a:solidFill>
                  <a:schemeClr val="tx1"/>
                </a:solidFill>
                <a:latin typeface="+mn-lt"/>
                <a:ea typeface="Arial Unicode MS" panose="020B0604020202020204" pitchFamily="34" charset="-128"/>
                <a:cs typeface="Arial Unicode MS" panose="020B0604020202020204" pitchFamily="34" charset="-128"/>
              </a:rPr>
              <a:t>failure</a:t>
            </a:r>
          </a:p>
        </p:txBody>
      </p:sp>
      <p:sp>
        <p:nvSpPr>
          <p:cNvPr id="16" name="Textfeld 15">
            <a:extLst>
              <a:ext uri="{FF2B5EF4-FFF2-40B4-BE49-F238E27FC236}">
                <a16:creationId xmlns:a16="http://schemas.microsoft.com/office/drawing/2014/main" id="{22189E6D-849B-4F9D-82B7-F73598A0ADC3}"/>
              </a:ext>
            </a:extLst>
          </p:cNvPr>
          <p:cNvSpPr txBox="1"/>
          <p:nvPr/>
        </p:nvSpPr>
        <p:spPr>
          <a:xfrm>
            <a:off x="8701276" y="2420888"/>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40,45</a:t>
            </a:r>
          </a:p>
        </p:txBody>
      </p:sp>
      <p:sp>
        <p:nvSpPr>
          <p:cNvPr id="17" name="Textfeld 16">
            <a:extLst>
              <a:ext uri="{FF2B5EF4-FFF2-40B4-BE49-F238E27FC236}">
                <a16:creationId xmlns:a16="http://schemas.microsoft.com/office/drawing/2014/main" id="{044AA58A-49BD-45B4-B87C-D69ABBD90A8B}"/>
              </a:ext>
            </a:extLst>
          </p:cNvPr>
          <p:cNvSpPr txBox="1"/>
          <p:nvPr/>
        </p:nvSpPr>
        <p:spPr>
          <a:xfrm>
            <a:off x="9193221" y="2766258"/>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40,85</a:t>
            </a:r>
          </a:p>
        </p:txBody>
      </p:sp>
      <p:sp>
        <p:nvSpPr>
          <p:cNvPr id="18" name="Textfeld 17">
            <a:extLst>
              <a:ext uri="{FF2B5EF4-FFF2-40B4-BE49-F238E27FC236}">
                <a16:creationId xmlns:a16="http://schemas.microsoft.com/office/drawing/2014/main" id="{4243C60D-232F-43D1-B513-211535FE2D88}"/>
              </a:ext>
            </a:extLst>
          </p:cNvPr>
          <p:cNvSpPr txBox="1"/>
          <p:nvPr/>
        </p:nvSpPr>
        <p:spPr>
          <a:xfrm>
            <a:off x="9472470" y="2384884"/>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39,97</a:t>
            </a:r>
          </a:p>
        </p:txBody>
      </p:sp>
      <p:sp>
        <p:nvSpPr>
          <p:cNvPr id="19" name="Textfeld 18">
            <a:extLst>
              <a:ext uri="{FF2B5EF4-FFF2-40B4-BE49-F238E27FC236}">
                <a16:creationId xmlns:a16="http://schemas.microsoft.com/office/drawing/2014/main" id="{609D9956-15E3-45BC-A12F-CA4AA3CE6D49}"/>
              </a:ext>
            </a:extLst>
          </p:cNvPr>
          <p:cNvSpPr txBox="1"/>
          <p:nvPr/>
        </p:nvSpPr>
        <p:spPr>
          <a:xfrm>
            <a:off x="8576962" y="2979824"/>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39,12</a:t>
            </a:r>
          </a:p>
        </p:txBody>
      </p:sp>
      <p:sp>
        <p:nvSpPr>
          <p:cNvPr id="20" name="Textfeld 19">
            <a:extLst>
              <a:ext uri="{FF2B5EF4-FFF2-40B4-BE49-F238E27FC236}">
                <a16:creationId xmlns:a16="http://schemas.microsoft.com/office/drawing/2014/main" id="{5986F74A-CDDB-410D-932C-1A4735B5718D}"/>
              </a:ext>
            </a:extLst>
          </p:cNvPr>
          <p:cNvSpPr txBox="1"/>
          <p:nvPr/>
        </p:nvSpPr>
        <p:spPr>
          <a:xfrm>
            <a:off x="9865935" y="2706315"/>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38,93</a:t>
            </a:r>
          </a:p>
        </p:txBody>
      </p:sp>
      <p:sp>
        <p:nvSpPr>
          <p:cNvPr id="21" name="Textfeld 20">
            <a:extLst>
              <a:ext uri="{FF2B5EF4-FFF2-40B4-BE49-F238E27FC236}">
                <a16:creationId xmlns:a16="http://schemas.microsoft.com/office/drawing/2014/main" id="{62918A85-EDDF-45E4-A039-588BE1B43A24}"/>
              </a:ext>
            </a:extLst>
          </p:cNvPr>
          <p:cNvSpPr txBox="1"/>
          <p:nvPr/>
        </p:nvSpPr>
        <p:spPr>
          <a:xfrm>
            <a:off x="9578583" y="3092287"/>
            <a:ext cx="914400" cy="914400"/>
          </a:xfrm>
          <a:prstGeom prst="rect">
            <a:avLst/>
          </a:prstGeom>
          <a:noFill/>
        </p:spPr>
        <p:txBody>
          <a:bodyPr wrap="none" lIns="0" tIns="0" rIns="0" bIns="0" rtlCol="0">
            <a:noAutofit/>
          </a:bodyPr>
          <a:lstStyle/>
          <a:p>
            <a:pPr>
              <a:lnSpc>
                <a:spcPct val="110000"/>
              </a:lnSpc>
              <a:spcBef>
                <a:spcPts val="0"/>
              </a:spcBef>
            </a:pPr>
            <a:r>
              <a:rPr lang="en-US" sz="1600">
                <a:solidFill>
                  <a:srgbClr val="0070C0"/>
                </a:solidFill>
                <a:latin typeface="+mn-lt"/>
                <a:ea typeface="Arial Unicode MS" panose="020B0604020202020204" pitchFamily="34" charset="-128"/>
                <a:cs typeface="Arial Unicode MS" panose="020B0604020202020204" pitchFamily="34" charset="-128"/>
              </a:rPr>
              <a:t>40,07</a:t>
            </a:r>
          </a:p>
        </p:txBody>
      </p:sp>
      <p:sp>
        <p:nvSpPr>
          <p:cNvPr id="22" name="Textfeld 21">
            <a:extLst>
              <a:ext uri="{FF2B5EF4-FFF2-40B4-BE49-F238E27FC236}">
                <a16:creationId xmlns:a16="http://schemas.microsoft.com/office/drawing/2014/main" id="{B4A394C7-63FB-4785-B2A5-1A9160D903E1}"/>
              </a:ext>
            </a:extLst>
          </p:cNvPr>
          <p:cNvSpPr txBox="1"/>
          <p:nvPr/>
        </p:nvSpPr>
        <p:spPr>
          <a:xfrm>
            <a:off x="4514999" y="3581628"/>
            <a:ext cx="2880320" cy="1154675"/>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sz="1600" b="1"/>
              <a:t>„Classification“:</a:t>
            </a:r>
          </a:p>
          <a:p>
            <a:r>
              <a:rPr lang="en-US" sz="1600"/>
              <a:t>Selecting the right group for a new element</a:t>
            </a:r>
          </a:p>
          <a:p>
            <a:pPr marL="285750" indent="-285750">
              <a:buFont typeface="Arial" panose="020B0604020202020204" pitchFamily="34" charset="0"/>
              <a:buChar char="•"/>
            </a:pPr>
            <a:endParaRPr lang="en-US" sz="1600"/>
          </a:p>
        </p:txBody>
      </p:sp>
      <p:sp>
        <p:nvSpPr>
          <p:cNvPr id="23" name="Textfeld 22">
            <a:extLst>
              <a:ext uri="{FF2B5EF4-FFF2-40B4-BE49-F238E27FC236}">
                <a16:creationId xmlns:a16="http://schemas.microsoft.com/office/drawing/2014/main" id="{0C5764E5-BAC8-475A-95D6-5246A56FF3CA}"/>
              </a:ext>
            </a:extLst>
          </p:cNvPr>
          <p:cNvSpPr txBox="1"/>
          <p:nvPr/>
        </p:nvSpPr>
        <p:spPr>
          <a:xfrm>
            <a:off x="8367427" y="3554931"/>
            <a:ext cx="2880320" cy="883832"/>
          </a:xfrm>
          <a:prstGeom prst="rect">
            <a:avLst/>
          </a:prstGeom>
        </p:spPr>
        <p:txBody>
          <a:bodyPr wrap="square">
            <a:spAutoFit/>
          </a:bodyPr>
          <a:lstStyle>
            <a:defPPr>
              <a:defRPr lang="de-DE"/>
            </a:defPPr>
            <a:lvl1pPr>
              <a:lnSpc>
                <a:spcPct val="110000"/>
              </a:lnSpc>
              <a:spcBef>
                <a:spcPts val="0"/>
              </a:spcBef>
              <a:defRPr>
                <a:solidFill>
                  <a:schemeClr val="tx1"/>
                </a:solidFill>
                <a:ea typeface="Arial Unicode MS" panose="020B0604020202020204" pitchFamily="34" charset="-128"/>
                <a:cs typeface="Arial Unicode MS" panose="020B0604020202020204" pitchFamily="34" charset="-128"/>
              </a:defRPr>
            </a:lvl1pPr>
          </a:lstStyle>
          <a:p>
            <a:r>
              <a:rPr lang="en-US" sz="1600"/>
              <a:t>„</a:t>
            </a:r>
            <a:r>
              <a:rPr lang="en-US" sz="1600" b="1"/>
              <a:t>Regression</a:t>
            </a:r>
            <a:r>
              <a:rPr lang="en-US" sz="1600"/>
              <a:t>“: Estimates a numerical value for a new element</a:t>
            </a:r>
          </a:p>
        </p:txBody>
      </p:sp>
      <p:sp>
        <p:nvSpPr>
          <p:cNvPr id="25" name="Titel 1">
            <a:extLst>
              <a:ext uri="{FF2B5EF4-FFF2-40B4-BE49-F238E27FC236}">
                <a16:creationId xmlns:a16="http://schemas.microsoft.com/office/drawing/2014/main" id="{5853C3F6-80D0-4D74-B741-5B3EA89ADCED}"/>
              </a:ext>
            </a:extLst>
          </p:cNvPr>
          <p:cNvSpPr txBox="1">
            <a:spLocks/>
          </p:cNvSpPr>
          <p:nvPr/>
        </p:nvSpPr>
        <p:spPr bwMode="auto">
          <a:xfrm>
            <a:off x="2354759" y="5035263"/>
            <a:ext cx="11088686" cy="396000"/>
          </a:xfrm>
          <a:prstGeom prst="rect">
            <a:avLst/>
          </a:prstGeom>
          <a:noFill/>
          <a:ln w="9525">
            <a:noFill/>
            <a:miter lim="800000"/>
            <a:headEnd/>
            <a:tailEnd/>
          </a:ln>
        </p:spPr>
        <p:txBody>
          <a:bodyPr vert="horz" wrap="square" lIns="180000" tIns="432000" rIns="180000" bIns="432000" numCol="1" anchor="ctr" anchorCtr="0" compatLnSpc="1">
            <a:prstTxWarp prst="textNoShape">
              <a:avLst/>
            </a:prstTxWarp>
            <a:noAutofit/>
          </a:bodyPr>
          <a:lst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a:lstStyle>
          <a:p>
            <a:pPr algn="ctr"/>
            <a:r>
              <a:rPr lang="en-US" sz="1600">
                <a:solidFill>
                  <a:schemeClr val="tx1"/>
                </a:solidFill>
              </a:rPr>
              <a:t>Most learning algorithms have a version for each, </a:t>
            </a:r>
          </a:p>
          <a:p>
            <a:pPr algn="ctr"/>
            <a:r>
              <a:rPr lang="en-US" sz="1600">
                <a:solidFill>
                  <a:schemeClr val="tx1"/>
                </a:solidFill>
              </a:rPr>
              <a:t>Classification and Regression</a:t>
            </a:r>
          </a:p>
        </p:txBody>
      </p:sp>
    </p:spTree>
    <p:extLst>
      <p:ext uri="{BB962C8B-B14F-4D97-AF65-F5344CB8AC3E}">
        <p14:creationId xmlns:p14="http://schemas.microsoft.com/office/powerpoint/2010/main" val="372613505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59015" y="1772816"/>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58483840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44950-075C-4DF1-8EA6-B8411A510D28}"/>
              </a:ext>
            </a:extLst>
          </p:cNvPr>
          <p:cNvSpPr>
            <a:spLocks noGrp="1"/>
          </p:cNvSpPr>
          <p:nvPr>
            <p:ph type="title"/>
          </p:nvPr>
        </p:nvSpPr>
        <p:spPr/>
        <p:txBody>
          <a:bodyPr/>
          <a:lstStyle/>
          <a:p>
            <a:r>
              <a:rPr lang="en-US"/>
              <a:t>2 Questions to be answered by a Model</a:t>
            </a:r>
          </a:p>
        </p:txBody>
      </p:sp>
      <p:sp>
        <p:nvSpPr>
          <p:cNvPr id="6" name="Rechteck 5">
            <a:extLst>
              <a:ext uri="{FF2B5EF4-FFF2-40B4-BE49-F238E27FC236}">
                <a16:creationId xmlns:a16="http://schemas.microsoft.com/office/drawing/2014/main" id="{F35D0272-EC3E-4985-A5D6-609FC1A6255C}"/>
              </a:ext>
            </a:extLst>
          </p:cNvPr>
          <p:cNvSpPr/>
          <p:nvPr/>
        </p:nvSpPr>
        <p:spPr>
          <a:xfrm>
            <a:off x="480342" y="1439999"/>
            <a:ext cx="6002438" cy="3693319"/>
          </a:xfrm>
          <a:prstGeom prst="rect">
            <a:avLst/>
          </a:prstGeom>
        </p:spPr>
        <p:txBody>
          <a:bodyPr wrap="square">
            <a:spAutoFit/>
          </a:bodyPr>
          <a:lstStyle/>
          <a:p>
            <a:pPr marL="285750" indent="-285750">
              <a:buFontTx/>
              <a:buChar char="-"/>
            </a:pPr>
            <a:r>
              <a:rPr lang="de-DE" err="1">
                <a:solidFill>
                  <a:schemeClr val="tx1"/>
                </a:solidFill>
              </a:rPr>
              <a:t>Does</a:t>
            </a:r>
            <a:r>
              <a:rPr lang="de-DE">
                <a:solidFill>
                  <a:schemeClr val="tx1"/>
                </a:solidFill>
              </a:rPr>
              <a:t> </a:t>
            </a:r>
            <a:r>
              <a:rPr lang="de-DE" err="1">
                <a:solidFill>
                  <a:schemeClr val="tx1"/>
                </a:solidFill>
              </a:rPr>
              <a:t>the</a:t>
            </a:r>
            <a:r>
              <a:rPr lang="de-DE">
                <a:solidFill>
                  <a:schemeClr val="tx1"/>
                </a:solidFill>
              </a:rPr>
              <a:t> </a:t>
            </a:r>
            <a:r>
              <a:rPr lang="de-DE" err="1">
                <a:solidFill>
                  <a:schemeClr val="tx1"/>
                </a:solidFill>
              </a:rPr>
              <a:t>model</a:t>
            </a:r>
            <a:r>
              <a:rPr lang="de-DE">
                <a:solidFill>
                  <a:schemeClr val="tx1"/>
                </a:solidFill>
              </a:rPr>
              <a:t> </a:t>
            </a:r>
            <a:r>
              <a:rPr lang="de-DE" err="1">
                <a:solidFill>
                  <a:schemeClr val="tx1"/>
                </a:solidFill>
              </a:rPr>
              <a:t>represent</a:t>
            </a:r>
            <a:r>
              <a:rPr lang="de-DE">
                <a:solidFill>
                  <a:schemeClr val="tx1"/>
                </a:solidFill>
              </a:rPr>
              <a:t> </a:t>
            </a:r>
            <a:r>
              <a:rPr lang="de-DE" err="1">
                <a:solidFill>
                  <a:schemeClr val="tx1"/>
                </a:solidFill>
              </a:rPr>
              <a:t>the</a:t>
            </a:r>
            <a:r>
              <a:rPr lang="de-DE">
                <a:solidFill>
                  <a:schemeClr val="tx1"/>
                </a:solidFill>
              </a:rPr>
              <a:t> </a:t>
            </a:r>
            <a:r>
              <a:rPr lang="de-DE" err="1">
                <a:solidFill>
                  <a:schemeClr val="tx1"/>
                </a:solidFill>
              </a:rPr>
              <a:t>given</a:t>
            </a:r>
            <a:r>
              <a:rPr lang="de-DE">
                <a:solidFill>
                  <a:schemeClr val="tx1"/>
                </a:solidFill>
              </a:rPr>
              <a:t> </a:t>
            </a:r>
            <a:r>
              <a:rPr lang="de-DE" err="1">
                <a:solidFill>
                  <a:schemeClr val="tx1"/>
                </a:solidFill>
              </a:rPr>
              <a:t>data</a:t>
            </a:r>
            <a:r>
              <a:rPr lang="de-DE">
                <a:solidFill>
                  <a:schemeClr val="tx1"/>
                </a:solidFill>
              </a:rPr>
              <a:t> in </a:t>
            </a:r>
            <a:r>
              <a:rPr lang="de-DE" err="1">
                <a:solidFill>
                  <a:schemeClr val="tx1"/>
                </a:solidFill>
              </a:rPr>
              <a:t>the</a:t>
            </a:r>
            <a:r>
              <a:rPr lang="de-DE">
                <a:solidFill>
                  <a:schemeClr val="tx1"/>
                </a:solidFill>
              </a:rPr>
              <a:t> </a:t>
            </a:r>
            <a:r>
              <a:rPr lang="de-DE" err="1">
                <a:solidFill>
                  <a:schemeClr val="tx1"/>
                </a:solidFill>
              </a:rPr>
              <a:t>best</a:t>
            </a:r>
            <a:r>
              <a:rPr lang="de-DE">
                <a:solidFill>
                  <a:schemeClr val="tx1"/>
                </a:solidFill>
              </a:rPr>
              <a:t> possible </a:t>
            </a:r>
            <a:r>
              <a:rPr lang="de-DE" err="1">
                <a:solidFill>
                  <a:schemeClr val="tx1"/>
                </a:solidFill>
              </a:rPr>
              <a:t>manner</a:t>
            </a:r>
            <a:r>
              <a:rPr lang="de-DE">
                <a:solidFill>
                  <a:schemeClr val="tx1"/>
                </a:solidFill>
              </a:rPr>
              <a:t>? (</a:t>
            </a:r>
            <a:r>
              <a:rPr lang="de-DE" err="1">
                <a:solidFill>
                  <a:schemeClr val="tx1"/>
                </a:solidFill>
              </a:rPr>
              <a:t>loss</a:t>
            </a:r>
            <a:r>
              <a:rPr lang="de-DE">
                <a:solidFill>
                  <a:schemeClr val="tx1"/>
                </a:solidFill>
              </a:rPr>
              <a:t> </a:t>
            </a:r>
            <a:r>
              <a:rPr lang="de-DE" err="1">
                <a:solidFill>
                  <a:schemeClr val="tx1"/>
                </a:solidFill>
              </a:rPr>
              <a:t>function</a:t>
            </a:r>
            <a:r>
              <a:rPr lang="de-DE">
                <a:solidFill>
                  <a:schemeClr val="tx1"/>
                </a:solidFill>
              </a:rPr>
              <a:t>, </a:t>
            </a:r>
            <a:r>
              <a:rPr lang="de-DE" err="1">
                <a:solidFill>
                  <a:schemeClr val="tx1"/>
                </a:solidFill>
              </a:rPr>
              <a:t>error</a:t>
            </a:r>
            <a:r>
              <a:rPr lang="de-DE">
                <a:solidFill>
                  <a:schemeClr val="tx1"/>
                </a:solidFill>
              </a:rPr>
              <a:t> </a:t>
            </a:r>
            <a:r>
              <a:rPr lang="de-DE" err="1">
                <a:solidFill>
                  <a:schemeClr val="tx1"/>
                </a:solidFill>
              </a:rPr>
              <a:t>metrics</a:t>
            </a:r>
            <a:r>
              <a:rPr lang="de-DE">
                <a:solidFill>
                  <a:schemeClr val="tx1"/>
                </a:solidFill>
              </a:rPr>
              <a:t>)</a:t>
            </a:r>
          </a:p>
          <a:p>
            <a:pPr marL="285750" indent="-285750">
              <a:buFontTx/>
              <a:buChar char="-"/>
            </a:pPr>
            <a:endParaRPr lang="de-DE">
              <a:solidFill>
                <a:schemeClr val="tx1"/>
              </a:solidFill>
            </a:endParaRPr>
          </a:p>
          <a:p>
            <a:pPr marL="285750" indent="-285750">
              <a:buFontTx/>
              <a:buChar char="-"/>
            </a:pPr>
            <a:endParaRPr lang="de-DE">
              <a:solidFill>
                <a:schemeClr val="tx1"/>
              </a:solidFill>
            </a:endParaRPr>
          </a:p>
          <a:p>
            <a:pPr marL="285750" indent="-285750">
              <a:buFontTx/>
              <a:buChar char="-"/>
            </a:pPr>
            <a:endParaRPr lang="de-DE">
              <a:solidFill>
                <a:schemeClr val="tx1"/>
              </a:solidFill>
            </a:endParaRPr>
          </a:p>
          <a:p>
            <a:pPr marL="285750" indent="-285750">
              <a:buFontTx/>
              <a:buChar char="-"/>
            </a:pPr>
            <a:endParaRPr lang="de-DE">
              <a:solidFill>
                <a:schemeClr val="tx1"/>
              </a:solidFill>
            </a:endParaRPr>
          </a:p>
          <a:p>
            <a:pPr marL="285750" indent="-285750">
              <a:buFontTx/>
              <a:buChar char="-"/>
            </a:pPr>
            <a:endParaRPr lang="de-DE">
              <a:solidFill>
                <a:schemeClr val="tx1"/>
              </a:solidFill>
            </a:endParaRPr>
          </a:p>
          <a:p>
            <a:pPr marL="285750" indent="-285750">
              <a:buFontTx/>
              <a:buChar char="-"/>
            </a:pPr>
            <a:r>
              <a:rPr lang="de-DE" err="1">
                <a:solidFill>
                  <a:schemeClr val="tx1"/>
                </a:solidFill>
              </a:rPr>
              <a:t>Is</a:t>
            </a:r>
            <a:r>
              <a:rPr lang="de-DE">
                <a:solidFill>
                  <a:schemeClr val="tx1"/>
                </a:solidFill>
              </a:rPr>
              <a:t> </a:t>
            </a:r>
            <a:r>
              <a:rPr lang="de-DE" err="1">
                <a:solidFill>
                  <a:schemeClr val="tx1"/>
                </a:solidFill>
              </a:rPr>
              <a:t>the</a:t>
            </a:r>
            <a:r>
              <a:rPr lang="de-DE">
                <a:solidFill>
                  <a:schemeClr val="tx1"/>
                </a:solidFill>
              </a:rPr>
              <a:t> Model </a:t>
            </a:r>
            <a:r>
              <a:rPr lang="de-DE" err="1">
                <a:solidFill>
                  <a:schemeClr val="tx1"/>
                </a:solidFill>
              </a:rPr>
              <a:t>general</a:t>
            </a:r>
            <a:r>
              <a:rPr lang="de-DE">
                <a:solidFill>
                  <a:schemeClr val="tx1"/>
                </a:solidFill>
              </a:rPr>
              <a:t> </a:t>
            </a:r>
            <a:r>
              <a:rPr lang="de-DE" err="1">
                <a:solidFill>
                  <a:schemeClr val="tx1"/>
                </a:solidFill>
              </a:rPr>
              <a:t>enough</a:t>
            </a:r>
            <a:r>
              <a:rPr lang="de-DE">
                <a:solidFill>
                  <a:schemeClr val="tx1"/>
                </a:solidFill>
              </a:rPr>
              <a:t> </a:t>
            </a:r>
            <a:r>
              <a:rPr lang="de-DE" err="1">
                <a:solidFill>
                  <a:schemeClr val="tx1"/>
                </a:solidFill>
              </a:rPr>
              <a:t>to</a:t>
            </a:r>
            <a:r>
              <a:rPr lang="de-DE">
                <a:solidFill>
                  <a:schemeClr val="tx1"/>
                </a:solidFill>
              </a:rPr>
              <a:t> still </a:t>
            </a:r>
            <a:r>
              <a:rPr lang="de-DE" err="1">
                <a:solidFill>
                  <a:schemeClr val="tx1"/>
                </a:solidFill>
              </a:rPr>
              <a:t>be</a:t>
            </a:r>
            <a:r>
              <a:rPr lang="de-DE">
                <a:solidFill>
                  <a:schemeClr val="tx1"/>
                </a:solidFill>
              </a:rPr>
              <a:t> </a:t>
            </a:r>
            <a:br>
              <a:rPr lang="de-DE">
                <a:solidFill>
                  <a:schemeClr val="tx1"/>
                </a:solidFill>
              </a:rPr>
            </a:br>
            <a:r>
              <a:rPr lang="de-DE">
                <a:solidFill>
                  <a:schemeClr val="tx1"/>
                </a:solidFill>
              </a:rPr>
              <a:t>valid for </a:t>
            </a:r>
            <a:r>
              <a:rPr lang="de-DE" err="1">
                <a:solidFill>
                  <a:schemeClr val="tx1"/>
                </a:solidFill>
              </a:rPr>
              <a:t>unknown</a:t>
            </a:r>
            <a:r>
              <a:rPr lang="de-DE">
                <a:solidFill>
                  <a:schemeClr val="tx1"/>
                </a:solidFill>
              </a:rPr>
              <a:t> </a:t>
            </a:r>
            <a:r>
              <a:rPr lang="de-DE" err="1">
                <a:solidFill>
                  <a:schemeClr val="tx1"/>
                </a:solidFill>
              </a:rPr>
              <a:t>data</a:t>
            </a:r>
            <a:r>
              <a:rPr lang="de-DE">
                <a:solidFill>
                  <a:schemeClr val="tx1"/>
                </a:solidFill>
              </a:rPr>
              <a:t>? </a:t>
            </a:r>
            <a:br>
              <a:rPr lang="de-DE">
                <a:solidFill>
                  <a:schemeClr val="tx1"/>
                </a:solidFill>
              </a:rPr>
            </a:br>
            <a:r>
              <a:rPr lang="de-DE">
                <a:solidFill>
                  <a:schemeClr val="tx1"/>
                </a:solidFill>
              </a:rPr>
              <a:t>(</a:t>
            </a:r>
            <a:r>
              <a:rPr lang="de-DE" err="1">
                <a:solidFill>
                  <a:schemeClr val="tx1"/>
                </a:solidFill>
              </a:rPr>
              <a:t>bias</a:t>
            </a:r>
            <a:r>
              <a:rPr lang="de-DE">
                <a:solidFill>
                  <a:schemeClr val="tx1"/>
                </a:solidFill>
              </a:rPr>
              <a:t> – </a:t>
            </a:r>
            <a:r>
              <a:rPr lang="de-DE" err="1">
                <a:solidFill>
                  <a:schemeClr val="tx1"/>
                </a:solidFill>
              </a:rPr>
              <a:t>variance</a:t>
            </a:r>
            <a:r>
              <a:rPr lang="de-DE">
                <a:solidFill>
                  <a:schemeClr val="tx1"/>
                </a:solidFill>
              </a:rPr>
              <a:t> </a:t>
            </a:r>
            <a:r>
              <a:rPr lang="de-DE" err="1">
                <a:solidFill>
                  <a:schemeClr val="tx1"/>
                </a:solidFill>
              </a:rPr>
              <a:t>tradeoff</a:t>
            </a:r>
            <a:r>
              <a:rPr lang="de-DE">
                <a:solidFill>
                  <a:schemeClr val="tx1"/>
                </a:solidFill>
              </a:rPr>
              <a:t>)</a:t>
            </a:r>
          </a:p>
        </p:txBody>
      </p:sp>
      <p:sp>
        <p:nvSpPr>
          <p:cNvPr id="38" name="Textfeld 37">
            <a:extLst>
              <a:ext uri="{FF2B5EF4-FFF2-40B4-BE49-F238E27FC236}">
                <a16:creationId xmlns:a16="http://schemas.microsoft.com/office/drawing/2014/main" id="{3A236845-C7DD-4421-936D-8C3A88BA5D86}"/>
              </a:ext>
            </a:extLst>
          </p:cNvPr>
          <p:cNvSpPr txBox="1"/>
          <p:nvPr/>
        </p:nvSpPr>
        <p:spPr>
          <a:xfrm>
            <a:off x="2239220" y="5075695"/>
            <a:ext cx="914400" cy="914400"/>
          </a:xfrm>
          <a:prstGeom prst="rect">
            <a:avLst/>
          </a:prstGeom>
          <a:noFill/>
        </p:spPr>
        <p:txBody>
          <a:bodyPr wrap="non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grpSp>
        <p:nvGrpSpPr>
          <p:cNvPr id="45" name="Gruppieren 44">
            <a:extLst>
              <a:ext uri="{FF2B5EF4-FFF2-40B4-BE49-F238E27FC236}">
                <a16:creationId xmlns:a16="http://schemas.microsoft.com/office/drawing/2014/main" id="{F5FC8E62-76A0-40D1-89DB-C5FB8A8B6AA3}"/>
              </a:ext>
            </a:extLst>
          </p:cNvPr>
          <p:cNvGrpSpPr/>
          <p:nvPr/>
        </p:nvGrpSpPr>
        <p:grpSpPr>
          <a:xfrm>
            <a:off x="5314024" y="3429000"/>
            <a:ext cx="6387601" cy="2659890"/>
            <a:chOff x="698575" y="1572824"/>
            <a:chExt cx="7740860" cy="3853909"/>
          </a:xfrm>
        </p:grpSpPr>
        <p:pic>
          <p:nvPicPr>
            <p:cNvPr id="46" name="Picture 2" descr="Bildergebnis fÃ¼r overfitting">
              <a:extLst>
                <a:ext uri="{FF2B5EF4-FFF2-40B4-BE49-F238E27FC236}">
                  <a16:creationId xmlns:a16="http://schemas.microsoft.com/office/drawing/2014/main" id="{EA27EDFC-CE17-4B70-A4A7-F8EB998528B2}"/>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698575" y="1572824"/>
              <a:ext cx="7632848" cy="3844162"/>
            </a:xfrm>
            <a:prstGeom prst="rect">
              <a:avLst/>
            </a:prstGeom>
            <a:noFill/>
            <a:extLst>
              <a:ext uri="{909E8E84-426E-40DD-AFC4-6F175D3DCCD1}">
                <a14:hiddenFill xmlns:a14="http://schemas.microsoft.com/office/drawing/2010/main">
                  <a:solidFill>
                    <a:srgbClr val="FFFFFF"/>
                  </a:solidFill>
                </a14:hiddenFill>
              </a:ext>
            </a:extLst>
          </p:spPr>
        </p:pic>
        <p:sp>
          <p:nvSpPr>
            <p:cNvPr id="47" name="Rechteck 46">
              <a:extLst>
                <a:ext uri="{FF2B5EF4-FFF2-40B4-BE49-F238E27FC236}">
                  <a16:creationId xmlns:a16="http://schemas.microsoft.com/office/drawing/2014/main" id="{DC16D062-68BC-4123-ABFC-ABB78DEE0822}"/>
                </a:ext>
              </a:extLst>
            </p:cNvPr>
            <p:cNvSpPr/>
            <p:nvPr/>
          </p:nvSpPr>
          <p:spPr bwMode="auto">
            <a:xfrm>
              <a:off x="2210743" y="1572824"/>
              <a:ext cx="1980220" cy="3844162"/>
            </a:xfrm>
            <a:prstGeom prst="rect">
              <a:avLst/>
            </a:prstGeom>
            <a:noFill/>
            <a:ln w="57150">
              <a:solidFill>
                <a:srgbClr val="FF000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
          <p:nvSpPr>
            <p:cNvPr id="48" name="Rechteck 47">
              <a:extLst>
                <a:ext uri="{FF2B5EF4-FFF2-40B4-BE49-F238E27FC236}">
                  <a16:creationId xmlns:a16="http://schemas.microsoft.com/office/drawing/2014/main" id="{33552EF6-1AC3-47DE-AC1A-3C986DDC4D59}"/>
                </a:ext>
              </a:extLst>
            </p:cNvPr>
            <p:cNvSpPr/>
            <p:nvPr/>
          </p:nvSpPr>
          <p:spPr bwMode="auto">
            <a:xfrm>
              <a:off x="4334979" y="1582571"/>
              <a:ext cx="1980220" cy="3844162"/>
            </a:xfrm>
            <a:prstGeom prst="rect">
              <a:avLst/>
            </a:prstGeom>
            <a:noFill/>
            <a:ln w="57150">
              <a:solidFill>
                <a:srgbClr val="00B05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
          <p:nvSpPr>
            <p:cNvPr id="49" name="Rechteck 48">
              <a:extLst>
                <a:ext uri="{FF2B5EF4-FFF2-40B4-BE49-F238E27FC236}">
                  <a16:creationId xmlns:a16="http://schemas.microsoft.com/office/drawing/2014/main" id="{26371036-9A25-4E04-A4B0-7DB23C44DD99}"/>
                </a:ext>
              </a:extLst>
            </p:cNvPr>
            <p:cNvSpPr/>
            <p:nvPr/>
          </p:nvSpPr>
          <p:spPr bwMode="auto">
            <a:xfrm>
              <a:off x="6459215" y="1572824"/>
              <a:ext cx="1980220" cy="3844162"/>
            </a:xfrm>
            <a:prstGeom prst="rect">
              <a:avLst/>
            </a:prstGeom>
            <a:noFill/>
            <a:ln w="57150">
              <a:solidFill>
                <a:srgbClr val="FF000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grpSp>
      <p:pic>
        <p:nvPicPr>
          <p:cNvPr id="50" name="Picture 3">
            <a:extLst>
              <a:ext uri="{FF2B5EF4-FFF2-40B4-BE49-F238E27FC236}">
                <a16:creationId xmlns:a16="http://schemas.microsoft.com/office/drawing/2014/main" id="{6A98082D-C002-4971-B4EC-96ACA8310F96}"/>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t="33727" r="23019" b="33262"/>
          <a:stretch/>
        </p:blipFill>
        <p:spPr bwMode="auto">
          <a:xfrm>
            <a:off x="7938369" y="1446726"/>
            <a:ext cx="2386720" cy="16921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type="none" w="med" len="lg"/>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15113044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22651" y="2279254"/>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54777747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4F44950-075C-4DF1-8EA6-B8411A510D28}"/>
              </a:ext>
            </a:extLst>
          </p:cNvPr>
          <p:cNvSpPr>
            <a:spLocks noGrp="1"/>
          </p:cNvSpPr>
          <p:nvPr>
            <p:ph type="title"/>
          </p:nvPr>
        </p:nvSpPr>
        <p:spPr/>
        <p:txBody>
          <a:bodyPr/>
          <a:lstStyle/>
          <a:p>
            <a:r>
              <a:rPr lang="en-US"/>
              <a:t>MSE</a:t>
            </a:r>
            <a:br>
              <a:rPr lang="en-US"/>
            </a:br>
            <a:r>
              <a:rPr lang="en-US"/>
              <a:t>Mean Squared Error as Error Metric and Loss Function</a:t>
            </a:r>
          </a:p>
        </p:txBody>
      </p:sp>
      <p:sp>
        <p:nvSpPr>
          <p:cNvPr id="6" name="Rechteck 5">
            <a:extLst>
              <a:ext uri="{FF2B5EF4-FFF2-40B4-BE49-F238E27FC236}">
                <a16:creationId xmlns:a16="http://schemas.microsoft.com/office/drawing/2014/main" id="{F35D0272-EC3E-4985-A5D6-609FC1A6255C}"/>
              </a:ext>
            </a:extLst>
          </p:cNvPr>
          <p:cNvSpPr/>
          <p:nvPr/>
        </p:nvSpPr>
        <p:spPr>
          <a:xfrm>
            <a:off x="480342" y="1439999"/>
            <a:ext cx="6002438" cy="1892826"/>
          </a:xfrm>
          <a:prstGeom prst="rect">
            <a:avLst/>
          </a:prstGeom>
        </p:spPr>
        <p:txBody>
          <a:bodyPr wrap="square">
            <a:spAutoFit/>
          </a:bodyPr>
          <a:lstStyle/>
          <a:p>
            <a:r>
              <a:rPr lang="en-US">
                <a:solidFill>
                  <a:schemeClr val="tx1"/>
                </a:solidFill>
              </a:rPr>
              <a:t>Simple linear model: y = </a:t>
            </a:r>
            <a:r>
              <a:rPr lang="en-US" err="1">
                <a:solidFill>
                  <a:schemeClr val="tx1"/>
                </a:solidFill>
              </a:rPr>
              <a:t>ax+c</a:t>
            </a:r>
            <a:endParaRPr lang="en-US">
              <a:solidFill>
                <a:schemeClr val="tx1"/>
              </a:solidFill>
            </a:endParaRPr>
          </a:p>
          <a:p>
            <a:endParaRPr lang="en-US">
              <a:solidFill>
                <a:schemeClr val="tx1"/>
              </a:solidFill>
            </a:endParaRPr>
          </a:p>
          <a:p>
            <a:r>
              <a:rPr lang="en-US">
                <a:solidFill>
                  <a:schemeClr val="tx1"/>
                </a:solidFill>
              </a:rPr>
              <a:t>Error = Estimated value - True value</a:t>
            </a:r>
            <a:endParaRPr lang="de-DE">
              <a:solidFill>
                <a:schemeClr val="tx1"/>
              </a:solidFill>
            </a:endParaRPr>
          </a:p>
          <a:p>
            <a:r>
              <a:rPr lang="en-US">
                <a:solidFill>
                  <a:schemeClr val="tx1"/>
                </a:solidFill>
              </a:rPr>
              <a:t>Mean squared error (MSE) measures the average of the squares of the errors</a:t>
            </a:r>
            <a:endParaRPr lang="de-DE">
              <a:solidFill>
                <a:schemeClr val="tx1"/>
              </a:solidFill>
            </a:endParaRPr>
          </a:p>
        </p:txBody>
      </p:sp>
      <p:cxnSp>
        <p:nvCxnSpPr>
          <p:cNvPr id="10" name="Gerader Verbinder 9">
            <a:extLst>
              <a:ext uri="{FF2B5EF4-FFF2-40B4-BE49-F238E27FC236}">
                <a16:creationId xmlns:a16="http://schemas.microsoft.com/office/drawing/2014/main" id="{BB296562-E851-49BA-B0F3-AE8C302666DA}"/>
              </a:ext>
            </a:extLst>
          </p:cNvPr>
          <p:cNvCxnSpPr/>
          <p:nvPr/>
        </p:nvCxnSpPr>
        <p:spPr bwMode="auto">
          <a:xfrm>
            <a:off x="6495219" y="2042652"/>
            <a:ext cx="0" cy="3096344"/>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r Verbinder 10">
            <a:extLst>
              <a:ext uri="{FF2B5EF4-FFF2-40B4-BE49-F238E27FC236}">
                <a16:creationId xmlns:a16="http://schemas.microsoft.com/office/drawing/2014/main" id="{F38FC509-3BAB-4059-97D5-F2C782CEF700}"/>
              </a:ext>
            </a:extLst>
          </p:cNvPr>
          <p:cNvCxnSpPr>
            <a:cxnSpLocks/>
          </p:cNvCxnSpPr>
          <p:nvPr/>
        </p:nvCxnSpPr>
        <p:spPr bwMode="auto">
          <a:xfrm>
            <a:off x="6495219" y="5138996"/>
            <a:ext cx="4248472"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2" name="Ellipse 11">
            <a:extLst>
              <a:ext uri="{FF2B5EF4-FFF2-40B4-BE49-F238E27FC236}">
                <a16:creationId xmlns:a16="http://schemas.microsoft.com/office/drawing/2014/main" id="{4AEFE190-B426-457B-BCD2-94348E83F61F}"/>
              </a:ext>
            </a:extLst>
          </p:cNvPr>
          <p:cNvSpPr/>
          <p:nvPr/>
        </p:nvSpPr>
        <p:spPr bwMode="auto">
          <a:xfrm>
            <a:off x="8007387" y="427492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 name="Ellipse 13">
            <a:extLst>
              <a:ext uri="{FF2B5EF4-FFF2-40B4-BE49-F238E27FC236}">
                <a16:creationId xmlns:a16="http://schemas.microsoft.com/office/drawing/2014/main" id="{10E70DBA-6829-4A5F-8CAC-F7844B7624CF}"/>
              </a:ext>
            </a:extLst>
          </p:cNvPr>
          <p:cNvSpPr/>
          <p:nvPr/>
        </p:nvSpPr>
        <p:spPr bwMode="auto">
          <a:xfrm>
            <a:off x="7268258" y="3703643"/>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15" name="Ellipse 14">
            <a:extLst>
              <a:ext uri="{FF2B5EF4-FFF2-40B4-BE49-F238E27FC236}">
                <a16:creationId xmlns:a16="http://schemas.microsoft.com/office/drawing/2014/main" id="{A4198C48-B780-4D98-A758-49BAE33040E8}"/>
              </a:ext>
            </a:extLst>
          </p:cNvPr>
          <p:cNvSpPr/>
          <p:nvPr/>
        </p:nvSpPr>
        <p:spPr bwMode="auto">
          <a:xfrm>
            <a:off x="9675460" y="2614735"/>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16" name="Ellipse 15">
            <a:extLst>
              <a:ext uri="{FF2B5EF4-FFF2-40B4-BE49-F238E27FC236}">
                <a16:creationId xmlns:a16="http://schemas.microsoft.com/office/drawing/2014/main" id="{8EA54087-6D34-4B76-AD5B-6A007DC38625}"/>
              </a:ext>
            </a:extLst>
          </p:cNvPr>
          <p:cNvSpPr/>
          <p:nvPr/>
        </p:nvSpPr>
        <p:spPr bwMode="auto">
          <a:xfrm>
            <a:off x="9452903" y="3653950"/>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Ellipse 16">
            <a:extLst>
              <a:ext uri="{FF2B5EF4-FFF2-40B4-BE49-F238E27FC236}">
                <a16:creationId xmlns:a16="http://schemas.microsoft.com/office/drawing/2014/main" id="{1F3696B7-339E-494C-B543-8AA8953E53B2}"/>
              </a:ext>
            </a:extLst>
          </p:cNvPr>
          <p:cNvSpPr/>
          <p:nvPr/>
        </p:nvSpPr>
        <p:spPr bwMode="auto">
          <a:xfrm>
            <a:off x="8240350" y="2800714"/>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9" name="Gerader Verbinder 18">
            <a:extLst>
              <a:ext uri="{FF2B5EF4-FFF2-40B4-BE49-F238E27FC236}">
                <a16:creationId xmlns:a16="http://schemas.microsoft.com/office/drawing/2014/main" id="{AD4BEBE9-A157-40E7-8A1B-C6D844F6166D}"/>
              </a:ext>
            </a:extLst>
          </p:cNvPr>
          <p:cNvCxnSpPr>
            <a:cxnSpLocks/>
          </p:cNvCxnSpPr>
          <p:nvPr/>
        </p:nvCxnSpPr>
        <p:spPr bwMode="auto">
          <a:xfrm flipV="1">
            <a:off x="7053281" y="2884735"/>
            <a:ext cx="3330370" cy="135416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r Verbinder 24">
            <a:extLst>
              <a:ext uri="{FF2B5EF4-FFF2-40B4-BE49-F238E27FC236}">
                <a16:creationId xmlns:a16="http://schemas.microsoft.com/office/drawing/2014/main" id="{5132E9DF-E4E1-4F51-95E2-ACD2EC4A4EF7}"/>
              </a:ext>
            </a:extLst>
          </p:cNvPr>
          <p:cNvCxnSpPr/>
          <p:nvPr/>
        </p:nvCxnSpPr>
        <p:spPr bwMode="auto">
          <a:xfrm>
            <a:off x="9760858" y="2831564"/>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r Verbinder 25">
            <a:extLst>
              <a:ext uri="{FF2B5EF4-FFF2-40B4-BE49-F238E27FC236}">
                <a16:creationId xmlns:a16="http://schemas.microsoft.com/office/drawing/2014/main" id="{7B4A234A-0160-44F1-9B35-8C2614581FF7}"/>
              </a:ext>
            </a:extLst>
          </p:cNvPr>
          <p:cNvCxnSpPr>
            <a:cxnSpLocks/>
          </p:cNvCxnSpPr>
          <p:nvPr/>
        </p:nvCxnSpPr>
        <p:spPr bwMode="auto">
          <a:xfrm>
            <a:off x="9555559" y="3242806"/>
            <a:ext cx="0" cy="3840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2ACF65F2-DACC-4F40-AF8D-910B9C4B8CA3}"/>
              </a:ext>
            </a:extLst>
          </p:cNvPr>
          <p:cNvCxnSpPr/>
          <p:nvPr/>
        </p:nvCxnSpPr>
        <p:spPr bwMode="auto">
          <a:xfrm>
            <a:off x="8761052" y="3287002"/>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 name="Ellipse 12">
            <a:extLst>
              <a:ext uri="{FF2B5EF4-FFF2-40B4-BE49-F238E27FC236}">
                <a16:creationId xmlns:a16="http://schemas.microsoft.com/office/drawing/2014/main" id="{5F9EB638-2E4B-4AF4-B66F-A06F911B0135}"/>
              </a:ext>
            </a:extLst>
          </p:cNvPr>
          <p:cNvSpPr/>
          <p:nvPr/>
        </p:nvSpPr>
        <p:spPr bwMode="auto">
          <a:xfrm>
            <a:off x="8671735" y="3177793"/>
            <a:ext cx="178635" cy="180000"/>
          </a:xfrm>
          <a:prstGeom prst="ellipse">
            <a:avLst/>
          </a:prstGeom>
          <a:solidFill>
            <a:srgbClr val="00B0F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30" name="Gerader Verbinder 29">
            <a:extLst>
              <a:ext uri="{FF2B5EF4-FFF2-40B4-BE49-F238E27FC236}">
                <a16:creationId xmlns:a16="http://schemas.microsoft.com/office/drawing/2014/main" id="{CC66A7EC-54EA-47E5-BBF6-527E29156CE7}"/>
              </a:ext>
            </a:extLst>
          </p:cNvPr>
          <p:cNvCxnSpPr>
            <a:cxnSpLocks/>
          </p:cNvCxnSpPr>
          <p:nvPr/>
        </p:nvCxnSpPr>
        <p:spPr bwMode="auto">
          <a:xfrm flipH="1">
            <a:off x="8095358" y="3835646"/>
            <a:ext cx="4456" cy="439274"/>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2" name="Gerader Verbinder 31">
            <a:extLst>
              <a:ext uri="{FF2B5EF4-FFF2-40B4-BE49-F238E27FC236}">
                <a16:creationId xmlns:a16="http://schemas.microsoft.com/office/drawing/2014/main" id="{9F2CF72E-7D06-4627-8D3A-61719D8A1BF7}"/>
              </a:ext>
            </a:extLst>
          </p:cNvPr>
          <p:cNvCxnSpPr>
            <a:cxnSpLocks/>
          </p:cNvCxnSpPr>
          <p:nvPr/>
        </p:nvCxnSpPr>
        <p:spPr bwMode="auto">
          <a:xfrm>
            <a:off x="8328387" y="3033885"/>
            <a:ext cx="3036" cy="669758"/>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6" name="Gerader Verbinder 35">
            <a:extLst>
              <a:ext uri="{FF2B5EF4-FFF2-40B4-BE49-F238E27FC236}">
                <a16:creationId xmlns:a16="http://schemas.microsoft.com/office/drawing/2014/main" id="{E8AD6EE0-4E85-4EB6-805D-E85526159AA7}"/>
              </a:ext>
            </a:extLst>
          </p:cNvPr>
          <p:cNvCxnSpPr/>
          <p:nvPr/>
        </p:nvCxnSpPr>
        <p:spPr bwMode="auto">
          <a:xfrm>
            <a:off x="7357575" y="3866660"/>
            <a:ext cx="0" cy="249622"/>
          </a:xfrm>
          <a:prstGeom prst="line">
            <a:avLst/>
          </a:prstGeom>
          <a:solidFill>
            <a:schemeClr val="tx2"/>
          </a:solidFill>
          <a:ln w="38100" cap="flat" cmpd="sng" algn="ctr">
            <a:solidFill>
              <a:srgbClr val="FF0000"/>
            </a:solidFill>
            <a:prstDash val="sys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8" name="Textfeld 37">
            <a:extLst>
              <a:ext uri="{FF2B5EF4-FFF2-40B4-BE49-F238E27FC236}">
                <a16:creationId xmlns:a16="http://schemas.microsoft.com/office/drawing/2014/main" id="{3A236845-C7DD-4421-936D-8C3A88BA5D86}"/>
              </a:ext>
            </a:extLst>
          </p:cNvPr>
          <p:cNvSpPr txBox="1"/>
          <p:nvPr/>
        </p:nvSpPr>
        <p:spPr>
          <a:xfrm>
            <a:off x="2239220" y="5075695"/>
            <a:ext cx="914400" cy="914400"/>
          </a:xfrm>
          <a:prstGeom prst="rect">
            <a:avLst/>
          </a:prstGeom>
          <a:noFill/>
        </p:spPr>
        <p:txBody>
          <a:bodyPr wrap="non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
        <p:nvSpPr>
          <p:cNvPr id="3" name="Sprechblase: rechteckig mit abgerundeten Ecken 2">
            <a:extLst>
              <a:ext uri="{FF2B5EF4-FFF2-40B4-BE49-F238E27FC236}">
                <a16:creationId xmlns:a16="http://schemas.microsoft.com/office/drawing/2014/main" id="{D50D6FF6-1C9C-4121-AE08-2AC0F9A9A7F2}"/>
              </a:ext>
            </a:extLst>
          </p:cNvPr>
          <p:cNvSpPr/>
          <p:nvPr/>
        </p:nvSpPr>
        <p:spPr bwMode="auto">
          <a:xfrm>
            <a:off x="10311643" y="1461648"/>
            <a:ext cx="1044107" cy="715089"/>
          </a:xfrm>
          <a:prstGeom prst="wedgeRoundRectCallout">
            <a:avLst>
              <a:gd name="adj1" fmla="val -101112"/>
              <a:gd name="adj2" fmla="val 124207"/>
              <a:gd name="adj3" fmla="val 16667"/>
            </a:avLst>
          </a:prstGeom>
          <a:ln w="28575">
            <a:solidFill>
              <a:srgbClr val="00646E"/>
            </a:solidFill>
          </a:ln>
        </p:spPr>
        <p:txBody>
          <a:bodyPr wrap="square">
            <a:spAutoFit/>
          </a:bodyPr>
          <a:lstStyle/>
          <a:p>
            <a:pPr algn="ctr"/>
            <a:r>
              <a:rPr lang="en-US" sz="1200">
                <a:solidFill>
                  <a:schemeClr val="tx1"/>
                </a:solidFill>
              </a:rPr>
              <a:t>True (observed) value</a:t>
            </a:r>
          </a:p>
        </p:txBody>
      </p:sp>
      <p:sp>
        <p:nvSpPr>
          <p:cNvPr id="22" name="Sprechblase: rechteckig mit abgerundeten Ecken 21">
            <a:extLst>
              <a:ext uri="{FF2B5EF4-FFF2-40B4-BE49-F238E27FC236}">
                <a16:creationId xmlns:a16="http://schemas.microsoft.com/office/drawing/2014/main" id="{DAA51865-D52D-496B-90E7-089941C5068B}"/>
              </a:ext>
            </a:extLst>
          </p:cNvPr>
          <p:cNvSpPr/>
          <p:nvPr/>
        </p:nvSpPr>
        <p:spPr bwMode="auto">
          <a:xfrm>
            <a:off x="10402989" y="3724325"/>
            <a:ext cx="1163276" cy="715089"/>
          </a:xfrm>
          <a:prstGeom prst="wedgeRoundRectCallout">
            <a:avLst>
              <a:gd name="adj1" fmla="val -102009"/>
              <a:gd name="adj2" fmla="val -130712"/>
              <a:gd name="adj3" fmla="val 16667"/>
            </a:avLst>
          </a:prstGeom>
          <a:ln w="28575">
            <a:solidFill>
              <a:srgbClr val="00646E"/>
            </a:solidFill>
          </a:ln>
        </p:spPr>
        <p:txBody>
          <a:bodyPr wrap="square">
            <a:spAutoFit/>
          </a:bodyPr>
          <a:lstStyle/>
          <a:p>
            <a:pPr algn="ctr"/>
            <a:r>
              <a:rPr lang="en-US" sz="1200">
                <a:solidFill>
                  <a:schemeClr val="tx1"/>
                </a:solidFill>
              </a:rPr>
              <a:t>By model estimated value</a:t>
            </a:r>
          </a:p>
        </p:txBody>
      </p:sp>
      <p:sp>
        <p:nvSpPr>
          <p:cNvPr id="23" name="Ellipse 22">
            <a:extLst>
              <a:ext uri="{FF2B5EF4-FFF2-40B4-BE49-F238E27FC236}">
                <a16:creationId xmlns:a16="http://schemas.microsoft.com/office/drawing/2014/main" id="{57BA6CCE-B05E-42AD-8CDA-AED86AF3D024}"/>
              </a:ext>
            </a:extLst>
          </p:cNvPr>
          <p:cNvSpPr/>
          <p:nvPr/>
        </p:nvSpPr>
        <p:spPr bwMode="auto">
          <a:xfrm>
            <a:off x="9686661" y="3041153"/>
            <a:ext cx="178635" cy="180000"/>
          </a:xfrm>
          <a:prstGeom prst="ellipse">
            <a:avLst/>
          </a:prstGeom>
          <a:solidFill>
            <a:srgbClr val="FFC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4" name="Geschweifte Klammer rechts 3">
            <a:extLst>
              <a:ext uri="{FF2B5EF4-FFF2-40B4-BE49-F238E27FC236}">
                <a16:creationId xmlns:a16="http://schemas.microsoft.com/office/drawing/2014/main" id="{C1715C4D-1689-40A3-9ECC-A083DF8C9BC4}"/>
              </a:ext>
            </a:extLst>
          </p:cNvPr>
          <p:cNvSpPr/>
          <p:nvPr/>
        </p:nvSpPr>
        <p:spPr bwMode="auto">
          <a:xfrm>
            <a:off x="9951603" y="2703914"/>
            <a:ext cx="144016" cy="473058"/>
          </a:xfrm>
          <a:prstGeom prst="rightBrace">
            <a:avLst>
              <a:gd name="adj1" fmla="val 8333"/>
              <a:gd name="adj2" fmla="val 51611"/>
            </a:avLst>
          </a:prstGeom>
          <a:noFill/>
          <a:ln w="28575" cap="flat" cmpd="sng" algn="ctr">
            <a:solidFill>
              <a:srgbClr val="00646E"/>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ヒラギノ角ゴ Pro W3" charset="0"/>
            </a:endParaRPr>
          </a:p>
        </p:txBody>
      </p:sp>
      <p:sp>
        <p:nvSpPr>
          <p:cNvPr id="27" name="Sprechblase: rechteckig mit abgerundeten Ecken 26">
            <a:extLst>
              <a:ext uri="{FF2B5EF4-FFF2-40B4-BE49-F238E27FC236}">
                <a16:creationId xmlns:a16="http://schemas.microsoft.com/office/drawing/2014/main" id="{D7B29FAF-38B2-488C-84D5-5DC0951D478A}"/>
              </a:ext>
            </a:extLst>
          </p:cNvPr>
          <p:cNvSpPr/>
          <p:nvPr/>
        </p:nvSpPr>
        <p:spPr bwMode="auto">
          <a:xfrm>
            <a:off x="10627906" y="2499591"/>
            <a:ext cx="1044107" cy="715089"/>
          </a:xfrm>
          <a:prstGeom prst="wedgeRoundRectCallout">
            <a:avLst>
              <a:gd name="adj1" fmla="val -93084"/>
              <a:gd name="adj2" fmla="val 17242"/>
              <a:gd name="adj3" fmla="val 16667"/>
            </a:avLst>
          </a:prstGeom>
          <a:ln w="28575">
            <a:solidFill>
              <a:srgbClr val="00646E"/>
            </a:solidFill>
          </a:ln>
        </p:spPr>
        <p:txBody>
          <a:bodyPr wrap="square">
            <a:spAutoFit/>
          </a:bodyPr>
          <a:lstStyle/>
          <a:p>
            <a:pPr algn="ctr"/>
            <a:r>
              <a:rPr lang="en-US" sz="1200">
                <a:solidFill>
                  <a:schemeClr val="tx1"/>
                </a:solidFill>
              </a:rPr>
              <a:t>Difference= “Error”= “Residual”</a:t>
            </a:r>
          </a:p>
        </p:txBody>
      </p:sp>
      <p:sp>
        <p:nvSpPr>
          <p:cNvPr id="28" name="Rechteck 27">
            <a:extLst>
              <a:ext uri="{FF2B5EF4-FFF2-40B4-BE49-F238E27FC236}">
                <a16:creationId xmlns:a16="http://schemas.microsoft.com/office/drawing/2014/main" id="{AD8AC898-621A-4A21-A9B9-0FF1D9CAA1BB}"/>
              </a:ext>
            </a:extLst>
          </p:cNvPr>
          <p:cNvSpPr/>
          <p:nvPr/>
        </p:nvSpPr>
        <p:spPr>
          <a:xfrm>
            <a:off x="627064" y="5975992"/>
            <a:ext cx="11340763" cy="369332"/>
          </a:xfrm>
          <a:prstGeom prst="rect">
            <a:avLst/>
          </a:prstGeom>
          <a:ln w="28575">
            <a:solidFill>
              <a:srgbClr val="00646E"/>
            </a:solidFill>
          </a:ln>
        </p:spPr>
        <p:txBody>
          <a:bodyPr wrap="square">
            <a:spAutoFit/>
          </a:bodyPr>
          <a:lstStyle/>
          <a:p>
            <a:pPr algn="ctr"/>
            <a:r>
              <a:rPr lang="en-US">
                <a:solidFill>
                  <a:schemeClr val="tx1"/>
                </a:solidFill>
              </a:rPr>
              <a:t>Think of the MSE as an squared average error the model makes while predicting.</a:t>
            </a:r>
          </a:p>
        </p:txBody>
      </p:sp>
      <p:sp>
        <p:nvSpPr>
          <p:cNvPr id="31" name="Sprechblase: rechteckig mit abgerundeten Ecken 30">
            <a:extLst>
              <a:ext uri="{FF2B5EF4-FFF2-40B4-BE49-F238E27FC236}">
                <a16:creationId xmlns:a16="http://schemas.microsoft.com/office/drawing/2014/main" id="{657DE001-94CE-47F4-A463-B7381879138C}"/>
              </a:ext>
            </a:extLst>
          </p:cNvPr>
          <p:cNvSpPr/>
          <p:nvPr/>
        </p:nvSpPr>
        <p:spPr bwMode="auto">
          <a:xfrm>
            <a:off x="2046043" y="5247737"/>
            <a:ext cx="1044107" cy="510778"/>
          </a:xfrm>
          <a:prstGeom prst="wedgeRoundRectCallout">
            <a:avLst>
              <a:gd name="adj1" fmla="val 60090"/>
              <a:gd name="adj2" fmla="val -98678"/>
              <a:gd name="adj3" fmla="val 16667"/>
            </a:avLst>
          </a:prstGeom>
          <a:ln w="28575">
            <a:solidFill>
              <a:srgbClr val="00646E"/>
            </a:solidFill>
          </a:ln>
        </p:spPr>
        <p:txBody>
          <a:bodyPr wrap="square">
            <a:spAutoFit/>
          </a:bodyPr>
          <a:lstStyle/>
          <a:p>
            <a:pPr algn="ctr"/>
            <a:r>
              <a:rPr lang="en-US" sz="1200">
                <a:solidFill>
                  <a:schemeClr val="tx1"/>
                </a:solidFill>
              </a:rPr>
              <a:t>n: Sample Size</a:t>
            </a:r>
          </a:p>
        </p:txBody>
      </p:sp>
      <p:cxnSp>
        <p:nvCxnSpPr>
          <p:cNvPr id="8" name="Gerader Verbinder 7">
            <a:extLst>
              <a:ext uri="{FF2B5EF4-FFF2-40B4-BE49-F238E27FC236}">
                <a16:creationId xmlns:a16="http://schemas.microsoft.com/office/drawing/2014/main" id="{EFE0690B-576C-4F40-93FB-3455A9071A8C}"/>
              </a:ext>
            </a:extLst>
          </p:cNvPr>
          <p:cNvCxnSpPr>
            <a:stCxn id="23" idx="4"/>
          </p:cNvCxnSpPr>
          <p:nvPr/>
        </p:nvCxnSpPr>
        <p:spPr bwMode="auto">
          <a:xfrm>
            <a:off x="9775979" y="3221153"/>
            <a:ext cx="16458" cy="1917843"/>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 name="Rechteck 6">
            <a:extLst>
              <a:ext uri="{FF2B5EF4-FFF2-40B4-BE49-F238E27FC236}">
                <a16:creationId xmlns:a16="http://schemas.microsoft.com/office/drawing/2014/main" id="{2CEB63E8-58D7-4719-9CDC-2F47363AF95A}"/>
              </a:ext>
            </a:extLst>
          </p:cNvPr>
          <p:cNvSpPr/>
          <p:nvPr/>
        </p:nvSpPr>
        <p:spPr bwMode="auto">
          <a:xfrm>
            <a:off x="9255276" y="2600908"/>
            <a:ext cx="520703" cy="520703"/>
          </a:xfrm>
          <a:prstGeom prst="rect">
            <a:avLst/>
          </a:prstGeom>
          <a:noFill/>
          <a:ln>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Sprechblase: rechteckig mit abgerundeten Ecken 34">
            <a:extLst>
              <a:ext uri="{FF2B5EF4-FFF2-40B4-BE49-F238E27FC236}">
                <a16:creationId xmlns:a16="http://schemas.microsoft.com/office/drawing/2014/main" id="{4C562302-9B13-4CCA-8698-AB1BD6AC058D}"/>
              </a:ext>
            </a:extLst>
          </p:cNvPr>
          <p:cNvSpPr/>
          <p:nvPr/>
        </p:nvSpPr>
        <p:spPr bwMode="auto">
          <a:xfrm>
            <a:off x="10311643" y="4658127"/>
            <a:ext cx="1163276" cy="306467"/>
          </a:xfrm>
          <a:prstGeom prst="wedgeRoundRectCallout">
            <a:avLst>
              <a:gd name="adj1" fmla="val -138855"/>
              <a:gd name="adj2" fmla="val -330690"/>
              <a:gd name="adj3" fmla="val 16667"/>
            </a:avLst>
          </a:prstGeom>
          <a:ln w="28575">
            <a:solidFill>
              <a:srgbClr val="00646E"/>
            </a:solidFill>
          </a:ln>
        </p:spPr>
        <p:txBody>
          <a:bodyPr wrap="square">
            <a:spAutoFit/>
          </a:bodyPr>
          <a:lstStyle/>
          <a:p>
            <a:pPr algn="ctr"/>
            <a:r>
              <a:rPr lang="en-US" sz="1200">
                <a:solidFill>
                  <a:schemeClr val="tx1"/>
                </a:solidFill>
              </a:rPr>
              <a:t>Square Error</a:t>
            </a:r>
          </a:p>
        </p:txBody>
      </p:sp>
      <p:sp>
        <p:nvSpPr>
          <p:cNvPr id="37" name="Rechteck 36">
            <a:extLst>
              <a:ext uri="{FF2B5EF4-FFF2-40B4-BE49-F238E27FC236}">
                <a16:creationId xmlns:a16="http://schemas.microsoft.com/office/drawing/2014/main" id="{4C75CBF1-0F7B-4D7F-8C68-76532F873AED}"/>
              </a:ext>
            </a:extLst>
          </p:cNvPr>
          <p:cNvSpPr/>
          <p:nvPr/>
        </p:nvSpPr>
        <p:spPr bwMode="auto">
          <a:xfrm>
            <a:off x="9021508" y="3255696"/>
            <a:ext cx="520703" cy="520703"/>
          </a:xfrm>
          <a:prstGeom prst="rect">
            <a:avLst/>
          </a:prstGeom>
          <a:noFill/>
          <a:ln>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Rechteck 38">
            <a:extLst>
              <a:ext uri="{FF2B5EF4-FFF2-40B4-BE49-F238E27FC236}">
                <a16:creationId xmlns:a16="http://schemas.microsoft.com/office/drawing/2014/main" id="{EFE65334-B697-453E-A21D-9EF7102A0945}"/>
              </a:ext>
            </a:extLst>
          </p:cNvPr>
          <p:cNvSpPr/>
          <p:nvPr/>
        </p:nvSpPr>
        <p:spPr bwMode="auto">
          <a:xfrm>
            <a:off x="7024004" y="3808665"/>
            <a:ext cx="333572" cy="307617"/>
          </a:xfrm>
          <a:prstGeom prst="rect">
            <a:avLst/>
          </a:prstGeom>
          <a:noFill/>
          <a:ln>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0" name="Rechteck 39">
            <a:extLst>
              <a:ext uri="{FF2B5EF4-FFF2-40B4-BE49-F238E27FC236}">
                <a16:creationId xmlns:a16="http://schemas.microsoft.com/office/drawing/2014/main" id="{467D9B1A-AAD6-43E1-A45F-95530DFD8D1A}"/>
              </a:ext>
            </a:extLst>
          </p:cNvPr>
          <p:cNvSpPr/>
          <p:nvPr/>
        </p:nvSpPr>
        <p:spPr bwMode="auto">
          <a:xfrm>
            <a:off x="7580588" y="3821517"/>
            <a:ext cx="520703" cy="520703"/>
          </a:xfrm>
          <a:prstGeom prst="rect">
            <a:avLst/>
          </a:prstGeom>
          <a:noFill/>
          <a:ln>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1" name="Rechteck 40">
            <a:extLst>
              <a:ext uri="{FF2B5EF4-FFF2-40B4-BE49-F238E27FC236}">
                <a16:creationId xmlns:a16="http://schemas.microsoft.com/office/drawing/2014/main" id="{D6EB1A96-17AD-49B7-BF87-B6EFC85D0B7C}"/>
              </a:ext>
            </a:extLst>
          </p:cNvPr>
          <p:cNvSpPr/>
          <p:nvPr/>
        </p:nvSpPr>
        <p:spPr bwMode="auto">
          <a:xfrm>
            <a:off x="7464275" y="2874786"/>
            <a:ext cx="860597" cy="860597"/>
          </a:xfrm>
          <a:prstGeom prst="rect">
            <a:avLst/>
          </a:prstGeom>
          <a:noFill/>
          <a:ln>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2" name="Rechteck 41">
            <a:extLst>
              <a:ext uri="{FF2B5EF4-FFF2-40B4-BE49-F238E27FC236}">
                <a16:creationId xmlns:a16="http://schemas.microsoft.com/office/drawing/2014/main" id="{7C752049-D58E-4FA0-80B1-3C7B666BD089}"/>
              </a:ext>
            </a:extLst>
          </p:cNvPr>
          <p:cNvSpPr/>
          <p:nvPr/>
        </p:nvSpPr>
        <p:spPr bwMode="auto">
          <a:xfrm flipH="1">
            <a:off x="8510833" y="3287002"/>
            <a:ext cx="262659" cy="262659"/>
          </a:xfrm>
          <a:prstGeom prst="rect">
            <a:avLst/>
          </a:prstGeom>
          <a:noFill/>
          <a:ln>
            <a:solidFill>
              <a:schemeClr val="accent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43" name="Sprechblase: rechteckig mit abgerundeten Ecken 42">
                <a:extLst>
                  <a:ext uri="{FF2B5EF4-FFF2-40B4-BE49-F238E27FC236}">
                    <a16:creationId xmlns:a16="http://schemas.microsoft.com/office/drawing/2014/main" id="{DAC682EC-40FC-4C70-86D4-9A30040F529F}"/>
                  </a:ext>
                </a:extLst>
              </p:cNvPr>
              <p:cNvSpPr/>
              <p:nvPr/>
            </p:nvSpPr>
            <p:spPr bwMode="auto">
              <a:xfrm>
                <a:off x="770584" y="3429000"/>
                <a:ext cx="1278480" cy="516312"/>
              </a:xfrm>
              <a:prstGeom prst="wedgeRoundRectCallout">
                <a:avLst>
                  <a:gd name="adj1" fmla="val 122803"/>
                  <a:gd name="adj2" fmla="val 76156"/>
                  <a:gd name="adj3" fmla="val 16667"/>
                </a:avLst>
              </a:prstGeom>
              <a:ln w="28575">
                <a:solidFill>
                  <a:srgbClr val="00646E"/>
                </a:solidFill>
              </a:ln>
            </p:spPr>
            <p:txBody>
              <a:bodyPr wrap="square">
                <a:spAutoFit/>
              </a:bodyPr>
              <a:lstStyle/>
              <a:p>
                <a:pPr algn="ctr"/>
                <a14:m>
                  <m:oMath xmlns:m="http://schemas.openxmlformats.org/officeDocument/2006/math">
                    <m:acc>
                      <m:accPr>
                        <m:chr m:val="̂"/>
                        <m:ctrlPr>
                          <a:rPr lang="en-US" sz="1200" i="1" smtClean="0">
                            <a:solidFill>
                              <a:schemeClr val="tx1"/>
                            </a:solidFill>
                            <a:latin typeface="Cambria Math" panose="02040503050406030204" pitchFamily="18" charset="0"/>
                          </a:rPr>
                        </m:ctrlPr>
                      </m:accPr>
                      <m:e>
                        <m:sSub>
                          <m:sSubPr>
                            <m:ctrlPr>
                              <a:rPr lang="en-US" sz="1200" i="1" smtClean="0">
                                <a:solidFill>
                                  <a:schemeClr val="tx1"/>
                                </a:solidFill>
                                <a:latin typeface="Cambria Math" panose="02040503050406030204" pitchFamily="18" charset="0"/>
                              </a:rPr>
                            </m:ctrlPr>
                          </m:sSubPr>
                          <m:e>
                            <m:r>
                              <a:rPr lang="de-DE" sz="1200" b="0" i="1" smtClean="0">
                                <a:solidFill>
                                  <a:schemeClr val="tx1"/>
                                </a:solidFill>
                                <a:latin typeface="Cambria Math" panose="02040503050406030204" pitchFamily="18" charset="0"/>
                              </a:rPr>
                              <m:t>𝑌</m:t>
                            </m:r>
                          </m:e>
                          <m:sub>
                            <m:r>
                              <a:rPr lang="de-DE" sz="1200" b="0" i="1" smtClean="0">
                                <a:solidFill>
                                  <a:schemeClr val="tx1"/>
                                </a:solidFill>
                                <a:latin typeface="Cambria Math" panose="02040503050406030204" pitchFamily="18" charset="0"/>
                              </a:rPr>
                              <m:t>𝑖</m:t>
                            </m:r>
                          </m:sub>
                        </m:sSub>
                      </m:e>
                    </m:acc>
                  </m:oMath>
                </a14:m>
                <a:r>
                  <a:rPr lang="en-US" sz="1200">
                    <a:solidFill>
                      <a:schemeClr val="tx1"/>
                    </a:solidFill>
                  </a:rPr>
                  <a:t>: Predicted Value</a:t>
                </a:r>
              </a:p>
            </p:txBody>
          </p:sp>
        </mc:Choice>
        <mc:Fallback xmlns="">
          <p:sp>
            <p:nvSpPr>
              <p:cNvPr id="43" name="Sprechblase: rechteckig mit abgerundeten Ecken 42">
                <a:extLst>
                  <a:ext uri="{FF2B5EF4-FFF2-40B4-BE49-F238E27FC236}">
                    <a16:creationId xmlns:a16="http://schemas.microsoft.com/office/drawing/2014/main" id="{DAC682EC-40FC-4C70-86D4-9A30040F529F}"/>
                  </a:ext>
                </a:extLst>
              </p:cNvPr>
              <p:cNvSpPr>
                <a:spLocks noRot="1" noChangeAspect="1" noMove="1" noResize="1" noEditPoints="1" noAdjustHandles="1" noChangeArrowheads="1" noChangeShapeType="1" noTextEdit="1"/>
              </p:cNvSpPr>
              <p:nvPr/>
            </p:nvSpPr>
            <p:spPr bwMode="auto">
              <a:xfrm>
                <a:off x="770584" y="3429000"/>
                <a:ext cx="1278480" cy="516312"/>
              </a:xfrm>
              <a:prstGeom prst="wedgeRoundRectCallout">
                <a:avLst>
                  <a:gd name="adj1" fmla="val 122803"/>
                  <a:gd name="adj2" fmla="val 76156"/>
                  <a:gd name="adj3" fmla="val 16667"/>
                </a:avLst>
              </a:prstGeom>
              <a:blipFill>
                <a:blip r:embed="rId3"/>
                <a:stretch>
                  <a:fillRect/>
                </a:stretch>
              </a:blipFill>
              <a:ln w="28575">
                <a:solidFill>
                  <a:srgbClr val="00646E"/>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Sprechblase: rechteckig mit abgerundeten Ecken 43">
                <a:extLst>
                  <a:ext uri="{FF2B5EF4-FFF2-40B4-BE49-F238E27FC236}">
                    <a16:creationId xmlns:a16="http://schemas.microsoft.com/office/drawing/2014/main" id="{546EA09A-FD04-4906-9543-6E09D4A3A00C}"/>
                  </a:ext>
                </a:extLst>
              </p:cNvPr>
              <p:cNvSpPr/>
              <p:nvPr/>
            </p:nvSpPr>
            <p:spPr bwMode="auto">
              <a:xfrm>
                <a:off x="4905262" y="4199531"/>
                <a:ext cx="1230426" cy="510778"/>
              </a:xfrm>
              <a:prstGeom prst="wedgeRoundRectCallout">
                <a:avLst>
                  <a:gd name="adj1" fmla="val -90686"/>
                  <a:gd name="adj2" fmla="val -23740"/>
                  <a:gd name="adj3" fmla="val 16667"/>
                </a:avLst>
              </a:prstGeom>
              <a:ln w="28575">
                <a:solidFill>
                  <a:srgbClr val="00646E"/>
                </a:solidFill>
              </a:ln>
            </p:spPr>
            <p:txBody>
              <a:bodyPr wrap="square">
                <a:spAutoFit/>
              </a:bodyPr>
              <a:lstStyle/>
              <a:p>
                <a:pPr algn="ctr"/>
                <a14:m>
                  <m:oMath xmlns:m="http://schemas.openxmlformats.org/officeDocument/2006/math">
                    <m:sSub>
                      <m:sSubPr>
                        <m:ctrlPr>
                          <a:rPr lang="en-US" sz="1200" i="1" dirty="0" smtClean="0">
                            <a:solidFill>
                              <a:schemeClr val="tx1"/>
                            </a:solidFill>
                            <a:latin typeface="Cambria Math" panose="02040503050406030204" pitchFamily="18" charset="0"/>
                          </a:rPr>
                        </m:ctrlPr>
                      </m:sSubPr>
                      <m:e>
                        <m:r>
                          <a:rPr lang="de-DE" sz="1200" b="0" i="1" dirty="0" smtClean="0">
                            <a:solidFill>
                              <a:schemeClr val="tx1"/>
                            </a:solidFill>
                            <a:latin typeface="Cambria Math" panose="02040503050406030204" pitchFamily="18" charset="0"/>
                          </a:rPr>
                          <m:t>𝑌</m:t>
                        </m:r>
                      </m:e>
                      <m:sub>
                        <m:r>
                          <a:rPr lang="de-DE" sz="1200" b="0" i="1" dirty="0" smtClean="0">
                            <a:solidFill>
                              <a:schemeClr val="tx1"/>
                            </a:solidFill>
                            <a:latin typeface="Cambria Math" panose="02040503050406030204" pitchFamily="18" charset="0"/>
                          </a:rPr>
                          <m:t>𝑖</m:t>
                        </m:r>
                      </m:sub>
                    </m:sSub>
                  </m:oMath>
                </a14:m>
                <a:r>
                  <a:rPr lang="en-US" sz="1200">
                    <a:solidFill>
                      <a:schemeClr val="tx1"/>
                    </a:solidFill>
                  </a:rPr>
                  <a:t>: Observed Value</a:t>
                </a:r>
              </a:p>
            </p:txBody>
          </p:sp>
        </mc:Choice>
        <mc:Fallback xmlns="">
          <p:sp>
            <p:nvSpPr>
              <p:cNvPr id="44" name="Sprechblase: rechteckig mit abgerundeten Ecken 43">
                <a:extLst>
                  <a:ext uri="{FF2B5EF4-FFF2-40B4-BE49-F238E27FC236}">
                    <a16:creationId xmlns:a16="http://schemas.microsoft.com/office/drawing/2014/main" id="{546EA09A-FD04-4906-9543-6E09D4A3A00C}"/>
                  </a:ext>
                </a:extLst>
              </p:cNvPr>
              <p:cNvSpPr>
                <a:spLocks noRot="1" noChangeAspect="1" noMove="1" noResize="1" noEditPoints="1" noAdjustHandles="1" noChangeArrowheads="1" noChangeShapeType="1" noTextEdit="1"/>
              </p:cNvSpPr>
              <p:nvPr/>
            </p:nvSpPr>
            <p:spPr bwMode="auto">
              <a:xfrm>
                <a:off x="4905262" y="4199531"/>
                <a:ext cx="1230426" cy="510778"/>
              </a:xfrm>
              <a:prstGeom prst="wedgeRoundRectCallout">
                <a:avLst>
                  <a:gd name="adj1" fmla="val -90686"/>
                  <a:gd name="adj2" fmla="val -23740"/>
                  <a:gd name="adj3" fmla="val 16667"/>
                </a:avLst>
              </a:prstGeom>
              <a:blipFill>
                <a:blip r:embed="rId4"/>
                <a:stretch>
                  <a:fillRect/>
                </a:stretch>
              </a:blipFill>
              <a:ln w="28575">
                <a:solidFill>
                  <a:srgbClr val="00646E"/>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364D84D9-2D53-43A0-839F-80F0A6CCDCFB}"/>
                  </a:ext>
                </a:extLst>
              </p:cNvPr>
              <p:cNvSpPr txBox="1"/>
              <p:nvPr/>
            </p:nvSpPr>
            <p:spPr>
              <a:xfrm>
                <a:off x="1147070" y="3921247"/>
                <a:ext cx="585851" cy="201168"/>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𝑀𝑆𝐸</m:t>
                      </m:r>
                      <m:r>
                        <a:rPr lang="en-US" sz="28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f>
                        <m:fPr>
                          <m:ctrlPr>
                            <a:rPr lang="en-US" sz="28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nary>
                            <m:naryPr>
                              <m:chr m:val="∑"/>
                              <m:ctrlPr>
                                <a:rPr lang="en-US" sz="28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naryPr>
                            <m:sub>
                              <m:r>
                                <m:rPr>
                                  <m:brk m:alnAt="23"/>
                                </m:rP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sub>
                            <m:sup>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𝑛</m:t>
                              </m:r>
                            </m:sup>
                            <m:e>
                              <m:sSup>
                                <m:sSupPr>
                                  <m:ctrlPr>
                                    <a:rPr lang="en-US" sz="28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pPr>
                                <m:e>
                                  <m:d>
                                    <m:dPr>
                                      <m:ctrlPr>
                                        <a:rPr lang="en-US" sz="28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acc>
                                        <m:accPr>
                                          <m:chr m:val="̂"/>
                                          <m:ctrlPr>
                                            <a:rPr lang="en-US"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accPr>
                                        <m:e>
                                          <m:sSub>
                                            <m:sSubPr>
                                              <m:ctrlPr>
                                                <a:rPr lang="en-US"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𝑌</m:t>
                                              </m:r>
                                            </m:e>
                                            <m:sub>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e>
                                      </m:acc>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𝑌</m:t>
                                          </m:r>
                                        </m:e>
                                        <m:sub>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e>
                                  </m:d>
                                </m:e>
                                <m:sup>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p>
                              </m:sSup>
                            </m:e>
                          </m:nary>
                        </m:num>
                        <m:den>
                          <m:r>
                            <a:rPr lang="de-DE" sz="28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𝑛</m:t>
                          </m:r>
                        </m:den>
                      </m:f>
                    </m:oMath>
                  </m:oMathPara>
                </a14:m>
                <a:endParaRPr lang="en-US" sz="3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18" name="Textfeld 17">
                <a:extLst>
                  <a:ext uri="{FF2B5EF4-FFF2-40B4-BE49-F238E27FC236}">
                    <a16:creationId xmlns:a16="http://schemas.microsoft.com/office/drawing/2014/main" id="{364D84D9-2D53-43A0-839F-80F0A6CCDCFB}"/>
                  </a:ext>
                </a:extLst>
              </p:cNvPr>
              <p:cNvSpPr txBox="1">
                <a:spLocks noRot="1" noChangeAspect="1" noMove="1" noResize="1" noEditPoints="1" noAdjustHandles="1" noChangeArrowheads="1" noChangeShapeType="1" noTextEdit="1"/>
              </p:cNvSpPr>
              <p:nvPr/>
            </p:nvSpPr>
            <p:spPr>
              <a:xfrm>
                <a:off x="1147070" y="3921247"/>
                <a:ext cx="585851" cy="201168"/>
              </a:xfrm>
              <a:prstGeom prst="rect">
                <a:avLst/>
              </a:prstGeom>
              <a:blipFill>
                <a:blip r:embed="rId5"/>
                <a:stretch>
                  <a:fillRect r="-469792" b="-418182"/>
                </a:stretch>
              </a:blipFill>
            </p:spPr>
            <p:txBody>
              <a:bodyPr/>
              <a:lstStyle/>
              <a:p>
                <a:r>
                  <a:rPr lang="en-US">
                    <a:noFill/>
                  </a:rPr>
                  <a:t> </a:t>
                </a:r>
              </a:p>
            </p:txBody>
          </p:sp>
        </mc:Fallback>
      </mc:AlternateContent>
    </p:spTree>
    <p:extLst>
      <p:ext uri="{BB962C8B-B14F-4D97-AF65-F5344CB8AC3E}">
        <p14:creationId xmlns:p14="http://schemas.microsoft.com/office/powerpoint/2010/main" val="372233522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6D16AF8-EA9F-4F53-AEFC-8C0EED7A8F09}"/>
              </a:ext>
            </a:extLst>
          </p:cNvPr>
          <p:cNvSpPr>
            <a:spLocks noGrp="1"/>
          </p:cNvSpPr>
          <p:nvPr>
            <p:ph type="title"/>
          </p:nvPr>
        </p:nvSpPr>
        <p:spPr/>
        <p:txBody>
          <a:bodyPr/>
          <a:lstStyle/>
          <a:p>
            <a:r>
              <a:rPr lang="en-US" dirty="0"/>
              <a:t>R-Square/ “Determination Coefficient”</a:t>
            </a:r>
          </a:p>
        </p:txBody>
      </p:sp>
      <p:sp>
        <p:nvSpPr>
          <p:cNvPr id="3" name="Inhaltsplatzhalter 2">
            <a:extLst>
              <a:ext uri="{FF2B5EF4-FFF2-40B4-BE49-F238E27FC236}">
                <a16:creationId xmlns:a16="http://schemas.microsoft.com/office/drawing/2014/main" id="{9FC3252B-210E-403F-B27F-5BE98526CEE1}"/>
              </a:ext>
            </a:extLst>
          </p:cNvPr>
          <p:cNvSpPr>
            <a:spLocks noGrp="1"/>
          </p:cNvSpPr>
          <p:nvPr>
            <p:ph sz="half" idx="1"/>
          </p:nvPr>
        </p:nvSpPr>
        <p:spPr>
          <a:xfrm>
            <a:off x="629913" y="1441036"/>
            <a:ext cx="10576835" cy="4749526"/>
          </a:xfrm>
        </p:spPr>
        <p:txBody>
          <a:bodyPr/>
          <a:lstStyle/>
          <a:p>
            <a:pPr>
              <a:spcBef>
                <a:spcPts val="1199"/>
              </a:spcBef>
            </a:pPr>
            <a:r>
              <a:rPr lang="en-US" sz="1400" dirty="0"/>
              <a:t>Shows how much % of the variation of the target variable Y can be explained by the variation of the input variables X1, …, </a:t>
            </a:r>
            <a:r>
              <a:rPr lang="en-US" sz="1400" dirty="0" err="1"/>
              <a:t>Xn</a:t>
            </a:r>
            <a:endParaRPr lang="en-US" sz="1400" dirty="0"/>
          </a:p>
          <a:p>
            <a:pPr>
              <a:spcBef>
                <a:spcPts val="1199"/>
              </a:spcBef>
            </a:pPr>
            <a:endParaRPr lang="en-US" sz="1599" dirty="0"/>
          </a:p>
          <a:p>
            <a:pPr>
              <a:spcBef>
                <a:spcPts val="1199"/>
              </a:spcBef>
            </a:pPr>
            <a:endParaRPr lang="en-US" sz="1599" dirty="0"/>
          </a:p>
          <a:p>
            <a:pPr>
              <a:spcBef>
                <a:spcPts val="1199"/>
              </a:spcBef>
            </a:pPr>
            <a:endParaRPr lang="en-US" sz="1599" dirty="0"/>
          </a:p>
          <a:p>
            <a:pPr marL="644203" lvl="2" indent="-285607">
              <a:spcBef>
                <a:spcPts val="1199"/>
              </a:spcBef>
              <a:buFont typeface="Wingdings" panose="05000000000000000000" pitchFamily="2" charset="2"/>
              <a:buChar char="Ø"/>
            </a:pPr>
            <a:endParaRPr lang="en-US" sz="1599" dirty="0"/>
          </a:p>
          <a:p>
            <a:pPr marL="358596" lvl="2" indent="0">
              <a:spcBef>
                <a:spcPts val="1199"/>
              </a:spcBef>
              <a:buNone/>
            </a:pPr>
            <a:endParaRPr lang="en-US" sz="1599" dirty="0"/>
          </a:p>
          <a:p>
            <a:pPr lvl="2" indent="0">
              <a:spcBef>
                <a:spcPts val="1199"/>
              </a:spcBef>
              <a:buNone/>
            </a:pPr>
            <a:endParaRPr lang="en-US" sz="1599" dirty="0"/>
          </a:p>
          <a:p>
            <a:pPr marL="644203" lvl="2" indent="-285607">
              <a:spcBef>
                <a:spcPts val="1199"/>
              </a:spcBef>
              <a:buFont typeface="Wingdings" panose="05000000000000000000" pitchFamily="2" charset="2"/>
              <a:buChar char="Ø"/>
            </a:pPr>
            <a:endParaRPr lang="en-US" sz="1599" dirty="0"/>
          </a:p>
          <a:p>
            <a:pPr marL="644203" lvl="2" indent="-285607">
              <a:spcBef>
                <a:spcPts val="1199"/>
              </a:spcBef>
              <a:buFont typeface="Wingdings" panose="05000000000000000000" pitchFamily="2" charset="2"/>
              <a:buChar char="Ø"/>
            </a:pPr>
            <a:endParaRPr lang="en-US" sz="1599" dirty="0"/>
          </a:p>
          <a:p>
            <a:pPr marL="285607" indent="-285607">
              <a:spcBef>
                <a:spcPts val="1199"/>
              </a:spcBef>
              <a:buFont typeface="Arial" panose="020B0604020202020204" pitchFamily="34" charset="0"/>
              <a:buChar char="•"/>
            </a:pPr>
            <a:endParaRPr lang="en-US" dirty="0"/>
          </a:p>
        </p:txBody>
      </p:sp>
      <p:pic>
        <p:nvPicPr>
          <p:cNvPr id="4" name="Grafik 3">
            <a:extLst>
              <a:ext uri="{FF2B5EF4-FFF2-40B4-BE49-F238E27FC236}">
                <a16:creationId xmlns:a16="http://schemas.microsoft.com/office/drawing/2014/main" id="{9EA1F911-FAF6-426A-8C04-1FFE4580A381}"/>
              </a:ext>
            </a:extLst>
          </p:cNvPr>
          <p:cNvPicPr>
            <a:picLocks noChangeAspect="1"/>
          </p:cNvPicPr>
          <p:nvPr/>
        </p:nvPicPr>
        <p:blipFill>
          <a:blip r:embed="rId2"/>
          <a:stretch>
            <a:fillRect/>
          </a:stretch>
        </p:blipFill>
        <p:spPr>
          <a:xfrm>
            <a:off x="991603" y="2176487"/>
            <a:ext cx="3437710" cy="830365"/>
          </a:xfrm>
          <a:prstGeom prst="rect">
            <a:avLst/>
          </a:prstGeom>
        </p:spPr>
      </p:pic>
      <p:pic>
        <p:nvPicPr>
          <p:cNvPr id="2050" name="Picture 2">
            <a:extLst>
              <a:ext uri="{FF2B5EF4-FFF2-40B4-BE49-F238E27FC236}">
                <a16:creationId xmlns:a16="http://schemas.microsoft.com/office/drawing/2014/main" id="{27B8A984-EF0C-4A1A-ADD9-ADA42DE7133F}"/>
              </a:ext>
            </a:extLst>
          </p:cNvPr>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7382470" y="2021632"/>
            <a:ext cx="2398469" cy="1199234"/>
          </a:xfrm>
          <a:prstGeom prst="rect">
            <a:avLst/>
          </a:prstGeom>
          <a:noFill/>
          <a:extLst>
            <a:ext uri="{909E8E84-426E-40DD-AFC4-6F175D3DCCD1}">
              <a14:hiddenFill xmlns:a14="http://schemas.microsoft.com/office/drawing/2010/main">
                <a:solidFill>
                  <a:srgbClr val="FFFFFF"/>
                </a:solidFill>
              </a14:hiddenFill>
            </a:ext>
          </a:extLst>
        </p:spPr>
      </p:pic>
      <p:pic>
        <p:nvPicPr>
          <p:cNvPr id="10" name="Grafik 9">
            <a:extLst>
              <a:ext uri="{FF2B5EF4-FFF2-40B4-BE49-F238E27FC236}">
                <a16:creationId xmlns:a16="http://schemas.microsoft.com/office/drawing/2014/main" id="{EFA857C9-E73E-4DB7-97CA-22620608D47D}"/>
              </a:ext>
            </a:extLst>
          </p:cNvPr>
          <p:cNvPicPr>
            <a:picLocks noChangeAspect="1"/>
          </p:cNvPicPr>
          <p:nvPr/>
        </p:nvPicPr>
        <p:blipFill>
          <a:blip r:embed="rId4"/>
          <a:stretch>
            <a:fillRect/>
          </a:stretch>
        </p:blipFill>
        <p:spPr>
          <a:xfrm>
            <a:off x="6099175" y="3991225"/>
            <a:ext cx="4441954" cy="2526807"/>
          </a:xfrm>
          <a:prstGeom prst="rect">
            <a:avLst/>
          </a:prstGeom>
        </p:spPr>
      </p:pic>
      <p:sp>
        <p:nvSpPr>
          <p:cNvPr id="14" name="Textfeld 13">
            <a:extLst>
              <a:ext uri="{FF2B5EF4-FFF2-40B4-BE49-F238E27FC236}">
                <a16:creationId xmlns:a16="http://schemas.microsoft.com/office/drawing/2014/main" id="{DE972B64-19F7-4F46-B18C-728D22EEA8BA}"/>
              </a:ext>
            </a:extLst>
          </p:cNvPr>
          <p:cNvSpPr txBox="1"/>
          <p:nvPr/>
        </p:nvSpPr>
        <p:spPr>
          <a:xfrm>
            <a:off x="219564" y="3262821"/>
            <a:ext cx="6096000" cy="728405"/>
          </a:xfrm>
          <a:prstGeom prst="rect">
            <a:avLst/>
          </a:prstGeom>
          <a:noFill/>
        </p:spPr>
        <p:txBody>
          <a:bodyPr wrap="square">
            <a:spAutoFit/>
          </a:bodyPr>
          <a:lstStyle/>
          <a:p>
            <a:pPr marL="358596" lvl="2">
              <a:spcBef>
                <a:spcPts val="200"/>
              </a:spcBef>
            </a:pPr>
            <a:r>
              <a:rPr lang="en-US" sz="1400" dirty="0"/>
              <a:t>R-Sq = 100%:</a:t>
            </a:r>
          </a:p>
          <a:p>
            <a:pPr marL="644346" lvl="2" indent="-285750">
              <a:spcBef>
                <a:spcPts val="200"/>
              </a:spcBef>
              <a:buFont typeface="Arial" panose="020B0604020202020204" pitchFamily="34" charset="0"/>
              <a:buChar char="•"/>
            </a:pPr>
            <a:r>
              <a:rPr lang="en-US" sz="1200" dirty="0"/>
              <a:t>Y can be 100% explained with X1-Xn</a:t>
            </a:r>
          </a:p>
          <a:p>
            <a:pPr marL="644346" lvl="2" indent="-285750">
              <a:spcBef>
                <a:spcPts val="200"/>
              </a:spcBef>
              <a:buFont typeface="Arial" panose="020B0604020202020204" pitchFamily="34" charset="0"/>
              <a:buChar char="•"/>
            </a:pPr>
            <a:r>
              <a:rPr lang="en-US" sz="1200" dirty="0"/>
              <a:t>Modell matches observation perfectly</a:t>
            </a:r>
          </a:p>
        </p:txBody>
      </p:sp>
      <p:sp>
        <p:nvSpPr>
          <p:cNvPr id="16" name="Textfeld 15">
            <a:extLst>
              <a:ext uri="{FF2B5EF4-FFF2-40B4-BE49-F238E27FC236}">
                <a16:creationId xmlns:a16="http://schemas.microsoft.com/office/drawing/2014/main" id="{48382E9A-3C11-41C5-9C6D-137FDAD63C97}"/>
              </a:ext>
            </a:extLst>
          </p:cNvPr>
          <p:cNvSpPr txBox="1"/>
          <p:nvPr/>
        </p:nvSpPr>
        <p:spPr>
          <a:xfrm>
            <a:off x="5789613" y="3262820"/>
            <a:ext cx="6096000" cy="728405"/>
          </a:xfrm>
          <a:prstGeom prst="rect">
            <a:avLst/>
          </a:prstGeom>
          <a:noFill/>
        </p:spPr>
        <p:txBody>
          <a:bodyPr wrap="square">
            <a:spAutoFit/>
          </a:bodyPr>
          <a:lstStyle/>
          <a:p>
            <a:pPr marL="358596" lvl="2">
              <a:spcBef>
                <a:spcPts val="200"/>
              </a:spcBef>
            </a:pPr>
            <a:r>
              <a:rPr lang="en-US" sz="1400" dirty="0"/>
              <a:t>R-Sq = 0:</a:t>
            </a:r>
          </a:p>
          <a:p>
            <a:pPr marL="644346" lvl="2" indent="-285750">
              <a:spcBef>
                <a:spcPts val="200"/>
              </a:spcBef>
              <a:buFont typeface="Arial" panose="020B0604020202020204" pitchFamily="34" charset="0"/>
              <a:buChar char="•"/>
            </a:pPr>
            <a:r>
              <a:rPr lang="en-US" sz="1200" dirty="0"/>
              <a:t>no correlation btw. X1-Xn and Y</a:t>
            </a:r>
          </a:p>
          <a:p>
            <a:pPr marL="644346" lvl="2" indent="-285750">
              <a:spcBef>
                <a:spcPts val="200"/>
              </a:spcBef>
              <a:buFont typeface="Arial" panose="020B0604020202020204" pitchFamily="34" charset="0"/>
              <a:buChar char="•"/>
            </a:pPr>
            <a:r>
              <a:rPr lang="en-US" sz="1200" dirty="0"/>
              <a:t>Model explains randomness, no correlation btw. X1, …, </a:t>
            </a:r>
            <a:r>
              <a:rPr lang="en-US" sz="1200" dirty="0" err="1"/>
              <a:t>Xn</a:t>
            </a:r>
            <a:r>
              <a:rPr lang="en-US" sz="1200" dirty="0"/>
              <a:t> and Y</a:t>
            </a:r>
          </a:p>
        </p:txBody>
      </p:sp>
      <p:pic>
        <p:nvPicPr>
          <p:cNvPr id="15" name="Grafik 14">
            <a:extLst>
              <a:ext uri="{FF2B5EF4-FFF2-40B4-BE49-F238E27FC236}">
                <a16:creationId xmlns:a16="http://schemas.microsoft.com/office/drawing/2014/main" id="{C24B2CF2-42CC-4875-9F10-1F986FCB6D85}"/>
              </a:ext>
            </a:extLst>
          </p:cNvPr>
          <p:cNvPicPr>
            <a:picLocks noChangeAspect="1"/>
          </p:cNvPicPr>
          <p:nvPr/>
        </p:nvPicPr>
        <p:blipFill>
          <a:blip r:embed="rId5"/>
          <a:stretch>
            <a:fillRect/>
          </a:stretch>
        </p:blipFill>
        <p:spPr>
          <a:xfrm>
            <a:off x="573698" y="4188578"/>
            <a:ext cx="3655402" cy="2436934"/>
          </a:xfrm>
          <a:prstGeom prst="rect">
            <a:avLst/>
          </a:prstGeom>
        </p:spPr>
      </p:pic>
    </p:spTree>
    <p:extLst>
      <p:ext uri="{BB962C8B-B14F-4D97-AF65-F5344CB8AC3E}">
        <p14:creationId xmlns:p14="http://schemas.microsoft.com/office/powerpoint/2010/main" val="270320737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err="1"/>
              <a:t>Overview</a:t>
            </a:r>
            <a:r>
              <a:rPr lang="de-DE"/>
              <a:t>: </a:t>
            </a:r>
            <a:r>
              <a:rPr lang="de-DE" err="1"/>
              <a:t>what</a:t>
            </a:r>
            <a:r>
              <a:rPr lang="de-DE"/>
              <a:t> </a:t>
            </a:r>
            <a:r>
              <a:rPr lang="de-DE" err="1"/>
              <a:t>we</a:t>
            </a:r>
            <a:r>
              <a:rPr lang="de-DE"/>
              <a:t> </a:t>
            </a:r>
            <a:r>
              <a:rPr lang="de-DE" err="1"/>
              <a:t>achieved</a:t>
            </a:r>
            <a:r>
              <a:rPr lang="de-DE"/>
              <a:t> so </a:t>
            </a:r>
            <a:r>
              <a:rPr lang="de-DE" err="1"/>
              <a:t>far</a:t>
            </a:r>
            <a:endParaRPr lang="de-DE"/>
          </a:p>
        </p:txBody>
      </p:sp>
      <p:graphicFrame>
        <p:nvGraphicFramePr>
          <p:cNvPr id="8" name="Tabelle 8">
            <a:extLst>
              <a:ext uri="{FF2B5EF4-FFF2-40B4-BE49-F238E27FC236}">
                <a16:creationId xmlns:a16="http://schemas.microsoft.com/office/drawing/2014/main" id="{5F58DBC5-4155-48F7-BDFF-6C068F155D8D}"/>
              </a:ext>
            </a:extLst>
          </p:cNvPr>
          <p:cNvGraphicFramePr>
            <a:graphicFrameLocks noGrp="1"/>
          </p:cNvGraphicFramePr>
          <p:nvPr>
            <p:extLst>
              <p:ext uri="{D42A27DB-BD31-4B8C-83A1-F6EECF244321}">
                <p14:modId xmlns:p14="http://schemas.microsoft.com/office/powerpoint/2010/main" val="3095351704"/>
              </p:ext>
            </p:extLst>
          </p:nvPr>
        </p:nvGraphicFramePr>
        <p:xfrm>
          <a:off x="626567" y="1601995"/>
          <a:ext cx="10693188" cy="2839720"/>
        </p:xfrm>
        <a:graphic>
          <a:graphicData uri="http://schemas.openxmlformats.org/drawingml/2006/table">
            <a:tbl>
              <a:tblPr firstRow="1" bandRow="1">
                <a:tableStyleId>{5C22544A-7EE6-4342-B048-85BDC9FD1C3A}</a:tableStyleId>
              </a:tblPr>
              <a:tblGrid>
                <a:gridCol w="1782198">
                  <a:extLst>
                    <a:ext uri="{9D8B030D-6E8A-4147-A177-3AD203B41FA5}">
                      <a16:colId xmlns:a16="http://schemas.microsoft.com/office/drawing/2014/main" val="2087970704"/>
                    </a:ext>
                  </a:extLst>
                </a:gridCol>
                <a:gridCol w="1437070">
                  <a:extLst>
                    <a:ext uri="{9D8B030D-6E8A-4147-A177-3AD203B41FA5}">
                      <a16:colId xmlns:a16="http://schemas.microsoft.com/office/drawing/2014/main" val="1708460055"/>
                    </a:ext>
                  </a:extLst>
                </a:gridCol>
                <a:gridCol w="2127326">
                  <a:extLst>
                    <a:ext uri="{9D8B030D-6E8A-4147-A177-3AD203B41FA5}">
                      <a16:colId xmlns:a16="http://schemas.microsoft.com/office/drawing/2014/main" val="1810983359"/>
                    </a:ext>
                  </a:extLst>
                </a:gridCol>
                <a:gridCol w="1975662">
                  <a:extLst>
                    <a:ext uri="{9D8B030D-6E8A-4147-A177-3AD203B41FA5}">
                      <a16:colId xmlns:a16="http://schemas.microsoft.com/office/drawing/2014/main" val="4033084280"/>
                    </a:ext>
                  </a:extLst>
                </a:gridCol>
                <a:gridCol w="1588734">
                  <a:extLst>
                    <a:ext uri="{9D8B030D-6E8A-4147-A177-3AD203B41FA5}">
                      <a16:colId xmlns:a16="http://schemas.microsoft.com/office/drawing/2014/main" val="4045622136"/>
                    </a:ext>
                  </a:extLst>
                </a:gridCol>
                <a:gridCol w="1782198">
                  <a:extLst>
                    <a:ext uri="{9D8B030D-6E8A-4147-A177-3AD203B41FA5}">
                      <a16:colId xmlns:a16="http://schemas.microsoft.com/office/drawing/2014/main" val="3988611160"/>
                    </a:ext>
                  </a:extLst>
                </a:gridCol>
              </a:tblGrid>
              <a:tr h="370840">
                <a:tc>
                  <a:txBody>
                    <a:bodyPr/>
                    <a:lstStyle/>
                    <a:p>
                      <a:endParaRPr lang="de-DE"/>
                    </a:p>
                  </a:txBody>
                  <a:tcPr/>
                </a:tc>
                <a:tc>
                  <a:txBody>
                    <a:bodyPr/>
                    <a:lstStyle/>
                    <a:p>
                      <a:r>
                        <a:rPr lang="de-DE"/>
                        <a:t>Target </a:t>
                      </a:r>
                      <a:r>
                        <a:rPr lang="de-DE" err="1"/>
                        <a:t>values</a:t>
                      </a:r>
                      <a:endParaRPr lang="de-DE"/>
                    </a:p>
                  </a:txBody>
                  <a:tcPr/>
                </a:tc>
                <a:tc>
                  <a:txBody>
                    <a:bodyPr/>
                    <a:lstStyle/>
                    <a:p>
                      <a:r>
                        <a:rPr lang="de-DE"/>
                        <a:t>Loss </a:t>
                      </a:r>
                      <a:r>
                        <a:rPr lang="de-DE" err="1"/>
                        <a:t>function</a:t>
                      </a:r>
                      <a:endParaRPr lang="de-DE"/>
                    </a:p>
                  </a:txBody>
                  <a:tcPr/>
                </a:tc>
                <a:tc>
                  <a:txBody>
                    <a:bodyPr/>
                    <a:lstStyle/>
                    <a:p>
                      <a:r>
                        <a:rPr lang="de-DE"/>
                        <a:t>Error </a:t>
                      </a:r>
                      <a:r>
                        <a:rPr lang="de-DE" err="1"/>
                        <a:t>metric</a:t>
                      </a:r>
                      <a:endParaRPr lang="de-DE"/>
                    </a:p>
                  </a:txBody>
                  <a:tcPr>
                    <a:lnR w="12700" cap="flat" cmpd="sng" algn="ctr">
                      <a:solidFill>
                        <a:schemeClr val="tx1"/>
                      </a:solidFill>
                      <a:prstDash val="solid"/>
                      <a:round/>
                      <a:headEnd type="none" w="med" len="med"/>
                      <a:tailEnd type="none" w="med" len="med"/>
                    </a:lnR>
                  </a:tcPr>
                </a:tc>
                <a:tc>
                  <a:txBody>
                    <a:bodyPr/>
                    <a:lstStyle/>
                    <a:p>
                      <a:r>
                        <a:rPr lang="de-DE"/>
                        <a:t>Act </a:t>
                      </a:r>
                      <a:r>
                        <a:rPr lang="de-DE" err="1"/>
                        <a:t>function</a:t>
                      </a:r>
                      <a:r>
                        <a:rPr lang="de-DE"/>
                        <a:t> last </a:t>
                      </a:r>
                      <a:r>
                        <a:rPr lang="de-DE" err="1"/>
                        <a:t>layer</a:t>
                      </a:r>
                      <a:endParaRPr lang="de-DE"/>
                    </a:p>
                  </a:txBody>
                  <a:tcPr>
                    <a:lnL w="12700" cap="flat" cmpd="sng" algn="ctr">
                      <a:solidFill>
                        <a:schemeClr val="tx1"/>
                      </a:solidFill>
                      <a:prstDash val="solid"/>
                      <a:round/>
                      <a:headEnd type="none" w="med" len="med"/>
                      <a:tailEnd type="none" w="med" len="med"/>
                    </a:lnL>
                  </a:tcPr>
                </a:tc>
                <a:tc>
                  <a:txBody>
                    <a:bodyPr/>
                    <a:lstStyle/>
                    <a:p>
                      <a:r>
                        <a:rPr lang="de-DE"/>
                        <a:t>Act </a:t>
                      </a:r>
                      <a:r>
                        <a:rPr lang="de-DE" err="1"/>
                        <a:t>func</a:t>
                      </a:r>
                      <a:r>
                        <a:rPr lang="de-DE"/>
                        <a:t> </a:t>
                      </a:r>
                      <a:r>
                        <a:rPr lang="de-DE" err="1"/>
                        <a:t>hidden</a:t>
                      </a:r>
                      <a:r>
                        <a:rPr lang="de-DE"/>
                        <a:t> </a:t>
                      </a:r>
                      <a:r>
                        <a:rPr lang="de-DE" err="1"/>
                        <a:t>layers</a:t>
                      </a:r>
                      <a:endParaRPr lang="de-DE"/>
                    </a:p>
                  </a:txBody>
                  <a:tcPr/>
                </a:tc>
                <a:extLst>
                  <a:ext uri="{0D108BD9-81ED-4DB2-BD59-A6C34878D82A}">
                    <a16:rowId xmlns:a16="http://schemas.microsoft.com/office/drawing/2014/main" val="1837334432"/>
                  </a:ext>
                </a:extLst>
              </a:tr>
              <a:tr h="370840">
                <a:tc>
                  <a:txBody>
                    <a:bodyPr/>
                    <a:lstStyle/>
                    <a:p>
                      <a:r>
                        <a:rPr lang="de-DE"/>
                        <a:t>Regression</a:t>
                      </a:r>
                    </a:p>
                  </a:txBody>
                  <a:tcPr>
                    <a:lnB w="12700" cap="flat" cmpd="sng" algn="ctr">
                      <a:solidFill>
                        <a:schemeClr val="tx1"/>
                      </a:solidFill>
                      <a:prstDash val="solid"/>
                      <a:round/>
                      <a:headEnd type="none" w="med" len="med"/>
                      <a:tailEnd type="none" w="med" len="med"/>
                    </a:lnB>
                  </a:tcPr>
                </a:tc>
                <a:tc>
                  <a:txBody>
                    <a:bodyPr/>
                    <a:lstStyle/>
                    <a:p>
                      <a:r>
                        <a:rPr lang="de-DE" err="1"/>
                        <a:t>Continuous</a:t>
                      </a:r>
                      <a:endParaRPr lang="de-DE"/>
                    </a:p>
                  </a:txBody>
                  <a:tcPr>
                    <a:lnB w="12700" cap="flat" cmpd="sng" algn="ctr">
                      <a:solidFill>
                        <a:schemeClr val="tx1"/>
                      </a:solidFill>
                      <a:prstDash val="solid"/>
                      <a:round/>
                      <a:headEnd type="none" w="med" len="med"/>
                      <a:tailEnd type="none" w="med" len="med"/>
                    </a:lnB>
                  </a:tcPr>
                </a:tc>
                <a:tc>
                  <a:txBody>
                    <a:bodyPr/>
                    <a:lstStyle/>
                    <a:p>
                      <a:r>
                        <a:rPr lang="de-DE"/>
                        <a:t>MSE, R², MAE,…</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MSE, R², MAE,…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de-DE"/>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de-DE"/>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49673"/>
                  </a:ext>
                </a:extLst>
              </a:tr>
              <a:tr h="370840">
                <a:tc>
                  <a:txBody>
                    <a:bodyPr/>
                    <a:lstStyle/>
                    <a:p>
                      <a:r>
                        <a:rPr lang="de-DE"/>
                        <a:t>Classification</a:t>
                      </a:r>
                    </a:p>
                  </a:txBody>
                  <a:tcPr>
                    <a:lnT w="12700" cap="flat" cmpd="sng" algn="ctr">
                      <a:solidFill>
                        <a:schemeClr val="tx1"/>
                      </a:solidFill>
                      <a:prstDash val="solid"/>
                      <a:round/>
                      <a:headEnd type="none" w="med" len="med"/>
                      <a:tailEnd type="none" w="med" len="med"/>
                    </a:lnT>
                  </a:tcPr>
                </a:tc>
                <a:tc>
                  <a:txBody>
                    <a:bodyPr/>
                    <a:lstStyle/>
                    <a:p>
                      <a:r>
                        <a:rPr lang="de-DE"/>
                        <a:t>Binary</a:t>
                      </a:r>
                    </a:p>
                  </a:txBody>
                  <a:tcPr>
                    <a:lnT w="12700" cap="flat" cmpd="sng" algn="ctr">
                      <a:solidFill>
                        <a:schemeClr val="tx1"/>
                      </a:solidFill>
                      <a:prstDash val="solid"/>
                      <a:round/>
                      <a:headEnd type="none" w="med" len="med"/>
                      <a:tailEnd type="none" w="med" len="med"/>
                    </a:lnT>
                  </a:tcPr>
                </a:tc>
                <a:tc>
                  <a:txBody>
                    <a:bodyPr/>
                    <a:lstStyle/>
                    <a:p>
                      <a:endParaRPr lang="de-DE"/>
                    </a:p>
                    <a:p>
                      <a:endParaRPr lang="de-DE"/>
                    </a:p>
                    <a:p>
                      <a:endParaRPr lang="de-DE"/>
                    </a:p>
                  </a:txBody>
                  <a:tcPr>
                    <a:lnT w="12700" cap="flat" cmpd="sng" algn="ctr">
                      <a:solidFill>
                        <a:schemeClr val="tx1"/>
                      </a:solidFill>
                      <a:prstDash val="solid"/>
                      <a:round/>
                      <a:headEnd type="none" w="med" len="med"/>
                      <a:tailEnd type="none" w="med" len="med"/>
                    </a:lnT>
                  </a:tcPr>
                </a:tc>
                <a:tc>
                  <a:txBody>
                    <a:bodyPr/>
                    <a:lstStyle/>
                    <a:p>
                      <a:endParaRPr lang="de-DE"/>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de-DE"/>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de-DE"/>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53496704"/>
                  </a:ext>
                </a:extLst>
              </a:tr>
              <a:tr h="370840">
                <a:tc>
                  <a:txBody>
                    <a:bodyPr/>
                    <a:lstStyle/>
                    <a:p>
                      <a:endParaRPr lang="de-DE"/>
                    </a:p>
                  </a:txBody>
                  <a:tcPr/>
                </a:tc>
                <a:tc>
                  <a:txBody>
                    <a:bodyPr/>
                    <a:lstStyle/>
                    <a:p>
                      <a:r>
                        <a:rPr lang="de-DE"/>
                        <a:t>multiple </a:t>
                      </a:r>
                      <a:r>
                        <a:rPr lang="de-DE" err="1"/>
                        <a:t>classes</a:t>
                      </a:r>
                      <a:endParaRPr lang="de-DE"/>
                    </a:p>
                  </a:txBody>
                  <a:tcPr/>
                </a:tc>
                <a:tc>
                  <a:txBody>
                    <a:bodyPr/>
                    <a:lstStyle/>
                    <a:p>
                      <a:endParaRPr lang="de-DE"/>
                    </a:p>
                    <a:p>
                      <a:endParaRPr lang="de-DE"/>
                    </a:p>
                    <a:p>
                      <a:endParaRPr lang="de-DE"/>
                    </a:p>
                  </a:txBody>
                  <a:tcPr/>
                </a:tc>
                <a:tc>
                  <a:txBody>
                    <a:bodyPr/>
                    <a:lstStyle/>
                    <a:p>
                      <a:endParaRPr lang="de-DE"/>
                    </a:p>
                  </a:txBody>
                  <a:tcPr>
                    <a:lnR w="12700" cap="flat" cmpd="sng" algn="ctr">
                      <a:solidFill>
                        <a:schemeClr val="tx1"/>
                      </a:solidFill>
                      <a:prstDash val="solid"/>
                      <a:round/>
                      <a:headEnd type="none" w="med" len="med"/>
                      <a:tailEnd type="none" w="med" len="med"/>
                    </a:lnR>
                  </a:tcPr>
                </a:tc>
                <a:tc>
                  <a:txBody>
                    <a:bodyPr/>
                    <a:lstStyle/>
                    <a:p>
                      <a:endParaRPr lang="de-DE"/>
                    </a:p>
                  </a:txBody>
                  <a:tcPr>
                    <a:lnL w="12700" cap="flat" cmpd="sng" algn="ctr">
                      <a:solidFill>
                        <a:schemeClr val="tx1"/>
                      </a:solidFill>
                      <a:prstDash val="solid"/>
                      <a:round/>
                      <a:headEnd type="none" w="med" len="med"/>
                      <a:tailEnd type="none" w="med" len="med"/>
                    </a:lnL>
                  </a:tcPr>
                </a:tc>
                <a:tc>
                  <a:txBody>
                    <a:bodyPr/>
                    <a:lstStyle/>
                    <a:p>
                      <a:endParaRPr lang="de-DE"/>
                    </a:p>
                  </a:txBody>
                  <a:tcPr/>
                </a:tc>
                <a:extLst>
                  <a:ext uri="{0D108BD9-81ED-4DB2-BD59-A6C34878D82A}">
                    <a16:rowId xmlns:a16="http://schemas.microsoft.com/office/drawing/2014/main" val="4206115666"/>
                  </a:ext>
                </a:extLst>
              </a:tr>
            </a:tbl>
          </a:graphicData>
        </a:graphic>
      </p:graphicFrame>
      <p:graphicFrame>
        <p:nvGraphicFramePr>
          <p:cNvPr id="10" name="Tabelle 10">
            <a:extLst>
              <a:ext uri="{FF2B5EF4-FFF2-40B4-BE49-F238E27FC236}">
                <a16:creationId xmlns:a16="http://schemas.microsoft.com/office/drawing/2014/main" id="{1D6B67EA-476B-4CCB-B75D-E65AB8EDAFD8}"/>
              </a:ext>
            </a:extLst>
          </p:cNvPr>
          <p:cNvGraphicFramePr>
            <a:graphicFrameLocks noGrp="1"/>
          </p:cNvGraphicFramePr>
          <p:nvPr/>
        </p:nvGraphicFramePr>
        <p:xfrm>
          <a:off x="624909" y="4603711"/>
          <a:ext cx="10693188" cy="1752600"/>
        </p:xfrm>
        <a:graphic>
          <a:graphicData uri="http://schemas.openxmlformats.org/drawingml/2006/table">
            <a:tbl>
              <a:tblPr firstRow="1" bandRow="1">
                <a:tableStyleId>{5C22544A-7EE6-4342-B048-85BDC9FD1C3A}</a:tableStyleId>
              </a:tblPr>
              <a:tblGrid>
                <a:gridCol w="1801858">
                  <a:extLst>
                    <a:ext uri="{9D8B030D-6E8A-4147-A177-3AD203B41FA5}">
                      <a16:colId xmlns:a16="http://schemas.microsoft.com/office/drawing/2014/main" val="2422419246"/>
                    </a:ext>
                  </a:extLst>
                </a:gridCol>
                <a:gridCol w="3564396">
                  <a:extLst>
                    <a:ext uri="{9D8B030D-6E8A-4147-A177-3AD203B41FA5}">
                      <a16:colId xmlns:a16="http://schemas.microsoft.com/office/drawing/2014/main" val="2997731740"/>
                    </a:ext>
                  </a:extLst>
                </a:gridCol>
                <a:gridCol w="5326934">
                  <a:extLst>
                    <a:ext uri="{9D8B030D-6E8A-4147-A177-3AD203B41FA5}">
                      <a16:colId xmlns:a16="http://schemas.microsoft.com/office/drawing/2014/main" val="666087568"/>
                    </a:ext>
                  </a:extLst>
                </a:gridCol>
              </a:tblGrid>
              <a:tr h="370840">
                <a:tc>
                  <a:txBody>
                    <a:bodyPr/>
                    <a:lstStyle/>
                    <a:p>
                      <a:endParaRPr lang="de-DE"/>
                    </a:p>
                  </a:txBody>
                  <a:tcPr/>
                </a:tc>
                <a:tc>
                  <a:txBody>
                    <a:bodyPr/>
                    <a:lstStyle/>
                    <a:p>
                      <a:r>
                        <a:rPr lang="de-DE" err="1"/>
                        <a:t>Decision</a:t>
                      </a:r>
                      <a:r>
                        <a:rPr lang="de-DE"/>
                        <a:t> </a:t>
                      </a:r>
                      <a:r>
                        <a:rPr lang="de-DE" err="1"/>
                        <a:t>Trees</a:t>
                      </a:r>
                      <a:endParaRPr lang="de-DE"/>
                    </a:p>
                  </a:txBody>
                  <a:tcPr/>
                </a:tc>
                <a:tc>
                  <a:txBody>
                    <a:bodyPr/>
                    <a:lstStyle/>
                    <a:p>
                      <a:r>
                        <a:rPr lang="de-DE" err="1"/>
                        <a:t>Artificial</a:t>
                      </a:r>
                      <a:r>
                        <a:rPr lang="de-DE"/>
                        <a:t> </a:t>
                      </a:r>
                      <a:r>
                        <a:rPr lang="de-DE" err="1"/>
                        <a:t>Neural</a:t>
                      </a:r>
                      <a:r>
                        <a:rPr lang="de-DE"/>
                        <a:t> Nets</a:t>
                      </a:r>
                    </a:p>
                  </a:txBody>
                  <a:tcPr/>
                </a:tc>
                <a:extLst>
                  <a:ext uri="{0D108BD9-81ED-4DB2-BD59-A6C34878D82A}">
                    <a16:rowId xmlns:a16="http://schemas.microsoft.com/office/drawing/2014/main" val="2726745514"/>
                  </a:ext>
                </a:extLst>
              </a:tr>
              <a:tr h="370840">
                <a:tc>
                  <a:txBody>
                    <a:bodyPr/>
                    <a:lstStyle/>
                    <a:p>
                      <a:r>
                        <a:rPr lang="de-DE" err="1"/>
                        <a:t>Tabular</a:t>
                      </a:r>
                      <a:r>
                        <a:rPr lang="de-DE"/>
                        <a:t> </a:t>
                      </a:r>
                      <a:r>
                        <a:rPr lang="de-DE" err="1"/>
                        <a:t>data</a:t>
                      </a:r>
                      <a:endParaRPr lang="de-DE"/>
                    </a:p>
                  </a:txBody>
                  <a:tcPr/>
                </a:tc>
                <a:tc>
                  <a:txBody>
                    <a:bodyPr/>
                    <a:lstStyle/>
                    <a:p>
                      <a:endParaRPr lang="de-DE"/>
                    </a:p>
                    <a:p>
                      <a:endParaRPr lang="de-DE"/>
                    </a:p>
                  </a:txBody>
                  <a:tcPr/>
                </a:tc>
                <a:tc>
                  <a:txBody>
                    <a:bodyPr/>
                    <a:lstStyle/>
                    <a:p>
                      <a:endParaRPr lang="de-DE"/>
                    </a:p>
                  </a:txBody>
                  <a:tcPr/>
                </a:tc>
                <a:extLst>
                  <a:ext uri="{0D108BD9-81ED-4DB2-BD59-A6C34878D82A}">
                    <a16:rowId xmlns:a16="http://schemas.microsoft.com/office/drawing/2014/main" val="1605544526"/>
                  </a:ext>
                </a:extLst>
              </a:tr>
              <a:tr h="370840">
                <a:tc>
                  <a:txBody>
                    <a:bodyPr/>
                    <a:lstStyle/>
                    <a:p>
                      <a:r>
                        <a:rPr lang="de-DE"/>
                        <a:t>Text</a:t>
                      </a:r>
                    </a:p>
                  </a:txBody>
                  <a:tcPr/>
                </a:tc>
                <a:tc>
                  <a:txBody>
                    <a:bodyPr/>
                    <a:lstStyle/>
                    <a:p>
                      <a:endParaRPr lang="de-DE"/>
                    </a:p>
                  </a:txBody>
                  <a:tcPr/>
                </a:tc>
                <a:tc>
                  <a:txBody>
                    <a:bodyPr/>
                    <a:lstStyle/>
                    <a:p>
                      <a:endParaRPr lang="de-DE"/>
                    </a:p>
                  </a:txBody>
                  <a:tcPr/>
                </a:tc>
                <a:extLst>
                  <a:ext uri="{0D108BD9-81ED-4DB2-BD59-A6C34878D82A}">
                    <a16:rowId xmlns:a16="http://schemas.microsoft.com/office/drawing/2014/main" val="2472260996"/>
                  </a:ext>
                </a:extLst>
              </a:tr>
              <a:tr h="370840">
                <a:tc>
                  <a:txBody>
                    <a:bodyPr/>
                    <a:lstStyle/>
                    <a:p>
                      <a:r>
                        <a:rPr lang="de-DE"/>
                        <a:t>Images</a:t>
                      </a:r>
                    </a:p>
                  </a:txBody>
                  <a:tcPr/>
                </a:tc>
                <a:tc>
                  <a:txBody>
                    <a:bodyPr/>
                    <a:lstStyle/>
                    <a:p>
                      <a:endParaRPr lang="de-DE"/>
                    </a:p>
                  </a:txBody>
                  <a:tcPr/>
                </a:tc>
                <a:tc>
                  <a:txBody>
                    <a:bodyPr/>
                    <a:lstStyle/>
                    <a:p>
                      <a:endParaRPr lang="de-DE"/>
                    </a:p>
                  </a:txBody>
                  <a:tcPr/>
                </a:tc>
                <a:extLst>
                  <a:ext uri="{0D108BD9-81ED-4DB2-BD59-A6C34878D82A}">
                    <a16:rowId xmlns:a16="http://schemas.microsoft.com/office/drawing/2014/main" val="3245338458"/>
                  </a:ext>
                </a:extLst>
              </a:tr>
            </a:tbl>
          </a:graphicData>
        </a:graphic>
      </p:graphicFrame>
    </p:spTree>
    <p:extLst>
      <p:ext uri="{BB962C8B-B14F-4D97-AF65-F5344CB8AC3E}">
        <p14:creationId xmlns:p14="http://schemas.microsoft.com/office/powerpoint/2010/main" val="106491953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Loss Function and Error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22651" y="2659189"/>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82606615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el 6">
            <a:extLst>
              <a:ext uri="{FF2B5EF4-FFF2-40B4-BE49-F238E27FC236}">
                <a16:creationId xmlns:a16="http://schemas.microsoft.com/office/drawing/2014/main" id="{FC56E8C5-A86B-462C-ACE3-8304E0B061AC}"/>
              </a:ext>
            </a:extLst>
          </p:cNvPr>
          <p:cNvSpPr>
            <a:spLocks noGrp="1"/>
          </p:cNvSpPr>
          <p:nvPr>
            <p:ph type="title"/>
          </p:nvPr>
        </p:nvSpPr>
        <p:spPr/>
        <p:txBody>
          <a:bodyPr/>
          <a:lstStyle/>
          <a:p>
            <a:r>
              <a:rPr lang="en-US"/>
              <a:t>Classification by Decision Trees (Review ML1)</a:t>
            </a:r>
          </a:p>
        </p:txBody>
      </p:sp>
      <p:sp>
        <p:nvSpPr>
          <p:cNvPr id="8" name="Inhaltsplatzhalter 7">
            <a:extLst>
              <a:ext uri="{FF2B5EF4-FFF2-40B4-BE49-F238E27FC236}">
                <a16:creationId xmlns:a16="http://schemas.microsoft.com/office/drawing/2014/main" id="{33FDF562-CC0A-408E-A976-4A2FBD61741D}"/>
              </a:ext>
            </a:extLst>
          </p:cNvPr>
          <p:cNvSpPr>
            <a:spLocks noGrp="1"/>
          </p:cNvSpPr>
          <p:nvPr>
            <p:ph idx="1"/>
          </p:nvPr>
        </p:nvSpPr>
        <p:spPr/>
        <p:txBody>
          <a:bodyPr/>
          <a:lstStyle/>
          <a:p>
            <a:r>
              <a:rPr lang="en-US"/>
              <a:t>New wording CART (Classification and Regression Tree)</a:t>
            </a:r>
          </a:p>
          <a:p>
            <a:r>
              <a:rPr lang="en-US"/>
              <a:t>A crude example:</a:t>
            </a:r>
          </a:p>
        </p:txBody>
      </p:sp>
      <p:pic>
        <p:nvPicPr>
          <p:cNvPr id="9" name="Grafik 8">
            <a:extLst>
              <a:ext uri="{FF2B5EF4-FFF2-40B4-BE49-F238E27FC236}">
                <a16:creationId xmlns:a16="http://schemas.microsoft.com/office/drawing/2014/main" id="{5AF75120-2165-4FC8-9281-5FAAB8A26DFD}"/>
              </a:ext>
            </a:extLst>
          </p:cNvPr>
          <p:cNvPicPr>
            <a:picLocks noChangeAspect="1"/>
          </p:cNvPicPr>
          <p:nvPr/>
        </p:nvPicPr>
        <p:blipFill>
          <a:blip r:embed="rId3"/>
          <a:stretch>
            <a:fillRect/>
          </a:stretch>
        </p:blipFill>
        <p:spPr>
          <a:xfrm>
            <a:off x="1531938" y="2085926"/>
            <a:ext cx="6799486" cy="4091036"/>
          </a:xfrm>
          <a:prstGeom prst="rect">
            <a:avLst/>
          </a:prstGeom>
        </p:spPr>
      </p:pic>
    </p:spTree>
    <p:extLst>
      <p:ext uri="{BB962C8B-B14F-4D97-AF65-F5344CB8AC3E}">
        <p14:creationId xmlns:p14="http://schemas.microsoft.com/office/powerpoint/2010/main" val="4837276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CE51323-53D3-4833-AA9E-3AE58B51E431}"/>
              </a:ext>
            </a:extLst>
          </p:cNvPr>
          <p:cNvSpPr>
            <a:spLocks noGrp="1"/>
          </p:cNvSpPr>
          <p:nvPr>
            <p:ph type="title"/>
          </p:nvPr>
        </p:nvSpPr>
        <p:spPr/>
        <p:txBody>
          <a:bodyPr/>
          <a:lstStyle/>
          <a:p>
            <a:r>
              <a:rPr lang="en-US"/>
              <a:t>Main Idea How a Decision Tree Is Build (Review ML1):</a:t>
            </a:r>
            <a:br>
              <a:rPr lang="en-US"/>
            </a:br>
            <a:r>
              <a:rPr lang="en-US"/>
              <a:t>Which Loss Function to be minimized?</a:t>
            </a:r>
          </a:p>
        </p:txBody>
      </p:sp>
      <p:sp>
        <p:nvSpPr>
          <p:cNvPr id="3" name="Inhaltsplatzhalter 2">
            <a:extLst>
              <a:ext uri="{FF2B5EF4-FFF2-40B4-BE49-F238E27FC236}">
                <a16:creationId xmlns:a16="http://schemas.microsoft.com/office/drawing/2014/main" id="{28C4999F-9C1B-458E-A7C8-014B27DE4845}"/>
              </a:ext>
            </a:extLst>
          </p:cNvPr>
          <p:cNvSpPr>
            <a:spLocks noGrp="1"/>
          </p:cNvSpPr>
          <p:nvPr>
            <p:ph idx="1"/>
          </p:nvPr>
        </p:nvSpPr>
        <p:spPr>
          <a:xfrm>
            <a:off x="627063" y="1440000"/>
            <a:ext cx="7164300" cy="4752000"/>
          </a:xfrm>
        </p:spPr>
        <p:txBody>
          <a:bodyPr/>
          <a:lstStyle/>
          <a:p>
            <a:pPr marL="342900" indent="-342900">
              <a:lnSpc>
                <a:spcPct val="100000"/>
              </a:lnSpc>
              <a:spcBef>
                <a:spcPts val="600"/>
              </a:spcBef>
              <a:buFont typeface="+mj-lt"/>
              <a:buAutoNum type="arabicPeriod"/>
            </a:pPr>
            <a:r>
              <a:rPr lang="en-US"/>
              <a:t>Start at the top: first node</a:t>
            </a:r>
          </a:p>
          <a:p>
            <a:pPr marL="342900" indent="-342900">
              <a:lnSpc>
                <a:spcPct val="100000"/>
              </a:lnSpc>
              <a:spcBef>
                <a:spcPts val="600"/>
              </a:spcBef>
              <a:buFont typeface="+mj-lt"/>
              <a:buAutoNum type="arabicPeriod"/>
            </a:pPr>
            <a:r>
              <a:rPr lang="en-US"/>
              <a:t>Evaluate:</a:t>
            </a:r>
          </a:p>
          <a:p>
            <a:pPr marL="644525" lvl="2" indent="-285750">
              <a:lnSpc>
                <a:spcPct val="100000"/>
              </a:lnSpc>
              <a:spcBef>
                <a:spcPts val="600"/>
              </a:spcBef>
              <a:buFont typeface="Wingdings" panose="05000000000000000000" pitchFamily="2" charset="2"/>
              <a:buChar char="Ø"/>
            </a:pPr>
            <a:r>
              <a:rPr lang="en-US"/>
              <a:t>all input variables</a:t>
            </a:r>
          </a:p>
          <a:p>
            <a:pPr marL="644525" lvl="2" indent="-285750">
              <a:lnSpc>
                <a:spcPct val="100000"/>
              </a:lnSpc>
              <a:spcBef>
                <a:spcPts val="600"/>
              </a:spcBef>
              <a:buFont typeface="Wingdings" panose="05000000000000000000" pitchFamily="2" charset="2"/>
              <a:buChar char="Ø"/>
            </a:pPr>
            <a:r>
              <a:rPr lang="en-US"/>
              <a:t>all their possible split points</a:t>
            </a:r>
          </a:p>
          <a:p>
            <a:pPr marL="644525" lvl="2" indent="-285750">
              <a:lnSpc>
                <a:spcPct val="100000"/>
              </a:lnSpc>
              <a:spcBef>
                <a:spcPts val="600"/>
              </a:spcBef>
              <a:buFont typeface="Wingdings" panose="05000000000000000000" pitchFamily="2" charset="2"/>
              <a:buChar char="Ø"/>
            </a:pPr>
            <a:r>
              <a:rPr lang="en-US"/>
              <a:t>Which would have the least uncertainty</a:t>
            </a:r>
          </a:p>
          <a:p>
            <a:pPr marL="342900" indent="-342900">
              <a:lnSpc>
                <a:spcPct val="100000"/>
              </a:lnSpc>
              <a:spcBef>
                <a:spcPts val="600"/>
              </a:spcBef>
              <a:buFont typeface="+mj-lt"/>
              <a:buAutoNum type="arabicPeriod"/>
            </a:pPr>
            <a:r>
              <a:rPr lang="en-US"/>
              <a:t>Split accordingly and generate two leaves</a:t>
            </a:r>
          </a:p>
          <a:p>
            <a:pPr marL="342900" indent="-342900">
              <a:lnSpc>
                <a:spcPct val="100000"/>
              </a:lnSpc>
              <a:spcBef>
                <a:spcPts val="600"/>
              </a:spcBef>
              <a:buFont typeface="+mj-lt"/>
              <a:buAutoNum type="arabicPeriod"/>
            </a:pPr>
            <a:r>
              <a:rPr lang="en-US"/>
              <a:t>Repeat 2 + 3 with both leaves</a:t>
            </a:r>
          </a:p>
          <a:p>
            <a:pPr marL="342900" indent="-342900">
              <a:lnSpc>
                <a:spcPct val="100000"/>
              </a:lnSpc>
              <a:spcBef>
                <a:spcPts val="600"/>
              </a:spcBef>
              <a:buFont typeface="+mj-lt"/>
              <a:buAutoNum type="arabicPeriod"/>
            </a:pPr>
            <a:r>
              <a:rPr lang="en-US"/>
              <a:t>Stop when:</a:t>
            </a:r>
          </a:p>
          <a:p>
            <a:pPr marL="701675" lvl="2" indent="-342900">
              <a:lnSpc>
                <a:spcPct val="100000"/>
              </a:lnSpc>
              <a:spcBef>
                <a:spcPts val="600"/>
              </a:spcBef>
            </a:pPr>
            <a:r>
              <a:rPr lang="en-US"/>
              <a:t>Uncertainty can’t be further reduced </a:t>
            </a:r>
          </a:p>
          <a:p>
            <a:pPr marL="701675" lvl="2" indent="-342900">
              <a:lnSpc>
                <a:spcPct val="100000"/>
              </a:lnSpc>
              <a:spcBef>
                <a:spcPts val="600"/>
              </a:spcBef>
            </a:pPr>
            <a:r>
              <a:rPr lang="en-US"/>
              <a:t>Some predefined metrics are reached:</a:t>
            </a:r>
          </a:p>
          <a:p>
            <a:pPr marL="1003300" lvl="4" indent="-285750">
              <a:lnSpc>
                <a:spcPct val="100000"/>
              </a:lnSpc>
              <a:spcBef>
                <a:spcPts val="600"/>
              </a:spcBef>
              <a:buFont typeface="Wingdings" panose="05000000000000000000" pitchFamily="2" charset="2"/>
              <a:buChar char="Ø"/>
            </a:pPr>
            <a:r>
              <a:rPr lang="en-US"/>
              <a:t>Maximal depth (=consecutive branches)</a:t>
            </a:r>
            <a:r>
              <a:rPr lang="en-US">
                <a:sym typeface="Wingdings" panose="05000000000000000000" pitchFamily="2" charset="2"/>
              </a:rPr>
              <a:t> will play with this</a:t>
            </a:r>
          </a:p>
          <a:p>
            <a:pPr marL="1003300" lvl="4" indent="-285750">
              <a:lnSpc>
                <a:spcPct val="100000"/>
              </a:lnSpc>
              <a:spcBef>
                <a:spcPts val="600"/>
              </a:spcBef>
              <a:buFont typeface="Wingdings" panose="05000000000000000000" pitchFamily="2" charset="2"/>
              <a:buChar char="Ø"/>
            </a:pPr>
            <a:r>
              <a:rPr lang="en-US">
                <a:sym typeface="Wingdings" panose="05000000000000000000" pitchFamily="2" charset="2"/>
              </a:rPr>
              <a:t>Maximal # of leaves</a:t>
            </a:r>
            <a:endParaRPr lang="en-US"/>
          </a:p>
        </p:txBody>
      </p:sp>
      <p:pic>
        <p:nvPicPr>
          <p:cNvPr id="6" name="Grafik 5">
            <a:extLst>
              <a:ext uri="{FF2B5EF4-FFF2-40B4-BE49-F238E27FC236}">
                <a16:creationId xmlns:a16="http://schemas.microsoft.com/office/drawing/2014/main" id="{2BF8BDC5-723B-4F25-B491-115940F28E4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836629" y="1556792"/>
            <a:ext cx="4787221" cy="2880320"/>
          </a:xfrm>
          <a:prstGeom prst="rect">
            <a:avLst/>
          </a:prstGeom>
          <a:ln>
            <a:solidFill>
              <a:srgbClr val="00646E"/>
            </a:solidFill>
          </a:ln>
        </p:spPr>
      </p:pic>
    </p:spTree>
    <p:extLst>
      <p:ext uri="{BB962C8B-B14F-4D97-AF65-F5344CB8AC3E}">
        <p14:creationId xmlns:p14="http://schemas.microsoft.com/office/powerpoint/2010/main" val="85642658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Uncertainty of a Dataset (Review ML1)</a:t>
            </a:r>
          </a:p>
        </p:txBody>
      </p:sp>
      <p:sp>
        <p:nvSpPr>
          <p:cNvPr id="72" name="Textfeld 71">
            <a:extLst>
              <a:ext uri="{FF2B5EF4-FFF2-40B4-BE49-F238E27FC236}">
                <a16:creationId xmlns:a16="http://schemas.microsoft.com/office/drawing/2014/main" id="{774CBE54-E081-4D85-80C0-DE53BD492273}"/>
              </a:ext>
            </a:extLst>
          </p:cNvPr>
          <p:cNvSpPr txBox="1"/>
          <p:nvPr/>
        </p:nvSpPr>
        <p:spPr>
          <a:xfrm>
            <a:off x="627062" y="1439999"/>
            <a:ext cx="4058002" cy="2530949"/>
          </a:xfrm>
          <a:prstGeom prst="rect">
            <a:avLst/>
          </a:prstGeom>
          <a:noFill/>
        </p:spPr>
        <p:txBody>
          <a:bodyPr wrap="square" lIns="0" tIns="0" rIns="0" bIns="0" rtlCol="0">
            <a:spAutoFit/>
          </a:bodyPr>
          <a:lstStyle/>
          <a:p>
            <a:pPr>
              <a:lnSpc>
                <a:spcPct val="110000"/>
              </a:lnSpc>
              <a:spcBef>
                <a:spcPts val="600"/>
              </a:spcBef>
              <a:spcAft>
                <a:spcPts val="600"/>
              </a:spcAft>
            </a:pPr>
            <a:r>
              <a:rPr lang="en-US" b="1">
                <a:solidFill>
                  <a:schemeClr val="tx1"/>
                </a:solidFill>
                <a:latin typeface="+mn-lt"/>
                <a:ea typeface="Arial Unicode MS" panose="020B0604020202020204" pitchFamily="34" charset="-128"/>
                <a:cs typeface="Arial Unicode MS" panose="020B0604020202020204" pitchFamily="34" charset="-128"/>
              </a:rPr>
              <a:t>Entropy is used to measure uncertainty: </a:t>
            </a:r>
          </a:p>
          <a:p>
            <a:pPr marL="285750" indent="-285750">
              <a:lnSpc>
                <a:spcPct val="110000"/>
              </a:lnSpc>
              <a:spcBef>
                <a:spcPts val="600"/>
              </a:spcBef>
              <a:spcAft>
                <a:spcPts val="600"/>
              </a:spcAft>
              <a:buFont typeface="Arial" panose="020B0604020202020204" pitchFamily="34" charset="0"/>
              <a:buChar char="•"/>
            </a:pPr>
            <a:r>
              <a:rPr lang="en-US" sz="1400">
                <a:solidFill>
                  <a:schemeClr val="tx1"/>
                </a:solidFill>
                <a:latin typeface="+mn-lt"/>
                <a:ea typeface="Arial Unicode MS" panose="020B0604020202020204" pitchFamily="34" charset="-128"/>
                <a:cs typeface="Arial Unicode MS" panose="020B0604020202020204" pitchFamily="34" charset="-128"/>
              </a:rPr>
              <a:t>Entropy = 0: perfectly certain node(s)</a:t>
            </a:r>
          </a:p>
          <a:p>
            <a:pPr marL="285750" indent="-285750">
              <a:lnSpc>
                <a:spcPct val="110000"/>
              </a:lnSpc>
              <a:spcBef>
                <a:spcPts val="600"/>
              </a:spcBef>
              <a:spcAft>
                <a:spcPts val="600"/>
              </a:spcAft>
              <a:buFont typeface="Arial" panose="020B0604020202020204" pitchFamily="34" charset="0"/>
              <a:buChar char="•"/>
            </a:pPr>
            <a:r>
              <a:rPr lang="en-US" sz="1400">
                <a:solidFill>
                  <a:schemeClr val="tx1"/>
                </a:solidFill>
                <a:latin typeface="+mn-lt"/>
                <a:ea typeface="Arial Unicode MS" panose="020B0604020202020204" pitchFamily="34" charset="-128"/>
                <a:cs typeface="Arial Unicode MS" panose="020B0604020202020204" pitchFamily="34" charset="-128"/>
              </a:rPr>
              <a:t>Entropy &gt;= 1: large mix of males and females </a:t>
            </a:r>
          </a:p>
          <a:p>
            <a:pPr marL="285750" indent="-285750">
              <a:lnSpc>
                <a:spcPct val="110000"/>
              </a:lnSpc>
              <a:spcBef>
                <a:spcPts val="600"/>
              </a:spcBef>
              <a:spcAft>
                <a:spcPts val="600"/>
              </a:spcAft>
              <a:buFont typeface="Arial" panose="020B0604020202020204" pitchFamily="34" charset="0"/>
              <a:buChar char="•"/>
            </a:pPr>
            <a:endParaRPr lang="en-US" sz="14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400">
                <a:solidFill>
                  <a:schemeClr val="tx1"/>
                </a:solidFill>
                <a:latin typeface="+mn-lt"/>
                <a:ea typeface="Arial Unicode MS" panose="020B0604020202020204" pitchFamily="34" charset="-128"/>
                <a:cs typeface="Arial Unicode MS" panose="020B0604020202020204" pitchFamily="34" charset="-128"/>
              </a:rPr>
              <a:t>Goes back to the Shannon Entropy in physics</a:t>
            </a:r>
          </a:p>
          <a:p>
            <a:pPr lvl="1">
              <a:lnSpc>
                <a:spcPct val="110000"/>
              </a:lnSpc>
              <a:spcBef>
                <a:spcPts val="0"/>
              </a:spcBef>
            </a:pPr>
            <a:endParaRPr lang="en-US">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4984169" y="2300634"/>
            <a:ext cx="1654617" cy="1646778"/>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28" name="Textfeld 27">
                <a:extLst>
                  <a:ext uri="{FF2B5EF4-FFF2-40B4-BE49-F238E27FC236}">
                    <a16:creationId xmlns:a16="http://schemas.microsoft.com/office/drawing/2014/main" id="{E34B9680-0D2E-4958-9A9D-9CF69F27F2DC}"/>
                  </a:ext>
                </a:extLst>
              </p:cNvPr>
              <p:cNvSpPr txBox="1"/>
              <p:nvPr/>
            </p:nvSpPr>
            <p:spPr>
              <a:xfrm>
                <a:off x="10275639" y="4252858"/>
                <a:ext cx="151216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8" name="Textfeld 27">
                <a:extLst>
                  <a:ext uri="{FF2B5EF4-FFF2-40B4-BE49-F238E27FC236}">
                    <a16:creationId xmlns:a16="http://schemas.microsoft.com/office/drawing/2014/main" id="{E34B9680-0D2E-4958-9A9D-9CF69F27F2DC}"/>
                  </a:ext>
                </a:extLst>
              </p:cNvPr>
              <p:cNvSpPr txBox="1">
                <a:spLocks noRot="1" noChangeAspect="1" noMove="1" noResize="1" noEditPoints="1" noAdjustHandles="1" noChangeArrowheads="1" noChangeShapeType="1" noTextEdit="1"/>
              </p:cNvSpPr>
              <p:nvPr/>
            </p:nvSpPr>
            <p:spPr>
              <a:xfrm>
                <a:off x="10275639" y="4252858"/>
                <a:ext cx="1512168" cy="914400"/>
              </a:xfrm>
              <a:prstGeom prst="rect">
                <a:avLst/>
              </a:prstGeom>
              <a:blipFill>
                <a:blip r:embed="rId3"/>
                <a:stretch>
                  <a:fillRect l="-6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feld 28">
                <a:extLst>
                  <a:ext uri="{FF2B5EF4-FFF2-40B4-BE49-F238E27FC236}">
                    <a16:creationId xmlns:a16="http://schemas.microsoft.com/office/drawing/2014/main" id="{77645819-2307-49D2-9EAE-63CA2F6A0694}"/>
                  </a:ext>
                </a:extLst>
              </p:cNvPr>
              <p:cNvSpPr txBox="1"/>
              <p:nvPr/>
            </p:nvSpPr>
            <p:spPr>
              <a:xfrm>
                <a:off x="5127067"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9" name="Textfeld 28">
                <a:extLst>
                  <a:ext uri="{FF2B5EF4-FFF2-40B4-BE49-F238E27FC236}">
                    <a16:creationId xmlns:a16="http://schemas.microsoft.com/office/drawing/2014/main" id="{77645819-2307-49D2-9EAE-63CA2F6A0694}"/>
                  </a:ext>
                </a:extLst>
              </p:cNvPr>
              <p:cNvSpPr txBox="1">
                <a:spLocks noRot="1" noChangeAspect="1" noMove="1" noResize="1" noEditPoints="1" noAdjustHandles="1" noChangeArrowheads="1" noChangeShapeType="1" noTextEdit="1"/>
              </p:cNvSpPr>
              <p:nvPr/>
            </p:nvSpPr>
            <p:spPr>
              <a:xfrm>
                <a:off x="5127067" y="4252858"/>
                <a:ext cx="2794528" cy="914400"/>
              </a:xfrm>
              <a:prstGeom prst="rect">
                <a:avLst/>
              </a:prstGeom>
              <a:blipFill>
                <a:blip r:embed="rId4"/>
                <a:stretch>
                  <a:fillRect l="-32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feld 29">
                <a:extLst>
                  <a:ext uri="{FF2B5EF4-FFF2-40B4-BE49-F238E27FC236}">
                    <a16:creationId xmlns:a16="http://schemas.microsoft.com/office/drawing/2014/main" id="{708381AA-9FB8-4ED0-A2F2-1A36F2F9E1E6}"/>
                  </a:ext>
                </a:extLst>
              </p:cNvPr>
              <p:cNvSpPr txBox="1"/>
              <p:nvPr/>
            </p:nvSpPr>
            <p:spPr>
              <a:xfrm>
                <a:off x="7719355"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𝟖𝟏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0" name="Textfeld 29">
                <a:extLst>
                  <a:ext uri="{FF2B5EF4-FFF2-40B4-BE49-F238E27FC236}">
                    <a16:creationId xmlns:a16="http://schemas.microsoft.com/office/drawing/2014/main" id="{708381AA-9FB8-4ED0-A2F2-1A36F2F9E1E6}"/>
                  </a:ext>
                </a:extLst>
              </p:cNvPr>
              <p:cNvSpPr txBox="1">
                <a:spLocks noRot="1" noChangeAspect="1" noMove="1" noResize="1" noEditPoints="1" noAdjustHandles="1" noChangeArrowheads="1" noChangeShapeType="1" noTextEdit="1"/>
              </p:cNvSpPr>
              <p:nvPr/>
            </p:nvSpPr>
            <p:spPr>
              <a:xfrm>
                <a:off x="7719355" y="4252858"/>
                <a:ext cx="2794528" cy="914400"/>
              </a:xfrm>
              <a:prstGeom prst="rect">
                <a:avLst/>
              </a:prstGeom>
              <a:blipFill>
                <a:blip r:embed="rId5"/>
                <a:stretch>
                  <a:fillRect l="-3268"/>
                </a:stretch>
              </a:blipFill>
            </p:spPr>
            <p:txBody>
              <a:bodyPr/>
              <a:lstStyle/>
              <a:p>
                <a:r>
                  <a:rPr lang="en-US">
                    <a:noFill/>
                  </a:rPr>
                  <a:t> </a:t>
                </a:r>
              </a:p>
            </p:txBody>
          </p:sp>
        </mc:Fallback>
      </mc:AlternateContent>
      <p:sp>
        <p:nvSpPr>
          <p:cNvPr id="32" name="Pfeil: nach unten 31">
            <a:extLst>
              <a:ext uri="{FF2B5EF4-FFF2-40B4-BE49-F238E27FC236}">
                <a16:creationId xmlns:a16="http://schemas.microsoft.com/office/drawing/2014/main" id="{C92C49C1-1A11-45CB-8B01-149DF14CFBC4}"/>
              </a:ext>
            </a:extLst>
          </p:cNvPr>
          <p:cNvSpPr/>
          <p:nvPr/>
        </p:nvSpPr>
        <p:spPr bwMode="auto">
          <a:xfrm rot="5400000">
            <a:off x="7962666" y="1713326"/>
            <a:ext cx="806781" cy="6763774"/>
          </a:xfrm>
          <a:prstGeom prst="down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vert270" wrap="square" lIns="108000" tIns="54000" rIns="108000" bIns="54000" numCol="1" spcCol="72000" rtlCol="0" anchor="ctr">
            <a:noAutofit/>
          </a:bodyPr>
          <a:lstStyle/>
          <a:p>
            <a:pPr algn="ctr">
              <a:lnSpc>
                <a:spcPct val="110000"/>
              </a:lnSpc>
              <a:spcBef>
                <a:spcPct val="0"/>
              </a:spcBef>
              <a:buFont typeface="Wingdings" charset="0"/>
              <a:buNone/>
            </a:pPr>
            <a:r>
              <a:rPr lang="en-US" b="1">
                <a:solidFill>
                  <a:schemeClr val="tx1"/>
                </a:solidFill>
                <a:latin typeface="+mn-lt"/>
                <a:ea typeface="Arial Unicode MS" panose="020B0604020202020204" pitchFamily="34" charset="-128"/>
                <a:cs typeface="Arial Unicode MS" panose="020B0604020202020204" pitchFamily="34" charset="-128"/>
              </a:rPr>
              <a:t>ENTROPY</a:t>
            </a:r>
            <a:endParaRPr lang="en-US" sz="1800" b="1">
              <a:solidFill>
                <a:schemeClr val="tx1"/>
              </a:solidFill>
              <a:latin typeface="+mn-lt"/>
              <a:ea typeface="Arial Unicode MS" panose="020B0604020202020204" pitchFamily="34" charset="-128"/>
              <a:cs typeface="Arial Unicode MS" panose="020B0604020202020204" pitchFamily="34" charset="-128"/>
            </a:endParaRPr>
          </a:p>
        </p:txBody>
      </p:sp>
      <p:sp>
        <p:nvSpPr>
          <p:cNvPr id="33" name="Rechteck 32">
            <a:extLst>
              <a:ext uri="{FF2B5EF4-FFF2-40B4-BE49-F238E27FC236}">
                <a16:creationId xmlns:a16="http://schemas.microsoft.com/office/drawing/2014/main" id="{081DE7C5-AEED-409C-84CF-F0E6BBBE66C1}"/>
              </a:ext>
            </a:extLst>
          </p:cNvPr>
          <p:cNvSpPr/>
          <p:nvPr/>
        </p:nvSpPr>
        <p:spPr bwMode="auto">
          <a:xfrm>
            <a:off x="627062" y="5698243"/>
            <a:ext cx="11088688" cy="48463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2000" b="1">
                <a:solidFill>
                  <a:schemeClr val="tx1"/>
                </a:solidFill>
                <a:latin typeface="+mn-lt"/>
                <a:ea typeface="Arial Unicode MS" panose="020B0604020202020204" pitchFamily="34" charset="-128"/>
                <a:cs typeface="Arial Unicode MS" panose="020B0604020202020204" pitchFamily="34" charset="-128"/>
              </a:rPr>
              <a:t>With Decreasing Entropy the Certainty Increases.</a:t>
            </a:r>
          </a:p>
        </p:txBody>
      </p:sp>
      <p:grpSp>
        <p:nvGrpSpPr>
          <p:cNvPr id="11" name="Gruppieren 10">
            <a:extLst>
              <a:ext uri="{FF2B5EF4-FFF2-40B4-BE49-F238E27FC236}">
                <a16:creationId xmlns:a16="http://schemas.microsoft.com/office/drawing/2014/main" id="{FBD3E414-280F-464C-AD44-BE169365A8FD}"/>
              </a:ext>
            </a:extLst>
          </p:cNvPr>
          <p:cNvGrpSpPr/>
          <p:nvPr/>
        </p:nvGrpSpPr>
        <p:grpSpPr>
          <a:xfrm>
            <a:off x="5649545" y="2548956"/>
            <a:ext cx="322634" cy="371157"/>
            <a:chOff x="5649545" y="2548956"/>
            <a:chExt cx="322634" cy="371157"/>
          </a:xfrm>
        </p:grpSpPr>
        <p:sp>
          <p:nvSpPr>
            <p:cNvPr id="66" name="Ellipse 65">
              <a:extLst>
                <a:ext uri="{FF2B5EF4-FFF2-40B4-BE49-F238E27FC236}">
                  <a16:creationId xmlns:a16="http://schemas.microsoft.com/office/drawing/2014/main" id="{3FE2DC8E-6540-471A-9ACB-BD9341279BAA}"/>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5" name="Gerade Verbindung mit Pfeil 4">
              <a:extLst>
                <a:ext uri="{FF2B5EF4-FFF2-40B4-BE49-F238E27FC236}">
                  <a16:creationId xmlns:a16="http://schemas.microsoft.com/office/drawing/2014/main" id="{8AC25E82-C2D6-4002-BA78-AF52A99A2718}"/>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12" name="Gruppieren 11">
            <a:extLst>
              <a:ext uri="{FF2B5EF4-FFF2-40B4-BE49-F238E27FC236}">
                <a16:creationId xmlns:a16="http://schemas.microsoft.com/office/drawing/2014/main" id="{8D658A22-CDE6-4941-9EB8-6256BECB0C91}"/>
              </a:ext>
            </a:extLst>
          </p:cNvPr>
          <p:cNvGrpSpPr/>
          <p:nvPr/>
        </p:nvGrpSpPr>
        <p:grpSpPr>
          <a:xfrm>
            <a:off x="5656495" y="3332599"/>
            <a:ext cx="445260" cy="465370"/>
            <a:chOff x="5656495" y="3332599"/>
            <a:chExt cx="445260" cy="465370"/>
          </a:xfrm>
        </p:grpSpPr>
        <p:sp>
          <p:nvSpPr>
            <p:cNvPr id="69" name="Ellipse 68">
              <a:extLst>
                <a:ext uri="{FF2B5EF4-FFF2-40B4-BE49-F238E27FC236}">
                  <a16:creationId xmlns:a16="http://schemas.microsoft.com/office/drawing/2014/main" id="{79604AE0-6EDB-4287-9961-9FB0DCC69BBA}"/>
                </a:ext>
              </a:extLst>
            </p:cNvPr>
            <p:cNvSpPr/>
            <p:nvPr/>
          </p:nvSpPr>
          <p:spPr bwMode="auto">
            <a:xfrm>
              <a:off x="5759028" y="3332599"/>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 name="Rechteck 7">
              <a:extLst>
                <a:ext uri="{FF2B5EF4-FFF2-40B4-BE49-F238E27FC236}">
                  <a16:creationId xmlns:a16="http://schemas.microsoft.com/office/drawing/2014/main" id="{27BE48E8-95CD-4BEB-889A-38FC753B777C}"/>
                </a:ext>
              </a:extLst>
            </p:cNvPr>
            <p:cNvSpPr/>
            <p:nvPr/>
          </p:nvSpPr>
          <p:spPr bwMode="auto">
            <a:xfrm>
              <a:off x="5656495" y="3484565"/>
              <a:ext cx="445260" cy="313404"/>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3200" b="1">
                  <a:solidFill>
                    <a:schemeClr val="tx1"/>
                  </a:solidFill>
                  <a:latin typeface="+mn-lt"/>
                  <a:ea typeface="Arial Unicode MS" panose="020B0604020202020204" pitchFamily="34" charset="-128"/>
                  <a:cs typeface="Arial Unicode MS" panose="020B0604020202020204" pitchFamily="34" charset="-128"/>
                </a:rPr>
                <a:t>+</a:t>
              </a:r>
            </a:p>
          </p:txBody>
        </p:sp>
      </p:grpSp>
      <p:grpSp>
        <p:nvGrpSpPr>
          <p:cNvPr id="41" name="Gruppieren 40">
            <a:extLst>
              <a:ext uri="{FF2B5EF4-FFF2-40B4-BE49-F238E27FC236}">
                <a16:creationId xmlns:a16="http://schemas.microsoft.com/office/drawing/2014/main" id="{3E0C2968-887C-4A4B-A053-B4E5C7B4EF77}"/>
              </a:ext>
            </a:extLst>
          </p:cNvPr>
          <p:cNvGrpSpPr/>
          <p:nvPr/>
        </p:nvGrpSpPr>
        <p:grpSpPr>
          <a:xfrm>
            <a:off x="6063171" y="2807962"/>
            <a:ext cx="322634" cy="371157"/>
            <a:chOff x="5649545" y="2548956"/>
            <a:chExt cx="322634" cy="371157"/>
          </a:xfrm>
        </p:grpSpPr>
        <p:sp>
          <p:nvSpPr>
            <p:cNvPr id="42" name="Ellipse 41">
              <a:extLst>
                <a:ext uri="{FF2B5EF4-FFF2-40B4-BE49-F238E27FC236}">
                  <a16:creationId xmlns:a16="http://schemas.microsoft.com/office/drawing/2014/main" id="{F76C56EA-30EA-4C76-AB5C-35DED1149E29}"/>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43" name="Gerade Verbindung mit Pfeil 42">
              <a:extLst>
                <a:ext uri="{FF2B5EF4-FFF2-40B4-BE49-F238E27FC236}">
                  <a16:creationId xmlns:a16="http://schemas.microsoft.com/office/drawing/2014/main" id="{B1A2EFF6-D355-41AA-844C-E4D6A1EF16FC}"/>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44" name="Gruppieren 43">
            <a:extLst>
              <a:ext uri="{FF2B5EF4-FFF2-40B4-BE49-F238E27FC236}">
                <a16:creationId xmlns:a16="http://schemas.microsoft.com/office/drawing/2014/main" id="{E558EBFE-AE13-4058-AC8E-1F8C46E84023}"/>
              </a:ext>
            </a:extLst>
          </p:cNvPr>
          <p:cNvGrpSpPr/>
          <p:nvPr/>
        </p:nvGrpSpPr>
        <p:grpSpPr>
          <a:xfrm>
            <a:off x="5234916" y="3022339"/>
            <a:ext cx="445260" cy="465370"/>
            <a:chOff x="5656495" y="3332599"/>
            <a:chExt cx="445260" cy="465370"/>
          </a:xfrm>
        </p:grpSpPr>
        <p:sp>
          <p:nvSpPr>
            <p:cNvPr id="45" name="Ellipse 44">
              <a:extLst>
                <a:ext uri="{FF2B5EF4-FFF2-40B4-BE49-F238E27FC236}">
                  <a16:creationId xmlns:a16="http://schemas.microsoft.com/office/drawing/2014/main" id="{B808D76B-F270-4CE1-BED8-F3058C4AFA50}"/>
                </a:ext>
              </a:extLst>
            </p:cNvPr>
            <p:cNvSpPr/>
            <p:nvPr/>
          </p:nvSpPr>
          <p:spPr bwMode="auto">
            <a:xfrm>
              <a:off x="5759028" y="3332599"/>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6" name="Rechteck 45">
              <a:extLst>
                <a:ext uri="{FF2B5EF4-FFF2-40B4-BE49-F238E27FC236}">
                  <a16:creationId xmlns:a16="http://schemas.microsoft.com/office/drawing/2014/main" id="{C40345DD-ABFF-4BAA-AAD0-87B1DBAF6C18}"/>
                </a:ext>
              </a:extLst>
            </p:cNvPr>
            <p:cNvSpPr/>
            <p:nvPr/>
          </p:nvSpPr>
          <p:spPr bwMode="auto">
            <a:xfrm>
              <a:off x="5656495" y="3484565"/>
              <a:ext cx="445260" cy="313404"/>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3200" b="1">
                  <a:solidFill>
                    <a:schemeClr val="tx1"/>
                  </a:solidFill>
                  <a:latin typeface="+mn-lt"/>
                  <a:ea typeface="Arial Unicode MS" panose="020B0604020202020204" pitchFamily="34" charset="-128"/>
                  <a:cs typeface="Arial Unicode MS" panose="020B0604020202020204" pitchFamily="34" charset="-128"/>
                </a:rPr>
                <a:t>+</a:t>
              </a:r>
            </a:p>
          </p:txBody>
        </p:sp>
      </p:grpSp>
      <p:sp>
        <p:nvSpPr>
          <p:cNvPr id="48" name="Ellipse 47">
            <a:extLst>
              <a:ext uri="{FF2B5EF4-FFF2-40B4-BE49-F238E27FC236}">
                <a16:creationId xmlns:a16="http://schemas.microsoft.com/office/drawing/2014/main" id="{6763CF63-D526-4938-8EB0-996A82B95AB0}"/>
              </a:ext>
            </a:extLst>
          </p:cNvPr>
          <p:cNvSpPr/>
          <p:nvPr/>
        </p:nvSpPr>
        <p:spPr bwMode="auto">
          <a:xfrm>
            <a:off x="7719355" y="2352661"/>
            <a:ext cx="1654617" cy="1646778"/>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49" name="Gruppieren 48">
            <a:extLst>
              <a:ext uri="{FF2B5EF4-FFF2-40B4-BE49-F238E27FC236}">
                <a16:creationId xmlns:a16="http://schemas.microsoft.com/office/drawing/2014/main" id="{DE9D2AFD-239D-4826-BF91-48AE5F9B5B2F}"/>
              </a:ext>
            </a:extLst>
          </p:cNvPr>
          <p:cNvGrpSpPr/>
          <p:nvPr/>
        </p:nvGrpSpPr>
        <p:grpSpPr>
          <a:xfrm>
            <a:off x="8384731" y="2600983"/>
            <a:ext cx="322634" cy="371157"/>
            <a:chOff x="5649545" y="2548956"/>
            <a:chExt cx="322634" cy="371157"/>
          </a:xfrm>
        </p:grpSpPr>
        <p:sp>
          <p:nvSpPr>
            <p:cNvPr id="61" name="Ellipse 60">
              <a:extLst>
                <a:ext uri="{FF2B5EF4-FFF2-40B4-BE49-F238E27FC236}">
                  <a16:creationId xmlns:a16="http://schemas.microsoft.com/office/drawing/2014/main" id="{4910B2C5-99CE-4CE6-BDAD-8982201FB4ED}"/>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67" name="Gerade Verbindung mit Pfeil 66">
              <a:extLst>
                <a:ext uri="{FF2B5EF4-FFF2-40B4-BE49-F238E27FC236}">
                  <a16:creationId xmlns:a16="http://schemas.microsoft.com/office/drawing/2014/main" id="{F768D3A8-6E19-4773-83A5-72A3F01EB0CD}"/>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76" name="Gruppieren 75">
            <a:extLst>
              <a:ext uri="{FF2B5EF4-FFF2-40B4-BE49-F238E27FC236}">
                <a16:creationId xmlns:a16="http://schemas.microsoft.com/office/drawing/2014/main" id="{7C88DD8C-7538-4CB0-888D-3D60E877762B}"/>
              </a:ext>
            </a:extLst>
          </p:cNvPr>
          <p:cNvGrpSpPr/>
          <p:nvPr/>
        </p:nvGrpSpPr>
        <p:grpSpPr>
          <a:xfrm>
            <a:off x="8798357" y="2859989"/>
            <a:ext cx="322634" cy="371157"/>
            <a:chOff x="5649545" y="2548956"/>
            <a:chExt cx="322634" cy="371157"/>
          </a:xfrm>
        </p:grpSpPr>
        <p:sp>
          <p:nvSpPr>
            <p:cNvPr id="77" name="Ellipse 76">
              <a:extLst>
                <a:ext uri="{FF2B5EF4-FFF2-40B4-BE49-F238E27FC236}">
                  <a16:creationId xmlns:a16="http://schemas.microsoft.com/office/drawing/2014/main" id="{C4167C85-1D35-4EDD-A7C6-D673A9150C80}"/>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78" name="Gerade Verbindung mit Pfeil 77">
              <a:extLst>
                <a:ext uri="{FF2B5EF4-FFF2-40B4-BE49-F238E27FC236}">
                  <a16:creationId xmlns:a16="http://schemas.microsoft.com/office/drawing/2014/main" id="{6E224DA0-4265-41AD-8AA1-4214FF85FA50}"/>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79" name="Gruppieren 78">
            <a:extLst>
              <a:ext uri="{FF2B5EF4-FFF2-40B4-BE49-F238E27FC236}">
                <a16:creationId xmlns:a16="http://schemas.microsoft.com/office/drawing/2014/main" id="{829304C9-1CEC-41BB-BFCC-48FA1A538F96}"/>
              </a:ext>
            </a:extLst>
          </p:cNvPr>
          <p:cNvGrpSpPr/>
          <p:nvPr/>
        </p:nvGrpSpPr>
        <p:grpSpPr>
          <a:xfrm>
            <a:off x="7970102" y="3074366"/>
            <a:ext cx="445260" cy="465370"/>
            <a:chOff x="5656495" y="3332599"/>
            <a:chExt cx="445260" cy="465370"/>
          </a:xfrm>
        </p:grpSpPr>
        <p:sp>
          <p:nvSpPr>
            <p:cNvPr id="80" name="Ellipse 79">
              <a:extLst>
                <a:ext uri="{FF2B5EF4-FFF2-40B4-BE49-F238E27FC236}">
                  <a16:creationId xmlns:a16="http://schemas.microsoft.com/office/drawing/2014/main" id="{64213F3B-18C3-4E76-A5D9-FD533B2616B4}"/>
                </a:ext>
              </a:extLst>
            </p:cNvPr>
            <p:cNvSpPr/>
            <p:nvPr/>
          </p:nvSpPr>
          <p:spPr bwMode="auto">
            <a:xfrm>
              <a:off x="5759028" y="3332599"/>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1" name="Rechteck 80">
              <a:extLst>
                <a:ext uri="{FF2B5EF4-FFF2-40B4-BE49-F238E27FC236}">
                  <a16:creationId xmlns:a16="http://schemas.microsoft.com/office/drawing/2014/main" id="{80BE0ACD-A7D4-41D0-B9DA-00B32771A30C}"/>
                </a:ext>
              </a:extLst>
            </p:cNvPr>
            <p:cNvSpPr/>
            <p:nvPr/>
          </p:nvSpPr>
          <p:spPr bwMode="auto">
            <a:xfrm>
              <a:off x="5656495" y="3484565"/>
              <a:ext cx="445260" cy="313404"/>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3200" b="1">
                  <a:solidFill>
                    <a:schemeClr val="tx1"/>
                  </a:solidFill>
                  <a:latin typeface="+mn-lt"/>
                  <a:ea typeface="Arial Unicode MS" panose="020B0604020202020204" pitchFamily="34" charset="-128"/>
                  <a:cs typeface="Arial Unicode MS" panose="020B0604020202020204" pitchFamily="34" charset="-128"/>
                </a:rPr>
                <a:t>+</a:t>
              </a:r>
            </a:p>
          </p:txBody>
        </p:sp>
      </p:grpSp>
      <p:sp>
        <p:nvSpPr>
          <p:cNvPr id="82" name="Ellipse 81">
            <a:extLst>
              <a:ext uri="{FF2B5EF4-FFF2-40B4-BE49-F238E27FC236}">
                <a16:creationId xmlns:a16="http://schemas.microsoft.com/office/drawing/2014/main" id="{ADC4B5A9-D103-477D-A5E0-61B0BEA88490}"/>
              </a:ext>
            </a:extLst>
          </p:cNvPr>
          <p:cNvSpPr/>
          <p:nvPr/>
        </p:nvSpPr>
        <p:spPr bwMode="auto">
          <a:xfrm>
            <a:off x="9916671" y="2352661"/>
            <a:ext cx="1654617" cy="1646778"/>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83" name="Gruppieren 82">
            <a:extLst>
              <a:ext uri="{FF2B5EF4-FFF2-40B4-BE49-F238E27FC236}">
                <a16:creationId xmlns:a16="http://schemas.microsoft.com/office/drawing/2014/main" id="{6DD90AB9-85BD-40F5-A0F8-F8EC8C6782D7}"/>
              </a:ext>
            </a:extLst>
          </p:cNvPr>
          <p:cNvGrpSpPr/>
          <p:nvPr/>
        </p:nvGrpSpPr>
        <p:grpSpPr>
          <a:xfrm>
            <a:off x="10582047" y="2600983"/>
            <a:ext cx="322634" cy="371157"/>
            <a:chOff x="5649545" y="2548956"/>
            <a:chExt cx="322634" cy="371157"/>
          </a:xfrm>
        </p:grpSpPr>
        <p:sp>
          <p:nvSpPr>
            <p:cNvPr id="84" name="Ellipse 83">
              <a:extLst>
                <a:ext uri="{FF2B5EF4-FFF2-40B4-BE49-F238E27FC236}">
                  <a16:creationId xmlns:a16="http://schemas.microsoft.com/office/drawing/2014/main" id="{363B4182-8676-42B1-9AF9-96C73F817853}"/>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85" name="Gerade Verbindung mit Pfeil 84">
              <a:extLst>
                <a:ext uri="{FF2B5EF4-FFF2-40B4-BE49-F238E27FC236}">
                  <a16:creationId xmlns:a16="http://schemas.microsoft.com/office/drawing/2014/main" id="{748C2AC5-EB4D-4EB9-AF9B-FDC3199B9D07}"/>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89" name="Gruppieren 88">
            <a:extLst>
              <a:ext uri="{FF2B5EF4-FFF2-40B4-BE49-F238E27FC236}">
                <a16:creationId xmlns:a16="http://schemas.microsoft.com/office/drawing/2014/main" id="{45DAD2C5-CEE9-49E1-B0AD-26DA4B5A91F9}"/>
              </a:ext>
            </a:extLst>
          </p:cNvPr>
          <p:cNvGrpSpPr/>
          <p:nvPr/>
        </p:nvGrpSpPr>
        <p:grpSpPr>
          <a:xfrm>
            <a:off x="10995673" y="2859989"/>
            <a:ext cx="322634" cy="371157"/>
            <a:chOff x="5649545" y="2548956"/>
            <a:chExt cx="322634" cy="371157"/>
          </a:xfrm>
        </p:grpSpPr>
        <p:sp>
          <p:nvSpPr>
            <p:cNvPr id="90" name="Ellipse 89">
              <a:extLst>
                <a:ext uri="{FF2B5EF4-FFF2-40B4-BE49-F238E27FC236}">
                  <a16:creationId xmlns:a16="http://schemas.microsoft.com/office/drawing/2014/main" id="{2E10A935-9157-4A23-8C9F-E978485608BD}"/>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91" name="Gerade Verbindung mit Pfeil 90">
              <a:extLst>
                <a:ext uri="{FF2B5EF4-FFF2-40B4-BE49-F238E27FC236}">
                  <a16:creationId xmlns:a16="http://schemas.microsoft.com/office/drawing/2014/main" id="{E0767428-F8BF-43FA-AFCA-3C2E3BD3CF53}"/>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95" name="Gruppieren 94">
            <a:extLst>
              <a:ext uri="{FF2B5EF4-FFF2-40B4-BE49-F238E27FC236}">
                <a16:creationId xmlns:a16="http://schemas.microsoft.com/office/drawing/2014/main" id="{3954AC74-DB2D-4C48-B2F8-F11DD4873EC7}"/>
              </a:ext>
            </a:extLst>
          </p:cNvPr>
          <p:cNvGrpSpPr/>
          <p:nvPr/>
        </p:nvGrpSpPr>
        <p:grpSpPr>
          <a:xfrm>
            <a:off x="8460755" y="3287622"/>
            <a:ext cx="322634" cy="371157"/>
            <a:chOff x="5649545" y="2548956"/>
            <a:chExt cx="322634" cy="371157"/>
          </a:xfrm>
        </p:grpSpPr>
        <p:sp>
          <p:nvSpPr>
            <p:cNvPr id="96" name="Ellipse 95">
              <a:extLst>
                <a:ext uri="{FF2B5EF4-FFF2-40B4-BE49-F238E27FC236}">
                  <a16:creationId xmlns:a16="http://schemas.microsoft.com/office/drawing/2014/main" id="{9FDF4F9C-8AF5-4E74-A0FA-D11A12677E55}"/>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97" name="Gerade Verbindung mit Pfeil 96">
              <a:extLst>
                <a:ext uri="{FF2B5EF4-FFF2-40B4-BE49-F238E27FC236}">
                  <a16:creationId xmlns:a16="http://schemas.microsoft.com/office/drawing/2014/main" id="{7E78FD3F-E8A0-4F9A-9D97-9751E1A19B97}"/>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98" name="Gruppieren 97">
            <a:extLst>
              <a:ext uri="{FF2B5EF4-FFF2-40B4-BE49-F238E27FC236}">
                <a16:creationId xmlns:a16="http://schemas.microsoft.com/office/drawing/2014/main" id="{CAC577C1-3A69-4517-9DCE-DA468DF6F675}"/>
              </a:ext>
            </a:extLst>
          </p:cNvPr>
          <p:cNvGrpSpPr/>
          <p:nvPr/>
        </p:nvGrpSpPr>
        <p:grpSpPr>
          <a:xfrm>
            <a:off x="10141937" y="3066811"/>
            <a:ext cx="322634" cy="371157"/>
            <a:chOff x="5649545" y="2548956"/>
            <a:chExt cx="322634" cy="371157"/>
          </a:xfrm>
        </p:grpSpPr>
        <p:sp>
          <p:nvSpPr>
            <p:cNvPr id="99" name="Ellipse 98">
              <a:extLst>
                <a:ext uri="{FF2B5EF4-FFF2-40B4-BE49-F238E27FC236}">
                  <a16:creationId xmlns:a16="http://schemas.microsoft.com/office/drawing/2014/main" id="{29BFBBBB-9E46-4A99-8ACF-ED3A92DA8572}"/>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00" name="Gerade Verbindung mit Pfeil 99">
              <a:extLst>
                <a:ext uri="{FF2B5EF4-FFF2-40B4-BE49-F238E27FC236}">
                  <a16:creationId xmlns:a16="http://schemas.microsoft.com/office/drawing/2014/main" id="{5C86128B-2074-4048-AFB3-820B8D5BED6C}"/>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101" name="Gruppieren 100">
            <a:extLst>
              <a:ext uri="{FF2B5EF4-FFF2-40B4-BE49-F238E27FC236}">
                <a16:creationId xmlns:a16="http://schemas.microsoft.com/office/drawing/2014/main" id="{545398CF-0DDA-4FD1-8C49-0491695F95D0}"/>
              </a:ext>
            </a:extLst>
          </p:cNvPr>
          <p:cNvGrpSpPr/>
          <p:nvPr/>
        </p:nvGrpSpPr>
        <p:grpSpPr>
          <a:xfrm>
            <a:off x="10724187" y="3339167"/>
            <a:ext cx="322634" cy="371157"/>
            <a:chOff x="5649545" y="2548956"/>
            <a:chExt cx="322634" cy="371157"/>
          </a:xfrm>
        </p:grpSpPr>
        <p:sp>
          <p:nvSpPr>
            <p:cNvPr id="102" name="Ellipse 101">
              <a:extLst>
                <a:ext uri="{FF2B5EF4-FFF2-40B4-BE49-F238E27FC236}">
                  <a16:creationId xmlns:a16="http://schemas.microsoft.com/office/drawing/2014/main" id="{D2D312B4-E885-46D7-ADE5-BCAA3FF8B80B}"/>
                </a:ext>
              </a:extLst>
            </p:cNvPr>
            <p:cNvSpPr/>
            <p:nvPr/>
          </p:nvSpPr>
          <p:spPr bwMode="auto">
            <a:xfrm>
              <a:off x="5649545" y="2690062"/>
              <a:ext cx="235036" cy="230051"/>
            </a:xfrm>
            <a:prstGeom prst="ellipse">
              <a:avLst/>
            </a:prstGeom>
            <a:solidFill>
              <a:srgbClr val="00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03" name="Gerade Verbindung mit Pfeil 102">
              <a:extLst>
                <a:ext uri="{FF2B5EF4-FFF2-40B4-BE49-F238E27FC236}">
                  <a16:creationId xmlns:a16="http://schemas.microsoft.com/office/drawing/2014/main" id="{B73E643F-FA12-4FBF-A2B6-2107F056009B}"/>
                </a:ext>
              </a:extLst>
            </p:cNvPr>
            <p:cNvCxnSpPr/>
            <p:nvPr/>
          </p:nvCxnSpPr>
          <p:spPr bwMode="auto">
            <a:xfrm flipV="1">
              <a:off x="5791685" y="2548956"/>
              <a:ext cx="180494" cy="23085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mc:AlternateContent xmlns:mc="http://schemas.openxmlformats.org/markup-compatibility/2006" xmlns:a14="http://schemas.microsoft.com/office/drawing/2010/main">
        <mc:Choice Requires="a14">
          <p:sp>
            <p:nvSpPr>
              <p:cNvPr id="4" name="Rechteck 3">
                <a:extLst>
                  <a:ext uri="{FF2B5EF4-FFF2-40B4-BE49-F238E27FC236}">
                    <a16:creationId xmlns:a16="http://schemas.microsoft.com/office/drawing/2014/main" id="{0CCA0788-A766-495E-BD16-4CD46AAB3BC5}"/>
                  </a:ext>
                </a:extLst>
              </p:cNvPr>
              <p:cNvSpPr/>
              <p:nvPr/>
            </p:nvSpPr>
            <p:spPr>
              <a:xfrm>
                <a:off x="371600" y="3661332"/>
                <a:ext cx="4953792" cy="871457"/>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r>
                        <a:rPr lang="en-US"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𝐻</m:t>
                      </m:r>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d>
                        <m:dPr>
                          <m:ctrlP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𝑋</m:t>
                          </m:r>
                        </m:e>
                      </m:d>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𝐻</m:t>
                      </m:r>
                      <m:d>
                        <m:dPr>
                          <m:ctrlP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sub>
                          </m:sSub>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𝑛</m:t>
                              </m:r>
                            </m:sub>
                          </m:sSub>
                        </m:e>
                      </m:d>
                      <m:r>
                        <a:rPr lang="de-DE"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nary>
                        <m:naryPr>
                          <m:chr m:val="∑"/>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naryPr>
                        <m:sub>
                          <m:r>
                            <m:rPr>
                              <m:brk m:alnAt="23"/>
                            </m:r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sub>
                        <m:sup>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sup>
                        <m:e>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func>
                            <m:func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e>
                          </m:func>
                        </m:e>
                      </m:nary>
                    </m:oMath>
                  </m:oMathPara>
                </a14:m>
                <a:endParaRPr lang="de-DE"/>
              </a:p>
            </p:txBody>
          </p:sp>
        </mc:Choice>
        <mc:Fallback xmlns="">
          <p:sp>
            <p:nvSpPr>
              <p:cNvPr id="4" name="Rechteck 3">
                <a:extLst>
                  <a:ext uri="{FF2B5EF4-FFF2-40B4-BE49-F238E27FC236}">
                    <a16:creationId xmlns:a16="http://schemas.microsoft.com/office/drawing/2014/main" id="{0CCA0788-A766-495E-BD16-4CD46AAB3BC5}"/>
                  </a:ext>
                </a:extLst>
              </p:cNvPr>
              <p:cNvSpPr>
                <a:spLocks noRot="1" noChangeAspect="1" noMove="1" noResize="1" noEditPoints="1" noAdjustHandles="1" noChangeArrowheads="1" noChangeShapeType="1" noTextEdit="1"/>
              </p:cNvSpPr>
              <p:nvPr/>
            </p:nvSpPr>
            <p:spPr>
              <a:xfrm>
                <a:off x="371600" y="3661332"/>
                <a:ext cx="4953792" cy="871457"/>
              </a:xfrm>
              <a:prstGeom prst="rect">
                <a:avLst/>
              </a:prstGeom>
              <a:blipFill>
                <a:blip r:embed="rId6"/>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9207874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Loss Function: Entropy Measures Uncertainty of a Dataset</a:t>
            </a:r>
          </a:p>
        </p:txBody>
      </p:sp>
      <mc:AlternateContent xmlns:mc="http://schemas.openxmlformats.org/markup-compatibility/2006" xmlns:a14="http://schemas.microsoft.com/office/drawing/2010/main">
        <mc:Choice Requires="a14">
          <p:sp>
            <p:nvSpPr>
              <p:cNvPr id="73" name="Textfeld 72">
                <a:extLst>
                  <a:ext uri="{FF2B5EF4-FFF2-40B4-BE49-F238E27FC236}">
                    <a16:creationId xmlns:a16="http://schemas.microsoft.com/office/drawing/2014/main" id="{8486CCB1-A2CD-4B5D-96B3-BE39DB64E442}"/>
                  </a:ext>
                </a:extLst>
              </p:cNvPr>
              <p:cNvSpPr txBox="1"/>
              <p:nvPr/>
            </p:nvSpPr>
            <p:spPr>
              <a:xfrm>
                <a:off x="4876022" y="1418467"/>
                <a:ext cx="6839728" cy="1099861"/>
              </a:xfrm>
              <a:prstGeom prst="rect">
                <a:avLst/>
              </a:prstGeom>
              <a:noFill/>
            </p:spPr>
            <p:txBody>
              <a:bodyPr wrap="square" lIns="0" tIns="0" rIns="0" bIns="0" rtlCol="0">
                <a:no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Example: 3 datasets with 4 elements </a:t>
                </a: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func>
                        <m:func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60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sub>
                          </m:sSub>
                          <m:func>
                            <m:func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6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sub>
                              </m:sSub>
                            </m:e>
                          </m:func>
                        </m:e>
                      </m:func>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3" name="Textfeld 72">
                <a:extLst>
                  <a:ext uri="{FF2B5EF4-FFF2-40B4-BE49-F238E27FC236}">
                    <a16:creationId xmlns:a16="http://schemas.microsoft.com/office/drawing/2014/main" id="{8486CCB1-A2CD-4B5D-96B3-BE39DB64E442}"/>
                  </a:ext>
                </a:extLst>
              </p:cNvPr>
              <p:cNvSpPr txBox="1">
                <a:spLocks noRot="1" noChangeAspect="1" noMove="1" noResize="1" noEditPoints="1" noAdjustHandles="1" noChangeArrowheads="1" noChangeShapeType="1" noTextEdit="1"/>
              </p:cNvSpPr>
              <p:nvPr/>
            </p:nvSpPr>
            <p:spPr>
              <a:xfrm>
                <a:off x="4876022" y="1418467"/>
                <a:ext cx="6839728" cy="1099861"/>
              </a:xfrm>
              <a:prstGeom prst="rect">
                <a:avLst/>
              </a:prstGeom>
              <a:blipFill>
                <a:blip r:embed="rId3"/>
                <a:stretch>
                  <a:fillRect l="-1872" t="-5556"/>
                </a:stretch>
              </a:blipFill>
            </p:spPr>
            <p:txBody>
              <a:bodyPr/>
              <a:lstStyle/>
              <a:p>
                <a:r>
                  <a:rPr lang="en-US">
                    <a:noFill/>
                  </a:rPr>
                  <a:t> </a:t>
                </a:r>
              </a:p>
            </p:txBody>
          </p:sp>
        </mc:Fallback>
      </mc:AlternateContent>
      <p:grpSp>
        <p:nvGrpSpPr>
          <p:cNvPr id="56" name="Gruppieren 55">
            <a:extLst>
              <a:ext uri="{FF2B5EF4-FFF2-40B4-BE49-F238E27FC236}">
                <a16:creationId xmlns:a16="http://schemas.microsoft.com/office/drawing/2014/main" id="{6B6A73D8-7CD2-43CE-BBC1-6ADEB5A91B93}"/>
              </a:ext>
            </a:extLst>
          </p:cNvPr>
          <p:cNvGrpSpPr/>
          <p:nvPr/>
        </p:nvGrpSpPr>
        <p:grpSpPr>
          <a:xfrm>
            <a:off x="9992740" y="2567322"/>
            <a:ext cx="1654617" cy="1646778"/>
            <a:chOff x="1022611" y="1474185"/>
            <a:chExt cx="1774044" cy="1803895"/>
          </a:xfrm>
        </p:grpSpPr>
        <p:sp>
          <p:nvSpPr>
            <p:cNvPr id="50" name="Ellipse 49">
              <a:extLst>
                <a:ext uri="{FF2B5EF4-FFF2-40B4-BE49-F238E27FC236}">
                  <a16:creationId xmlns:a16="http://schemas.microsoft.com/office/drawing/2014/main" id="{DEE4A01E-65C8-4AA5-B438-3F16E744F386}"/>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1" name="Ellipse 50">
              <a:extLst>
                <a:ext uri="{FF2B5EF4-FFF2-40B4-BE49-F238E27FC236}">
                  <a16:creationId xmlns:a16="http://schemas.microsoft.com/office/drawing/2014/main" id="{A5AB845C-9D22-4531-B674-7BA9FB71141F}"/>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C7046FA1-B81F-45B6-A3A8-4C70F8CA4563}"/>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F850A011-6661-4833-AF93-0056C3EBEFBF}"/>
                </a:ext>
              </a:extLst>
            </p:cNvPr>
            <p:cNvSpPr/>
            <p:nvPr/>
          </p:nvSpPr>
          <p:spPr bwMode="auto">
            <a:xfrm>
              <a:off x="2267582" y="19344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7E0B033A-F38A-4D3A-BFC3-28BC1D847DD3}"/>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nvGrpSpPr>
          <p:cNvPr id="71" name="Gruppieren 70">
            <a:extLst>
              <a:ext uri="{FF2B5EF4-FFF2-40B4-BE49-F238E27FC236}">
                <a16:creationId xmlns:a16="http://schemas.microsoft.com/office/drawing/2014/main" id="{F2D7BF9A-44EC-4B9E-85D7-4529969D20C5}"/>
              </a:ext>
            </a:extLst>
          </p:cNvPr>
          <p:cNvGrpSpPr/>
          <p:nvPr/>
        </p:nvGrpSpPr>
        <p:grpSpPr>
          <a:xfrm>
            <a:off x="7522745" y="2518328"/>
            <a:ext cx="1654616" cy="1646778"/>
            <a:chOff x="3000432" y="1630711"/>
            <a:chExt cx="1774044" cy="1803895"/>
          </a:xfrm>
        </p:grpSpPr>
        <p:sp>
          <p:nvSpPr>
            <p:cNvPr id="52" name="Ellipse 51">
              <a:extLst>
                <a:ext uri="{FF2B5EF4-FFF2-40B4-BE49-F238E27FC236}">
                  <a16:creationId xmlns:a16="http://schemas.microsoft.com/office/drawing/2014/main" id="{9A53D71D-BC5D-46AC-9D2E-248E15BE23E1}"/>
                </a:ext>
              </a:extLst>
            </p:cNvPr>
            <p:cNvSpPr/>
            <p:nvPr/>
          </p:nvSpPr>
          <p:spPr bwMode="auto">
            <a:xfrm>
              <a:off x="4257133"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57" name="Gruppieren 56">
              <a:extLst>
                <a:ext uri="{FF2B5EF4-FFF2-40B4-BE49-F238E27FC236}">
                  <a16:creationId xmlns:a16="http://schemas.microsoft.com/office/drawing/2014/main" id="{E0886A2D-A641-4F50-B1DE-708332FC4DD9}"/>
                </a:ext>
              </a:extLst>
            </p:cNvPr>
            <p:cNvGrpSpPr/>
            <p:nvPr/>
          </p:nvGrpSpPr>
          <p:grpSpPr>
            <a:xfrm>
              <a:off x="3000432" y="1630711"/>
              <a:ext cx="1774044" cy="1803895"/>
              <a:chOff x="1022611" y="1474185"/>
              <a:chExt cx="1774044" cy="1803895"/>
            </a:xfrm>
          </p:grpSpPr>
          <p:sp>
            <p:nvSpPr>
              <p:cNvPr id="58" name="Ellipse 57">
                <a:extLst>
                  <a:ext uri="{FF2B5EF4-FFF2-40B4-BE49-F238E27FC236}">
                    <a16:creationId xmlns:a16="http://schemas.microsoft.com/office/drawing/2014/main" id="{C14D0DCB-AB54-44D9-ABB3-63C80DAE7890}"/>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1C6B96A0-C983-4FB4-9256-1A5F69E3536C}"/>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BF6CB057-5DB9-4DF0-8264-1028D64D82D4}"/>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D17ADD3D-80DD-471F-A104-CF8FBFD167EB}"/>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grpSp>
        <p:nvGrpSpPr>
          <p:cNvPr id="70" name="Gruppieren 69">
            <a:extLst>
              <a:ext uri="{FF2B5EF4-FFF2-40B4-BE49-F238E27FC236}">
                <a16:creationId xmlns:a16="http://schemas.microsoft.com/office/drawing/2014/main" id="{F57B8147-3259-4EA5-80AE-4EC61772F304}"/>
              </a:ext>
            </a:extLst>
          </p:cNvPr>
          <p:cNvGrpSpPr/>
          <p:nvPr/>
        </p:nvGrpSpPr>
        <p:grpSpPr>
          <a:xfrm>
            <a:off x="4915776" y="2567322"/>
            <a:ext cx="1654617" cy="1646778"/>
            <a:chOff x="5139516" y="1630711"/>
            <a:chExt cx="1774044" cy="1803895"/>
          </a:xfrm>
        </p:grpSpPr>
        <p:sp>
          <p:nvSpPr>
            <p:cNvPr id="63" name="Ellipse 62">
              <a:extLst>
                <a:ext uri="{FF2B5EF4-FFF2-40B4-BE49-F238E27FC236}">
                  <a16:creationId xmlns:a16="http://schemas.microsoft.com/office/drawing/2014/main" id="{F3794FFF-4F53-4E6E-A000-3B2DAF215EBF}"/>
                </a:ext>
              </a:extLst>
            </p:cNvPr>
            <p:cNvSpPr/>
            <p:nvPr/>
          </p:nvSpPr>
          <p:spPr bwMode="auto">
            <a:xfrm>
              <a:off x="6396217"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64" name="Gruppieren 63">
              <a:extLst>
                <a:ext uri="{FF2B5EF4-FFF2-40B4-BE49-F238E27FC236}">
                  <a16:creationId xmlns:a16="http://schemas.microsoft.com/office/drawing/2014/main" id="{87A5D258-5AFF-4705-92A6-246A5F8A3ED6}"/>
                </a:ext>
              </a:extLst>
            </p:cNvPr>
            <p:cNvGrpSpPr/>
            <p:nvPr/>
          </p:nvGrpSpPr>
          <p:grpSpPr>
            <a:xfrm>
              <a:off x="5139516" y="1630711"/>
              <a:ext cx="1774044" cy="1803895"/>
              <a:chOff x="1022611" y="1474185"/>
              <a:chExt cx="1774044" cy="1803895"/>
            </a:xfrm>
          </p:grpSpPr>
          <p:sp>
            <p:nvSpPr>
              <p:cNvPr id="65" name="Ellipse 64">
                <a:extLst>
                  <a:ext uri="{FF2B5EF4-FFF2-40B4-BE49-F238E27FC236}">
                    <a16:creationId xmlns:a16="http://schemas.microsoft.com/office/drawing/2014/main" id="{449DCF0C-199A-41FC-B930-BCB4AFC51C5C}"/>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3FE2DC8E-6540-471A-9ACB-BD9341279BAA}"/>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9" name="Ellipse 68">
              <a:extLst>
                <a:ext uri="{FF2B5EF4-FFF2-40B4-BE49-F238E27FC236}">
                  <a16:creationId xmlns:a16="http://schemas.microsoft.com/office/drawing/2014/main" id="{79604AE0-6EDB-4287-9961-9FB0DCC69BBA}"/>
                </a:ext>
              </a:extLst>
            </p:cNvPr>
            <p:cNvSpPr/>
            <p:nvPr/>
          </p:nvSpPr>
          <p:spPr bwMode="auto">
            <a:xfrm>
              <a:off x="5970303" y="2761135"/>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mc:AlternateContent xmlns:mc="http://schemas.openxmlformats.org/markup-compatibility/2006" xmlns:a14="http://schemas.microsoft.com/office/drawing/2010/main">
        <mc:Choice Requires="a14">
          <p:sp>
            <p:nvSpPr>
              <p:cNvPr id="26" name="Textfeld 25">
                <a:extLst>
                  <a:ext uri="{FF2B5EF4-FFF2-40B4-BE49-F238E27FC236}">
                    <a16:creationId xmlns:a16="http://schemas.microsoft.com/office/drawing/2014/main" id="{4EC97986-48B5-4BBC-A48B-BA2E4FAABF7C}"/>
                  </a:ext>
                </a:extLst>
              </p:cNvPr>
              <p:cNvSpPr txBox="1"/>
              <p:nvPr/>
            </p:nvSpPr>
            <p:spPr>
              <a:xfrm>
                <a:off x="627061" y="1439999"/>
                <a:ext cx="5367003" cy="5235279"/>
              </a:xfrm>
              <a:prstGeom prst="rect">
                <a:avLst/>
              </a:prstGeom>
              <a:noFill/>
            </p:spPr>
            <p:txBody>
              <a:bodyPr wrap="square" lIns="0" tIns="0" rIns="0" bIns="0" rtlCol="0">
                <a:spAutoFit/>
              </a:bodyPr>
              <a:lstStyle/>
              <a:p>
                <a:pPr>
                  <a:lnSpc>
                    <a:spcPct val="110000"/>
                  </a:lnSpc>
                  <a:spcBef>
                    <a:spcPts val="600"/>
                  </a:spcBef>
                  <a:spcAft>
                    <a:spcPts val="600"/>
                  </a:spcAft>
                </a:pPr>
                <a:r>
                  <a:rPr lang="en-US" b="1">
                    <a:solidFill>
                      <a:schemeClr val="tx1"/>
                    </a:solidFill>
                    <a:latin typeface="+mn-lt"/>
                    <a:ea typeface="Arial Unicode MS" panose="020B0604020202020204" pitchFamily="34" charset="-128"/>
                    <a:cs typeface="Arial Unicode MS" panose="020B0604020202020204" pitchFamily="34" charset="-128"/>
                  </a:rPr>
                  <a:t>How to calculate the uncertainty</a:t>
                </a:r>
                <a:br>
                  <a:rPr lang="en-US" b="1">
                    <a:solidFill>
                      <a:schemeClr val="tx1"/>
                    </a:solidFill>
                    <a:latin typeface="+mn-lt"/>
                    <a:ea typeface="Arial Unicode MS" panose="020B0604020202020204" pitchFamily="34" charset="-128"/>
                    <a:cs typeface="Arial Unicode MS" panose="020B0604020202020204" pitchFamily="34" charset="-128"/>
                  </a:rPr>
                </a:br>
                <a:r>
                  <a:rPr lang="en-US" b="1">
                    <a:solidFill>
                      <a:schemeClr val="tx1"/>
                    </a:solidFill>
                    <a:latin typeface="+mn-lt"/>
                    <a:ea typeface="Arial Unicode MS" panose="020B0604020202020204" pitchFamily="34" charset="-128"/>
                    <a:cs typeface="Arial Unicode MS" panose="020B0604020202020204" pitchFamily="34" charset="-128"/>
                  </a:rPr>
                  <a:t> of a dataset? </a:t>
                </a:r>
              </a:p>
              <a:p>
                <a:pPr marL="285750" indent="-285750">
                  <a:lnSpc>
                    <a:spcPct val="110000"/>
                  </a:lnSpc>
                  <a:spcBef>
                    <a:spcPts val="600"/>
                  </a:spcBef>
                  <a:spcAft>
                    <a:spcPts val="600"/>
                  </a:spcAft>
                  <a:buFont typeface="Arial" panose="020B0604020202020204" pitchFamily="34" charset="0"/>
                  <a:buChar char="•"/>
                </a:pPr>
                <a:r>
                  <a:rPr lang="en-US">
                    <a:solidFill>
                      <a:schemeClr val="tx1"/>
                    </a:solidFill>
                    <a:latin typeface="+mn-lt"/>
                    <a:ea typeface="Arial Unicode MS" panose="020B0604020202020204" pitchFamily="34" charset="-128"/>
                    <a:cs typeface="Arial Unicode MS" panose="020B0604020202020204" pitchFamily="34" charset="-128"/>
                  </a:rPr>
                  <a:t>Common method is the entropy </a:t>
                </a:r>
                <a:br>
                  <a:rPr lang="en-US">
                    <a:solidFill>
                      <a:schemeClr val="tx1"/>
                    </a:solidFill>
                    <a:latin typeface="+mn-lt"/>
                    <a:ea typeface="Arial Unicode MS" panose="020B0604020202020204" pitchFamily="34" charset="-128"/>
                    <a:cs typeface="Arial Unicode MS" panose="020B0604020202020204" pitchFamily="34" charset="-128"/>
                  </a:rPr>
                </a:br>
                <a:r>
                  <a:rPr lang="en-US">
                    <a:solidFill>
                      <a:schemeClr val="tx1"/>
                    </a:solidFill>
                    <a:latin typeface="+mn-lt"/>
                    <a:ea typeface="Arial Unicode MS" panose="020B0604020202020204" pitchFamily="34" charset="-128"/>
                    <a:cs typeface="Arial Unicode MS" panose="020B0604020202020204" pitchFamily="34" charset="-128"/>
                  </a:rPr>
                  <a:t>(measure of uncertainty):</a:t>
                </a:r>
              </a:p>
              <a:p>
                <a:pPr marL="285750" indent="-285750">
                  <a:lnSpc>
                    <a:spcPct val="110000"/>
                  </a:lnSpc>
                  <a:spcBef>
                    <a:spcPts val="600"/>
                  </a:spcBef>
                  <a:spcAft>
                    <a:spcPts val="600"/>
                  </a:spcAft>
                  <a:buFont typeface="Arial" panose="020B0604020202020204" pitchFamily="34" charset="0"/>
                  <a:buChar char="•"/>
                </a:pPr>
                <a:endParaRPr lang="en-US">
                  <a:solidFill>
                    <a:schemeClr val="tx1"/>
                  </a:solidFill>
                  <a:latin typeface="+mn-lt"/>
                  <a:ea typeface="Arial Unicode MS" panose="020B0604020202020204" pitchFamily="34" charset="-128"/>
                  <a:cs typeface="Arial Unicode MS" panose="020B0604020202020204" pitchFamily="34" charset="-128"/>
                </a:endParaRPr>
              </a:p>
              <a:p>
                <a:pPr marL="285750" indent="-285750">
                  <a:lnSpc>
                    <a:spcPct val="110000"/>
                  </a:lnSpc>
                  <a:spcBef>
                    <a:spcPts val="600"/>
                  </a:spcBef>
                  <a:spcAft>
                    <a:spcPts val="600"/>
                  </a:spcAft>
                  <a:buFont typeface="Arial" panose="020B0604020202020204" pitchFamily="34" charset="0"/>
                  <a:buChar char="•"/>
                </a:pPr>
                <a:r>
                  <a:rPr lang="en-US">
                    <a:solidFill>
                      <a:schemeClr val="tx1"/>
                    </a:solidFill>
                    <a:latin typeface="+mn-lt"/>
                    <a:ea typeface="Arial Unicode MS" panose="020B0604020202020204" pitchFamily="34" charset="-128"/>
                    <a:cs typeface="Arial Unicode MS" panose="020B0604020202020204" pitchFamily="34" charset="-128"/>
                  </a:rPr>
                  <a:t>Background:</a:t>
                </a:r>
              </a:p>
              <a:p>
                <a:pPr marL="171450" indent="-171450">
                  <a:lnSpc>
                    <a:spcPct val="110000"/>
                  </a:lnSpc>
                  <a:spcBef>
                    <a:spcPts val="0"/>
                  </a:spcBef>
                  <a:buFontTx/>
                  <a:buChar char="-"/>
                </a:pPr>
                <a:endParaRPr lang="de-DE" sz="1400">
                  <a:solidFill>
                    <a:schemeClr val="tx1"/>
                  </a:solidFill>
                  <a:ea typeface="Arial Unicode MS" panose="020B0604020202020204" pitchFamily="34" charset="-128"/>
                  <a:cs typeface="Arial Unicode MS" panose="020B0604020202020204" pitchFamily="34" charset="-128"/>
                </a:endParaRPr>
              </a:p>
              <a:p>
                <a:pPr marL="1085850" lvl="2" indent="-171450">
                  <a:lnSpc>
                    <a:spcPct val="110000"/>
                  </a:lnSpc>
                  <a:spcBef>
                    <a:spcPts val="0"/>
                  </a:spcBef>
                  <a:buFontTx/>
                  <a:buChar char="-"/>
                </a:pPr>
                <a:r>
                  <a:rPr lang="de-DE" sz="1200">
                    <a:solidFill>
                      <a:schemeClr val="tx1"/>
                    </a:solidFill>
                    <a:ea typeface="Arial Unicode MS" panose="020B0604020202020204" pitchFamily="34" charset="-128"/>
                    <a:cs typeface="Arial Unicode MS" panose="020B0604020202020204" pitchFamily="34" charset="-128"/>
                  </a:rPr>
                  <a:t>Event </a:t>
                </a:r>
                <a:r>
                  <a:rPr lang="en-US" sz="1200">
                    <a:solidFill>
                      <a:schemeClr val="tx1"/>
                    </a:solidFill>
                    <a:ea typeface="Arial Unicode MS" panose="020B0604020202020204" pitchFamily="34" charset="-128"/>
                    <a:cs typeface="Arial Unicode MS" panose="020B0604020202020204" pitchFamily="34" charset="-128"/>
                  </a:rPr>
                  <a:t>X with n possible outcomes and </a:t>
                </a:r>
                <a:br>
                  <a:rPr lang="en-US" sz="1200">
                    <a:solidFill>
                      <a:schemeClr val="tx1"/>
                    </a:solidFill>
                    <a:ea typeface="Arial Unicode MS" panose="020B0604020202020204" pitchFamily="34" charset="-128"/>
                    <a:cs typeface="Arial Unicode MS" panose="020B0604020202020204" pitchFamily="34" charset="-128"/>
                  </a:rPr>
                </a:br>
                <a:r>
                  <a:rPr lang="en-US" sz="1200">
                    <a:solidFill>
                      <a:schemeClr val="tx1"/>
                    </a:solidFill>
                    <a:ea typeface="Arial Unicode MS" panose="020B0604020202020204" pitchFamily="34" charset="-128"/>
                    <a:cs typeface="Arial Unicode MS" panose="020B0604020202020204" pitchFamily="34" charset="-128"/>
                  </a:rPr>
                  <a:t>probabilities </a:t>
                </a:r>
                <a14:m>
                  <m:oMath xmlns:m="http://schemas.openxmlformats.org/officeDocument/2006/math">
                    <m:sSub>
                      <m:sSubPr>
                        <m:ctrlP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200" i="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p</m:t>
                        </m:r>
                      </m:e>
                      <m:sub>
                        <m:r>
                          <m:rPr>
                            <m:sty m:val="p"/>
                          </m:rPr>
                          <a:rPr lang="en-US" sz="1200" i="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i</m:t>
                        </m:r>
                      </m:sub>
                    </m:sSub>
                  </m:oMath>
                </a14:m>
                <a:endParaRPr lang="en-US" sz="1200">
                  <a:solidFill>
                    <a:schemeClr val="tx1"/>
                  </a:solidFill>
                  <a:latin typeface="+mn-lt"/>
                  <a:ea typeface="Arial Unicode MS" panose="020B0604020202020204" pitchFamily="34" charset="-128"/>
                  <a:cs typeface="Arial Unicode MS" panose="020B0604020202020204" pitchFamily="34" charset="-128"/>
                </a:endParaRPr>
              </a:p>
              <a:p>
                <a:pPr lvl="3">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Entropy</m:t>
                      </m:r>
                      <m: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H</m:t>
                      </m:r>
                      <m: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d>
                        <m:dPr>
                          <m:ctrlP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X</m:t>
                          </m:r>
                        </m:e>
                      </m:d>
                      <m: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H</m:t>
                      </m:r>
                      <m:d>
                        <m:dPr>
                          <m:ctrlP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200" i="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p</m:t>
                              </m:r>
                            </m:e>
                            <m:sub>
                              <m: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sub>
                          </m:sSub>
                          <m: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200" i="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p</m:t>
                              </m:r>
                            </m:e>
                            <m:sub>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n</m:t>
                              </m:r>
                            </m:sub>
                          </m:sSub>
                        </m:e>
                      </m:d>
                      <m: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nary>
                        <m:naryPr>
                          <m:chr m:val="∑"/>
                          <m:ctrlP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naryPr>
                        <m:sub>
                          <m:r>
                            <m:rPr>
                              <m:sty m:val="p"/>
                              <m:brk m:alnAt="23"/>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i</m:t>
                          </m:r>
                          <m: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sub>
                        <m:sup>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N</m:t>
                          </m:r>
                        </m:sup>
                        <m:e>
                          <m:sSub>
                            <m:sSubPr>
                              <m:ctrlP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p</m:t>
                              </m:r>
                            </m:e>
                            <m:sub>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i</m:t>
                              </m:r>
                            </m:sub>
                          </m:sSub>
                          <m:func>
                            <m:funcPr>
                              <m:ctrlP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p</m:t>
                                  </m:r>
                                </m:e>
                                <m:sub>
                                  <m:r>
                                    <m:rPr>
                                      <m:sty m:val="p"/>
                                    </m:rPr>
                                    <a:rPr lang="en-US" sz="12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i</m:t>
                                  </m:r>
                                </m:sub>
                              </m:sSub>
                            </m:e>
                          </m:func>
                        </m:e>
                      </m:nary>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a:p>
                <a:pPr lvl="2">
                  <a:lnSpc>
                    <a:spcPct val="110000"/>
                  </a:lnSpc>
                  <a:spcBef>
                    <a:spcPts val="0"/>
                  </a:spcBef>
                </a:pPr>
                <a:r>
                  <a:rPr lang="en-US" sz="1200">
                    <a:solidFill>
                      <a:schemeClr val="tx1"/>
                    </a:solidFill>
                    <a:ea typeface="Arial Unicode MS" panose="020B0604020202020204" pitchFamily="34" charset="-128"/>
                    <a:cs typeface="Arial Unicode MS" panose="020B0604020202020204" pitchFamily="34" charset="-128"/>
                  </a:rPr>
                  <a:t>Formula fulfils 4 criteria:</a:t>
                </a:r>
              </a:p>
              <a:p>
                <a:pPr marL="1085850" lvl="2" indent="-171450">
                  <a:lnSpc>
                    <a:spcPct val="110000"/>
                  </a:lnSpc>
                  <a:spcBef>
                    <a:spcPts val="0"/>
                  </a:spcBef>
                  <a:buFontTx/>
                  <a:buChar char="-"/>
                </a:pPr>
                <a:r>
                  <a:rPr lang="en-US" sz="1200">
                    <a:solidFill>
                      <a:schemeClr val="tx1"/>
                    </a:solidFill>
                    <a:ea typeface="Arial Unicode MS" panose="020B0604020202020204" pitchFamily="34" charset="-128"/>
                    <a:cs typeface="Arial Unicode MS" panose="020B0604020202020204" pitchFamily="34" charset="-128"/>
                  </a:rPr>
                  <a:t>Uniform distributions have maximum uncertainty (same amount for each class)</a:t>
                </a:r>
              </a:p>
              <a:p>
                <a:pPr marL="1085850" lvl="2" indent="-171450">
                  <a:lnSpc>
                    <a:spcPct val="110000"/>
                  </a:lnSpc>
                  <a:spcBef>
                    <a:spcPts val="0"/>
                  </a:spcBef>
                  <a:buFontTx/>
                  <a:buChar char="-"/>
                </a:pPr>
                <a:r>
                  <a:rPr lang="en-US" sz="1200">
                    <a:solidFill>
                      <a:schemeClr val="tx1"/>
                    </a:solidFill>
                    <a:ea typeface="Arial Unicode MS" panose="020B0604020202020204" pitchFamily="34" charset="-128"/>
                    <a:cs typeface="Arial Unicode MS" panose="020B0604020202020204" pitchFamily="34" charset="-128"/>
                  </a:rPr>
                  <a:t>Uncertainty is additive for independent events</a:t>
                </a:r>
              </a:p>
              <a:p>
                <a:pPr marL="1085850" lvl="2" indent="-171450">
                  <a:lnSpc>
                    <a:spcPct val="110000"/>
                  </a:lnSpc>
                  <a:spcBef>
                    <a:spcPts val="0"/>
                  </a:spcBef>
                  <a:buFontTx/>
                  <a:buChar char="-"/>
                </a:pPr>
                <a:r>
                  <a:rPr lang="en-US" sz="1200">
                    <a:solidFill>
                      <a:schemeClr val="tx1"/>
                    </a:solidFill>
                    <a:ea typeface="Arial Unicode MS" panose="020B0604020202020204" pitchFamily="34" charset="-128"/>
                    <a:cs typeface="Arial Unicode MS" panose="020B0604020202020204" pitchFamily="34" charset="-128"/>
                  </a:rPr>
                  <a:t>Adding outcome with zero probability has no effect</a:t>
                </a:r>
              </a:p>
              <a:p>
                <a:pPr marL="1085850" lvl="2" indent="-171450">
                  <a:lnSpc>
                    <a:spcPct val="110000"/>
                  </a:lnSpc>
                  <a:spcBef>
                    <a:spcPts val="0"/>
                  </a:spcBef>
                  <a:buFontTx/>
                  <a:buChar char="-"/>
                </a:pPr>
                <a:r>
                  <a:rPr lang="en-US" sz="1200">
                    <a:solidFill>
                      <a:schemeClr val="tx1"/>
                    </a:solidFill>
                    <a:ea typeface="Arial Unicode MS" panose="020B0604020202020204" pitchFamily="34" charset="-128"/>
                    <a:cs typeface="Arial Unicode MS" panose="020B0604020202020204" pitchFamily="34" charset="-128"/>
                  </a:rPr>
                  <a:t>Continuous measure</a:t>
                </a:r>
              </a:p>
              <a:p>
                <a:pPr lvl="1">
                  <a:lnSpc>
                    <a:spcPct val="110000"/>
                  </a:lnSpc>
                  <a:spcBef>
                    <a:spcPts val="600"/>
                  </a:spcBef>
                  <a:spcAft>
                    <a:spcPts val="600"/>
                  </a:spcAft>
                </a:pPr>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6" name="Textfeld 25">
                <a:extLst>
                  <a:ext uri="{FF2B5EF4-FFF2-40B4-BE49-F238E27FC236}">
                    <a16:creationId xmlns:a16="http://schemas.microsoft.com/office/drawing/2014/main" id="{4EC97986-48B5-4BBC-A48B-BA2E4FAABF7C}"/>
                  </a:ext>
                </a:extLst>
              </p:cNvPr>
              <p:cNvSpPr txBox="1">
                <a:spLocks noRot="1" noChangeAspect="1" noMove="1" noResize="1" noEditPoints="1" noAdjustHandles="1" noChangeArrowheads="1" noChangeShapeType="1" noTextEdit="1"/>
              </p:cNvSpPr>
              <p:nvPr/>
            </p:nvSpPr>
            <p:spPr>
              <a:xfrm>
                <a:off x="627061" y="1439999"/>
                <a:ext cx="5367003" cy="5235279"/>
              </a:xfrm>
              <a:prstGeom prst="rect">
                <a:avLst/>
              </a:prstGeom>
              <a:blipFill>
                <a:blip r:embed="rId4"/>
                <a:stretch>
                  <a:fillRect l="-2727" t="-1397" r="-2045"/>
                </a:stretch>
              </a:blipFill>
            </p:spPr>
            <p:txBody>
              <a:bodyPr/>
              <a:lstStyle/>
              <a:p>
                <a:r>
                  <a:rPr lang="en-US">
                    <a:noFill/>
                  </a:rPr>
                  <a:t> </a:t>
                </a:r>
              </a:p>
            </p:txBody>
          </p:sp>
        </mc:Fallback>
      </mc:AlternateContent>
    </p:spTree>
    <p:extLst>
      <p:ext uri="{BB962C8B-B14F-4D97-AF65-F5344CB8AC3E}">
        <p14:creationId xmlns:p14="http://schemas.microsoft.com/office/powerpoint/2010/main" val="155500978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Loss Function: Entropy Measures Uncertainty of a Dataset</a:t>
            </a:r>
          </a:p>
        </p:txBody>
      </p:sp>
      <mc:AlternateContent xmlns:mc="http://schemas.openxmlformats.org/markup-compatibility/2006" xmlns:a14="http://schemas.microsoft.com/office/drawing/2010/main">
        <mc:Choice Requires="a14">
          <p:sp>
            <p:nvSpPr>
              <p:cNvPr id="73" name="Textfeld 72">
                <a:extLst>
                  <a:ext uri="{FF2B5EF4-FFF2-40B4-BE49-F238E27FC236}">
                    <a16:creationId xmlns:a16="http://schemas.microsoft.com/office/drawing/2014/main" id="{8486CCB1-A2CD-4B5D-96B3-BE39DB64E442}"/>
                  </a:ext>
                </a:extLst>
              </p:cNvPr>
              <p:cNvSpPr txBox="1"/>
              <p:nvPr/>
            </p:nvSpPr>
            <p:spPr>
              <a:xfrm>
                <a:off x="4876022" y="1418467"/>
                <a:ext cx="6839728" cy="1099861"/>
              </a:xfrm>
              <a:prstGeom prst="rect">
                <a:avLst/>
              </a:prstGeom>
              <a:noFill/>
            </p:spPr>
            <p:txBody>
              <a:bodyPr wrap="square" lIns="0" tIns="0" rIns="0" bIns="0" rtlCol="0">
                <a:no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Example: 3 datasets with 4 elements </a:t>
                </a: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func>
                        <m:func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60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sub>
                          </m:sSub>
                          <m:func>
                            <m:func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6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sub>
                              </m:sSub>
                            </m:e>
                          </m:func>
                        </m:e>
                      </m:func>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3" name="Textfeld 72">
                <a:extLst>
                  <a:ext uri="{FF2B5EF4-FFF2-40B4-BE49-F238E27FC236}">
                    <a16:creationId xmlns:a16="http://schemas.microsoft.com/office/drawing/2014/main" id="{8486CCB1-A2CD-4B5D-96B3-BE39DB64E442}"/>
                  </a:ext>
                </a:extLst>
              </p:cNvPr>
              <p:cNvSpPr txBox="1">
                <a:spLocks noRot="1" noChangeAspect="1" noMove="1" noResize="1" noEditPoints="1" noAdjustHandles="1" noChangeArrowheads="1" noChangeShapeType="1" noTextEdit="1"/>
              </p:cNvSpPr>
              <p:nvPr/>
            </p:nvSpPr>
            <p:spPr>
              <a:xfrm>
                <a:off x="4876022" y="1418467"/>
                <a:ext cx="6839728" cy="1099861"/>
              </a:xfrm>
              <a:prstGeom prst="rect">
                <a:avLst/>
              </a:prstGeom>
              <a:blipFill>
                <a:blip r:embed="rId3"/>
                <a:stretch>
                  <a:fillRect l="-1872" t="-5556"/>
                </a:stretch>
              </a:blipFill>
            </p:spPr>
            <p:txBody>
              <a:bodyPr/>
              <a:lstStyle/>
              <a:p>
                <a:r>
                  <a:rPr lang="en-US">
                    <a:noFill/>
                  </a:rPr>
                  <a:t> </a:t>
                </a:r>
              </a:p>
            </p:txBody>
          </p:sp>
        </mc:Fallback>
      </mc:AlternateContent>
      <p:grpSp>
        <p:nvGrpSpPr>
          <p:cNvPr id="3" name="Gruppieren 2">
            <a:extLst>
              <a:ext uri="{FF2B5EF4-FFF2-40B4-BE49-F238E27FC236}">
                <a16:creationId xmlns:a16="http://schemas.microsoft.com/office/drawing/2014/main" id="{A0E09E2B-65D3-457C-B63B-168C81B2BA7A}"/>
              </a:ext>
            </a:extLst>
          </p:cNvPr>
          <p:cNvGrpSpPr/>
          <p:nvPr/>
        </p:nvGrpSpPr>
        <p:grpSpPr>
          <a:xfrm>
            <a:off x="4984169" y="2251640"/>
            <a:ext cx="6731581" cy="1695772"/>
            <a:chOff x="6158094" y="2276849"/>
            <a:chExt cx="5773965" cy="1486051"/>
          </a:xfrm>
        </p:grpSpPr>
        <p:grpSp>
          <p:nvGrpSpPr>
            <p:cNvPr id="56" name="Gruppieren 55">
              <a:extLst>
                <a:ext uri="{FF2B5EF4-FFF2-40B4-BE49-F238E27FC236}">
                  <a16:creationId xmlns:a16="http://schemas.microsoft.com/office/drawing/2014/main" id="{6B6A73D8-7CD2-43CE-BBC1-6ADEB5A91B93}"/>
                </a:ext>
              </a:extLst>
            </p:cNvPr>
            <p:cNvGrpSpPr/>
            <p:nvPr/>
          </p:nvGrpSpPr>
          <p:grpSpPr>
            <a:xfrm>
              <a:off x="10512823" y="2319784"/>
              <a:ext cx="1419236" cy="1443116"/>
              <a:chOff x="1022611" y="1474185"/>
              <a:chExt cx="1774044" cy="1803895"/>
            </a:xfrm>
          </p:grpSpPr>
          <p:sp>
            <p:nvSpPr>
              <p:cNvPr id="50" name="Ellipse 49">
                <a:extLst>
                  <a:ext uri="{FF2B5EF4-FFF2-40B4-BE49-F238E27FC236}">
                    <a16:creationId xmlns:a16="http://schemas.microsoft.com/office/drawing/2014/main" id="{DEE4A01E-65C8-4AA5-B438-3F16E744F386}"/>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1" name="Ellipse 50">
                <a:extLst>
                  <a:ext uri="{FF2B5EF4-FFF2-40B4-BE49-F238E27FC236}">
                    <a16:creationId xmlns:a16="http://schemas.microsoft.com/office/drawing/2014/main" id="{A5AB845C-9D22-4531-B674-7BA9FB71141F}"/>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C7046FA1-B81F-45B6-A3A8-4C70F8CA4563}"/>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F850A011-6661-4833-AF93-0056C3EBEFBF}"/>
                  </a:ext>
                </a:extLst>
              </p:cNvPr>
              <p:cNvSpPr/>
              <p:nvPr/>
            </p:nvSpPr>
            <p:spPr bwMode="auto">
              <a:xfrm>
                <a:off x="2267582" y="19344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7E0B033A-F38A-4D3A-BFC3-28BC1D847DD3}"/>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nvGrpSpPr>
            <p:cNvPr id="71" name="Gruppieren 70">
              <a:extLst>
                <a:ext uri="{FF2B5EF4-FFF2-40B4-BE49-F238E27FC236}">
                  <a16:creationId xmlns:a16="http://schemas.microsoft.com/office/drawing/2014/main" id="{F2D7BF9A-44EC-4B9E-85D7-4529969D20C5}"/>
                </a:ext>
              </a:extLst>
            </p:cNvPr>
            <p:cNvGrpSpPr/>
            <p:nvPr/>
          </p:nvGrpSpPr>
          <p:grpSpPr>
            <a:xfrm>
              <a:off x="8394203" y="2276849"/>
              <a:ext cx="1419235" cy="1443116"/>
              <a:chOff x="3000432" y="1630711"/>
              <a:chExt cx="1774044" cy="1803895"/>
            </a:xfrm>
          </p:grpSpPr>
          <p:sp>
            <p:nvSpPr>
              <p:cNvPr id="52" name="Ellipse 51">
                <a:extLst>
                  <a:ext uri="{FF2B5EF4-FFF2-40B4-BE49-F238E27FC236}">
                    <a16:creationId xmlns:a16="http://schemas.microsoft.com/office/drawing/2014/main" id="{9A53D71D-BC5D-46AC-9D2E-248E15BE23E1}"/>
                  </a:ext>
                </a:extLst>
              </p:cNvPr>
              <p:cNvSpPr/>
              <p:nvPr/>
            </p:nvSpPr>
            <p:spPr bwMode="auto">
              <a:xfrm>
                <a:off x="4257133"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57" name="Gruppieren 56">
                <a:extLst>
                  <a:ext uri="{FF2B5EF4-FFF2-40B4-BE49-F238E27FC236}">
                    <a16:creationId xmlns:a16="http://schemas.microsoft.com/office/drawing/2014/main" id="{E0886A2D-A641-4F50-B1DE-708332FC4DD9}"/>
                  </a:ext>
                </a:extLst>
              </p:cNvPr>
              <p:cNvGrpSpPr/>
              <p:nvPr/>
            </p:nvGrpSpPr>
            <p:grpSpPr>
              <a:xfrm>
                <a:off x="3000432" y="1630711"/>
                <a:ext cx="1774044" cy="1803895"/>
                <a:chOff x="1022611" y="1474185"/>
                <a:chExt cx="1774044" cy="1803895"/>
              </a:xfrm>
            </p:grpSpPr>
            <p:sp>
              <p:nvSpPr>
                <p:cNvPr id="58" name="Ellipse 57">
                  <a:extLst>
                    <a:ext uri="{FF2B5EF4-FFF2-40B4-BE49-F238E27FC236}">
                      <a16:creationId xmlns:a16="http://schemas.microsoft.com/office/drawing/2014/main" id="{C14D0DCB-AB54-44D9-ABB3-63C80DAE7890}"/>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1C6B96A0-C983-4FB4-9256-1A5F69E3536C}"/>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BF6CB057-5DB9-4DF0-8264-1028D64D82D4}"/>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D17ADD3D-80DD-471F-A104-CF8FBFD167EB}"/>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grpSp>
          <p:nvGrpSpPr>
            <p:cNvPr id="70" name="Gruppieren 69">
              <a:extLst>
                <a:ext uri="{FF2B5EF4-FFF2-40B4-BE49-F238E27FC236}">
                  <a16:creationId xmlns:a16="http://schemas.microsoft.com/office/drawing/2014/main" id="{F57B8147-3259-4EA5-80AE-4EC61772F304}"/>
                </a:ext>
              </a:extLst>
            </p:cNvPr>
            <p:cNvGrpSpPr/>
            <p:nvPr/>
          </p:nvGrpSpPr>
          <p:grpSpPr>
            <a:xfrm>
              <a:off x="6158094" y="2319784"/>
              <a:ext cx="1419236" cy="1443116"/>
              <a:chOff x="5139516" y="1630711"/>
              <a:chExt cx="1774044" cy="1803895"/>
            </a:xfrm>
          </p:grpSpPr>
          <p:sp>
            <p:nvSpPr>
              <p:cNvPr id="63" name="Ellipse 62">
                <a:extLst>
                  <a:ext uri="{FF2B5EF4-FFF2-40B4-BE49-F238E27FC236}">
                    <a16:creationId xmlns:a16="http://schemas.microsoft.com/office/drawing/2014/main" id="{F3794FFF-4F53-4E6E-A000-3B2DAF215EBF}"/>
                  </a:ext>
                </a:extLst>
              </p:cNvPr>
              <p:cNvSpPr/>
              <p:nvPr/>
            </p:nvSpPr>
            <p:spPr bwMode="auto">
              <a:xfrm>
                <a:off x="6396217"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64" name="Gruppieren 63">
                <a:extLst>
                  <a:ext uri="{FF2B5EF4-FFF2-40B4-BE49-F238E27FC236}">
                    <a16:creationId xmlns:a16="http://schemas.microsoft.com/office/drawing/2014/main" id="{87A5D258-5AFF-4705-92A6-246A5F8A3ED6}"/>
                  </a:ext>
                </a:extLst>
              </p:cNvPr>
              <p:cNvGrpSpPr/>
              <p:nvPr/>
            </p:nvGrpSpPr>
            <p:grpSpPr>
              <a:xfrm>
                <a:off x="5139516" y="1630711"/>
                <a:ext cx="1774044" cy="1803895"/>
                <a:chOff x="1022611" y="1474185"/>
                <a:chExt cx="1774044" cy="1803895"/>
              </a:xfrm>
            </p:grpSpPr>
            <p:sp>
              <p:nvSpPr>
                <p:cNvPr id="65" name="Ellipse 64">
                  <a:extLst>
                    <a:ext uri="{FF2B5EF4-FFF2-40B4-BE49-F238E27FC236}">
                      <a16:creationId xmlns:a16="http://schemas.microsoft.com/office/drawing/2014/main" id="{449DCF0C-199A-41FC-B930-BCB4AFC51C5C}"/>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3FE2DC8E-6540-471A-9ACB-BD9341279BAA}"/>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9" name="Ellipse 68">
                <a:extLst>
                  <a:ext uri="{FF2B5EF4-FFF2-40B4-BE49-F238E27FC236}">
                    <a16:creationId xmlns:a16="http://schemas.microsoft.com/office/drawing/2014/main" id="{79604AE0-6EDB-4287-9961-9FB0DCC69BBA}"/>
                  </a:ext>
                </a:extLst>
              </p:cNvPr>
              <p:cNvSpPr/>
              <p:nvPr/>
            </p:nvSpPr>
            <p:spPr bwMode="auto">
              <a:xfrm>
                <a:off x="5970303" y="2761135"/>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mc:AlternateContent xmlns:mc="http://schemas.openxmlformats.org/markup-compatibility/2006" xmlns:a14="http://schemas.microsoft.com/office/drawing/2010/main">
        <mc:Choice Requires="a14">
          <p:sp>
            <p:nvSpPr>
              <p:cNvPr id="4" name="Textfeld 3">
                <a:extLst>
                  <a:ext uri="{FF2B5EF4-FFF2-40B4-BE49-F238E27FC236}">
                    <a16:creationId xmlns:a16="http://schemas.microsoft.com/office/drawing/2014/main" id="{96C549C9-C3FB-4125-9DCA-285089CA0B42}"/>
                  </a:ext>
                </a:extLst>
              </p:cNvPr>
              <p:cNvSpPr txBox="1"/>
              <p:nvPr/>
            </p:nvSpPr>
            <p:spPr>
              <a:xfrm>
                <a:off x="5614864"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𝑹𝒆𝒅</m:t>
                          </m:r>
                        </m:sub>
                      </m:s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𝟓𝟎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𝟓</m:t>
                      </m:r>
                    </m:oMath>
                  </m:oMathPara>
                </a14:m>
                <a:endParaRPr lang="en-US" sz="1400" b="1">
                  <a:solidFill>
                    <a:schemeClr val="tx1"/>
                  </a:solidFill>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𝑮𝒓𝒆𝒆𝒏</m:t>
                          </m:r>
                        </m:sub>
                      </m:s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𝟓𝟎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𝟓</m:t>
                      </m:r>
                    </m:oMath>
                  </m:oMathPara>
                </a14:m>
                <a:endPar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=−0.5 ∙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0.5</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−0.5∙</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0.5</m:t>
                          </m:r>
                        </m:e>
                      </m:func>
                    </m:oMath>
                  </m:oMathPara>
                </a14:m>
                <a:endParaRPr lang="en-US" sz="14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=−0.5 ∙</m:t>
                      </m:r>
                      <m:d>
                        <m:d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dPr>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−1</m:t>
                          </m:r>
                        </m:e>
                      </m:d>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−0.5∙</m:t>
                      </m:r>
                      <m:d>
                        <m:d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dPr>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−1</m:t>
                          </m:r>
                        </m:e>
                      </m:d>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=0.5+0.5</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 name="Textfeld 3">
                <a:extLst>
                  <a:ext uri="{FF2B5EF4-FFF2-40B4-BE49-F238E27FC236}">
                    <a16:creationId xmlns:a16="http://schemas.microsoft.com/office/drawing/2014/main" id="{96C549C9-C3FB-4125-9DCA-285089CA0B42}"/>
                  </a:ext>
                </a:extLst>
              </p:cNvPr>
              <p:cNvSpPr txBox="1">
                <a:spLocks noRot="1" noChangeAspect="1" noMove="1" noResize="1" noEditPoints="1" noAdjustHandles="1" noChangeArrowheads="1" noChangeShapeType="1" noTextEdit="1"/>
              </p:cNvSpPr>
              <p:nvPr/>
            </p:nvSpPr>
            <p:spPr>
              <a:xfrm>
                <a:off x="5614864" y="4252858"/>
                <a:ext cx="2794528" cy="914400"/>
              </a:xfrm>
              <a:prstGeom prst="rect">
                <a:avLst/>
              </a:prstGeom>
              <a:blipFill>
                <a:blip r:embed="rId4"/>
                <a:stretch>
                  <a:fillRect l="-3275" r="-17249" b="-10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feld 26">
                <a:extLst>
                  <a:ext uri="{FF2B5EF4-FFF2-40B4-BE49-F238E27FC236}">
                    <a16:creationId xmlns:a16="http://schemas.microsoft.com/office/drawing/2014/main" id="{04A67BBE-87EF-48E0-93D3-A8F385F4FCDA}"/>
                  </a:ext>
                </a:extLst>
              </p:cNvPr>
              <p:cNvSpPr txBox="1"/>
              <p:nvPr/>
            </p:nvSpPr>
            <p:spPr>
              <a:xfrm>
                <a:off x="627061" y="1439999"/>
                <a:ext cx="5367003" cy="3017621"/>
              </a:xfrm>
              <a:prstGeom prst="rect">
                <a:avLst/>
              </a:prstGeom>
              <a:noFill/>
            </p:spPr>
            <p:txBody>
              <a:bodyPr wrap="square" lIns="0" tIns="0" rIns="0" bIns="0" rtlCol="0">
                <a:spAutoFit/>
              </a:bodyPr>
              <a:lstStyle/>
              <a:p>
                <a:pPr>
                  <a:lnSpc>
                    <a:spcPct val="110000"/>
                  </a:lnSpc>
                  <a:spcBef>
                    <a:spcPts val="600"/>
                  </a:spcBef>
                  <a:spcAft>
                    <a:spcPts val="600"/>
                  </a:spcAft>
                </a:pPr>
                <a:r>
                  <a:rPr lang="en-US" b="1">
                    <a:solidFill>
                      <a:schemeClr val="tx1"/>
                    </a:solidFill>
                    <a:ea typeface="Arial Unicode MS" panose="020B0604020202020204" pitchFamily="34" charset="-128"/>
                    <a:cs typeface="Arial Unicode MS" panose="020B0604020202020204" pitchFamily="34" charset="-128"/>
                  </a:rPr>
                  <a:t>How to calculate the uncertainty</a:t>
                </a:r>
                <a:br>
                  <a:rPr lang="en-US" b="1">
                    <a:solidFill>
                      <a:schemeClr val="tx1"/>
                    </a:solidFill>
                    <a:ea typeface="Arial Unicode MS" panose="020B0604020202020204" pitchFamily="34" charset="-128"/>
                    <a:cs typeface="Arial Unicode MS" panose="020B0604020202020204" pitchFamily="34" charset="-128"/>
                  </a:rPr>
                </a:br>
                <a:r>
                  <a:rPr lang="en-US" b="1">
                    <a:solidFill>
                      <a:schemeClr val="tx1"/>
                    </a:solidFill>
                    <a:ea typeface="Arial Unicode MS" panose="020B0604020202020204" pitchFamily="34" charset="-128"/>
                    <a:cs typeface="Arial Unicode MS" panose="020B0604020202020204" pitchFamily="34" charset="-128"/>
                  </a:rPr>
                  <a:t> of a dataset? </a:t>
                </a:r>
              </a:p>
              <a:p>
                <a:pPr marL="285750" indent="-285750">
                  <a:lnSpc>
                    <a:spcPct val="110000"/>
                  </a:lnSpc>
                  <a:spcBef>
                    <a:spcPts val="600"/>
                  </a:spcBef>
                  <a:spcAft>
                    <a:spcPts val="600"/>
                  </a:spcAft>
                  <a:buFont typeface="Arial" panose="020B0604020202020204" pitchFamily="34" charset="0"/>
                  <a:buChar char="•"/>
                </a:pPr>
                <a:r>
                  <a:rPr lang="en-US">
                    <a:solidFill>
                      <a:schemeClr val="tx1"/>
                    </a:solidFill>
                    <a:latin typeface="+mn-lt"/>
                    <a:ea typeface="Arial Unicode MS" panose="020B0604020202020204" pitchFamily="34" charset="-128"/>
                    <a:cs typeface="Arial Unicode MS" panose="020B0604020202020204" pitchFamily="34" charset="-128"/>
                  </a:rPr>
                  <a:t>Common method is the entropy </a:t>
                </a:r>
                <a:br>
                  <a:rPr lang="en-US">
                    <a:solidFill>
                      <a:schemeClr val="tx1"/>
                    </a:solidFill>
                    <a:latin typeface="+mn-lt"/>
                    <a:ea typeface="Arial Unicode MS" panose="020B0604020202020204" pitchFamily="34" charset="-128"/>
                    <a:cs typeface="Arial Unicode MS" panose="020B0604020202020204" pitchFamily="34" charset="-128"/>
                  </a:rPr>
                </a:br>
                <a:r>
                  <a:rPr lang="en-US">
                    <a:solidFill>
                      <a:schemeClr val="tx1"/>
                    </a:solidFill>
                    <a:latin typeface="+mn-lt"/>
                    <a:ea typeface="Arial Unicode MS" panose="020B0604020202020204" pitchFamily="34" charset="-128"/>
                    <a:cs typeface="Arial Unicode MS" panose="020B0604020202020204" pitchFamily="34" charset="-128"/>
                  </a:rPr>
                  <a:t>(measure of uncertainty):</a:t>
                </a:r>
              </a:p>
              <a:p>
                <a:pPr marL="171450" indent="-171450">
                  <a:lnSpc>
                    <a:spcPct val="110000"/>
                  </a:lnSpc>
                  <a:spcBef>
                    <a:spcPts val="0"/>
                  </a:spcBef>
                  <a:buFontTx/>
                  <a:buChar char="-"/>
                </a:pPr>
                <a:endParaRPr lang="de-DE"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r>
                  <a:rPr lang="de-DE" sz="1400">
                    <a:solidFill>
                      <a:schemeClr val="tx1"/>
                    </a:solidFill>
                    <a:ea typeface="Arial Unicode MS" panose="020B0604020202020204" pitchFamily="34" charset="-128"/>
                    <a:cs typeface="Arial Unicode MS" panose="020B0604020202020204" pitchFamily="34" charset="-128"/>
                  </a:rPr>
                  <a:t>Event X </a:t>
                </a:r>
                <a:r>
                  <a:rPr lang="de-DE" sz="1400" err="1">
                    <a:solidFill>
                      <a:schemeClr val="tx1"/>
                    </a:solidFill>
                    <a:ea typeface="Arial Unicode MS" panose="020B0604020202020204" pitchFamily="34" charset="-128"/>
                    <a:cs typeface="Arial Unicode MS" panose="020B0604020202020204" pitchFamily="34" charset="-128"/>
                  </a:rPr>
                  <a:t>with</a:t>
                </a:r>
                <a:r>
                  <a:rPr lang="de-DE" sz="1400">
                    <a:solidFill>
                      <a:schemeClr val="tx1"/>
                    </a:solidFill>
                    <a:ea typeface="Arial Unicode MS" panose="020B0604020202020204" pitchFamily="34" charset="-128"/>
                    <a:cs typeface="Arial Unicode MS" panose="020B0604020202020204" pitchFamily="34" charset="-128"/>
                  </a:rPr>
                  <a:t> n possible </a:t>
                </a:r>
                <a:r>
                  <a:rPr lang="de-DE" sz="1400" err="1">
                    <a:solidFill>
                      <a:schemeClr val="tx1"/>
                    </a:solidFill>
                    <a:ea typeface="Arial Unicode MS" panose="020B0604020202020204" pitchFamily="34" charset="-128"/>
                    <a:cs typeface="Arial Unicode MS" panose="020B0604020202020204" pitchFamily="34" charset="-128"/>
                  </a:rPr>
                  <a:t>outcomes</a:t>
                </a:r>
                <a:r>
                  <a:rPr lang="de-DE" sz="1400">
                    <a:solidFill>
                      <a:schemeClr val="tx1"/>
                    </a:solidFill>
                    <a:ea typeface="Arial Unicode MS" panose="020B0604020202020204" pitchFamily="34" charset="-128"/>
                    <a:cs typeface="Arial Unicode MS" panose="020B0604020202020204" pitchFamily="34" charset="-128"/>
                  </a:rPr>
                  <a:t> and </a:t>
                </a:r>
                <a:br>
                  <a:rPr lang="de-DE" sz="1400">
                    <a:solidFill>
                      <a:schemeClr val="tx1"/>
                    </a:solidFill>
                    <a:ea typeface="Arial Unicode MS" panose="020B0604020202020204" pitchFamily="34" charset="-128"/>
                    <a:cs typeface="Arial Unicode MS" panose="020B0604020202020204" pitchFamily="34" charset="-128"/>
                  </a:rPr>
                </a:br>
                <a:r>
                  <a:rPr lang="de-DE" sz="1400" err="1">
                    <a:solidFill>
                      <a:schemeClr val="tx1"/>
                    </a:solidFill>
                    <a:ea typeface="Arial Unicode MS" panose="020B0604020202020204" pitchFamily="34" charset="-128"/>
                    <a:cs typeface="Arial Unicode MS" panose="020B0604020202020204" pitchFamily="34" charset="-128"/>
                  </a:rPr>
                  <a:t>probabilities</a:t>
                </a:r>
                <a:r>
                  <a:rPr lang="de-DE" sz="1400">
                    <a:solidFill>
                      <a:schemeClr val="tx1"/>
                    </a:solidFill>
                    <a:ea typeface="Arial Unicode MS" panose="020B0604020202020204" pitchFamily="34" charset="-128"/>
                    <a:cs typeface="Arial Unicode MS" panose="020B0604020202020204" pitchFamily="34" charset="-128"/>
                  </a:rPr>
                  <a:t> </a:t>
                </a:r>
                <a14:m>
                  <m:oMath xmlns:m="http://schemas.openxmlformats.org/officeDocument/2006/math">
                    <m:sSub>
                      <m:sSubPr>
                        <m:ctrlP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oMath>
                </a14:m>
                <a:br>
                  <a:rPr lang="en-US" b="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a:br>
                <a14:m>
                  <m:oMath xmlns:m="http://schemas.openxmlformats.org/officeDocument/2006/math">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𝐻</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d>
                      <m:d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𝑋</m:t>
                        </m:r>
                      </m:e>
                    </m:d>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𝐻</m:t>
                    </m:r>
                    <m:d>
                      <m:d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sub>
                        </m:s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𝑛</m:t>
                            </m:r>
                          </m:sub>
                        </m:sSub>
                      </m:e>
                    </m:d>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nary>
                      <m:naryPr>
                        <m:chr m:val="∑"/>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naryPr>
                      <m:sub>
                        <m:r>
                          <m:rPr>
                            <m:brk m:alnAt="23"/>
                          </m:r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sub>
                      <m:sup>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sup>
                      <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func>
                          <m:func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e>
                        </m:func>
                      </m:e>
                    </m:nary>
                  </m:oMath>
                </a14:m>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7" name="Textfeld 26">
                <a:extLst>
                  <a:ext uri="{FF2B5EF4-FFF2-40B4-BE49-F238E27FC236}">
                    <a16:creationId xmlns:a16="http://schemas.microsoft.com/office/drawing/2014/main" id="{04A67BBE-87EF-48E0-93D3-A8F385F4FCDA}"/>
                  </a:ext>
                </a:extLst>
              </p:cNvPr>
              <p:cNvSpPr txBox="1">
                <a:spLocks noRot="1" noChangeAspect="1" noMove="1" noResize="1" noEditPoints="1" noAdjustHandles="1" noChangeArrowheads="1" noChangeShapeType="1" noTextEdit="1"/>
              </p:cNvSpPr>
              <p:nvPr/>
            </p:nvSpPr>
            <p:spPr>
              <a:xfrm>
                <a:off x="627061" y="1439999"/>
                <a:ext cx="5367003" cy="3017621"/>
              </a:xfrm>
              <a:prstGeom prst="rect">
                <a:avLst/>
              </a:prstGeom>
              <a:blipFill>
                <a:blip r:embed="rId5"/>
                <a:stretch>
                  <a:fillRect l="-2727" t="-2424"/>
                </a:stretch>
              </a:blipFill>
            </p:spPr>
            <p:txBody>
              <a:bodyPr/>
              <a:lstStyle/>
              <a:p>
                <a:r>
                  <a:rPr lang="en-US">
                    <a:noFill/>
                  </a:rPr>
                  <a:t> </a:t>
                </a:r>
              </a:p>
            </p:txBody>
          </p:sp>
        </mc:Fallback>
      </mc:AlternateContent>
    </p:spTree>
    <p:extLst>
      <p:ext uri="{BB962C8B-B14F-4D97-AF65-F5344CB8AC3E}">
        <p14:creationId xmlns:p14="http://schemas.microsoft.com/office/powerpoint/2010/main" val="11125500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Loss Function: Entropy Measures Uncertainty of a Dataset</a:t>
            </a:r>
          </a:p>
        </p:txBody>
      </p:sp>
      <mc:AlternateContent xmlns:mc="http://schemas.openxmlformats.org/markup-compatibility/2006" xmlns:a14="http://schemas.microsoft.com/office/drawing/2010/main">
        <mc:Choice Requires="a14">
          <p:sp>
            <p:nvSpPr>
              <p:cNvPr id="72" name="Textfeld 71">
                <a:extLst>
                  <a:ext uri="{FF2B5EF4-FFF2-40B4-BE49-F238E27FC236}">
                    <a16:creationId xmlns:a16="http://schemas.microsoft.com/office/drawing/2014/main" id="{774CBE54-E081-4D85-80C0-DE53BD492273}"/>
                  </a:ext>
                </a:extLst>
              </p:cNvPr>
              <p:cNvSpPr txBox="1"/>
              <p:nvPr/>
            </p:nvSpPr>
            <p:spPr>
              <a:xfrm>
                <a:off x="627061" y="1439999"/>
                <a:ext cx="5367003" cy="4279505"/>
              </a:xfrm>
              <a:prstGeom prst="rect">
                <a:avLst/>
              </a:prstGeom>
              <a:noFill/>
            </p:spPr>
            <p:txBody>
              <a:bodyPr wrap="square" lIns="0" tIns="0" rIns="0" bIns="0" rtlCol="0">
                <a:spAutoFit/>
              </a:bodyPr>
              <a:lstStyle/>
              <a:p>
                <a:pPr>
                  <a:lnSpc>
                    <a:spcPct val="110000"/>
                  </a:lnSpc>
                  <a:spcBef>
                    <a:spcPts val="600"/>
                  </a:spcBef>
                  <a:spcAft>
                    <a:spcPts val="600"/>
                  </a:spcAft>
                </a:pPr>
                <a:r>
                  <a:rPr lang="en-US" b="1">
                    <a:solidFill>
                      <a:schemeClr val="tx1"/>
                    </a:solidFill>
                    <a:ea typeface="Arial Unicode MS" panose="020B0604020202020204" pitchFamily="34" charset="-128"/>
                    <a:cs typeface="Arial Unicode MS" panose="020B0604020202020204" pitchFamily="34" charset="-128"/>
                  </a:rPr>
                  <a:t>How to calculate the uncertainty</a:t>
                </a:r>
                <a:br>
                  <a:rPr lang="en-US" b="1">
                    <a:solidFill>
                      <a:schemeClr val="tx1"/>
                    </a:solidFill>
                    <a:ea typeface="Arial Unicode MS" panose="020B0604020202020204" pitchFamily="34" charset="-128"/>
                    <a:cs typeface="Arial Unicode MS" panose="020B0604020202020204" pitchFamily="34" charset="-128"/>
                  </a:rPr>
                </a:br>
                <a:r>
                  <a:rPr lang="en-US" b="1">
                    <a:solidFill>
                      <a:schemeClr val="tx1"/>
                    </a:solidFill>
                    <a:ea typeface="Arial Unicode MS" panose="020B0604020202020204" pitchFamily="34" charset="-128"/>
                    <a:cs typeface="Arial Unicode MS" panose="020B0604020202020204" pitchFamily="34" charset="-128"/>
                  </a:rPr>
                  <a:t> of a dataset? </a:t>
                </a:r>
              </a:p>
              <a:p>
                <a:pPr marL="285750" indent="-285750">
                  <a:lnSpc>
                    <a:spcPct val="110000"/>
                  </a:lnSpc>
                  <a:spcBef>
                    <a:spcPts val="600"/>
                  </a:spcBef>
                  <a:spcAft>
                    <a:spcPts val="600"/>
                  </a:spcAft>
                  <a:buFont typeface="Arial" panose="020B0604020202020204" pitchFamily="34" charset="0"/>
                  <a:buChar char="•"/>
                </a:pPr>
                <a:r>
                  <a:rPr lang="en-US">
                    <a:solidFill>
                      <a:schemeClr val="tx1"/>
                    </a:solidFill>
                    <a:latin typeface="+mn-lt"/>
                    <a:ea typeface="Arial Unicode MS" panose="020B0604020202020204" pitchFamily="34" charset="-128"/>
                    <a:cs typeface="Arial Unicode MS" panose="020B0604020202020204" pitchFamily="34" charset="-128"/>
                  </a:rPr>
                  <a:t>Common method is the entropy </a:t>
                </a:r>
                <a:br>
                  <a:rPr lang="en-US">
                    <a:solidFill>
                      <a:schemeClr val="tx1"/>
                    </a:solidFill>
                    <a:latin typeface="+mn-lt"/>
                    <a:ea typeface="Arial Unicode MS" panose="020B0604020202020204" pitchFamily="34" charset="-128"/>
                    <a:cs typeface="Arial Unicode MS" panose="020B0604020202020204" pitchFamily="34" charset="-128"/>
                  </a:rPr>
                </a:br>
                <a:r>
                  <a:rPr lang="en-US">
                    <a:solidFill>
                      <a:schemeClr val="tx1"/>
                    </a:solidFill>
                    <a:latin typeface="+mn-lt"/>
                    <a:ea typeface="Arial Unicode MS" panose="020B0604020202020204" pitchFamily="34" charset="-128"/>
                    <a:cs typeface="Arial Unicode MS" panose="020B0604020202020204" pitchFamily="34" charset="-128"/>
                  </a:rPr>
                  <a:t>(measure of uncertainty):</a:t>
                </a:r>
              </a:p>
              <a:p>
                <a:pPr marL="171450" indent="-171450">
                  <a:lnSpc>
                    <a:spcPct val="110000"/>
                  </a:lnSpc>
                  <a:spcBef>
                    <a:spcPts val="0"/>
                  </a:spcBef>
                  <a:buFontTx/>
                  <a:buChar char="-"/>
                </a:pPr>
                <a:endParaRPr lang="de-DE"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r>
                  <a:rPr lang="de-DE" sz="1400">
                    <a:solidFill>
                      <a:schemeClr val="tx1"/>
                    </a:solidFill>
                    <a:ea typeface="Arial Unicode MS" panose="020B0604020202020204" pitchFamily="34" charset="-128"/>
                    <a:cs typeface="Arial Unicode MS" panose="020B0604020202020204" pitchFamily="34" charset="-128"/>
                  </a:rPr>
                  <a:t>Event X </a:t>
                </a:r>
                <a:r>
                  <a:rPr lang="de-DE" sz="1400" err="1">
                    <a:solidFill>
                      <a:schemeClr val="tx1"/>
                    </a:solidFill>
                    <a:ea typeface="Arial Unicode MS" panose="020B0604020202020204" pitchFamily="34" charset="-128"/>
                    <a:cs typeface="Arial Unicode MS" panose="020B0604020202020204" pitchFamily="34" charset="-128"/>
                  </a:rPr>
                  <a:t>with</a:t>
                </a:r>
                <a:r>
                  <a:rPr lang="de-DE" sz="1400">
                    <a:solidFill>
                      <a:schemeClr val="tx1"/>
                    </a:solidFill>
                    <a:ea typeface="Arial Unicode MS" panose="020B0604020202020204" pitchFamily="34" charset="-128"/>
                    <a:cs typeface="Arial Unicode MS" panose="020B0604020202020204" pitchFamily="34" charset="-128"/>
                  </a:rPr>
                  <a:t> n possible </a:t>
                </a:r>
                <a:r>
                  <a:rPr lang="de-DE" sz="1400" err="1">
                    <a:solidFill>
                      <a:schemeClr val="tx1"/>
                    </a:solidFill>
                    <a:ea typeface="Arial Unicode MS" panose="020B0604020202020204" pitchFamily="34" charset="-128"/>
                    <a:cs typeface="Arial Unicode MS" panose="020B0604020202020204" pitchFamily="34" charset="-128"/>
                  </a:rPr>
                  <a:t>outcomes</a:t>
                </a:r>
                <a:r>
                  <a:rPr lang="de-DE" sz="1400">
                    <a:solidFill>
                      <a:schemeClr val="tx1"/>
                    </a:solidFill>
                    <a:ea typeface="Arial Unicode MS" panose="020B0604020202020204" pitchFamily="34" charset="-128"/>
                    <a:cs typeface="Arial Unicode MS" panose="020B0604020202020204" pitchFamily="34" charset="-128"/>
                  </a:rPr>
                  <a:t> </a:t>
                </a:r>
                <a:r>
                  <a:rPr lang="de-DE" sz="1400" err="1">
                    <a:solidFill>
                      <a:schemeClr val="tx1"/>
                    </a:solidFill>
                    <a:ea typeface="Arial Unicode MS" panose="020B0604020202020204" pitchFamily="34" charset="-128"/>
                    <a:cs typeface="Arial Unicode MS" panose="020B0604020202020204" pitchFamily="34" charset="-128"/>
                  </a:rPr>
                  <a:t>with</a:t>
                </a:r>
                <a:r>
                  <a:rPr lang="de-DE" sz="1400">
                    <a:solidFill>
                      <a:schemeClr val="tx1"/>
                    </a:solidFill>
                    <a:ea typeface="Arial Unicode MS" panose="020B0604020202020204" pitchFamily="34" charset="-128"/>
                    <a:cs typeface="Arial Unicode MS" panose="020B0604020202020204" pitchFamily="34" charset="-128"/>
                  </a:rPr>
                  <a:t> </a:t>
                </a:r>
                <a:br>
                  <a:rPr lang="de-DE" sz="1400">
                    <a:solidFill>
                      <a:schemeClr val="tx1"/>
                    </a:solidFill>
                    <a:ea typeface="Arial Unicode MS" panose="020B0604020202020204" pitchFamily="34" charset="-128"/>
                    <a:cs typeface="Arial Unicode MS" panose="020B0604020202020204" pitchFamily="34" charset="-128"/>
                  </a:rPr>
                </a:br>
                <a:r>
                  <a:rPr lang="de-DE" sz="1400" err="1">
                    <a:solidFill>
                      <a:schemeClr val="tx1"/>
                    </a:solidFill>
                    <a:ea typeface="Arial Unicode MS" panose="020B0604020202020204" pitchFamily="34" charset="-128"/>
                    <a:cs typeface="Arial Unicode MS" panose="020B0604020202020204" pitchFamily="34" charset="-128"/>
                  </a:rPr>
                  <a:t>probabilities</a:t>
                </a:r>
                <a:r>
                  <a:rPr lang="de-DE" sz="1400">
                    <a:solidFill>
                      <a:schemeClr val="tx1"/>
                    </a:solidFill>
                    <a:ea typeface="Arial Unicode MS" panose="020B0604020202020204" pitchFamily="34" charset="-128"/>
                    <a:cs typeface="Arial Unicode MS" panose="020B0604020202020204" pitchFamily="34" charset="-128"/>
                  </a:rPr>
                  <a:t> </a:t>
                </a:r>
                <a14:m>
                  <m:oMath xmlns:m="http://schemas.openxmlformats.org/officeDocument/2006/math">
                    <m:sSub>
                      <m:sSubPr>
                        <m:ctrlP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r>
                      <a:rPr lang="de-DE"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oMath>
                </a14:m>
                <a:r>
                  <a:rPr lang="en-US" sz="1400">
                    <a:solidFill>
                      <a:schemeClr val="tx1"/>
                    </a:solidFill>
                    <a:ea typeface="Arial Unicode MS" panose="020B0604020202020204" pitchFamily="34" charset="-128"/>
                    <a:cs typeface="Arial Unicode MS" panose="020B0604020202020204" pitchFamily="34" charset="-128"/>
                  </a:rPr>
                  <a:t>, N classes</a:t>
                </a: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lvl="1">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𝐻</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d>
                        <m:d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𝑋</m:t>
                          </m:r>
                        </m:e>
                      </m:d>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𝐻</m:t>
                      </m:r>
                      <m:d>
                        <m:d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sub>
                          </m:s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𝑛</m:t>
                              </m:r>
                            </m:sub>
                          </m:sSub>
                        </m:e>
                      </m:d>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nary>
                        <m:naryPr>
                          <m:chr m:val="∑"/>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naryPr>
                        <m:sub>
                          <m:r>
                            <m:rPr>
                              <m:brk m:alnAt="23"/>
                            </m:r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sub>
                        <m:sup>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sup>
                        <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func>
                            <m:func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e>
                          </m:func>
                        </m:e>
                      </m:nary>
                    </m:oMath>
                  </m:oMathPara>
                </a14:m>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2" name="Textfeld 71">
                <a:extLst>
                  <a:ext uri="{FF2B5EF4-FFF2-40B4-BE49-F238E27FC236}">
                    <a16:creationId xmlns:a16="http://schemas.microsoft.com/office/drawing/2014/main" id="{774CBE54-E081-4D85-80C0-DE53BD492273}"/>
                  </a:ext>
                </a:extLst>
              </p:cNvPr>
              <p:cNvSpPr txBox="1">
                <a:spLocks noRot="1" noChangeAspect="1" noMove="1" noResize="1" noEditPoints="1" noAdjustHandles="1" noChangeArrowheads="1" noChangeShapeType="1" noTextEdit="1"/>
              </p:cNvSpPr>
              <p:nvPr/>
            </p:nvSpPr>
            <p:spPr>
              <a:xfrm>
                <a:off x="627061" y="1439999"/>
                <a:ext cx="5367003" cy="4279505"/>
              </a:xfrm>
              <a:prstGeom prst="rect">
                <a:avLst/>
              </a:prstGeom>
              <a:blipFill>
                <a:blip r:embed="rId3"/>
                <a:stretch>
                  <a:fillRect l="-2727" t="-1709"/>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3" name="Textfeld 72">
                <a:extLst>
                  <a:ext uri="{FF2B5EF4-FFF2-40B4-BE49-F238E27FC236}">
                    <a16:creationId xmlns:a16="http://schemas.microsoft.com/office/drawing/2014/main" id="{8486CCB1-A2CD-4B5D-96B3-BE39DB64E442}"/>
                  </a:ext>
                </a:extLst>
              </p:cNvPr>
              <p:cNvSpPr txBox="1"/>
              <p:nvPr/>
            </p:nvSpPr>
            <p:spPr>
              <a:xfrm>
                <a:off x="4876022" y="1418467"/>
                <a:ext cx="6839728" cy="1099861"/>
              </a:xfrm>
              <a:prstGeom prst="rect">
                <a:avLst/>
              </a:prstGeom>
              <a:noFill/>
            </p:spPr>
            <p:txBody>
              <a:bodyPr wrap="square" lIns="0" tIns="0" rIns="0" bIns="0" rtlCol="0">
                <a:no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Example: 3 datasets with 4 elements </a:t>
                </a: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func>
                        <m:func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60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sub>
                          </m:sSub>
                          <m:func>
                            <m:func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6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sub>
                              </m:sSub>
                            </m:e>
                          </m:func>
                        </m:e>
                      </m:func>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3" name="Textfeld 72">
                <a:extLst>
                  <a:ext uri="{FF2B5EF4-FFF2-40B4-BE49-F238E27FC236}">
                    <a16:creationId xmlns:a16="http://schemas.microsoft.com/office/drawing/2014/main" id="{8486CCB1-A2CD-4B5D-96B3-BE39DB64E442}"/>
                  </a:ext>
                </a:extLst>
              </p:cNvPr>
              <p:cNvSpPr txBox="1">
                <a:spLocks noRot="1" noChangeAspect="1" noMove="1" noResize="1" noEditPoints="1" noAdjustHandles="1" noChangeArrowheads="1" noChangeShapeType="1" noTextEdit="1"/>
              </p:cNvSpPr>
              <p:nvPr/>
            </p:nvSpPr>
            <p:spPr>
              <a:xfrm>
                <a:off x="4876022" y="1418467"/>
                <a:ext cx="6839728" cy="1099861"/>
              </a:xfrm>
              <a:prstGeom prst="rect">
                <a:avLst/>
              </a:prstGeom>
              <a:blipFill>
                <a:blip r:embed="rId4"/>
                <a:stretch>
                  <a:fillRect l="-1872" t="-5556"/>
                </a:stretch>
              </a:blipFill>
            </p:spPr>
            <p:txBody>
              <a:bodyPr/>
              <a:lstStyle/>
              <a:p>
                <a:r>
                  <a:rPr lang="en-US">
                    <a:noFill/>
                  </a:rPr>
                  <a:t> </a:t>
                </a:r>
              </a:p>
            </p:txBody>
          </p:sp>
        </mc:Fallback>
      </mc:AlternateContent>
      <p:grpSp>
        <p:nvGrpSpPr>
          <p:cNvPr id="3" name="Gruppieren 2">
            <a:extLst>
              <a:ext uri="{FF2B5EF4-FFF2-40B4-BE49-F238E27FC236}">
                <a16:creationId xmlns:a16="http://schemas.microsoft.com/office/drawing/2014/main" id="{A0E09E2B-65D3-457C-B63B-168C81B2BA7A}"/>
              </a:ext>
            </a:extLst>
          </p:cNvPr>
          <p:cNvGrpSpPr/>
          <p:nvPr/>
        </p:nvGrpSpPr>
        <p:grpSpPr>
          <a:xfrm>
            <a:off x="4984169" y="2251640"/>
            <a:ext cx="6731581" cy="1695772"/>
            <a:chOff x="6158094" y="2276849"/>
            <a:chExt cx="5773965" cy="1486051"/>
          </a:xfrm>
        </p:grpSpPr>
        <p:grpSp>
          <p:nvGrpSpPr>
            <p:cNvPr id="56" name="Gruppieren 55">
              <a:extLst>
                <a:ext uri="{FF2B5EF4-FFF2-40B4-BE49-F238E27FC236}">
                  <a16:creationId xmlns:a16="http://schemas.microsoft.com/office/drawing/2014/main" id="{6B6A73D8-7CD2-43CE-BBC1-6ADEB5A91B93}"/>
                </a:ext>
              </a:extLst>
            </p:cNvPr>
            <p:cNvGrpSpPr/>
            <p:nvPr/>
          </p:nvGrpSpPr>
          <p:grpSpPr>
            <a:xfrm>
              <a:off x="10512823" y="2319784"/>
              <a:ext cx="1419236" cy="1443116"/>
              <a:chOff x="1022611" y="1474185"/>
              <a:chExt cx="1774044" cy="1803895"/>
            </a:xfrm>
          </p:grpSpPr>
          <p:sp>
            <p:nvSpPr>
              <p:cNvPr id="50" name="Ellipse 49">
                <a:extLst>
                  <a:ext uri="{FF2B5EF4-FFF2-40B4-BE49-F238E27FC236}">
                    <a16:creationId xmlns:a16="http://schemas.microsoft.com/office/drawing/2014/main" id="{DEE4A01E-65C8-4AA5-B438-3F16E744F386}"/>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1" name="Ellipse 50">
                <a:extLst>
                  <a:ext uri="{FF2B5EF4-FFF2-40B4-BE49-F238E27FC236}">
                    <a16:creationId xmlns:a16="http://schemas.microsoft.com/office/drawing/2014/main" id="{A5AB845C-9D22-4531-B674-7BA9FB71141F}"/>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C7046FA1-B81F-45B6-A3A8-4C70F8CA4563}"/>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F850A011-6661-4833-AF93-0056C3EBEFBF}"/>
                  </a:ext>
                </a:extLst>
              </p:cNvPr>
              <p:cNvSpPr/>
              <p:nvPr/>
            </p:nvSpPr>
            <p:spPr bwMode="auto">
              <a:xfrm>
                <a:off x="2267582" y="19344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7E0B033A-F38A-4D3A-BFC3-28BC1D847DD3}"/>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nvGrpSpPr>
            <p:cNvPr id="71" name="Gruppieren 70">
              <a:extLst>
                <a:ext uri="{FF2B5EF4-FFF2-40B4-BE49-F238E27FC236}">
                  <a16:creationId xmlns:a16="http://schemas.microsoft.com/office/drawing/2014/main" id="{F2D7BF9A-44EC-4B9E-85D7-4529969D20C5}"/>
                </a:ext>
              </a:extLst>
            </p:cNvPr>
            <p:cNvGrpSpPr/>
            <p:nvPr/>
          </p:nvGrpSpPr>
          <p:grpSpPr>
            <a:xfrm>
              <a:off x="8394203" y="2276849"/>
              <a:ext cx="1419235" cy="1443116"/>
              <a:chOff x="3000432" y="1630711"/>
              <a:chExt cx="1774044" cy="1803895"/>
            </a:xfrm>
          </p:grpSpPr>
          <p:sp>
            <p:nvSpPr>
              <p:cNvPr id="52" name="Ellipse 51">
                <a:extLst>
                  <a:ext uri="{FF2B5EF4-FFF2-40B4-BE49-F238E27FC236}">
                    <a16:creationId xmlns:a16="http://schemas.microsoft.com/office/drawing/2014/main" id="{9A53D71D-BC5D-46AC-9D2E-248E15BE23E1}"/>
                  </a:ext>
                </a:extLst>
              </p:cNvPr>
              <p:cNvSpPr/>
              <p:nvPr/>
            </p:nvSpPr>
            <p:spPr bwMode="auto">
              <a:xfrm>
                <a:off x="4257133"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57" name="Gruppieren 56">
                <a:extLst>
                  <a:ext uri="{FF2B5EF4-FFF2-40B4-BE49-F238E27FC236}">
                    <a16:creationId xmlns:a16="http://schemas.microsoft.com/office/drawing/2014/main" id="{E0886A2D-A641-4F50-B1DE-708332FC4DD9}"/>
                  </a:ext>
                </a:extLst>
              </p:cNvPr>
              <p:cNvGrpSpPr/>
              <p:nvPr/>
            </p:nvGrpSpPr>
            <p:grpSpPr>
              <a:xfrm>
                <a:off x="3000432" y="1630711"/>
                <a:ext cx="1774044" cy="1803895"/>
                <a:chOff x="1022611" y="1474185"/>
                <a:chExt cx="1774044" cy="1803895"/>
              </a:xfrm>
            </p:grpSpPr>
            <p:sp>
              <p:nvSpPr>
                <p:cNvPr id="58" name="Ellipse 57">
                  <a:extLst>
                    <a:ext uri="{FF2B5EF4-FFF2-40B4-BE49-F238E27FC236}">
                      <a16:creationId xmlns:a16="http://schemas.microsoft.com/office/drawing/2014/main" id="{C14D0DCB-AB54-44D9-ABB3-63C80DAE7890}"/>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1C6B96A0-C983-4FB4-9256-1A5F69E3536C}"/>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BF6CB057-5DB9-4DF0-8264-1028D64D82D4}"/>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D17ADD3D-80DD-471F-A104-CF8FBFD167EB}"/>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grpSp>
          <p:nvGrpSpPr>
            <p:cNvPr id="70" name="Gruppieren 69">
              <a:extLst>
                <a:ext uri="{FF2B5EF4-FFF2-40B4-BE49-F238E27FC236}">
                  <a16:creationId xmlns:a16="http://schemas.microsoft.com/office/drawing/2014/main" id="{F57B8147-3259-4EA5-80AE-4EC61772F304}"/>
                </a:ext>
              </a:extLst>
            </p:cNvPr>
            <p:cNvGrpSpPr/>
            <p:nvPr/>
          </p:nvGrpSpPr>
          <p:grpSpPr>
            <a:xfrm>
              <a:off x="6158094" y="2319784"/>
              <a:ext cx="1419236" cy="1443116"/>
              <a:chOff x="5139516" y="1630711"/>
              <a:chExt cx="1774044" cy="1803895"/>
            </a:xfrm>
          </p:grpSpPr>
          <p:sp>
            <p:nvSpPr>
              <p:cNvPr id="63" name="Ellipse 62">
                <a:extLst>
                  <a:ext uri="{FF2B5EF4-FFF2-40B4-BE49-F238E27FC236}">
                    <a16:creationId xmlns:a16="http://schemas.microsoft.com/office/drawing/2014/main" id="{F3794FFF-4F53-4E6E-A000-3B2DAF215EBF}"/>
                  </a:ext>
                </a:extLst>
              </p:cNvPr>
              <p:cNvSpPr/>
              <p:nvPr/>
            </p:nvSpPr>
            <p:spPr bwMode="auto">
              <a:xfrm>
                <a:off x="6396217"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64" name="Gruppieren 63">
                <a:extLst>
                  <a:ext uri="{FF2B5EF4-FFF2-40B4-BE49-F238E27FC236}">
                    <a16:creationId xmlns:a16="http://schemas.microsoft.com/office/drawing/2014/main" id="{87A5D258-5AFF-4705-92A6-246A5F8A3ED6}"/>
                  </a:ext>
                </a:extLst>
              </p:cNvPr>
              <p:cNvGrpSpPr/>
              <p:nvPr/>
            </p:nvGrpSpPr>
            <p:grpSpPr>
              <a:xfrm>
                <a:off x="5139516" y="1630711"/>
                <a:ext cx="1774044" cy="1803895"/>
                <a:chOff x="1022611" y="1474185"/>
                <a:chExt cx="1774044" cy="1803895"/>
              </a:xfrm>
            </p:grpSpPr>
            <p:sp>
              <p:nvSpPr>
                <p:cNvPr id="65" name="Ellipse 64">
                  <a:extLst>
                    <a:ext uri="{FF2B5EF4-FFF2-40B4-BE49-F238E27FC236}">
                      <a16:creationId xmlns:a16="http://schemas.microsoft.com/office/drawing/2014/main" id="{449DCF0C-199A-41FC-B930-BCB4AFC51C5C}"/>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3FE2DC8E-6540-471A-9ACB-BD9341279BAA}"/>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9" name="Ellipse 68">
                <a:extLst>
                  <a:ext uri="{FF2B5EF4-FFF2-40B4-BE49-F238E27FC236}">
                    <a16:creationId xmlns:a16="http://schemas.microsoft.com/office/drawing/2014/main" id="{79604AE0-6EDB-4287-9961-9FB0DCC69BBA}"/>
                  </a:ext>
                </a:extLst>
              </p:cNvPr>
              <p:cNvSpPr/>
              <p:nvPr/>
            </p:nvSpPr>
            <p:spPr bwMode="auto">
              <a:xfrm>
                <a:off x="5970303" y="2761135"/>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mc:AlternateContent xmlns:mc="http://schemas.openxmlformats.org/markup-compatibility/2006" xmlns:a14="http://schemas.microsoft.com/office/drawing/2010/main">
        <mc:Choice Requires="a14">
          <p:sp>
            <p:nvSpPr>
              <p:cNvPr id="4" name="Textfeld 3">
                <a:extLst>
                  <a:ext uri="{FF2B5EF4-FFF2-40B4-BE49-F238E27FC236}">
                    <a16:creationId xmlns:a16="http://schemas.microsoft.com/office/drawing/2014/main" id="{96C549C9-C3FB-4125-9DCA-285089CA0B42}"/>
                  </a:ext>
                </a:extLst>
              </p:cNvPr>
              <p:cNvSpPr txBox="1"/>
              <p:nvPr/>
            </p:nvSpPr>
            <p:spPr>
              <a:xfrm>
                <a:off x="5127067"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 name="Textfeld 3">
                <a:extLst>
                  <a:ext uri="{FF2B5EF4-FFF2-40B4-BE49-F238E27FC236}">
                    <a16:creationId xmlns:a16="http://schemas.microsoft.com/office/drawing/2014/main" id="{96C549C9-C3FB-4125-9DCA-285089CA0B42}"/>
                  </a:ext>
                </a:extLst>
              </p:cNvPr>
              <p:cNvSpPr txBox="1">
                <a:spLocks noRot="1" noChangeAspect="1" noMove="1" noResize="1" noEditPoints="1" noAdjustHandles="1" noChangeArrowheads="1" noChangeShapeType="1" noTextEdit="1"/>
              </p:cNvSpPr>
              <p:nvPr/>
            </p:nvSpPr>
            <p:spPr>
              <a:xfrm>
                <a:off x="5127067" y="4252858"/>
                <a:ext cx="2794528" cy="914400"/>
              </a:xfrm>
              <a:prstGeom prst="rect">
                <a:avLst/>
              </a:prstGeom>
              <a:blipFill>
                <a:blip r:embed="rId5"/>
                <a:stretch>
                  <a:fillRect l="-32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Textfeld 26">
                <a:extLst>
                  <a:ext uri="{FF2B5EF4-FFF2-40B4-BE49-F238E27FC236}">
                    <a16:creationId xmlns:a16="http://schemas.microsoft.com/office/drawing/2014/main" id="{D7959971-92EE-4633-8410-F5ECFC614F36}"/>
                  </a:ext>
                </a:extLst>
              </p:cNvPr>
              <p:cNvSpPr txBox="1"/>
              <p:nvPr/>
            </p:nvSpPr>
            <p:spPr>
              <a:xfrm>
                <a:off x="7697135"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𝑹𝒆𝒅</m:t>
                          </m:r>
                        </m:sub>
                      </m:s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𝟕𝟓</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𝟕</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𝟓</m:t>
                      </m:r>
                    </m:oMath>
                  </m:oMathPara>
                </a14:m>
                <a:endParaRPr lang="en-US" sz="1400" b="1">
                  <a:solidFill>
                    <a:schemeClr val="tx1"/>
                  </a:solidFill>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𝑮𝒓𝒆𝒆𝒏</m:t>
                          </m:r>
                        </m:sub>
                      </m:s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𝟐𝟓</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𝟐</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𝟓</m:t>
                      </m:r>
                    </m:oMath>
                  </m:oMathPara>
                </a14:m>
                <a:endParaRPr lang="en-US" sz="1400" b="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=−0.75 ∙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0.75</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−0.25∙</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0.25</m:t>
                          </m:r>
                        </m:e>
                      </m:func>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=0.31+0.5</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𝟖𝟏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7" name="Textfeld 26">
                <a:extLst>
                  <a:ext uri="{FF2B5EF4-FFF2-40B4-BE49-F238E27FC236}">
                    <a16:creationId xmlns:a16="http://schemas.microsoft.com/office/drawing/2014/main" id="{D7959971-92EE-4633-8410-F5ECFC614F36}"/>
                  </a:ext>
                </a:extLst>
              </p:cNvPr>
              <p:cNvSpPr txBox="1">
                <a:spLocks noRot="1" noChangeAspect="1" noMove="1" noResize="1" noEditPoints="1" noAdjustHandles="1" noChangeArrowheads="1" noChangeShapeType="1" noTextEdit="1"/>
              </p:cNvSpPr>
              <p:nvPr/>
            </p:nvSpPr>
            <p:spPr>
              <a:xfrm>
                <a:off x="7697135" y="4252858"/>
                <a:ext cx="2794528" cy="914400"/>
              </a:xfrm>
              <a:prstGeom prst="rect">
                <a:avLst/>
              </a:prstGeom>
              <a:blipFill>
                <a:blip r:embed="rId6"/>
                <a:stretch>
                  <a:fillRect l="-3275" r="-31223" b="-64667"/>
                </a:stretch>
              </a:blipFill>
            </p:spPr>
            <p:txBody>
              <a:bodyPr/>
              <a:lstStyle/>
              <a:p>
                <a:r>
                  <a:rPr lang="en-US">
                    <a:noFill/>
                  </a:rPr>
                  <a:t> </a:t>
                </a:r>
              </a:p>
            </p:txBody>
          </p:sp>
        </mc:Fallback>
      </mc:AlternateContent>
      <p:sp>
        <p:nvSpPr>
          <p:cNvPr id="5" name="Textfeld 4">
            <a:extLst>
              <a:ext uri="{FF2B5EF4-FFF2-40B4-BE49-F238E27FC236}">
                <a16:creationId xmlns:a16="http://schemas.microsoft.com/office/drawing/2014/main" id="{B2DC578E-4CC8-45EB-A4AE-EA4613DA8A7F}"/>
              </a:ext>
            </a:extLst>
          </p:cNvPr>
          <p:cNvSpPr txBox="1"/>
          <p:nvPr/>
        </p:nvSpPr>
        <p:spPr>
          <a:xfrm>
            <a:off x="5884581" y="690045"/>
            <a:ext cx="3457776" cy="1440000"/>
          </a:xfrm>
          <a:prstGeom prst="rect">
            <a:avLst/>
          </a:prstGeom>
          <a:noFill/>
        </p:spPr>
        <p:txBody>
          <a:bodyPr wrap="square" lIns="0" tIns="0" rIns="0" bIns="0" rtlCol="0">
            <a:noAutofit/>
          </a:bodyPr>
          <a:lstStyle/>
          <a:p>
            <a:pPr>
              <a:lnSpc>
                <a:spcPct val="110000"/>
              </a:lnSpc>
              <a:spcBef>
                <a:spcPts val="0"/>
              </a:spcBef>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152023728"/>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Loss Function: Entropy Measures Uncertainty of a Dataset</a:t>
            </a:r>
          </a:p>
        </p:txBody>
      </p:sp>
      <mc:AlternateContent xmlns:mc="http://schemas.openxmlformats.org/markup-compatibility/2006" xmlns:a14="http://schemas.microsoft.com/office/drawing/2010/main">
        <mc:Choice Requires="a14">
          <p:sp>
            <p:nvSpPr>
              <p:cNvPr id="73" name="Textfeld 72">
                <a:extLst>
                  <a:ext uri="{FF2B5EF4-FFF2-40B4-BE49-F238E27FC236}">
                    <a16:creationId xmlns:a16="http://schemas.microsoft.com/office/drawing/2014/main" id="{8486CCB1-A2CD-4B5D-96B3-BE39DB64E442}"/>
                  </a:ext>
                </a:extLst>
              </p:cNvPr>
              <p:cNvSpPr txBox="1"/>
              <p:nvPr/>
            </p:nvSpPr>
            <p:spPr>
              <a:xfrm>
                <a:off x="4876022" y="1418467"/>
                <a:ext cx="6839728" cy="1099861"/>
              </a:xfrm>
              <a:prstGeom prst="rect">
                <a:avLst/>
              </a:prstGeom>
              <a:noFill/>
            </p:spPr>
            <p:txBody>
              <a:bodyPr wrap="square" lIns="0" tIns="0" rIns="0" bIns="0" rtlCol="0">
                <a:no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Example: 3 datasets with 4 elements </a:t>
                </a: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func>
                        <m:func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60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sub>
                          </m:sSub>
                          <m:func>
                            <m:func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sz="1600"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sub>
                              </m:sSub>
                            </m:e>
                          </m:func>
                        </m:e>
                      </m:func>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3" name="Textfeld 72">
                <a:extLst>
                  <a:ext uri="{FF2B5EF4-FFF2-40B4-BE49-F238E27FC236}">
                    <a16:creationId xmlns:a16="http://schemas.microsoft.com/office/drawing/2014/main" id="{8486CCB1-A2CD-4B5D-96B3-BE39DB64E442}"/>
                  </a:ext>
                </a:extLst>
              </p:cNvPr>
              <p:cNvSpPr txBox="1">
                <a:spLocks noRot="1" noChangeAspect="1" noMove="1" noResize="1" noEditPoints="1" noAdjustHandles="1" noChangeArrowheads="1" noChangeShapeType="1" noTextEdit="1"/>
              </p:cNvSpPr>
              <p:nvPr/>
            </p:nvSpPr>
            <p:spPr>
              <a:xfrm>
                <a:off x="4876022" y="1418467"/>
                <a:ext cx="6839728" cy="1099861"/>
              </a:xfrm>
              <a:prstGeom prst="rect">
                <a:avLst/>
              </a:prstGeom>
              <a:blipFill>
                <a:blip r:embed="rId3"/>
                <a:stretch>
                  <a:fillRect l="-1872" t="-5556"/>
                </a:stretch>
              </a:blipFill>
            </p:spPr>
            <p:txBody>
              <a:bodyPr/>
              <a:lstStyle/>
              <a:p>
                <a:r>
                  <a:rPr lang="en-US">
                    <a:noFill/>
                  </a:rPr>
                  <a:t> </a:t>
                </a:r>
              </a:p>
            </p:txBody>
          </p:sp>
        </mc:Fallback>
      </mc:AlternateContent>
      <p:grpSp>
        <p:nvGrpSpPr>
          <p:cNvPr id="3" name="Gruppieren 2">
            <a:extLst>
              <a:ext uri="{FF2B5EF4-FFF2-40B4-BE49-F238E27FC236}">
                <a16:creationId xmlns:a16="http://schemas.microsoft.com/office/drawing/2014/main" id="{A0E09E2B-65D3-457C-B63B-168C81B2BA7A}"/>
              </a:ext>
            </a:extLst>
          </p:cNvPr>
          <p:cNvGrpSpPr/>
          <p:nvPr/>
        </p:nvGrpSpPr>
        <p:grpSpPr>
          <a:xfrm>
            <a:off x="4984169" y="2251640"/>
            <a:ext cx="6731581" cy="1695772"/>
            <a:chOff x="6158094" y="2276849"/>
            <a:chExt cx="5773965" cy="1486051"/>
          </a:xfrm>
        </p:grpSpPr>
        <p:grpSp>
          <p:nvGrpSpPr>
            <p:cNvPr id="56" name="Gruppieren 55">
              <a:extLst>
                <a:ext uri="{FF2B5EF4-FFF2-40B4-BE49-F238E27FC236}">
                  <a16:creationId xmlns:a16="http://schemas.microsoft.com/office/drawing/2014/main" id="{6B6A73D8-7CD2-43CE-BBC1-6ADEB5A91B93}"/>
                </a:ext>
              </a:extLst>
            </p:cNvPr>
            <p:cNvGrpSpPr/>
            <p:nvPr/>
          </p:nvGrpSpPr>
          <p:grpSpPr>
            <a:xfrm>
              <a:off x="10512823" y="2319784"/>
              <a:ext cx="1419236" cy="1443116"/>
              <a:chOff x="1022611" y="1474185"/>
              <a:chExt cx="1774044" cy="1803895"/>
            </a:xfrm>
          </p:grpSpPr>
          <p:sp>
            <p:nvSpPr>
              <p:cNvPr id="50" name="Ellipse 49">
                <a:extLst>
                  <a:ext uri="{FF2B5EF4-FFF2-40B4-BE49-F238E27FC236}">
                    <a16:creationId xmlns:a16="http://schemas.microsoft.com/office/drawing/2014/main" id="{DEE4A01E-65C8-4AA5-B438-3F16E744F386}"/>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1" name="Ellipse 50">
                <a:extLst>
                  <a:ext uri="{FF2B5EF4-FFF2-40B4-BE49-F238E27FC236}">
                    <a16:creationId xmlns:a16="http://schemas.microsoft.com/office/drawing/2014/main" id="{A5AB845C-9D22-4531-B674-7BA9FB71141F}"/>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C7046FA1-B81F-45B6-A3A8-4C70F8CA4563}"/>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F850A011-6661-4833-AF93-0056C3EBEFBF}"/>
                  </a:ext>
                </a:extLst>
              </p:cNvPr>
              <p:cNvSpPr/>
              <p:nvPr/>
            </p:nvSpPr>
            <p:spPr bwMode="auto">
              <a:xfrm>
                <a:off x="2267582" y="19344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7E0B033A-F38A-4D3A-BFC3-28BC1D847DD3}"/>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nvGrpSpPr>
            <p:cNvPr id="71" name="Gruppieren 70">
              <a:extLst>
                <a:ext uri="{FF2B5EF4-FFF2-40B4-BE49-F238E27FC236}">
                  <a16:creationId xmlns:a16="http://schemas.microsoft.com/office/drawing/2014/main" id="{F2D7BF9A-44EC-4B9E-85D7-4529969D20C5}"/>
                </a:ext>
              </a:extLst>
            </p:cNvPr>
            <p:cNvGrpSpPr/>
            <p:nvPr/>
          </p:nvGrpSpPr>
          <p:grpSpPr>
            <a:xfrm>
              <a:off x="8394203" y="2276849"/>
              <a:ext cx="1419235" cy="1443116"/>
              <a:chOff x="3000432" y="1630711"/>
              <a:chExt cx="1774044" cy="1803895"/>
            </a:xfrm>
          </p:grpSpPr>
          <p:sp>
            <p:nvSpPr>
              <p:cNvPr id="52" name="Ellipse 51">
                <a:extLst>
                  <a:ext uri="{FF2B5EF4-FFF2-40B4-BE49-F238E27FC236}">
                    <a16:creationId xmlns:a16="http://schemas.microsoft.com/office/drawing/2014/main" id="{9A53D71D-BC5D-46AC-9D2E-248E15BE23E1}"/>
                  </a:ext>
                </a:extLst>
              </p:cNvPr>
              <p:cNvSpPr/>
              <p:nvPr/>
            </p:nvSpPr>
            <p:spPr bwMode="auto">
              <a:xfrm>
                <a:off x="4257133"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57" name="Gruppieren 56">
                <a:extLst>
                  <a:ext uri="{FF2B5EF4-FFF2-40B4-BE49-F238E27FC236}">
                    <a16:creationId xmlns:a16="http://schemas.microsoft.com/office/drawing/2014/main" id="{E0886A2D-A641-4F50-B1DE-708332FC4DD9}"/>
                  </a:ext>
                </a:extLst>
              </p:cNvPr>
              <p:cNvGrpSpPr/>
              <p:nvPr/>
            </p:nvGrpSpPr>
            <p:grpSpPr>
              <a:xfrm>
                <a:off x="3000432" y="1630711"/>
                <a:ext cx="1774044" cy="1803895"/>
                <a:chOff x="1022611" y="1474185"/>
                <a:chExt cx="1774044" cy="1803895"/>
              </a:xfrm>
            </p:grpSpPr>
            <p:sp>
              <p:nvSpPr>
                <p:cNvPr id="58" name="Ellipse 57">
                  <a:extLst>
                    <a:ext uri="{FF2B5EF4-FFF2-40B4-BE49-F238E27FC236}">
                      <a16:creationId xmlns:a16="http://schemas.microsoft.com/office/drawing/2014/main" id="{C14D0DCB-AB54-44D9-ABB3-63C80DAE7890}"/>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1C6B96A0-C983-4FB4-9256-1A5F69E3536C}"/>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BF6CB057-5DB9-4DF0-8264-1028D64D82D4}"/>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D17ADD3D-80DD-471F-A104-CF8FBFD167EB}"/>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grpSp>
          <p:nvGrpSpPr>
            <p:cNvPr id="70" name="Gruppieren 69">
              <a:extLst>
                <a:ext uri="{FF2B5EF4-FFF2-40B4-BE49-F238E27FC236}">
                  <a16:creationId xmlns:a16="http://schemas.microsoft.com/office/drawing/2014/main" id="{F57B8147-3259-4EA5-80AE-4EC61772F304}"/>
                </a:ext>
              </a:extLst>
            </p:cNvPr>
            <p:cNvGrpSpPr/>
            <p:nvPr/>
          </p:nvGrpSpPr>
          <p:grpSpPr>
            <a:xfrm>
              <a:off x="6158094" y="2319784"/>
              <a:ext cx="1419236" cy="1443116"/>
              <a:chOff x="5139516" y="1630711"/>
              <a:chExt cx="1774044" cy="1803895"/>
            </a:xfrm>
          </p:grpSpPr>
          <p:sp>
            <p:nvSpPr>
              <p:cNvPr id="63" name="Ellipse 62">
                <a:extLst>
                  <a:ext uri="{FF2B5EF4-FFF2-40B4-BE49-F238E27FC236}">
                    <a16:creationId xmlns:a16="http://schemas.microsoft.com/office/drawing/2014/main" id="{F3794FFF-4F53-4E6E-A000-3B2DAF215EBF}"/>
                  </a:ext>
                </a:extLst>
              </p:cNvPr>
              <p:cNvSpPr/>
              <p:nvPr/>
            </p:nvSpPr>
            <p:spPr bwMode="auto">
              <a:xfrm>
                <a:off x="6396217"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64" name="Gruppieren 63">
                <a:extLst>
                  <a:ext uri="{FF2B5EF4-FFF2-40B4-BE49-F238E27FC236}">
                    <a16:creationId xmlns:a16="http://schemas.microsoft.com/office/drawing/2014/main" id="{87A5D258-5AFF-4705-92A6-246A5F8A3ED6}"/>
                  </a:ext>
                </a:extLst>
              </p:cNvPr>
              <p:cNvGrpSpPr/>
              <p:nvPr/>
            </p:nvGrpSpPr>
            <p:grpSpPr>
              <a:xfrm>
                <a:off x="5139516" y="1630711"/>
                <a:ext cx="1774044" cy="1803895"/>
                <a:chOff x="1022611" y="1474185"/>
                <a:chExt cx="1774044" cy="1803895"/>
              </a:xfrm>
            </p:grpSpPr>
            <p:sp>
              <p:nvSpPr>
                <p:cNvPr id="65" name="Ellipse 64">
                  <a:extLst>
                    <a:ext uri="{FF2B5EF4-FFF2-40B4-BE49-F238E27FC236}">
                      <a16:creationId xmlns:a16="http://schemas.microsoft.com/office/drawing/2014/main" id="{449DCF0C-199A-41FC-B930-BCB4AFC51C5C}"/>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3FE2DC8E-6540-471A-9ACB-BD9341279BAA}"/>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9" name="Ellipse 68">
                <a:extLst>
                  <a:ext uri="{FF2B5EF4-FFF2-40B4-BE49-F238E27FC236}">
                    <a16:creationId xmlns:a16="http://schemas.microsoft.com/office/drawing/2014/main" id="{79604AE0-6EDB-4287-9961-9FB0DCC69BBA}"/>
                  </a:ext>
                </a:extLst>
              </p:cNvPr>
              <p:cNvSpPr/>
              <p:nvPr/>
            </p:nvSpPr>
            <p:spPr bwMode="auto">
              <a:xfrm>
                <a:off x="5970303" y="2761135"/>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mc:AlternateContent xmlns:mc="http://schemas.openxmlformats.org/markup-compatibility/2006" xmlns:a14="http://schemas.microsoft.com/office/drawing/2010/main">
        <mc:Choice Requires="a14">
          <p:sp>
            <p:nvSpPr>
              <p:cNvPr id="28" name="Textfeld 27">
                <a:extLst>
                  <a:ext uri="{FF2B5EF4-FFF2-40B4-BE49-F238E27FC236}">
                    <a16:creationId xmlns:a16="http://schemas.microsoft.com/office/drawing/2014/main" id="{E34B9680-0D2E-4958-9A9D-9CF69F27F2DC}"/>
                  </a:ext>
                </a:extLst>
              </p:cNvPr>
              <p:cNvSpPr txBox="1"/>
              <p:nvPr/>
            </p:nvSpPr>
            <p:spPr>
              <a:xfrm>
                <a:off x="10275639" y="4252858"/>
                <a:ext cx="151216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𝑹𝒆𝒅</m:t>
                          </m:r>
                        </m:sub>
                      </m:s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400" b="1">
                  <a:solidFill>
                    <a:schemeClr val="tx1"/>
                  </a:solidFill>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𝑮𝒓𝒆𝒆𝒏</m:t>
                          </m:r>
                        </m:sub>
                      </m:sSub>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oMath>
                  </m:oMathPara>
                </a14:m>
                <a:endParaRPr lang="en-US" sz="1400" b="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=0+0</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8" name="Textfeld 27">
                <a:extLst>
                  <a:ext uri="{FF2B5EF4-FFF2-40B4-BE49-F238E27FC236}">
                    <a16:creationId xmlns:a16="http://schemas.microsoft.com/office/drawing/2014/main" id="{E34B9680-0D2E-4958-9A9D-9CF69F27F2DC}"/>
                  </a:ext>
                </a:extLst>
              </p:cNvPr>
              <p:cNvSpPr txBox="1">
                <a:spLocks noRot="1" noChangeAspect="1" noMove="1" noResize="1" noEditPoints="1" noAdjustHandles="1" noChangeArrowheads="1" noChangeShapeType="1" noTextEdit="1"/>
              </p:cNvSpPr>
              <p:nvPr/>
            </p:nvSpPr>
            <p:spPr>
              <a:xfrm>
                <a:off x="10275639" y="4252858"/>
                <a:ext cx="1512168" cy="914400"/>
              </a:xfrm>
              <a:prstGeom prst="rect">
                <a:avLst/>
              </a:prstGeom>
              <a:blipFill>
                <a:blip r:embed="rId4"/>
                <a:stretch>
                  <a:fillRect l="-6048" b="-3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feld 28">
                <a:extLst>
                  <a:ext uri="{FF2B5EF4-FFF2-40B4-BE49-F238E27FC236}">
                    <a16:creationId xmlns:a16="http://schemas.microsoft.com/office/drawing/2014/main" id="{77645819-2307-49D2-9EAE-63CA2F6A0694}"/>
                  </a:ext>
                </a:extLst>
              </p:cNvPr>
              <p:cNvSpPr txBox="1"/>
              <p:nvPr/>
            </p:nvSpPr>
            <p:spPr>
              <a:xfrm>
                <a:off x="5127067"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9" name="Textfeld 28">
                <a:extLst>
                  <a:ext uri="{FF2B5EF4-FFF2-40B4-BE49-F238E27FC236}">
                    <a16:creationId xmlns:a16="http://schemas.microsoft.com/office/drawing/2014/main" id="{77645819-2307-49D2-9EAE-63CA2F6A0694}"/>
                  </a:ext>
                </a:extLst>
              </p:cNvPr>
              <p:cNvSpPr txBox="1">
                <a:spLocks noRot="1" noChangeAspect="1" noMove="1" noResize="1" noEditPoints="1" noAdjustHandles="1" noChangeArrowheads="1" noChangeShapeType="1" noTextEdit="1"/>
              </p:cNvSpPr>
              <p:nvPr/>
            </p:nvSpPr>
            <p:spPr>
              <a:xfrm>
                <a:off x="5127067" y="4252858"/>
                <a:ext cx="2794528" cy="914400"/>
              </a:xfrm>
              <a:prstGeom prst="rect">
                <a:avLst/>
              </a:prstGeom>
              <a:blipFill>
                <a:blip r:embed="rId5"/>
                <a:stretch>
                  <a:fillRect l="-32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feld 29">
                <a:extLst>
                  <a:ext uri="{FF2B5EF4-FFF2-40B4-BE49-F238E27FC236}">
                    <a16:creationId xmlns:a16="http://schemas.microsoft.com/office/drawing/2014/main" id="{708381AA-9FB8-4ED0-A2F2-1A36F2F9E1E6}"/>
                  </a:ext>
                </a:extLst>
              </p:cNvPr>
              <p:cNvSpPr txBox="1"/>
              <p:nvPr/>
            </p:nvSpPr>
            <p:spPr>
              <a:xfrm>
                <a:off x="7719355"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𝟖𝟏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0" name="Textfeld 29">
                <a:extLst>
                  <a:ext uri="{FF2B5EF4-FFF2-40B4-BE49-F238E27FC236}">
                    <a16:creationId xmlns:a16="http://schemas.microsoft.com/office/drawing/2014/main" id="{708381AA-9FB8-4ED0-A2F2-1A36F2F9E1E6}"/>
                  </a:ext>
                </a:extLst>
              </p:cNvPr>
              <p:cNvSpPr txBox="1">
                <a:spLocks noRot="1" noChangeAspect="1" noMove="1" noResize="1" noEditPoints="1" noAdjustHandles="1" noChangeArrowheads="1" noChangeShapeType="1" noTextEdit="1"/>
              </p:cNvSpPr>
              <p:nvPr/>
            </p:nvSpPr>
            <p:spPr>
              <a:xfrm>
                <a:off x="7719355" y="4252858"/>
                <a:ext cx="2794528" cy="914400"/>
              </a:xfrm>
              <a:prstGeom prst="rect">
                <a:avLst/>
              </a:prstGeom>
              <a:blipFill>
                <a:blip r:embed="rId6"/>
                <a:stretch>
                  <a:fillRect l="-326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1" name="Textfeld 30">
                <a:extLst>
                  <a:ext uri="{FF2B5EF4-FFF2-40B4-BE49-F238E27FC236}">
                    <a16:creationId xmlns:a16="http://schemas.microsoft.com/office/drawing/2014/main" id="{3079BC44-AFFB-42EA-9501-FED80F247368}"/>
                  </a:ext>
                </a:extLst>
              </p:cNvPr>
              <p:cNvSpPr txBox="1"/>
              <p:nvPr/>
            </p:nvSpPr>
            <p:spPr>
              <a:xfrm>
                <a:off x="627061" y="1439999"/>
                <a:ext cx="5367003" cy="4347216"/>
              </a:xfrm>
              <a:prstGeom prst="rect">
                <a:avLst/>
              </a:prstGeom>
              <a:noFill/>
            </p:spPr>
            <p:txBody>
              <a:bodyPr wrap="square" lIns="0" tIns="0" rIns="0" bIns="0" rtlCol="0">
                <a:spAutoFit/>
              </a:bodyPr>
              <a:lstStyle/>
              <a:p>
                <a:pPr>
                  <a:lnSpc>
                    <a:spcPct val="110000"/>
                  </a:lnSpc>
                  <a:spcBef>
                    <a:spcPts val="600"/>
                  </a:spcBef>
                  <a:spcAft>
                    <a:spcPts val="600"/>
                  </a:spcAft>
                </a:pPr>
                <a:r>
                  <a:rPr lang="en-US" b="1">
                    <a:solidFill>
                      <a:schemeClr val="tx1"/>
                    </a:solidFill>
                    <a:ea typeface="Arial Unicode MS" panose="020B0604020202020204" pitchFamily="34" charset="-128"/>
                    <a:cs typeface="Arial Unicode MS" panose="020B0604020202020204" pitchFamily="34" charset="-128"/>
                  </a:rPr>
                  <a:t>How to calculate the uncertainty</a:t>
                </a:r>
                <a:br>
                  <a:rPr lang="en-US" b="1">
                    <a:solidFill>
                      <a:schemeClr val="tx1"/>
                    </a:solidFill>
                    <a:ea typeface="Arial Unicode MS" panose="020B0604020202020204" pitchFamily="34" charset="-128"/>
                    <a:cs typeface="Arial Unicode MS" panose="020B0604020202020204" pitchFamily="34" charset="-128"/>
                  </a:rPr>
                </a:br>
                <a:r>
                  <a:rPr lang="en-US" b="1">
                    <a:solidFill>
                      <a:schemeClr val="tx1"/>
                    </a:solidFill>
                    <a:ea typeface="Arial Unicode MS" panose="020B0604020202020204" pitchFamily="34" charset="-128"/>
                    <a:cs typeface="Arial Unicode MS" panose="020B0604020202020204" pitchFamily="34" charset="-128"/>
                  </a:rPr>
                  <a:t> of a dataset? </a:t>
                </a:r>
              </a:p>
              <a:p>
                <a:pPr marL="285750" indent="-285750">
                  <a:lnSpc>
                    <a:spcPct val="110000"/>
                  </a:lnSpc>
                  <a:spcBef>
                    <a:spcPts val="600"/>
                  </a:spcBef>
                  <a:spcAft>
                    <a:spcPts val="600"/>
                  </a:spcAft>
                  <a:buFont typeface="Arial" panose="020B0604020202020204" pitchFamily="34" charset="0"/>
                  <a:buChar char="•"/>
                </a:pPr>
                <a:r>
                  <a:rPr lang="en-US">
                    <a:solidFill>
                      <a:schemeClr val="tx1"/>
                    </a:solidFill>
                    <a:latin typeface="+mn-lt"/>
                    <a:ea typeface="Arial Unicode MS" panose="020B0604020202020204" pitchFamily="34" charset="-128"/>
                    <a:cs typeface="Arial Unicode MS" panose="020B0604020202020204" pitchFamily="34" charset="-128"/>
                  </a:rPr>
                  <a:t>Common method is the entropy </a:t>
                </a:r>
                <a:br>
                  <a:rPr lang="en-US">
                    <a:solidFill>
                      <a:schemeClr val="tx1"/>
                    </a:solidFill>
                    <a:latin typeface="+mn-lt"/>
                    <a:ea typeface="Arial Unicode MS" panose="020B0604020202020204" pitchFamily="34" charset="-128"/>
                    <a:cs typeface="Arial Unicode MS" panose="020B0604020202020204" pitchFamily="34" charset="-128"/>
                  </a:rPr>
                </a:br>
                <a:r>
                  <a:rPr lang="en-US">
                    <a:solidFill>
                      <a:schemeClr val="tx1"/>
                    </a:solidFill>
                    <a:latin typeface="+mn-lt"/>
                    <a:ea typeface="Arial Unicode MS" panose="020B0604020202020204" pitchFamily="34" charset="-128"/>
                    <a:cs typeface="Arial Unicode MS" panose="020B0604020202020204" pitchFamily="34" charset="-128"/>
                  </a:rPr>
                  <a:t>(measure of uncertainty):</a:t>
                </a:r>
              </a:p>
              <a:p>
                <a:pPr marL="171450" indent="-171450">
                  <a:lnSpc>
                    <a:spcPct val="110000"/>
                  </a:lnSpc>
                  <a:spcBef>
                    <a:spcPts val="0"/>
                  </a:spcBef>
                  <a:buFontTx/>
                  <a:buChar char="-"/>
                </a:pPr>
                <a:endParaRPr lang="de-DE"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r>
                  <a:rPr lang="de-DE" sz="1400">
                    <a:solidFill>
                      <a:schemeClr val="tx1"/>
                    </a:solidFill>
                    <a:ea typeface="Arial Unicode MS" panose="020B0604020202020204" pitchFamily="34" charset="-128"/>
                    <a:cs typeface="Arial Unicode MS" panose="020B0604020202020204" pitchFamily="34" charset="-128"/>
                  </a:rPr>
                  <a:t>Event X </a:t>
                </a:r>
                <a:r>
                  <a:rPr lang="de-DE" sz="1400" err="1">
                    <a:solidFill>
                      <a:schemeClr val="tx1"/>
                    </a:solidFill>
                    <a:ea typeface="Arial Unicode MS" panose="020B0604020202020204" pitchFamily="34" charset="-128"/>
                    <a:cs typeface="Arial Unicode MS" panose="020B0604020202020204" pitchFamily="34" charset="-128"/>
                  </a:rPr>
                  <a:t>with</a:t>
                </a:r>
                <a:r>
                  <a:rPr lang="de-DE" sz="1400">
                    <a:solidFill>
                      <a:schemeClr val="tx1"/>
                    </a:solidFill>
                    <a:ea typeface="Arial Unicode MS" panose="020B0604020202020204" pitchFamily="34" charset="-128"/>
                    <a:cs typeface="Arial Unicode MS" panose="020B0604020202020204" pitchFamily="34" charset="-128"/>
                  </a:rPr>
                  <a:t> n possible </a:t>
                </a:r>
                <a:r>
                  <a:rPr lang="de-DE" sz="1400" err="1">
                    <a:solidFill>
                      <a:schemeClr val="tx1"/>
                    </a:solidFill>
                    <a:ea typeface="Arial Unicode MS" panose="020B0604020202020204" pitchFamily="34" charset="-128"/>
                    <a:cs typeface="Arial Unicode MS" panose="020B0604020202020204" pitchFamily="34" charset="-128"/>
                  </a:rPr>
                  <a:t>outcomes</a:t>
                </a:r>
                <a:r>
                  <a:rPr lang="de-DE" sz="1400">
                    <a:solidFill>
                      <a:schemeClr val="tx1"/>
                    </a:solidFill>
                    <a:ea typeface="Arial Unicode MS" panose="020B0604020202020204" pitchFamily="34" charset="-128"/>
                    <a:cs typeface="Arial Unicode MS" panose="020B0604020202020204" pitchFamily="34" charset="-128"/>
                  </a:rPr>
                  <a:t> </a:t>
                </a:r>
                <a:r>
                  <a:rPr lang="de-DE" sz="1400" err="1">
                    <a:solidFill>
                      <a:schemeClr val="tx1"/>
                    </a:solidFill>
                    <a:ea typeface="Arial Unicode MS" panose="020B0604020202020204" pitchFamily="34" charset="-128"/>
                    <a:cs typeface="Arial Unicode MS" panose="020B0604020202020204" pitchFamily="34" charset="-128"/>
                  </a:rPr>
                  <a:t>with</a:t>
                </a:r>
                <a:r>
                  <a:rPr lang="de-DE" sz="1400">
                    <a:solidFill>
                      <a:schemeClr val="tx1"/>
                    </a:solidFill>
                    <a:ea typeface="Arial Unicode MS" panose="020B0604020202020204" pitchFamily="34" charset="-128"/>
                    <a:cs typeface="Arial Unicode MS" panose="020B0604020202020204" pitchFamily="34" charset="-128"/>
                  </a:rPr>
                  <a:t> </a:t>
                </a:r>
                <a:br>
                  <a:rPr lang="de-DE" sz="1400">
                    <a:solidFill>
                      <a:schemeClr val="tx1"/>
                    </a:solidFill>
                    <a:ea typeface="Arial Unicode MS" panose="020B0604020202020204" pitchFamily="34" charset="-128"/>
                    <a:cs typeface="Arial Unicode MS" panose="020B0604020202020204" pitchFamily="34" charset="-128"/>
                  </a:rPr>
                </a:br>
                <a:r>
                  <a:rPr lang="de-DE" sz="1400" err="1">
                    <a:solidFill>
                      <a:schemeClr val="tx1"/>
                    </a:solidFill>
                    <a:ea typeface="Arial Unicode MS" panose="020B0604020202020204" pitchFamily="34" charset="-128"/>
                    <a:cs typeface="Arial Unicode MS" panose="020B0604020202020204" pitchFamily="34" charset="-128"/>
                  </a:rPr>
                  <a:t>probabilities</a:t>
                </a:r>
                <a:r>
                  <a:rPr lang="de-DE" sz="1400">
                    <a:solidFill>
                      <a:schemeClr val="tx1"/>
                    </a:solidFill>
                    <a:ea typeface="Arial Unicode MS" panose="020B0604020202020204" pitchFamily="34" charset="-128"/>
                    <a:cs typeface="Arial Unicode MS" panose="020B0604020202020204" pitchFamily="34" charset="-128"/>
                  </a:rPr>
                  <a:t> </a:t>
                </a:r>
                <a14:m>
                  <m:oMath xmlns:m="http://schemas.openxmlformats.org/officeDocument/2006/math">
                    <m:sSub>
                      <m:sSubPr>
                        <m:ctrlP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r>
                      <a:rPr lang="de-DE" sz="14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oMath>
                </a14:m>
                <a:r>
                  <a:rPr lang="en-US" sz="1400">
                    <a:solidFill>
                      <a:schemeClr val="tx1"/>
                    </a:solidFill>
                    <a:ea typeface="Arial Unicode MS" panose="020B0604020202020204" pitchFamily="34" charset="-128"/>
                    <a:cs typeface="Arial Unicode MS" panose="020B0604020202020204" pitchFamily="34" charset="-128"/>
                  </a:rPr>
                  <a:t>, N classes</a:t>
                </a: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endParaRPr lang="en-US" sz="1400">
                  <a:solidFill>
                    <a:schemeClr val="tx1"/>
                  </a:solidFill>
                  <a:ea typeface="Arial Unicode MS" panose="020B0604020202020204" pitchFamily="34" charset="-128"/>
                  <a:cs typeface="Arial Unicode MS" panose="020B0604020202020204" pitchFamily="34" charset="-128"/>
                </a:endParaRPr>
              </a:p>
              <a:p>
                <a:pPr marL="171450" indent="-171450">
                  <a:lnSpc>
                    <a:spcPct val="110000"/>
                  </a:lnSpc>
                  <a:spcBef>
                    <a:spcPts val="0"/>
                  </a:spcBef>
                  <a:buFontTx/>
                  <a:buChar char="-"/>
                </a:pPr>
                <a:endParaRPr lang="en-US">
                  <a:solidFill>
                    <a:schemeClr val="tx1"/>
                  </a:solidFill>
                  <a:latin typeface="+mn-lt"/>
                  <a:ea typeface="Arial Unicode MS" panose="020B0604020202020204" pitchFamily="34" charset="-128"/>
                  <a:cs typeface="Arial Unicode MS" panose="020B0604020202020204" pitchFamily="34" charset="-128"/>
                </a:endParaRPr>
              </a:p>
              <a:p>
                <a:pPr lvl="1">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𝐻</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d>
                        <m:d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𝑋</m:t>
                          </m:r>
                        </m:e>
                      </m:d>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𝐻</m:t>
                      </m:r>
                      <m:d>
                        <m:d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sub>
                          </m:s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𝑛</m:t>
                              </m:r>
                            </m:sub>
                          </m:sSub>
                        </m:e>
                      </m:d>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nary>
                        <m:naryPr>
                          <m:chr m:val="∑"/>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naryPr>
                        <m:sub>
                          <m:r>
                            <m:rPr>
                              <m:brk m:alnAt="23"/>
                            </m:r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sub>
                        <m:sup>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sup>
                        <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func>
                            <m:func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e>
                          </m:func>
                        </m:e>
                      </m:nary>
                    </m:oMath>
                  </m:oMathPara>
                </a14:m>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1" name="Textfeld 30">
                <a:extLst>
                  <a:ext uri="{FF2B5EF4-FFF2-40B4-BE49-F238E27FC236}">
                    <a16:creationId xmlns:a16="http://schemas.microsoft.com/office/drawing/2014/main" id="{3079BC44-AFFB-42EA-9501-FED80F247368}"/>
                  </a:ext>
                </a:extLst>
              </p:cNvPr>
              <p:cNvSpPr txBox="1">
                <a:spLocks noRot="1" noChangeAspect="1" noMove="1" noResize="1" noEditPoints="1" noAdjustHandles="1" noChangeArrowheads="1" noChangeShapeType="1" noTextEdit="1"/>
              </p:cNvSpPr>
              <p:nvPr/>
            </p:nvSpPr>
            <p:spPr>
              <a:xfrm>
                <a:off x="627061" y="1439999"/>
                <a:ext cx="5367003" cy="4347216"/>
              </a:xfrm>
              <a:prstGeom prst="rect">
                <a:avLst/>
              </a:prstGeom>
              <a:blipFill>
                <a:blip r:embed="rId7"/>
                <a:stretch>
                  <a:fillRect l="-2727" t="-1683"/>
                </a:stretch>
              </a:blipFill>
            </p:spPr>
            <p:txBody>
              <a:bodyPr/>
              <a:lstStyle/>
              <a:p>
                <a:r>
                  <a:rPr lang="en-US">
                    <a:noFill/>
                  </a:rPr>
                  <a:t> </a:t>
                </a:r>
              </a:p>
            </p:txBody>
          </p:sp>
        </mc:Fallback>
      </mc:AlternateContent>
    </p:spTree>
    <p:extLst>
      <p:ext uri="{BB962C8B-B14F-4D97-AF65-F5344CB8AC3E}">
        <p14:creationId xmlns:p14="http://schemas.microsoft.com/office/powerpoint/2010/main" val="367170132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Loss Function: Entropy Measures Uncertainty of a Dataset</a:t>
            </a:r>
          </a:p>
        </p:txBody>
      </p:sp>
      <mc:AlternateContent xmlns:mc="http://schemas.openxmlformats.org/markup-compatibility/2006" xmlns:a14="http://schemas.microsoft.com/office/drawing/2010/main">
        <mc:Choice Requires="a14">
          <p:sp>
            <p:nvSpPr>
              <p:cNvPr id="72" name="Textfeld 71">
                <a:extLst>
                  <a:ext uri="{FF2B5EF4-FFF2-40B4-BE49-F238E27FC236}">
                    <a16:creationId xmlns:a16="http://schemas.microsoft.com/office/drawing/2014/main" id="{774CBE54-E081-4D85-80C0-DE53BD492273}"/>
                  </a:ext>
                </a:extLst>
              </p:cNvPr>
              <p:cNvSpPr txBox="1"/>
              <p:nvPr/>
            </p:nvSpPr>
            <p:spPr>
              <a:xfrm>
                <a:off x="627062" y="1439999"/>
                <a:ext cx="3457776" cy="3274101"/>
              </a:xfrm>
              <a:prstGeom prst="rect">
                <a:avLst/>
              </a:prstGeom>
              <a:noFill/>
            </p:spPr>
            <p:txBody>
              <a:bodyPr wrap="square" lIns="0" tIns="0" rIns="0" bIns="0" rtlCol="0">
                <a:spAutoFit/>
              </a:bodyPr>
              <a:lstStyle/>
              <a:p>
                <a:pPr>
                  <a:lnSpc>
                    <a:spcPct val="110000"/>
                  </a:lnSpc>
                  <a:spcBef>
                    <a:spcPts val="600"/>
                  </a:spcBef>
                  <a:spcAft>
                    <a:spcPts val="600"/>
                  </a:spcAft>
                </a:pPr>
                <a:r>
                  <a:rPr lang="en-US" b="1">
                    <a:solidFill>
                      <a:schemeClr val="tx1"/>
                    </a:solidFill>
                    <a:ea typeface="Arial Unicode MS" panose="020B0604020202020204" pitchFamily="34" charset="-128"/>
                    <a:cs typeface="Arial Unicode MS" panose="020B0604020202020204" pitchFamily="34" charset="-128"/>
                  </a:rPr>
                  <a:t>How to calculate the uncertainty of a dataset? </a:t>
                </a:r>
              </a:p>
              <a:p>
                <a:pPr marL="285750" indent="-285750">
                  <a:lnSpc>
                    <a:spcPct val="110000"/>
                  </a:lnSpc>
                  <a:spcBef>
                    <a:spcPts val="600"/>
                  </a:spcBef>
                  <a:spcAft>
                    <a:spcPts val="600"/>
                  </a:spcAft>
                  <a:buFont typeface="Arial" panose="020B0604020202020204" pitchFamily="34" charset="0"/>
                  <a:buChar char="•"/>
                </a:pPr>
                <a:r>
                  <a:rPr lang="en-US">
                    <a:solidFill>
                      <a:schemeClr val="tx1"/>
                    </a:solidFill>
                    <a:latin typeface="+mn-lt"/>
                    <a:ea typeface="Arial Unicode MS" panose="020B0604020202020204" pitchFamily="34" charset="-128"/>
                    <a:cs typeface="Arial Unicode MS" panose="020B0604020202020204" pitchFamily="34" charset="-128"/>
                  </a:rPr>
                  <a:t>Common method is the entropy:</a:t>
                </a:r>
              </a:p>
              <a:p>
                <a:pPr lvl="1">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nary>
                        <m:naryPr>
                          <m:chr m:val="∑"/>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naryPr>
                        <m:sub>
                          <m:r>
                            <m:rPr>
                              <m:brk m:alnAt="23"/>
                            </m:r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sub>
                        <m:sup>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sup>
                        <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func>
                            <m:func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m:rPr>
                                      <m:sty m:val="p"/>
                                    </m:rPr>
                                    <a:rPr lang="en-US" b="0"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log</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sub>
                              </m:sSub>
                            </m:fName>
                            <m:e>
                              <m:sSub>
                                <m:sSubPr>
                                  <m:ctrlP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𝑖</m:t>
                                  </m:r>
                                </m:sub>
                              </m:sSub>
                            </m:e>
                          </m:func>
                        </m:e>
                      </m:nary>
                    </m:oMath>
                  </m:oMathPara>
                </a14:m>
                <a:endParaRPr lang="en-US">
                  <a:solidFill>
                    <a:schemeClr val="tx1"/>
                  </a:solidFill>
                  <a:latin typeface="+mn-lt"/>
                  <a:ea typeface="Arial Unicode MS" panose="020B0604020202020204" pitchFamily="34" charset="-128"/>
                  <a:cs typeface="Arial Unicode MS" panose="020B0604020202020204" pitchFamily="34" charset="-128"/>
                </a:endParaRPr>
              </a:p>
              <a:p>
                <a:pPr lvl="1">
                  <a:lnSpc>
                    <a:spcPct val="110000"/>
                  </a:lnSpc>
                  <a:spcBef>
                    <a:spcPts val="0"/>
                  </a:spcBef>
                </a:pPr>
                <a:endParaRPr lang="en-US" b="0">
                  <a:solidFill>
                    <a:schemeClr val="tx1"/>
                  </a:solidFill>
                  <a:latin typeface="+mn-lt"/>
                  <a:ea typeface="Arial Unicode MS" panose="020B0604020202020204" pitchFamily="34" charset="-128"/>
                  <a:cs typeface="Arial Unicode MS" panose="020B0604020202020204" pitchFamily="34" charset="-128"/>
                </a:endParaRPr>
              </a:p>
              <a:p>
                <a:pPr lvl="1">
                  <a:lnSpc>
                    <a:spcPct val="110000"/>
                  </a:lnSpc>
                  <a:spcBef>
                    <a:spcPts val="0"/>
                  </a:spcBef>
                </a:pPr>
                <a:endParaRPr lang="en-US" b="0">
                  <a:solidFill>
                    <a:schemeClr val="tx1"/>
                  </a:solidFill>
                  <a:latin typeface="+mn-lt"/>
                  <a:ea typeface="Arial Unicode MS" panose="020B0604020202020204" pitchFamily="34" charset="-128"/>
                  <a:cs typeface="Arial Unicode MS" panose="020B0604020202020204" pitchFamily="34" charset="-128"/>
                </a:endParaRPr>
              </a:p>
              <a:p>
                <a:pPr lvl="1">
                  <a:lnSpc>
                    <a:spcPct val="110000"/>
                  </a:lnSpc>
                  <a:spcBef>
                    <a:spcPts val="0"/>
                  </a:spcBef>
                </a:pPr>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2" name="Textfeld 71">
                <a:extLst>
                  <a:ext uri="{FF2B5EF4-FFF2-40B4-BE49-F238E27FC236}">
                    <a16:creationId xmlns:a16="http://schemas.microsoft.com/office/drawing/2014/main" id="{774CBE54-E081-4D85-80C0-DE53BD492273}"/>
                  </a:ext>
                </a:extLst>
              </p:cNvPr>
              <p:cNvSpPr txBox="1">
                <a:spLocks noRot="1" noChangeAspect="1" noMove="1" noResize="1" noEditPoints="1" noAdjustHandles="1" noChangeArrowheads="1" noChangeShapeType="1" noTextEdit="1"/>
              </p:cNvSpPr>
              <p:nvPr/>
            </p:nvSpPr>
            <p:spPr>
              <a:xfrm>
                <a:off x="627062" y="1439999"/>
                <a:ext cx="3457776" cy="3274101"/>
              </a:xfrm>
              <a:prstGeom prst="rect">
                <a:avLst/>
              </a:prstGeom>
              <a:blipFill>
                <a:blip r:embed="rId3"/>
                <a:stretch>
                  <a:fillRect l="-4233" t="-2235"/>
                </a:stretch>
              </a:blipFill>
            </p:spPr>
            <p:txBody>
              <a:bodyPr/>
              <a:lstStyle/>
              <a:p>
                <a:r>
                  <a:rPr lang="en-US">
                    <a:noFill/>
                  </a:rPr>
                  <a:t> </a:t>
                </a:r>
              </a:p>
            </p:txBody>
          </p:sp>
        </mc:Fallback>
      </mc:AlternateContent>
      <p:grpSp>
        <p:nvGrpSpPr>
          <p:cNvPr id="3" name="Gruppieren 2">
            <a:extLst>
              <a:ext uri="{FF2B5EF4-FFF2-40B4-BE49-F238E27FC236}">
                <a16:creationId xmlns:a16="http://schemas.microsoft.com/office/drawing/2014/main" id="{A0E09E2B-65D3-457C-B63B-168C81B2BA7A}"/>
              </a:ext>
            </a:extLst>
          </p:cNvPr>
          <p:cNvGrpSpPr/>
          <p:nvPr/>
        </p:nvGrpSpPr>
        <p:grpSpPr>
          <a:xfrm>
            <a:off x="4984168" y="2251639"/>
            <a:ext cx="6731583" cy="1695773"/>
            <a:chOff x="6158094" y="2276848"/>
            <a:chExt cx="5773967" cy="1486052"/>
          </a:xfrm>
        </p:grpSpPr>
        <p:grpSp>
          <p:nvGrpSpPr>
            <p:cNvPr id="56" name="Gruppieren 55">
              <a:extLst>
                <a:ext uri="{FF2B5EF4-FFF2-40B4-BE49-F238E27FC236}">
                  <a16:creationId xmlns:a16="http://schemas.microsoft.com/office/drawing/2014/main" id="{6B6A73D8-7CD2-43CE-BBC1-6ADEB5A91B93}"/>
                </a:ext>
              </a:extLst>
            </p:cNvPr>
            <p:cNvGrpSpPr/>
            <p:nvPr/>
          </p:nvGrpSpPr>
          <p:grpSpPr>
            <a:xfrm>
              <a:off x="10512825" y="2319784"/>
              <a:ext cx="1419236" cy="1443116"/>
              <a:chOff x="1022611" y="1474185"/>
              <a:chExt cx="1774044" cy="1803895"/>
            </a:xfrm>
          </p:grpSpPr>
          <p:sp>
            <p:nvSpPr>
              <p:cNvPr id="50" name="Ellipse 49">
                <a:extLst>
                  <a:ext uri="{FF2B5EF4-FFF2-40B4-BE49-F238E27FC236}">
                    <a16:creationId xmlns:a16="http://schemas.microsoft.com/office/drawing/2014/main" id="{DEE4A01E-65C8-4AA5-B438-3F16E744F386}"/>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1" name="Ellipse 50">
                <a:extLst>
                  <a:ext uri="{FF2B5EF4-FFF2-40B4-BE49-F238E27FC236}">
                    <a16:creationId xmlns:a16="http://schemas.microsoft.com/office/drawing/2014/main" id="{A5AB845C-9D22-4531-B674-7BA9FB71141F}"/>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C7046FA1-B81F-45B6-A3A8-4C70F8CA4563}"/>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F850A011-6661-4833-AF93-0056C3EBEFBF}"/>
                  </a:ext>
                </a:extLst>
              </p:cNvPr>
              <p:cNvSpPr/>
              <p:nvPr/>
            </p:nvSpPr>
            <p:spPr bwMode="auto">
              <a:xfrm>
                <a:off x="2267582" y="19344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7E0B033A-F38A-4D3A-BFC3-28BC1D847DD3}"/>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nvGrpSpPr>
            <p:cNvPr id="71" name="Gruppieren 70">
              <a:extLst>
                <a:ext uri="{FF2B5EF4-FFF2-40B4-BE49-F238E27FC236}">
                  <a16:creationId xmlns:a16="http://schemas.microsoft.com/office/drawing/2014/main" id="{F2D7BF9A-44EC-4B9E-85D7-4529969D20C5}"/>
                </a:ext>
              </a:extLst>
            </p:cNvPr>
            <p:cNvGrpSpPr/>
            <p:nvPr/>
          </p:nvGrpSpPr>
          <p:grpSpPr>
            <a:xfrm>
              <a:off x="8394204" y="2276848"/>
              <a:ext cx="1419235" cy="1443116"/>
              <a:chOff x="3000432" y="1630711"/>
              <a:chExt cx="1774044" cy="1803895"/>
            </a:xfrm>
          </p:grpSpPr>
          <p:sp>
            <p:nvSpPr>
              <p:cNvPr id="52" name="Ellipse 51">
                <a:extLst>
                  <a:ext uri="{FF2B5EF4-FFF2-40B4-BE49-F238E27FC236}">
                    <a16:creationId xmlns:a16="http://schemas.microsoft.com/office/drawing/2014/main" id="{9A53D71D-BC5D-46AC-9D2E-248E15BE23E1}"/>
                  </a:ext>
                </a:extLst>
              </p:cNvPr>
              <p:cNvSpPr/>
              <p:nvPr/>
            </p:nvSpPr>
            <p:spPr bwMode="auto">
              <a:xfrm>
                <a:off x="4257133"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57" name="Gruppieren 56">
                <a:extLst>
                  <a:ext uri="{FF2B5EF4-FFF2-40B4-BE49-F238E27FC236}">
                    <a16:creationId xmlns:a16="http://schemas.microsoft.com/office/drawing/2014/main" id="{E0886A2D-A641-4F50-B1DE-708332FC4DD9}"/>
                  </a:ext>
                </a:extLst>
              </p:cNvPr>
              <p:cNvGrpSpPr/>
              <p:nvPr/>
            </p:nvGrpSpPr>
            <p:grpSpPr>
              <a:xfrm>
                <a:off x="3000432" y="1630711"/>
                <a:ext cx="1774044" cy="1803895"/>
                <a:chOff x="1022611" y="1474185"/>
                <a:chExt cx="1774044" cy="1803895"/>
              </a:xfrm>
            </p:grpSpPr>
            <p:sp>
              <p:nvSpPr>
                <p:cNvPr id="58" name="Ellipse 57">
                  <a:extLst>
                    <a:ext uri="{FF2B5EF4-FFF2-40B4-BE49-F238E27FC236}">
                      <a16:creationId xmlns:a16="http://schemas.microsoft.com/office/drawing/2014/main" id="{C14D0DCB-AB54-44D9-ABB3-63C80DAE7890}"/>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1C6B96A0-C983-4FB4-9256-1A5F69E3536C}"/>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BF6CB057-5DB9-4DF0-8264-1028D64D82D4}"/>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D17ADD3D-80DD-471F-A104-CF8FBFD167EB}"/>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grpSp>
          <p:nvGrpSpPr>
            <p:cNvPr id="70" name="Gruppieren 69">
              <a:extLst>
                <a:ext uri="{FF2B5EF4-FFF2-40B4-BE49-F238E27FC236}">
                  <a16:creationId xmlns:a16="http://schemas.microsoft.com/office/drawing/2014/main" id="{F57B8147-3259-4EA5-80AE-4EC61772F304}"/>
                </a:ext>
              </a:extLst>
            </p:cNvPr>
            <p:cNvGrpSpPr/>
            <p:nvPr/>
          </p:nvGrpSpPr>
          <p:grpSpPr>
            <a:xfrm>
              <a:off x="6158094" y="2319784"/>
              <a:ext cx="1419236" cy="1443116"/>
              <a:chOff x="5139516" y="1630711"/>
              <a:chExt cx="1774044" cy="1803895"/>
            </a:xfrm>
          </p:grpSpPr>
          <p:sp>
            <p:nvSpPr>
              <p:cNvPr id="63" name="Ellipse 62">
                <a:extLst>
                  <a:ext uri="{FF2B5EF4-FFF2-40B4-BE49-F238E27FC236}">
                    <a16:creationId xmlns:a16="http://schemas.microsoft.com/office/drawing/2014/main" id="{F3794FFF-4F53-4E6E-A000-3B2DAF215EBF}"/>
                  </a:ext>
                </a:extLst>
              </p:cNvPr>
              <p:cNvSpPr/>
              <p:nvPr/>
            </p:nvSpPr>
            <p:spPr bwMode="auto">
              <a:xfrm>
                <a:off x="6396217"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64" name="Gruppieren 63">
                <a:extLst>
                  <a:ext uri="{FF2B5EF4-FFF2-40B4-BE49-F238E27FC236}">
                    <a16:creationId xmlns:a16="http://schemas.microsoft.com/office/drawing/2014/main" id="{87A5D258-5AFF-4705-92A6-246A5F8A3ED6}"/>
                  </a:ext>
                </a:extLst>
              </p:cNvPr>
              <p:cNvGrpSpPr/>
              <p:nvPr/>
            </p:nvGrpSpPr>
            <p:grpSpPr>
              <a:xfrm>
                <a:off x="5139516" y="1630711"/>
                <a:ext cx="1774044" cy="1803895"/>
                <a:chOff x="1022611" y="1474185"/>
                <a:chExt cx="1774044" cy="1803895"/>
              </a:xfrm>
            </p:grpSpPr>
            <p:sp>
              <p:nvSpPr>
                <p:cNvPr id="65" name="Ellipse 64">
                  <a:extLst>
                    <a:ext uri="{FF2B5EF4-FFF2-40B4-BE49-F238E27FC236}">
                      <a16:creationId xmlns:a16="http://schemas.microsoft.com/office/drawing/2014/main" id="{449DCF0C-199A-41FC-B930-BCB4AFC51C5C}"/>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3FE2DC8E-6540-471A-9ACB-BD9341279BAA}"/>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9" name="Ellipse 68">
                <a:extLst>
                  <a:ext uri="{FF2B5EF4-FFF2-40B4-BE49-F238E27FC236}">
                    <a16:creationId xmlns:a16="http://schemas.microsoft.com/office/drawing/2014/main" id="{79604AE0-6EDB-4287-9961-9FB0DCC69BBA}"/>
                  </a:ext>
                </a:extLst>
              </p:cNvPr>
              <p:cNvSpPr/>
              <p:nvPr/>
            </p:nvSpPr>
            <p:spPr bwMode="auto">
              <a:xfrm>
                <a:off x="5970303" y="2761135"/>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mc:AlternateContent xmlns:mc="http://schemas.openxmlformats.org/markup-compatibility/2006" xmlns:a14="http://schemas.microsoft.com/office/drawing/2010/main">
        <mc:Choice Requires="a14">
          <p:sp>
            <p:nvSpPr>
              <p:cNvPr id="28" name="Textfeld 27">
                <a:extLst>
                  <a:ext uri="{FF2B5EF4-FFF2-40B4-BE49-F238E27FC236}">
                    <a16:creationId xmlns:a16="http://schemas.microsoft.com/office/drawing/2014/main" id="{E34B9680-0D2E-4958-9A9D-9CF69F27F2DC}"/>
                  </a:ext>
                </a:extLst>
              </p:cNvPr>
              <p:cNvSpPr txBox="1"/>
              <p:nvPr/>
            </p:nvSpPr>
            <p:spPr>
              <a:xfrm>
                <a:off x="10275639" y="4252858"/>
                <a:ext cx="151216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8" name="Textfeld 27">
                <a:extLst>
                  <a:ext uri="{FF2B5EF4-FFF2-40B4-BE49-F238E27FC236}">
                    <a16:creationId xmlns:a16="http://schemas.microsoft.com/office/drawing/2014/main" id="{E34B9680-0D2E-4958-9A9D-9CF69F27F2DC}"/>
                  </a:ext>
                </a:extLst>
              </p:cNvPr>
              <p:cNvSpPr txBox="1">
                <a:spLocks noRot="1" noChangeAspect="1" noMove="1" noResize="1" noEditPoints="1" noAdjustHandles="1" noChangeArrowheads="1" noChangeShapeType="1" noTextEdit="1"/>
              </p:cNvSpPr>
              <p:nvPr/>
            </p:nvSpPr>
            <p:spPr>
              <a:xfrm>
                <a:off x="10275639" y="4252858"/>
                <a:ext cx="1512168" cy="914400"/>
              </a:xfrm>
              <a:prstGeom prst="rect">
                <a:avLst/>
              </a:prstGeom>
              <a:blipFill>
                <a:blip r:embed="rId4"/>
                <a:stretch>
                  <a:fillRect l="-60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9" name="Textfeld 28">
                <a:extLst>
                  <a:ext uri="{FF2B5EF4-FFF2-40B4-BE49-F238E27FC236}">
                    <a16:creationId xmlns:a16="http://schemas.microsoft.com/office/drawing/2014/main" id="{77645819-2307-49D2-9EAE-63CA2F6A0694}"/>
                  </a:ext>
                </a:extLst>
              </p:cNvPr>
              <p:cNvSpPr txBox="1"/>
              <p:nvPr/>
            </p:nvSpPr>
            <p:spPr>
              <a:xfrm>
                <a:off x="5127067"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9" name="Textfeld 28">
                <a:extLst>
                  <a:ext uri="{FF2B5EF4-FFF2-40B4-BE49-F238E27FC236}">
                    <a16:creationId xmlns:a16="http://schemas.microsoft.com/office/drawing/2014/main" id="{77645819-2307-49D2-9EAE-63CA2F6A0694}"/>
                  </a:ext>
                </a:extLst>
              </p:cNvPr>
              <p:cNvSpPr txBox="1">
                <a:spLocks noRot="1" noChangeAspect="1" noMove="1" noResize="1" noEditPoints="1" noAdjustHandles="1" noChangeArrowheads="1" noChangeShapeType="1" noTextEdit="1"/>
              </p:cNvSpPr>
              <p:nvPr/>
            </p:nvSpPr>
            <p:spPr>
              <a:xfrm>
                <a:off x="5127067" y="4252858"/>
                <a:ext cx="2794528" cy="914400"/>
              </a:xfrm>
              <a:prstGeom prst="rect">
                <a:avLst/>
              </a:prstGeom>
              <a:blipFill>
                <a:blip r:embed="rId5"/>
                <a:stretch>
                  <a:fillRect l="-327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0" name="Textfeld 29">
                <a:extLst>
                  <a:ext uri="{FF2B5EF4-FFF2-40B4-BE49-F238E27FC236}">
                    <a16:creationId xmlns:a16="http://schemas.microsoft.com/office/drawing/2014/main" id="{708381AA-9FB8-4ED0-A2F2-1A36F2F9E1E6}"/>
                  </a:ext>
                </a:extLst>
              </p:cNvPr>
              <p:cNvSpPr txBox="1"/>
              <p:nvPr/>
            </p:nvSpPr>
            <p:spPr>
              <a:xfrm>
                <a:off x="7719355" y="4252858"/>
                <a:ext cx="2794528"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𝟖𝟏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0" name="Textfeld 29">
                <a:extLst>
                  <a:ext uri="{FF2B5EF4-FFF2-40B4-BE49-F238E27FC236}">
                    <a16:creationId xmlns:a16="http://schemas.microsoft.com/office/drawing/2014/main" id="{708381AA-9FB8-4ED0-A2F2-1A36F2F9E1E6}"/>
                  </a:ext>
                </a:extLst>
              </p:cNvPr>
              <p:cNvSpPr txBox="1">
                <a:spLocks noRot="1" noChangeAspect="1" noMove="1" noResize="1" noEditPoints="1" noAdjustHandles="1" noChangeArrowheads="1" noChangeShapeType="1" noTextEdit="1"/>
              </p:cNvSpPr>
              <p:nvPr/>
            </p:nvSpPr>
            <p:spPr>
              <a:xfrm>
                <a:off x="7719355" y="4252858"/>
                <a:ext cx="2794528" cy="914400"/>
              </a:xfrm>
              <a:prstGeom prst="rect">
                <a:avLst/>
              </a:prstGeom>
              <a:blipFill>
                <a:blip r:embed="rId6"/>
                <a:stretch>
                  <a:fillRect l="-3268"/>
                </a:stretch>
              </a:blipFill>
            </p:spPr>
            <p:txBody>
              <a:bodyPr/>
              <a:lstStyle/>
              <a:p>
                <a:r>
                  <a:rPr lang="en-US">
                    <a:noFill/>
                  </a:rPr>
                  <a:t> </a:t>
                </a:r>
              </a:p>
            </p:txBody>
          </p:sp>
        </mc:Fallback>
      </mc:AlternateContent>
      <p:sp>
        <p:nvSpPr>
          <p:cNvPr id="31" name="Pfeil: nach unten 30">
            <a:extLst>
              <a:ext uri="{FF2B5EF4-FFF2-40B4-BE49-F238E27FC236}">
                <a16:creationId xmlns:a16="http://schemas.microsoft.com/office/drawing/2014/main" id="{20CDC8D9-3760-461E-9F91-540A17CE7003}"/>
              </a:ext>
            </a:extLst>
          </p:cNvPr>
          <p:cNvSpPr/>
          <p:nvPr/>
        </p:nvSpPr>
        <p:spPr bwMode="auto">
          <a:xfrm rot="16200000">
            <a:off x="7962666" y="-1565621"/>
            <a:ext cx="806781" cy="6763774"/>
          </a:xfrm>
          <a:prstGeom prst="down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vert" wrap="square" lIns="108000" tIns="54000" rIns="108000" bIns="54000" numCol="1" spcCol="72000" rtlCol="0" anchor="ctr">
            <a:noAutofit/>
          </a:bodyPr>
          <a:lstStyle/>
          <a:p>
            <a:pPr algn="ctr">
              <a:lnSpc>
                <a:spcPct val="110000"/>
              </a:lnSpc>
              <a:spcBef>
                <a:spcPct val="0"/>
              </a:spcBef>
              <a:buFont typeface="Wingdings" charset="0"/>
              <a:buNone/>
            </a:pPr>
            <a:r>
              <a:rPr lang="en-US" b="1">
                <a:solidFill>
                  <a:schemeClr val="tx1"/>
                </a:solidFill>
                <a:latin typeface="+mn-lt"/>
                <a:ea typeface="Arial Unicode MS" panose="020B0604020202020204" pitchFamily="34" charset="-128"/>
                <a:cs typeface="Arial Unicode MS" panose="020B0604020202020204" pitchFamily="34" charset="-128"/>
              </a:rPr>
              <a:t>CERTAIN</a:t>
            </a:r>
            <a:r>
              <a:rPr lang="en-US" sz="1800" b="1">
                <a:solidFill>
                  <a:schemeClr val="tx1"/>
                </a:solidFill>
                <a:latin typeface="+mn-lt"/>
                <a:ea typeface="Arial Unicode MS" panose="020B0604020202020204" pitchFamily="34" charset="-128"/>
                <a:cs typeface="Arial Unicode MS" panose="020B0604020202020204" pitchFamily="34" charset="-128"/>
              </a:rPr>
              <a:t>TY</a:t>
            </a:r>
          </a:p>
        </p:txBody>
      </p:sp>
      <p:sp>
        <p:nvSpPr>
          <p:cNvPr id="32" name="Pfeil: nach unten 31">
            <a:extLst>
              <a:ext uri="{FF2B5EF4-FFF2-40B4-BE49-F238E27FC236}">
                <a16:creationId xmlns:a16="http://schemas.microsoft.com/office/drawing/2014/main" id="{C92C49C1-1A11-45CB-8B01-149DF14CFBC4}"/>
              </a:ext>
            </a:extLst>
          </p:cNvPr>
          <p:cNvSpPr/>
          <p:nvPr/>
        </p:nvSpPr>
        <p:spPr bwMode="auto">
          <a:xfrm rot="5400000">
            <a:off x="7962666" y="1713326"/>
            <a:ext cx="806781" cy="6763774"/>
          </a:xfrm>
          <a:prstGeom prst="down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vert270" wrap="square" lIns="108000" tIns="54000" rIns="108000" bIns="54000" numCol="1" spcCol="72000" rtlCol="0" anchor="ctr">
            <a:noAutofit/>
          </a:bodyPr>
          <a:lstStyle/>
          <a:p>
            <a:pPr algn="ctr">
              <a:lnSpc>
                <a:spcPct val="110000"/>
              </a:lnSpc>
              <a:spcBef>
                <a:spcPct val="0"/>
              </a:spcBef>
              <a:buFont typeface="Wingdings" charset="0"/>
              <a:buNone/>
            </a:pPr>
            <a:r>
              <a:rPr lang="en-US" b="1">
                <a:solidFill>
                  <a:schemeClr val="tx1"/>
                </a:solidFill>
                <a:latin typeface="+mn-lt"/>
                <a:ea typeface="Arial Unicode MS" panose="020B0604020202020204" pitchFamily="34" charset="-128"/>
                <a:cs typeface="Arial Unicode MS" panose="020B0604020202020204" pitchFamily="34" charset="-128"/>
              </a:rPr>
              <a:t>ENTROPY</a:t>
            </a:r>
            <a:endParaRPr lang="en-US" sz="1800" b="1">
              <a:solidFill>
                <a:schemeClr val="tx1"/>
              </a:solidFill>
              <a:latin typeface="+mn-lt"/>
              <a:ea typeface="Arial Unicode MS" panose="020B0604020202020204" pitchFamily="34" charset="-128"/>
              <a:cs typeface="Arial Unicode MS" panose="020B0604020202020204" pitchFamily="34" charset="-128"/>
            </a:endParaRPr>
          </a:p>
        </p:txBody>
      </p:sp>
      <p:sp>
        <p:nvSpPr>
          <p:cNvPr id="33" name="Rechteck 32">
            <a:extLst>
              <a:ext uri="{FF2B5EF4-FFF2-40B4-BE49-F238E27FC236}">
                <a16:creationId xmlns:a16="http://schemas.microsoft.com/office/drawing/2014/main" id="{081DE7C5-AEED-409C-84CF-F0E6BBBE66C1}"/>
              </a:ext>
            </a:extLst>
          </p:cNvPr>
          <p:cNvSpPr/>
          <p:nvPr/>
        </p:nvSpPr>
        <p:spPr bwMode="auto">
          <a:xfrm>
            <a:off x="627062" y="5698243"/>
            <a:ext cx="11088688" cy="48463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2000" b="1">
                <a:solidFill>
                  <a:schemeClr val="tx1"/>
                </a:solidFill>
                <a:latin typeface="+mn-lt"/>
                <a:ea typeface="Arial Unicode MS" panose="020B0604020202020204" pitchFamily="34" charset="-128"/>
                <a:cs typeface="Arial Unicode MS" panose="020B0604020202020204" pitchFamily="34" charset="-128"/>
              </a:rPr>
              <a:t>With Decreasing Entropy the Certainty Increases.</a:t>
            </a:r>
          </a:p>
        </p:txBody>
      </p:sp>
    </p:spTree>
    <p:extLst>
      <p:ext uri="{BB962C8B-B14F-4D97-AF65-F5344CB8AC3E}">
        <p14:creationId xmlns:p14="http://schemas.microsoft.com/office/powerpoint/2010/main" val="269281722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Loss Function: Entropy Measures Uncertainty of a Dataset</a:t>
            </a:r>
          </a:p>
        </p:txBody>
      </p:sp>
      <p:grpSp>
        <p:nvGrpSpPr>
          <p:cNvPr id="3" name="Gruppieren 2">
            <a:extLst>
              <a:ext uri="{FF2B5EF4-FFF2-40B4-BE49-F238E27FC236}">
                <a16:creationId xmlns:a16="http://schemas.microsoft.com/office/drawing/2014/main" id="{A0E09E2B-65D3-457C-B63B-168C81B2BA7A}"/>
              </a:ext>
            </a:extLst>
          </p:cNvPr>
          <p:cNvGrpSpPr/>
          <p:nvPr/>
        </p:nvGrpSpPr>
        <p:grpSpPr>
          <a:xfrm>
            <a:off x="6037564" y="2414587"/>
            <a:ext cx="5467374" cy="2495772"/>
            <a:chOff x="6106615" y="2276849"/>
            <a:chExt cx="5825444" cy="2703970"/>
          </a:xfrm>
        </p:grpSpPr>
        <p:grpSp>
          <p:nvGrpSpPr>
            <p:cNvPr id="56" name="Gruppieren 55">
              <a:extLst>
                <a:ext uri="{FF2B5EF4-FFF2-40B4-BE49-F238E27FC236}">
                  <a16:creationId xmlns:a16="http://schemas.microsoft.com/office/drawing/2014/main" id="{6B6A73D8-7CD2-43CE-BBC1-6ADEB5A91B93}"/>
                </a:ext>
              </a:extLst>
            </p:cNvPr>
            <p:cNvGrpSpPr/>
            <p:nvPr/>
          </p:nvGrpSpPr>
          <p:grpSpPr>
            <a:xfrm>
              <a:off x="10512823" y="2319784"/>
              <a:ext cx="1419236" cy="1443116"/>
              <a:chOff x="1022611" y="1474185"/>
              <a:chExt cx="1774044" cy="1803895"/>
            </a:xfrm>
          </p:grpSpPr>
          <p:sp>
            <p:nvSpPr>
              <p:cNvPr id="50" name="Ellipse 49">
                <a:extLst>
                  <a:ext uri="{FF2B5EF4-FFF2-40B4-BE49-F238E27FC236}">
                    <a16:creationId xmlns:a16="http://schemas.microsoft.com/office/drawing/2014/main" id="{DEE4A01E-65C8-4AA5-B438-3F16E744F386}"/>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1" name="Ellipse 50">
                <a:extLst>
                  <a:ext uri="{FF2B5EF4-FFF2-40B4-BE49-F238E27FC236}">
                    <a16:creationId xmlns:a16="http://schemas.microsoft.com/office/drawing/2014/main" id="{A5AB845C-9D22-4531-B674-7BA9FB71141F}"/>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C7046FA1-B81F-45B6-A3A8-4C70F8CA4563}"/>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F850A011-6661-4833-AF93-0056C3EBEFBF}"/>
                  </a:ext>
                </a:extLst>
              </p:cNvPr>
              <p:cNvSpPr/>
              <p:nvPr/>
            </p:nvSpPr>
            <p:spPr bwMode="auto">
              <a:xfrm>
                <a:off x="2267582" y="19344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7E0B033A-F38A-4D3A-BFC3-28BC1D847DD3}"/>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nvGrpSpPr>
            <p:cNvPr id="71" name="Gruppieren 70">
              <a:extLst>
                <a:ext uri="{FF2B5EF4-FFF2-40B4-BE49-F238E27FC236}">
                  <a16:creationId xmlns:a16="http://schemas.microsoft.com/office/drawing/2014/main" id="{F2D7BF9A-44EC-4B9E-85D7-4529969D20C5}"/>
                </a:ext>
              </a:extLst>
            </p:cNvPr>
            <p:cNvGrpSpPr/>
            <p:nvPr/>
          </p:nvGrpSpPr>
          <p:grpSpPr>
            <a:xfrm>
              <a:off x="8394203" y="2276849"/>
              <a:ext cx="1419235" cy="1443116"/>
              <a:chOff x="3000432" y="1630711"/>
              <a:chExt cx="1774044" cy="1803895"/>
            </a:xfrm>
          </p:grpSpPr>
          <p:sp>
            <p:nvSpPr>
              <p:cNvPr id="52" name="Ellipse 51">
                <a:extLst>
                  <a:ext uri="{FF2B5EF4-FFF2-40B4-BE49-F238E27FC236}">
                    <a16:creationId xmlns:a16="http://schemas.microsoft.com/office/drawing/2014/main" id="{9A53D71D-BC5D-46AC-9D2E-248E15BE23E1}"/>
                  </a:ext>
                </a:extLst>
              </p:cNvPr>
              <p:cNvSpPr/>
              <p:nvPr/>
            </p:nvSpPr>
            <p:spPr bwMode="auto">
              <a:xfrm>
                <a:off x="4257133"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57" name="Gruppieren 56">
                <a:extLst>
                  <a:ext uri="{FF2B5EF4-FFF2-40B4-BE49-F238E27FC236}">
                    <a16:creationId xmlns:a16="http://schemas.microsoft.com/office/drawing/2014/main" id="{E0886A2D-A641-4F50-B1DE-708332FC4DD9}"/>
                  </a:ext>
                </a:extLst>
              </p:cNvPr>
              <p:cNvGrpSpPr/>
              <p:nvPr/>
            </p:nvGrpSpPr>
            <p:grpSpPr>
              <a:xfrm>
                <a:off x="3000432" y="1630711"/>
                <a:ext cx="1774044" cy="1803895"/>
                <a:chOff x="1022611" y="1474185"/>
                <a:chExt cx="1774044" cy="1803895"/>
              </a:xfrm>
            </p:grpSpPr>
            <p:sp>
              <p:nvSpPr>
                <p:cNvPr id="58" name="Ellipse 57">
                  <a:extLst>
                    <a:ext uri="{FF2B5EF4-FFF2-40B4-BE49-F238E27FC236}">
                      <a16:creationId xmlns:a16="http://schemas.microsoft.com/office/drawing/2014/main" id="{C14D0DCB-AB54-44D9-ABB3-63C80DAE7890}"/>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1C6B96A0-C983-4FB4-9256-1A5F69E3536C}"/>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BF6CB057-5DB9-4DF0-8264-1028D64D82D4}"/>
                    </a:ext>
                  </a:extLst>
                </p:cNvPr>
                <p:cNvSpPr/>
                <p:nvPr/>
              </p:nvSpPr>
              <p:spPr bwMode="auto">
                <a:xfrm>
                  <a:off x="1899926" y="2613536"/>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D17ADD3D-80DD-471F-A104-CF8FBFD167EB}"/>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pSp>
        <p:grpSp>
          <p:nvGrpSpPr>
            <p:cNvPr id="70" name="Gruppieren 69">
              <a:extLst>
                <a:ext uri="{FF2B5EF4-FFF2-40B4-BE49-F238E27FC236}">
                  <a16:creationId xmlns:a16="http://schemas.microsoft.com/office/drawing/2014/main" id="{F57B8147-3259-4EA5-80AE-4EC61772F304}"/>
                </a:ext>
              </a:extLst>
            </p:cNvPr>
            <p:cNvGrpSpPr/>
            <p:nvPr/>
          </p:nvGrpSpPr>
          <p:grpSpPr>
            <a:xfrm>
              <a:off x="6158094" y="2319784"/>
              <a:ext cx="1419236" cy="1443116"/>
              <a:chOff x="5139516" y="1630711"/>
              <a:chExt cx="1774044" cy="1803895"/>
            </a:xfrm>
          </p:grpSpPr>
          <p:sp>
            <p:nvSpPr>
              <p:cNvPr id="63" name="Ellipse 62">
                <a:extLst>
                  <a:ext uri="{FF2B5EF4-FFF2-40B4-BE49-F238E27FC236}">
                    <a16:creationId xmlns:a16="http://schemas.microsoft.com/office/drawing/2014/main" id="{F3794FFF-4F53-4E6E-A000-3B2DAF215EBF}"/>
                  </a:ext>
                </a:extLst>
              </p:cNvPr>
              <p:cNvSpPr/>
              <p:nvPr/>
            </p:nvSpPr>
            <p:spPr bwMode="auto">
              <a:xfrm>
                <a:off x="6396217"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64" name="Gruppieren 63">
                <a:extLst>
                  <a:ext uri="{FF2B5EF4-FFF2-40B4-BE49-F238E27FC236}">
                    <a16:creationId xmlns:a16="http://schemas.microsoft.com/office/drawing/2014/main" id="{87A5D258-5AFF-4705-92A6-246A5F8A3ED6}"/>
                  </a:ext>
                </a:extLst>
              </p:cNvPr>
              <p:cNvGrpSpPr/>
              <p:nvPr/>
            </p:nvGrpSpPr>
            <p:grpSpPr>
              <a:xfrm>
                <a:off x="5139516" y="1630711"/>
                <a:ext cx="1774044" cy="1803895"/>
                <a:chOff x="1022611" y="1474185"/>
                <a:chExt cx="1774044" cy="1803895"/>
              </a:xfrm>
            </p:grpSpPr>
            <p:sp>
              <p:nvSpPr>
                <p:cNvPr id="65" name="Ellipse 64">
                  <a:extLst>
                    <a:ext uri="{FF2B5EF4-FFF2-40B4-BE49-F238E27FC236}">
                      <a16:creationId xmlns:a16="http://schemas.microsoft.com/office/drawing/2014/main" id="{449DCF0C-199A-41FC-B930-BCB4AFC51C5C}"/>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3FE2DC8E-6540-471A-9ACB-BD9341279BAA}"/>
                    </a:ext>
                  </a:extLst>
                </p:cNvPr>
                <p:cNvSpPr/>
                <p:nvPr/>
              </p:nvSpPr>
              <p:spPr bwMode="auto">
                <a:xfrm>
                  <a:off x="1736013" y="1900768"/>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9" name="Ellipse 68">
                <a:extLst>
                  <a:ext uri="{FF2B5EF4-FFF2-40B4-BE49-F238E27FC236}">
                    <a16:creationId xmlns:a16="http://schemas.microsoft.com/office/drawing/2014/main" id="{79604AE0-6EDB-4287-9961-9FB0DCC69BBA}"/>
                  </a:ext>
                </a:extLst>
              </p:cNvPr>
              <p:cNvSpPr/>
              <p:nvPr/>
            </p:nvSpPr>
            <p:spPr bwMode="auto">
              <a:xfrm>
                <a:off x="5970303" y="2761135"/>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mc:AlternateContent xmlns:mc="http://schemas.openxmlformats.org/markup-compatibility/2006" xmlns:a14="http://schemas.microsoft.com/office/drawing/2010/main">
          <mc:Choice Requires="a14">
            <p:sp>
              <p:nvSpPr>
                <p:cNvPr id="74" name="Textfeld 73">
                  <a:extLst>
                    <a:ext uri="{FF2B5EF4-FFF2-40B4-BE49-F238E27FC236}">
                      <a16:creationId xmlns:a16="http://schemas.microsoft.com/office/drawing/2014/main" id="{42C7C533-2F39-474B-B4BC-DC3A8FA4F495}"/>
                    </a:ext>
                  </a:extLst>
                </p:cNvPr>
                <p:cNvSpPr txBox="1"/>
                <p:nvPr/>
              </p:nvSpPr>
              <p:spPr>
                <a:xfrm>
                  <a:off x="6106615" y="4066419"/>
                  <a:ext cx="914400"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𝑹𝒆𝒅</m:t>
                            </m:r>
                          </m:sub>
                        </m:sSub>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𝟓𝟎</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𝟓</m:t>
                        </m:r>
                      </m:oMath>
                    </m:oMathPara>
                  </a14:m>
                  <a:endParaRPr lang="en-US" sz="14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4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4" name="Textfeld 73">
                  <a:extLst>
                    <a:ext uri="{FF2B5EF4-FFF2-40B4-BE49-F238E27FC236}">
                      <a16:creationId xmlns:a16="http://schemas.microsoft.com/office/drawing/2014/main" id="{42C7C533-2F39-474B-B4BC-DC3A8FA4F495}"/>
                    </a:ext>
                  </a:extLst>
                </p:cNvPr>
                <p:cNvSpPr txBox="1">
                  <a:spLocks noRot="1" noChangeAspect="1" noMove="1" noResize="1" noEditPoints="1" noAdjustHandles="1" noChangeArrowheads="1" noChangeShapeType="1" noTextEdit="1"/>
                </p:cNvSpPr>
                <p:nvPr/>
              </p:nvSpPr>
              <p:spPr>
                <a:xfrm>
                  <a:off x="6106615" y="4066419"/>
                  <a:ext cx="914400" cy="914400"/>
                </a:xfrm>
                <a:prstGeom prst="rect">
                  <a:avLst/>
                </a:prstGeom>
                <a:blipFill>
                  <a:blip r:embed="rId3"/>
                  <a:stretch>
                    <a:fillRect l="-9220" r="-794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5" name="Textfeld 74">
                  <a:extLst>
                    <a:ext uri="{FF2B5EF4-FFF2-40B4-BE49-F238E27FC236}">
                      <a16:creationId xmlns:a16="http://schemas.microsoft.com/office/drawing/2014/main" id="{51487F0D-9F40-492D-AD7E-E7E793DFE9B4}"/>
                    </a:ext>
                  </a:extLst>
                </p:cNvPr>
                <p:cNvSpPr txBox="1"/>
                <p:nvPr/>
              </p:nvSpPr>
              <p:spPr>
                <a:xfrm>
                  <a:off x="8318523" y="4020990"/>
                  <a:ext cx="914400"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𝑹𝒆𝒅</m:t>
                            </m:r>
                          </m:sub>
                        </m:sSub>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𝟕𝟓</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𝟕𝟓</m:t>
                        </m:r>
                      </m:oMath>
                    </m:oMathPara>
                  </a14:m>
                  <a:endParaRPr lang="en-US" sz="14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𝟖𝟏</m:t>
                        </m:r>
                      </m:oMath>
                    </m:oMathPara>
                  </a14:m>
                  <a:endParaRPr lang="en-US" sz="14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5" name="Textfeld 74">
                  <a:extLst>
                    <a:ext uri="{FF2B5EF4-FFF2-40B4-BE49-F238E27FC236}">
                      <a16:creationId xmlns:a16="http://schemas.microsoft.com/office/drawing/2014/main" id="{51487F0D-9F40-492D-AD7E-E7E793DFE9B4}"/>
                    </a:ext>
                  </a:extLst>
                </p:cNvPr>
                <p:cNvSpPr txBox="1">
                  <a:spLocks noRot="1" noChangeAspect="1" noMove="1" noResize="1" noEditPoints="1" noAdjustHandles="1" noChangeArrowheads="1" noChangeShapeType="1" noTextEdit="1"/>
                </p:cNvSpPr>
                <p:nvPr/>
              </p:nvSpPr>
              <p:spPr>
                <a:xfrm>
                  <a:off x="8318523" y="4020990"/>
                  <a:ext cx="914400" cy="914400"/>
                </a:xfrm>
                <a:prstGeom prst="rect">
                  <a:avLst/>
                </a:prstGeom>
                <a:blipFill>
                  <a:blip r:embed="rId4"/>
                  <a:stretch>
                    <a:fillRect l="-9220" r="-9078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6" name="Textfeld 75">
                  <a:extLst>
                    <a:ext uri="{FF2B5EF4-FFF2-40B4-BE49-F238E27FC236}">
                      <a16:creationId xmlns:a16="http://schemas.microsoft.com/office/drawing/2014/main" id="{EEB7E76D-A5A9-479C-BD82-A4553351B933}"/>
                    </a:ext>
                  </a:extLst>
                </p:cNvPr>
                <p:cNvSpPr txBox="1"/>
                <p:nvPr/>
              </p:nvSpPr>
              <p:spPr>
                <a:xfrm>
                  <a:off x="10533200" y="4020990"/>
                  <a:ext cx="914400" cy="914400"/>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𝑹𝒆𝒅</m:t>
                            </m:r>
                          </m:sub>
                        </m:sSub>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𝟏𝟎𝟎</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sz="14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4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oMath>
                    </m:oMathPara>
                  </a14:m>
                  <a:endParaRPr lang="en-US" sz="14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4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6" name="Textfeld 75">
                  <a:extLst>
                    <a:ext uri="{FF2B5EF4-FFF2-40B4-BE49-F238E27FC236}">
                      <a16:creationId xmlns:a16="http://schemas.microsoft.com/office/drawing/2014/main" id="{EEB7E76D-A5A9-479C-BD82-A4553351B933}"/>
                    </a:ext>
                  </a:extLst>
                </p:cNvPr>
                <p:cNvSpPr txBox="1">
                  <a:spLocks noRot="1" noChangeAspect="1" noMove="1" noResize="1" noEditPoints="1" noAdjustHandles="1" noChangeArrowheads="1" noChangeShapeType="1" noTextEdit="1"/>
                </p:cNvSpPr>
                <p:nvPr/>
              </p:nvSpPr>
              <p:spPr>
                <a:xfrm>
                  <a:off x="10533200" y="4020990"/>
                  <a:ext cx="914400" cy="914400"/>
                </a:xfrm>
                <a:prstGeom prst="rect">
                  <a:avLst/>
                </a:prstGeom>
                <a:blipFill>
                  <a:blip r:embed="rId5"/>
                  <a:stretch>
                    <a:fillRect l="-9220" r="-70922"/>
                  </a:stretch>
                </a:blipFill>
              </p:spPr>
              <p:txBody>
                <a:bodyPr/>
                <a:lstStyle/>
                <a:p>
                  <a:r>
                    <a:rPr lang="de-DE">
                      <a:noFill/>
                    </a:rPr>
                    <a:t> </a:t>
                  </a:r>
                </a:p>
              </p:txBody>
            </p:sp>
          </mc:Fallback>
        </mc:AlternateContent>
      </p:grpSp>
      <p:sp>
        <p:nvSpPr>
          <p:cNvPr id="8" name="Rechteck 7">
            <a:extLst>
              <a:ext uri="{FF2B5EF4-FFF2-40B4-BE49-F238E27FC236}">
                <a16:creationId xmlns:a16="http://schemas.microsoft.com/office/drawing/2014/main" id="{DDFF2101-BCE7-4A7C-A4EA-EEABA8FFF06F}"/>
              </a:ext>
            </a:extLst>
          </p:cNvPr>
          <p:cNvSpPr/>
          <p:nvPr/>
        </p:nvSpPr>
        <p:spPr bwMode="auto">
          <a:xfrm>
            <a:off x="627062" y="5698243"/>
            <a:ext cx="11088688" cy="48463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2000" b="1">
                <a:solidFill>
                  <a:schemeClr val="tx1"/>
                </a:solidFill>
                <a:latin typeface="+mn-lt"/>
                <a:ea typeface="Arial Unicode MS" panose="020B0604020202020204" pitchFamily="34" charset="-128"/>
                <a:cs typeface="Arial Unicode MS" panose="020B0604020202020204" pitchFamily="34" charset="-128"/>
              </a:rPr>
              <a:t>With Decreasing Entropy the Certainty Increases.</a:t>
            </a:r>
          </a:p>
        </p:txBody>
      </p:sp>
      <p:graphicFrame>
        <p:nvGraphicFramePr>
          <p:cNvPr id="32" name="Diagramm 31">
            <a:extLst>
              <a:ext uri="{FF2B5EF4-FFF2-40B4-BE49-F238E27FC236}">
                <a16:creationId xmlns:a16="http://schemas.microsoft.com/office/drawing/2014/main" id="{156F26AE-1741-41B0-8122-B8373A94F969}"/>
              </a:ext>
            </a:extLst>
          </p:cNvPr>
          <p:cNvGraphicFramePr>
            <a:graphicFrameLocks/>
          </p:cNvGraphicFramePr>
          <p:nvPr>
            <p:extLst>
              <p:ext uri="{D42A27DB-BD31-4B8C-83A1-F6EECF244321}">
                <p14:modId xmlns:p14="http://schemas.microsoft.com/office/powerpoint/2010/main" val="4109831667"/>
              </p:ext>
            </p:extLst>
          </p:nvPr>
        </p:nvGraphicFramePr>
        <p:xfrm>
          <a:off x="651446" y="1957416"/>
          <a:ext cx="4893006" cy="3560657"/>
        </p:xfrm>
        <a:graphic>
          <a:graphicData uri="http://schemas.openxmlformats.org/drawingml/2006/chart">
            <c:chart xmlns:c="http://schemas.openxmlformats.org/drawingml/2006/chart" xmlns:r="http://schemas.openxmlformats.org/officeDocument/2006/relationships" r:id="rId6"/>
          </a:graphicData>
        </a:graphic>
      </p:graphicFrame>
      <p:sp>
        <p:nvSpPr>
          <p:cNvPr id="4" name="Pfeil: nach links und rechts 3">
            <a:extLst>
              <a:ext uri="{FF2B5EF4-FFF2-40B4-BE49-F238E27FC236}">
                <a16:creationId xmlns:a16="http://schemas.microsoft.com/office/drawing/2014/main" id="{F7F6194F-9958-4120-BBEE-EACDFC72A899}"/>
              </a:ext>
            </a:extLst>
          </p:cNvPr>
          <p:cNvSpPr/>
          <p:nvPr/>
        </p:nvSpPr>
        <p:spPr bwMode="auto">
          <a:xfrm>
            <a:off x="743235" y="1395074"/>
            <a:ext cx="5093412" cy="504000"/>
          </a:xfrm>
          <a:prstGeom prst="leftRightArrow">
            <a:avLst>
              <a:gd name="adj1" fmla="val 53565"/>
              <a:gd name="adj2" fmla="val 69607"/>
            </a:avLst>
          </a:prstGeom>
          <a:gradFill flip="none" rotWithShape="1">
            <a:gsLst>
              <a:gs pos="0">
                <a:schemeClr val="accent2">
                  <a:lumMod val="20000"/>
                  <a:lumOff val="80000"/>
                </a:schemeClr>
              </a:gs>
              <a:gs pos="77000">
                <a:schemeClr val="accent2">
                  <a:lumMod val="75000"/>
                </a:schemeClr>
              </a:gs>
              <a:gs pos="100000">
                <a:schemeClr val="accent2">
                  <a:lumMod val="50000"/>
                </a:schemeClr>
              </a:gs>
            </a:gsLst>
            <a:path path="shape">
              <a:fillToRect l="50000" t="50000" r="50000" b="50000"/>
            </a:path>
            <a:tileRect/>
          </a:gra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b="1">
                <a:solidFill>
                  <a:schemeClr val="tx1"/>
                </a:solidFill>
                <a:latin typeface="+mn-lt"/>
                <a:ea typeface="Arial Unicode MS" panose="020B0604020202020204" pitchFamily="34" charset="-128"/>
                <a:cs typeface="Arial Unicode MS" panose="020B0604020202020204" pitchFamily="34" charset="-128"/>
              </a:rPr>
              <a:t>Certain</a:t>
            </a:r>
            <a:r>
              <a:rPr lang="en-US" sz="1800" b="1">
                <a:solidFill>
                  <a:schemeClr val="tx1"/>
                </a:solidFill>
                <a:latin typeface="+mn-lt"/>
                <a:ea typeface="Arial Unicode MS" panose="020B0604020202020204" pitchFamily="34" charset="-128"/>
                <a:cs typeface="Arial Unicode MS" panose="020B0604020202020204" pitchFamily="34" charset="-128"/>
              </a:rPr>
              <a:t>ty</a:t>
            </a:r>
          </a:p>
        </p:txBody>
      </p:sp>
      <p:sp>
        <p:nvSpPr>
          <p:cNvPr id="5" name="Pfeil: nach oben 4">
            <a:extLst>
              <a:ext uri="{FF2B5EF4-FFF2-40B4-BE49-F238E27FC236}">
                <a16:creationId xmlns:a16="http://schemas.microsoft.com/office/drawing/2014/main" id="{15CEE737-D480-4E65-AFA8-4CC9EE5C4F3A}"/>
              </a:ext>
            </a:extLst>
          </p:cNvPr>
          <p:cNvSpPr/>
          <p:nvPr/>
        </p:nvSpPr>
        <p:spPr bwMode="auto">
          <a:xfrm>
            <a:off x="565626" y="1899589"/>
            <a:ext cx="653954" cy="3241476"/>
          </a:xfrm>
          <a:prstGeom prst="upArrow">
            <a:avLst/>
          </a:prstGeom>
          <a:gradFill flip="none" rotWithShape="1">
            <a:gsLst>
              <a:gs pos="0">
                <a:schemeClr val="accent2">
                  <a:lumMod val="50000"/>
                </a:schemeClr>
              </a:gs>
              <a:gs pos="25000">
                <a:schemeClr val="accent2">
                  <a:lumMod val="75000"/>
                </a:schemeClr>
              </a:gs>
              <a:gs pos="100000">
                <a:schemeClr val="accent2">
                  <a:lumMod val="20000"/>
                  <a:lumOff val="80000"/>
                </a:schemeClr>
              </a:gs>
            </a:gsLst>
            <a:lin ang="5400000" scaled="1"/>
            <a:tileRect/>
          </a:gradFill>
          <a:ln>
            <a:noFill/>
          </a:ln>
          <a:effectLst/>
        </p:spPr>
        <p:txBody>
          <a:bodyPr vert="vert270"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tx1"/>
                </a:solidFill>
                <a:latin typeface="+mn-lt"/>
                <a:ea typeface="Arial Unicode MS" panose="020B0604020202020204" pitchFamily="34" charset="-128"/>
                <a:cs typeface="Arial Unicode MS" panose="020B0604020202020204" pitchFamily="34" charset="-128"/>
              </a:rPr>
              <a:t>Entropy</a:t>
            </a:r>
          </a:p>
        </p:txBody>
      </p:sp>
      <p:sp>
        <p:nvSpPr>
          <p:cNvPr id="17" name="Ellipse 16">
            <a:extLst>
              <a:ext uri="{FF2B5EF4-FFF2-40B4-BE49-F238E27FC236}">
                <a16:creationId xmlns:a16="http://schemas.microsoft.com/office/drawing/2014/main" id="{F863DD44-DC0A-4579-90B2-C1B36CA16925}"/>
              </a:ext>
            </a:extLst>
          </p:cNvPr>
          <p:cNvSpPr/>
          <p:nvPr/>
        </p:nvSpPr>
        <p:spPr bwMode="auto">
          <a:xfrm>
            <a:off x="3328016" y="2076042"/>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7" name="Ellipse 46">
            <a:extLst>
              <a:ext uri="{FF2B5EF4-FFF2-40B4-BE49-F238E27FC236}">
                <a16:creationId xmlns:a16="http://schemas.microsoft.com/office/drawing/2014/main" id="{2FAEC227-C98A-4244-9CEC-31027D5D55FE}"/>
              </a:ext>
            </a:extLst>
          </p:cNvPr>
          <p:cNvSpPr/>
          <p:nvPr/>
        </p:nvSpPr>
        <p:spPr bwMode="auto">
          <a:xfrm>
            <a:off x="4262971" y="2534872"/>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8" name="Ellipse 47">
            <a:extLst>
              <a:ext uri="{FF2B5EF4-FFF2-40B4-BE49-F238E27FC236}">
                <a16:creationId xmlns:a16="http://schemas.microsoft.com/office/drawing/2014/main" id="{6457B3F6-5EA6-42C0-AB11-6B17CFDBB294}"/>
              </a:ext>
            </a:extLst>
          </p:cNvPr>
          <p:cNvSpPr/>
          <p:nvPr/>
        </p:nvSpPr>
        <p:spPr bwMode="auto">
          <a:xfrm>
            <a:off x="5307087" y="4833156"/>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1642BC46-4139-4CEC-AA9F-D973F4AA460E}"/>
                  </a:ext>
                </a:extLst>
              </p:cNvPr>
              <p:cNvSpPr txBox="1"/>
              <p:nvPr/>
            </p:nvSpPr>
            <p:spPr>
              <a:xfrm>
                <a:off x="3521836" y="1882493"/>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=50%=0.5</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18" name="Textfeld 17">
                <a:extLst>
                  <a:ext uri="{FF2B5EF4-FFF2-40B4-BE49-F238E27FC236}">
                    <a16:creationId xmlns:a16="http://schemas.microsoft.com/office/drawing/2014/main" id="{1642BC46-4139-4CEC-AA9F-D973F4AA460E}"/>
                  </a:ext>
                </a:extLst>
              </p:cNvPr>
              <p:cNvSpPr txBox="1">
                <a:spLocks noRot="1" noChangeAspect="1" noMove="1" noResize="1" noEditPoints="1" noAdjustHandles="1" noChangeArrowheads="1" noChangeShapeType="1" noTextEdit="1"/>
              </p:cNvSpPr>
              <p:nvPr/>
            </p:nvSpPr>
            <p:spPr>
              <a:xfrm>
                <a:off x="3521836" y="1882493"/>
                <a:ext cx="914400" cy="914400"/>
              </a:xfrm>
              <a:prstGeom prst="rect">
                <a:avLst/>
              </a:prstGeom>
              <a:blipFill>
                <a:blip r:embed="rId7"/>
                <a:stretch>
                  <a:fillRect l="-6000" r="-373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1" name="Textfeld 60">
                <a:extLst>
                  <a:ext uri="{FF2B5EF4-FFF2-40B4-BE49-F238E27FC236}">
                    <a16:creationId xmlns:a16="http://schemas.microsoft.com/office/drawing/2014/main" id="{88BFB76D-5842-4B0E-BF86-7B1944A94773}"/>
                  </a:ext>
                </a:extLst>
              </p:cNvPr>
              <p:cNvSpPr txBox="1"/>
              <p:nvPr/>
            </p:nvSpPr>
            <p:spPr>
              <a:xfrm>
                <a:off x="4442991" y="2406588"/>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75</m:t>
                      </m:r>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0.75</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61" name="Textfeld 60">
                <a:extLst>
                  <a:ext uri="{FF2B5EF4-FFF2-40B4-BE49-F238E27FC236}">
                    <a16:creationId xmlns:a16="http://schemas.microsoft.com/office/drawing/2014/main" id="{88BFB76D-5842-4B0E-BF86-7B1944A94773}"/>
                  </a:ext>
                </a:extLst>
              </p:cNvPr>
              <p:cNvSpPr txBox="1">
                <a:spLocks noRot="1" noChangeAspect="1" noMove="1" noResize="1" noEditPoints="1" noAdjustHandles="1" noChangeArrowheads="1" noChangeShapeType="1" noTextEdit="1"/>
              </p:cNvSpPr>
              <p:nvPr/>
            </p:nvSpPr>
            <p:spPr>
              <a:xfrm>
                <a:off x="4442991" y="2406588"/>
                <a:ext cx="914400" cy="914400"/>
              </a:xfrm>
              <a:prstGeom prst="rect">
                <a:avLst/>
              </a:prstGeom>
              <a:blipFill>
                <a:blip r:embed="rId8"/>
                <a:stretch>
                  <a:fillRect l="-6000" r="-46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7" name="Textfeld 66">
                <a:extLst>
                  <a:ext uri="{FF2B5EF4-FFF2-40B4-BE49-F238E27FC236}">
                    <a16:creationId xmlns:a16="http://schemas.microsoft.com/office/drawing/2014/main" id="{0AB032B4-7F81-499D-83A5-C456A9065845}"/>
                  </a:ext>
                </a:extLst>
              </p:cNvPr>
              <p:cNvSpPr txBox="1"/>
              <p:nvPr/>
            </p:nvSpPr>
            <p:spPr>
              <a:xfrm>
                <a:off x="5536704" y="4865340"/>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100</m:t>
                      </m:r>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67" name="Textfeld 66">
                <a:extLst>
                  <a:ext uri="{FF2B5EF4-FFF2-40B4-BE49-F238E27FC236}">
                    <a16:creationId xmlns:a16="http://schemas.microsoft.com/office/drawing/2014/main" id="{0AB032B4-7F81-499D-83A5-C456A9065845}"/>
                  </a:ext>
                </a:extLst>
              </p:cNvPr>
              <p:cNvSpPr txBox="1">
                <a:spLocks noRot="1" noChangeAspect="1" noMove="1" noResize="1" noEditPoints="1" noAdjustHandles="1" noChangeArrowheads="1" noChangeShapeType="1" noTextEdit="1"/>
              </p:cNvSpPr>
              <p:nvPr/>
            </p:nvSpPr>
            <p:spPr>
              <a:xfrm>
                <a:off x="5536704" y="4865340"/>
                <a:ext cx="914400" cy="914400"/>
              </a:xfrm>
              <a:prstGeom prst="rect">
                <a:avLst/>
              </a:prstGeom>
              <a:blipFill>
                <a:blip r:embed="rId9"/>
                <a:stretch>
                  <a:fillRect l="-6000" r="-33333"/>
                </a:stretch>
              </a:blipFill>
            </p:spPr>
            <p:txBody>
              <a:bodyPr/>
              <a:lstStyle/>
              <a:p>
                <a:r>
                  <a:rPr lang="de-DE">
                    <a:noFill/>
                  </a:rPr>
                  <a:t> </a:t>
                </a:r>
              </a:p>
            </p:txBody>
          </p:sp>
        </mc:Fallback>
      </mc:AlternateContent>
    </p:spTree>
    <p:extLst>
      <p:ext uri="{BB962C8B-B14F-4D97-AF65-F5344CB8AC3E}">
        <p14:creationId xmlns:p14="http://schemas.microsoft.com/office/powerpoint/2010/main" val="35640548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Entropy Measures Impurity of a Dataset</a:t>
            </a:r>
          </a:p>
        </p:txBody>
      </p:sp>
      <p:grpSp>
        <p:nvGrpSpPr>
          <p:cNvPr id="70" name="Gruppieren 69">
            <a:extLst>
              <a:ext uri="{FF2B5EF4-FFF2-40B4-BE49-F238E27FC236}">
                <a16:creationId xmlns:a16="http://schemas.microsoft.com/office/drawing/2014/main" id="{F57B8147-3259-4EA5-80AE-4EC61772F304}"/>
              </a:ext>
            </a:extLst>
          </p:cNvPr>
          <p:cNvGrpSpPr/>
          <p:nvPr/>
        </p:nvGrpSpPr>
        <p:grpSpPr>
          <a:xfrm>
            <a:off x="7775578" y="2648833"/>
            <a:ext cx="1800000" cy="1800000"/>
            <a:chOff x="5139516" y="1630711"/>
            <a:chExt cx="1774044" cy="1803895"/>
          </a:xfrm>
        </p:grpSpPr>
        <p:sp>
          <p:nvSpPr>
            <p:cNvPr id="63" name="Ellipse 62">
              <a:extLst>
                <a:ext uri="{FF2B5EF4-FFF2-40B4-BE49-F238E27FC236}">
                  <a16:creationId xmlns:a16="http://schemas.microsoft.com/office/drawing/2014/main" id="{F3794FFF-4F53-4E6E-A000-3B2DAF215EBF}"/>
                </a:ext>
              </a:extLst>
            </p:cNvPr>
            <p:cNvSpPr/>
            <p:nvPr/>
          </p:nvSpPr>
          <p:spPr bwMode="auto">
            <a:xfrm>
              <a:off x="6396217"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64" name="Gruppieren 63">
              <a:extLst>
                <a:ext uri="{FF2B5EF4-FFF2-40B4-BE49-F238E27FC236}">
                  <a16:creationId xmlns:a16="http://schemas.microsoft.com/office/drawing/2014/main" id="{87A5D258-5AFF-4705-92A6-246A5F8A3ED6}"/>
                </a:ext>
              </a:extLst>
            </p:cNvPr>
            <p:cNvGrpSpPr/>
            <p:nvPr/>
          </p:nvGrpSpPr>
          <p:grpSpPr>
            <a:xfrm>
              <a:off x="5139516" y="1630711"/>
              <a:ext cx="1774044" cy="1803895"/>
              <a:chOff x="1022611" y="1474185"/>
              <a:chExt cx="1774044" cy="1803895"/>
            </a:xfrm>
          </p:grpSpPr>
          <p:sp>
            <p:nvSpPr>
              <p:cNvPr id="65" name="Ellipse 64">
                <a:extLst>
                  <a:ext uri="{FF2B5EF4-FFF2-40B4-BE49-F238E27FC236}">
                    <a16:creationId xmlns:a16="http://schemas.microsoft.com/office/drawing/2014/main" id="{449DCF0C-199A-41FC-B930-BCB4AFC51C5C}"/>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3FE2DC8E-6540-471A-9ACB-BD9341279BAA}"/>
                  </a:ext>
                </a:extLst>
              </p:cNvPr>
              <p:cNvSpPr/>
              <p:nvPr/>
            </p:nvSpPr>
            <p:spPr bwMode="auto">
              <a:xfrm>
                <a:off x="1736013" y="1900768"/>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9" name="Ellipse 68">
              <a:extLst>
                <a:ext uri="{FF2B5EF4-FFF2-40B4-BE49-F238E27FC236}">
                  <a16:creationId xmlns:a16="http://schemas.microsoft.com/office/drawing/2014/main" id="{79604AE0-6EDB-4287-9961-9FB0DCC69BBA}"/>
                </a:ext>
              </a:extLst>
            </p:cNvPr>
            <p:cNvSpPr/>
            <p:nvPr/>
          </p:nvSpPr>
          <p:spPr bwMode="auto">
            <a:xfrm>
              <a:off x="5970303" y="2761135"/>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8" name="Rechteck 7">
            <a:extLst>
              <a:ext uri="{FF2B5EF4-FFF2-40B4-BE49-F238E27FC236}">
                <a16:creationId xmlns:a16="http://schemas.microsoft.com/office/drawing/2014/main" id="{DDFF2101-BCE7-4A7C-A4EA-EEABA8FFF06F}"/>
              </a:ext>
            </a:extLst>
          </p:cNvPr>
          <p:cNvSpPr/>
          <p:nvPr/>
        </p:nvSpPr>
        <p:spPr bwMode="auto">
          <a:xfrm>
            <a:off x="627062" y="5698243"/>
            <a:ext cx="11088688" cy="48463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2000" b="1">
                <a:solidFill>
                  <a:schemeClr val="tx1"/>
                </a:solidFill>
                <a:latin typeface="+mn-lt"/>
                <a:ea typeface="Arial Unicode MS" panose="020B0604020202020204" pitchFamily="34" charset="-128"/>
                <a:cs typeface="Arial Unicode MS" panose="020B0604020202020204" pitchFamily="34" charset="-128"/>
              </a:rPr>
              <a:t>With Decreasing Entropy the Certainty Increases.</a:t>
            </a:r>
          </a:p>
        </p:txBody>
      </p:sp>
      <p:graphicFrame>
        <p:nvGraphicFramePr>
          <p:cNvPr id="32" name="Diagramm 31">
            <a:extLst>
              <a:ext uri="{FF2B5EF4-FFF2-40B4-BE49-F238E27FC236}">
                <a16:creationId xmlns:a16="http://schemas.microsoft.com/office/drawing/2014/main" id="{156F26AE-1741-41B0-8122-B8373A94F969}"/>
              </a:ext>
            </a:extLst>
          </p:cNvPr>
          <p:cNvGraphicFramePr>
            <a:graphicFrameLocks/>
          </p:cNvGraphicFramePr>
          <p:nvPr>
            <p:extLst>
              <p:ext uri="{D42A27DB-BD31-4B8C-83A1-F6EECF244321}">
                <p14:modId xmlns:p14="http://schemas.microsoft.com/office/powerpoint/2010/main" val="1415800055"/>
              </p:ext>
            </p:extLst>
          </p:nvPr>
        </p:nvGraphicFramePr>
        <p:xfrm>
          <a:off x="651446" y="1957416"/>
          <a:ext cx="4893006" cy="3560657"/>
        </p:xfrm>
        <a:graphic>
          <a:graphicData uri="http://schemas.openxmlformats.org/drawingml/2006/chart">
            <c:chart xmlns:c="http://schemas.openxmlformats.org/drawingml/2006/chart" xmlns:r="http://schemas.openxmlformats.org/officeDocument/2006/relationships" r:id="rId3"/>
          </a:graphicData>
        </a:graphic>
      </p:graphicFrame>
      <p:sp>
        <p:nvSpPr>
          <p:cNvPr id="4" name="Pfeil: nach links und rechts 3">
            <a:extLst>
              <a:ext uri="{FF2B5EF4-FFF2-40B4-BE49-F238E27FC236}">
                <a16:creationId xmlns:a16="http://schemas.microsoft.com/office/drawing/2014/main" id="{F7F6194F-9958-4120-BBEE-EACDFC72A899}"/>
              </a:ext>
            </a:extLst>
          </p:cNvPr>
          <p:cNvSpPr/>
          <p:nvPr/>
        </p:nvSpPr>
        <p:spPr bwMode="auto">
          <a:xfrm>
            <a:off x="743235" y="1395074"/>
            <a:ext cx="5093412" cy="504000"/>
          </a:xfrm>
          <a:prstGeom prst="leftRightArrow">
            <a:avLst>
              <a:gd name="adj1" fmla="val 53565"/>
              <a:gd name="adj2" fmla="val 69607"/>
            </a:avLst>
          </a:prstGeom>
          <a:gradFill flip="none" rotWithShape="1">
            <a:gsLst>
              <a:gs pos="0">
                <a:schemeClr val="accent2">
                  <a:lumMod val="20000"/>
                  <a:lumOff val="80000"/>
                </a:schemeClr>
              </a:gs>
              <a:gs pos="77000">
                <a:schemeClr val="accent2">
                  <a:lumMod val="75000"/>
                </a:schemeClr>
              </a:gs>
              <a:gs pos="100000">
                <a:schemeClr val="accent2">
                  <a:lumMod val="50000"/>
                </a:schemeClr>
              </a:gs>
            </a:gsLst>
            <a:path path="shape">
              <a:fillToRect l="50000" t="50000" r="50000" b="50000"/>
            </a:path>
            <a:tileRect/>
          </a:gra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tx1"/>
                </a:solidFill>
                <a:latin typeface="+mn-lt"/>
                <a:ea typeface="Arial Unicode MS" panose="020B0604020202020204" pitchFamily="34" charset="-128"/>
                <a:cs typeface="Arial Unicode MS" panose="020B0604020202020204" pitchFamily="34" charset="-128"/>
              </a:rPr>
              <a:t>Certainty</a:t>
            </a:r>
          </a:p>
        </p:txBody>
      </p:sp>
      <p:sp>
        <p:nvSpPr>
          <p:cNvPr id="5" name="Pfeil: nach oben 4">
            <a:extLst>
              <a:ext uri="{FF2B5EF4-FFF2-40B4-BE49-F238E27FC236}">
                <a16:creationId xmlns:a16="http://schemas.microsoft.com/office/drawing/2014/main" id="{15CEE737-D480-4E65-AFA8-4CC9EE5C4F3A}"/>
              </a:ext>
            </a:extLst>
          </p:cNvPr>
          <p:cNvSpPr/>
          <p:nvPr/>
        </p:nvSpPr>
        <p:spPr bwMode="auto">
          <a:xfrm>
            <a:off x="565626" y="1899589"/>
            <a:ext cx="653954" cy="3241476"/>
          </a:xfrm>
          <a:prstGeom prst="upArrow">
            <a:avLst/>
          </a:prstGeom>
          <a:gradFill flip="none" rotWithShape="1">
            <a:gsLst>
              <a:gs pos="0">
                <a:schemeClr val="accent2">
                  <a:lumMod val="50000"/>
                </a:schemeClr>
              </a:gs>
              <a:gs pos="25000">
                <a:schemeClr val="accent2">
                  <a:lumMod val="75000"/>
                </a:schemeClr>
              </a:gs>
              <a:gs pos="100000">
                <a:schemeClr val="accent2">
                  <a:lumMod val="20000"/>
                  <a:lumOff val="80000"/>
                </a:schemeClr>
              </a:gs>
            </a:gsLst>
            <a:lin ang="5400000" scaled="1"/>
            <a:tileRect/>
          </a:gradFill>
          <a:ln>
            <a:noFill/>
          </a:ln>
          <a:effectLst/>
        </p:spPr>
        <p:txBody>
          <a:bodyPr vert="vert270"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tx1"/>
                </a:solidFill>
                <a:latin typeface="+mn-lt"/>
                <a:ea typeface="Arial Unicode MS" panose="020B0604020202020204" pitchFamily="34" charset="-128"/>
                <a:cs typeface="Arial Unicode MS" panose="020B0604020202020204" pitchFamily="34" charset="-128"/>
              </a:rPr>
              <a:t>Entropy</a:t>
            </a:r>
          </a:p>
        </p:txBody>
      </p:sp>
      <p:sp>
        <p:nvSpPr>
          <p:cNvPr id="17" name="Ellipse 16">
            <a:extLst>
              <a:ext uri="{FF2B5EF4-FFF2-40B4-BE49-F238E27FC236}">
                <a16:creationId xmlns:a16="http://schemas.microsoft.com/office/drawing/2014/main" id="{F863DD44-DC0A-4579-90B2-C1B36CA16925}"/>
              </a:ext>
            </a:extLst>
          </p:cNvPr>
          <p:cNvSpPr/>
          <p:nvPr/>
        </p:nvSpPr>
        <p:spPr bwMode="auto">
          <a:xfrm>
            <a:off x="3328016" y="2076042"/>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7" name="Ellipse 46">
            <a:extLst>
              <a:ext uri="{FF2B5EF4-FFF2-40B4-BE49-F238E27FC236}">
                <a16:creationId xmlns:a16="http://schemas.microsoft.com/office/drawing/2014/main" id="{2FAEC227-C98A-4244-9CEC-31027D5D55FE}"/>
              </a:ext>
            </a:extLst>
          </p:cNvPr>
          <p:cNvSpPr/>
          <p:nvPr/>
        </p:nvSpPr>
        <p:spPr bwMode="auto">
          <a:xfrm>
            <a:off x="4262971" y="2534872"/>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8" name="Ellipse 47">
            <a:extLst>
              <a:ext uri="{FF2B5EF4-FFF2-40B4-BE49-F238E27FC236}">
                <a16:creationId xmlns:a16="http://schemas.microsoft.com/office/drawing/2014/main" id="{6457B3F6-5EA6-42C0-AB11-6B17CFDBB294}"/>
              </a:ext>
            </a:extLst>
          </p:cNvPr>
          <p:cNvSpPr/>
          <p:nvPr/>
        </p:nvSpPr>
        <p:spPr bwMode="auto">
          <a:xfrm>
            <a:off x="5307087" y="4833156"/>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1642BC46-4139-4CEC-AA9F-D973F4AA460E}"/>
                  </a:ext>
                </a:extLst>
              </p:cNvPr>
              <p:cNvSpPr txBox="1"/>
              <p:nvPr/>
            </p:nvSpPr>
            <p:spPr>
              <a:xfrm>
                <a:off x="3521836" y="1882493"/>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=50%=0.5</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18" name="Textfeld 17">
                <a:extLst>
                  <a:ext uri="{FF2B5EF4-FFF2-40B4-BE49-F238E27FC236}">
                    <a16:creationId xmlns:a16="http://schemas.microsoft.com/office/drawing/2014/main" id="{1642BC46-4139-4CEC-AA9F-D973F4AA460E}"/>
                  </a:ext>
                </a:extLst>
              </p:cNvPr>
              <p:cNvSpPr txBox="1">
                <a:spLocks noRot="1" noChangeAspect="1" noMove="1" noResize="1" noEditPoints="1" noAdjustHandles="1" noChangeArrowheads="1" noChangeShapeType="1" noTextEdit="1"/>
              </p:cNvSpPr>
              <p:nvPr/>
            </p:nvSpPr>
            <p:spPr>
              <a:xfrm>
                <a:off x="3521836" y="1882493"/>
                <a:ext cx="914400" cy="914400"/>
              </a:xfrm>
              <a:prstGeom prst="rect">
                <a:avLst/>
              </a:prstGeom>
              <a:blipFill>
                <a:blip r:embed="rId4"/>
                <a:stretch>
                  <a:fillRect l="-6000" r="-373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1" name="Textfeld 60">
                <a:extLst>
                  <a:ext uri="{FF2B5EF4-FFF2-40B4-BE49-F238E27FC236}">
                    <a16:creationId xmlns:a16="http://schemas.microsoft.com/office/drawing/2014/main" id="{88BFB76D-5842-4B0E-BF86-7B1944A94773}"/>
                  </a:ext>
                </a:extLst>
              </p:cNvPr>
              <p:cNvSpPr txBox="1"/>
              <p:nvPr/>
            </p:nvSpPr>
            <p:spPr>
              <a:xfrm>
                <a:off x="4442991" y="2406588"/>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75</m:t>
                      </m:r>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0.75</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61" name="Textfeld 60">
                <a:extLst>
                  <a:ext uri="{FF2B5EF4-FFF2-40B4-BE49-F238E27FC236}">
                    <a16:creationId xmlns:a16="http://schemas.microsoft.com/office/drawing/2014/main" id="{88BFB76D-5842-4B0E-BF86-7B1944A94773}"/>
                  </a:ext>
                </a:extLst>
              </p:cNvPr>
              <p:cNvSpPr txBox="1">
                <a:spLocks noRot="1" noChangeAspect="1" noMove="1" noResize="1" noEditPoints="1" noAdjustHandles="1" noChangeArrowheads="1" noChangeShapeType="1" noTextEdit="1"/>
              </p:cNvSpPr>
              <p:nvPr/>
            </p:nvSpPr>
            <p:spPr>
              <a:xfrm>
                <a:off x="4442991" y="2406588"/>
                <a:ext cx="914400" cy="914400"/>
              </a:xfrm>
              <a:prstGeom prst="rect">
                <a:avLst/>
              </a:prstGeom>
              <a:blipFill>
                <a:blip r:embed="rId5"/>
                <a:stretch>
                  <a:fillRect l="-6000" r="-46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7" name="Textfeld 66">
                <a:extLst>
                  <a:ext uri="{FF2B5EF4-FFF2-40B4-BE49-F238E27FC236}">
                    <a16:creationId xmlns:a16="http://schemas.microsoft.com/office/drawing/2014/main" id="{0AB032B4-7F81-499D-83A5-C456A9065845}"/>
                  </a:ext>
                </a:extLst>
              </p:cNvPr>
              <p:cNvSpPr txBox="1"/>
              <p:nvPr/>
            </p:nvSpPr>
            <p:spPr>
              <a:xfrm>
                <a:off x="5536704" y="4865340"/>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100</m:t>
                      </m:r>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67" name="Textfeld 66">
                <a:extLst>
                  <a:ext uri="{FF2B5EF4-FFF2-40B4-BE49-F238E27FC236}">
                    <a16:creationId xmlns:a16="http://schemas.microsoft.com/office/drawing/2014/main" id="{0AB032B4-7F81-499D-83A5-C456A9065845}"/>
                  </a:ext>
                </a:extLst>
              </p:cNvPr>
              <p:cNvSpPr txBox="1">
                <a:spLocks noRot="1" noChangeAspect="1" noMove="1" noResize="1" noEditPoints="1" noAdjustHandles="1" noChangeArrowheads="1" noChangeShapeType="1" noTextEdit="1"/>
              </p:cNvSpPr>
              <p:nvPr/>
            </p:nvSpPr>
            <p:spPr>
              <a:xfrm>
                <a:off x="5536704" y="4865340"/>
                <a:ext cx="914400" cy="914400"/>
              </a:xfrm>
              <a:prstGeom prst="rect">
                <a:avLst/>
              </a:prstGeom>
              <a:blipFill>
                <a:blip r:embed="rId6"/>
                <a:stretch>
                  <a:fillRect l="-6000" r="-33333"/>
                </a:stretch>
              </a:blipFill>
            </p:spPr>
            <p:txBody>
              <a:bodyPr/>
              <a:lstStyle/>
              <a:p>
                <a:r>
                  <a:rPr lang="de-DE">
                    <a:noFill/>
                  </a:rPr>
                  <a:t> </a:t>
                </a:r>
              </a:p>
            </p:txBody>
          </p:sp>
        </mc:Fallback>
      </mc:AlternateContent>
      <p:sp>
        <p:nvSpPr>
          <p:cNvPr id="6" name="Textfeld 5">
            <a:extLst>
              <a:ext uri="{FF2B5EF4-FFF2-40B4-BE49-F238E27FC236}">
                <a16:creationId xmlns:a16="http://schemas.microsoft.com/office/drawing/2014/main" id="{CCEA7D5B-A359-4C64-B13E-D558787ED621}"/>
              </a:ext>
            </a:extLst>
          </p:cNvPr>
          <p:cNvSpPr txBox="1"/>
          <p:nvPr/>
        </p:nvSpPr>
        <p:spPr>
          <a:xfrm>
            <a:off x="6932308" y="1881742"/>
            <a:ext cx="914400" cy="914400"/>
          </a:xfrm>
          <a:prstGeom prst="rect">
            <a:avLst/>
          </a:prstGeom>
          <a:noFill/>
        </p:spPr>
        <p:txBody>
          <a:bodyPr wrap="non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Where is this sample in the graph?</a:t>
            </a:r>
          </a:p>
        </p:txBody>
      </p:sp>
    </p:spTree>
    <p:extLst>
      <p:ext uri="{BB962C8B-B14F-4D97-AF65-F5344CB8AC3E}">
        <p14:creationId xmlns:p14="http://schemas.microsoft.com/office/powerpoint/2010/main" val="42972235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Entropy Measures Impurity of a Dataset</a:t>
            </a:r>
          </a:p>
        </p:txBody>
      </p:sp>
      <p:grpSp>
        <p:nvGrpSpPr>
          <p:cNvPr id="70" name="Gruppieren 69">
            <a:extLst>
              <a:ext uri="{FF2B5EF4-FFF2-40B4-BE49-F238E27FC236}">
                <a16:creationId xmlns:a16="http://schemas.microsoft.com/office/drawing/2014/main" id="{F57B8147-3259-4EA5-80AE-4EC61772F304}"/>
              </a:ext>
            </a:extLst>
          </p:cNvPr>
          <p:cNvGrpSpPr/>
          <p:nvPr/>
        </p:nvGrpSpPr>
        <p:grpSpPr>
          <a:xfrm>
            <a:off x="7775578" y="2648833"/>
            <a:ext cx="1800000" cy="1800000"/>
            <a:chOff x="5139516" y="1630711"/>
            <a:chExt cx="1774044" cy="1803895"/>
          </a:xfrm>
        </p:grpSpPr>
        <p:sp>
          <p:nvSpPr>
            <p:cNvPr id="63" name="Ellipse 62">
              <a:extLst>
                <a:ext uri="{FF2B5EF4-FFF2-40B4-BE49-F238E27FC236}">
                  <a16:creationId xmlns:a16="http://schemas.microsoft.com/office/drawing/2014/main" id="{F3794FFF-4F53-4E6E-A000-3B2DAF215EBF}"/>
                </a:ext>
              </a:extLst>
            </p:cNvPr>
            <p:cNvSpPr/>
            <p:nvPr/>
          </p:nvSpPr>
          <p:spPr bwMode="auto">
            <a:xfrm>
              <a:off x="6396217" y="2081999"/>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nvGrpSpPr>
            <p:cNvPr id="64" name="Gruppieren 63">
              <a:extLst>
                <a:ext uri="{FF2B5EF4-FFF2-40B4-BE49-F238E27FC236}">
                  <a16:creationId xmlns:a16="http://schemas.microsoft.com/office/drawing/2014/main" id="{87A5D258-5AFF-4705-92A6-246A5F8A3ED6}"/>
                </a:ext>
              </a:extLst>
            </p:cNvPr>
            <p:cNvGrpSpPr/>
            <p:nvPr/>
          </p:nvGrpSpPr>
          <p:grpSpPr>
            <a:xfrm>
              <a:off x="5139516" y="1630711"/>
              <a:ext cx="1774044" cy="1803895"/>
              <a:chOff x="1022611" y="1474185"/>
              <a:chExt cx="1774044" cy="1803895"/>
            </a:xfrm>
          </p:grpSpPr>
          <p:sp>
            <p:nvSpPr>
              <p:cNvPr id="65" name="Ellipse 64">
                <a:extLst>
                  <a:ext uri="{FF2B5EF4-FFF2-40B4-BE49-F238E27FC236}">
                    <a16:creationId xmlns:a16="http://schemas.microsoft.com/office/drawing/2014/main" id="{449DCF0C-199A-41FC-B930-BCB4AFC51C5C}"/>
                  </a:ext>
                </a:extLst>
              </p:cNvPr>
              <p:cNvSpPr/>
              <p:nvPr/>
            </p:nvSpPr>
            <p:spPr bwMode="auto">
              <a:xfrm>
                <a:off x="1346647" y="2317344"/>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3FE2DC8E-6540-471A-9ACB-BD9341279BAA}"/>
                  </a:ext>
                </a:extLst>
              </p:cNvPr>
              <p:cNvSpPr/>
              <p:nvPr/>
            </p:nvSpPr>
            <p:spPr bwMode="auto">
              <a:xfrm>
                <a:off x="1736013" y="1900768"/>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043F755A-490F-4F12-B89D-CA9417EFB4B8}"/>
                  </a:ext>
                </a:extLst>
              </p:cNvPr>
              <p:cNvSpPr/>
              <p:nvPr/>
            </p:nvSpPr>
            <p:spPr bwMode="auto">
              <a:xfrm>
                <a:off x="1022611" y="1474185"/>
                <a:ext cx="1774044" cy="1803895"/>
              </a:xfrm>
              <a:prstGeom prst="ellipse">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9" name="Ellipse 68">
              <a:extLst>
                <a:ext uri="{FF2B5EF4-FFF2-40B4-BE49-F238E27FC236}">
                  <a16:creationId xmlns:a16="http://schemas.microsoft.com/office/drawing/2014/main" id="{79604AE0-6EDB-4287-9961-9FB0DCC69BBA}"/>
                </a:ext>
              </a:extLst>
            </p:cNvPr>
            <p:cNvSpPr/>
            <p:nvPr/>
          </p:nvSpPr>
          <p:spPr bwMode="auto">
            <a:xfrm>
              <a:off x="5970303" y="2761135"/>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8" name="Rechteck 7">
            <a:extLst>
              <a:ext uri="{FF2B5EF4-FFF2-40B4-BE49-F238E27FC236}">
                <a16:creationId xmlns:a16="http://schemas.microsoft.com/office/drawing/2014/main" id="{DDFF2101-BCE7-4A7C-A4EA-EEABA8FFF06F}"/>
              </a:ext>
            </a:extLst>
          </p:cNvPr>
          <p:cNvSpPr/>
          <p:nvPr/>
        </p:nvSpPr>
        <p:spPr bwMode="auto">
          <a:xfrm>
            <a:off x="627062" y="5698243"/>
            <a:ext cx="11088688" cy="48463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2000" b="1">
                <a:solidFill>
                  <a:schemeClr val="tx1"/>
                </a:solidFill>
                <a:latin typeface="+mn-lt"/>
                <a:ea typeface="Arial Unicode MS" panose="020B0604020202020204" pitchFamily="34" charset="-128"/>
                <a:cs typeface="Arial Unicode MS" panose="020B0604020202020204" pitchFamily="34" charset="-128"/>
              </a:rPr>
              <a:t>With Decreasing Entropy the Purity Increases.</a:t>
            </a:r>
          </a:p>
        </p:txBody>
      </p:sp>
      <p:graphicFrame>
        <p:nvGraphicFramePr>
          <p:cNvPr id="32" name="Diagramm 31">
            <a:extLst>
              <a:ext uri="{FF2B5EF4-FFF2-40B4-BE49-F238E27FC236}">
                <a16:creationId xmlns:a16="http://schemas.microsoft.com/office/drawing/2014/main" id="{156F26AE-1741-41B0-8122-B8373A94F969}"/>
              </a:ext>
            </a:extLst>
          </p:cNvPr>
          <p:cNvGraphicFramePr>
            <a:graphicFrameLocks/>
          </p:cNvGraphicFramePr>
          <p:nvPr>
            <p:extLst>
              <p:ext uri="{D42A27DB-BD31-4B8C-83A1-F6EECF244321}">
                <p14:modId xmlns:p14="http://schemas.microsoft.com/office/powerpoint/2010/main" val="3109218750"/>
              </p:ext>
            </p:extLst>
          </p:nvPr>
        </p:nvGraphicFramePr>
        <p:xfrm>
          <a:off x="651446" y="1957416"/>
          <a:ext cx="4893006" cy="3560657"/>
        </p:xfrm>
        <a:graphic>
          <a:graphicData uri="http://schemas.openxmlformats.org/drawingml/2006/chart">
            <c:chart xmlns:c="http://schemas.openxmlformats.org/drawingml/2006/chart" xmlns:r="http://schemas.openxmlformats.org/officeDocument/2006/relationships" r:id="rId3"/>
          </a:graphicData>
        </a:graphic>
      </p:graphicFrame>
      <p:sp>
        <p:nvSpPr>
          <p:cNvPr id="4" name="Pfeil: nach links und rechts 3">
            <a:extLst>
              <a:ext uri="{FF2B5EF4-FFF2-40B4-BE49-F238E27FC236}">
                <a16:creationId xmlns:a16="http://schemas.microsoft.com/office/drawing/2014/main" id="{F7F6194F-9958-4120-BBEE-EACDFC72A899}"/>
              </a:ext>
            </a:extLst>
          </p:cNvPr>
          <p:cNvSpPr/>
          <p:nvPr/>
        </p:nvSpPr>
        <p:spPr bwMode="auto">
          <a:xfrm>
            <a:off x="743235" y="1395074"/>
            <a:ext cx="5093412" cy="504000"/>
          </a:xfrm>
          <a:prstGeom prst="leftRightArrow">
            <a:avLst>
              <a:gd name="adj1" fmla="val 53565"/>
              <a:gd name="adj2" fmla="val 69607"/>
            </a:avLst>
          </a:prstGeom>
          <a:gradFill flip="none" rotWithShape="1">
            <a:gsLst>
              <a:gs pos="0">
                <a:schemeClr val="accent2">
                  <a:lumMod val="20000"/>
                  <a:lumOff val="80000"/>
                </a:schemeClr>
              </a:gs>
              <a:gs pos="77000">
                <a:schemeClr val="accent2">
                  <a:lumMod val="75000"/>
                </a:schemeClr>
              </a:gs>
              <a:gs pos="100000">
                <a:schemeClr val="accent2">
                  <a:lumMod val="50000"/>
                </a:schemeClr>
              </a:gs>
            </a:gsLst>
            <a:path path="shape">
              <a:fillToRect l="50000" t="50000" r="50000" b="50000"/>
            </a:path>
            <a:tileRect/>
          </a:gra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tx1"/>
                </a:solidFill>
                <a:latin typeface="+mn-lt"/>
                <a:ea typeface="Arial Unicode MS" panose="020B0604020202020204" pitchFamily="34" charset="-128"/>
                <a:cs typeface="Arial Unicode MS" panose="020B0604020202020204" pitchFamily="34" charset="-128"/>
              </a:rPr>
              <a:t>Purity</a:t>
            </a:r>
          </a:p>
        </p:txBody>
      </p:sp>
      <p:sp>
        <p:nvSpPr>
          <p:cNvPr id="5" name="Pfeil: nach oben 4">
            <a:extLst>
              <a:ext uri="{FF2B5EF4-FFF2-40B4-BE49-F238E27FC236}">
                <a16:creationId xmlns:a16="http://schemas.microsoft.com/office/drawing/2014/main" id="{15CEE737-D480-4E65-AFA8-4CC9EE5C4F3A}"/>
              </a:ext>
            </a:extLst>
          </p:cNvPr>
          <p:cNvSpPr/>
          <p:nvPr/>
        </p:nvSpPr>
        <p:spPr bwMode="auto">
          <a:xfrm>
            <a:off x="565626" y="1899589"/>
            <a:ext cx="653954" cy="3241476"/>
          </a:xfrm>
          <a:prstGeom prst="upArrow">
            <a:avLst/>
          </a:prstGeom>
          <a:gradFill flip="none" rotWithShape="1">
            <a:gsLst>
              <a:gs pos="0">
                <a:schemeClr val="accent2">
                  <a:lumMod val="50000"/>
                </a:schemeClr>
              </a:gs>
              <a:gs pos="25000">
                <a:schemeClr val="accent2">
                  <a:lumMod val="75000"/>
                </a:schemeClr>
              </a:gs>
              <a:gs pos="100000">
                <a:schemeClr val="accent2">
                  <a:lumMod val="20000"/>
                  <a:lumOff val="80000"/>
                </a:schemeClr>
              </a:gs>
            </a:gsLst>
            <a:lin ang="5400000" scaled="1"/>
            <a:tileRect/>
          </a:gradFill>
          <a:ln>
            <a:noFill/>
          </a:ln>
          <a:effectLst/>
        </p:spPr>
        <p:txBody>
          <a:bodyPr vert="vert270"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tx1"/>
                </a:solidFill>
                <a:latin typeface="+mn-lt"/>
                <a:ea typeface="Arial Unicode MS" panose="020B0604020202020204" pitchFamily="34" charset="-128"/>
                <a:cs typeface="Arial Unicode MS" panose="020B0604020202020204" pitchFamily="34" charset="-128"/>
              </a:rPr>
              <a:t>Entropy</a:t>
            </a:r>
          </a:p>
        </p:txBody>
      </p:sp>
      <p:sp>
        <p:nvSpPr>
          <p:cNvPr id="17" name="Ellipse 16">
            <a:extLst>
              <a:ext uri="{FF2B5EF4-FFF2-40B4-BE49-F238E27FC236}">
                <a16:creationId xmlns:a16="http://schemas.microsoft.com/office/drawing/2014/main" id="{F863DD44-DC0A-4579-90B2-C1B36CA16925}"/>
              </a:ext>
            </a:extLst>
          </p:cNvPr>
          <p:cNvSpPr/>
          <p:nvPr/>
        </p:nvSpPr>
        <p:spPr bwMode="auto">
          <a:xfrm>
            <a:off x="3328016" y="2076042"/>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7" name="Ellipse 46">
            <a:extLst>
              <a:ext uri="{FF2B5EF4-FFF2-40B4-BE49-F238E27FC236}">
                <a16:creationId xmlns:a16="http://schemas.microsoft.com/office/drawing/2014/main" id="{2FAEC227-C98A-4244-9CEC-31027D5D55FE}"/>
              </a:ext>
            </a:extLst>
          </p:cNvPr>
          <p:cNvSpPr/>
          <p:nvPr/>
        </p:nvSpPr>
        <p:spPr bwMode="auto">
          <a:xfrm>
            <a:off x="4262971" y="2534872"/>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8" name="Ellipse 47">
            <a:extLst>
              <a:ext uri="{FF2B5EF4-FFF2-40B4-BE49-F238E27FC236}">
                <a16:creationId xmlns:a16="http://schemas.microsoft.com/office/drawing/2014/main" id="{6457B3F6-5EA6-42C0-AB11-6B17CFDBB294}"/>
              </a:ext>
            </a:extLst>
          </p:cNvPr>
          <p:cNvSpPr/>
          <p:nvPr/>
        </p:nvSpPr>
        <p:spPr bwMode="auto">
          <a:xfrm>
            <a:off x="5307087" y="4833156"/>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18" name="Textfeld 17">
                <a:extLst>
                  <a:ext uri="{FF2B5EF4-FFF2-40B4-BE49-F238E27FC236}">
                    <a16:creationId xmlns:a16="http://schemas.microsoft.com/office/drawing/2014/main" id="{1642BC46-4139-4CEC-AA9F-D973F4AA460E}"/>
                  </a:ext>
                </a:extLst>
              </p:cNvPr>
              <p:cNvSpPr txBox="1"/>
              <p:nvPr/>
            </p:nvSpPr>
            <p:spPr>
              <a:xfrm>
                <a:off x="3521836" y="1882493"/>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=50%=0.5</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18" name="Textfeld 17">
                <a:extLst>
                  <a:ext uri="{FF2B5EF4-FFF2-40B4-BE49-F238E27FC236}">
                    <a16:creationId xmlns:a16="http://schemas.microsoft.com/office/drawing/2014/main" id="{1642BC46-4139-4CEC-AA9F-D973F4AA460E}"/>
                  </a:ext>
                </a:extLst>
              </p:cNvPr>
              <p:cNvSpPr txBox="1">
                <a:spLocks noRot="1" noChangeAspect="1" noMove="1" noResize="1" noEditPoints="1" noAdjustHandles="1" noChangeArrowheads="1" noChangeShapeType="1" noTextEdit="1"/>
              </p:cNvSpPr>
              <p:nvPr/>
            </p:nvSpPr>
            <p:spPr>
              <a:xfrm>
                <a:off x="3521836" y="1882493"/>
                <a:ext cx="914400" cy="914400"/>
              </a:xfrm>
              <a:prstGeom prst="rect">
                <a:avLst/>
              </a:prstGeom>
              <a:blipFill>
                <a:blip r:embed="rId4"/>
                <a:stretch>
                  <a:fillRect l="-6000" r="-373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1" name="Textfeld 60">
                <a:extLst>
                  <a:ext uri="{FF2B5EF4-FFF2-40B4-BE49-F238E27FC236}">
                    <a16:creationId xmlns:a16="http://schemas.microsoft.com/office/drawing/2014/main" id="{88BFB76D-5842-4B0E-BF86-7B1944A94773}"/>
                  </a:ext>
                </a:extLst>
              </p:cNvPr>
              <p:cNvSpPr txBox="1"/>
              <p:nvPr/>
            </p:nvSpPr>
            <p:spPr>
              <a:xfrm>
                <a:off x="4442991" y="2406588"/>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75</m:t>
                      </m:r>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0.75</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61" name="Textfeld 60">
                <a:extLst>
                  <a:ext uri="{FF2B5EF4-FFF2-40B4-BE49-F238E27FC236}">
                    <a16:creationId xmlns:a16="http://schemas.microsoft.com/office/drawing/2014/main" id="{88BFB76D-5842-4B0E-BF86-7B1944A94773}"/>
                  </a:ext>
                </a:extLst>
              </p:cNvPr>
              <p:cNvSpPr txBox="1">
                <a:spLocks noRot="1" noChangeAspect="1" noMove="1" noResize="1" noEditPoints="1" noAdjustHandles="1" noChangeArrowheads="1" noChangeShapeType="1" noTextEdit="1"/>
              </p:cNvSpPr>
              <p:nvPr/>
            </p:nvSpPr>
            <p:spPr>
              <a:xfrm>
                <a:off x="4442991" y="2406588"/>
                <a:ext cx="914400" cy="914400"/>
              </a:xfrm>
              <a:prstGeom prst="rect">
                <a:avLst/>
              </a:prstGeom>
              <a:blipFill>
                <a:blip r:embed="rId5"/>
                <a:stretch>
                  <a:fillRect l="-6000" r="-46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67" name="Textfeld 66">
                <a:extLst>
                  <a:ext uri="{FF2B5EF4-FFF2-40B4-BE49-F238E27FC236}">
                    <a16:creationId xmlns:a16="http://schemas.microsoft.com/office/drawing/2014/main" id="{0AB032B4-7F81-499D-83A5-C456A9065845}"/>
                  </a:ext>
                </a:extLst>
              </p:cNvPr>
              <p:cNvSpPr txBox="1"/>
              <p:nvPr/>
            </p:nvSpPr>
            <p:spPr>
              <a:xfrm>
                <a:off x="5536704" y="4865340"/>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𝑝</m:t>
                          </m:r>
                        </m:e>
                        <m: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m:t>
                          </m:r>
                        </m:sub>
                      </m:sSub>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100</m:t>
                      </m:r>
                      <m:r>
                        <a:rPr lang="en-US" sz="12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oMath>
                  </m:oMathPara>
                </a14:m>
                <a:endParaRPr lang="en-US" sz="1200">
                  <a:solidFill>
                    <a:schemeClr val="tx1"/>
                  </a:solidFill>
                  <a:ea typeface="Arial Unicode MS" panose="020B0604020202020204" pitchFamily="34" charset="-128"/>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67" name="Textfeld 66">
                <a:extLst>
                  <a:ext uri="{FF2B5EF4-FFF2-40B4-BE49-F238E27FC236}">
                    <a16:creationId xmlns:a16="http://schemas.microsoft.com/office/drawing/2014/main" id="{0AB032B4-7F81-499D-83A5-C456A9065845}"/>
                  </a:ext>
                </a:extLst>
              </p:cNvPr>
              <p:cNvSpPr txBox="1">
                <a:spLocks noRot="1" noChangeAspect="1" noMove="1" noResize="1" noEditPoints="1" noAdjustHandles="1" noChangeArrowheads="1" noChangeShapeType="1" noTextEdit="1"/>
              </p:cNvSpPr>
              <p:nvPr/>
            </p:nvSpPr>
            <p:spPr>
              <a:xfrm>
                <a:off x="5536704" y="4865340"/>
                <a:ext cx="914400" cy="914400"/>
              </a:xfrm>
              <a:prstGeom prst="rect">
                <a:avLst/>
              </a:prstGeom>
              <a:blipFill>
                <a:blip r:embed="rId6"/>
                <a:stretch>
                  <a:fillRect l="-6000" r="-33333"/>
                </a:stretch>
              </a:blipFill>
            </p:spPr>
            <p:txBody>
              <a:bodyPr/>
              <a:lstStyle/>
              <a:p>
                <a:r>
                  <a:rPr lang="de-DE">
                    <a:noFill/>
                  </a:rPr>
                  <a:t> </a:t>
                </a:r>
              </a:p>
            </p:txBody>
          </p:sp>
        </mc:Fallback>
      </mc:AlternateContent>
      <p:sp>
        <p:nvSpPr>
          <p:cNvPr id="6" name="Textfeld 5">
            <a:extLst>
              <a:ext uri="{FF2B5EF4-FFF2-40B4-BE49-F238E27FC236}">
                <a16:creationId xmlns:a16="http://schemas.microsoft.com/office/drawing/2014/main" id="{CCEA7D5B-A359-4C64-B13E-D558787ED621}"/>
              </a:ext>
            </a:extLst>
          </p:cNvPr>
          <p:cNvSpPr txBox="1"/>
          <p:nvPr/>
        </p:nvSpPr>
        <p:spPr>
          <a:xfrm>
            <a:off x="6932308" y="1881742"/>
            <a:ext cx="914400" cy="914400"/>
          </a:xfrm>
          <a:prstGeom prst="rect">
            <a:avLst/>
          </a:prstGeom>
          <a:noFill/>
        </p:spPr>
        <p:txBody>
          <a:bodyPr wrap="non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Where is this sample in the graph?</a:t>
            </a:r>
          </a:p>
        </p:txBody>
      </p:sp>
      <p:sp>
        <p:nvSpPr>
          <p:cNvPr id="21" name="Ellipse 20">
            <a:extLst>
              <a:ext uri="{FF2B5EF4-FFF2-40B4-BE49-F238E27FC236}">
                <a16:creationId xmlns:a16="http://schemas.microsoft.com/office/drawing/2014/main" id="{266E5D88-516A-4EF7-9AF0-09E8E8E3CE62}"/>
              </a:ext>
            </a:extLst>
          </p:cNvPr>
          <p:cNvSpPr/>
          <p:nvPr/>
        </p:nvSpPr>
        <p:spPr bwMode="auto">
          <a:xfrm>
            <a:off x="2390775" y="2534872"/>
            <a:ext cx="108000" cy="108000"/>
          </a:xfrm>
          <a:prstGeom prst="ellipse">
            <a:avLst/>
          </a:prstGeom>
          <a:solidFill>
            <a:schemeClr val="tx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0" name="Gerade Verbindung mit Pfeil 9">
            <a:extLst>
              <a:ext uri="{FF2B5EF4-FFF2-40B4-BE49-F238E27FC236}">
                <a16:creationId xmlns:a16="http://schemas.microsoft.com/office/drawing/2014/main" id="{DCF13909-486B-49B0-9D85-2CE07FFC4D65}"/>
              </a:ext>
            </a:extLst>
          </p:cNvPr>
          <p:cNvCxnSpPr/>
          <p:nvPr/>
        </p:nvCxnSpPr>
        <p:spPr bwMode="auto">
          <a:xfrm flipH="1" flipV="1">
            <a:off x="2773908" y="2689411"/>
            <a:ext cx="4615600" cy="739589"/>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28" name="Textfeld 27">
                <a:extLst>
                  <a:ext uri="{FF2B5EF4-FFF2-40B4-BE49-F238E27FC236}">
                    <a16:creationId xmlns:a16="http://schemas.microsoft.com/office/drawing/2014/main" id="{32A7DF8F-5A01-4476-8796-84030C83B822}"/>
                  </a:ext>
                </a:extLst>
              </p:cNvPr>
              <p:cNvSpPr txBox="1"/>
              <p:nvPr/>
            </p:nvSpPr>
            <p:spPr>
              <a:xfrm>
                <a:off x="9961648" y="3098330"/>
                <a:ext cx="858195" cy="843994"/>
              </a:xfrm>
              <a:prstGeom prst="rect">
                <a:avLst/>
              </a:prstGeom>
              <a:noFill/>
            </p:spPr>
            <p:txBody>
              <a:bodyPr wrap="none" lIns="0" tIns="0" rIns="0" bIns="0" rtlCol="0">
                <a:no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𝑹𝒆𝒅</m:t>
                          </m:r>
                        </m:sub>
                      </m:sSub>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𝟐𝟓</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𝟐𝟓</m:t>
                      </m:r>
                    </m:oMath>
                  </m:oMathPara>
                </a14:m>
                <a:endParaRPr lang="en-US" sz="14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𝑬𝒏𝒕𝒓𝒐𝒑𝒚</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𝟖𝟏</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8" name="Textfeld 27">
                <a:extLst>
                  <a:ext uri="{FF2B5EF4-FFF2-40B4-BE49-F238E27FC236}">
                    <a16:creationId xmlns:a16="http://schemas.microsoft.com/office/drawing/2014/main" id="{32A7DF8F-5A01-4476-8796-84030C83B822}"/>
                  </a:ext>
                </a:extLst>
              </p:cNvPr>
              <p:cNvSpPr txBox="1">
                <a:spLocks noRot="1" noChangeAspect="1" noMove="1" noResize="1" noEditPoints="1" noAdjustHandles="1" noChangeArrowheads="1" noChangeShapeType="1" noTextEdit="1"/>
              </p:cNvSpPr>
              <p:nvPr/>
            </p:nvSpPr>
            <p:spPr>
              <a:xfrm>
                <a:off x="9961648" y="3098330"/>
                <a:ext cx="858195" cy="843994"/>
              </a:xfrm>
              <a:prstGeom prst="rect">
                <a:avLst/>
              </a:prstGeom>
              <a:blipFill>
                <a:blip r:embed="rId7"/>
                <a:stretch>
                  <a:fillRect l="-10638" r="-119149"/>
                </a:stretch>
              </a:blipFill>
            </p:spPr>
            <p:txBody>
              <a:bodyPr/>
              <a:lstStyle/>
              <a:p>
                <a:r>
                  <a:rPr lang="de-DE">
                    <a:noFill/>
                  </a:rPr>
                  <a:t> </a:t>
                </a:r>
              </a:p>
            </p:txBody>
          </p:sp>
        </mc:Fallback>
      </mc:AlternateContent>
    </p:spTree>
    <p:extLst>
      <p:ext uri="{BB962C8B-B14F-4D97-AF65-F5344CB8AC3E}">
        <p14:creationId xmlns:p14="http://schemas.microsoft.com/office/powerpoint/2010/main" val="245404552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E2A32EC-44A3-43A1-A5D0-51E60CA0AEB3}"/>
              </a:ext>
            </a:extLst>
          </p:cNvPr>
          <p:cNvSpPr>
            <a:spLocks noGrp="1"/>
          </p:cNvSpPr>
          <p:nvPr>
            <p:ph type="title"/>
          </p:nvPr>
        </p:nvSpPr>
        <p:spPr/>
        <p:txBody>
          <a:bodyPr/>
          <a:lstStyle/>
          <a:p>
            <a:r>
              <a:rPr lang="en-US"/>
              <a:t>Gini-Index vs. Entropy to Measure Impurity of a Dataset</a:t>
            </a:r>
          </a:p>
        </p:txBody>
      </p:sp>
      <p:sp>
        <p:nvSpPr>
          <p:cNvPr id="8" name="Rechteck 7">
            <a:extLst>
              <a:ext uri="{FF2B5EF4-FFF2-40B4-BE49-F238E27FC236}">
                <a16:creationId xmlns:a16="http://schemas.microsoft.com/office/drawing/2014/main" id="{DDFF2101-BCE7-4A7C-A4EA-EEABA8FFF06F}"/>
              </a:ext>
            </a:extLst>
          </p:cNvPr>
          <p:cNvSpPr/>
          <p:nvPr/>
        </p:nvSpPr>
        <p:spPr bwMode="auto">
          <a:xfrm>
            <a:off x="627062" y="5698243"/>
            <a:ext cx="11088688" cy="484637"/>
          </a:xfrm>
          <a:prstGeom prst="rect">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2000" b="1">
                <a:solidFill>
                  <a:schemeClr val="tx1"/>
                </a:solidFill>
                <a:latin typeface="+mn-lt"/>
                <a:ea typeface="Arial Unicode MS" panose="020B0604020202020204" pitchFamily="34" charset="-128"/>
                <a:cs typeface="Arial Unicode MS" panose="020B0604020202020204" pitchFamily="34" charset="-128"/>
              </a:rPr>
              <a:t>No Clear Preference Which Index to Use.</a:t>
            </a:r>
          </a:p>
        </p:txBody>
      </p:sp>
      <p:graphicFrame>
        <p:nvGraphicFramePr>
          <p:cNvPr id="32" name="Diagramm 31">
            <a:extLst>
              <a:ext uri="{FF2B5EF4-FFF2-40B4-BE49-F238E27FC236}">
                <a16:creationId xmlns:a16="http://schemas.microsoft.com/office/drawing/2014/main" id="{156F26AE-1741-41B0-8122-B8373A94F969}"/>
              </a:ext>
            </a:extLst>
          </p:cNvPr>
          <p:cNvGraphicFramePr>
            <a:graphicFrameLocks/>
          </p:cNvGraphicFramePr>
          <p:nvPr>
            <p:extLst>
              <p:ext uri="{D42A27DB-BD31-4B8C-83A1-F6EECF244321}">
                <p14:modId xmlns:p14="http://schemas.microsoft.com/office/powerpoint/2010/main" val="1846169117"/>
              </p:ext>
            </p:extLst>
          </p:nvPr>
        </p:nvGraphicFramePr>
        <p:xfrm>
          <a:off x="625725" y="2816864"/>
          <a:ext cx="4392000" cy="28800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37" name="Diagramm 36">
            <a:extLst>
              <a:ext uri="{FF2B5EF4-FFF2-40B4-BE49-F238E27FC236}">
                <a16:creationId xmlns:a16="http://schemas.microsoft.com/office/drawing/2014/main" id="{EA1B2487-6DA9-4581-B83D-1333FFC42684}"/>
              </a:ext>
            </a:extLst>
          </p:cNvPr>
          <p:cNvGraphicFramePr>
            <a:graphicFrameLocks/>
          </p:cNvGraphicFramePr>
          <p:nvPr>
            <p:extLst>
              <p:ext uri="{D42A27DB-BD31-4B8C-83A1-F6EECF244321}">
                <p14:modId xmlns:p14="http://schemas.microsoft.com/office/powerpoint/2010/main" val="43366806"/>
              </p:ext>
            </p:extLst>
          </p:nvPr>
        </p:nvGraphicFramePr>
        <p:xfrm>
          <a:off x="6315199" y="2816864"/>
          <a:ext cx="4392000" cy="2880000"/>
        </p:xfrm>
        <a:graphic>
          <a:graphicData uri="http://schemas.openxmlformats.org/drawingml/2006/chart">
            <c:chart xmlns:c="http://schemas.openxmlformats.org/drawingml/2006/chart" xmlns:r="http://schemas.openxmlformats.org/officeDocument/2006/relationships" r:id="rId4"/>
          </a:graphicData>
        </a:graphic>
      </p:graphicFrame>
      <mc:AlternateContent xmlns:mc="http://schemas.openxmlformats.org/markup-compatibility/2006" xmlns:a14="http://schemas.microsoft.com/office/drawing/2010/main">
        <mc:Choice Requires="a14">
          <p:sp>
            <p:nvSpPr>
              <p:cNvPr id="6" name="Textfeld 5">
                <a:extLst>
                  <a:ext uri="{FF2B5EF4-FFF2-40B4-BE49-F238E27FC236}">
                    <a16:creationId xmlns:a16="http://schemas.microsoft.com/office/drawing/2014/main" id="{1C3A7387-5F6D-4D30-951E-AEF5F66131F6}"/>
                  </a:ext>
                </a:extLst>
              </p:cNvPr>
              <p:cNvSpPr txBox="1"/>
              <p:nvPr/>
            </p:nvSpPr>
            <p:spPr>
              <a:xfrm>
                <a:off x="625725" y="1440000"/>
                <a:ext cx="11088688" cy="914400"/>
              </a:xfrm>
              <a:prstGeom prst="rect">
                <a:avLst/>
              </a:prstGeom>
              <a:noFill/>
            </p:spPr>
            <p:txBody>
              <a:bodyPr wrap="none" lIns="0" tIns="0" rIns="0" bIns="0" rtlCol="0">
                <a:noAutofit/>
              </a:bodyPr>
              <a:lstStyle/>
              <a:p>
                <a:pPr marL="285750" indent="-285750">
                  <a:lnSpc>
                    <a:spcPct val="110000"/>
                  </a:lnSpc>
                  <a:spcBef>
                    <a:spcPts val="600"/>
                  </a:spcBef>
                  <a:spcAft>
                    <a:spcPts val="600"/>
                  </a:spcAft>
                  <a:buFont typeface="Arial" panose="020B0604020202020204" pitchFamily="34" charset="0"/>
                  <a:buChar char="•"/>
                </a:pPr>
                <a:r>
                  <a:rPr lang="en-US" sz="1600">
                    <a:solidFill>
                      <a:schemeClr val="tx1"/>
                    </a:solidFill>
                    <a:latin typeface="+mn-lt"/>
                    <a:ea typeface="Arial Unicode MS" panose="020B0604020202020204" pitchFamily="34" charset="-128"/>
                    <a:cs typeface="Arial Unicode MS" panose="020B0604020202020204" pitchFamily="34" charset="-128"/>
                  </a:rPr>
                  <a:t>Another way to calculate the purity of a dataset is the Gini-Index: </a:t>
                </a:r>
                <a14:m>
                  <m:oMath xmlns:m="http://schemas.openxmlformats.org/officeDocument/2006/math">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𝑮𝒊𝒏𝒊</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nary>
                      <m:naryPr>
                        <m:chr m:val="∑"/>
                        <m:ctrlP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naryPr>
                      <m:sub>
                        <m:r>
                          <m:rPr>
                            <m:brk m:alnAt="23"/>
                          </m:rP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𝒊</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sub>
                      <m:sup>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𝑵</m:t>
                        </m:r>
                      </m:sup>
                      <m:e>
                        <m:sSubSup>
                          <m:sSubSupPr>
                            <m:ctrlP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SupPr>
                          <m:e>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𝒑</m:t>
                            </m:r>
                          </m:e>
                          <m:sub>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𝒊</m:t>
                            </m:r>
                          </m:sub>
                          <m:sup>
                            <m:r>
                              <a:rPr lang="en-US"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𝟐</m:t>
                            </m:r>
                          </m:sup>
                        </m:sSubSup>
                      </m:e>
                    </m:nary>
                  </m:oMath>
                </a14:m>
                <a:endParaRPr lang="en-US" sz="1600" b="1">
                  <a:solidFill>
                    <a:schemeClr val="tx1"/>
                  </a:solidFill>
                  <a:latin typeface="+mn-lt"/>
                  <a:ea typeface="Arial Unicode MS" panose="020B0604020202020204" pitchFamily="34" charset="-128"/>
                  <a:cs typeface="Arial Unicode MS" panose="020B0604020202020204" pitchFamily="34" charset="-128"/>
                </a:endParaRPr>
              </a:p>
              <a:p>
                <a:pPr marL="285750" indent="-285750">
                  <a:lnSpc>
                    <a:spcPct val="110000"/>
                  </a:lnSpc>
                  <a:spcBef>
                    <a:spcPts val="600"/>
                  </a:spcBef>
                  <a:spcAft>
                    <a:spcPts val="600"/>
                  </a:spcAft>
                  <a:buFont typeface="Arial" panose="020B0604020202020204" pitchFamily="34" charset="0"/>
                  <a:buChar char="•"/>
                </a:pPr>
                <a:r>
                  <a:rPr lang="en-US" sz="1600">
                    <a:solidFill>
                      <a:schemeClr val="tx1"/>
                    </a:solidFill>
                    <a:latin typeface="+mn-lt"/>
                    <a:ea typeface="Arial Unicode MS" panose="020B0604020202020204" pitchFamily="34" charset="-128"/>
                    <a:cs typeface="Arial Unicode MS" panose="020B0604020202020204" pitchFamily="34" charset="-128"/>
                  </a:rPr>
                  <a:t>The results are pretty much the same (if you apply a scaling factor)</a:t>
                </a:r>
              </a:p>
              <a:p>
                <a:pPr marL="285750" indent="-285750">
                  <a:lnSpc>
                    <a:spcPct val="110000"/>
                  </a:lnSpc>
                  <a:spcBef>
                    <a:spcPts val="600"/>
                  </a:spcBef>
                  <a:spcAft>
                    <a:spcPts val="600"/>
                  </a:spcAft>
                  <a:buFont typeface="Arial" panose="020B0604020202020204" pitchFamily="34" charset="0"/>
                  <a:buChar char="•"/>
                </a:pPr>
                <a:r>
                  <a:rPr lang="en-US" sz="1600">
                    <a:solidFill>
                      <a:schemeClr val="tx1"/>
                    </a:solidFill>
                    <a:latin typeface="+mn-lt"/>
                    <a:ea typeface="Arial Unicode MS" panose="020B0604020202020204" pitchFamily="34" charset="-128"/>
                    <a:cs typeface="Arial Unicode MS" panose="020B0604020202020204" pitchFamily="34" charset="-128"/>
                  </a:rPr>
                  <a:t>However, Gini needs less calculation time</a:t>
                </a:r>
              </a:p>
            </p:txBody>
          </p:sp>
        </mc:Choice>
        <mc:Fallback xmlns="">
          <p:sp>
            <p:nvSpPr>
              <p:cNvPr id="6" name="Textfeld 5">
                <a:extLst>
                  <a:ext uri="{FF2B5EF4-FFF2-40B4-BE49-F238E27FC236}">
                    <a16:creationId xmlns:a16="http://schemas.microsoft.com/office/drawing/2014/main" id="{1C3A7387-5F6D-4D30-951E-AEF5F66131F6}"/>
                  </a:ext>
                </a:extLst>
              </p:cNvPr>
              <p:cNvSpPr txBox="1">
                <a:spLocks noRot="1" noChangeAspect="1" noMove="1" noResize="1" noEditPoints="1" noAdjustHandles="1" noChangeArrowheads="1" noChangeShapeType="1" noTextEdit="1"/>
              </p:cNvSpPr>
              <p:nvPr/>
            </p:nvSpPr>
            <p:spPr>
              <a:xfrm>
                <a:off x="625725" y="1440000"/>
                <a:ext cx="11088688" cy="914400"/>
              </a:xfrm>
              <a:prstGeom prst="rect">
                <a:avLst/>
              </a:prstGeom>
              <a:blipFill>
                <a:blip r:embed="rId5"/>
                <a:stretch>
                  <a:fillRect l="-1045" t="-42667" b="-35333"/>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4F36C235-13FB-46CB-81DE-762291EB5434}"/>
                  </a:ext>
                </a:extLst>
              </p:cNvPr>
              <p:cNvSpPr txBox="1"/>
              <p:nvPr/>
            </p:nvSpPr>
            <p:spPr>
              <a:xfrm>
                <a:off x="4849448" y="2885099"/>
                <a:ext cx="914400" cy="914400"/>
              </a:xfrm>
              <a:prstGeom prst="rect">
                <a:avLst/>
              </a:prstGeom>
              <a:noFill/>
            </p:spPr>
            <p:txBody>
              <a:bodyPr wrap="none" lIns="0" tIns="0" rIns="0" bIns="0" rtlCol="0">
                <a:noAutofit/>
              </a:bodyPr>
              <a:lstStyle/>
              <a:p>
                <a:pPr algn="ctr">
                  <a:lnSpc>
                    <a:spcPct val="110000"/>
                  </a:lnSpc>
                  <a:spcBef>
                    <a:spcPts val="600"/>
                  </a:spcBef>
                  <a:spcAft>
                    <a:spcPts val="600"/>
                  </a:spcAft>
                </a:pPr>
                <a:r>
                  <a:rPr lang="en-US" sz="1200" b="1">
                    <a:solidFill>
                      <a:schemeClr val="tx1"/>
                    </a:solidFill>
                    <a:latin typeface="+mn-lt"/>
                    <a:ea typeface="Arial Unicode MS" panose="020B0604020202020204" pitchFamily="34" charset="-128"/>
                    <a:cs typeface="Arial Unicode MS" panose="020B0604020202020204" pitchFamily="34" charset="-128"/>
                  </a:rPr>
                  <a:t>Entropy between:</a:t>
                </a:r>
              </a:p>
              <a:p>
                <a:pPr algn="ctr">
                  <a:lnSpc>
                    <a:spcPct val="110000"/>
                  </a:lnSpc>
                  <a:spcBef>
                    <a:spcPts val="600"/>
                  </a:spcBef>
                  <a:spcAft>
                    <a:spcPts val="600"/>
                  </a:spcAft>
                </a:pPr>
                <a14:m>
                  <m:oMath xmlns:m="http://schemas.openxmlformats.org/officeDocument/2006/math">
                    <m: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oMath>
                </a14:m>
                <a:r>
                  <a:rPr lang="en-US" sz="1200" b="1">
                    <a:solidFill>
                      <a:schemeClr val="tx1"/>
                    </a:solidFill>
                    <a:latin typeface="+mn-lt"/>
                    <a:ea typeface="Arial Unicode MS" panose="020B0604020202020204" pitchFamily="34" charset="-128"/>
                    <a:cs typeface="Arial Unicode MS" panose="020B0604020202020204" pitchFamily="34" charset="-128"/>
                  </a:rPr>
                  <a:t> and </a:t>
                </a:r>
                <a14:m>
                  <m:oMath xmlns:m="http://schemas.openxmlformats.org/officeDocument/2006/math">
                    <m:func>
                      <m:funcPr>
                        <m:ctrlP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uncPr>
                      <m:fName>
                        <m:sSub>
                          <m:sSubPr>
                            <m:ctrlP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1" i="0"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𝐥𝐨𝐠</m:t>
                            </m:r>
                          </m:e>
                          <m:sub>
                            <m: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𝟐</m:t>
                            </m:r>
                          </m:sub>
                        </m:sSub>
                      </m:fName>
                      <m:e>
                        <m: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𝑵</m:t>
                        </m:r>
                      </m:e>
                    </m:func>
                  </m:oMath>
                </a14:m>
                <a:endParaRPr lang="en-US" sz="1200" b="1">
                  <a:solidFill>
                    <a:schemeClr val="tx1"/>
                  </a:solidFill>
                  <a:latin typeface="+mn-lt"/>
                  <a:ea typeface="Arial Unicode MS" panose="020B0604020202020204" pitchFamily="34" charset="-128"/>
                  <a:cs typeface="Arial Unicode MS" panose="020B0604020202020204" pitchFamily="34" charset="-128"/>
                </a:endParaRPr>
              </a:p>
              <a:p>
                <a:pPr algn="ctr">
                  <a:lnSpc>
                    <a:spcPct val="110000"/>
                  </a:lnSpc>
                  <a:spcBef>
                    <a:spcPts val="600"/>
                  </a:spcBef>
                  <a:spcAft>
                    <a:spcPts val="600"/>
                  </a:spcAft>
                </a:pPr>
                <a14:m>
                  <m:oMath xmlns:m="http://schemas.openxmlformats.org/officeDocument/2006/math">
                    <m:r>
                      <a:rPr lang="en-US" sz="105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oMath>
                </a14:m>
                <a:r>
                  <a:rPr lang="en-US" sz="1050">
                    <a:solidFill>
                      <a:schemeClr val="tx1"/>
                    </a:solidFill>
                    <a:ea typeface="Arial Unicode MS" panose="020B0604020202020204" pitchFamily="34" charset="-128"/>
                    <a:cs typeface="Arial Unicode MS" panose="020B0604020202020204" pitchFamily="34" charset="-128"/>
                  </a:rPr>
                  <a:t> – Number of classes</a:t>
                </a:r>
                <a:endParaRPr lang="en-US" sz="105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05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 name="Textfeld 6">
                <a:extLst>
                  <a:ext uri="{FF2B5EF4-FFF2-40B4-BE49-F238E27FC236}">
                    <a16:creationId xmlns:a16="http://schemas.microsoft.com/office/drawing/2014/main" id="{4F36C235-13FB-46CB-81DE-762291EB5434}"/>
                  </a:ext>
                </a:extLst>
              </p:cNvPr>
              <p:cNvSpPr txBox="1">
                <a:spLocks noRot="1" noChangeAspect="1" noMove="1" noResize="1" noEditPoints="1" noAdjustHandles="1" noChangeArrowheads="1" noChangeShapeType="1" noTextEdit="1"/>
              </p:cNvSpPr>
              <p:nvPr/>
            </p:nvSpPr>
            <p:spPr>
              <a:xfrm>
                <a:off x="4849448" y="2885099"/>
                <a:ext cx="914400" cy="914400"/>
              </a:xfrm>
              <a:prstGeom prst="rect">
                <a:avLst/>
              </a:prstGeom>
              <a:blipFill>
                <a:blip r:embed="rId6"/>
                <a:stretch>
                  <a:fillRect l="-30000" t="-5333" r="-32667" b="-466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0" name="Textfeld 39">
                <a:extLst>
                  <a:ext uri="{FF2B5EF4-FFF2-40B4-BE49-F238E27FC236}">
                    <a16:creationId xmlns:a16="http://schemas.microsoft.com/office/drawing/2014/main" id="{E91C97CC-70FA-4324-BC6A-24DE2CB47137}"/>
                  </a:ext>
                </a:extLst>
              </p:cNvPr>
              <p:cNvSpPr txBox="1"/>
              <p:nvPr/>
            </p:nvSpPr>
            <p:spPr>
              <a:xfrm>
                <a:off x="10455659" y="2880000"/>
                <a:ext cx="914400" cy="914400"/>
              </a:xfrm>
              <a:prstGeom prst="rect">
                <a:avLst/>
              </a:prstGeom>
              <a:noFill/>
            </p:spPr>
            <p:txBody>
              <a:bodyPr wrap="none" lIns="0" tIns="0" rIns="0" bIns="0" rtlCol="0">
                <a:noAutofit/>
              </a:bodyPr>
              <a:lstStyle/>
              <a:p>
                <a:pPr algn="ctr">
                  <a:lnSpc>
                    <a:spcPct val="110000"/>
                  </a:lnSpc>
                  <a:spcBef>
                    <a:spcPts val="600"/>
                  </a:spcBef>
                  <a:spcAft>
                    <a:spcPts val="600"/>
                  </a:spcAft>
                </a:pPr>
                <a:r>
                  <a:rPr lang="en-US" sz="1200" b="1">
                    <a:solidFill>
                      <a:schemeClr val="tx1"/>
                    </a:solidFill>
                    <a:latin typeface="+mn-lt"/>
                    <a:ea typeface="Arial Unicode MS" panose="020B0604020202020204" pitchFamily="34" charset="-128"/>
                    <a:cs typeface="Arial Unicode MS" panose="020B0604020202020204" pitchFamily="34" charset="-128"/>
                  </a:rPr>
                  <a:t>Gini between:</a:t>
                </a:r>
              </a:p>
              <a:p>
                <a:pPr algn="ctr">
                  <a:lnSpc>
                    <a:spcPct val="110000"/>
                  </a:lnSpc>
                  <a:spcBef>
                    <a:spcPts val="600"/>
                  </a:spcBef>
                  <a:spcAft>
                    <a:spcPts val="600"/>
                  </a:spcAft>
                </a:pPr>
                <a14:m>
                  <m:oMath xmlns:m="http://schemas.openxmlformats.org/officeDocument/2006/math">
                    <m: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oMath>
                </a14:m>
                <a:r>
                  <a:rPr lang="en-US" sz="1200" b="1">
                    <a:solidFill>
                      <a:schemeClr val="tx1"/>
                    </a:solidFill>
                    <a:latin typeface="+mn-lt"/>
                    <a:ea typeface="Arial Unicode MS" panose="020B0604020202020204" pitchFamily="34" charset="-128"/>
                    <a:cs typeface="Arial Unicode MS" panose="020B0604020202020204" pitchFamily="34" charset="-128"/>
                  </a:rPr>
                  <a:t> and </a:t>
                </a:r>
                <a14:m>
                  <m:oMath xmlns:m="http://schemas.openxmlformats.org/officeDocument/2006/math">
                    <m:f>
                      <m:fPr>
                        <m:type m:val="skw"/>
                        <m:ctrlP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num>
                      <m:den>
                        <m:r>
                          <a:rPr lang="en-US" sz="12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𝑵</m:t>
                        </m:r>
                      </m:den>
                    </m:f>
                  </m:oMath>
                </a14:m>
                <a:endParaRPr lang="en-US" sz="1200" b="1">
                  <a:solidFill>
                    <a:schemeClr val="tx1"/>
                  </a:solidFill>
                  <a:latin typeface="+mn-lt"/>
                  <a:ea typeface="Arial Unicode MS" panose="020B0604020202020204" pitchFamily="34" charset="-128"/>
                  <a:cs typeface="Arial Unicode MS" panose="020B0604020202020204" pitchFamily="34" charset="-128"/>
                </a:endParaRPr>
              </a:p>
              <a:p>
                <a:pPr algn="ctr">
                  <a:lnSpc>
                    <a:spcPct val="110000"/>
                  </a:lnSpc>
                  <a:spcBef>
                    <a:spcPts val="600"/>
                  </a:spcBef>
                  <a:spcAft>
                    <a:spcPts val="600"/>
                  </a:spcAft>
                </a:pPr>
                <a14:m>
                  <m:oMath xmlns:m="http://schemas.openxmlformats.org/officeDocument/2006/math">
                    <m:r>
                      <a:rPr lang="en-US" sz="105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oMath>
                </a14:m>
                <a:r>
                  <a:rPr lang="en-US" sz="1050">
                    <a:solidFill>
                      <a:schemeClr val="tx1"/>
                    </a:solidFill>
                    <a:ea typeface="Arial Unicode MS" panose="020B0604020202020204" pitchFamily="34" charset="-128"/>
                    <a:cs typeface="Arial Unicode MS" panose="020B0604020202020204" pitchFamily="34" charset="-128"/>
                  </a:rPr>
                  <a:t> – Number of classes</a:t>
                </a:r>
                <a:endParaRPr lang="en-US" sz="105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05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0" name="Textfeld 39">
                <a:extLst>
                  <a:ext uri="{FF2B5EF4-FFF2-40B4-BE49-F238E27FC236}">
                    <a16:creationId xmlns:a16="http://schemas.microsoft.com/office/drawing/2014/main" id="{E91C97CC-70FA-4324-BC6A-24DE2CB47137}"/>
                  </a:ext>
                </a:extLst>
              </p:cNvPr>
              <p:cNvSpPr txBox="1">
                <a:spLocks noRot="1" noChangeAspect="1" noMove="1" noResize="1" noEditPoints="1" noAdjustHandles="1" noChangeArrowheads="1" noChangeShapeType="1" noTextEdit="1"/>
              </p:cNvSpPr>
              <p:nvPr/>
            </p:nvSpPr>
            <p:spPr>
              <a:xfrm>
                <a:off x="10455659" y="2880000"/>
                <a:ext cx="914400" cy="914400"/>
              </a:xfrm>
              <a:prstGeom prst="rect">
                <a:avLst/>
              </a:prstGeom>
              <a:blipFill>
                <a:blip r:embed="rId7"/>
                <a:stretch>
                  <a:fillRect l="-29333" t="-5333" r="-33333" b="-10000"/>
                </a:stretch>
              </a:blipFill>
            </p:spPr>
            <p:txBody>
              <a:bodyPr/>
              <a:lstStyle/>
              <a:p>
                <a:r>
                  <a:rPr lang="de-DE">
                    <a:noFill/>
                  </a:rPr>
                  <a:t> </a:t>
                </a:r>
              </a:p>
            </p:txBody>
          </p:sp>
        </mc:Fallback>
      </mc:AlternateContent>
    </p:spTree>
    <p:extLst>
      <p:ext uri="{BB962C8B-B14F-4D97-AF65-F5344CB8AC3E}">
        <p14:creationId xmlns:p14="http://schemas.microsoft.com/office/powerpoint/2010/main" val="1224341871"/>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How to use the Entropy as a Loss Function?</a:t>
            </a:r>
            <a:br>
              <a:rPr lang="en-US"/>
            </a:br>
            <a:r>
              <a:rPr lang="en-US"/>
              <a:t>Information Gain (=Uncertainty reduction)</a:t>
            </a:r>
            <a:br>
              <a:rPr lang="en-US"/>
            </a:br>
            <a:r>
              <a:rPr lang="en-US"/>
              <a:t>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72014" y="1689660"/>
                <a:ext cx="10242508" cy="1360052"/>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Given are these balls measured on a x-scale. </a:t>
                </a: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72014" y="1689660"/>
                <a:ext cx="10242508" cy="1360052"/>
              </a:xfrm>
              <a:prstGeom prst="rect">
                <a:avLst/>
              </a:prstGeom>
              <a:blipFill>
                <a:blip r:embed="rId3"/>
                <a:stretch>
                  <a:fillRect l="-1190" t="-4036" b="-8520"/>
                </a:stretch>
              </a:blipFill>
            </p:spPr>
            <p:txBody>
              <a:bodyPr/>
              <a:lstStyle/>
              <a:p>
                <a:r>
                  <a:rPr lang="en-US">
                    <a:noFill/>
                  </a:rPr>
                  <a:t> </a:t>
                </a:r>
              </a:p>
            </p:txBody>
          </p:sp>
        </mc:Fallback>
      </mc:AlternateContent>
      <p:grpSp>
        <p:nvGrpSpPr>
          <p:cNvPr id="33" name="Gruppieren 32">
            <a:extLst>
              <a:ext uri="{FF2B5EF4-FFF2-40B4-BE49-F238E27FC236}">
                <a16:creationId xmlns:a16="http://schemas.microsoft.com/office/drawing/2014/main" id="{88E2C416-7E8A-4BEE-B25F-7AAE52E46562}"/>
              </a:ext>
            </a:extLst>
          </p:cNvPr>
          <p:cNvGrpSpPr/>
          <p:nvPr/>
        </p:nvGrpSpPr>
        <p:grpSpPr>
          <a:xfrm>
            <a:off x="982090" y="3299373"/>
            <a:ext cx="7574393" cy="1170602"/>
            <a:chOff x="987354" y="2972640"/>
            <a:chExt cx="7574393" cy="1170602"/>
          </a:xfrm>
        </p:grpSpPr>
        <p:grpSp>
          <p:nvGrpSpPr>
            <p:cNvPr id="28" name="Gruppieren 27">
              <a:extLst>
                <a:ext uri="{FF2B5EF4-FFF2-40B4-BE49-F238E27FC236}">
                  <a16:creationId xmlns:a16="http://schemas.microsoft.com/office/drawing/2014/main" id="{F72B886A-98F3-42F1-8927-ABFE550D436F}"/>
                </a:ext>
              </a:extLst>
            </p:cNvPr>
            <p:cNvGrpSpPr/>
            <p:nvPr/>
          </p:nvGrpSpPr>
          <p:grpSpPr>
            <a:xfrm>
              <a:off x="987354" y="2972640"/>
              <a:ext cx="6732001" cy="1067982"/>
              <a:chOff x="946888" y="2684869"/>
              <a:chExt cx="6732001" cy="1067982"/>
            </a:xfrm>
          </p:grpSpPr>
          <p:grpSp>
            <p:nvGrpSpPr>
              <p:cNvPr id="3" name="Gruppieren 2">
                <a:extLst>
                  <a:ext uri="{FF2B5EF4-FFF2-40B4-BE49-F238E27FC236}">
                    <a16:creationId xmlns:a16="http://schemas.microsoft.com/office/drawing/2014/main" id="{8A1549F5-0212-4B63-9D00-65A2FA2E5CC2}"/>
                  </a:ext>
                </a:extLst>
              </p:cNvPr>
              <p:cNvGrpSpPr/>
              <p:nvPr/>
            </p:nvGrpSpPr>
            <p:grpSpPr>
              <a:xfrm>
                <a:off x="946888" y="2684869"/>
                <a:ext cx="6732001" cy="1067982"/>
                <a:chOff x="986607" y="3303000"/>
                <a:chExt cx="4537464" cy="743507"/>
              </a:xfrm>
            </p:grpSpPr>
            <p:grpSp>
              <p:nvGrpSpPr>
                <p:cNvPr id="4" name="Gruppieren 3">
                  <a:extLst>
                    <a:ext uri="{FF2B5EF4-FFF2-40B4-BE49-F238E27FC236}">
                      <a16:creationId xmlns:a16="http://schemas.microsoft.com/office/drawing/2014/main" id="{197703EE-FD5C-465E-A583-9FB446466AAC}"/>
                    </a:ext>
                  </a:extLst>
                </p:cNvPr>
                <p:cNvGrpSpPr/>
                <p:nvPr/>
              </p:nvGrpSpPr>
              <p:grpSpPr>
                <a:xfrm>
                  <a:off x="986607" y="3303000"/>
                  <a:ext cx="4537464" cy="449850"/>
                  <a:chOff x="986607" y="3303000"/>
                  <a:chExt cx="4537464" cy="449850"/>
                </a:xfrm>
              </p:grpSpPr>
              <p:cxnSp>
                <p:nvCxnSpPr>
                  <p:cNvPr id="9" name="Gerader Verbinder 8">
                    <a:extLst>
                      <a:ext uri="{FF2B5EF4-FFF2-40B4-BE49-F238E27FC236}">
                        <a16:creationId xmlns:a16="http://schemas.microsoft.com/office/drawing/2014/main" id="{D653277A-BDBF-41A9-B58F-DDEF571DB5A3}"/>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 name="Gerader Verbinder 9">
                    <a:extLst>
                      <a:ext uri="{FF2B5EF4-FFF2-40B4-BE49-F238E27FC236}">
                        <a16:creationId xmlns:a16="http://schemas.microsoft.com/office/drawing/2014/main" id="{27FF4FCA-86FA-4297-80DD-A64586714AA0}"/>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 name="Gerader Verbinder 10">
                    <a:extLst>
                      <a:ext uri="{FF2B5EF4-FFF2-40B4-BE49-F238E27FC236}">
                        <a16:creationId xmlns:a16="http://schemas.microsoft.com/office/drawing/2014/main" id="{258172CB-A50F-4E14-B453-DDEDD74F739F}"/>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r Verbinder 11">
                    <a:extLst>
                      <a:ext uri="{FF2B5EF4-FFF2-40B4-BE49-F238E27FC236}">
                        <a16:creationId xmlns:a16="http://schemas.microsoft.com/office/drawing/2014/main" id="{2EBE9B08-38A7-46AA-B412-085FDCFEE3E2}"/>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r Verbinder 12">
                    <a:extLst>
                      <a:ext uri="{FF2B5EF4-FFF2-40B4-BE49-F238E27FC236}">
                        <a16:creationId xmlns:a16="http://schemas.microsoft.com/office/drawing/2014/main" id="{E25DEDAA-D255-4E71-92F0-B6FD49EDE7AC}"/>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 name="Ellipse 13">
                    <a:extLst>
                      <a:ext uri="{FF2B5EF4-FFF2-40B4-BE49-F238E27FC236}">
                        <a16:creationId xmlns:a16="http://schemas.microsoft.com/office/drawing/2014/main" id="{FEF67DC1-4A5E-43EF-B13E-C7B6FFAB39B7}"/>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5" name="Ellipse 14">
                    <a:extLst>
                      <a:ext uri="{FF2B5EF4-FFF2-40B4-BE49-F238E27FC236}">
                        <a16:creationId xmlns:a16="http://schemas.microsoft.com/office/drawing/2014/main" id="{3B687955-F52B-4BF6-A5C5-9CC9AFC9D164}"/>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6" name="Ellipse 15">
                    <a:extLst>
                      <a:ext uri="{FF2B5EF4-FFF2-40B4-BE49-F238E27FC236}">
                        <a16:creationId xmlns:a16="http://schemas.microsoft.com/office/drawing/2014/main" id="{8375948E-0DFA-4015-879C-3C367967309F}"/>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Ellipse 16">
                    <a:extLst>
                      <a:ext uri="{FF2B5EF4-FFF2-40B4-BE49-F238E27FC236}">
                        <a16:creationId xmlns:a16="http://schemas.microsoft.com/office/drawing/2014/main" id="{892E8BD8-46FB-474D-9D0A-AFB8E9D228FC}"/>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8" name="Ellipse 17">
                    <a:extLst>
                      <a:ext uri="{FF2B5EF4-FFF2-40B4-BE49-F238E27FC236}">
                        <a16:creationId xmlns:a16="http://schemas.microsoft.com/office/drawing/2014/main" id="{479E6A90-FA79-4A01-9F6F-90629AB71EA3}"/>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 name="Ellipse 18">
                    <a:extLst>
                      <a:ext uri="{FF2B5EF4-FFF2-40B4-BE49-F238E27FC236}">
                        <a16:creationId xmlns:a16="http://schemas.microsoft.com/office/drawing/2014/main" id="{26A44471-AF95-4034-B77B-2CA82C038EC4}"/>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0" name="Ellipse 19">
                    <a:extLst>
                      <a:ext uri="{FF2B5EF4-FFF2-40B4-BE49-F238E27FC236}">
                        <a16:creationId xmlns:a16="http://schemas.microsoft.com/office/drawing/2014/main" id="{16597EF2-2BF5-416A-831A-D7E977021717}"/>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1" name="Ellipse 20">
                    <a:extLst>
                      <a:ext uri="{FF2B5EF4-FFF2-40B4-BE49-F238E27FC236}">
                        <a16:creationId xmlns:a16="http://schemas.microsoft.com/office/drawing/2014/main" id="{7B8FD800-4FF4-48EB-85AB-8C97D9A2FF2D}"/>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2" name="Ellipse 21">
                    <a:extLst>
                      <a:ext uri="{FF2B5EF4-FFF2-40B4-BE49-F238E27FC236}">
                        <a16:creationId xmlns:a16="http://schemas.microsoft.com/office/drawing/2014/main" id="{613EDFF3-5856-4DF9-B64B-3D4CEF5A1B5F}"/>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5" name="Textfeld 4">
                  <a:extLst>
                    <a:ext uri="{FF2B5EF4-FFF2-40B4-BE49-F238E27FC236}">
                      <a16:creationId xmlns:a16="http://schemas.microsoft.com/office/drawing/2014/main" id="{EF04B09C-9576-4FB5-9157-B61BB63E2D24}"/>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6" name="Textfeld 5">
                  <a:extLst>
                    <a:ext uri="{FF2B5EF4-FFF2-40B4-BE49-F238E27FC236}">
                      <a16:creationId xmlns:a16="http://schemas.microsoft.com/office/drawing/2014/main" id="{F5CDC5D9-0F64-4849-A20F-D50D48599520}"/>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7" name="Textfeld 6">
                  <a:extLst>
                    <a:ext uri="{FF2B5EF4-FFF2-40B4-BE49-F238E27FC236}">
                      <a16:creationId xmlns:a16="http://schemas.microsoft.com/office/drawing/2014/main" id="{AD84C027-1F38-4FD0-B182-0AF705AF4EFF}"/>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8" name="Textfeld 7">
                  <a:extLst>
                    <a:ext uri="{FF2B5EF4-FFF2-40B4-BE49-F238E27FC236}">
                      <a16:creationId xmlns:a16="http://schemas.microsoft.com/office/drawing/2014/main" id="{A56190FA-6ED4-4DA9-BB52-F0446F9D6EBA}"/>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6" name="Ellipse 25">
                <a:extLst>
                  <a:ext uri="{FF2B5EF4-FFF2-40B4-BE49-F238E27FC236}">
                    <a16:creationId xmlns:a16="http://schemas.microsoft.com/office/drawing/2014/main" id="{CD5F0D9F-E165-4FF1-9AD7-1931558ADA04}"/>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31" name="Gerade Verbindung mit Pfeil 30">
              <a:extLst>
                <a:ext uri="{FF2B5EF4-FFF2-40B4-BE49-F238E27FC236}">
                  <a16:creationId xmlns:a16="http://schemas.microsoft.com/office/drawing/2014/main" id="{9ED0CFA9-8F1D-4D21-BEDC-DB748BCECB5E}"/>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2" name="Textfeld 31">
              <a:extLst>
                <a:ext uri="{FF2B5EF4-FFF2-40B4-BE49-F238E27FC236}">
                  <a16:creationId xmlns:a16="http://schemas.microsoft.com/office/drawing/2014/main" id="{F1D88D5F-AAB4-42A1-8E42-FA740A66582E}"/>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123462086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 do you think is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3"/>
                <a:stretch>
                  <a:fillRect l="-1250" t="-3425"/>
                </a:stretch>
              </a:blipFill>
            </p:spPr>
            <p:txBody>
              <a:bodyPr/>
              <a:lstStyle/>
              <a:p>
                <a:r>
                  <a:rPr lang="en-US">
                    <a:noFill/>
                  </a:rPr>
                  <a:t> </a:t>
                </a:r>
              </a:p>
            </p:txBody>
          </p:sp>
        </mc:Fallback>
      </mc:AlternateContent>
      <p:grpSp>
        <p:nvGrpSpPr>
          <p:cNvPr id="73" name="Gruppieren 72">
            <a:extLst>
              <a:ext uri="{FF2B5EF4-FFF2-40B4-BE49-F238E27FC236}">
                <a16:creationId xmlns:a16="http://schemas.microsoft.com/office/drawing/2014/main" id="{A7D6D011-F185-4994-8C6F-6C062333EA6C}"/>
              </a:ext>
            </a:extLst>
          </p:cNvPr>
          <p:cNvGrpSpPr/>
          <p:nvPr/>
        </p:nvGrpSpPr>
        <p:grpSpPr>
          <a:xfrm>
            <a:off x="1262862" y="4058766"/>
            <a:ext cx="4896000" cy="1008000"/>
            <a:chOff x="918225" y="2780667"/>
            <a:chExt cx="6801130" cy="1404417"/>
          </a:xfrm>
        </p:grpSpPr>
        <p:grpSp>
          <p:nvGrpSpPr>
            <p:cNvPr id="48" name="Gruppieren 47">
              <a:extLst>
                <a:ext uri="{FF2B5EF4-FFF2-40B4-BE49-F238E27FC236}">
                  <a16:creationId xmlns:a16="http://schemas.microsoft.com/office/drawing/2014/main" id="{F50C1A91-7B02-4A84-8E68-BB97F09C0E89}"/>
                </a:ext>
              </a:extLst>
            </p:cNvPr>
            <p:cNvGrpSpPr/>
            <p:nvPr/>
          </p:nvGrpSpPr>
          <p:grpSpPr>
            <a:xfrm>
              <a:off x="987354" y="2972640"/>
              <a:ext cx="6732001" cy="1067982"/>
              <a:chOff x="946888" y="2684869"/>
              <a:chExt cx="6732001" cy="1067982"/>
            </a:xfrm>
          </p:grpSpPr>
          <p:grpSp>
            <p:nvGrpSpPr>
              <p:cNvPr id="49" name="Gruppieren 48">
                <a:extLst>
                  <a:ext uri="{FF2B5EF4-FFF2-40B4-BE49-F238E27FC236}">
                    <a16:creationId xmlns:a16="http://schemas.microsoft.com/office/drawing/2014/main" id="{E0B1D41B-4C6B-4B1E-B904-526DF6A84386}"/>
                  </a:ext>
                </a:extLst>
              </p:cNvPr>
              <p:cNvGrpSpPr/>
              <p:nvPr/>
            </p:nvGrpSpPr>
            <p:grpSpPr>
              <a:xfrm>
                <a:off x="946888" y="2684869"/>
                <a:ext cx="6732001" cy="1067982"/>
                <a:chOff x="986607" y="3303000"/>
                <a:chExt cx="4537464" cy="743507"/>
              </a:xfrm>
            </p:grpSpPr>
            <p:grpSp>
              <p:nvGrpSpPr>
                <p:cNvPr id="51" name="Gruppieren 50">
                  <a:extLst>
                    <a:ext uri="{FF2B5EF4-FFF2-40B4-BE49-F238E27FC236}">
                      <a16:creationId xmlns:a16="http://schemas.microsoft.com/office/drawing/2014/main" id="{A5EC0EE4-E062-4E35-96FD-788F96DDE8CA}"/>
                    </a:ext>
                  </a:extLst>
                </p:cNvPr>
                <p:cNvGrpSpPr/>
                <p:nvPr/>
              </p:nvGrpSpPr>
              <p:grpSpPr>
                <a:xfrm>
                  <a:off x="986607" y="3303000"/>
                  <a:ext cx="4537464" cy="449850"/>
                  <a:chOff x="986607" y="3303000"/>
                  <a:chExt cx="4537464" cy="449850"/>
                </a:xfrm>
              </p:grpSpPr>
              <p:cxnSp>
                <p:nvCxnSpPr>
                  <p:cNvPr id="56" name="Gerader Verbinder 55">
                    <a:extLst>
                      <a:ext uri="{FF2B5EF4-FFF2-40B4-BE49-F238E27FC236}">
                        <a16:creationId xmlns:a16="http://schemas.microsoft.com/office/drawing/2014/main" id="{2F828D32-4D81-487C-8BB9-B9BE636F7BBF}"/>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r Verbinder 56">
                    <a:extLst>
                      <a:ext uri="{FF2B5EF4-FFF2-40B4-BE49-F238E27FC236}">
                        <a16:creationId xmlns:a16="http://schemas.microsoft.com/office/drawing/2014/main" id="{9D0880BE-9782-452C-A922-3223D4EA8C70}"/>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0BBE5A92-1153-4922-B439-FA519F08B86D}"/>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r Verbinder 58">
                    <a:extLst>
                      <a:ext uri="{FF2B5EF4-FFF2-40B4-BE49-F238E27FC236}">
                        <a16:creationId xmlns:a16="http://schemas.microsoft.com/office/drawing/2014/main" id="{3D3D6C63-781A-4BA4-BFC2-D7EA167BB513}"/>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r Verbinder 59">
                    <a:extLst>
                      <a:ext uri="{FF2B5EF4-FFF2-40B4-BE49-F238E27FC236}">
                        <a16:creationId xmlns:a16="http://schemas.microsoft.com/office/drawing/2014/main" id="{922C453A-F824-4FDF-B1A7-A4B9F03FA476}"/>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1" name="Ellipse 60">
                    <a:extLst>
                      <a:ext uri="{FF2B5EF4-FFF2-40B4-BE49-F238E27FC236}">
                        <a16:creationId xmlns:a16="http://schemas.microsoft.com/office/drawing/2014/main" id="{41929FCB-FB6F-4139-BAC8-776B6CC906F5}"/>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3864E6AD-3A9C-4F8A-A3BE-FEA7DF013994}"/>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3" name="Ellipse 62">
                    <a:extLst>
                      <a:ext uri="{FF2B5EF4-FFF2-40B4-BE49-F238E27FC236}">
                        <a16:creationId xmlns:a16="http://schemas.microsoft.com/office/drawing/2014/main" id="{B91F897B-F689-425B-8D9D-B489A3E38DD6}"/>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4" name="Ellipse 63">
                    <a:extLst>
                      <a:ext uri="{FF2B5EF4-FFF2-40B4-BE49-F238E27FC236}">
                        <a16:creationId xmlns:a16="http://schemas.microsoft.com/office/drawing/2014/main" id="{F4D01EC7-1368-4D8C-A2BE-E25E854CBCEC}"/>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Ellipse 64">
                    <a:extLst>
                      <a:ext uri="{FF2B5EF4-FFF2-40B4-BE49-F238E27FC236}">
                        <a16:creationId xmlns:a16="http://schemas.microsoft.com/office/drawing/2014/main" id="{C7996A9D-382F-4591-A21B-438364CA14B9}"/>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E4C0847D-047D-4D89-8C90-4261F243915E}"/>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7" name="Ellipse 66">
                    <a:extLst>
                      <a:ext uri="{FF2B5EF4-FFF2-40B4-BE49-F238E27FC236}">
                        <a16:creationId xmlns:a16="http://schemas.microsoft.com/office/drawing/2014/main" id="{1ACE23D9-D008-4C41-998A-964A9FC999A2}"/>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DF118E3E-D850-4D5F-8136-C02A2D4862FC}"/>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9" name="Ellipse 68">
                    <a:extLst>
                      <a:ext uri="{FF2B5EF4-FFF2-40B4-BE49-F238E27FC236}">
                        <a16:creationId xmlns:a16="http://schemas.microsoft.com/office/drawing/2014/main" id="{0340D88E-6F66-4BD9-A3B1-EDDFE6DE3641}"/>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52" name="Textfeld 51">
                  <a:extLst>
                    <a:ext uri="{FF2B5EF4-FFF2-40B4-BE49-F238E27FC236}">
                      <a16:creationId xmlns:a16="http://schemas.microsoft.com/office/drawing/2014/main" id="{2689E19A-5BC9-4B6E-97F4-B377B2C1EF65}"/>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53" name="Textfeld 52">
                  <a:extLst>
                    <a:ext uri="{FF2B5EF4-FFF2-40B4-BE49-F238E27FC236}">
                      <a16:creationId xmlns:a16="http://schemas.microsoft.com/office/drawing/2014/main" id="{B8241891-FA8A-46E4-8FD6-5A006061A8BE}"/>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54" name="Textfeld 53">
                  <a:extLst>
                    <a:ext uri="{FF2B5EF4-FFF2-40B4-BE49-F238E27FC236}">
                      <a16:creationId xmlns:a16="http://schemas.microsoft.com/office/drawing/2014/main" id="{CA135A0F-CC69-41F6-B284-6113C9ABD699}"/>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55" name="Textfeld 54">
                  <a:extLst>
                    <a:ext uri="{FF2B5EF4-FFF2-40B4-BE49-F238E27FC236}">
                      <a16:creationId xmlns:a16="http://schemas.microsoft.com/office/drawing/2014/main" id="{5E8FDF68-339D-4985-94EB-C5DACAA1E7AD}"/>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50" name="Ellipse 49">
                <a:extLst>
                  <a:ext uri="{FF2B5EF4-FFF2-40B4-BE49-F238E27FC236}">
                    <a16:creationId xmlns:a16="http://schemas.microsoft.com/office/drawing/2014/main" id="{12D21413-8A1C-4ECA-9B27-736EEB90DE62}"/>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70" name="Rechteck 69">
              <a:extLst>
                <a:ext uri="{FF2B5EF4-FFF2-40B4-BE49-F238E27FC236}">
                  <a16:creationId xmlns:a16="http://schemas.microsoft.com/office/drawing/2014/main" id="{BEEFAEC3-BB70-40A7-A870-119E5402A3F0}"/>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1" name="Rechteck 70">
              <a:extLst>
                <a:ext uri="{FF2B5EF4-FFF2-40B4-BE49-F238E27FC236}">
                  <a16:creationId xmlns:a16="http://schemas.microsoft.com/office/drawing/2014/main" id="{2CCEF242-394B-4249-8381-355D5CDC67FB}"/>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72" name="Gerader Verbinder 71">
              <a:extLst>
                <a:ext uri="{FF2B5EF4-FFF2-40B4-BE49-F238E27FC236}">
                  <a16:creationId xmlns:a16="http://schemas.microsoft.com/office/drawing/2014/main" id="{18FE78C6-79B5-462E-AD00-A682722AD72C}"/>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124" name="Gruppieren 123">
            <a:extLst>
              <a:ext uri="{FF2B5EF4-FFF2-40B4-BE49-F238E27FC236}">
                <a16:creationId xmlns:a16="http://schemas.microsoft.com/office/drawing/2014/main" id="{9241C80F-B532-4B58-ACEA-5C37C0C139F6}"/>
              </a:ext>
            </a:extLst>
          </p:cNvPr>
          <p:cNvGrpSpPr/>
          <p:nvPr/>
        </p:nvGrpSpPr>
        <p:grpSpPr>
          <a:xfrm>
            <a:off x="6865966" y="4041068"/>
            <a:ext cx="4896000" cy="1008000"/>
            <a:chOff x="918225" y="2780667"/>
            <a:chExt cx="6801130" cy="1404417"/>
          </a:xfrm>
        </p:grpSpPr>
        <p:grpSp>
          <p:nvGrpSpPr>
            <p:cNvPr id="99" name="Gruppieren 98">
              <a:extLst>
                <a:ext uri="{FF2B5EF4-FFF2-40B4-BE49-F238E27FC236}">
                  <a16:creationId xmlns:a16="http://schemas.microsoft.com/office/drawing/2014/main" id="{B7E8A650-98F7-40F5-9376-259C930E2CB5}"/>
                </a:ext>
              </a:extLst>
            </p:cNvPr>
            <p:cNvGrpSpPr/>
            <p:nvPr/>
          </p:nvGrpSpPr>
          <p:grpSpPr>
            <a:xfrm>
              <a:off x="987354" y="2972640"/>
              <a:ext cx="6732001" cy="1067982"/>
              <a:chOff x="946888" y="2684869"/>
              <a:chExt cx="6732001" cy="1067982"/>
            </a:xfrm>
          </p:grpSpPr>
          <p:grpSp>
            <p:nvGrpSpPr>
              <p:cNvPr id="100" name="Gruppieren 99">
                <a:extLst>
                  <a:ext uri="{FF2B5EF4-FFF2-40B4-BE49-F238E27FC236}">
                    <a16:creationId xmlns:a16="http://schemas.microsoft.com/office/drawing/2014/main" id="{25DF5F3A-696F-464C-B504-8DB3084EF26F}"/>
                  </a:ext>
                </a:extLst>
              </p:cNvPr>
              <p:cNvGrpSpPr/>
              <p:nvPr/>
            </p:nvGrpSpPr>
            <p:grpSpPr>
              <a:xfrm>
                <a:off x="946888" y="2684869"/>
                <a:ext cx="6732001" cy="1067982"/>
                <a:chOff x="986607" y="3303000"/>
                <a:chExt cx="4537464" cy="743507"/>
              </a:xfrm>
            </p:grpSpPr>
            <p:grpSp>
              <p:nvGrpSpPr>
                <p:cNvPr id="102" name="Gruppieren 101">
                  <a:extLst>
                    <a:ext uri="{FF2B5EF4-FFF2-40B4-BE49-F238E27FC236}">
                      <a16:creationId xmlns:a16="http://schemas.microsoft.com/office/drawing/2014/main" id="{AA703A52-9218-49D7-9B2A-E5D91A1813C3}"/>
                    </a:ext>
                  </a:extLst>
                </p:cNvPr>
                <p:cNvGrpSpPr/>
                <p:nvPr/>
              </p:nvGrpSpPr>
              <p:grpSpPr>
                <a:xfrm>
                  <a:off x="986607" y="3303000"/>
                  <a:ext cx="4537464" cy="449850"/>
                  <a:chOff x="986607" y="3303000"/>
                  <a:chExt cx="4537464" cy="449850"/>
                </a:xfrm>
              </p:grpSpPr>
              <p:cxnSp>
                <p:nvCxnSpPr>
                  <p:cNvPr id="107" name="Gerader Verbinder 106">
                    <a:extLst>
                      <a:ext uri="{FF2B5EF4-FFF2-40B4-BE49-F238E27FC236}">
                        <a16:creationId xmlns:a16="http://schemas.microsoft.com/office/drawing/2014/main" id="{947E6C80-737D-4EFB-AAD8-8FFB4194E6EB}"/>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8" name="Gerader Verbinder 107">
                    <a:extLst>
                      <a:ext uri="{FF2B5EF4-FFF2-40B4-BE49-F238E27FC236}">
                        <a16:creationId xmlns:a16="http://schemas.microsoft.com/office/drawing/2014/main" id="{1183839B-C9B0-4ECD-90C5-4413A7024AA9}"/>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9" name="Gerader Verbinder 108">
                    <a:extLst>
                      <a:ext uri="{FF2B5EF4-FFF2-40B4-BE49-F238E27FC236}">
                        <a16:creationId xmlns:a16="http://schemas.microsoft.com/office/drawing/2014/main" id="{9FECFCF3-9E2A-49A4-9BE6-5E2C7FF79AAE}"/>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0" name="Gerader Verbinder 109">
                    <a:extLst>
                      <a:ext uri="{FF2B5EF4-FFF2-40B4-BE49-F238E27FC236}">
                        <a16:creationId xmlns:a16="http://schemas.microsoft.com/office/drawing/2014/main" id="{DA137600-7F10-4596-8A79-D1ACDA88680D}"/>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1" name="Gerader Verbinder 110">
                    <a:extLst>
                      <a:ext uri="{FF2B5EF4-FFF2-40B4-BE49-F238E27FC236}">
                        <a16:creationId xmlns:a16="http://schemas.microsoft.com/office/drawing/2014/main" id="{2B27BDAC-DCB0-4F3E-8250-B0756A89C0B3}"/>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12" name="Ellipse 111">
                    <a:extLst>
                      <a:ext uri="{FF2B5EF4-FFF2-40B4-BE49-F238E27FC236}">
                        <a16:creationId xmlns:a16="http://schemas.microsoft.com/office/drawing/2014/main" id="{70C47718-467E-4484-AEC7-FC25E67E8E90}"/>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3" name="Ellipse 112">
                    <a:extLst>
                      <a:ext uri="{FF2B5EF4-FFF2-40B4-BE49-F238E27FC236}">
                        <a16:creationId xmlns:a16="http://schemas.microsoft.com/office/drawing/2014/main" id="{BB21D727-BCFA-43E1-8D64-F5B9F2ECD589}"/>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4" name="Ellipse 113">
                    <a:extLst>
                      <a:ext uri="{FF2B5EF4-FFF2-40B4-BE49-F238E27FC236}">
                        <a16:creationId xmlns:a16="http://schemas.microsoft.com/office/drawing/2014/main" id="{16DA7C93-29AA-45AE-864B-AC4B4AD24E7D}"/>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5" name="Ellipse 114">
                    <a:extLst>
                      <a:ext uri="{FF2B5EF4-FFF2-40B4-BE49-F238E27FC236}">
                        <a16:creationId xmlns:a16="http://schemas.microsoft.com/office/drawing/2014/main" id="{03EB1D02-366E-4EB8-B26A-17E65E451E2C}"/>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6" name="Ellipse 115">
                    <a:extLst>
                      <a:ext uri="{FF2B5EF4-FFF2-40B4-BE49-F238E27FC236}">
                        <a16:creationId xmlns:a16="http://schemas.microsoft.com/office/drawing/2014/main" id="{6ED0DBAC-D081-4780-A607-176AE1C256AF}"/>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7" name="Ellipse 116">
                    <a:extLst>
                      <a:ext uri="{FF2B5EF4-FFF2-40B4-BE49-F238E27FC236}">
                        <a16:creationId xmlns:a16="http://schemas.microsoft.com/office/drawing/2014/main" id="{4FFDFECA-4248-4DB8-8B8C-A047FD5531ED}"/>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8" name="Ellipse 117">
                    <a:extLst>
                      <a:ext uri="{FF2B5EF4-FFF2-40B4-BE49-F238E27FC236}">
                        <a16:creationId xmlns:a16="http://schemas.microsoft.com/office/drawing/2014/main" id="{58A1156E-B684-450C-847D-41625D935C24}"/>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9" name="Ellipse 118">
                    <a:extLst>
                      <a:ext uri="{FF2B5EF4-FFF2-40B4-BE49-F238E27FC236}">
                        <a16:creationId xmlns:a16="http://schemas.microsoft.com/office/drawing/2014/main" id="{3D5CAF38-23A8-4104-8AC9-0E7100D71B1A}"/>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20" name="Ellipse 119">
                    <a:extLst>
                      <a:ext uri="{FF2B5EF4-FFF2-40B4-BE49-F238E27FC236}">
                        <a16:creationId xmlns:a16="http://schemas.microsoft.com/office/drawing/2014/main" id="{E6D6F476-B373-4D59-8109-A229E6A2B55B}"/>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03" name="Textfeld 102">
                  <a:extLst>
                    <a:ext uri="{FF2B5EF4-FFF2-40B4-BE49-F238E27FC236}">
                      <a16:creationId xmlns:a16="http://schemas.microsoft.com/office/drawing/2014/main" id="{AE0671C4-033D-4FF1-AC4D-AB96E027ED30}"/>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104" name="Textfeld 103">
                  <a:extLst>
                    <a:ext uri="{FF2B5EF4-FFF2-40B4-BE49-F238E27FC236}">
                      <a16:creationId xmlns:a16="http://schemas.microsoft.com/office/drawing/2014/main" id="{CF0C0444-7C34-4049-8995-8EAC631F9D55}"/>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105" name="Textfeld 104">
                  <a:extLst>
                    <a:ext uri="{FF2B5EF4-FFF2-40B4-BE49-F238E27FC236}">
                      <a16:creationId xmlns:a16="http://schemas.microsoft.com/office/drawing/2014/main" id="{E6AC0DDB-A675-4538-B7E1-7CF4DF7F2D9C}"/>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106" name="Textfeld 105">
                  <a:extLst>
                    <a:ext uri="{FF2B5EF4-FFF2-40B4-BE49-F238E27FC236}">
                      <a16:creationId xmlns:a16="http://schemas.microsoft.com/office/drawing/2014/main" id="{B6EB49F9-4027-45FC-BB7C-59CFBAFDAF94}"/>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01" name="Ellipse 100">
                <a:extLst>
                  <a:ext uri="{FF2B5EF4-FFF2-40B4-BE49-F238E27FC236}">
                    <a16:creationId xmlns:a16="http://schemas.microsoft.com/office/drawing/2014/main" id="{785DE2B1-E5EE-4195-A5B7-609AE6C54D3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21" name="Rechteck 120">
              <a:extLst>
                <a:ext uri="{FF2B5EF4-FFF2-40B4-BE49-F238E27FC236}">
                  <a16:creationId xmlns:a16="http://schemas.microsoft.com/office/drawing/2014/main" id="{57B93CE4-0BF1-4262-A67C-6237FAEE4C56}"/>
                </a:ext>
              </a:extLst>
            </p:cNvPr>
            <p:cNvSpPr/>
            <p:nvPr/>
          </p:nvSpPr>
          <p:spPr bwMode="auto">
            <a:xfrm>
              <a:off x="918225" y="2908206"/>
              <a:ext cx="2821802"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22" name="Rechteck 121">
              <a:extLst>
                <a:ext uri="{FF2B5EF4-FFF2-40B4-BE49-F238E27FC236}">
                  <a16:creationId xmlns:a16="http://schemas.microsoft.com/office/drawing/2014/main" id="{6E42BD8E-3F42-4AC3-8D81-73B53B8CE2D0}"/>
                </a:ext>
              </a:extLst>
            </p:cNvPr>
            <p:cNvSpPr/>
            <p:nvPr/>
          </p:nvSpPr>
          <p:spPr bwMode="auto">
            <a:xfrm>
              <a:off x="3777063" y="2915601"/>
              <a:ext cx="3902653"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23" name="Gerader Verbinder 122">
              <a:extLst>
                <a:ext uri="{FF2B5EF4-FFF2-40B4-BE49-F238E27FC236}">
                  <a16:creationId xmlns:a16="http://schemas.microsoft.com/office/drawing/2014/main" id="{6CCDD76A-9EA5-4073-B081-AF2BE90A5CD8}"/>
                </a:ext>
              </a:extLst>
            </p:cNvPr>
            <p:cNvCxnSpPr/>
            <p:nvPr/>
          </p:nvCxnSpPr>
          <p:spPr bwMode="auto">
            <a:xfrm flipH="1">
              <a:off x="3758176"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150" name="Gruppieren 149">
            <a:extLst>
              <a:ext uri="{FF2B5EF4-FFF2-40B4-BE49-F238E27FC236}">
                <a16:creationId xmlns:a16="http://schemas.microsoft.com/office/drawing/2014/main" id="{4B393182-57A5-4243-AA18-42304097BAF0}"/>
              </a:ext>
            </a:extLst>
          </p:cNvPr>
          <p:cNvGrpSpPr/>
          <p:nvPr/>
        </p:nvGrpSpPr>
        <p:grpSpPr>
          <a:xfrm>
            <a:off x="1270464" y="5292897"/>
            <a:ext cx="4896000" cy="1008000"/>
            <a:chOff x="918224" y="2780667"/>
            <a:chExt cx="6801131" cy="1404417"/>
          </a:xfrm>
        </p:grpSpPr>
        <p:grpSp>
          <p:nvGrpSpPr>
            <p:cNvPr id="125" name="Gruppieren 124">
              <a:extLst>
                <a:ext uri="{FF2B5EF4-FFF2-40B4-BE49-F238E27FC236}">
                  <a16:creationId xmlns:a16="http://schemas.microsoft.com/office/drawing/2014/main" id="{B32B1FBC-C905-4075-91D7-3C0767772BDD}"/>
                </a:ext>
              </a:extLst>
            </p:cNvPr>
            <p:cNvGrpSpPr/>
            <p:nvPr/>
          </p:nvGrpSpPr>
          <p:grpSpPr>
            <a:xfrm>
              <a:off x="987354" y="2972640"/>
              <a:ext cx="6732001" cy="1067982"/>
              <a:chOff x="946888" y="2684869"/>
              <a:chExt cx="6732001" cy="1067982"/>
            </a:xfrm>
          </p:grpSpPr>
          <p:grpSp>
            <p:nvGrpSpPr>
              <p:cNvPr id="126" name="Gruppieren 125">
                <a:extLst>
                  <a:ext uri="{FF2B5EF4-FFF2-40B4-BE49-F238E27FC236}">
                    <a16:creationId xmlns:a16="http://schemas.microsoft.com/office/drawing/2014/main" id="{37B39E13-8BAA-4ADE-B573-9419E44CCF07}"/>
                  </a:ext>
                </a:extLst>
              </p:cNvPr>
              <p:cNvGrpSpPr/>
              <p:nvPr/>
            </p:nvGrpSpPr>
            <p:grpSpPr>
              <a:xfrm>
                <a:off x="946888" y="2684869"/>
                <a:ext cx="6732001" cy="1067982"/>
                <a:chOff x="986607" y="3303000"/>
                <a:chExt cx="4537464" cy="743507"/>
              </a:xfrm>
            </p:grpSpPr>
            <p:grpSp>
              <p:nvGrpSpPr>
                <p:cNvPr id="128" name="Gruppieren 127">
                  <a:extLst>
                    <a:ext uri="{FF2B5EF4-FFF2-40B4-BE49-F238E27FC236}">
                      <a16:creationId xmlns:a16="http://schemas.microsoft.com/office/drawing/2014/main" id="{8AB67898-5D5C-4FEF-B38E-9E12565ED242}"/>
                    </a:ext>
                  </a:extLst>
                </p:cNvPr>
                <p:cNvGrpSpPr/>
                <p:nvPr/>
              </p:nvGrpSpPr>
              <p:grpSpPr>
                <a:xfrm>
                  <a:off x="986607" y="3303000"/>
                  <a:ext cx="4537464" cy="449850"/>
                  <a:chOff x="986607" y="3303000"/>
                  <a:chExt cx="4537464" cy="449850"/>
                </a:xfrm>
              </p:grpSpPr>
              <p:cxnSp>
                <p:nvCxnSpPr>
                  <p:cNvPr id="133" name="Gerader Verbinder 132">
                    <a:extLst>
                      <a:ext uri="{FF2B5EF4-FFF2-40B4-BE49-F238E27FC236}">
                        <a16:creationId xmlns:a16="http://schemas.microsoft.com/office/drawing/2014/main" id="{749F91FF-8C7D-4C98-9D2A-D61492346D69}"/>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4" name="Gerader Verbinder 133">
                    <a:extLst>
                      <a:ext uri="{FF2B5EF4-FFF2-40B4-BE49-F238E27FC236}">
                        <a16:creationId xmlns:a16="http://schemas.microsoft.com/office/drawing/2014/main" id="{1648DA7D-82C4-4F5F-9931-3FC6A4D31BF7}"/>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5" name="Gerader Verbinder 134">
                    <a:extLst>
                      <a:ext uri="{FF2B5EF4-FFF2-40B4-BE49-F238E27FC236}">
                        <a16:creationId xmlns:a16="http://schemas.microsoft.com/office/drawing/2014/main" id="{2E047FF5-5AE2-4757-B5E5-5C0A29E55B15}"/>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6" name="Gerader Verbinder 135">
                    <a:extLst>
                      <a:ext uri="{FF2B5EF4-FFF2-40B4-BE49-F238E27FC236}">
                        <a16:creationId xmlns:a16="http://schemas.microsoft.com/office/drawing/2014/main" id="{F0DA2A74-E414-422E-845F-CF65197F9065}"/>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7" name="Gerader Verbinder 136">
                    <a:extLst>
                      <a:ext uri="{FF2B5EF4-FFF2-40B4-BE49-F238E27FC236}">
                        <a16:creationId xmlns:a16="http://schemas.microsoft.com/office/drawing/2014/main" id="{A66BFD99-5A50-419A-A137-A9641ED4BE7C}"/>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8" name="Ellipse 137">
                    <a:extLst>
                      <a:ext uri="{FF2B5EF4-FFF2-40B4-BE49-F238E27FC236}">
                        <a16:creationId xmlns:a16="http://schemas.microsoft.com/office/drawing/2014/main" id="{AC46A38D-4B24-4924-90AC-C07AED17F057}"/>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39" name="Ellipse 138">
                    <a:extLst>
                      <a:ext uri="{FF2B5EF4-FFF2-40B4-BE49-F238E27FC236}">
                        <a16:creationId xmlns:a16="http://schemas.microsoft.com/office/drawing/2014/main" id="{249D2264-26E5-4E36-80D6-5B233C719DED}"/>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0" name="Ellipse 139">
                    <a:extLst>
                      <a:ext uri="{FF2B5EF4-FFF2-40B4-BE49-F238E27FC236}">
                        <a16:creationId xmlns:a16="http://schemas.microsoft.com/office/drawing/2014/main" id="{C5E5573B-A8D1-45E1-A240-6F350D73B9E3}"/>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1" name="Ellipse 140">
                    <a:extLst>
                      <a:ext uri="{FF2B5EF4-FFF2-40B4-BE49-F238E27FC236}">
                        <a16:creationId xmlns:a16="http://schemas.microsoft.com/office/drawing/2014/main" id="{7FBA92F0-4817-4CAF-840F-C19A17A697AF}"/>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2" name="Ellipse 141">
                    <a:extLst>
                      <a:ext uri="{FF2B5EF4-FFF2-40B4-BE49-F238E27FC236}">
                        <a16:creationId xmlns:a16="http://schemas.microsoft.com/office/drawing/2014/main" id="{F13CE28C-B179-41D6-A345-816444561D26}"/>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3" name="Ellipse 142">
                    <a:extLst>
                      <a:ext uri="{FF2B5EF4-FFF2-40B4-BE49-F238E27FC236}">
                        <a16:creationId xmlns:a16="http://schemas.microsoft.com/office/drawing/2014/main" id="{2E930779-E314-4791-9D35-EF72FC11B5B9}"/>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4" name="Ellipse 143">
                    <a:extLst>
                      <a:ext uri="{FF2B5EF4-FFF2-40B4-BE49-F238E27FC236}">
                        <a16:creationId xmlns:a16="http://schemas.microsoft.com/office/drawing/2014/main" id="{9649A850-759C-40EF-8B2A-E243A47C7AD4}"/>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5" name="Ellipse 144">
                    <a:extLst>
                      <a:ext uri="{FF2B5EF4-FFF2-40B4-BE49-F238E27FC236}">
                        <a16:creationId xmlns:a16="http://schemas.microsoft.com/office/drawing/2014/main" id="{6F37041A-D229-47F3-9A6B-623DB79A8E66}"/>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6" name="Ellipse 145">
                    <a:extLst>
                      <a:ext uri="{FF2B5EF4-FFF2-40B4-BE49-F238E27FC236}">
                        <a16:creationId xmlns:a16="http://schemas.microsoft.com/office/drawing/2014/main" id="{8BE25E96-C151-4554-A974-389A39AA41D0}"/>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29" name="Textfeld 128">
                  <a:extLst>
                    <a:ext uri="{FF2B5EF4-FFF2-40B4-BE49-F238E27FC236}">
                      <a16:creationId xmlns:a16="http://schemas.microsoft.com/office/drawing/2014/main" id="{F8817264-64D5-4F4D-82C6-9E5DC75992C9}"/>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130" name="Textfeld 129">
                  <a:extLst>
                    <a:ext uri="{FF2B5EF4-FFF2-40B4-BE49-F238E27FC236}">
                      <a16:creationId xmlns:a16="http://schemas.microsoft.com/office/drawing/2014/main" id="{13957B84-3FD0-407D-B51C-52060DEE224A}"/>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131" name="Textfeld 130">
                  <a:extLst>
                    <a:ext uri="{FF2B5EF4-FFF2-40B4-BE49-F238E27FC236}">
                      <a16:creationId xmlns:a16="http://schemas.microsoft.com/office/drawing/2014/main" id="{58E5D270-2125-4D43-B0D9-5D9B30111B42}"/>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132" name="Textfeld 131">
                  <a:extLst>
                    <a:ext uri="{FF2B5EF4-FFF2-40B4-BE49-F238E27FC236}">
                      <a16:creationId xmlns:a16="http://schemas.microsoft.com/office/drawing/2014/main" id="{752BBD44-7046-430F-8E01-9E3F6AE91DF2}"/>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27" name="Ellipse 126">
                <a:extLst>
                  <a:ext uri="{FF2B5EF4-FFF2-40B4-BE49-F238E27FC236}">
                    <a16:creationId xmlns:a16="http://schemas.microsoft.com/office/drawing/2014/main" id="{8C2F3EC3-DB9F-4B18-8EA1-EEF855805D38}"/>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47" name="Rechteck 146">
              <a:extLst>
                <a:ext uri="{FF2B5EF4-FFF2-40B4-BE49-F238E27FC236}">
                  <a16:creationId xmlns:a16="http://schemas.microsoft.com/office/drawing/2014/main" id="{7DFA15EC-BEC1-40B3-8713-BA3D07CB4A9F}"/>
                </a:ext>
              </a:extLst>
            </p:cNvPr>
            <p:cNvSpPr/>
            <p:nvPr/>
          </p:nvSpPr>
          <p:spPr bwMode="auto">
            <a:xfrm>
              <a:off x="918224" y="2908206"/>
              <a:ext cx="3560032"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8" name="Rechteck 147">
              <a:extLst>
                <a:ext uri="{FF2B5EF4-FFF2-40B4-BE49-F238E27FC236}">
                  <a16:creationId xmlns:a16="http://schemas.microsoft.com/office/drawing/2014/main" id="{7CFBEC22-F501-46A1-B327-5377FD9C1E1A}"/>
                </a:ext>
              </a:extLst>
            </p:cNvPr>
            <p:cNvSpPr/>
            <p:nvPr/>
          </p:nvSpPr>
          <p:spPr bwMode="auto">
            <a:xfrm>
              <a:off x="4498485" y="2915601"/>
              <a:ext cx="3181231"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49" name="Gerader Verbinder 148">
              <a:extLst>
                <a:ext uri="{FF2B5EF4-FFF2-40B4-BE49-F238E27FC236}">
                  <a16:creationId xmlns:a16="http://schemas.microsoft.com/office/drawing/2014/main" id="{69EF098F-F322-4545-B34A-BC70B7707CC1}"/>
                </a:ext>
              </a:extLst>
            </p:cNvPr>
            <p:cNvCxnSpPr/>
            <p:nvPr/>
          </p:nvCxnSpPr>
          <p:spPr bwMode="auto">
            <a:xfrm flipH="1">
              <a:off x="4478256"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200" name="Gruppieren 199">
            <a:extLst>
              <a:ext uri="{FF2B5EF4-FFF2-40B4-BE49-F238E27FC236}">
                <a16:creationId xmlns:a16="http://schemas.microsoft.com/office/drawing/2014/main" id="{63A9E29D-CA33-44F0-AC23-A487D41E2101}"/>
              </a:ext>
            </a:extLst>
          </p:cNvPr>
          <p:cNvGrpSpPr/>
          <p:nvPr/>
        </p:nvGrpSpPr>
        <p:grpSpPr>
          <a:xfrm>
            <a:off x="6857850" y="5309427"/>
            <a:ext cx="4896000" cy="1008000"/>
            <a:chOff x="918224" y="2768507"/>
            <a:chExt cx="6801131" cy="1404417"/>
          </a:xfrm>
        </p:grpSpPr>
        <p:grpSp>
          <p:nvGrpSpPr>
            <p:cNvPr id="175" name="Gruppieren 174">
              <a:extLst>
                <a:ext uri="{FF2B5EF4-FFF2-40B4-BE49-F238E27FC236}">
                  <a16:creationId xmlns:a16="http://schemas.microsoft.com/office/drawing/2014/main" id="{C4DCB37B-A2C6-4C9A-A206-A5DD6838D664}"/>
                </a:ext>
              </a:extLst>
            </p:cNvPr>
            <p:cNvGrpSpPr/>
            <p:nvPr/>
          </p:nvGrpSpPr>
          <p:grpSpPr>
            <a:xfrm>
              <a:off x="987354" y="2972640"/>
              <a:ext cx="6732001" cy="1067982"/>
              <a:chOff x="946888" y="2684869"/>
              <a:chExt cx="6732001" cy="1067982"/>
            </a:xfrm>
          </p:grpSpPr>
          <p:grpSp>
            <p:nvGrpSpPr>
              <p:cNvPr id="176" name="Gruppieren 175">
                <a:extLst>
                  <a:ext uri="{FF2B5EF4-FFF2-40B4-BE49-F238E27FC236}">
                    <a16:creationId xmlns:a16="http://schemas.microsoft.com/office/drawing/2014/main" id="{E624879D-D7AB-450E-90A6-2FEA5547C3CF}"/>
                  </a:ext>
                </a:extLst>
              </p:cNvPr>
              <p:cNvGrpSpPr/>
              <p:nvPr/>
            </p:nvGrpSpPr>
            <p:grpSpPr>
              <a:xfrm>
                <a:off x="946888" y="2684869"/>
                <a:ext cx="6732001" cy="1067982"/>
                <a:chOff x="986607" y="3303000"/>
                <a:chExt cx="4537464" cy="743507"/>
              </a:xfrm>
            </p:grpSpPr>
            <p:grpSp>
              <p:nvGrpSpPr>
                <p:cNvPr id="178" name="Gruppieren 177">
                  <a:extLst>
                    <a:ext uri="{FF2B5EF4-FFF2-40B4-BE49-F238E27FC236}">
                      <a16:creationId xmlns:a16="http://schemas.microsoft.com/office/drawing/2014/main" id="{78281BBC-13D8-4633-943D-01F2EFFBBD3F}"/>
                    </a:ext>
                  </a:extLst>
                </p:cNvPr>
                <p:cNvGrpSpPr/>
                <p:nvPr/>
              </p:nvGrpSpPr>
              <p:grpSpPr>
                <a:xfrm>
                  <a:off x="986607" y="3303000"/>
                  <a:ext cx="4537464" cy="449850"/>
                  <a:chOff x="986607" y="3303000"/>
                  <a:chExt cx="4537464" cy="449850"/>
                </a:xfrm>
              </p:grpSpPr>
              <p:cxnSp>
                <p:nvCxnSpPr>
                  <p:cNvPr id="183" name="Gerader Verbinder 182">
                    <a:extLst>
                      <a:ext uri="{FF2B5EF4-FFF2-40B4-BE49-F238E27FC236}">
                        <a16:creationId xmlns:a16="http://schemas.microsoft.com/office/drawing/2014/main" id="{43B25D0C-7533-4D1E-85F5-72424AF8C2B3}"/>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4" name="Gerader Verbinder 183">
                    <a:extLst>
                      <a:ext uri="{FF2B5EF4-FFF2-40B4-BE49-F238E27FC236}">
                        <a16:creationId xmlns:a16="http://schemas.microsoft.com/office/drawing/2014/main" id="{A303F3F1-B2A7-4037-ACF9-A07CD6A4C52C}"/>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5" name="Gerader Verbinder 184">
                    <a:extLst>
                      <a:ext uri="{FF2B5EF4-FFF2-40B4-BE49-F238E27FC236}">
                        <a16:creationId xmlns:a16="http://schemas.microsoft.com/office/drawing/2014/main" id="{8454F12C-188A-49AD-A56B-4A11E1E8D7CD}"/>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6" name="Gerader Verbinder 185">
                    <a:extLst>
                      <a:ext uri="{FF2B5EF4-FFF2-40B4-BE49-F238E27FC236}">
                        <a16:creationId xmlns:a16="http://schemas.microsoft.com/office/drawing/2014/main" id="{2FA67AD0-6538-47C4-978D-AF526515B507}"/>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7" name="Gerader Verbinder 186">
                    <a:extLst>
                      <a:ext uri="{FF2B5EF4-FFF2-40B4-BE49-F238E27FC236}">
                        <a16:creationId xmlns:a16="http://schemas.microsoft.com/office/drawing/2014/main" id="{528F034E-68D5-4C9C-A8E9-302329C28F34}"/>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88" name="Ellipse 187">
                    <a:extLst>
                      <a:ext uri="{FF2B5EF4-FFF2-40B4-BE49-F238E27FC236}">
                        <a16:creationId xmlns:a16="http://schemas.microsoft.com/office/drawing/2014/main" id="{BF430D6C-CDB1-4F9C-BD07-45845F479031}"/>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89" name="Ellipse 188">
                    <a:extLst>
                      <a:ext uri="{FF2B5EF4-FFF2-40B4-BE49-F238E27FC236}">
                        <a16:creationId xmlns:a16="http://schemas.microsoft.com/office/drawing/2014/main" id="{1E2287D6-3979-4444-A8B9-4E2056C4E54E}"/>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0" name="Ellipse 189">
                    <a:extLst>
                      <a:ext uri="{FF2B5EF4-FFF2-40B4-BE49-F238E27FC236}">
                        <a16:creationId xmlns:a16="http://schemas.microsoft.com/office/drawing/2014/main" id="{3C9B7095-42DE-4702-AABB-6095E3FA58AE}"/>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1" name="Ellipse 190">
                    <a:extLst>
                      <a:ext uri="{FF2B5EF4-FFF2-40B4-BE49-F238E27FC236}">
                        <a16:creationId xmlns:a16="http://schemas.microsoft.com/office/drawing/2014/main" id="{9E4C5ED0-174E-4BA0-98A5-336393B1ED59}"/>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2" name="Ellipse 191">
                    <a:extLst>
                      <a:ext uri="{FF2B5EF4-FFF2-40B4-BE49-F238E27FC236}">
                        <a16:creationId xmlns:a16="http://schemas.microsoft.com/office/drawing/2014/main" id="{B3D2A10B-C50B-4130-B786-B89C2E468C65}"/>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3" name="Ellipse 192">
                    <a:extLst>
                      <a:ext uri="{FF2B5EF4-FFF2-40B4-BE49-F238E27FC236}">
                        <a16:creationId xmlns:a16="http://schemas.microsoft.com/office/drawing/2014/main" id="{66EBA95A-2168-4A95-9729-326DDA1A40EC}"/>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4" name="Ellipse 193">
                    <a:extLst>
                      <a:ext uri="{FF2B5EF4-FFF2-40B4-BE49-F238E27FC236}">
                        <a16:creationId xmlns:a16="http://schemas.microsoft.com/office/drawing/2014/main" id="{9EC09854-DE77-46CF-AEE3-9B3B67E3894D}"/>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5" name="Ellipse 194">
                    <a:extLst>
                      <a:ext uri="{FF2B5EF4-FFF2-40B4-BE49-F238E27FC236}">
                        <a16:creationId xmlns:a16="http://schemas.microsoft.com/office/drawing/2014/main" id="{5F9AD3EE-69EA-44A7-81D3-84BAE9AABE78}"/>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6" name="Ellipse 195">
                    <a:extLst>
                      <a:ext uri="{FF2B5EF4-FFF2-40B4-BE49-F238E27FC236}">
                        <a16:creationId xmlns:a16="http://schemas.microsoft.com/office/drawing/2014/main" id="{5DF23488-1166-444E-9071-5FC51BA28121}"/>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79" name="Textfeld 178">
                  <a:extLst>
                    <a:ext uri="{FF2B5EF4-FFF2-40B4-BE49-F238E27FC236}">
                      <a16:creationId xmlns:a16="http://schemas.microsoft.com/office/drawing/2014/main" id="{1D0B43DD-0CBC-491C-92CE-1183993C0C2B}"/>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180" name="Textfeld 179">
                  <a:extLst>
                    <a:ext uri="{FF2B5EF4-FFF2-40B4-BE49-F238E27FC236}">
                      <a16:creationId xmlns:a16="http://schemas.microsoft.com/office/drawing/2014/main" id="{F69C4D3F-C74F-4B91-9479-2B0686AA3409}"/>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181" name="Textfeld 180">
                  <a:extLst>
                    <a:ext uri="{FF2B5EF4-FFF2-40B4-BE49-F238E27FC236}">
                      <a16:creationId xmlns:a16="http://schemas.microsoft.com/office/drawing/2014/main" id="{FDB2D6D7-74F2-4984-A6F7-4BE62E9052E5}"/>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182" name="Textfeld 181">
                  <a:extLst>
                    <a:ext uri="{FF2B5EF4-FFF2-40B4-BE49-F238E27FC236}">
                      <a16:creationId xmlns:a16="http://schemas.microsoft.com/office/drawing/2014/main" id="{F4702C0F-D0F5-4D2E-A395-C1FA4399411C}"/>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77" name="Ellipse 176">
                <a:extLst>
                  <a:ext uri="{FF2B5EF4-FFF2-40B4-BE49-F238E27FC236}">
                    <a16:creationId xmlns:a16="http://schemas.microsoft.com/office/drawing/2014/main" id="{070C153E-1920-4322-8BE1-5ACAEE339080}"/>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97" name="Rechteck 196">
              <a:extLst>
                <a:ext uri="{FF2B5EF4-FFF2-40B4-BE49-F238E27FC236}">
                  <a16:creationId xmlns:a16="http://schemas.microsoft.com/office/drawing/2014/main" id="{B282013C-F0CD-45A7-A145-7AC4E51E1F1A}"/>
                </a:ext>
              </a:extLst>
            </p:cNvPr>
            <p:cNvSpPr/>
            <p:nvPr/>
          </p:nvSpPr>
          <p:spPr bwMode="auto">
            <a:xfrm>
              <a:off x="918224" y="2908206"/>
              <a:ext cx="4112685"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8" name="Rechteck 197">
              <a:extLst>
                <a:ext uri="{FF2B5EF4-FFF2-40B4-BE49-F238E27FC236}">
                  <a16:creationId xmlns:a16="http://schemas.microsoft.com/office/drawing/2014/main" id="{7A9AD93A-FC46-4B54-9014-1F780F3382E5}"/>
                </a:ext>
              </a:extLst>
            </p:cNvPr>
            <p:cNvSpPr/>
            <p:nvPr/>
          </p:nvSpPr>
          <p:spPr bwMode="auto">
            <a:xfrm>
              <a:off x="5073671" y="2915601"/>
              <a:ext cx="2606046"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99" name="Gerader Verbinder 198">
              <a:extLst>
                <a:ext uri="{FF2B5EF4-FFF2-40B4-BE49-F238E27FC236}">
                  <a16:creationId xmlns:a16="http://schemas.microsoft.com/office/drawing/2014/main" id="{A584B816-5A89-44AD-AC44-BDB4D4161368}"/>
                </a:ext>
              </a:extLst>
            </p:cNvPr>
            <p:cNvCxnSpPr/>
            <p:nvPr/>
          </p:nvCxnSpPr>
          <p:spPr bwMode="auto">
            <a:xfrm flipH="1">
              <a:off x="5052513" y="276850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201" name="Textfeld 200">
            <a:extLst>
              <a:ext uri="{FF2B5EF4-FFF2-40B4-BE49-F238E27FC236}">
                <a16:creationId xmlns:a16="http://schemas.microsoft.com/office/drawing/2014/main" id="{A12F98CD-B22F-4AE2-9847-8243EAFB397F}"/>
              </a:ext>
            </a:extLst>
          </p:cNvPr>
          <p:cNvSpPr txBox="1"/>
          <p:nvPr/>
        </p:nvSpPr>
        <p:spPr>
          <a:xfrm>
            <a:off x="739151" y="4422175"/>
            <a:ext cx="320601" cy="281103"/>
          </a:xfrm>
          <a:prstGeom prst="rect">
            <a:avLst/>
          </a:prstGeom>
          <a:noFill/>
        </p:spPr>
        <p:txBody>
          <a:bodyPr wrap="none" lIns="0" tIns="0" rIns="0" bIns="0" rtlCol="0">
            <a:spAutoFit/>
          </a:bodyPr>
          <a:lstStyle/>
          <a:p>
            <a:pPr>
              <a:lnSpc>
                <a:spcPct val="110000"/>
              </a:lnSpc>
              <a:spcBef>
                <a:spcPts val="0"/>
              </a:spcBef>
            </a:pPr>
            <a:r>
              <a:rPr lang="en-US" b="1">
                <a:solidFill>
                  <a:schemeClr val="tx1"/>
                </a:solidFill>
                <a:latin typeface="+mn-lt"/>
                <a:ea typeface="Arial Unicode MS" panose="020B0604020202020204" pitchFamily="34" charset="-128"/>
                <a:cs typeface="Arial Unicode MS" panose="020B0604020202020204" pitchFamily="34" charset="-128"/>
              </a:rPr>
              <a:t>1.3</a:t>
            </a:r>
          </a:p>
        </p:txBody>
      </p:sp>
      <p:sp>
        <p:nvSpPr>
          <p:cNvPr id="202" name="Textfeld 201">
            <a:extLst>
              <a:ext uri="{FF2B5EF4-FFF2-40B4-BE49-F238E27FC236}">
                <a16:creationId xmlns:a16="http://schemas.microsoft.com/office/drawing/2014/main" id="{AA9C99E6-F120-4CF9-BA18-FE9ED10F69E7}"/>
              </a:ext>
            </a:extLst>
          </p:cNvPr>
          <p:cNvSpPr txBox="1"/>
          <p:nvPr/>
        </p:nvSpPr>
        <p:spPr>
          <a:xfrm>
            <a:off x="6389138" y="4422174"/>
            <a:ext cx="320601" cy="281103"/>
          </a:xfrm>
          <a:prstGeom prst="rect">
            <a:avLst/>
          </a:prstGeom>
          <a:noFill/>
        </p:spPr>
        <p:txBody>
          <a:bodyPr wrap="none" lIns="0" tIns="0" rIns="0" bIns="0" rtlCol="0">
            <a:spAutoFit/>
          </a:bodyPr>
          <a:lstStyle/>
          <a:p>
            <a:pPr>
              <a:lnSpc>
                <a:spcPct val="110000"/>
              </a:lnSpc>
              <a:spcBef>
                <a:spcPts val="0"/>
              </a:spcBef>
            </a:pPr>
            <a:r>
              <a:rPr lang="en-US" b="1">
                <a:solidFill>
                  <a:schemeClr val="tx1"/>
                </a:solidFill>
                <a:latin typeface="+mn-lt"/>
                <a:ea typeface="Arial Unicode MS" panose="020B0604020202020204" pitchFamily="34" charset="-128"/>
                <a:cs typeface="Arial Unicode MS" panose="020B0604020202020204" pitchFamily="34" charset="-128"/>
              </a:rPr>
              <a:t>1.6</a:t>
            </a:r>
          </a:p>
        </p:txBody>
      </p:sp>
      <p:sp>
        <p:nvSpPr>
          <p:cNvPr id="203" name="Textfeld 202">
            <a:extLst>
              <a:ext uri="{FF2B5EF4-FFF2-40B4-BE49-F238E27FC236}">
                <a16:creationId xmlns:a16="http://schemas.microsoft.com/office/drawing/2014/main" id="{6B01957F-32F4-4C89-A98B-3E484BBD73D9}"/>
              </a:ext>
            </a:extLst>
          </p:cNvPr>
          <p:cNvSpPr txBox="1"/>
          <p:nvPr/>
        </p:nvSpPr>
        <p:spPr>
          <a:xfrm>
            <a:off x="736452" y="5568943"/>
            <a:ext cx="320601" cy="281103"/>
          </a:xfrm>
          <a:prstGeom prst="rect">
            <a:avLst/>
          </a:prstGeom>
          <a:noFill/>
        </p:spPr>
        <p:txBody>
          <a:bodyPr wrap="none" lIns="0" tIns="0" rIns="0" bIns="0" rtlCol="0">
            <a:spAutoFit/>
          </a:bodyPr>
          <a:lstStyle/>
          <a:p>
            <a:pPr>
              <a:lnSpc>
                <a:spcPct val="110000"/>
              </a:lnSpc>
              <a:spcBef>
                <a:spcPts val="0"/>
              </a:spcBef>
            </a:pPr>
            <a:r>
              <a:rPr lang="en-US" b="1">
                <a:solidFill>
                  <a:schemeClr val="tx1"/>
                </a:solidFill>
                <a:latin typeface="+mn-lt"/>
                <a:ea typeface="Arial Unicode MS" panose="020B0604020202020204" pitchFamily="34" charset="-128"/>
                <a:cs typeface="Arial Unicode MS" panose="020B0604020202020204" pitchFamily="34" charset="-128"/>
              </a:rPr>
              <a:t>2.0</a:t>
            </a:r>
          </a:p>
        </p:txBody>
      </p:sp>
      <p:sp>
        <p:nvSpPr>
          <p:cNvPr id="204" name="Textfeld 203">
            <a:extLst>
              <a:ext uri="{FF2B5EF4-FFF2-40B4-BE49-F238E27FC236}">
                <a16:creationId xmlns:a16="http://schemas.microsoft.com/office/drawing/2014/main" id="{5E72A940-4E36-4289-AFC4-76047BFE3909}"/>
              </a:ext>
            </a:extLst>
          </p:cNvPr>
          <p:cNvSpPr txBox="1"/>
          <p:nvPr/>
        </p:nvSpPr>
        <p:spPr>
          <a:xfrm>
            <a:off x="6391643" y="5647617"/>
            <a:ext cx="320601" cy="281103"/>
          </a:xfrm>
          <a:prstGeom prst="rect">
            <a:avLst/>
          </a:prstGeom>
          <a:noFill/>
        </p:spPr>
        <p:txBody>
          <a:bodyPr wrap="none" lIns="0" tIns="0" rIns="0" bIns="0" rtlCol="0">
            <a:spAutoFit/>
          </a:bodyPr>
          <a:lstStyle/>
          <a:p>
            <a:pPr>
              <a:lnSpc>
                <a:spcPct val="110000"/>
              </a:lnSpc>
              <a:spcBef>
                <a:spcPts val="0"/>
              </a:spcBef>
            </a:pPr>
            <a:r>
              <a:rPr lang="en-US" b="1">
                <a:solidFill>
                  <a:schemeClr val="tx1"/>
                </a:solidFill>
                <a:latin typeface="+mn-lt"/>
                <a:ea typeface="Arial Unicode MS" panose="020B0604020202020204" pitchFamily="34" charset="-128"/>
                <a:cs typeface="Arial Unicode MS" panose="020B0604020202020204" pitchFamily="34" charset="-128"/>
              </a:rPr>
              <a:t>2.3</a:t>
            </a:r>
          </a:p>
        </p:txBody>
      </p:sp>
      <p:grpSp>
        <p:nvGrpSpPr>
          <p:cNvPr id="151" name="Gruppieren 150">
            <a:extLst>
              <a:ext uri="{FF2B5EF4-FFF2-40B4-BE49-F238E27FC236}">
                <a16:creationId xmlns:a16="http://schemas.microsoft.com/office/drawing/2014/main" id="{8E97B538-BA11-4A9E-96CE-A0118C1E4750}"/>
              </a:ext>
            </a:extLst>
          </p:cNvPr>
          <p:cNvGrpSpPr/>
          <p:nvPr/>
        </p:nvGrpSpPr>
        <p:grpSpPr>
          <a:xfrm>
            <a:off x="987354" y="2972640"/>
            <a:ext cx="7574393" cy="1170602"/>
            <a:chOff x="987354" y="2972640"/>
            <a:chExt cx="7574393" cy="1170602"/>
          </a:xfrm>
        </p:grpSpPr>
        <p:grpSp>
          <p:nvGrpSpPr>
            <p:cNvPr id="152" name="Gruppieren 151">
              <a:extLst>
                <a:ext uri="{FF2B5EF4-FFF2-40B4-BE49-F238E27FC236}">
                  <a16:creationId xmlns:a16="http://schemas.microsoft.com/office/drawing/2014/main" id="{67DB86E5-D138-4FE2-AB46-0FAE44E5AF4C}"/>
                </a:ext>
              </a:extLst>
            </p:cNvPr>
            <p:cNvGrpSpPr/>
            <p:nvPr/>
          </p:nvGrpSpPr>
          <p:grpSpPr>
            <a:xfrm>
              <a:off x="987354" y="2972640"/>
              <a:ext cx="6732001" cy="1067982"/>
              <a:chOff x="946888" y="2684869"/>
              <a:chExt cx="6732001" cy="1067982"/>
            </a:xfrm>
          </p:grpSpPr>
          <p:grpSp>
            <p:nvGrpSpPr>
              <p:cNvPr id="155" name="Gruppieren 154">
                <a:extLst>
                  <a:ext uri="{FF2B5EF4-FFF2-40B4-BE49-F238E27FC236}">
                    <a16:creationId xmlns:a16="http://schemas.microsoft.com/office/drawing/2014/main" id="{51763A32-6D60-46A7-938B-6B1FCD2B2B39}"/>
                  </a:ext>
                </a:extLst>
              </p:cNvPr>
              <p:cNvGrpSpPr/>
              <p:nvPr/>
            </p:nvGrpSpPr>
            <p:grpSpPr>
              <a:xfrm>
                <a:off x="946888" y="2684869"/>
                <a:ext cx="6732001" cy="1067982"/>
                <a:chOff x="986607" y="3303000"/>
                <a:chExt cx="4537464" cy="743507"/>
              </a:xfrm>
            </p:grpSpPr>
            <p:grpSp>
              <p:nvGrpSpPr>
                <p:cNvPr id="157" name="Gruppieren 156">
                  <a:extLst>
                    <a:ext uri="{FF2B5EF4-FFF2-40B4-BE49-F238E27FC236}">
                      <a16:creationId xmlns:a16="http://schemas.microsoft.com/office/drawing/2014/main" id="{1AC73132-7E5B-4850-B30E-ADAF1FA0E86F}"/>
                    </a:ext>
                  </a:extLst>
                </p:cNvPr>
                <p:cNvGrpSpPr/>
                <p:nvPr/>
              </p:nvGrpSpPr>
              <p:grpSpPr>
                <a:xfrm>
                  <a:off x="986607" y="3303000"/>
                  <a:ext cx="4537464" cy="449850"/>
                  <a:chOff x="986607" y="3303000"/>
                  <a:chExt cx="4537464" cy="449850"/>
                </a:xfrm>
              </p:grpSpPr>
              <p:cxnSp>
                <p:nvCxnSpPr>
                  <p:cNvPr id="162" name="Gerader Verbinder 161">
                    <a:extLst>
                      <a:ext uri="{FF2B5EF4-FFF2-40B4-BE49-F238E27FC236}">
                        <a16:creationId xmlns:a16="http://schemas.microsoft.com/office/drawing/2014/main" id="{6FEC5E1A-9C0F-4DE0-9AA5-1DEEE06C1570}"/>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3" name="Gerader Verbinder 162">
                    <a:extLst>
                      <a:ext uri="{FF2B5EF4-FFF2-40B4-BE49-F238E27FC236}">
                        <a16:creationId xmlns:a16="http://schemas.microsoft.com/office/drawing/2014/main" id="{639D987F-216B-4A34-8B47-C85FAA80244C}"/>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4" name="Gerader Verbinder 163">
                    <a:extLst>
                      <a:ext uri="{FF2B5EF4-FFF2-40B4-BE49-F238E27FC236}">
                        <a16:creationId xmlns:a16="http://schemas.microsoft.com/office/drawing/2014/main" id="{7F66C55A-21CD-4A9C-AF55-92E0276C3F87}"/>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5" name="Gerader Verbinder 164">
                    <a:extLst>
                      <a:ext uri="{FF2B5EF4-FFF2-40B4-BE49-F238E27FC236}">
                        <a16:creationId xmlns:a16="http://schemas.microsoft.com/office/drawing/2014/main" id="{9948ED21-73FB-43ED-995A-770D5A01C766}"/>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6" name="Gerader Verbinder 165">
                    <a:extLst>
                      <a:ext uri="{FF2B5EF4-FFF2-40B4-BE49-F238E27FC236}">
                        <a16:creationId xmlns:a16="http://schemas.microsoft.com/office/drawing/2014/main" id="{B398E9CF-148A-4D87-A67C-7D49F56D325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7" name="Ellipse 166">
                    <a:extLst>
                      <a:ext uri="{FF2B5EF4-FFF2-40B4-BE49-F238E27FC236}">
                        <a16:creationId xmlns:a16="http://schemas.microsoft.com/office/drawing/2014/main" id="{009D13FD-7D90-48C1-8BF2-A5D872DB56B0}"/>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68" name="Ellipse 167">
                    <a:extLst>
                      <a:ext uri="{FF2B5EF4-FFF2-40B4-BE49-F238E27FC236}">
                        <a16:creationId xmlns:a16="http://schemas.microsoft.com/office/drawing/2014/main" id="{6E0807C6-A267-4374-B59E-6D253955CAE7}"/>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69" name="Ellipse 168">
                    <a:extLst>
                      <a:ext uri="{FF2B5EF4-FFF2-40B4-BE49-F238E27FC236}">
                        <a16:creationId xmlns:a16="http://schemas.microsoft.com/office/drawing/2014/main" id="{C15AE8A4-95BD-479C-91E1-ABED4F1BE937}"/>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0" name="Ellipse 169">
                    <a:extLst>
                      <a:ext uri="{FF2B5EF4-FFF2-40B4-BE49-F238E27FC236}">
                        <a16:creationId xmlns:a16="http://schemas.microsoft.com/office/drawing/2014/main" id="{B516E2A2-AF83-467C-88C7-B644B5658643}"/>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1" name="Ellipse 170">
                    <a:extLst>
                      <a:ext uri="{FF2B5EF4-FFF2-40B4-BE49-F238E27FC236}">
                        <a16:creationId xmlns:a16="http://schemas.microsoft.com/office/drawing/2014/main" id="{3E8E8CE7-FA71-4C37-B30B-3BE2251B47D5}"/>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2" name="Ellipse 171">
                    <a:extLst>
                      <a:ext uri="{FF2B5EF4-FFF2-40B4-BE49-F238E27FC236}">
                        <a16:creationId xmlns:a16="http://schemas.microsoft.com/office/drawing/2014/main" id="{E9532A39-6B50-4356-8018-F03E89580382}"/>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3" name="Ellipse 172">
                    <a:extLst>
                      <a:ext uri="{FF2B5EF4-FFF2-40B4-BE49-F238E27FC236}">
                        <a16:creationId xmlns:a16="http://schemas.microsoft.com/office/drawing/2014/main" id="{E61A095F-1D15-4430-863E-6837B9F943B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4" name="Ellipse 173">
                    <a:extLst>
                      <a:ext uri="{FF2B5EF4-FFF2-40B4-BE49-F238E27FC236}">
                        <a16:creationId xmlns:a16="http://schemas.microsoft.com/office/drawing/2014/main" id="{6A8314EC-AB6A-4D99-8ABD-6E7CEB99EA60}"/>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05" name="Ellipse 204">
                    <a:extLst>
                      <a:ext uri="{FF2B5EF4-FFF2-40B4-BE49-F238E27FC236}">
                        <a16:creationId xmlns:a16="http://schemas.microsoft.com/office/drawing/2014/main" id="{46135F22-6EDE-44E0-B79B-86EF394D554F}"/>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58" name="Textfeld 157">
                  <a:extLst>
                    <a:ext uri="{FF2B5EF4-FFF2-40B4-BE49-F238E27FC236}">
                      <a16:creationId xmlns:a16="http://schemas.microsoft.com/office/drawing/2014/main" id="{3C73CCA7-D8C5-4F0D-98A6-A3C4F78D1858}"/>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159" name="Textfeld 158">
                  <a:extLst>
                    <a:ext uri="{FF2B5EF4-FFF2-40B4-BE49-F238E27FC236}">
                      <a16:creationId xmlns:a16="http://schemas.microsoft.com/office/drawing/2014/main" id="{5C8E3540-A474-4675-AD31-755C5EDAA881}"/>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160" name="Textfeld 159">
                  <a:extLst>
                    <a:ext uri="{FF2B5EF4-FFF2-40B4-BE49-F238E27FC236}">
                      <a16:creationId xmlns:a16="http://schemas.microsoft.com/office/drawing/2014/main" id="{56201F24-8AE5-4FFF-BB95-1F6B3C4F9AAE}"/>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161" name="Textfeld 160">
                  <a:extLst>
                    <a:ext uri="{FF2B5EF4-FFF2-40B4-BE49-F238E27FC236}">
                      <a16:creationId xmlns:a16="http://schemas.microsoft.com/office/drawing/2014/main" id="{48C1B265-7F91-48A4-8466-3236345A6643}"/>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56" name="Ellipse 155">
                <a:extLst>
                  <a:ext uri="{FF2B5EF4-FFF2-40B4-BE49-F238E27FC236}">
                    <a16:creationId xmlns:a16="http://schemas.microsoft.com/office/drawing/2014/main" id="{42CBCDB2-4952-480B-8933-3365B2161EBD}"/>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153" name="Gerade Verbindung mit Pfeil 152">
              <a:extLst>
                <a:ext uri="{FF2B5EF4-FFF2-40B4-BE49-F238E27FC236}">
                  <a16:creationId xmlns:a16="http://schemas.microsoft.com/office/drawing/2014/main" id="{7534CDFE-AC1F-4DF3-B1CD-8F6FB17A868E}"/>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54" name="Textfeld 153">
              <a:extLst>
                <a:ext uri="{FF2B5EF4-FFF2-40B4-BE49-F238E27FC236}">
                  <a16:creationId xmlns:a16="http://schemas.microsoft.com/office/drawing/2014/main" id="{CFF42494-9EFA-4E30-8E5D-0577C0C73ADE}"/>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314563802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2"/>
                <a:stretch>
                  <a:fillRect l="-1250" t="-3425"/>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9F38F7A8-5A43-4726-905A-DDC7B25AD925}"/>
                  </a:ext>
                </a:extLst>
              </p:cNvPr>
              <p:cNvSpPr txBox="1"/>
              <p:nvPr/>
            </p:nvSpPr>
            <p:spPr>
              <a:xfrm>
                <a:off x="7915663" y="2887188"/>
                <a:ext cx="4188454" cy="62786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=−0.4 </m:t>
                      </m:r>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0.4</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−0.6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0.6</m:t>
                          </m:r>
                        </m:e>
                      </m:func>
                    </m:oMath>
                  </m:oMathPara>
                </a14:m>
                <a:endParaRPr lang="en-US" sz="14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=0.97</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4" name="Textfeld 23">
                <a:extLst>
                  <a:ext uri="{FF2B5EF4-FFF2-40B4-BE49-F238E27FC236}">
                    <a16:creationId xmlns:a16="http://schemas.microsoft.com/office/drawing/2014/main" id="{9F38F7A8-5A43-4726-905A-DDC7B25AD925}"/>
                  </a:ext>
                </a:extLst>
              </p:cNvPr>
              <p:cNvSpPr txBox="1">
                <a:spLocks noRot="1" noChangeAspect="1" noMove="1" noResize="1" noEditPoints="1" noAdjustHandles="1" noChangeArrowheads="1" noChangeShapeType="1" noTextEdit="1"/>
              </p:cNvSpPr>
              <p:nvPr/>
            </p:nvSpPr>
            <p:spPr>
              <a:xfrm>
                <a:off x="7915663" y="2887188"/>
                <a:ext cx="4188454" cy="627864"/>
              </a:xfrm>
              <a:prstGeom prst="rect">
                <a:avLst/>
              </a:prstGeom>
              <a:blipFill>
                <a:blip r:embed="rId3"/>
                <a:stretch>
                  <a:fillRect l="-873"/>
                </a:stretch>
              </a:blipFill>
            </p:spPr>
            <p:txBody>
              <a:bodyPr/>
              <a:lstStyle/>
              <a:p>
                <a:r>
                  <a:rPr lang="en-US">
                    <a:noFill/>
                  </a:rPr>
                  <a:t> </a:t>
                </a:r>
              </a:p>
            </p:txBody>
          </p:sp>
        </mc:Fallback>
      </mc:AlternateContent>
      <p:sp>
        <p:nvSpPr>
          <p:cNvPr id="27" name="Rechteck 26">
            <a:extLst>
              <a:ext uri="{FF2B5EF4-FFF2-40B4-BE49-F238E27FC236}">
                <a16:creationId xmlns:a16="http://schemas.microsoft.com/office/drawing/2014/main" id="{5DE6AA34-1D10-4370-BC36-1B33289A7BB6}"/>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Rechteck 28">
            <a:extLst>
              <a:ext uri="{FF2B5EF4-FFF2-40B4-BE49-F238E27FC236}">
                <a16:creationId xmlns:a16="http://schemas.microsoft.com/office/drawing/2014/main" id="{7AD4CF6A-D6DB-4D84-820C-97919F515AC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30" name="Gerader Verbinder 29">
            <a:extLst>
              <a:ext uri="{FF2B5EF4-FFF2-40B4-BE49-F238E27FC236}">
                <a16:creationId xmlns:a16="http://schemas.microsoft.com/office/drawing/2014/main" id="{36482E58-7485-4C86-85CF-360ACB1DD281}"/>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31" name="Gruppieren 30">
            <a:extLst>
              <a:ext uri="{FF2B5EF4-FFF2-40B4-BE49-F238E27FC236}">
                <a16:creationId xmlns:a16="http://schemas.microsoft.com/office/drawing/2014/main" id="{0E468D9F-2205-4E02-B4A1-9D9946A01960}"/>
              </a:ext>
            </a:extLst>
          </p:cNvPr>
          <p:cNvGrpSpPr/>
          <p:nvPr/>
        </p:nvGrpSpPr>
        <p:grpSpPr>
          <a:xfrm>
            <a:off x="987354" y="2972640"/>
            <a:ext cx="7574393" cy="1170602"/>
            <a:chOff x="987354" y="2972640"/>
            <a:chExt cx="7574393" cy="1170602"/>
          </a:xfrm>
        </p:grpSpPr>
        <p:grpSp>
          <p:nvGrpSpPr>
            <p:cNvPr id="32" name="Gruppieren 31">
              <a:extLst>
                <a:ext uri="{FF2B5EF4-FFF2-40B4-BE49-F238E27FC236}">
                  <a16:creationId xmlns:a16="http://schemas.microsoft.com/office/drawing/2014/main" id="{D448DF34-09D6-494E-B749-CFE9079A521B}"/>
                </a:ext>
              </a:extLst>
            </p:cNvPr>
            <p:cNvGrpSpPr/>
            <p:nvPr/>
          </p:nvGrpSpPr>
          <p:grpSpPr>
            <a:xfrm>
              <a:off x="987354" y="2972640"/>
              <a:ext cx="6732001" cy="1067982"/>
              <a:chOff x="946888" y="2684869"/>
              <a:chExt cx="6732001" cy="1067982"/>
            </a:xfrm>
          </p:grpSpPr>
          <p:grpSp>
            <p:nvGrpSpPr>
              <p:cNvPr id="35" name="Gruppieren 34">
                <a:extLst>
                  <a:ext uri="{FF2B5EF4-FFF2-40B4-BE49-F238E27FC236}">
                    <a16:creationId xmlns:a16="http://schemas.microsoft.com/office/drawing/2014/main" id="{8E7166BA-0031-43AE-9095-DA36DAD51D62}"/>
                  </a:ext>
                </a:extLst>
              </p:cNvPr>
              <p:cNvGrpSpPr/>
              <p:nvPr/>
            </p:nvGrpSpPr>
            <p:grpSpPr>
              <a:xfrm>
                <a:off x="946888" y="2684869"/>
                <a:ext cx="6732001" cy="1067982"/>
                <a:chOff x="986607" y="3303000"/>
                <a:chExt cx="4537464" cy="743507"/>
              </a:xfrm>
            </p:grpSpPr>
            <p:grpSp>
              <p:nvGrpSpPr>
                <p:cNvPr id="37" name="Gruppieren 36">
                  <a:extLst>
                    <a:ext uri="{FF2B5EF4-FFF2-40B4-BE49-F238E27FC236}">
                      <a16:creationId xmlns:a16="http://schemas.microsoft.com/office/drawing/2014/main" id="{E06AEB04-BCF6-4C39-8834-A2D416145E14}"/>
                    </a:ext>
                  </a:extLst>
                </p:cNvPr>
                <p:cNvGrpSpPr/>
                <p:nvPr/>
              </p:nvGrpSpPr>
              <p:grpSpPr>
                <a:xfrm>
                  <a:off x="986607" y="3303000"/>
                  <a:ext cx="4537464" cy="449850"/>
                  <a:chOff x="986607" y="3303000"/>
                  <a:chExt cx="4537464" cy="449850"/>
                </a:xfrm>
              </p:grpSpPr>
              <p:cxnSp>
                <p:nvCxnSpPr>
                  <p:cNvPr id="42" name="Gerader Verbinder 41">
                    <a:extLst>
                      <a:ext uri="{FF2B5EF4-FFF2-40B4-BE49-F238E27FC236}">
                        <a16:creationId xmlns:a16="http://schemas.microsoft.com/office/drawing/2014/main" id="{C00AADDB-53E3-4834-AF04-489BB457F3A9}"/>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3" name="Gerader Verbinder 42">
                    <a:extLst>
                      <a:ext uri="{FF2B5EF4-FFF2-40B4-BE49-F238E27FC236}">
                        <a16:creationId xmlns:a16="http://schemas.microsoft.com/office/drawing/2014/main" id="{86C15E85-E190-49FE-9F91-42BFF8D1949F}"/>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4" name="Gerader Verbinder 43">
                    <a:extLst>
                      <a:ext uri="{FF2B5EF4-FFF2-40B4-BE49-F238E27FC236}">
                        <a16:creationId xmlns:a16="http://schemas.microsoft.com/office/drawing/2014/main" id="{266CC883-E719-4B2D-A2BE-6825ADDB227F}"/>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5" name="Gerader Verbinder 44">
                    <a:extLst>
                      <a:ext uri="{FF2B5EF4-FFF2-40B4-BE49-F238E27FC236}">
                        <a16:creationId xmlns:a16="http://schemas.microsoft.com/office/drawing/2014/main" id="{70CD8BD2-A2E1-488E-9335-67FE39127BF0}"/>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6" name="Gerader Verbinder 45">
                    <a:extLst>
                      <a:ext uri="{FF2B5EF4-FFF2-40B4-BE49-F238E27FC236}">
                        <a16:creationId xmlns:a16="http://schemas.microsoft.com/office/drawing/2014/main" id="{C9DE51DF-DAF7-4359-B185-BF7A492860F9}"/>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7" name="Ellipse 46">
                    <a:extLst>
                      <a:ext uri="{FF2B5EF4-FFF2-40B4-BE49-F238E27FC236}">
                        <a16:creationId xmlns:a16="http://schemas.microsoft.com/office/drawing/2014/main" id="{A74998CE-E937-4307-8299-42E2355C1B3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8" name="Ellipse 47">
                    <a:extLst>
                      <a:ext uri="{FF2B5EF4-FFF2-40B4-BE49-F238E27FC236}">
                        <a16:creationId xmlns:a16="http://schemas.microsoft.com/office/drawing/2014/main" id="{A292D481-B694-4C58-86A4-A8F3AA511C21}"/>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9" name="Ellipse 48">
                    <a:extLst>
                      <a:ext uri="{FF2B5EF4-FFF2-40B4-BE49-F238E27FC236}">
                        <a16:creationId xmlns:a16="http://schemas.microsoft.com/office/drawing/2014/main" id="{F630C098-0FBD-4008-A694-4AD8B9767518}"/>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0" name="Ellipse 49">
                    <a:extLst>
                      <a:ext uri="{FF2B5EF4-FFF2-40B4-BE49-F238E27FC236}">
                        <a16:creationId xmlns:a16="http://schemas.microsoft.com/office/drawing/2014/main" id="{357353DC-3742-416D-89A1-33079FDB0213}"/>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1" name="Ellipse 50">
                    <a:extLst>
                      <a:ext uri="{FF2B5EF4-FFF2-40B4-BE49-F238E27FC236}">
                        <a16:creationId xmlns:a16="http://schemas.microsoft.com/office/drawing/2014/main" id="{18C35114-CC5E-40E4-ADC1-F4687BD70992}"/>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2" name="Ellipse 51">
                    <a:extLst>
                      <a:ext uri="{FF2B5EF4-FFF2-40B4-BE49-F238E27FC236}">
                        <a16:creationId xmlns:a16="http://schemas.microsoft.com/office/drawing/2014/main" id="{FDECBD90-E8D8-4A11-AB1A-DA1AC41FBA30}"/>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3" name="Ellipse 52">
                    <a:extLst>
                      <a:ext uri="{FF2B5EF4-FFF2-40B4-BE49-F238E27FC236}">
                        <a16:creationId xmlns:a16="http://schemas.microsoft.com/office/drawing/2014/main" id="{E179D891-9A3C-4A4F-970D-4122E735C33C}"/>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4" name="Ellipse 53">
                    <a:extLst>
                      <a:ext uri="{FF2B5EF4-FFF2-40B4-BE49-F238E27FC236}">
                        <a16:creationId xmlns:a16="http://schemas.microsoft.com/office/drawing/2014/main" id="{1301DDEF-2E0F-479C-9FE0-AED55935DA61}"/>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5" name="Ellipse 54">
                    <a:extLst>
                      <a:ext uri="{FF2B5EF4-FFF2-40B4-BE49-F238E27FC236}">
                        <a16:creationId xmlns:a16="http://schemas.microsoft.com/office/drawing/2014/main" id="{E3AC4F2D-B1E2-4EA6-ACE4-B350EB0C7FE0}"/>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38" name="Textfeld 37">
                  <a:extLst>
                    <a:ext uri="{FF2B5EF4-FFF2-40B4-BE49-F238E27FC236}">
                      <a16:creationId xmlns:a16="http://schemas.microsoft.com/office/drawing/2014/main" id="{9AFCDA8C-C406-4893-B251-EA11342D1865}"/>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39" name="Textfeld 38">
                  <a:extLst>
                    <a:ext uri="{FF2B5EF4-FFF2-40B4-BE49-F238E27FC236}">
                      <a16:creationId xmlns:a16="http://schemas.microsoft.com/office/drawing/2014/main" id="{5358B787-D847-41F9-9E59-0B5889594D72}"/>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40" name="Textfeld 39">
                  <a:extLst>
                    <a:ext uri="{FF2B5EF4-FFF2-40B4-BE49-F238E27FC236}">
                      <a16:creationId xmlns:a16="http://schemas.microsoft.com/office/drawing/2014/main" id="{11C3E3F9-3B8B-4E5B-A909-4E47A815B3FE}"/>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41" name="Textfeld 40">
                  <a:extLst>
                    <a:ext uri="{FF2B5EF4-FFF2-40B4-BE49-F238E27FC236}">
                      <a16:creationId xmlns:a16="http://schemas.microsoft.com/office/drawing/2014/main" id="{56E8AAF1-2011-4EF2-955D-9909C6548D04}"/>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36" name="Ellipse 35">
                <a:extLst>
                  <a:ext uri="{FF2B5EF4-FFF2-40B4-BE49-F238E27FC236}">
                    <a16:creationId xmlns:a16="http://schemas.microsoft.com/office/drawing/2014/main" id="{F58445BE-D8C2-4725-A067-239EC089EA32}"/>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33" name="Gerade Verbindung mit Pfeil 32">
              <a:extLst>
                <a:ext uri="{FF2B5EF4-FFF2-40B4-BE49-F238E27FC236}">
                  <a16:creationId xmlns:a16="http://schemas.microsoft.com/office/drawing/2014/main" id="{B08E72E9-0376-4662-A544-85E5A175E420}"/>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4" name="Textfeld 33">
              <a:extLst>
                <a:ext uri="{FF2B5EF4-FFF2-40B4-BE49-F238E27FC236}">
                  <a16:creationId xmlns:a16="http://schemas.microsoft.com/office/drawing/2014/main" id="{88DC93AF-47C9-48F3-9255-1FA5456E456C}"/>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42102262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2"/>
                <a:stretch>
                  <a:fillRect l="-1250" t="-342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9F38F7A8-5A43-4726-905A-DDC7B25AD925}"/>
                  </a:ext>
                </a:extLst>
              </p:cNvPr>
              <p:cNvSpPr txBox="1"/>
              <p:nvPr/>
            </p:nvSpPr>
            <p:spPr>
              <a:xfrm>
                <a:off x="7915663" y="2887188"/>
                <a:ext cx="4188454" cy="62786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=−0.4 </m:t>
                      </m:r>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0.4</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−0.6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0.6</m:t>
                          </m:r>
                        </m:e>
                      </m:func>
                    </m:oMath>
                  </m:oMathPara>
                </a14:m>
                <a:endParaRPr lang="en-US" sz="14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=0.97</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4" name="Textfeld 23">
                <a:extLst>
                  <a:ext uri="{FF2B5EF4-FFF2-40B4-BE49-F238E27FC236}">
                    <a16:creationId xmlns:a16="http://schemas.microsoft.com/office/drawing/2014/main" id="{9F38F7A8-5A43-4726-905A-DDC7B25AD925}"/>
                  </a:ext>
                </a:extLst>
              </p:cNvPr>
              <p:cNvSpPr txBox="1">
                <a:spLocks noRot="1" noChangeAspect="1" noMove="1" noResize="1" noEditPoints="1" noAdjustHandles="1" noChangeArrowheads="1" noChangeShapeType="1" noTextEdit="1"/>
              </p:cNvSpPr>
              <p:nvPr/>
            </p:nvSpPr>
            <p:spPr>
              <a:xfrm>
                <a:off x="7915663" y="2887188"/>
                <a:ext cx="4188454" cy="627864"/>
              </a:xfrm>
              <a:prstGeom prst="rect">
                <a:avLst/>
              </a:prstGeom>
              <a:blipFill>
                <a:blip r:embed="rId3"/>
                <a:stretch>
                  <a:fillRect l="-873"/>
                </a:stretch>
              </a:blipFill>
            </p:spPr>
            <p:txBody>
              <a:bodyPr/>
              <a:lstStyle/>
              <a:p>
                <a:r>
                  <a:rPr lang="de-DE">
                    <a:noFill/>
                  </a:rPr>
                  <a:t> </a:t>
                </a:r>
              </a:p>
            </p:txBody>
          </p:sp>
        </mc:Fallback>
      </mc:AlternateContent>
      <p:sp>
        <p:nvSpPr>
          <p:cNvPr id="27" name="Rechteck 26">
            <a:extLst>
              <a:ext uri="{FF2B5EF4-FFF2-40B4-BE49-F238E27FC236}">
                <a16:creationId xmlns:a16="http://schemas.microsoft.com/office/drawing/2014/main" id="{5DE6AA34-1D10-4370-BC36-1B33289A7BB6}"/>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Rechteck 28">
            <a:extLst>
              <a:ext uri="{FF2B5EF4-FFF2-40B4-BE49-F238E27FC236}">
                <a16:creationId xmlns:a16="http://schemas.microsoft.com/office/drawing/2014/main" id="{7AD4CF6A-D6DB-4D84-820C-97919F515AC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30" name="Gerader Verbinder 29">
            <a:extLst>
              <a:ext uri="{FF2B5EF4-FFF2-40B4-BE49-F238E27FC236}">
                <a16:creationId xmlns:a16="http://schemas.microsoft.com/office/drawing/2014/main" id="{36482E58-7485-4C86-85CF-360ACB1DD281}"/>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90D5B121-2634-4061-B10E-56C8FF3A9F87}"/>
                  </a:ext>
                </a:extLst>
              </p:cNvPr>
              <p:cNvSpPr txBox="1"/>
              <p:nvPr/>
            </p:nvSpPr>
            <p:spPr>
              <a:xfrm>
                <a:off x="323919" y="4323654"/>
                <a:ext cx="2941318" cy="85741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1 −0 ∙</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m:t>
                              </m:r>
                            </m:e>
                          </m:func>
                        </m:e>
                      </m:func>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4" name="Textfeld 33">
                <a:extLst>
                  <a:ext uri="{FF2B5EF4-FFF2-40B4-BE49-F238E27FC236}">
                    <a16:creationId xmlns:a16="http://schemas.microsoft.com/office/drawing/2014/main" id="{90D5B121-2634-4061-B10E-56C8FF3A9F87}"/>
                  </a:ext>
                </a:extLst>
              </p:cNvPr>
              <p:cNvSpPr txBox="1">
                <a:spLocks noRot="1" noChangeAspect="1" noMove="1" noResize="1" noEditPoints="1" noAdjustHandles="1" noChangeArrowheads="1" noChangeShapeType="1" noTextEdit="1"/>
              </p:cNvSpPr>
              <p:nvPr/>
            </p:nvSpPr>
            <p:spPr>
              <a:xfrm>
                <a:off x="323919" y="4323654"/>
                <a:ext cx="2941318" cy="857414"/>
              </a:xfrm>
              <a:prstGeom prst="rect">
                <a:avLst/>
              </a:prstGeom>
              <a:blipFill>
                <a:blip r:embed="rId4"/>
                <a:stretch>
                  <a:fillRect l="-2277"/>
                </a:stretch>
              </a:blipFill>
            </p:spPr>
            <p:txBody>
              <a:bodyPr/>
              <a:lstStyle/>
              <a:p>
                <a:r>
                  <a:rPr lang="de-DE">
                    <a:noFill/>
                  </a:rPr>
                  <a:t> </a:t>
                </a:r>
              </a:p>
            </p:txBody>
          </p:sp>
        </mc:Fallback>
      </mc:AlternateContent>
      <p:cxnSp>
        <p:nvCxnSpPr>
          <p:cNvPr id="37" name="Gerade Verbindung mit Pfeil 36">
            <a:extLst>
              <a:ext uri="{FF2B5EF4-FFF2-40B4-BE49-F238E27FC236}">
                <a16:creationId xmlns:a16="http://schemas.microsoft.com/office/drawing/2014/main" id="{0FD430BB-AF34-4279-ACBC-67FEEEABFD18}"/>
              </a:ext>
            </a:extLst>
          </p:cNvPr>
          <p:cNvCxnSpPr/>
          <p:nvPr/>
        </p:nvCxnSpPr>
        <p:spPr bwMode="auto">
          <a:xfrm>
            <a:off x="1486948" y="3897313"/>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aphicFrame>
        <p:nvGraphicFramePr>
          <p:cNvPr id="39" name="Diagramm 38">
            <a:extLst>
              <a:ext uri="{FF2B5EF4-FFF2-40B4-BE49-F238E27FC236}">
                <a16:creationId xmlns:a16="http://schemas.microsoft.com/office/drawing/2014/main" id="{F92E9837-A702-4401-B9A7-A79B49414D5D}"/>
              </a:ext>
            </a:extLst>
          </p:cNvPr>
          <p:cNvGraphicFramePr>
            <a:graphicFrameLocks/>
          </p:cNvGraphicFramePr>
          <p:nvPr>
            <p:extLst>
              <p:ext uri="{D42A27DB-BD31-4B8C-83A1-F6EECF244321}">
                <p14:modId xmlns:p14="http://schemas.microsoft.com/office/powerpoint/2010/main" val="1531396188"/>
              </p:ext>
            </p:extLst>
          </p:nvPr>
        </p:nvGraphicFramePr>
        <p:xfrm>
          <a:off x="8343715" y="4235406"/>
          <a:ext cx="3287337" cy="2181925"/>
        </p:xfrm>
        <a:graphic>
          <a:graphicData uri="http://schemas.openxmlformats.org/drawingml/2006/chart">
            <c:chart xmlns:c="http://schemas.openxmlformats.org/drawingml/2006/chart" xmlns:r="http://schemas.openxmlformats.org/officeDocument/2006/relationships" r:id="rId5"/>
          </a:graphicData>
        </a:graphic>
      </p:graphicFrame>
      <p:sp>
        <p:nvSpPr>
          <p:cNvPr id="40" name="Ellipse 39">
            <a:extLst>
              <a:ext uri="{FF2B5EF4-FFF2-40B4-BE49-F238E27FC236}">
                <a16:creationId xmlns:a16="http://schemas.microsoft.com/office/drawing/2014/main" id="{3EEDF7E7-8055-44CF-B509-342FB8A00458}"/>
              </a:ext>
            </a:extLst>
          </p:cNvPr>
          <p:cNvSpPr/>
          <p:nvPr/>
        </p:nvSpPr>
        <p:spPr bwMode="auto">
          <a:xfrm>
            <a:off x="11463787" y="5913292"/>
            <a:ext cx="144000" cy="144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44" name="Textfeld 43">
                <a:extLst>
                  <a:ext uri="{FF2B5EF4-FFF2-40B4-BE49-F238E27FC236}">
                    <a16:creationId xmlns:a16="http://schemas.microsoft.com/office/drawing/2014/main" id="{F9E0A875-27FE-4CD8-BCE2-DA1ABFF172F9}"/>
                  </a:ext>
                </a:extLst>
              </p:cNvPr>
              <p:cNvSpPr txBox="1"/>
              <p:nvPr/>
            </p:nvSpPr>
            <p:spPr>
              <a:xfrm>
                <a:off x="10203631" y="5679787"/>
                <a:ext cx="1171924" cy="219419"/>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4" name="Textfeld 43">
                <a:extLst>
                  <a:ext uri="{FF2B5EF4-FFF2-40B4-BE49-F238E27FC236}">
                    <a16:creationId xmlns:a16="http://schemas.microsoft.com/office/drawing/2014/main" id="{F9E0A875-27FE-4CD8-BCE2-DA1ABFF172F9}"/>
                  </a:ext>
                </a:extLst>
              </p:cNvPr>
              <p:cNvSpPr txBox="1">
                <a:spLocks noRot="1" noChangeAspect="1" noMove="1" noResize="1" noEditPoints="1" noAdjustHandles="1" noChangeArrowheads="1" noChangeShapeType="1" noTextEdit="1"/>
              </p:cNvSpPr>
              <p:nvPr/>
            </p:nvSpPr>
            <p:spPr>
              <a:xfrm>
                <a:off x="10203631" y="5679787"/>
                <a:ext cx="1171924" cy="219419"/>
              </a:xfrm>
              <a:prstGeom prst="rect">
                <a:avLst/>
              </a:prstGeom>
              <a:blipFill>
                <a:blip r:embed="rId6"/>
                <a:stretch>
                  <a:fillRect l="-4167" r="-521" b="-19444"/>
                </a:stretch>
              </a:blipFill>
            </p:spPr>
            <p:txBody>
              <a:bodyPr/>
              <a:lstStyle/>
              <a:p>
                <a:r>
                  <a:rPr lang="de-DE">
                    <a:noFill/>
                  </a:rPr>
                  <a:t> </a:t>
                </a:r>
              </a:p>
            </p:txBody>
          </p:sp>
        </mc:Fallback>
      </mc:AlternateContent>
      <p:grpSp>
        <p:nvGrpSpPr>
          <p:cNvPr id="35" name="Gruppieren 34">
            <a:extLst>
              <a:ext uri="{FF2B5EF4-FFF2-40B4-BE49-F238E27FC236}">
                <a16:creationId xmlns:a16="http://schemas.microsoft.com/office/drawing/2014/main" id="{FB6B6521-3DA7-4E1C-9EF5-1A395146D2FA}"/>
              </a:ext>
            </a:extLst>
          </p:cNvPr>
          <p:cNvGrpSpPr/>
          <p:nvPr/>
        </p:nvGrpSpPr>
        <p:grpSpPr>
          <a:xfrm>
            <a:off x="987354" y="2972640"/>
            <a:ext cx="7574393" cy="1170602"/>
            <a:chOff x="987354" y="2972640"/>
            <a:chExt cx="7574393" cy="1170602"/>
          </a:xfrm>
        </p:grpSpPr>
        <p:grpSp>
          <p:nvGrpSpPr>
            <p:cNvPr id="36" name="Gruppieren 35">
              <a:extLst>
                <a:ext uri="{FF2B5EF4-FFF2-40B4-BE49-F238E27FC236}">
                  <a16:creationId xmlns:a16="http://schemas.microsoft.com/office/drawing/2014/main" id="{01DB1086-7D49-4CE6-8CE6-DB757B4C4D73}"/>
                </a:ext>
              </a:extLst>
            </p:cNvPr>
            <p:cNvGrpSpPr/>
            <p:nvPr/>
          </p:nvGrpSpPr>
          <p:grpSpPr>
            <a:xfrm>
              <a:off x="987354" y="2972640"/>
              <a:ext cx="6732001" cy="1067982"/>
              <a:chOff x="946888" y="2684869"/>
              <a:chExt cx="6732001" cy="1067982"/>
            </a:xfrm>
          </p:grpSpPr>
          <p:grpSp>
            <p:nvGrpSpPr>
              <p:cNvPr id="42" name="Gruppieren 41">
                <a:extLst>
                  <a:ext uri="{FF2B5EF4-FFF2-40B4-BE49-F238E27FC236}">
                    <a16:creationId xmlns:a16="http://schemas.microsoft.com/office/drawing/2014/main" id="{AA1A435C-DC38-4174-8310-10A76E3C3012}"/>
                  </a:ext>
                </a:extLst>
              </p:cNvPr>
              <p:cNvGrpSpPr/>
              <p:nvPr/>
            </p:nvGrpSpPr>
            <p:grpSpPr>
              <a:xfrm>
                <a:off x="946888" y="2684869"/>
                <a:ext cx="6732001" cy="1067982"/>
                <a:chOff x="986607" y="3303000"/>
                <a:chExt cx="4537464" cy="743507"/>
              </a:xfrm>
            </p:grpSpPr>
            <p:grpSp>
              <p:nvGrpSpPr>
                <p:cNvPr id="45" name="Gruppieren 44">
                  <a:extLst>
                    <a:ext uri="{FF2B5EF4-FFF2-40B4-BE49-F238E27FC236}">
                      <a16:creationId xmlns:a16="http://schemas.microsoft.com/office/drawing/2014/main" id="{8CD39E06-54F7-445D-A19D-0546C7912DAF}"/>
                    </a:ext>
                  </a:extLst>
                </p:cNvPr>
                <p:cNvGrpSpPr/>
                <p:nvPr/>
              </p:nvGrpSpPr>
              <p:grpSpPr>
                <a:xfrm>
                  <a:off x="986607" y="3303000"/>
                  <a:ext cx="4537464" cy="449850"/>
                  <a:chOff x="986607" y="3303000"/>
                  <a:chExt cx="4537464" cy="449850"/>
                </a:xfrm>
              </p:grpSpPr>
              <p:cxnSp>
                <p:nvCxnSpPr>
                  <p:cNvPr id="50" name="Gerader Verbinder 49">
                    <a:extLst>
                      <a:ext uri="{FF2B5EF4-FFF2-40B4-BE49-F238E27FC236}">
                        <a16:creationId xmlns:a16="http://schemas.microsoft.com/office/drawing/2014/main" id="{B0487BE0-A083-4FCE-81AD-BC2B3B6B9D1A}"/>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1" name="Gerader Verbinder 50">
                    <a:extLst>
                      <a:ext uri="{FF2B5EF4-FFF2-40B4-BE49-F238E27FC236}">
                        <a16:creationId xmlns:a16="http://schemas.microsoft.com/office/drawing/2014/main" id="{A82F4137-4189-4483-96BE-177238A5104D}"/>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2" name="Gerader Verbinder 51">
                    <a:extLst>
                      <a:ext uri="{FF2B5EF4-FFF2-40B4-BE49-F238E27FC236}">
                        <a16:creationId xmlns:a16="http://schemas.microsoft.com/office/drawing/2014/main" id="{B81B6AB4-8C00-4A9F-B245-AF90014B6336}"/>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3" name="Gerader Verbinder 52">
                    <a:extLst>
                      <a:ext uri="{FF2B5EF4-FFF2-40B4-BE49-F238E27FC236}">
                        <a16:creationId xmlns:a16="http://schemas.microsoft.com/office/drawing/2014/main" id="{3769BE80-135B-4B7C-A4E5-3F536D9C9E54}"/>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4" name="Gerader Verbinder 53">
                    <a:extLst>
                      <a:ext uri="{FF2B5EF4-FFF2-40B4-BE49-F238E27FC236}">
                        <a16:creationId xmlns:a16="http://schemas.microsoft.com/office/drawing/2014/main" id="{C7DF59FB-C058-4837-8C19-483513CBBDD7}"/>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5" name="Ellipse 54">
                    <a:extLst>
                      <a:ext uri="{FF2B5EF4-FFF2-40B4-BE49-F238E27FC236}">
                        <a16:creationId xmlns:a16="http://schemas.microsoft.com/office/drawing/2014/main" id="{950E6F9C-40C6-45F4-950C-66046D2FFBEB}"/>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6" name="Ellipse 55">
                    <a:extLst>
                      <a:ext uri="{FF2B5EF4-FFF2-40B4-BE49-F238E27FC236}">
                        <a16:creationId xmlns:a16="http://schemas.microsoft.com/office/drawing/2014/main" id="{5D9F1E53-7A27-4A40-A44D-8DE65BFF56E4}"/>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7" name="Ellipse 56">
                    <a:extLst>
                      <a:ext uri="{FF2B5EF4-FFF2-40B4-BE49-F238E27FC236}">
                        <a16:creationId xmlns:a16="http://schemas.microsoft.com/office/drawing/2014/main" id="{DA6D422C-4BEB-4028-A094-F53CB652D3BF}"/>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8" name="Ellipse 57">
                    <a:extLst>
                      <a:ext uri="{FF2B5EF4-FFF2-40B4-BE49-F238E27FC236}">
                        <a16:creationId xmlns:a16="http://schemas.microsoft.com/office/drawing/2014/main" id="{34869A6C-9D8E-4615-9B95-07714D766D37}"/>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59" name="Ellipse 58">
                    <a:extLst>
                      <a:ext uri="{FF2B5EF4-FFF2-40B4-BE49-F238E27FC236}">
                        <a16:creationId xmlns:a16="http://schemas.microsoft.com/office/drawing/2014/main" id="{7DFCD552-0296-47CB-8FFB-7F24085725E2}"/>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0" name="Ellipse 59">
                    <a:extLst>
                      <a:ext uri="{FF2B5EF4-FFF2-40B4-BE49-F238E27FC236}">
                        <a16:creationId xmlns:a16="http://schemas.microsoft.com/office/drawing/2014/main" id="{99140F16-CF3E-44F2-ABD7-91D66FC78ADC}"/>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1" name="Ellipse 60">
                    <a:extLst>
                      <a:ext uri="{FF2B5EF4-FFF2-40B4-BE49-F238E27FC236}">
                        <a16:creationId xmlns:a16="http://schemas.microsoft.com/office/drawing/2014/main" id="{DD13D80E-F54A-48DB-90EF-8CDA9AB945A2}"/>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9E13FD25-D762-4B26-883C-7E3FC70CF33C}"/>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3" name="Ellipse 62">
                    <a:extLst>
                      <a:ext uri="{FF2B5EF4-FFF2-40B4-BE49-F238E27FC236}">
                        <a16:creationId xmlns:a16="http://schemas.microsoft.com/office/drawing/2014/main" id="{5A970337-23C8-48BE-96E1-B6B9061F3F48}"/>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46" name="Textfeld 45">
                  <a:extLst>
                    <a:ext uri="{FF2B5EF4-FFF2-40B4-BE49-F238E27FC236}">
                      <a16:creationId xmlns:a16="http://schemas.microsoft.com/office/drawing/2014/main" id="{BFF17BD1-FFF3-49B8-87FF-29638AC8FFE1}"/>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47" name="Textfeld 46">
                  <a:extLst>
                    <a:ext uri="{FF2B5EF4-FFF2-40B4-BE49-F238E27FC236}">
                      <a16:creationId xmlns:a16="http://schemas.microsoft.com/office/drawing/2014/main" id="{BB0F4F4C-B156-4E1F-AFEE-9A49B3D5EDE9}"/>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48" name="Textfeld 47">
                  <a:extLst>
                    <a:ext uri="{FF2B5EF4-FFF2-40B4-BE49-F238E27FC236}">
                      <a16:creationId xmlns:a16="http://schemas.microsoft.com/office/drawing/2014/main" id="{C6C51BFE-266B-40C4-98D9-BF358FF91127}"/>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49" name="Textfeld 48">
                  <a:extLst>
                    <a:ext uri="{FF2B5EF4-FFF2-40B4-BE49-F238E27FC236}">
                      <a16:creationId xmlns:a16="http://schemas.microsoft.com/office/drawing/2014/main" id="{6B5E84FA-261C-4333-906C-0B618DFD8398}"/>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43" name="Ellipse 42">
                <a:extLst>
                  <a:ext uri="{FF2B5EF4-FFF2-40B4-BE49-F238E27FC236}">
                    <a16:creationId xmlns:a16="http://schemas.microsoft.com/office/drawing/2014/main" id="{7CEE0844-3A59-40B5-9235-584CE257472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38" name="Gerade Verbindung mit Pfeil 37">
              <a:extLst>
                <a:ext uri="{FF2B5EF4-FFF2-40B4-BE49-F238E27FC236}">
                  <a16:creationId xmlns:a16="http://schemas.microsoft.com/office/drawing/2014/main" id="{1BFC07D2-3EB9-4B78-8882-6E5AAF1E42BD}"/>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1" name="Textfeld 40">
              <a:extLst>
                <a:ext uri="{FF2B5EF4-FFF2-40B4-BE49-F238E27FC236}">
                  <a16:creationId xmlns:a16="http://schemas.microsoft.com/office/drawing/2014/main" id="{7EA4E717-FD8B-4072-B4CE-A2F054ACD08B}"/>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1670948694"/>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2"/>
                <a:stretch>
                  <a:fillRect l="-1250" t="-342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9F38F7A8-5A43-4726-905A-DDC7B25AD925}"/>
                  </a:ext>
                </a:extLst>
              </p:cNvPr>
              <p:cNvSpPr txBox="1"/>
              <p:nvPr/>
            </p:nvSpPr>
            <p:spPr>
              <a:xfrm>
                <a:off x="7915663" y="2887188"/>
                <a:ext cx="4188454" cy="62786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=−0.4 </m:t>
                      </m:r>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0.4</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−0.6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0.6</m:t>
                          </m:r>
                        </m:e>
                      </m:func>
                    </m:oMath>
                  </m:oMathPara>
                </a14:m>
                <a:endParaRPr lang="en-US" sz="14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=0.97</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4" name="Textfeld 23">
                <a:extLst>
                  <a:ext uri="{FF2B5EF4-FFF2-40B4-BE49-F238E27FC236}">
                    <a16:creationId xmlns:a16="http://schemas.microsoft.com/office/drawing/2014/main" id="{9F38F7A8-5A43-4726-905A-DDC7B25AD925}"/>
                  </a:ext>
                </a:extLst>
              </p:cNvPr>
              <p:cNvSpPr txBox="1">
                <a:spLocks noRot="1" noChangeAspect="1" noMove="1" noResize="1" noEditPoints="1" noAdjustHandles="1" noChangeArrowheads="1" noChangeShapeType="1" noTextEdit="1"/>
              </p:cNvSpPr>
              <p:nvPr/>
            </p:nvSpPr>
            <p:spPr>
              <a:xfrm>
                <a:off x="7915663" y="2887188"/>
                <a:ext cx="4188454" cy="627864"/>
              </a:xfrm>
              <a:prstGeom prst="rect">
                <a:avLst/>
              </a:prstGeom>
              <a:blipFill>
                <a:blip r:embed="rId3"/>
                <a:stretch>
                  <a:fillRect l="-873"/>
                </a:stretch>
              </a:blipFill>
            </p:spPr>
            <p:txBody>
              <a:bodyPr/>
              <a:lstStyle/>
              <a:p>
                <a:r>
                  <a:rPr lang="de-DE">
                    <a:noFill/>
                  </a:rPr>
                  <a:t> </a:t>
                </a:r>
              </a:p>
            </p:txBody>
          </p:sp>
        </mc:Fallback>
      </mc:AlternateContent>
      <p:sp>
        <p:nvSpPr>
          <p:cNvPr id="27" name="Rechteck 26">
            <a:extLst>
              <a:ext uri="{FF2B5EF4-FFF2-40B4-BE49-F238E27FC236}">
                <a16:creationId xmlns:a16="http://schemas.microsoft.com/office/drawing/2014/main" id="{5DE6AA34-1D10-4370-BC36-1B33289A7BB6}"/>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Rechteck 28">
            <a:extLst>
              <a:ext uri="{FF2B5EF4-FFF2-40B4-BE49-F238E27FC236}">
                <a16:creationId xmlns:a16="http://schemas.microsoft.com/office/drawing/2014/main" id="{7AD4CF6A-D6DB-4D84-820C-97919F515AC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30" name="Gerader Verbinder 29">
            <a:extLst>
              <a:ext uri="{FF2B5EF4-FFF2-40B4-BE49-F238E27FC236}">
                <a16:creationId xmlns:a16="http://schemas.microsoft.com/office/drawing/2014/main" id="{36482E58-7485-4C86-85CF-360ACB1DD281}"/>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90D5B121-2634-4061-B10E-56C8FF3A9F87}"/>
                  </a:ext>
                </a:extLst>
              </p:cNvPr>
              <p:cNvSpPr txBox="1"/>
              <p:nvPr/>
            </p:nvSpPr>
            <p:spPr>
              <a:xfrm>
                <a:off x="323919" y="4323654"/>
                <a:ext cx="2941318" cy="85741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1 −0 ∙</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m:t>
                              </m:r>
                            </m:e>
                          </m:func>
                        </m:e>
                      </m:func>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4" name="Textfeld 33">
                <a:extLst>
                  <a:ext uri="{FF2B5EF4-FFF2-40B4-BE49-F238E27FC236}">
                    <a16:creationId xmlns:a16="http://schemas.microsoft.com/office/drawing/2014/main" id="{90D5B121-2634-4061-B10E-56C8FF3A9F87}"/>
                  </a:ext>
                </a:extLst>
              </p:cNvPr>
              <p:cNvSpPr txBox="1">
                <a:spLocks noRot="1" noChangeAspect="1" noMove="1" noResize="1" noEditPoints="1" noAdjustHandles="1" noChangeArrowheads="1" noChangeShapeType="1" noTextEdit="1"/>
              </p:cNvSpPr>
              <p:nvPr/>
            </p:nvSpPr>
            <p:spPr>
              <a:xfrm>
                <a:off x="323919" y="4323654"/>
                <a:ext cx="2941318" cy="857414"/>
              </a:xfrm>
              <a:prstGeom prst="rect">
                <a:avLst/>
              </a:prstGeom>
              <a:blipFill>
                <a:blip r:embed="rId4"/>
                <a:stretch>
                  <a:fillRect l="-227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5" name="Textfeld 34">
                <a:extLst>
                  <a:ext uri="{FF2B5EF4-FFF2-40B4-BE49-F238E27FC236}">
                    <a16:creationId xmlns:a16="http://schemas.microsoft.com/office/drawing/2014/main" id="{2DF3FBBB-B94D-4B4E-A560-280AC65545F3}"/>
                  </a:ext>
                </a:extLst>
              </p:cNvPr>
              <p:cNvSpPr txBox="1"/>
              <p:nvPr/>
            </p:nvSpPr>
            <p:spPr>
              <a:xfrm>
                <a:off x="3720672" y="4323988"/>
                <a:ext cx="3842206" cy="626903"/>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=−0.14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0.14 −0.86 ∙</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0.86</m:t>
                              </m:r>
                            </m:e>
                          </m:func>
                        </m:e>
                      </m:func>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0"/>
                  </a:spcBef>
                </a:pPr>
                <a14:m>
                  <m:oMathPara xmlns:m="http://schemas.openxmlformats.org/officeDocument/2006/math">
                    <m:oMathParaPr>
                      <m:jc m:val="left"/>
                    </m:oMathParaPr>
                    <m:oMath xmlns:m="http://schemas.openxmlformats.org/officeDocument/2006/math">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𝑁𝑜𝑑𝑒</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sub>
                      </m:s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=0.58</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5" name="Textfeld 34">
                <a:extLst>
                  <a:ext uri="{FF2B5EF4-FFF2-40B4-BE49-F238E27FC236}">
                    <a16:creationId xmlns:a16="http://schemas.microsoft.com/office/drawing/2014/main" id="{2DF3FBBB-B94D-4B4E-A560-280AC65545F3}"/>
                  </a:ext>
                </a:extLst>
              </p:cNvPr>
              <p:cNvSpPr txBox="1">
                <a:spLocks noRot="1" noChangeAspect="1" noMove="1" noResize="1" noEditPoints="1" noAdjustHandles="1" noChangeArrowheads="1" noChangeShapeType="1" noTextEdit="1"/>
              </p:cNvSpPr>
              <p:nvPr/>
            </p:nvSpPr>
            <p:spPr>
              <a:xfrm>
                <a:off x="3720672" y="4323988"/>
                <a:ext cx="3842206" cy="626903"/>
              </a:xfrm>
              <a:prstGeom prst="rect">
                <a:avLst/>
              </a:prstGeom>
              <a:blipFill>
                <a:blip r:embed="rId5"/>
                <a:stretch>
                  <a:fillRect l="-1743"/>
                </a:stretch>
              </a:blipFill>
            </p:spPr>
            <p:txBody>
              <a:bodyPr/>
              <a:lstStyle/>
              <a:p>
                <a:r>
                  <a:rPr lang="de-DE">
                    <a:noFill/>
                  </a:rPr>
                  <a:t> </a:t>
                </a:r>
              </a:p>
            </p:txBody>
          </p:sp>
        </mc:Fallback>
      </mc:AlternateContent>
      <p:cxnSp>
        <p:nvCxnSpPr>
          <p:cNvPr id="37" name="Gerade Verbindung mit Pfeil 36">
            <a:extLst>
              <a:ext uri="{FF2B5EF4-FFF2-40B4-BE49-F238E27FC236}">
                <a16:creationId xmlns:a16="http://schemas.microsoft.com/office/drawing/2014/main" id="{0FD430BB-AF34-4279-ACBC-67FEEEABFD18}"/>
              </a:ext>
            </a:extLst>
          </p:cNvPr>
          <p:cNvCxnSpPr/>
          <p:nvPr/>
        </p:nvCxnSpPr>
        <p:spPr bwMode="auto">
          <a:xfrm>
            <a:off x="1486948" y="3897313"/>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8" name="Gerade Verbindung mit Pfeil 37">
            <a:extLst>
              <a:ext uri="{FF2B5EF4-FFF2-40B4-BE49-F238E27FC236}">
                <a16:creationId xmlns:a16="http://schemas.microsoft.com/office/drawing/2014/main" id="{5A282C43-D76B-4017-9164-2B558E44F5AE}"/>
              </a:ext>
            </a:extLst>
          </p:cNvPr>
          <p:cNvCxnSpPr/>
          <p:nvPr/>
        </p:nvCxnSpPr>
        <p:spPr bwMode="auto">
          <a:xfrm>
            <a:off x="5019055" y="3905378"/>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aphicFrame>
        <p:nvGraphicFramePr>
          <p:cNvPr id="39" name="Diagramm 38">
            <a:extLst>
              <a:ext uri="{FF2B5EF4-FFF2-40B4-BE49-F238E27FC236}">
                <a16:creationId xmlns:a16="http://schemas.microsoft.com/office/drawing/2014/main" id="{F92E9837-A702-4401-B9A7-A79B49414D5D}"/>
              </a:ext>
            </a:extLst>
          </p:cNvPr>
          <p:cNvGraphicFramePr>
            <a:graphicFrameLocks/>
          </p:cNvGraphicFramePr>
          <p:nvPr>
            <p:extLst>
              <p:ext uri="{D42A27DB-BD31-4B8C-83A1-F6EECF244321}">
                <p14:modId xmlns:p14="http://schemas.microsoft.com/office/powerpoint/2010/main" val="1155973398"/>
              </p:ext>
            </p:extLst>
          </p:nvPr>
        </p:nvGraphicFramePr>
        <p:xfrm>
          <a:off x="8343715" y="4235406"/>
          <a:ext cx="3287337" cy="2181925"/>
        </p:xfrm>
        <a:graphic>
          <a:graphicData uri="http://schemas.openxmlformats.org/drawingml/2006/chart">
            <c:chart xmlns:c="http://schemas.openxmlformats.org/drawingml/2006/chart" xmlns:r="http://schemas.openxmlformats.org/officeDocument/2006/relationships" r:id="rId6"/>
          </a:graphicData>
        </a:graphic>
      </p:graphicFrame>
      <p:sp>
        <p:nvSpPr>
          <p:cNvPr id="40" name="Ellipse 39">
            <a:extLst>
              <a:ext uri="{FF2B5EF4-FFF2-40B4-BE49-F238E27FC236}">
                <a16:creationId xmlns:a16="http://schemas.microsoft.com/office/drawing/2014/main" id="{3EEDF7E7-8055-44CF-B509-342FB8A00458}"/>
              </a:ext>
            </a:extLst>
          </p:cNvPr>
          <p:cNvSpPr/>
          <p:nvPr/>
        </p:nvSpPr>
        <p:spPr bwMode="auto">
          <a:xfrm>
            <a:off x="11463787" y="5913292"/>
            <a:ext cx="144000" cy="144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1" name="Ellipse 40">
            <a:extLst>
              <a:ext uri="{FF2B5EF4-FFF2-40B4-BE49-F238E27FC236}">
                <a16:creationId xmlns:a16="http://schemas.microsoft.com/office/drawing/2014/main" id="{713D81B0-E200-41A0-96D8-2C10FF4571EF}"/>
              </a:ext>
            </a:extLst>
          </p:cNvPr>
          <p:cNvSpPr/>
          <p:nvPr/>
        </p:nvSpPr>
        <p:spPr bwMode="auto">
          <a:xfrm>
            <a:off x="9123511" y="4974604"/>
            <a:ext cx="144000" cy="144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43" name="Textfeld 42">
                <a:extLst>
                  <a:ext uri="{FF2B5EF4-FFF2-40B4-BE49-F238E27FC236}">
                    <a16:creationId xmlns:a16="http://schemas.microsoft.com/office/drawing/2014/main" id="{F738E79C-7ADA-4C19-A157-0F92248C669C}"/>
                  </a:ext>
                </a:extLst>
              </p:cNvPr>
              <p:cNvSpPr txBox="1"/>
              <p:nvPr/>
            </p:nvSpPr>
            <p:spPr>
              <a:xfrm>
                <a:off x="9351401" y="4796662"/>
                <a:ext cx="1240853" cy="219740"/>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3" name="Textfeld 42">
                <a:extLst>
                  <a:ext uri="{FF2B5EF4-FFF2-40B4-BE49-F238E27FC236}">
                    <a16:creationId xmlns:a16="http://schemas.microsoft.com/office/drawing/2014/main" id="{F738E79C-7ADA-4C19-A157-0F92248C669C}"/>
                  </a:ext>
                </a:extLst>
              </p:cNvPr>
              <p:cNvSpPr txBox="1">
                <a:spLocks noRot="1" noChangeAspect="1" noMove="1" noResize="1" noEditPoints="1" noAdjustHandles="1" noChangeArrowheads="1" noChangeShapeType="1" noTextEdit="1"/>
              </p:cNvSpPr>
              <p:nvPr/>
            </p:nvSpPr>
            <p:spPr>
              <a:xfrm>
                <a:off x="9351401" y="4796662"/>
                <a:ext cx="1240853" cy="219740"/>
              </a:xfrm>
              <a:prstGeom prst="rect">
                <a:avLst/>
              </a:prstGeom>
              <a:blipFill>
                <a:blip r:embed="rId7"/>
                <a:stretch>
                  <a:fillRect l="-3431" r="-490" b="-222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4" name="Textfeld 43">
                <a:extLst>
                  <a:ext uri="{FF2B5EF4-FFF2-40B4-BE49-F238E27FC236}">
                    <a16:creationId xmlns:a16="http://schemas.microsoft.com/office/drawing/2014/main" id="{F9E0A875-27FE-4CD8-BCE2-DA1ABFF172F9}"/>
                  </a:ext>
                </a:extLst>
              </p:cNvPr>
              <p:cNvSpPr txBox="1"/>
              <p:nvPr/>
            </p:nvSpPr>
            <p:spPr>
              <a:xfrm>
                <a:off x="10203631" y="5679787"/>
                <a:ext cx="1171924" cy="219419"/>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4" name="Textfeld 43">
                <a:extLst>
                  <a:ext uri="{FF2B5EF4-FFF2-40B4-BE49-F238E27FC236}">
                    <a16:creationId xmlns:a16="http://schemas.microsoft.com/office/drawing/2014/main" id="{F9E0A875-27FE-4CD8-BCE2-DA1ABFF172F9}"/>
                  </a:ext>
                </a:extLst>
              </p:cNvPr>
              <p:cNvSpPr txBox="1">
                <a:spLocks noRot="1" noChangeAspect="1" noMove="1" noResize="1" noEditPoints="1" noAdjustHandles="1" noChangeArrowheads="1" noChangeShapeType="1" noTextEdit="1"/>
              </p:cNvSpPr>
              <p:nvPr/>
            </p:nvSpPr>
            <p:spPr>
              <a:xfrm>
                <a:off x="10203631" y="5679787"/>
                <a:ext cx="1171924" cy="219419"/>
              </a:xfrm>
              <a:prstGeom prst="rect">
                <a:avLst/>
              </a:prstGeom>
              <a:blipFill>
                <a:blip r:embed="rId8"/>
                <a:stretch>
                  <a:fillRect l="-4167" r="-521" b="-19444"/>
                </a:stretch>
              </a:blipFill>
            </p:spPr>
            <p:txBody>
              <a:bodyPr/>
              <a:lstStyle/>
              <a:p>
                <a:r>
                  <a:rPr lang="de-DE">
                    <a:noFill/>
                  </a:rPr>
                  <a:t> </a:t>
                </a:r>
              </a:p>
            </p:txBody>
          </p:sp>
        </mc:Fallback>
      </mc:AlternateContent>
      <p:grpSp>
        <p:nvGrpSpPr>
          <p:cNvPr id="42" name="Gruppieren 41">
            <a:extLst>
              <a:ext uri="{FF2B5EF4-FFF2-40B4-BE49-F238E27FC236}">
                <a16:creationId xmlns:a16="http://schemas.microsoft.com/office/drawing/2014/main" id="{210C5B90-4CBC-4498-A3EC-F142E488F44F}"/>
              </a:ext>
            </a:extLst>
          </p:cNvPr>
          <p:cNvGrpSpPr/>
          <p:nvPr/>
        </p:nvGrpSpPr>
        <p:grpSpPr>
          <a:xfrm>
            <a:off x="987354" y="2972640"/>
            <a:ext cx="7574393" cy="1170602"/>
            <a:chOff x="987354" y="2972640"/>
            <a:chExt cx="7574393" cy="1170602"/>
          </a:xfrm>
        </p:grpSpPr>
        <p:grpSp>
          <p:nvGrpSpPr>
            <p:cNvPr id="45" name="Gruppieren 44">
              <a:extLst>
                <a:ext uri="{FF2B5EF4-FFF2-40B4-BE49-F238E27FC236}">
                  <a16:creationId xmlns:a16="http://schemas.microsoft.com/office/drawing/2014/main" id="{13449F91-B357-4157-8FC8-E71F36CD7D53}"/>
                </a:ext>
              </a:extLst>
            </p:cNvPr>
            <p:cNvGrpSpPr/>
            <p:nvPr/>
          </p:nvGrpSpPr>
          <p:grpSpPr>
            <a:xfrm>
              <a:off x="987354" y="2972640"/>
              <a:ext cx="6732001" cy="1067982"/>
              <a:chOff x="946888" y="2684869"/>
              <a:chExt cx="6732001" cy="1067982"/>
            </a:xfrm>
          </p:grpSpPr>
          <p:grpSp>
            <p:nvGrpSpPr>
              <p:cNvPr id="48" name="Gruppieren 47">
                <a:extLst>
                  <a:ext uri="{FF2B5EF4-FFF2-40B4-BE49-F238E27FC236}">
                    <a16:creationId xmlns:a16="http://schemas.microsoft.com/office/drawing/2014/main" id="{9FA6E37D-B57F-47AA-AD2B-12F7B4C2CD2E}"/>
                  </a:ext>
                </a:extLst>
              </p:cNvPr>
              <p:cNvGrpSpPr/>
              <p:nvPr/>
            </p:nvGrpSpPr>
            <p:grpSpPr>
              <a:xfrm>
                <a:off x="946888" y="2684869"/>
                <a:ext cx="6732001" cy="1067982"/>
                <a:chOff x="986607" y="3303000"/>
                <a:chExt cx="4537464" cy="743507"/>
              </a:xfrm>
            </p:grpSpPr>
            <p:grpSp>
              <p:nvGrpSpPr>
                <p:cNvPr id="50" name="Gruppieren 49">
                  <a:extLst>
                    <a:ext uri="{FF2B5EF4-FFF2-40B4-BE49-F238E27FC236}">
                      <a16:creationId xmlns:a16="http://schemas.microsoft.com/office/drawing/2014/main" id="{A734DFA7-0AAC-439B-9061-2DA7DAEF725E}"/>
                    </a:ext>
                  </a:extLst>
                </p:cNvPr>
                <p:cNvGrpSpPr/>
                <p:nvPr/>
              </p:nvGrpSpPr>
              <p:grpSpPr>
                <a:xfrm>
                  <a:off x="986607" y="3303000"/>
                  <a:ext cx="4537464" cy="449850"/>
                  <a:chOff x="986607" y="3303000"/>
                  <a:chExt cx="4537464" cy="449850"/>
                </a:xfrm>
              </p:grpSpPr>
              <p:cxnSp>
                <p:nvCxnSpPr>
                  <p:cNvPr id="55" name="Gerader Verbinder 54">
                    <a:extLst>
                      <a:ext uri="{FF2B5EF4-FFF2-40B4-BE49-F238E27FC236}">
                        <a16:creationId xmlns:a16="http://schemas.microsoft.com/office/drawing/2014/main" id="{31968C23-3E5D-469F-98E1-4C97D7DDF93C}"/>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r Verbinder 55">
                    <a:extLst>
                      <a:ext uri="{FF2B5EF4-FFF2-40B4-BE49-F238E27FC236}">
                        <a16:creationId xmlns:a16="http://schemas.microsoft.com/office/drawing/2014/main" id="{21A3906A-8375-459A-A24D-20E5A2CB6D2A}"/>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r Verbinder 56">
                    <a:extLst>
                      <a:ext uri="{FF2B5EF4-FFF2-40B4-BE49-F238E27FC236}">
                        <a16:creationId xmlns:a16="http://schemas.microsoft.com/office/drawing/2014/main" id="{9CE58651-FAA9-4898-8BB4-16B4722AF94E}"/>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04E7DAAB-6403-4254-9B55-9CE2F339841D}"/>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r Verbinder 58">
                    <a:extLst>
                      <a:ext uri="{FF2B5EF4-FFF2-40B4-BE49-F238E27FC236}">
                        <a16:creationId xmlns:a16="http://schemas.microsoft.com/office/drawing/2014/main" id="{D7F4CDD7-7C20-4C54-B322-8402E98CC038}"/>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0" name="Ellipse 59">
                    <a:extLst>
                      <a:ext uri="{FF2B5EF4-FFF2-40B4-BE49-F238E27FC236}">
                        <a16:creationId xmlns:a16="http://schemas.microsoft.com/office/drawing/2014/main" id="{B818AC09-5753-4EFF-9724-443DE3FBF6DA}"/>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1" name="Ellipse 60">
                    <a:extLst>
                      <a:ext uri="{FF2B5EF4-FFF2-40B4-BE49-F238E27FC236}">
                        <a16:creationId xmlns:a16="http://schemas.microsoft.com/office/drawing/2014/main" id="{41BF96F9-3DBC-4759-A2A6-90C96813D466}"/>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32B4A6DD-812A-475C-A4A1-97E77F981C9B}"/>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3" name="Ellipse 62">
                    <a:extLst>
                      <a:ext uri="{FF2B5EF4-FFF2-40B4-BE49-F238E27FC236}">
                        <a16:creationId xmlns:a16="http://schemas.microsoft.com/office/drawing/2014/main" id="{844C151D-BA6B-4302-B1E3-2FCC42CC497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4" name="Ellipse 63">
                    <a:extLst>
                      <a:ext uri="{FF2B5EF4-FFF2-40B4-BE49-F238E27FC236}">
                        <a16:creationId xmlns:a16="http://schemas.microsoft.com/office/drawing/2014/main" id="{F368FBCE-F8C5-4FEF-8738-ACFE31B895BE}"/>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Ellipse 64">
                    <a:extLst>
                      <a:ext uri="{FF2B5EF4-FFF2-40B4-BE49-F238E27FC236}">
                        <a16:creationId xmlns:a16="http://schemas.microsoft.com/office/drawing/2014/main" id="{73119D2C-B0EE-4B41-93A8-79FBEA2BC23E}"/>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FF88BD3A-146A-49F7-80E6-539D8A212555}"/>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7" name="Ellipse 66">
                    <a:extLst>
                      <a:ext uri="{FF2B5EF4-FFF2-40B4-BE49-F238E27FC236}">
                        <a16:creationId xmlns:a16="http://schemas.microsoft.com/office/drawing/2014/main" id="{B902F2AF-D128-4FC7-9C10-59F2FC42576D}"/>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DAF7F60A-DE23-4FDF-BD29-9850524946BA}"/>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51" name="Textfeld 50">
                  <a:extLst>
                    <a:ext uri="{FF2B5EF4-FFF2-40B4-BE49-F238E27FC236}">
                      <a16:creationId xmlns:a16="http://schemas.microsoft.com/office/drawing/2014/main" id="{F08A27FD-DC00-46A8-A703-08A1B11E9A2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52" name="Textfeld 51">
                  <a:extLst>
                    <a:ext uri="{FF2B5EF4-FFF2-40B4-BE49-F238E27FC236}">
                      <a16:creationId xmlns:a16="http://schemas.microsoft.com/office/drawing/2014/main" id="{4C0A84E1-8566-4A37-B8DA-E8636E508A66}"/>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53" name="Textfeld 52">
                  <a:extLst>
                    <a:ext uri="{FF2B5EF4-FFF2-40B4-BE49-F238E27FC236}">
                      <a16:creationId xmlns:a16="http://schemas.microsoft.com/office/drawing/2014/main" id="{68E4E91B-764B-4865-92E7-75717729868B}"/>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54" name="Textfeld 53">
                  <a:extLst>
                    <a:ext uri="{FF2B5EF4-FFF2-40B4-BE49-F238E27FC236}">
                      <a16:creationId xmlns:a16="http://schemas.microsoft.com/office/drawing/2014/main" id="{EA520F95-8BE7-420C-B09E-73F2DA1EF6DC}"/>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49" name="Ellipse 48">
                <a:extLst>
                  <a:ext uri="{FF2B5EF4-FFF2-40B4-BE49-F238E27FC236}">
                    <a16:creationId xmlns:a16="http://schemas.microsoft.com/office/drawing/2014/main" id="{6CF10E15-74C0-46FF-AEAA-B3F73B820209}"/>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46" name="Gerade Verbindung mit Pfeil 45">
              <a:extLst>
                <a:ext uri="{FF2B5EF4-FFF2-40B4-BE49-F238E27FC236}">
                  <a16:creationId xmlns:a16="http://schemas.microsoft.com/office/drawing/2014/main" id="{C51D1369-BAF6-4416-A77B-7905972DBC6C}"/>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7" name="Textfeld 46">
              <a:extLst>
                <a:ext uri="{FF2B5EF4-FFF2-40B4-BE49-F238E27FC236}">
                  <a16:creationId xmlns:a16="http://schemas.microsoft.com/office/drawing/2014/main" id="{A8EF77AB-F507-4405-9049-7E053C8F4849}"/>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198134046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2"/>
                <a:stretch>
                  <a:fillRect l="-1250" t="-342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9F38F7A8-5A43-4726-905A-DDC7B25AD925}"/>
                  </a:ext>
                </a:extLst>
              </p:cNvPr>
              <p:cNvSpPr txBox="1"/>
              <p:nvPr/>
            </p:nvSpPr>
            <p:spPr>
              <a:xfrm>
                <a:off x="7915663" y="2887188"/>
                <a:ext cx="4188454" cy="62786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=−0.4 </m:t>
                      </m:r>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0.4</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−0.6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0.6</m:t>
                          </m:r>
                        </m:e>
                      </m:func>
                    </m:oMath>
                  </m:oMathPara>
                </a14:m>
                <a:endParaRPr lang="en-US" sz="14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=0.97</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4" name="Textfeld 23">
                <a:extLst>
                  <a:ext uri="{FF2B5EF4-FFF2-40B4-BE49-F238E27FC236}">
                    <a16:creationId xmlns:a16="http://schemas.microsoft.com/office/drawing/2014/main" id="{9F38F7A8-5A43-4726-905A-DDC7B25AD925}"/>
                  </a:ext>
                </a:extLst>
              </p:cNvPr>
              <p:cNvSpPr txBox="1">
                <a:spLocks noRot="1" noChangeAspect="1" noMove="1" noResize="1" noEditPoints="1" noAdjustHandles="1" noChangeArrowheads="1" noChangeShapeType="1" noTextEdit="1"/>
              </p:cNvSpPr>
              <p:nvPr/>
            </p:nvSpPr>
            <p:spPr>
              <a:xfrm>
                <a:off x="7915663" y="2887188"/>
                <a:ext cx="4188454" cy="627864"/>
              </a:xfrm>
              <a:prstGeom prst="rect">
                <a:avLst/>
              </a:prstGeom>
              <a:blipFill>
                <a:blip r:embed="rId3"/>
                <a:stretch>
                  <a:fillRect l="-873"/>
                </a:stretch>
              </a:blipFill>
            </p:spPr>
            <p:txBody>
              <a:bodyPr/>
              <a:lstStyle/>
              <a:p>
                <a:r>
                  <a:rPr lang="de-DE">
                    <a:noFill/>
                  </a:rPr>
                  <a:t> </a:t>
                </a:r>
              </a:p>
            </p:txBody>
          </p:sp>
        </mc:Fallback>
      </mc:AlternateContent>
      <p:sp>
        <p:nvSpPr>
          <p:cNvPr id="27" name="Rechteck 26">
            <a:extLst>
              <a:ext uri="{FF2B5EF4-FFF2-40B4-BE49-F238E27FC236}">
                <a16:creationId xmlns:a16="http://schemas.microsoft.com/office/drawing/2014/main" id="{5DE6AA34-1D10-4370-BC36-1B33289A7BB6}"/>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Rechteck 28">
            <a:extLst>
              <a:ext uri="{FF2B5EF4-FFF2-40B4-BE49-F238E27FC236}">
                <a16:creationId xmlns:a16="http://schemas.microsoft.com/office/drawing/2014/main" id="{7AD4CF6A-D6DB-4D84-820C-97919F515AC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30" name="Gerader Verbinder 29">
            <a:extLst>
              <a:ext uri="{FF2B5EF4-FFF2-40B4-BE49-F238E27FC236}">
                <a16:creationId xmlns:a16="http://schemas.microsoft.com/office/drawing/2014/main" id="{36482E58-7485-4C86-85CF-360ACB1DD281}"/>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32" name="Textfeld 31">
                <a:extLst>
                  <a:ext uri="{FF2B5EF4-FFF2-40B4-BE49-F238E27FC236}">
                    <a16:creationId xmlns:a16="http://schemas.microsoft.com/office/drawing/2014/main" id="{B7CC390A-4A27-4F20-A6D3-FFF007C7A037}"/>
                  </a:ext>
                </a:extLst>
              </p:cNvPr>
              <p:cNvSpPr txBox="1"/>
              <p:nvPr/>
            </p:nvSpPr>
            <p:spPr>
              <a:xfrm>
                <a:off x="615642" y="5044137"/>
                <a:ext cx="4235198" cy="1658531"/>
              </a:xfrm>
              <a:prstGeom prst="rect">
                <a:avLst/>
              </a:prstGeom>
              <a:noFill/>
            </p:spPr>
            <p:txBody>
              <a:bodyPr wrap="none" lIns="0" tIns="0" rIns="0" bIns="0" rtlCol="0">
                <a:spAutoFit/>
              </a:bodyPr>
              <a:lstStyle/>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1,3: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=0.97−</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3</m:t>
                            </m:r>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10</m:t>
                            </m:r>
                          </m:den>
                        </m:f>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7</m:t>
                            </m:r>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10</m:t>
                            </m:r>
                          </m:den>
                        </m:f>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0.58</m:t>
                        </m:r>
                      </m:e>
                    </m:d>
                  </m:oMath>
                </a14:m>
                <a:endParaRPr lang="en-US" sz="1600" b="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0">
                    <a:solidFill>
                      <a:schemeClr val="tx1"/>
                    </a:solidFill>
                    <a:ea typeface="Arial Unicode MS" panose="020B0604020202020204" pitchFamily="34" charset="-128"/>
                    <a:cs typeface="Arial Unicode MS" panose="020B0604020202020204" pitchFamily="34" charset="-128"/>
                  </a:rPr>
                  <a:t>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=0.56</m:t>
                    </m:r>
                  </m:oMath>
                </a14:m>
                <a:endParaRPr lang="en-US" sz="1600">
                  <a:solidFill>
                    <a:schemeClr val="tx1"/>
                  </a:solidFill>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2" name="Textfeld 31">
                <a:extLst>
                  <a:ext uri="{FF2B5EF4-FFF2-40B4-BE49-F238E27FC236}">
                    <a16:creationId xmlns:a16="http://schemas.microsoft.com/office/drawing/2014/main" id="{B7CC390A-4A27-4F20-A6D3-FFF007C7A037}"/>
                  </a:ext>
                </a:extLst>
              </p:cNvPr>
              <p:cNvSpPr txBox="1">
                <a:spLocks noRot="1" noChangeAspect="1" noMove="1" noResize="1" noEditPoints="1" noAdjustHandles="1" noChangeArrowheads="1" noChangeShapeType="1" noTextEdit="1"/>
              </p:cNvSpPr>
              <p:nvPr/>
            </p:nvSpPr>
            <p:spPr>
              <a:xfrm>
                <a:off x="615642" y="5044137"/>
                <a:ext cx="4235198" cy="1658531"/>
              </a:xfrm>
              <a:prstGeom prst="rect">
                <a:avLst/>
              </a:prstGeom>
              <a:blipFill>
                <a:blip r:embed="rId4"/>
                <a:stretch>
                  <a:fillRect l="-30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90D5B121-2634-4061-B10E-56C8FF3A9F87}"/>
                  </a:ext>
                </a:extLst>
              </p:cNvPr>
              <p:cNvSpPr txBox="1"/>
              <p:nvPr/>
            </p:nvSpPr>
            <p:spPr>
              <a:xfrm>
                <a:off x="323919" y="4323654"/>
                <a:ext cx="2941318" cy="85741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1 −0 ∙</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m:t>
                              </m:r>
                            </m:e>
                          </m:func>
                        </m:e>
                      </m:func>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4" name="Textfeld 33">
                <a:extLst>
                  <a:ext uri="{FF2B5EF4-FFF2-40B4-BE49-F238E27FC236}">
                    <a16:creationId xmlns:a16="http://schemas.microsoft.com/office/drawing/2014/main" id="{90D5B121-2634-4061-B10E-56C8FF3A9F87}"/>
                  </a:ext>
                </a:extLst>
              </p:cNvPr>
              <p:cNvSpPr txBox="1">
                <a:spLocks noRot="1" noChangeAspect="1" noMove="1" noResize="1" noEditPoints="1" noAdjustHandles="1" noChangeArrowheads="1" noChangeShapeType="1" noTextEdit="1"/>
              </p:cNvSpPr>
              <p:nvPr/>
            </p:nvSpPr>
            <p:spPr>
              <a:xfrm>
                <a:off x="323919" y="4323654"/>
                <a:ext cx="2941318" cy="857414"/>
              </a:xfrm>
              <a:prstGeom prst="rect">
                <a:avLst/>
              </a:prstGeom>
              <a:blipFill>
                <a:blip r:embed="rId5"/>
                <a:stretch>
                  <a:fillRect l="-2277"/>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5" name="Textfeld 34">
                <a:extLst>
                  <a:ext uri="{FF2B5EF4-FFF2-40B4-BE49-F238E27FC236}">
                    <a16:creationId xmlns:a16="http://schemas.microsoft.com/office/drawing/2014/main" id="{2DF3FBBB-B94D-4B4E-A560-280AC65545F3}"/>
                  </a:ext>
                </a:extLst>
              </p:cNvPr>
              <p:cNvSpPr txBox="1"/>
              <p:nvPr/>
            </p:nvSpPr>
            <p:spPr>
              <a:xfrm>
                <a:off x="3720672" y="4323988"/>
                <a:ext cx="3842206" cy="626903"/>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=−0.14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0.14 −0.86 ∙</m:t>
                          </m:r>
                          <m:func>
                            <m:func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2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0.86</m:t>
                              </m:r>
                            </m:e>
                          </m:func>
                        </m:e>
                      </m:func>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0"/>
                  </a:spcBef>
                </a:pPr>
                <a14:m>
                  <m:oMathPara xmlns:m="http://schemas.openxmlformats.org/officeDocument/2006/math">
                    <m:oMathParaPr>
                      <m:jc m:val="left"/>
                    </m:oMathParaPr>
                    <m:oMath xmlns:m="http://schemas.openxmlformats.org/officeDocument/2006/math">
                      <m:sSub>
                        <m:sSubPr>
                          <m:ctrlP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𝑁𝑜𝑑𝑒</m:t>
                          </m:r>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sub>
                      </m:sSub>
                      <m:r>
                        <a:rPr lang="en-US" sz="12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=0.58</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0"/>
                  </a:spcBef>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5" name="Textfeld 34">
                <a:extLst>
                  <a:ext uri="{FF2B5EF4-FFF2-40B4-BE49-F238E27FC236}">
                    <a16:creationId xmlns:a16="http://schemas.microsoft.com/office/drawing/2014/main" id="{2DF3FBBB-B94D-4B4E-A560-280AC65545F3}"/>
                  </a:ext>
                </a:extLst>
              </p:cNvPr>
              <p:cNvSpPr txBox="1">
                <a:spLocks noRot="1" noChangeAspect="1" noMove="1" noResize="1" noEditPoints="1" noAdjustHandles="1" noChangeArrowheads="1" noChangeShapeType="1" noTextEdit="1"/>
              </p:cNvSpPr>
              <p:nvPr/>
            </p:nvSpPr>
            <p:spPr>
              <a:xfrm>
                <a:off x="3720672" y="4323988"/>
                <a:ext cx="3842206" cy="626903"/>
              </a:xfrm>
              <a:prstGeom prst="rect">
                <a:avLst/>
              </a:prstGeom>
              <a:blipFill>
                <a:blip r:embed="rId6"/>
                <a:stretch>
                  <a:fillRect l="-1743"/>
                </a:stretch>
              </a:blipFill>
            </p:spPr>
            <p:txBody>
              <a:bodyPr/>
              <a:lstStyle/>
              <a:p>
                <a:r>
                  <a:rPr lang="de-DE">
                    <a:noFill/>
                  </a:rPr>
                  <a:t> </a:t>
                </a:r>
              </a:p>
            </p:txBody>
          </p:sp>
        </mc:Fallback>
      </mc:AlternateContent>
      <p:cxnSp>
        <p:nvCxnSpPr>
          <p:cNvPr id="37" name="Gerade Verbindung mit Pfeil 36">
            <a:extLst>
              <a:ext uri="{FF2B5EF4-FFF2-40B4-BE49-F238E27FC236}">
                <a16:creationId xmlns:a16="http://schemas.microsoft.com/office/drawing/2014/main" id="{0FD430BB-AF34-4279-ACBC-67FEEEABFD18}"/>
              </a:ext>
            </a:extLst>
          </p:cNvPr>
          <p:cNvCxnSpPr/>
          <p:nvPr/>
        </p:nvCxnSpPr>
        <p:spPr bwMode="auto">
          <a:xfrm>
            <a:off x="1486948" y="3897313"/>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8" name="Gerade Verbindung mit Pfeil 37">
            <a:extLst>
              <a:ext uri="{FF2B5EF4-FFF2-40B4-BE49-F238E27FC236}">
                <a16:creationId xmlns:a16="http://schemas.microsoft.com/office/drawing/2014/main" id="{5A282C43-D76B-4017-9164-2B558E44F5AE}"/>
              </a:ext>
            </a:extLst>
          </p:cNvPr>
          <p:cNvCxnSpPr/>
          <p:nvPr/>
        </p:nvCxnSpPr>
        <p:spPr bwMode="auto">
          <a:xfrm>
            <a:off x="5019055" y="3905378"/>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aphicFrame>
        <p:nvGraphicFramePr>
          <p:cNvPr id="39" name="Diagramm 38">
            <a:extLst>
              <a:ext uri="{FF2B5EF4-FFF2-40B4-BE49-F238E27FC236}">
                <a16:creationId xmlns:a16="http://schemas.microsoft.com/office/drawing/2014/main" id="{F92E9837-A702-4401-B9A7-A79B49414D5D}"/>
              </a:ext>
            </a:extLst>
          </p:cNvPr>
          <p:cNvGraphicFramePr>
            <a:graphicFrameLocks/>
          </p:cNvGraphicFramePr>
          <p:nvPr>
            <p:extLst>
              <p:ext uri="{D42A27DB-BD31-4B8C-83A1-F6EECF244321}">
                <p14:modId xmlns:p14="http://schemas.microsoft.com/office/powerpoint/2010/main" val="20180666"/>
              </p:ext>
            </p:extLst>
          </p:nvPr>
        </p:nvGraphicFramePr>
        <p:xfrm>
          <a:off x="8343715" y="4235406"/>
          <a:ext cx="3287337" cy="2181925"/>
        </p:xfrm>
        <a:graphic>
          <a:graphicData uri="http://schemas.openxmlformats.org/drawingml/2006/chart">
            <c:chart xmlns:c="http://schemas.openxmlformats.org/drawingml/2006/chart" xmlns:r="http://schemas.openxmlformats.org/officeDocument/2006/relationships" r:id="rId7"/>
          </a:graphicData>
        </a:graphic>
      </p:graphicFrame>
      <p:sp>
        <p:nvSpPr>
          <p:cNvPr id="40" name="Ellipse 39">
            <a:extLst>
              <a:ext uri="{FF2B5EF4-FFF2-40B4-BE49-F238E27FC236}">
                <a16:creationId xmlns:a16="http://schemas.microsoft.com/office/drawing/2014/main" id="{3EEDF7E7-8055-44CF-B509-342FB8A00458}"/>
              </a:ext>
            </a:extLst>
          </p:cNvPr>
          <p:cNvSpPr/>
          <p:nvPr/>
        </p:nvSpPr>
        <p:spPr bwMode="auto">
          <a:xfrm>
            <a:off x="11463787" y="5913292"/>
            <a:ext cx="144000" cy="144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1" name="Ellipse 40">
            <a:extLst>
              <a:ext uri="{FF2B5EF4-FFF2-40B4-BE49-F238E27FC236}">
                <a16:creationId xmlns:a16="http://schemas.microsoft.com/office/drawing/2014/main" id="{713D81B0-E200-41A0-96D8-2C10FF4571EF}"/>
              </a:ext>
            </a:extLst>
          </p:cNvPr>
          <p:cNvSpPr/>
          <p:nvPr/>
        </p:nvSpPr>
        <p:spPr bwMode="auto">
          <a:xfrm>
            <a:off x="9123511" y="4974604"/>
            <a:ext cx="144000" cy="144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43" name="Textfeld 42">
                <a:extLst>
                  <a:ext uri="{FF2B5EF4-FFF2-40B4-BE49-F238E27FC236}">
                    <a16:creationId xmlns:a16="http://schemas.microsoft.com/office/drawing/2014/main" id="{F738E79C-7ADA-4C19-A157-0F92248C669C}"/>
                  </a:ext>
                </a:extLst>
              </p:cNvPr>
              <p:cNvSpPr txBox="1"/>
              <p:nvPr/>
            </p:nvSpPr>
            <p:spPr>
              <a:xfrm>
                <a:off x="9351401" y="4796662"/>
                <a:ext cx="1240853" cy="219740"/>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3" name="Textfeld 42">
                <a:extLst>
                  <a:ext uri="{FF2B5EF4-FFF2-40B4-BE49-F238E27FC236}">
                    <a16:creationId xmlns:a16="http://schemas.microsoft.com/office/drawing/2014/main" id="{F738E79C-7ADA-4C19-A157-0F92248C669C}"/>
                  </a:ext>
                </a:extLst>
              </p:cNvPr>
              <p:cNvSpPr txBox="1">
                <a:spLocks noRot="1" noChangeAspect="1" noMove="1" noResize="1" noEditPoints="1" noAdjustHandles="1" noChangeArrowheads="1" noChangeShapeType="1" noTextEdit="1"/>
              </p:cNvSpPr>
              <p:nvPr/>
            </p:nvSpPr>
            <p:spPr>
              <a:xfrm>
                <a:off x="9351401" y="4796662"/>
                <a:ext cx="1240853" cy="219740"/>
              </a:xfrm>
              <a:prstGeom prst="rect">
                <a:avLst/>
              </a:prstGeom>
              <a:blipFill>
                <a:blip r:embed="rId8"/>
                <a:stretch>
                  <a:fillRect l="-3431" r="-490" b="-222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4" name="Textfeld 43">
                <a:extLst>
                  <a:ext uri="{FF2B5EF4-FFF2-40B4-BE49-F238E27FC236}">
                    <a16:creationId xmlns:a16="http://schemas.microsoft.com/office/drawing/2014/main" id="{F9E0A875-27FE-4CD8-BCE2-DA1ABFF172F9}"/>
                  </a:ext>
                </a:extLst>
              </p:cNvPr>
              <p:cNvSpPr txBox="1"/>
              <p:nvPr/>
            </p:nvSpPr>
            <p:spPr>
              <a:xfrm>
                <a:off x="10203631" y="5679787"/>
                <a:ext cx="1171924" cy="219419"/>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4" name="Textfeld 43">
                <a:extLst>
                  <a:ext uri="{FF2B5EF4-FFF2-40B4-BE49-F238E27FC236}">
                    <a16:creationId xmlns:a16="http://schemas.microsoft.com/office/drawing/2014/main" id="{F9E0A875-27FE-4CD8-BCE2-DA1ABFF172F9}"/>
                  </a:ext>
                </a:extLst>
              </p:cNvPr>
              <p:cNvSpPr txBox="1">
                <a:spLocks noRot="1" noChangeAspect="1" noMove="1" noResize="1" noEditPoints="1" noAdjustHandles="1" noChangeArrowheads="1" noChangeShapeType="1" noTextEdit="1"/>
              </p:cNvSpPr>
              <p:nvPr/>
            </p:nvSpPr>
            <p:spPr>
              <a:xfrm>
                <a:off x="10203631" y="5679787"/>
                <a:ext cx="1171924" cy="219419"/>
              </a:xfrm>
              <a:prstGeom prst="rect">
                <a:avLst/>
              </a:prstGeom>
              <a:blipFill>
                <a:blip r:embed="rId9"/>
                <a:stretch>
                  <a:fillRect l="-4167" r="-521" b="-19444"/>
                </a:stretch>
              </a:blipFill>
            </p:spPr>
            <p:txBody>
              <a:bodyPr/>
              <a:lstStyle/>
              <a:p>
                <a:r>
                  <a:rPr lang="de-DE">
                    <a:noFill/>
                  </a:rPr>
                  <a:t> </a:t>
                </a:r>
              </a:p>
            </p:txBody>
          </p:sp>
        </mc:Fallback>
      </mc:AlternateContent>
      <p:grpSp>
        <p:nvGrpSpPr>
          <p:cNvPr id="69" name="Gruppieren 68">
            <a:extLst>
              <a:ext uri="{FF2B5EF4-FFF2-40B4-BE49-F238E27FC236}">
                <a16:creationId xmlns:a16="http://schemas.microsoft.com/office/drawing/2014/main" id="{F370F3BD-C55A-4583-BDCD-DAEE7F958FA6}"/>
              </a:ext>
            </a:extLst>
          </p:cNvPr>
          <p:cNvGrpSpPr/>
          <p:nvPr/>
        </p:nvGrpSpPr>
        <p:grpSpPr>
          <a:xfrm>
            <a:off x="987354" y="2972640"/>
            <a:ext cx="7574393" cy="1170602"/>
            <a:chOff x="987354" y="2972640"/>
            <a:chExt cx="7574393" cy="1170602"/>
          </a:xfrm>
        </p:grpSpPr>
        <p:grpSp>
          <p:nvGrpSpPr>
            <p:cNvPr id="70" name="Gruppieren 69">
              <a:extLst>
                <a:ext uri="{FF2B5EF4-FFF2-40B4-BE49-F238E27FC236}">
                  <a16:creationId xmlns:a16="http://schemas.microsoft.com/office/drawing/2014/main" id="{36559ABE-6E6A-451B-9FCF-6C33320CE90C}"/>
                </a:ext>
              </a:extLst>
            </p:cNvPr>
            <p:cNvGrpSpPr/>
            <p:nvPr/>
          </p:nvGrpSpPr>
          <p:grpSpPr>
            <a:xfrm>
              <a:off x="987354" y="2972640"/>
              <a:ext cx="6732001" cy="1067982"/>
              <a:chOff x="946888" y="2684869"/>
              <a:chExt cx="6732001" cy="1067982"/>
            </a:xfrm>
          </p:grpSpPr>
          <p:grpSp>
            <p:nvGrpSpPr>
              <p:cNvPr id="73" name="Gruppieren 72">
                <a:extLst>
                  <a:ext uri="{FF2B5EF4-FFF2-40B4-BE49-F238E27FC236}">
                    <a16:creationId xmlns:a16="http://schemas.microsoft.com/office/drawing/2014/main" id="{7AB88438-94F7-4FCE-8A96-DE3FFD7C6895}"/>
                  </a:ext>
                </a:extLst>
              </p:cNvPr>
              <p:cNvGrpSpPr/>
              <p:nvPr/>
            </p:nvGrpSpPr>
            <p:grpSpPr>
              <a:xfrm>
                <a:off x="946888" y="2684869"/>
                <a:ext cx="6732001" cy="1067982"/>
                <a:chOff x="986607" y="3303000"/>
                <a:chExt cx="4537464" cy="743507"/>
              </a:xfrm>
            </p:grpSpPr>
            <p:grpSp>
              <p:nvGrpSpPr>
                <p:cNvPr id="75" name="Gruppieren 74">
                  <a:extLst>
                    <a:ext uri="{FF2B5EF4-FFF2-40B4-BE49-F238E27FC236}">
                      <a16:creationId xmlns:a16="http://schemas.microsoft.com/office/drawing/2014/main" id="{82300FAA-BD83-40CB-BE45-6F6E320AF53E}"/>
                    </a:ext>
                  </a:extLst>
                </p:cNvPr>
                <p:cNvGrpSpPr/>
                <p:nvPr/>
              </p:nvGrpSpPr>
              <p:grpSpPr>
                <a:xfrm>
                  <a:off x="986607" y="3303000"/>
                  <a:ext cx="4537464" cy="449850"/>
                  <a:chOff x="986607" y="3303000"/>
                  <a:chExt cx="4537464" cy="449850"/>
                </a:xfrm>
              </p:grpSpPr>
              <p:cxnSp>
                <p:nvCxnSpPr>
                  <p:cNvPr id="80" name="Gerader Verbinder 79">
                    <a:extLst>
                      <a:ext uri="{FF2B5EF4-FFF2-40B4-BE49-F238E27FC236}">
                        <a16:creationId xmlns:a16="http://schemas.microsoft.com/office/drawing/2014/main" id="{78A37B61-DAA0-4428-88A6-8AA6F8D9E3E6}"/>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1" name="Gerader Verbinder 80">
                    <a:extLst>
                      <a:ext uri="{FF2B5EF4-FFF2-40B4-BE49-F238E27FC236}">
                        <a16:creationId xmlns:a16="http://schemas.microsoft.com/office/drawing/2014/main" id="{EC9A6E1A-9C49-45BE-8B6F-3B5938D429FB}"/>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2" name="Gerader Verbinder 81">
                    <a:extLst>
                      <a:ext uri="{FF2B5EF4-FFF2-40B4-BE49-F238E27FC236}">
                        <a16:creationId xmlns:a16="http://schemas.microsoft.com/office/drawing/2014/main" id="{2462586A-5C32-4855-AC7C-A88BFAA014B3}"/>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3" name="Gerader Verbinder 82">
                    <a:extLst>
                      <a:ext uri="{FF2B5EF4-FFF2-40B4-BE49-F238E27FC236}">
                        <a16:creationId xmlns:a16="http://schemas.microsoft.com/office/drawing/2014/main" id="{4013F670-9FE9-4FD4-AB0A-336119BDE67C}"/>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84" name="Gerader Verbinder 83">
                    <a:extLst>
                      <a:ext uri="{FF2B5EF4-FFF2-40B4-BE49-F238E27FC236}">
                        <a16:creationId xmlns:a16="http://schemas.microsoft.com/office/drawing/2014/main" id="{A415302A-84C4-439F-86F7-52089CE14D77}"/>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85" name="Ellipse 84">
                    <a:extLst>
                      <a:ext uri="{FF2B5EF4-FFF2-40B4-BE49-F238E27FC236}">
                        <a16:creationId xmlns:a16="http://schemas.microsoft.com/office/drawing/2014/main" id="{71544D28-29BC-4563-9AF4-831EA46569E5}"/>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6" name="Ellipse 85">
                    <a:extLst>
                      <a:ext uri="{FF2B5EF4-FFF2-40B4-BE49-F238E27FC236}">
                        <a16:creationId xmlns:a16="http://schemas.microsoft.com/office/drawing/2014/main" id="{6FCC0D57-1120-4AF4-9DAA-91575AC4694D}"/>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7" name="Ellipse 86">
                    <a:extLst>
                      <a:ext uri="{FF2B5EF4-FFF2-40B4-BE49-F238E27FC236}">
                        <a16:creationId xmlns:a16="http://schemas.microsoft.com/office/drawing/2014/main" id="{9B42CD59-CC0A-4654-92AB-5ECDE1414897}"/>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8" name="Ellipse 87">
                    <a:extLst>
                      <a:ext uri="{FF2B5EF4-FFF2-40B4-BE49-F238E27FC236}">
                        <a16:creationId xmlns:a16="http://schemas.microsoft.com/office/drawing/2014/main" id="{EBD76413-22AF-48DC-9131-7BD78492FD1A}"/>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89" name="Ellipse 88">
                    <a:extLst>
                      <a:ext uri="{FF2B5EF4-FFF2-40B4-BE49-F238E27FC236}">
                        <a16:creationId xmlns:a16="http://schemas.microsoft.com/office/drawing/2014/main" id="{AF001431-DBB0-4458-AF1B-6FCC6D934449}"/>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90" name="Ellipse 89">
                    <a:extLst>
                      <a:ext uri="{FF2B5EF4-FFF2-40B4-BE49-F238E27FC236}">
                        <a16:creationId xmlns:a16="http://schemas.microsoft.com/office/drawing/2014/main" id="{F2B87464-258D-45FF-83FE-531B1EE5AFB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91" name="Ellipse 90">
                    <a:extLst>
                      <a:ext uri="{FF2B5EF4-FFF2-40B4-BE49-F238E27FC236}">
                        <a16:creationId xmlns:a16="http://schemas.microsoft.com/office/drawing/2014/main" id="{5111FDC3-9108-4C5E-B416-4C4543539BAE}"/>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92" name="Ellipse 91">
                    <a:extLst>
                      <a:ext uri="{FF2B5EF4-FFF2-40B4-BE49-F238E27FC236}">
                        <a16:creationId xmlns:a16="http://schemas.microsoft.com/office/drawing/2014/main" id="{5BC74AD2-AA02-4555-A0FD-30A9984BEE32}"/>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93" name="Ellipse 92">
                    <a:extLst>
                      <a:ext uri="{FF2B5EF4-FFF2-40B4-BE49-F238E27FC236}">
                        <a16:creationId xmlns:a16="http://schemas.microsoft.com/office/drawing/2014/main" id="{3822D507-01F6-419B-81EC-DCAD50074A55}"/>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76" name="Textfeld 75">
                  <a:extLst>
                    <a:ext uri="{FF2B5EF4-FFF2-40B4-BE49-F238E27FC236}">
                      <a16:creationId xmlns:a16="http://schemas.microsoft.com/office/drawing/2014/main" id="{5941FBA5-45B3-4935-8522-2DB4FB1310C2}"/>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77" name="Textfeld 76">
                  <a:extLst>
                    <a:ext uri="{FF2B5EF4-FFF2-40B4-BE49-F238E27FC236}">
                      <a16:creationId xmlns:a16="http://schemas.microsoft.com/office/drawing/2014/main" id="{2E7E2EF8-AA5D-4428-8C3C-14B7A2068BCD}"/>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78" name="Textfeld 77">
                  <a:extLst>
                    <a:ext uri="{FF2B5EF4-FFF2-40B4-BE49-F238E27FC236}">
                      <a16:creationId xmlns:a16="http://schemas.microsoft.com/office/drawing/2014/main" id="{D4D319B6-D2FF-411F-8ED4-EBD58E75F3E5}"/>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79" name="Textfeld 78">
                  <a:extLst>
                    <a:ext uri="{FF2B5EF4-FFF2-40B4-BE49-F238E27FC236}">
                      <a16:creationId xmlns:a16="http://schemas.microsoft.com/office/drawing/2014/main" id="{061CB36F-884B-49EA-9F18-A0438F7A4FBF}"/>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74" name="Ellipse 73">
                <a:extLst>
                  <a:ext uri="{FF2B5EF4-FFF2-40B4-BE49-F238E27FC236}">
                    <a16:creationId xmlns:a16="http://schemas.microsoft.com/office/drawing/2014/main" id="{F92FE422-7B54-4CC4-B137-E5CD4F26E823}"/>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71" name="Gerade Verbindung mit Pfeil 70">
              <a:extLst>
                <a:ext uri="{FF2B5EF4-FFF2-40B4-BE49-F238E27FC236}">
                  <a16:creationId xmlns:a16="http://schemas.microsoft.com/office/drawing/2014/main" id="{FF76220A-B7C9-410B-8D21-1332E7EAF1A4}"/>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72" name="Textfeld 71">
              <a:extLst>
                <a:ext uri="{FF2B5EF4-FFF2-40B4-BE49-F238E27FC236}">
                  <a16:creationId xmlns:a16="http://schemas.microsoft.com/office/drawing/2014/main" id="{981FC99F-507E-4054-A085-590F2A09BE27}"/>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27674339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2"/>
                <a:stretch>
                  <a:fillRect l="-1250" t="-342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9F38F7A8-5A43-4726-905A-DDC7B25AD925}"/>
                  </a:ext>
                </a:extLst>
              </p:cNvPr>
              <p:cNvSpPr txBox="1"/>
              <p:nvPr/>
            </p:nvSpPr>
            <p:spPr>
              <a:xfrm>
                <a:off x="7915663" y="2887188"/>
                <a:ext cx="4188454" cy="62786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=−0.4 </m:t>
                      </m:r>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0.4</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−0.6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0.6</m:t>
                          </m:r>
                        </m:e>
                      </m:func>
                    </m:oMath>
                  </m:oMathPara>
                </a14:m>
                <a:endParaRPr lang="en-US" sz="14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=0.97</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4" name="Textfeld 23">
                <a:extLst>
                  <a:ext uri="{FF2B5EF4-FFF2-40B4-BE49-F238E27FC236}">
                    <a16:creationId xmlns:a16="http://schemas.microsoft.com/office/drawing/2014/main" id="{9F38F7A8-5A43-4726-905A-DDC7B25AD925}"/>
                  </a:ext>
                </a:extLst>
              </p:cNvPr>
              <p:cNvSpPr txBox="1">
                <a:spLocks noRot="1" noChangeAspect="1" noMove="1" noResize="1" noEditPoints="1" noAdjustHandles="1" noChangeArrowheads="1" noChangeShapeType="1" noTextEdit="1"/>
              </p:cNvSpPr>
              <p:nvPr/>
            </p:nvSpPr>
            <p:spPr>
              <a:xfrm>
                <a:off x="7915663" y="2887188"/>
                <a:ext cx="4188454" cy="627864"/>
              </a:xfrm>
              <a:prstGeom prst="rect">
                <a:avLst/>
              </a:prstGeom>
              <a:blipFill>
                <a:blip r:embed="rId3"/>
                <a:stretch>
                  <a:fillRect l="-873"/>
                </a:stretch>
              </a:blipFill>
            </p:spPr>
            <p:txBody>
              <a:bodyPr/>
              <a:lstStyle/>
              <a:p>
                <a:r>
                  <a:rPr lang="de-DE">
                    <a:noFill/>
                  </a:rPr>
                  <a:t> </a:t>
                </a:r>
              </a:p>
            </p:txBody>
          </p:sp>
        </mc:Fallback>
      </mc:AlternateContent>
      <p:sp>
        <p:nvSpPr>
          <p:cNvPr id="27" name="Rechteck 26">
            <a:extLst>
              <a:ext uri="{FF2B5EF4-FFF2-40B4-BE49-F238E27FC236}">
                <a16:creationId xmlns:a16="http://schemas.microsoft.com/office/drawing/2014/main" id="{5DE6AA34-1D10-4370-BC36-1B33289A7BB6}"/>
              </a:ext>
            </a:extLst>
          </p:cNvPr>
          <p:cNvSpPr/>
          <p:nvPr/>
        </p:nvSpPr>
        <p:spPr bwMode="auto">
          <a:xfrm>
            <a:off x="918225" y="2908206"/>
            <a:ext cx="2821802"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Rechteck 28">
            <a:extLst>
              <a:ext uri="{FF2B5EF4-FFF2-40B4-BE49-F238E27FC236}">
                <a16:creationId xmlns:a16="http://schemas.microsoft.com/office/drawing/2014/main" id="{7AD4CF6A-D6DB-4D84-820C-97919F515AC4}"/>
              </a:ext>
            </a:extLst>
          </p:cNvPr>
          <p:cNvSpPr/>
          <p:nvPr/>
        </p:nvSpPr>
        <p:spPr bwMode="auto">
          <a:xfrm>
            <a:off x="3777063" y="2915601"/>
            <a:ext cx="3902653"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30" name="Gerader Verbinder 29">
            <a:extLst>
              <a:ext uri="{FF2B5EF4-FFF2-40B4-BE49-F238E27FC236}">
                <a16:creationId xmlns:a16="http://schemas.microsoft.com/office/drawing/2014/main" id="{36482E58-7485-4C86-85CF-360ACB1DD281}"/>
              </a:ext>
            </a:extLst>
          </p:cNvPr>
          <p:cNvCxnSpPr/>
          <p:nvPr/>
        </p:nvCxnSpPr>
        <p:spPr bwMode="auto">
          <a:xfrm flipH="1">
            <a:off x="3758176"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32" name="Textfeld 31">
                <a:extLst>
                  <a:ext uri="{FF2B5EF4-FFF2-40B4-BE49-F238E27FC236}">
                    <a16:creationId xmlns:a16="http://schemas.microsoft.com/office/drawing/2014/main" id="{B7CC390A-4A27-4F20-A6D3-FFF007C7A037}"/>
                  </a:ext>
                </a:extLst>
              </p:cNvPr>
              <p:cNvSpPr txBox="1"/>
              <p:nvPr/>
            </p:nvSpPr>
            <p:spPr>
              <a:xfrm>
                <a:off x="611960" y="4660110"/>
                <a:ext cx="2632324" cy="1099275"/>
              </a:xfrm>
              <a:prstGeom prst="rect">
                <a:avLst/>
              </a:prstGeom>
              <a:noFill/>
            </p:spPr>
            <p:txBody>
              <a:bodyPr wrap="none" lIns="0" tIns="0" rIns="0" bIns="0" rtlCol="0">
                <a:spAutoFit/>
              </a:bodyPr>
              <a:lstStyle/>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1.3: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=0.56</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1.6: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0.26</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2" name="Textfeld 31">
                <a:extLst>
                  <a:ext uri="{FF2B5EF4-FFF2-40B4-BE49-F238E27FC236}">
                    <a16:creationId xmlns:a16="http://schemas.microsoft.com/office/drawing/2014/main" id="{B7CC390A-4A27-4F20-A6D3-FFF007C7A037}"/>
                  </a:ext>
                </a:extLst>
              </p:cNvPr>
              <p:cNvSpPr txBox="1">
                <a:spLocks noRot="1" noChangeAspect="1" noMove="1" noResize="1" noEditPoints="1" noAdjustHandles="1" noChangeArrowheads="1" noChangeShapeType="1" noTextEdit="1"/>
              </p:cNvSpPr>
              <p:nvPr/>
            </p:nvSpPr>
            <p:spPr>
              <a:xfrm>
                <a:off x="611960" y="4660110"/>
                <a:ext cx="2632324" cy="1099275"/>
              </a:xfrm>
              <a:prstGeom prst="rect">
                <a:avLst/>
              </a:prstGeom>
              <a:blipFill>
                <a:blip r:embed="rId4"/>
                <a:stretch>
                  <a:fillRect l="-4630" t="-4972" r="-1620"/>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90D5B121-2634-4061-B10E-56C8FF3A9F87}"/>
                  </a:ext>
                </a:extLst>
              </p:cNvPr>
              <p:cNvSpPr txBox="1"/>
              <p:nvPr/>
            </p:nvSpPr>
            <p:spPr>
              <a:xfrm>
                <a:off x="323919" y="4323654"/>
                <a:ext cx="1659813" cy="560731"/>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=0.81</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4" name="Textfeld 33">
                <a:extLst>
                  <a:ext uri="{FF2B5EF4-FFF2-40B4-BE49-F238E27FC236}">
                    <a16:creationId xmlns:a16="http://schemas.microsoft.com/office/drawing/2014/main" id="{90D5B121-2634-4061-B10E-56C8FF3A9F87}"/>
                  </a:ext>
                </a:extLst>
              </p:cNvPr>
              <p:cNvSpPr txBox="1">
                <a:spLocks noRot="1" noChangeAspect="1" noMove="1" noResize="1" noEditPoints="1" noAdjustHandles="1" noChangeArrowheads="1" noChangeShapeType="1" noTextEdit="1"/>
              </p:cNvSpPr>
              <p:nvPr/>
            </p:nvSpPr>
            <p:spPr>
              <a:xfrm>
                <a:off x="323919" y="4323654"/>
                <a:ext cx="1659813" cy="560731"/>
              </a:xfrm>
              <a:prstGeom prst="rect">
                <a:avLst/>
              </a:prstGeom>
              <a:blipFill>
                <a:blip r:embed="rId5"/>
                <a:stretch>
                  <a:fillRect l="-404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5" name="Textfeld 34">
                <a:extLst>
                  <a:ext uri="{FF2B5EF4-FFF2-40B4-BE49-F238E27FC236}">
                    <a16:creationId xmlns:a16="http://schemas.microsoft.com/office/drawing/2014/main" id="{2DF3FBBB-B94D-4B4E-A560-280AC65545F3}"/>
                  </a:ext>
                </a:extLst>
              </p:cNvPr>
              <p:cNvSpPr txBox="1"/>
              <p:nvPr/>
            </p:nvSpPr>
            <p:spPr>
              <a:xfrm>
                <a:off x="3720672" y="4323988"/>
                <a:ext cx="1752788" cy="219740"/>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=0.65</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p:txBody>
          </p:sp>
        </mc:Choice>
        <mc:Fallback xmlns="">
          <p:sp>
            <p:nvSpPr>
              <p:cNvPr id="35" name="Textfeld 34">
                <a:extLst>
                  <a:ext uri="{FF2B5EF4-FFF2-40B4-BE49-F238E27FC236}">
                    <a16:creationId xmlns:a16="http://schemas.microsoft.com/office/drawing/2014/main" id="{2DF3FBBB-B94D-4B4E-A560-280AC65545F3}"/>
                  </a:ext>
                </a:extLst>
              </p:cNvPr>
              <p:cNvSpPr txBox="1">
                <a:spLocks noRot="1" noChangeAspect="1" noMove="1" noResize="1" noEditPoints="1" noAdjustHandles="1" noChangeArrowheads="1" noChangeShapeType="1" noTextEdit="1"/>
              </p:cNvSpPr>
              <p:nvPr/>
            </p:nvSpPr>
            <p:spPr>
              <a:xfrm>
                <a:off x="3720672" y="4323988"/>
                <a:ext cx="1752788" cy="219740"/>
              </a:xfrm>
              <a:prstGeom prst="rect">
                <a:avLst/>
              </a:prstGeom>
              <a:blipFill>
                <a:blip r:embed="rId6"/>
                <a:stretch>
                  <a:fillRect l="-3819" b="-22222"/>
                </a:stretch>
              </a:blipFill>
            </p:spPr>
            <p:txBody>
              <a:bodyPr/>
              <a:lstStyle/>
              <a:p>
                <a:r>
                  <a:rPr lang="de-DE">
                    <a:noFill/>
                  </a:rPr>
                  <a:t> </a:t>
                </a:r>
              </a:p>
            </p:txBody>
          </p:sp>
        </mc:Fallback>
      </mc:AlternateContent>
      <p:cxnSp>
        <p:nvCxnSpPr>
          <p:cNvPr id="37" name="Gerade Verbindung mit Pfeil 36">
            <a:extLst>
              <a:ext uri="{FF2B5EF4-FFF2-40B4-BE49-F238E27FC236}">
                <a16:creationId xmlns:a16="http://schemas.microsoft.com/office/drawing/2014/main" id="{0FD430BB-AF34-4279-ACBC-67FEEEABFD18}"/>
              </a:ext>
            </a:extLst>
          </p:cNvPr>
          <p:cNvCxnSpPr/>
          <p:nvPr/>
        </p:nvCxnSpPr>
        <p:spPr bwMode="auto">
          <a:xfrm>
            <a:off x="1486948" y="3897313"/>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8" name="Gerade Verbindung mit Pfeil 37">
            <a:extLst>
              <a:ext uri="{FF2B5EF4-FFF2-40B4-BE49-F238E27FC236}">
                <a16:creationId xmlns:a16="http://schemas.microsoft.com/office/drawing/2014/main" id="{5A282C43-D76B-4017-9164-2B558E44F5AE}"/>
              </a:ext>
            </a:extLst>
          </p:cNvPr>
          <p:cNvCxnSpPr/>
          <p:nvPr/>
        </p:nvCxnSpPr>
        <p:spPr bwMode="auto">
          <a:xfrm>
            <a:off x="5019055" y="3905378"/>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aphicFrame>
        <p:nvGraphicFramePr>
          <p:cNvPr id="36" name="Diagramm 35">
            <a:extLst>
              <a:ext uri="{FF2B5EF4-FFF2-40B4-BE49-F238E27FC236}">
                <a16:creationId xmlns:a16="http://schemas.microsoft.com/office/drawing/2014/main" id="{8A7E5AA5-3B04-4182-AF70-8B9593368A95}"/>
              </a:ext>
            </a:extLst>
          </p:cNvPr>
          <p:cNvGraphicFramePr>
            <a:graphicFrameLocks/>
          </p:cNvGraphicFramePr>
          <p:nvPr>
            <p:extLst>
              <p:ext uri="{D42A27DB-BD31-4B8C-83A1-F6EECF244321}">
                <p14:modId xmlns:p14="http://schemas.microsoft.com/office/powerpoint/2010/main" val="2003923177"/>
              </p:ext>
            </p:extLst>
          </p:nvPr>
        </p:nvGraphicFramePr>
        <p:xfrm>
          <a:off x="8343715" y="4235406"/>
          <a:ext cx="3287337" cy="2181925"/>
        </p:xfrm>
        <a:graphic>
          <a:graphicData uri="http://schemas.openxmlformats.org/drawingml/2006/chart">
            <c:chart xmlns:c="http://schemas.openxmlformats.org/drawingml/2006/chart" xmlns:r="http://schemas.openxmlformats.org/officeDocument/2006/relationships" r:id="rId7"/>
          </a:graphicData>
        </a:graphic>
      </p:graphicFrame>
      <p:sp>
        <p:nvSpPr>
          <p:cNvPr id="39" name="Ellipse 38">
            <a:extLst>
              <a:ext uri="{FF2B5EF4-FFF2-40B4-BE49-F238E27FC236}">
                <a16:creationId xmlns:a16="http://schemas.microsoft.com/office/drawing/2014/main" id="{4F2AD635-1F0E-4C4D-A0D7-AAC253AB3DA8}"/>
              </a:ext>
            </a:extLst>
          </p:cNvPr>
          <p:cNvSpPr/>
          <p:nvPr/>
        </p:nvSpPr>
        <p:spPr bwMode="auto">
          <a:xfrm>
            <a:off x="10779711" y="4532019"/>
            <a:ext cx="144000" cy="144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0" name="Ellipse 39">
            <a:extLst>
              <a:ext uri="{FF2B5EF4-FFF2-40B4-BE49-F238E27FC236}">
                <a16:creationId xmlns:a16="http://schemas.microsoft.com/office/drawing/2014/main" id="{1B995752-E7D5-4872-8F06-A533DF455C64}"/>
              </a:ext>
            </a:extLst>
          </p:cNvPr>
          <p:cNvSpPr/>
          <p:nvPr/>
        </p:nvSpPr>
        <p:spPr bwMode="auto">
          <a:xfrm>
            <a:off x="9231523" y="4810780"/>
            <a:ext cx="144000" cy="144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1" name="Ellipse 40">
            <a:extLst>
              <a:ext uri="{FF2B5EF4-FFF2-40B4-BE49-F238E27FC236}">
                <a16:creationId xmlns:a16="http://schemas.microsoft.com/office/drawing/2014/main" id="{BFBD5B71-3141-4672-9B69-CDFF9E3B4CB6}"/>
              </a:ext>
            </a:extLst>
          </p:cNvPr>
          <p:cNvSpPr/>
          <p:nvPr/>
        </p:nvSpPr>
        <p:spPr bwMode="auto">
          <a:xfrm>
            <a:off x="11463787" y="5913292"/>
            <a:ext cx="144000" cy="144000"/>
          </a:xfrm>
          <a:prstGeom prst="ellipse">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2" name="Ellipse 41">
            <a:extLst>
              <a:ext uri="{FF2B5EF4-FFF2-40B4-BE49-F238E27FC236}">
                <a16:creationId xmlns:a16="http://schemas.microsoft.com/office/drawing/2014/main" id="{3F01E475-2949-4DD8-ABF8-0F38B8CE4283}"/>
              </a:ext>
            </a:extLst>
          </p:cNvPr>
          <p:cNvSpPr/>
          <p:nvPr/>
        </p:nvSpPr>
        <p:spPr bwMode="auto">
          <a:xfrm>
            <a:off x="9123511" y="4974604"/>
            <a:ext cx="144000" cy="144000"/>
          </a:xfrm>
          <a:prstGeom prst="ellipse">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43" name="Textfeld 42">
                <a:extLst>
                  <a:ext uri="{FF2B5EF4-FFF2-40B4-BE49-F238E27FC236}">
                    <a16:creationId xmlns:a16="http://schemas.microsoft.com/office/drawing/2014/main" id="{7839A057-B99A-4084-8EBC-EA16A3CC2AB9}"/>
                  </a:ext>
                </a:extLst>
              </p:cNvPr>
              <p:cNvSpPr txBox="1"/>
              <p:nvPr/>
            </p:nvSpPr>
            <p:spPr>
              <a:xfrm>
                <a:off x="9425637" y="4796662"/>
                <a:ext cx="1240853" cy="219740"/>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3" name="Textfeld 42">
                <a:extLst>
                  <a:ext uri="{FF2B5EF4-FFF2-40B4-BE49-F238E27FC236}">
                    <a16:creationId xmlns:a16="http://schemas.microsoft.com/office/drawing/2014/main" id="{7839A057-B99A-4084-8EBC-EA16A3CC2AB9}"/>
                  </a:ext>
                </a:extLst>
              </p:cNvPr>
              <p:cNvSpPr txBox="1">
                <a:spLocks noRot="1" noChangeAspect="1" noMove="1" noResize="1" noEditPoints="1" noAdjustHandles="1" noChangeArrowheads="1" noChangeShapeType="1" noTextEdit="1"/>
              </p:cNvSpPr>
              <p:nvPr/>
            </p:nvSpPr>
            <p:spPr>
              <a:xfrm>
                <a:off x="9425637" y="4796662"/>
                <a:ext cx="1240853" cy="219740"/>
              </a:xfrm>
              <a:prstGeom prst="rect">
                <a:avLst/>
              </a:prstGeom>
              <a:blipFill>
                <a:blip r:embed="rId8"/>
                <a:stretch>
                  <a:fillRect l="-3431" r="-490" b="-222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4" name="Textfeld 43">
                <a:extLst>
                  <a:ext uri="{FF2B5EF4-FFF2-40B4-BE49-F238E27FC236}">
                    <a16:creationId xmlns:a16="http://schemas.microsoft.com/office/drawing/2014/main" id="{735BEDA1-86C7-4E9D-85AB-09CE36D65F05}"/>
                  </a:ext>
                </a:extLst>
              </p:cNvPr>
              <p:cNvSpPr txBox="1"/>
              <p:nvPr/>
            </p:nvSpPr>
            <p:spPr>
              <a:xfrm>
                <a:off x="10789593" y="4324309"/>
                <a:ext cx="1171924" cy="219419"/>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4" name="Textfeld 43">
                <a:extLst>
                  <a:ext uri="{FF2B5EF4-FFF2-40B4-BE49-F238E27FC236}">
                    <a16:creationId xmlns:a16="http://schemas.microsoft.com/office/drawing/2014/main" id="{735BEDA1-86C7-4E9D-85AB-09CE36D65F05}"/>
                  </a:ext>
                </a:extLst>
              </p:cNvPr>
              <p:cNvSpPr txBox="1">
                <a:spLocks noRot="1" noChangeAspect="1" noMove="1" noResize="1" noEditPoints="1" noAdjustHandles="1" noChangeArrowheads="1" noChangeShapeType="1" noTextEdit="1"/>
              </p:cNvSpPr>
              <p:nvPr/>
            </p:nvSpPr>
            <p:spPr>
              <a:xfrm>
                <a:off x="10789593" y="4324309"/>
                <a:ext cx="1171924" cy="219419"/>
              </a:xfrm>
              <a:prstGeom prst="rect">
                <a:avLst/>
              </a:prstGeom>
              <a:blipFill>
                <a:blip r:embed="rId9"/>
                <a:stretch>
                  <a:fillRect l="-4167" r="-521" b="-22222"/>
                </a:stretch>
              </a:blipFill>
            </p:spPr>
            <p:txBody>
              <a:bodyPr/>
              <a:lstStyle/>
              <a:p>
                <a:r>
                  <a:rPr lang="de-DE">
                    <a:noFill/>
                  </a:rPr>
                  <a:t> </a:t>
                </a:r>
              </a:p>
            </p:txBody>
          </p:sp>
        </mc:Fallback>
      </mc:AlternateContent>
      <p:grpSp>
        <p:nvGrpSpPr>
          <p:cNvPr id="45" name="Gruppieren 44">
            <a:extLst>
              <a:ext uri="{FF2B5EF4-FFF2-40B4-BE49-F238E27FC236}">
                <a16:creationId xmlns:a16="http://schemas.microsoft.com/office/drawing/2014/main" id="{051468D7-16B2-4D70-BDD8-46A2CD2B83D9}"/>
              </a:ext>
            </a:extLst>
          </p:cNvPr>
          <p:cNvGrpSpPr/>
          <p:nvPr/>
        </p:nvGrpSpPr>
        <p:grpSpPr>
          <a:xfrm>
            <a:off x="987354" y="2972640"/>
            <a:ext cx="7574393" cy="1170602"/>
            <a:chOff x="987354" y="2972640"/>
            <a:chExt cx="7574393" cy="1170602"/>
          </a:xfrm>
        </p:grpSpPr>
        <p:grpSp>
          <p:nvGrpSpPr>
            <p:cNvPr id="46" name="Gruppieren 45">
              <a:extLst>
                <a:ext uri="{FF2B5EF4-FFF2-40B4-BE49-F238E27FC236}">
                  <a16:creationId xmlns:a16="http://schemas.microsoft.com/office/drawing/2014/main" id="{D0CFD27A-BF6E-4B8A-BB55-4D2B7C8F169E}"/>
                </a:ext>
              </a:extLst>
            </p:cNvPr>
            <p:cNvGrpSpPr/>
            <p:nvPr/>
          </p:nvGrpSpPr>
          <p:grpSpPr>
            <a:xfrm>
              <a:off x="987354" y="2972640"/>
              <a:ext cx="6732001" cy="1067982"/>
              <a:chOff x="946888" y="2684869"/>
              <a:chExt cx="6732001" cy="1067982"/>
            </a:xfrm>
          </p:grpSpPr>
          <p:grpSp>
            <p:nvGrpSpPr>
              <p:cNvPr id="49" name="Gruppieren 48">
                <a:extLst>
                  <a:ext uri="{FF2B5EF4-FFF2-40B4-BE49-F238E27FC236}">
                    <a16:creationId xmlns:a16="http://schemas.microsoft.com/office/drawing/2014/main" id="{C28B9F8A-6270-4A98-BE44-FDEF87F00D17}"/>
                  </a:ext>
                </a:extLst>
              </p:cNvPr>
              <p:cNvGrpSpPr/>
              <p:nvPr/>
            </p:nvGrpSpPr>
            <p:grpSpPr>
              <a:xfrm>
                <a:off x="946888" y="2684869"/>
                <a:ext cx="6732001" cy="1067982"/>
                <a:chOff x="986607" y="3303000"/>
                <a:chExt cx="4537464" cy="743507"/>
              </a:xfrm>
            </p:grpSpPr>
            <p:grpSp>
              <p:nvGrpSpPr>
                <p:cNvPr id="51" name="Gruppieren 50">
                  <a:extLst>
                    <a:ext uri="{FF2B5EF4-FFF2-40B4-BE49-F238E27FC236}">
                      <a16:creationId xmlns:a16="http://schemas.microsoft.com/office/drawing/2014/main" id="{BDAA84CA-EEF1-4303-B9A6-5F062FAD1949}"/>
                    </a:ext>
                  </a:extLst>
                </p:cNvPr>
                <p:cNvGrpSpPr/>
                <p:nvPr/>
              </p:nvGrpSpPr>
              <p:grpSpPr>
                <a:xfrm>
                  <a:off x="986607" y="3303000"/>
                  <a:ext cx="4537464" cy="449850"/>
                  <a:chOff x="986607" y="3303000"/>
                  <a:chExt cx="4537464" cy="449850"/>
                </a:xfrm>
              </p:grpSpPr>
              <p:cxnSp>
                <p:nvCxnSpPr>
                  <p:cNvPr id="56" name="Gerader Verbinder 55">
                    <a:extLst>
                      <a:ext uri="{FF2B5EF4-FFF2-40B4-BE49-F238E27FC236}">
                        <a16:creationId xmlns:a16="http://schemas.microsoft.com/office/drawing/2014/main" id="{7CB2E18D-ECCC-42B9-9DA8-6258FA38D778}"/>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r Verbinder 56">
                    <a:extLst>
                      <a:ext uri="{FF2B5EF4-FFF2-40B4-BE49-F238E27FC236}">
                        <a16:creationId xmlns:a16="http://schemas.microsoft.com/office/drawing/2014/main" id="{989E05C2-067A-4E5A-A486-B82EDE0DD54F}"/>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186631AF-7CA6-4082-9B0F-83A45077B005}"/>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r Verbinder 58">
                    <a:extLst>
                      <a:ext uri="{FF2B5EF4-FFF2-40B4-BE49-F238E27FC236}">
                        <a16:creationId xmlns:a16="http://schemas.microsoft.com/office/drawing/2014/main" id="{8762D629-0621-4499-9B2D-D7887CD724F8}"/>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r Verbinder 59">
                    <a:extLst>
                      <a:ext uri="{FF2B5EF4-FFF2-40B4-BE49-F238E27FC236}">
                        <a16:creationId xmlns:a16="http://schemas.microsoft.com/office/drawing/2014/main" id="{648355C8-8907-44A3-A000-BA6F4C49ABA2}"/>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1" name="Ellipse 60">
                    <a:extLst>
                      <a:ext uri="{FF2B5EF4-FFF2-40B4-BE49-F238E27FC236}">
                        <a16:creationId xmlns:a16="http://schemas.microsoft.com/office/drawing/2014/main" id="{FD8A40A8-D9C2-45CA-8B4B-EB09953B36AB}"/>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ADBE0A0A-4751-4E99-93E7-8C69545FE7F2}"/>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3" name="Ellipse 62">
                    <a:extLst>
                      <a:ext uri="{FF2B5EF4-FFF2-40B4-BE49-F238E27FC236}">
                        <a16:creationId xmlns:a16="http://schemas.microsoft.com/office/drawing/2014/main" id="{1C4E8BA8-A4EA-48C9-9CAB-422D7B43699E}"/>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4" name="Ellipse 63">
                    <a:extLst>
                      <a:ext uri="{FF2B5EF4-FFF2-40B4-BE49-F238E27FC236}">
                        <a16:creationId xmlns:a16="http://schemas.microsoft.com/office/drawing/2014/main" id="{AD833E7B-16B2-45BC-A5C8-9BEB5055B79D}"/>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Ellipse 64">
                    <a:extLst>
                      <a:ext uri="{FF2B5EF4-FFF2-40B4-BE49-F238E27FC236}">
                        <a16:creationId xmlns:a16="http://schemas.microsoft.com/office/drawing/2014/main" id="{F88046E3-3AAF-4B93-A6B7-81FFD8850918}"/>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D29D4526-0C87-4C75-9EB7-4E099D46A586}"/>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7" name="Ellipse 66">
                    <a:extLst>
                      <a:ext uri="{FF2B5EF4-FFF2-40B4-BE49-F238E27FC236}">
                        <a16:creationId xmlns:a16="http://schemas.microsoft.com/office/drawing/2014/main" id="{8E364B53-FE2B-449B-B65D-0FC63D2A81D4}"/>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52AB87B8-5E03-4CEC-8410-92170ADC5E72}"/>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9" name="Ellipse 68">
                    <a:extLst>
                      <a:ext uri="{FF2B5EF4-FFF2-40B4-BE49-F238E27FC236}">
                        <a16:creationId xmlns:a16="http://schemas.microsoft.com/office/drawing/2014/main" id="{B53D928B-3793-45F0-AF7B-2DDDB20AD053}"/>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52" name="Textfeld 51">
                  <a:extLst>
                    <a:ext uri="{FF2B5EF4-FFF2-40B4-BE49-F238E27FC236}">
                      <a16:creationId xmlns:a16="http://schemas.microsoft.com/office/drawing/2014/main" id="{ECFE8504-E885-4C76-BE5D-AB7A28AB1DA2}"/>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53" name="Textfeld 52">
                  <a:extLst>
                    <a:ext uri="{FF2B5EF4-FFF2-40B4-BE49-F238E27FC236}">
                      <a16:creationId xmlns:a16="http://schemas.microsoft.com/office/drawing/2014/main" id="{707D6BFB-B56E-49B7-92A7-BFDC869090CA}"/>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54" name="Textfeld 53">
                  <a:extLst>
                    <a:ext uri="{FF2B5EF4-FFF2-40B4-BE49-F238E27FC236}">
                      <a16:creationId xmlns:a16="http://schemas.microsoft.com/office/drawing/2014/main" id="{BB4F6D00-B72C-451E-A9F0-3AAD10AAAC71}"/>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55" name="Textfeld 54">
                  <a:extLst>
                    <a:ext uri="{FF2B5EF4-FFF2-40B4-BE49-F238E27FC236}">
                      <a16:creationId xmlns:a16="http://schemas.microsoft.com/office/drawing/2014/main" id="{C40DA885-AB45-4DF7-ADFC-CC5DA72C8FC1}"/>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50" name="Ellipse 49">
                <a:extLst>
                  <a:ext uri="{FF2B5EF4-FFF2-40B4-BE49-F238E27FC236}">
                    <a16:creationId xmlns:a16="http://schemas.microsoft.com/office/drawing/2014/main" id="{F4FA0F23-FE3C-475B-96E4-17FD7A0A4A19}"/>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47" name="Gerade Verbindung mit Pfeil 46">
              <a:extLst>
                <a:ext uri="{FF2B5EF4-FFF2-40B4-BE49-F238E27FC236}">
                  <a16:creationId xmlns:a16="http://schemas.microsoft.com/office/drawing/2014/main" id="{AFD2E745-71E8-470A-8CC8-BDFE409C8735}"/>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8" name="Textfeld 47">
              <a:extLst>
                <a:ext uri="{FF2B5EF4-FFF2-40B4-BE49-F238E27FC236}">
                  <a16:creationId xmlns:a16="http://schemas.microsoft.com/office/drawing/2014/main" id="{06C1FC4E-C554-4D0C-A5EC-19D54FFF1F32}"/>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152316483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2"/>
                <a:stretch>
                  <a:fillRect l="-1250" t="-342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9F38F7A8-5A43-4726-905A-DDC7B25AD925}"/>
                  </a:ext>
                </a:extLst>
              </p:cNvPr>
              <p:cNvSpPr txBox="1"/>
              <p:nvPr/>
            </p:nvSpPr>
            <p:spPr>
              <a:xfrm>
                <a:off x="7915663" y="2887188"/>
                <a:ext cx="4188454" cy="62786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=−0.4 </m:t>
                      </m:r>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0.4</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−0.6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0.6</m:t>
                          </m:r>
                        </m:e>
                      </m:func>
                    </m:oMath>
                  </m:oMathPara>
                </a14:m>
                <a:endParaRPr lang="en-US" sz="14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=0.97</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4" name="Textfeld 23">
                <a:extLst>
                  <a:ext uri="{FF2B5EF4-FFF2-40B4-BE49-F238E27FC236}">
                    <a16:creationId xmlns:a16="http://schemas.microsoft.com/office/drawing/2014/main" id="{9F38F7A8-5A43-4726-905A-DDC7B25AD925}"/>
                  </a:ext>
                </a:extLst>
              </p:cNvPr>
              <p:cNvSpPr txBox="1">
                <a:spLocks noRot="1" noChangeAspect="1" noMove="1" noResize="1" noEditPoints="1" noAdjustHandles="1" noChangeArrowheads="1" noChangeShapeType="1" noTextEdit="1"/>
              </p:cNvSpPr>
              <p:nvPr/>
            </p:nvSpPr>
            <p:spPr>
              <a:xfrm>
                <a:off x="7915663" y="2887188"/>
                <a:ext cx="4188454" cy="627864"/>
              </a:xfrm>
              <a:prstGeom prst="rect">
                <a:avLst/>
              </a:prstGeom>
              <a:blipFill>
                <a:blip r:embed="rId3"/>
                <a:stretch>
                  <a:fillRect l="-873"/>
                </a:stretch>
              </a:blipFill>
            </p:spPr>
            <p:txBody>
              <a:bodyPr/>
              <a:lstStyle/>
              <a:p>
                <a:r>
                  <a:rPr lang="de-DE">
                    <a:noFill/>
                  </a:rPr>
                  <a:t> </a:t>
                </a:r>
              </a:p>
            </p:txBody>
          </p:sp>
        </mc:Fallback>
      </mc:AlternateContent>
      <p:sp>
        <p:nvSpPr>
          <p:cNvPr id="27" name="Rechteck 26">
            <a:extLst>
              <a:ext uri="{FF2B5EF4-FFF2-40B4-BE49-F238E27FC236}">
                <a16:creationId xmlns:a16="http://schemas.microsoft.com/office/drawing/2014/main" id="{5DE6AA34-1D10-4370-BC36-1B33289A7BB6}"/>
              </a:ext>
            </a:extLst>
          </p:cNvPr>
          <p:cNvSpPr/>
          <p:nvPr/>
        </p:nvSpPr>
        <p:spPr bwMode="auto">
          <a:xfrm>
            <a:off x="918224" y="2908206"/>
            <a:ext cx="3560032"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Rechteck 28">
            <a:extLst>
              <a:ext uri="{FF2B5EF4-FFF2-40B4-BE49-F238E27FC236}">
                <a16:creationId xmlns:a16="http://schemas.microsoft.com/office/drawing/2014/main" id="{7AD4CF6A-D6DB-4D84-820C-97919F515AC4}"/>
              </a:ext>
            </a:extLst>
          </p:cNvPr>
          <p:cNvSpPr/>
          <p:nvPr/>
        </p:nvSpPr>
        <p:spPr bwMode="auto">
          <a:xfrm>
            <a:off x="4498485" y="2915601"/>
            <a:ext cx="3181231"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30" name="Gerader Verbinder 29">
            <a:extLst>
              <a:ext uri="{FF2B5EF4-FFF2-40B4-BE49-F238E27FC236}">
                <a16:creationId xmlns:a16="http://schemas.microsoft.com/office/drawing/2014/main" id="{36482E58-7485-4C86-85CF-360ACB1DD281}"/>
              </a:ext>
            </a:extLst>
          </p:cNvPr>
          <p:cNvCxnSpPr/>
          <p:nvPr/>
        </p:nvCxnSpPr>
        <p:spPr bwMode="auto">
          <a:xfrm flipH="1">
            <a:off x="4478256"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90D5B121-2634-4061-B10E-56C8FF3A9F87}"/>
                  </a:ext>
                </a:extLst>
              </p:cNvPr>
              <p:cNvSpPr txBox="1"/>
              <p:nvPr/>
            </p:nvSpPr>
            <p:spPr>
              <a:xfrm>
                <a:off x="323919" y="4323654"/>
                <a:ext cx="1659813" cy="560731"/>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=0.87</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4" name="Textfeld 33">
                <a:extLst>
                  <a:ext uri="{FF2B5EF4-FFF2-40B4-BE49-F238E27FC236}">
                    <a16:creationId xmlns:a16="http://schemas.microsoft.com/office/drawing/2014/main" id="{90D5B121-2634-4061-B10E-56C8FF3A9F87}"/>
                  </a:ext>
                </a:extLst>
              </p:cNvPr>
              <p:cNvSpPr txBox="1">
                <a:spLocks noRot="1" noChangeAspect="1" noMove="1" noResize="1" noEditPoints="1" noAdjustHandles="1" noChangeArrowheads="1" noChangeShapeType="1" noTextEdit="1"/>
              </p:cNvSpPr>
              <p:nvPr/>
            </p:nvSpPr>
            <p:spPr>
              <a:xfrm>
                <a:off x="323919" y="4323654"/>
                <a:ext cx="1659813" cy="560731"/>
              </a:xfrm>
              <a:prstGeom prst="rect">
                <a:avLst/>
              </a:prstGeom>
              <a:blipFill>
                <a:blip r:embed="rId4"/>
                <a:stretch>
                  <a:fillRect l="-404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5" name="Textfeld 34">
                <a:extLst>
                  <a:ext uri="{FF2B5EF4-FFF2-40B4-BE49-F238E27FC236}">
                    <a16:creationId xmlns:a16="http://schemas.microsoft.com/office/drawing/2014/main" id="{2DF3FBBB-B94D-4B4E-A560-280AC65545F3}"/>
                  </a:ext>
                </a:extLst>
              </p:cNvPr>
              <p:cNvSpPr txBox="1"/>
              <p:nvPr/>
            </p:nvSpPr>
            <p:spPr>
              <a:xfrm>
                <a:off x="3720672" y="4323988"/>
                <a:ext cx="1752788" cy="219740"/>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=0.72</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p:txBody>
          </p:sp>
        </mc:Choice>
        <mc:Fallback xmlns="">
          <p:sp>
            <p:nvSpPr>
              <p:cNvPr id="35" name="Textfeld 34">
                <a:extLst>
                  <a:ext uri="{FF2B5EF4-FFF2-40B4-BE49-F238E27FC236}">
                    <a16:creationId xmlns:a16="http://schemas.microsoft.com/office/drawing/2014/main" id="{2DF3FBBB-B94D-4B4E-A560-280AC65545F3}"/>
                  </a:ext>
                </a:extLst>
              </p:cNvPr>
              <p:cNvSpPr txBox="1">
                <a:spLocks noRot="1" noChangeAspect="1" noMove="1" noResize="1" noEditPoints="1" noAdjustHandles="1" noChangeArrowheads="1" noChangeShapeType="1" noTextEdit="1"/>
              </p:cNvSpPr>
              <p:nvPr/>
            </p:nvSpPr>
            <p:spPr>
              <a:xfrm>
                <a:off x="3720672" y="4323988"/>
                <a:ext cx="1752788" cy="219740"/>
              </a:xfrm>
              <a:prstGeom prst="rect">
                <a:avLst/>
              </a:prstGeom>
              <a:blipFill>
                <a:blip r:embed="rId5"/>
                <a:stretch>
                  <a:fillRect l="-3819" b="-22222"/>
                </a:stretch>
              </a:blipFill>
            </p:spPr>
            <p:txBody>
              <a:bodyPr/>
              <a:lstStyle/>
              <a:p>
                <a:r>
                  <a:rPr lang="de-DE">
                    <a:noFill/>
                  </a:rPr>
                  <a:t> </a:t>
                </a:r>
              </a:p>
            </p:txBody>
          </p:sp>
        </mc:Fallback>
      </mc:AlternateContent>
      <p:cxnSp>
        <p:nvCxnSpPr>
          <p:cNvPr id="37" name="Gerade Verbindung mit Pfeil 36">
            <a:extLst>
              <a:ext uri="{FF2B5EF4-FFF2-40B4-BE49-F238E27FC236}">
                <a16:creationId xmlns:a16="http://schemas.microsoft.com/office/drawing/2014/main" id="{0FD430BB-AF34-4279-ACBC-67FEEEABFD18}"/>
              </a:ext>
            </a:extLst>
          </p:cNvPr>
          <p:cNvCxnSpPr/>
          <p:nvPr/>
        </p:nvCxnSpPr>
        <p:spPr bwMode="auto">
          <a:xfrm>
            <a:off x="1486948" y="3897313"/>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8" name="Gerade Verbindung mit Pfeil 37">
            <a:extLst>
              <a:ext uri="{FF2B5EF4-FFF2-40B4-BE49-F238E27FC236}">
                <a16:creationId xmlns:a16="http://schemas.microsoft.com/office/drawing/2014/main" id="{5A282C43-D76B-4017-9164-2B558E44F5AE}"/>
              </a:ext>
            </a:extLst>
          </p:cNvPr>
          <p:cNvCxnSpPr/>
          <p:nvPr/>
        </p:nvCxnSpPr>
        <p:spPr bwMode="auto">
          <a:xfrm>
            <a:off x="5019055" y="3905378"/>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36" name="Textfeld 35">
                <a:extLst>
                  <a:ext uri="{FF2B5EF4-FFF2-40B4-BE49-F238E27FC236}">
                    <a16:creationId xmlns:a16="http://schemas.microsoft.com/office/drawing/2014/main" id="{6F958E96-021B-4A13-85D1-2C837F910F01}"/>
                  </a:ext>
                </a:extLst>
              </p:cNvPr>
              <p:cNvSpPr txBox="1"/>
              <p:nvPr/>
            </p:nvSpPr>
            <p:spPr>
              <a:xfrm>
                <a:off x="611960" y="4660110"/>
                <a:ext cx="2632324" cy="1524007"/>
              </a:xfrm>
              <a:prstGeom prst="rect">
                <a:avLst/>
              </a:prstGeom>
              <a:noFill/>
            </p:spPr>
            <p:txBody>
              <a:bodyPr wrap="none" lIns="0" tIns="0" rIns="0" bIns="0" rtlCol="0">
                <a:spAutoFit/>
              </a:bodyPr>
              <a:lstStyle/>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1.3: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=0.56</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1.6: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0.26</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2.0: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12</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6" name="Textfeld 35">
                <a:extLst>
                  <a:ext uri="{FF2B5EF4-FFF2-40B4-BE49-F238E27FC236}">
                    <a16:creationId xmlns:a16="http://schemas.microsoft.com/office/drawing/2014/main" id="{6F958E96-021B-4A13-85D1-2C837F910F01}"/>
                  </a:ext>
                </a:extLst>
              </p:cNvPr>
              <p:cNvSpPr txBox="1">
                <a:spLocks noRot="1" noChangeAspect="1" noMove="1" noResize="1" noEditPoints="1" noAdjustHandles="1" noChangeArrowheads="1" noChangeShapeType="1" noTextEdit="1"/>
              </p:cNvSpPr>
              <p:nvPr/>
            </p:nvSpPr>
            <p:spPr>
              <a:xfrm>
                <a:off x="611960" y="4660110"/>
                <a:ext cx="2632324" cy="1524007"/>
              </a:xfrm>
              <a:prstGeom prst="rect">
                <a:avLst/>
              </a:prstGeom>
              <a:blipFill>
                <a:blip r:embed="rId6"/>
                <a:stretch>
                  <a:fillRect l="-4630" t="-3600" r="-1620"/>
                </a:stretch>
              </a:blipFill>
            </p:spPr>
            <p:txBody>
              <a:bodyPr/>
              <a:lstStyle/>
              <a:p>
                <a:r>
                  <a:rPr lang="de-DE">
                    <a:noFill/>
                  </a:rPr>
                  <a:t> </a:t>
                </a:r>
              </a:p>
            </p:txBody>
          </p:sp>
        </mc:Fallback>
      </mc:AlternateContent>
      <p:graphicFrame>
        <p:nvGraphicFramePr>
          <p:cNvPr id="39" name="Diagramm 38">
            <a:extLst>
              <a:ext uri="{FF2B5EF4-FFF2-40B4-BE49-F238E27FC236}">
                <a16:creationId xmlns:a16="http://schemas.microsoft.com/office/drawing/2014/main" id="{895111E9-EE47-41C3-A634-ACA7F2666B01}"/>
              </a:ext>
            </a:extLst>
          </p:cNvPr>
          <p:cNvGraphicFramePr>
            <a:graphicFrameLocks/>
          </p:cNvGraphicFramePr>
          <p:nvPr>
            <p:extLst>
              <p:ext uri="{D42A27DB-BD31-4B8C-83A1-F6EECF244321}">
                <p14:modId xmlns:p14="http://schemas.microsoft.com/office/powerpoint/2010/main" val="4169251454"/>
              </p:ext>
            </p:extLst>
          </p:nvPr>
        </p:nvGraphicFramePr>
        <p:xfrm>
          <a:off x="8343715" y="4235406"/>
          <a:ext cx="3287337" cy="2181925"/>
        </p:xfrm>
        <a:graphic>
          <a:graphicData uri="http://schemas.openxmlformats.org/drawingml/2006/chart">
            <c:chart xmlns:c="http://schemas.openxmlformats.org/drawingml/2006/chart" xmlns:r="http://schemas.openxmlformats.org/officeDocument/2006/relationships" r:id="rId7"/>
          </a:graphicData>
        </a:graphic>
      </p:graphicFrame>
      <p:sp>
        <p:nvSpPr>
          <p:cNvPr id="40" name="Ellipse 39">
            <a:extLst>
              <a:ext uri="{FF2B5EF4-FFF2-40B4-BE49-F238E27FC236}">
                <a16:creationId xmlns:a16="http://schemas.microsoft.com/office/drawing/2014/main" id="{0FB89FC7-635E-463D-9AB4-C245CC95EBFF}"/>
              </a:ext>
            </a:extLst>
          </p:cNvPr>
          <p:cNvSpPr/>
          <p:nvPr/>
        </p:nvSpPr>
        <p:spPr bwMode="auto">
          <a:xfrm>
            <a:off x="10428891" y="4331719"/>
            <a:ext cx="144000" cy="144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1" name="Ellipse 40">
            <a:extLst>
              <a:ext uri="{FF2B5EF4-FFF2-40B4-BE49-F238E27FC236}">
                <a16:creationId xmlns:a16="http://schemas.microsoft.com/office/drawing/2014/main" id="{6D98765D-2DEC-4625-B43C-C65D8C5ED6B5}"/>
              </a:ext>
            </a:extLst>
          </p:cNvPr>
          <p:cNvSpPr/>
          <p:nvPr/>
        </p:nvSpPr>
        <p:spPr bwMode="auto">
          <a:xfrm>
            <a:off x="9308588" y="4725144"/>
            <a:ext cx="144000" cy="144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2" name="Ellipse 41">
            <a:extLst>
              <a:ext uri="{FF2B5EF4-FFF2-40B4-BE49-F238E27FC236}">
                <a16:creationId xmlns:a16="http://schemas.microsoft.com/office/drawing/2014/main" id="{11692A3E-683A-4F44-8EEC-28A814897434}"/>
              </a:ext>
            </a:extLst>
          </p:cNvPr>
          <p:cNvSpPr/>
          <p:nvPr/>
        </p:nvSpPr>
        <p:spPr bwMode="auto">
          <a:xfrm>
            <a:off x="11463787" y="5913292"/>
            <a:ext cx="144000" cy="144000"/>
          </a:xfrm>
          <a:prstGeom prst="ellipse">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3" name="Ellipse 42">
            <a:extLst>
              <a:ext uri="{FF2B5EF4-FFF2-40B4-BE49-F238E27FC236}">
                <a16:creationId xmlns:a16="http://schemas.microsoft.com/office/drawing/2014/main" id="{093ED083-45AA-4807-A388-782CD592F88F}"/>
              </a:ext>
            </a:extLst>
          </p:cNvPr>
          <p:cNvSpPr/>
          <p:nvPr/>
        </p:nvSpPr>
        <p:spPr bwMode="auto">
          <a:xfrm>
            <a:off x="9123511" y="4974604"/>
            <a:ext cx="144000" cy="144000"/>
          </a:xfrm>
          <a:prstGeom prst="ellipse">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4" name="Ellipse 43">
            <a:extLst>
              <a:ext uri="{FF2B5EF4-FFF2-40B4-BE49-F238E27FC236}">
                <a16:creationId xmlns:a16="http://schemas.microsoft.com/office/drawing/2014/main" id="{FD050BB8-1AEC-4DE2-BFF1-383DE5145225}"/>
              </a:ext>
            </a:extLst>
          </p:cNvPr>
          <p:cNvSpPr/>
          <p:nvPr/>
        </p:nvSpPr>
        <p:spPr bwMode="auto">
          <a:xfrm>
            <a:off x="10779711" y="4532019"/>
            <a:ext cx="144000" cy="144000"/>
          </a:xfrm>
          <a:prstGeom prst="ellipse">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5" name="Ellipse 44">
            <a:extLst>
              <a:ext uri="{FF2B5EF4-FFF2-40B4-BE49-F238E27FC236}">
                <a16:creationId xmlns:a16="http://schemas.microsoft.com/office/drawing/2014/main" id="{652AFC6C-3335-4F4E-9A35-738CA4F5479C}"/>
              </a:ext>
            </a:extLst>
          </p:cNvPr>
          <p:cNvSpPr/>
          <p:nvPr/>
        </p:nvSpPr>
        <p:spPr bwMode="auto">
          <a:xfrm>
            <a:off x="9231523" y="4810780"/>
            <a:ext cx="144000" cy="144000"/>
          </a:xfrm>
          <a:prstGeom prst="ellipse">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46" name="Textfeld 45">
                <a:extLst>
                  <a:ext uri="{FF2B5EF4-FFF2-40B4-BE49-F238E27FC236}">
                    <a16:creationId xmlns:a16="http://schemas.microsoft.com/office/drawing/2014/main" id="{7E78169A-0E1A-474E-B604-A7BB008EAFAD}"/>
                  </a:ext>
                </a:extLst>
              </p:cNvPr>
              <p:cNvSpPr txBox="1"/>
              <p:nvPr/>
            </p:nvSpPr>
            <p:spPr>
              <a:xfrm>
                <a:off x="9521409" y="4760070"/>
                <a:ext cx="1240853" cy="219740"/>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6" name="Textfeld 45">
                <a:extLst>
                  <a:ext uri="{FF2B5EF4-FFF2-40B4-BE49-F238E27FC236}">
                    <a16:creationId xmlns:a16="http://schemas.microsoft.com/office/drawing/2014/main" id="{7E78169A-0E1A-474E-B604-A7BB008EAFAD}"/>
                  </a:ext>
                </a:extLst>
              </p:cNvPr>
              <p:cNvSpPr txBox="1">
                <a:spLocks noRot="1" noChangeAspect="1" noMove="1" noResize="1" noEditPoints="1" noAdjustHandles="1" noChangeArrowheads="1" noChangeShapeType="1" noTextEdit="1"/>
              </p:cNvSpPr>
              <p:nvPr/>
            </p:nvSpPr>
            <p:spPr>
              <a:xfrm>
                <a:off x="9521409" y="4760070"/>
                <a:ext cx="1240853" cy="219740"/>
              </a:xfrm>
              <a:prstGeom prst="rect">
                <a:avLst/>
              </a:prstGeom>
              <a:blipFill>
                <a:blip r:embed="rId8"/>
                <a:stretch>
                  <a:fillRect l="-3941" r="-493" b="-222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47" name="Textfeld 46">
                <a:extLst>
                  <a:ext uri="{FF2B5EF4-FFF2-40B4-BE49-F238E27FC236}">
                    <a16:creationId xmlns:a16="http://schemas.microsoft.com/office/drawing/2014/main" id="{D1A7303D-CA1C-4877-826C-547DEE45DAC8}"/>
                  </a:ext>
                </a:extLst>
              </p:cNvPr>
              <p:cNvSpPr txBox="1"/>
              <p:nvPr/>
            </p:nvSpPr>
            <p:spPr>
              <a:xfrm>
                <a:off x="10521869" y="4084414"/>
                <a:ext cx="1171924" cy="219419"/>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7" name="Textfeld 46">
                <a:extLst>
                  <a:ext uri="{FF2B5EF4-FFF2-40B4-BE49-F238E27FC236}">
                    <a16:creationId xmlns:a16="http://schemas.microsoft.com/office/drawing/2014/main" id="{D1A7303D-CA1C-4877-826C-547DEE45DAC8}"/>
                  </a:ext>
                </a:extLst>
              </p:cNvPr>
              <p:cNvSpPr txBox="1">
                <a:spLocks noRot="1" noChangeAspect="1" noMove="1" noResize="1" noEditPoints="1" noAdjustHandles="1" noChangeArrowheads="1" noChangeShapeType="1" noTextEdit="1"/>
              </p:cNvSpPr>
              <p:nvPr/>
            </p:nvSpPr>
            <p:spPr>
              <a:xfrm>
                <a:off x="10521869" y="4084414"/>
                <a:ext cx="1171924" cy="219419"/>
              </a:xfrm>
              <a:prstGeom prst="rect">
                <a:avLst/>
              </a:prstGeom>
              <a:blipFill>
                <a:blip r:embed="rId9"/>
                <a:stretch>
                  <a:fillRect l="-3646" r="-1042" b="-22222"/>
                </a:stretch>
              </a:blipFill>
            </p:spPr>
            <p:txBody>
              <a:bodyPr/>
              <a:lstStyle/>
              <a:p>
                <a:r>
                  <a:rPr lang="de-DE">
                    <a:noFill/>
                  </a:rPr>
                  <a:t> </a:t>
                </a:r>
              </a:p>
            </p:txBody>
          </p:sp>
        </mc:Fallback>
      </mc:AlternateContent>
      <p:grpSp>
        <p:nvGrpSpPr>
          <p:cNvPr id="48" name="Gruppieren 47">
            <a:extLst>
              <a:ext uri="{FF2B5EF4-FFF2-40B4-BE49-F238E27FC236}">
                <a16:creationId xmlns:a16="http://schemas.microsoft.com/office/drawing/2014/main" id="{63331B67-BC4A-497B-BE8E-A6086F6F4E93}"/>
              </a:ext>
            </a:extLst>
          </p:cNvPr>
          <p:cNvGrpSpPr/>
          <p:nvPr/>
        </p:nvGrpSpPr>
        <p:grpSpPr>
          <a:xfrm>
            <a:off x="987354" y="2972640"/>
            <a:ext cx="7574393" cy="1170602"/>
            <a:chOff x="987354" y="2972640"/>
            <a:chExt cx="7574393" cy="1170602"/>
          </a:xfrm>
        </p:grpSpPr>
        <p:grpSp>
          <p:nvGrpSpPr>
            <p:cNvPr id="49" name="Gruppieren 48">
              <a:extLst>
                <a:ext uri="{FF2B5EF4-FFF2-40B4-BE49-F238E27FC236}">
                  <a16:creationId xmlns:a16="http://schemas.microsoft.com/office/drawing/2014/main" id="{9FB7EA27-DE04-4F0F-AD9B-90515DABEDBA}"/>
                </a:ext>
              </a:extLst>
            </p:cNvPr>
            <p:cNvGrpSpPr/>
            <p:nvPr/>
          </p:nvGrpSpPr>
          <p:grpSpPr>
            <a:xfrm>
              <a:off x="987354" y="2972640"/>
              <a:ext cx="6732001" cy="1067982"/>
              <a:chOff x="946888" y="2684869"/>
              <a:chExt cx="6732001" cy="1067982"/>
            </a:xfrm>
          </p:grpSpPr>
          <p:grpSp>
            <p:nvGrpSpPr>
              <p:cNvPr id="52" name="Gruppieren 51">
                <a:extLst>
                  <a:ext uri="{FF2B5EF4-FFF2-40B4-BE49-F238E27FC236}">
                    <a16:creationId xmlns:a16="http://schemas.microsoft.com/office/drawing/2014/main" id="{028E63A5-2882-4273-AF75-CC47A3E37897}"/>
                  </a:ext>
                </a:extLst>
              </p:cNvPr>
              <p:cNvGrpSpPr/>
              <p:nvPr/>
            </p:nvGrpSpPr>
            <p:grpSpPr>
              <a:xfrm>
                <a:off x="946888" y="2684869"/>
                <a:ext cx="6732001" cy="1067982"/>
                <a:chOff x="986607" y="3303000"/>
                <a:chExt cx="4537464" cy="743507"/>
              </a:xfrm>
            </p:grpSpPr>
            <p:grpSp>
              <p:nvGrpSpPr>
                <p:cNvPr id="54" name="Gruppieren 53">
                  <a:extLst>
                    <a:ext uri="{FF2B5EF4-FFF2-40B4-BE49-F238E27FC236}">
                      <a16:creationId xmlns:a16="http://schemas.microsoft.com/office/drawing/2014/main" id="{B75786AB-43B0-4734-914F-D9A4D2FD8872}"/>
                    </a:ext>
                  </a:extLst>
                </p:cNvPr>
                <p:cNvGrpSpPr/>
                <p:nvPr/>
              </p:nvGrpSpPr>
              <p:grpSpPr>
                <a:xfrm>
                  <a:off x="986607" y="3303000"/>
                  <a:ext cx="4537464" cy="449850"/>
                  <a:chOff x="986607" y="3303000"/>
                  <a:chExt cx="4537464" cy="449850"/>
                </a:xfrm>
              </p:grpSpPr>
              <p:cxnSp>
                <p:nvCxnSpPr>
                  <p:cNvPr id="59" name="Gerader Verbinder 58">
                    <a:extLst>
                      <a:ext uri="{FF2B5EF4-FFF2-40B4-BE49-F238E27FC236}">
                        <a16:creationId xmlns:a16="http://schemas.microsoft.com/office/drawing/2014/main" id="{AA52917C-C9A9-439E-A5AD-158E9E689635}"/>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r Verbinder 59">
                    <a:extLst>
                      <a:ext uri="{FF2B5EF4-FFF2-40B4-BE49-F238E27FC236}">
                        <a16:creationId xmlns:a16="http://schemas.microsoft.com/office/drawing/2014/main" id="{F7B6E0B8-971F-4E08-810B-58C916C63E33}"/>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1" name="Gerader Verbinder 60">
                    <a:extLst>
                      <a:ext uri="{FF2B5EF4-FFF2-40B4-BE49-F238E27FC236}">
                        <a16:creationId xmlns:a16="http://schemas.microsoft.com/office/drawing/2014/main" id="{824A337B-C0BD-4361-9364-333CC78CDA7E}"/>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2" name="Gerader Verbinder 61">
                    <a:extLst>
                      <a:ext uri="{FF2B5EF4-FFF2-40B4-BE49-F238E27FC236}">
                        <a16:creationId xmlns:a16="http://schemas.microsoft.com/office/drawing/2014/main" id="{DFF54EFA-821A-4F66-9C8A-E6EFC73C44F6}"/>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r Verbinder 62">
                    <a:extLst>
                      <a:ext uri="{FF2B5EF4-FFF2-40B4-BE49-F238E27FC236}">
                        <a16:creationId xmlns:a16="http://schemas.microsoft.com/office/drawing/2014/main" id="{A2E21E9F-F549-4AAD-81CC-D29FCE51011E}"/>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4" name="Ellipse 63">
                    <a:extLst>
                      <a:ext uri="{FF2B5EF4-FFF2-40B4-BE49-F238E27FC236}">
                        <a16:creationId xmlns:a16="http://schemas.microsoft.com/office/drawing/2014/main" id="{EC871873-9CEB-4B17-877C-7EC5E76CBBDD}"/>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Ellipse 64">
                    <a:extLst>
                      <a:ext uri="{FF2B5EF4-FFF2-40B4-BE49-F238E27FC236}">
                        <a16:creationId xmlns:a16="http://schemas.microsoft.com/office/drawing/2014/main" id="{23551F86-6AE4-4402-951B-8AC31C722CA4}"/>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4B8A4729-38D2-4CFD-B178-6D5DA1679857}"/>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7" name="Ellipse 66">
                    <a:extLst>
                      <a:ext uri="{FF2B5EF4-FFF2-40B4-BE49-F238E27FC236}">
                        <a16:creationId xmlns:a16="http://schemas.microsoft.com/office/drawing/2014/main" id="{4FBE6421-2310-4C6D-857B-8B254C336D4D}"/>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E1B9881E-6AB3-464D-AE70-E04BC26E041F}"/>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9" name="Ellipse 68">
                    <a:extLst>
                      <a:ext uri="{FF2B5EF4-FFF2-40B4-BE49-F238E27FC236}">
                        <a16:creationId xmlns:a16="http://schemas.microsoft.com/office/drawing/2014/main" id="{02FF535C-91CD-46F6-A9C4-9B1B0A0EC851}"/>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0" name="Ellipse 69">
                    <a:extLst>
                      <a:ext uri="{FF2B5EF4-FFF2-40B4-BE49-F238E27FC236}">
                        <a16:creationId xmlns:a16="http://schemas.microsoft.com/office/drawing/2014/main" id="{EB6972F6-577A-4EBD-ACFD-9A182454F0AC}"/>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1" name="Ellipse 70">
                    <a:extLst>
                      <a:ext uri="{FF2B5EF4-FFF2-40B4-BE49-F238E27FC236}">
                        <a16:creationId xmlns:a16="http://schemas.microsoft.com/office/drawing/2014/main" id="{E9C25727-E05D-462B-9B77-C5F18BD608FA}"/>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2" name="Ellipse 71">
                    <a:extLst>
                      <a:ext uri="{FF2B5EF4-FFF2-40B4-BE49-F238E27FC236}">
                        <a16:creationId xmlns:a16="http://schemas.microsoft.com/office/drawing/2014/main" id="{8A31A575-DE98-462C-805B-74CA8486BA89}"/>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55" name="Textfeld 54">
                  <a:extLst>
                    <a:ext uri="{FF2B5EF4-FFF2-40B4-BE49-F238E27FC236}">
                      <a16:creationId xmlns:a16="http://schemas.microsoft.com/office/drawing/2014/main" id="{7070B67A-DC5C-43B4-81D6-FE76056E31EF}"/>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56" name="Textfeld 55">
                  <a:extLst>
                    <a:ext uri="{FF2B5EF4-FFF2-40B4-BE49-F238E27FC236}">
                      <a16:creationId xmlns:a16="http://schemas.microsoft.com/office/drawing/2014/main" id="{FF9E6D37-2B1A-468C-B572-CCBD659BC193}"/>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57" name="Textfeld 56">
                  <a:extLst>
                    <a:ext uri="{FF2B5EF4-FFF2-40B4-BE49-F238E27FC236}">
                      <a16:creationId xmlns:a16="http://schemas.microsoft.com/office/drawing/2014/main" id="{69C497A0-0B15-467E-AAC7-84ED077BFC97}"/>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58" name="Textfeld 57">
                  <a:extLst>
                    <a:ext uri="{FF2B5EF4-FFF2-40B4-BE49-F238E27FC236}">
                      <a16:creationId xmlns:a16="http://schemas.microsoft.com/office/drawing/2014/main" id="{BF5F5867-FDFD-41BE-8B92-4A5E8F93A55F}"/>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53" name="Ellipse 52">
                <a:extLst>
                  <a:ext uri="{FF2B5EF4-FFF2-40B4-BE49-F238E27FC236}">
                    <a16:creationId xmlns:a16="http://schemas.microsoft.com/office/drawing/2014/main" id="{86FF6CAD-83B7-4118-98A3-3FFC50A5BA9C}"/>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50" name="Gerade Verbindung mit Pfeil 49">
              <a:extLst>
                <a:ext uri="{FF2B5EF4-FFF2-40B4-BE49-F238E27FC236}">
                  <a16:creationId xmlns:a16="http://schemas.microsoft.com/office/drawing/2014/main" id="{97423995-9048-4619-A8BA-C35E766D8D45}"/>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1" name="Textfeld 50">
              <a:extLst>
                <a:ext uri="{FF2B5EF4-FFF2-40B4-BE49-F238E27FC236}">
                  <a16:creationId xmlns:a16="http://schemas.microsoft.com/office/drawing/2014/main" id="{D55ED2BF-B146-4C3D-B010-F0B808F6AE79}"/>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33309033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2"/>
                <a:stretch>
                  <a:fillRect l="-1250" t="-3425"/>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24" name="Textfeld 23">
                <a:extLst>
                  <a:ext uri="{FF2B5EF4-FFF2-40B4-BE49-F238E27FC236}">
                    <a16:creationId xmlns:a16="http://schemas.microsoft.com/office/drawing/2014/main" id="{9F38F7A8-5A43-4726-905A-DDC7B25AD925}"/>
                  </a:ext>
                </a:extLst>
              </p:cNvPr>
              <p:cNvSpPr txBox="1"/>
              <p:nvPr/>
            </p:nvSpPr>
            <p:spPr>
              <a:xfrm>
                <a:off x="7915663" y="2887188"/>
                <a:ext cx="4188454" cy="627864"/>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=−0.4 </m:t>
                      </m:r>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0.4</m:t>
                          </m:r>
                        </m:e>
                      </m:func>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−0.6 ∙</m:t>
                      </m:r>
                      <m:func>
                        <m:func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uncPr>
                        <m:fName>
                          <m:sSub>
                            <m:sSubPr>
                              <m:ctrlP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sSubPr>
                            <m:e>
                              <m:r>
                                <m:rPr>
                                  <m:sty m:val="p"/>
                                </m:rPr>
                                <a:rPr lang="en-US" sz="1400" b="0" i="0"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log</m:t>
                              </m:r>
                            </m:e>
                            <m:sub>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sub>
                          </m:sSub>
                        </m:fName>
                        <m:e>
                          <m:r>
                            <a:rPr lang="en-US" sz="14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0.6</m:t>
                          </m:r>
                        </m:e>
                      </m:func>
                    </m:oMath>
                  </m:oMathPara>
                </a14:m>
                <a:endParaRPr lang="en-US" sz="1400" b="0">
                  <a:solidFill>
                    <a:schemeClr val="tx1"/>
                  </a:solidFill>
                  <a:latin typeface="+mn-lt"/>
                  <a:ea typeface="Cambria Math" panose="02040503050406030204" pitchFamily="18" charset="0"/>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4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4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=0.97</m:t>
                      </m:r>
                    </m:oMath>
                  </m:oMathPara>
                </a14:m>
                <a:endParaRPr lang="en-US" sz="14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4" name="Textfeld 23">
                <a:extLst>
                  <a:ext uri="{FF2B5EF4-FFF2-40B4-BE49-F238E27FC236}">
                    <a16:creationId xmlns:a16="http://schemas.microsoft.com/office/drawing/2014/main" id="{9F38F7A8-5A43-4726-905A-DDC7B25AD925}"/>
                  </a:ext>
                </a:extLst>
              </p:cNvPr>
              <p:cNvSpPr txBox="1">
                <a:spLocks noRot="1" noChangeAspect="1" noMove="1" noResize="1" noEditPoints="1" noAdjustHandles="1" noChangeArrowheads="1" noChangeShapeType="1" noTextEdit="1"/>
              </p:cNvSpPr>
              <p:nvPr/>
            </p:nvSpPr>
            <p:spPr>
              <a:xfrm>
                <a:off x="7915663" y="2887188"/>
                <a:ext cx="4188454" cy="627864"/>
              </a:xfrm>
              <a:prstGeom prst="rect">
                <a:avLst/>
              </a:prstGeom>
              <a:blipFill>
                <a:blip r:embed="rId3"/>
                <a:stretch>
                  <a:fillRect l="-873"/>
                </a:stretch>
              </a:blipFill>
            </p:spPr>
            <p:txBody>
              <a:bodyPr/>
              <a:lstStyle/>
              <a:p>
                <a:r>
                  <a:rPr lang="de-DE">
                    <a:noFill/>
                  </a:rPr>
                  <a:t> </a:t>
                </a:r>
              </a:p>
            </p:txBody>
          </p:sp>
        </mc:Fallback>
      </mc:AlternateContent>
      <p:sp>
        <p:nvSpPr>
          <p:cNvPr id="27" name="Rechteck 26">
            <a:extLst>
              <a:ext uri="{FF2B5EF4-FFF2-40B4-BE49-F238E27FC236}">
                <a16:creationId xmlns:a16="http://schemas.microsoft.com/office/drawing/2014/main" id="{5DE6AA34-1D10-4370-BC36-1B33289A7BB6}"/>
              </a:ext>
            </a:extLst>
          </p:cNvPr>
          <p:cNvSpPr/>
          <p:nvPr/>
        </p:nvSpPr>
        <p:spPr bwMode="auto">
          <a:xfrm>
            <a:off x="918224" y="2908206"/>
            <a:ext cx="4112685"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Rechteck 28">
            <a:extLst>
              <a:ext uri="{FF2B5EF4-FFF2-40B4-BE49-F238E27FC236}">
                <a16:creationId xmlns:a16="http://schemas.microsoft.com/office/drawing/2014/main" id="{7AD4CF6A-D6DB-4D84-820C-97919F515AC4}"/>
              </a:ext>
            </a:extLst>
          </p:cNvPr>
          <p:cNvSpPr/>
          <p:nvPr/>
        </p:nvSpPr>
        <p:spPr bwMode="auto">
          <a:xfrm>
            <a:off x="5073671" y="2915601"/>
            <a:ext cx="2606046"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30" name="Gerader Verbinder 29">
            <a:extLst>
              <a:ext uri="{FF2B5EF4-FFF2-40B4-BE49-F238E27FC236}">
                <a16:creationId xmlns:a16="http://schemas.microsoft.com/office/drawing/2014/main" id="{36482E58-7485-4C86-85CF-360ACB1DD281}"/>
              </a:ext>
            </a:extLst>
          </p:cNvPr>
          <p:cNvCxnSpPr/>
          <p:nvPr/>
        </p:nvCxnSpPr>
        <p:spPr bwMode="auto">
          <a:xfrm flipH="1">
            <a:off x="5052513" y="276850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34" name="Textfeld 33">
                <a:extLst>
                  <a:ext uri="{FF2B5EF4-FFF2-40B4-BE49-F238E27FC236}">
                    <a16:creationId xmlns:a16="http://schemas.microsoft.com/office/drawing/2014/main" id="{90D5B121-2634-4061-B10E-56C8FF3A9F87}"/>
                  </a:ext>
                </a:extLst>
              </p:cNvPr>
              <p:cNvSpPr txBox="1"/>
              <p:nvPr/>
            </p:nvSpPr>
            <p:spPr>
              <a:xfrm>
                <a:off x="323919" y="4323654"/>
                <a:ext cx="1659813" cy="296363"/>
              </a:xfrm>
              <a:prstGeom prst="rect">
                <a:avLst/>
              </a:prstGeom>
              <a:noFill/>
            </p:spPr>
            <p:txBody>
              <a:bodyPr wrap="none" lIns="0" tIns="0" rIns="0" bIns="0" rtlCol="0">
                <a:spAutoFit/>
              </a:bodyPr>
              <a:lstStyle/>
              <a:p>
                <a:pPr>
                  <a:lnSpc>
                    <a:spcPct val="110000"/>
                  </a:lnSpc>
                  <a:spcBef>
                    <a:spcPts val="600"/>
                  </a:spcBef>
                  <a:spcAft>
                    <a:spcPts val="600"/>
                  </a:spcAft>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=0.91</m:t>
                      </m:r>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4" name="Textfeld 33">
                <a:extLst>
                  <a:ext uri="{FF2B5EF4-FFF2-40B4-BE49-F238E27FC236}">
                    <a16:creationId xmlns:a16="http://schemas.microsoft.com/office/drawing/2014/main" id="{90D5B121-2634-4061-B10E-56C8FF3A9F87}"/>
                  </a:ext>
                </a:extLst>
              </p:cNvPr>
              <p:cNvSpPr txBox="1">
                <a:spLocks noRot="1" noChangeAspect="1" noMove="1" noResize="1" noEditPoints="1" noAdjustHandles="1" noChangeArrowheads="1" noChangeShapeType="1" noTextEdit="1"/>
              </p:cNvSpPr>
              <p:nvPr/>
            </p:nvSpPr>
            <p:spPr>
              <a:xfrm>
                <a:off x="323919" y="4323654"/>
                <a:ext cx="1659813" cy="296363"/>
              </a:xfrm>
              <a:prstGeom prst="rect">
                <a:avLst/>
              </a:prstGeom>
              <a:blipFill>
                <a:blip r:embed="rId4"/>
                <a:stretch>
                  <a:fillRect l="-4044"/>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35" name="Textfeld 34">
                <a:extLst>
                  <a:ext uri="{FF2B5EF4-FFF2-40B4-BE49-F238E27FC236}">
                    <a16:creationId xmlns:a16="http://schemas.microsoft.com/office/drawing/2014/main" id="{2DF3FBBB-B94D-4B4E-A560-280AC65545F3}"/>
                  </a:ext>
                </a:extLst>
              </p:cNvPr>
              <p:cNvSpPr txBox="1"/>
              <p:nvPr/>
            </p:nvSpPr>
            <p:spPr>
              <a:xfrm>
                <a:off x="4637089" y="4323988"/>
                <a:ext cx="1550809" cy="219740"/>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left"/>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oMath>
                  </m:oMathPara>
                </a14:m>
                <a:endParaRPr lang="en-US" sz="1200" b="0">
                  <a:solidFill>
                    <a:schemeClr val="tx1"/>
                  </a:solidFill>
                  <a:latin typeface="+mn-lt"/>
                  <a:ea typeface="Cambria Math" panose="02040503050406030204" pitchFamily="18" charset="0"/>
                  <a:cs typeface="Arial Unicode MS" panose="020B0604020202020204" pitchFamily="34" charset="-128"/>
                </a:endParaRPr>
              </a:p>
            </p:txBody>
          </p:sp>
        </mc:Choice>
        <mc:Fallback xmlns="">
          <p:sp>
            <p:nvSpPr>
              <p:cNvPr id="35" name="Textfeld 34">
                <a:extLst>
                  <a:ext uri="{FF2B5EF4-FFF2-40B4-BE49-F238E27FC236}">
                    <a16:creationId xmlns:a16="http://schemas.microsoft.com/office/drawing/2014/main" id="{2DF3FBBB-B94D-4B4E-A560-280AC65545F3}"/>
                  </a:ext>
                </a:extLst>
              </p:cNvPr>
              <p:cNvSpPr txBox="1">
                <a:spLocks noRot="1" noChangeAspect="1" noMove="1" noResize="1" noEditPoints="1" noAdjustHandles="1" noChangeArrowheads="1" noChangeShapeType="1" noTextEdit="1"/>
              </p:cNvSpPr>
              <p:nvPr/>
            </p:nvSpPr>
            <p:spPr>
              <a:xfrm>
                <a:off x="4637089" y="4323988"/>
                <a:ext cx="1550809" cy="219740"/>
              </a:xfrm>
              <a:prstGeom prst="rect">
                <a:avLst/>
              </a:prstGeom>
              <a:blipFill>
                <a:blip r:embed="rId5"/>
                <a:stretch>
                  <a:fillRect l="-4724" b="-22222"/>
                </a:stretch>
              </a:blipFill>
            </p:spPr>
            <p:txBody>
              <a:bodyPr/>
              <a:lstStyle/>
              <a:p>
                <a:r>
                  <a:rPr lang="de-DE">
                    <a:noFill/>
                  </a:rPr>
                  <a:t> </a:t>
                </a:r>
              </a:p>
            </p:txBody>
          </p:sp>
        </mc:Fallback>
      </mc:AlternateContent>
      <p:cxnSp>
        <p:nvCxnSpPr>
          <p:cNvPr id="37" name="Gerade Verbindung mit Pfeil 36">
            <a:extLst>
              <a:ext uri="{FF2B5EF4-FFF2-40B4-BE49-F238E27FC236}">
                <a16:creationId xmlns:a16="http://schemas.microsoft.com/office/drawing/2014/main" id="{0FD430BB-AF34-4279-ACBC-67FEEEABFD18}"/>
              </a:ext>
            </a:extLst>
          </p:cNvPr>
          <p:cNvCxnSpPr/>
          <p:nvPr/>
        </p:nvCxnSpPr>
        <p:spPr bwMode="auto">
          <a:xfrm>
            <a:off x="1486948" y="3897313"/>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8" name="Gerade Verbindung mit Pfeil 37">
            <a:extLst>
              <a:ext uri="{FF2B5EF4-FFF2-40B4-BE49-F238E27FC236}">
                <a16:creationId xmlns:a16="http://schemas.microsoft.com/office/drawing/2014/main" id="{5A282C43-D76B-4017-9164-2B558E44F5AE}"/>
              </a:ext>
            </a:extLst>
          </p:cNvPr>
          <p:cNvCxnSpPr/>
          <p:nvPr/>
        </p:nvCxnSpPr>
        <p:spPr bwMode="auto">
          <a:xfrm>
            <a:off x="5955159" y="3933022"/>
            <a:ext cx="0" cy="426341"/>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mc:AlternateContent xmlns:mc="http://schemas.openxmlformats.org/markup-compatibility/2006" xmlns:a14="http://schemas.microsoft.com/office/drawing/2010/main">
        <mc:Choice Requires="a14">
          <p:sp>
            <p:nvSpPr>
              <p:cNvPr id="39" name="Textfeld 38">
                <a:extLst>
                  <a:ext uri="{FF2B5EF4-FFF2-40B4-BE49-F238E27FC236}">
                    <a16:creationId xmlns:a16="http://schemas.microsoft.com/office/drawing/2014/main" id="{F0779154-7C35-401A-B92E-44BCEC2C6CC7}"/>
                  </a:ext>
                </a:extLst>
              </p:cNvPr>
              <p:cNvSpPr txBox="1"/>
              <p:nvPr/>
            </p:nvSpPr>
            <p:spPr>
              <a:xfrm>
                <a:off x="611960" y="4660110"/>
                <a:ext cx="2632324" cy="1948739"/>
              </a:xfrm>
              <a:prstGeom prst="rect">
                <a:avLst/>
              </a:prstGeom>
              <a:noFill/>
            </p:spPr>
            <p:txBody>
              <a:bodyPr wrap="none" lIns="0" tIns="0" rIns="0" bIns="0" rtlCol="0">
                <a:spAutoFit/>
              </a:bodyPr>
              <a:lstStyle/>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1.3: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=0.56</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1.6: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0.26</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2.0: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12</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a:solidFill>
                      <a:schemeClr val="tx1"/>
                    </a:solidFill>
                    <a:latin typeface="+mn-lt"/>
                    <a:ea typeface="Arial Unicode MS" panose="020B0604020202020204" pitchFamily="34" charset="-128"/>
                    <a:cs typeface="Arial Unicode MS" panose="020B0604020202020204" pitchFamily="34" charset="-128"/>
                  </a:rPr>
                  <a:t>Split at 2.3:</a:t>
                </a:r>
                <a:r>
                  <a:rPr lang="en-US" sz="1600">
                    <a:solidFill>
                      <a:schemeClr val="tx1"/>
                    </a:solidFill>
                    <a:ea typeface="Arial Unicode MS" panose="020B0604020202020204" pitchFamily="34" charset="-128"/>
                    <a:cs typeface="Arial Unicode MS" panose="020B0604020202020204" pitchFamily="34" charset="-128"/>
                  </a:rPr>
                  <a:t> </a:t>
                </a:r>
                <a14:m>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i="1">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42</m:t>
                    </m:r>
                  </m:oMath>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9" name="Textfeld 38">
                <a:extLst>
                  <a:ext uri="{FF2B5EF4-FFF2-40B4-BE49-F238E27FC236}">
                    <a16:creationId xmlns:a16="http://schemas.microsoft.com/office/drawing/2014/main" id="{F0779154-7C35-401A-B92E-44BCEC2C6CC7}"/>
                  </a:ext>
                </a:extLst>
              </p:cNvPr>
              <p:cNvSpPr txBox="1">
                <a:spLocks noRot="1" noChangeAspect="1" noMove="1" noResize="1" noEditPoints="1" noAdjustHandles="1" noChangeArrowheads="1" noChangeShapeType="1" noTextEdit="1"/>
              </p:cNvSpPr>
              <p:nvPr/>
            </p:nvSpPr>
            <p:spPr>
              <a:xfrm>
                <a:off x="611960" y="4660110"/>
                <a:ext cx="2632324" cy="1948739"/>
              </a:xfrm>
              <a:prstGeom prst="rect">
                <a:avLst/>
              </a:prstGeom>
              <a:blipFill>
                <a:blip r:embed="rId6"/>
                <a:stretch>
                  <a:fillRect l="-4630" t="-2813" r="-1620"/>
                </a:stretch>
              </a:blipFill>
            </p:spPr>
            <p:txBody>
              <a:bodyPr/>
              <a:lstStyle/>
              <a:p>
                <a:r>
                  <a:rPr lang="de-DE">
                    <a:noFill/>
                  </a:rPr>
                  <a:t> </a:t>
                </a:r>
              </a:p>
            </p:txBody>
          </p:sp>
        </mc:Fallback>
      </mc:AlternateContent>
      <p:graphicFrame>
        <p:nvGraphicFramePr>
          <p:cNvPr id="40" name="Diagramm 39">
            <a:extLst>
              <a:ext uri="{FF2B5EF4-FFF2-40B4-BE49-F238E27FC236}">
                <a16:creationId xmlns:a16="http://schemas.microsoft.com/office/drawing/2014/main" id="{5FD68C40-2BD0-4B0F-8D0C-01B34ABF3389}"/>
              </a:ext>
            </a:extLst>
          </p:cNvPr>
          <p:cNvGraphicFramePr>
            <a:graphicFrameLocks/>
          </p:cNvGraphicFramePr>
          <p:nvPr>
            <p:extLst>
              <p:ext uri="{D42A27DB-BD31-4B8C-83A1-F6EECF244321}">
                <p14:modId xmlns:p14="http://schemas.microsoft.com/office/powerpoint/2010/main" val="3146889969"/>
              </p:ext>
            </p:extLst>
          </p:nvPr>
        </p:nvGraphicFramePr>
        <p:xfrm>
          <a:off x="8343715" y="4235406"/>
          <a:ext cx="3287337" cy="2181925"/>
        </p:xfrm>
        <a:graphic>
          <a:graphicData uri="http://schemas.openxmlformats.org/drawingml/2006/chart">
            <c:chart xmlns:c="http://schemas.openxmlformats.org/drawingml/2006/chart" xmlns:r="http://schemas.openxmlformats.org/officeDocument/2006/relationships" r:id="rId7"/>
          </a:graphicData>
        </a:graphic>
      </p:graphicFrame>
      <p:sp>
        <p:nvSpPr>
          <p:cNvPr id="41" name="Ellipse 40">
            <a:extLst>
              <a:ext uri="{FF2B5EF4-FFF2-40B4-BE49-F238E27FC236}">
                <a16:creationId xmlns:a16="http://schemas.microsoft.com/office/drawing/2014/main" id="{B1FEEFE6-6C0A-4AF9-A370-86A216680391}"/>
              </a:ext>
            </a:extLst>
          </p:cNvPr>
          <p:cNvSpPr/>
          <p:nvPr/>
        </p:nvSpPr>
        <p:spPr bwMode="auto">
          <a:xfrm>
            <a:off x="8763471" y="5913276"/>
            <a:ext cx="144000" cy="144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2" name="Ellipse 41">
            <a:extLst>
              <a:ext uri="{FF2B5EF4-FFF2-40B4-BE49-F238E27FC236}">
                <a16:creationId xmlns:a16="http://schemas.microsoft.com/office/drawing/2014/main" id="{D72A8718-48FE-4EB9-8208-3B2B3676AEA2}"/>
              </a:ext>
            </a:extLst>
          </p:cNvPr>
          <p:cNvSpPr/>
          <p:nvPr/>
        </p:nvSpPr>
        <p:spPr bwMode="auto">
          <a:xfrm>
            <a:off x="10527667" y="4365104"/>
            <a:ext cx="144000" cy="144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3" name="Ellipse 42">
            <a:extLst>
              <a:ext uri="{FF2B5EF4-FFF2-40B4-BE49-F238E27FC236}">
                <a16:creationId xmlns:a16="http://schemas.microsoft.com/office/drawing/2014/main" id="{B089F146-0256-4907-9814-2FA37495C690}"/>
              </a:ext>
            </a:extLst>
          </p:cNvPr>
          <p:cNvSpPr/>
          <p:nvPr/>
        </p:nvSpPr>
        <p:spPr bwMode="auto">
          <a:xfrm>
            <a:off x="11463787" y="5913292"/>
            <a:ext cx="144000" cy="144000"/>
          </a:xfrm>
          <a:prstGeom prst="ellipse">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4" name="Ellipse 43">
            <a:extLst>
              <a:ext uri="{FF2B5EF4-FFF2-40B4-BE49-F238E27FC236}">
                <a16:creationId xmlns:a16="http://schemas.microsoft.com/office/drawing/2014/main" id="{AC18DA75-2F36-4E0A-9F2F-E0299A10DD17}"/>
              </a:ext>
            </a:extLst>
          </p:cNvPr>
          <p:cNvSpPr/>
          <p:nvPr/>
        </p:nvSpPr>
        <p:spPr bwMode="auto">
          <a:xfrm>
            <a:off x="9123511" y="4974604"/>
            <a:ext cx="144000" cy="144000"/>
          </a:xfrm>
          <a:prstGeom prst="ellipse">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5" name="Ellipse 44">
            <a:extLst>
              <a:ext uri="{FF2B5EF4-FFF2-40B4-BE49-F238E27FC236}">
                <a16:creationId xmlns:a16="http://schemas.microsoft.com/office/drawing/2014/main" id="{74854878-5EA5-421A-9C44-F3248B8F998F}"/>
              </a:ext>
            </a:extLst>
          </p:cNvPr>
          <p:cNvSpPr/>
          <p:nvPr/>
        </p:nvSpPr>
        <p:spPr bwMode="auto">
          <a:xfrm>
            <a:off x="10779711" y="4532019"/>
            <a:ext cx="144000" cy="144000"/>
          </a:xfrm>
          <a:prstGeom prst="ellipse">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6" name="Ellipse 45">
            <a:extLst>
              <a:ext uri="{FF2B5EF4-FFF2-40B4-BE49-F238E27FC236}">
                <a16:creationId xmlns:a16="http://schemas.microsoft.com/office/drawing/2014/main" id="{D53E7CB0-6EE5-4651-AEDE-BD8333EE3250}"/>
              </a:ext>
            </a:extLst>
          </p:cNvPr>
          <p:cNvSpPr/>
          <p:nvPr/>
        </p:nvSpPr>
        <p:spPr bwMode="auto">
          <a:xfrm>
            <a:off x="9231523" y="4810780"/>
            <a:ext cx="144000" cy="144000"/>
          </a:xfrm>
          <a:prstGeom prst="ellipse">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7" name="Ellipse 46">
            <a:extLst>
              <a:ext uri="{FF2B5EF4-FFF2-40B4-BE49-F238E27FC236}">
                <a16:creationId xmlns:a16="http://schemas.microsoft.com/office/drawing/2014/main" id="{3EA24754-AAF3-4B2D-A2FB-A2DFD1026EB2}"/>
              </a:ext>
            </a:extLst>
          </p:cNvPr>
          <p:cNvSpPr/>
          <p:nvPr/>
        </p:nvSpPr>
        <p:spPr bwMode="auto">
          <a:xfrm>
            <a:off x="10428891" y="4331719"/>
            <a:ext cx="144000" cy="144000"/>
          </a:xfrm>
          <a:prstGeom prst="ellipse">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8" name="Ellipse 47">
            <a:extLst>
              <a:ext uri="{FF2B5EF4-FFF2-40B4-BE49-F238E27FC236}">
                <a16:creationId xmlns:a16="http://schemas.microsoft.com/office/drawing/2014/main" id="{6927B6A5-8998-40A9-BF2A-51EF1B5CB0F0}"/>
              </a:ext>
            </a:extLst>
          </p:cNvPr>
          <p:cNvSpPr/>
          <p:nvPr/>
        </p:nvSpPr>
        <p:spPr bwMode="auto">
          <a:xfrm>
            <a:off x="9308588" y="4725144"/>
            <a:ext cx="144000" cy="144000"/>
          </a:xfrm>
          <a:prstGeom prst="ellipse">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mc:AlternateContent xmlns:mc="http://schemas.openxmlformats.org/markup-compatibility/2006" xmlns:a14="http://schemas.microsoft.com/office/drawing/2010/main">
        <mc:Choice Requires="a14">
          <p:sp>
            <p:nvSpPr>
              <p:cNvPr id="49" name="Textfeld 48">
                <a:extLst>
                  <a:ext uri="{FF2B5EF4-FFF2-40B4-BE49-F238E27FC236}">
                    <a16:creationId xmlns:a16="http://schemas.microsoft.com/office/drawing/2014/main" id="{E5829C83-8220-4282-A6E1-B18777FD5F71}"/>
                  </a:ext>
                </a:extLst>
              </p:cNvPr>
              <p:cNvSpPr txBox="1"/>
              <p:nvPr/>
            </p:nvSpPr>
            <p:spPr>
              <a:xfrm>
                <a:off x="8944775" y="5693978"/>
                <a:ext cx="1240853" cy="219740"/>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9" name="Textfeld 48">
                <a:extLst>
                  <a:ext uri="{FF2B5EF4-FFF2-40B4-BE49-F238E27FC236}">
                    <a16:creationId xmlns:a16="http://schemas.microsoft.com/office/drawing/2014/main" id="{E5829C83-8220-4282-A6E1-B18777FD5F71}"/>
                  </a:ext>
                </a:extLst>
              </p:cNvPr>
              <p:cNvSpPr txBox="1">
                <a:spLocks noRot="1" noChangeAspect="1" noMove="1" noResize="1" noEditPoints="1" noAdjustHandles="1" noChangeArrowheads="1" noChangeShapeType="1" noTextEdit="1"/>
              </p:cNvSpPr>
              <p:nvPr/>
            </p:nvSpPr>
            <p:spPr>
              <a:xfrm>
                <a:off x="8944775" y="5693978"/>
                <a:ext cx="1240853" cy="219740"/>
              </a:xfrm>
              <a:prstGeom prst="rect">
                <a:avLst/>
              </a:prstGeom>
              <a:blipFill>
                <a:blip r:embed="rId8"/>
                <a:stretch>
                  <a:fillRect l="-3431" r="-490" b="-22222"/>
                </a:stretch>
              </a:blipFill>
            </p:spPr>
            <p:txBody>
              <a:bodyPr/>
              <a:lstStyle/>
              <a:p>
                <a:r>
                  <a:rPr lang="de-DE">
                    <a:noFill/>
                  </a:rPr>
                  <a:t> </a:t>
                </a:r>
              </a:p>
            </p:txBody>
          </p:sp>
        </mc:Fallback>
      </mc:AlternateContent>
      <mc:AlternateContent xmlns:mc="http://schemas.openxmlformats.org/markup-compatibility/2006" xmlns:a14="http://schemas.microsoft.com/office/drawing/2010/main">
        <mc:Choice Requires="a14">
          <p:sp>
            <p:nvSpPr>
              <p:cNvPr id="50" name="Textfeld 49">
                <a:extLst>
                  <a:ext uri="{FF2B5EF4-FFF2-40B4-BE49-F238E27FC236}">
                    <a16:creationId xmlns:a16="http://schemas.microsoft.com/office/drawing/2014/main" id="{BAE37BC7-34D1-462F-9114-72369FA37427}"/>
                  </a:ext>
                </a:extLst>
              </p:cNvPr>
              <p:cNvSpPr txBox="1"/>
              <p:nvPr/>
            </p:nvSpPr>
            <p:spPr>
              <a:xfrm>
                <a:off x="10642932" y="4104235"/>
                <a:ext cx="1171924" cy="219419"/>
              </a:xfrm>
              <a:prstGeom prst="rect">
                <a:avLst/>
              </a:prstGeom>
              <a:noFill/>
            </p:spPr>
            <p:txBody>
              <a:bodyPr wrap="none" lIns="0" tIns="0" rIns="0" bIns="0" rtlCol="0">
                <a:sp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sSub>
                        <m:sSubPr>
                          <m:ctrlPr>
                            <a:rPr lang="en-US" sz="120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2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oMath>
                  </m:oMathPara>
                </a14:m>
                <a:endParaRPr lang="en-US" sz="12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50" name="Textfeld 49">
                <a:extLst>
                  <a:ext uri="{FF2B5EF4-FFF2-40B4-BE49-F238E27FC236}">
                    <a16:creationId xmlns:a16="http://schemas.microsoft.com/office/drawing/2014/main" id="{BAE37BC7-34D1-462F-9114-72369FA37427}"/>
                  </a:ext>
                </a:extLst>
              </p:cNvPr>
              <p:cNvSpPr txBox="1">
                <a:spLocks noRot="1" noChangeAspect="1" noMove="1" noResize="1" noEditPoints="1" noAdjustHandles="1" noChangeArrowheads="1" noChangeShapeType="1" noTextEdit="1"/>
              </p:cNvSpPr>
              <p:nvPr/>
            </p:nvSpPr>
            <p:spPr>
              <a:xfrm>
                <a:off x="10642932" y="4104235"/>
                <a:ext cx="1171924" cy="219419"/>
              </a:xfrm>
              <a:prstGeom prst="rect">
                <a:avLst/>
              </a:prstGeom>
              <a:blipFill>
                <a:blip r:embed="rId9"/>
                <a:stretch>
                  <a:fillRect l="-4167" r="-521" b="-22222"/>
                </a:stretch>
              </a:blipFill>
            </p:spPr>
            <p:txBody>
              <a:bodyPr/>
              <a:lstStyle/>
              <a:p>
                <a:r>
                  <a:rPr lang="de-DE">
                    <a:noFill/>
                  </a:rPr>
                  <a:t> </a:t>
                </a:r>
              </a:p>
            </p:txBody>
          </p:sp>
        </mc:Fallback>
      </mc:AlternateContent>
      <p:grpSp>
        <p:nvGrpSpPr>
          <p:cNvPr id="51" name="Gruppieren 50">
            <a:extLst>
              <a:ext uri="{FF2B5EF4-FFF2-40B4-BE49-F238E27FC236}">
                <a16:creationId xmlns:a16="http://schemas.microsoft.com/office/drawing/2014/main" id="{87729FDC-51FF-4289-94C6-AA8997A732FA}"/>
              </a:ext>
            </a:extLst>
          </p:cNvPr>
          <p:cNvGrpSpPr/>
          <p:nvPr/>
        </p:nvGrpSpPr>
        <p:grpSpPr>
          <a:xfrm>
            <a:off x="987354" y="2972640"/>
            <a:ext cx="7574393" cy="1170602"/>
            <a:chOff x="987354" y="2972640"/>
            <a:chExt cx="7574393" cy="1170602"/>
          </a:xfrm>
        </p:grpSpPr>
        <p:grpSp>
          <p:nvGrpSpPr>
            <p:cNvPr id="52" name="Gruppieren 51">
              <a:extLst>
                <a:ext uri="{FF2B5EF4-FFF2-40B4-BE49-F238E27FC236}">
                  <a16:creationId xmlns:a16="http://schemas.microsoft.com/office/drawing/2014/main" id="{61D34379-898E-4429-8257-53CCFE7E8D0C}"/>
                </a:ext>
              </a:extLst>
            </p:cNvPr>
            <p:cNvGrpSpPr/>
            <p:nvPr/>
          </p:nvGrpSpPr>
          <p:grpSpPr>
            <a:xfrm>
              <a:off x="987354" y="2972640"/>
              <a:ext cx="6732001" cy="1067982"/>
              <a:chOff x="946888" y="2684869"/>
              <a:chExt cx="6732001" cy="1067982"/>
            </a:xfrm>
          </p:grpSpPr>
          <p:grpSp>
            <p:nvGrpSpPr>
              <p:cNvPr id="55" name="Gruppieren 54">
                <a:extLst>
                  <a:ext uri="{FF2B5EF4-FFF2-40B4-BE49-F238E27FC236}">
                    <a16:creationId xmlns:a16="http://schemas.microsoft.com/office/drawing/2014/main" id="{DF5DE101-6995-40E7-ABF9-2A9FBABAB3A8}"/>
                  </a:ext>
                </a:extLst>
              </p:cNvPr>
              <p:cNvGrpSpPr/>
              <p:nvPr/>
            </p:nvGrpSpPr>
            <p:grpSpPr>
              <a:xfrm>
                <a:off x="946888" y="2684869"/>
                <a:ext cx="6732001" cy="1067982"/>
                <a:chOff x="986607" y="3303000"/>
                <a:chExt cx="4537464" cy="743507"/>
              </a:xfrm>
            </p:grpSpPr>
            <p:grpSp>
              <p:nvGrpSpPr>
                <p:cNvPr id="57" name="Gruppieren 56">
                  <a:extLst>
                    <a:ext uri="{FF2B5EF4-FFF2-40B4-BE49-F238E27FC236}">
                      <a16:creationId xmlns:a16="http://schemas.microsoft.com/office/drawing/2014/main" id="{9DB72551-EE4B-4E5B-B668-56E0C2B97D2C}"/>
                    </a:ext>
                  </a:extLst>
                </p:cNvPr>
                <p:cNvGrpSpPr/>
                <p:nvPr/>
              </p:nvGrpSpPr>
              <p:grpSpPr>
                <a:xfrm>
                  <a:off x="986607" y="3303000"/>
                  <a:ext cx="4537464" cy="449850"/>
                  <a:chOff x="986607" y="3303000"/>
                  <a:chExt cx="4537464" cy="449850"/>
                </a:xfrm>
              </p:grpSpPr>
              <p:cxnSp>
                <p:nvCxnSpPr>
                  <p:cNvPr id="62" name="Gerader Verbinder 61">
                    <a:extLst>
                      <a:ext uri="{FF2B5EF4-FFF2-40B4-BE49-F238E27FC236}">
                        <a16:creationId xmlns:a16="http://schemas.microsoft.com/office/drawing/2014/main" id="{C044DF50-D560-4EFA-9AE8-81A2BF768E01}"/>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3" name="Gerader Verbinder 62">
                    <a:extLst>
                      <a:ext uri="{FF2B5EF4-FFF2-40B4-BE49-F238E27FC236}">
                        <a16:creationId xmlns:a16="http://schemas.microsoft.com/office/drawing/2014/main" id="{AF0315F5-87F8-4247-A5CE-07BEBB7F646D}"/>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4" name="Gerader Verbinder 63">
                    <a:extLst>
                      <a:ext uri="{FF2B5EF4-FFF2-40B4-BE49-F238E27FC236}">
                        <a16:creationId xmlns:a16="http://schemas.microsoft.com/office/drawing/2014/main" id="{DB04732F-EDF9-499D-9D93-1F14FBC749FB}"/>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5" name="Gerader Verbinder 64">
                    <a:extLst>
                      <a:ext uri="{FF2B5EF4-FFF2-40B4-BE49-F238E27FC236}">
                        <a16:creationId xmlns:a16="http://schemas.microsoft.com/office/drawing/2014/main" id="{567C686A-A294-4D85-A800-94B63E5FFF26}"/>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6" name="Gerader Verbinder 65">
                    <a:extLst>
                      <a:ext uri="{FF2B5EF4-FFF2-40B4-BE49-F238E27FC236}">
                        <a16:creationId xmlns:a16="http://schemas.microsoft.com/office/drawing/2014/main" id="{BFEFF473-3AEC-4A3C-AD55-D1D5E72D272F}"/>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7" name="Ellipse 66">
                    <a:extLst>
                      <a:ext uri="{FF2B5EF4-FFF2-40B4-BE49-F238E27FC236}">
                        <a16:creationId xmlns:a16="http://schemas.microsoft.com/office/drawing/2014/main" id="{DAB46CAE-6DAC-466F-B331-EEEF371A4B0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AD55B181-F443-4F9D-BDCD-D52564D3D776}"/>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9" name="Ellipse 68">
                    <a:extLst>
                      <a:ext uri="{FF2B5EF4-FFF2-40B4-BE49-F238E27FC236}">
                        <a16:creationId xmlns:a16="http://schemas.microsoft.com/office/drawing/2014/main" id="{DE764125-3F07-4A79-97B6-128DD2A64AEB}"/>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0" name="Ellipse 69">
                    <a:extLst>
                      <a:ext uri="{FF2B5EF4-FFF2-40B4-BE49-F238E27FC236}">
                        <a16:creationId xmlns:a16="http://schemas.microsoft.com/office/drawing/2014/main" id="{54FF71C1-433B-4671-859F-FEB0807EDBC8}"/>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1" name="Ellipse 70">
                    <a:extLst>
                      <a:ext uri="{FF2B5EF4-FFF2-40B4-BE49-F238E27FC236}">
                        <a16:creationId xmlns:a16="http://schemas.microsoft.com/office/drawing/2014/main" id="{9CE62722-AA50-4DCC-9E5B-450A01FC2AF7}"/>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2" name="Ellipse 71">
                    <a:extLst>
                      <a:ext uri="{FF2B5EF4-FFF2-40B4-BE49-F238E27FC236}">
                        <a16:creationId xmlns:a16="http://schemas.microsoft.com/office/drawing/2014/main" id="{F206A030-08B4-4F57-9336-7AE6731C2E98}"/>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3" name="Ellipse 72">
                    <a:extLst>
                      <a:ext uri="{FF2B5EF4-FFF2-40B4-BE49-F238E27FC236}">
                        <a16:creationId xmlns:a16="http://schemas.microsoft.com/office/drawing/2014/main" id="{535054C9-57C0-4587-9B7E-766CD0B62D14}"/>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4" name="Ellipse 73">
                    <a:extLst>
                      <a:ext uri="{FF2B5EF4-FFF2-40B4-BE49-F238E27FC236}">
                        <a16:creationId xmlns:a16="http://schemas.microsoft.com/office/drawing/2014/main" id="{694FBB30-32EB-4482-B42F-EF83CBE9329F}"/>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5" name="Ellipse 74">
                    <a:extLst>
                      <a:ext uri="{FF2B5EF4-FFF2-40B4-BE49-F238E27FC236}">
                        <a16:creationId xmlns:a16="http://schemas.microsoft.com/office/drawing/2014/main" id="{FCFDB5D6-DD0F-408C-9EC2-5C8B219CD856}"/>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58" name="Textfeld 57">
                  <a:extLst>
                    <a:ext uri="{FF2B5EF4-FFF2-40B4-BE49-F238E27FC236}">
                      <a16:creationId xmlns:a16="http://schemas.microsoft.com/office/drawing/2014/main" id="{4B205C26-DA00-4FE5-9C72-F8A370A603A5}"/>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59" name="Textfeld 58">
                  <a:extLst>
                    <a:ext uri="{FF2B5EF4-FFF2-40B4-BE49-F238E27FC236}">
                      <a16:creationId xmlns:a16="http://schemas.microsoft.com/office/drawing/2014/main" id="{D53931FF-3B85-4B14-ACC2-5BBD372F32D9}"/>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60" name="Textfeld 59">
                  <a:extLst>
                    <a:ext uri="{FF2B5EF4-FFF2-40B4-BE49-F238E27FC236}">
                      <a16:creationId xmlns:a16="http://schemas.microsoft.com/office/drawing/2014/main" id="{5086439B-78BA-41B5-AE87-5E90434C5E77}"/>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61" name="Textfeld 60">
                  <a:extLst>
                    <a:ext uri="{FF2B5EF4-FFF2-40B4-BE49-F238E27FC236}">
                      <a16:creationId xmlns:a16="http://schemas.microsoft.com/office/drawing/2014/main" id="{8386E292-55E1-4241-A4C2-CD0BD8FDB223}"/>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56" name="Ellipse 55">
                <a:extLst>
                  <a:ext uri="{FF2B5EF4-FFF2-40B4-BE49-F238E27FC236}">
                    <a16:creationId xmlns:a16="http://schemas.microsoft.com/office/drawing/2014/main" id="{6AE7E0B1-8C31-458B-BA40-9B56691F4FF9}"/>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53" name="Gerade Verbindung mit Pfeil 52">
              <a:extLst>
                <a:ext uri="{FF2B5EF4-FFF2-40B4-BE49-F238E27FC236}">
                  <a16:creationId xmlns:a16="http://schemas.microsoft.com/office/drawing/2014/main" id="{FB2F77FE-7143-4B71-BAE3-2892E4B24D40}"/>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4" name="Textfeld 53">
              <a:extLst>
                <a:ext uri="{FF2B5EF4-FFF2-40B4-BE49-F238E27FC236}">
                  <a16:creationId xmlns:a16="http://schemas.microsoft.com/office/drawing/2014/main" id="{F7663647-BD15-4A1B-AD64-316224A2B730}"/>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389065272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ACA54-C6AB-4191-A36A-EF9ED37CA3BA}"/>
              </a:ext>
            </a:extLst>
          </p:cNvPr>
          <p:cNvSpPr>
            <a:spLocks noGrp="1"/>
          </p:cNvSpPr>
          <p:nvPr>
            <p:ph type="title"/>
          </p:nvPr>
        </p:nvSpPr>
        <p:spPr/>
        <p:txBody>
          <a:bodyPr/>
          <a:lstStyle/>
          <a:p>
            <a:r>
              <a:rPr lang="en-US"/>
              <a:t>Information Gain as a Criteria for a Good Split (Loss Function) </a:t>
            </a:r>
          </a:p>
        </p:txBody>
      </p:sp>
      <mc:AlternateContent xmlns:mc="http://schemas.openxmlformats.org/markup-compatibility/2006" xmlns:a14="http://schemas.microsoft.com/office/drawing/2010/main">
        <mc:Choice Requires="a14">
          <p:sp>
            <p:nvSpPr>
              <p:cNvPr id="23" name="Textfeld 22">
                <a:extLst>
                  <a:ext uri="{FF2B5EF4-FFF2-40B4-BE49-F238E27FC236}">
                    <a16:creationId xmlns:a16="http://schemas.microsoft.com/office/drawing/2014/main" id="{D46CC869-E03B-43C5-839A-0B785E9815A0}"/>
                  </a:ext>
                </a:extLst>
              </p:cNvPr>
              <p:cNvSpPr txBox="1"/>
              <p:nvPr/>
            </p:nvSpPr>
            <p:spPr>
              <a:xfrm>
                <a:off x="615642" y="1423600"/>
                <a:ext cx="10242508" cy="1784784"/>
              </a:xfrm>
              <a:prstGeom prst="rect">
                <a:avLst/>
              </a:prstGeom>
              <a:noFill/>
            </p:spPr>
            <p:txBody>
              <a:bodyPr wrap="square" lIns="0" tIns="0" rIns="0" bIns="0" rtlCol="0">
                <a:spAutoFit/>
              </a:bodyPr>
              <a:lstStyle/>
              <a:p>
                <a:pPr>
                  <a:lnSpc>
                    <a:spcPct val="110000"/>
                  </a:lnSpc>
                  <a:spcBef>
                    <a:spcPts val="600"/>
                  </a:spcBef>
                  <a:spcAft>
                    <a:spcPts val="600"/>
                  </a:spcAft>
                </a:pPr>
                <a:r>
                  <a:rPr lang="en-US" sz="1600" b="1">
                    <a:solidFill>
                      <a:schemeClr val="tx1"/>
                    </a:solidFill>
                    <a:latin typeface="+mn-lt"/>
                    <a:ea typeface="Arial Unicode MS" panose="020B0604020202020204" pitchFamily="34" charset="-128"/>
                    <a:cs typeface="Arial Unicode MS" panose="020B0604020202020204" pitchFamily="34" charset="-128"/>
                  </a:rPr>
                  <a:t>The bigger the gained information the better the split </a:t>
                </a:r>
                <a:r>
                  <a:rPr lang="en-US" sz="1600" b="1">
                    <a:solidFill>
                      <a:schemeClr val="tx1"/>
                    </a:solidFill>
                    <a:latin typeface="+mn-lt"/>
                    <a:ea typeface="Arial Unicode MS" panose="020B0604020202020204" pitchFamily="34" charset="-128"/>
                    <a:cs typeface="Arial Unicode MS" panose="020B0604020202020204" pitchFamily="34" charset="-128"/>
                    <a:sym typeface="Wingdings" panose="05000000000000000000" pitchFamily="2" charset="2"/>
                  </a:rPr>
                  <a:t></a:t>
                </a:r>
                <a:r>
                  <a:rPr lang="en-US" sz="1600" b="1">
                    <a:solidFill>
                      <a:schemeClr val="tx1"/>
                    </a:solidFill>
                    <a:latin typeface="+mn-lt"/>
                    <a:ea typeface="Arial Unicode MS" panose="020B0604020202020204" pitchFamily="34" charset="-128"/>
                    <a:cs typeface="Arial Unicode MS" panose="020B0604020202020204" pitchFamily="34" charset="-128"/>
                  </a:rPr>
                  <a:t> w</a:t>
                </a:r>
                <a:r>
                  <a:rPr lang="en-US" sz="1600" b="1">
                    <a:solidFill>
                      <a:schemeClr val="tx1"/>
                    </a:solidFill>
                    <a:ea typeface="Arial Unicode MS" panose="020B0604020202020204" pitchFamily="34" charset="-128"/>
                    <a:cs typeface="Arial Unicode MS" panose="020B0604020202020204" pitchFamily="34" charset="-128"/>
                  </a:rPr>
                  <a:t>e want to maximize the gained information </a:t>
                </a:r>
                <a:endParaRPr lang="en-US" sz="1600" b="1">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14:m>
                  <m:oMathPara xmlns:m="http://schemas.openxmlformats.org/officeDocument/2006/math">
                    <m:oMathParaPr>
                      <m:jc m:val="centerGroup"/>
                    </m:oMathParaPr>
                    <m:oMath xmlns:m="http://schemas.openxmlformats.org/officeDocument/2006/math">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𝐼𝑛𝑓𝑜𝑟𝑚𝑎𝑡𝑖𝑜𝑛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𝐺𝑎𝑖𝑛</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𝑃𝑎𝑟𝑒𝑛𝑡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d>
                        <m:d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𝐿𝑒𝑓𝑡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sub>
                              </m:sSub>
                            </m:num>
                            <m:den>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m:t>
                              </m:r>
                            </m:den>
                          </m:f>
                          <m:sSub>
                            <m:sSubPr>
                              <m:ctrlP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𝐸𝑛𝑡𝑟𝑜𝑝𝑦</m:t>
                              </m:r>
                            </m:e>
                            <m:sub>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𝑅𝑖𝑔h𝑡</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en-US"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𝑁𝑜𝑑𝑒</m:t>
                              </m:r>
                            </m:sub>
                          </m:sSub>
                        </m:e>
                      </m:d>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ts val="600"/>
                  </a:spcBef>
                  <a:spcAft>
                    <a:spcPts val="600"/>
                  </a:spcAft>
                </a:pPr>
                <a:r>
                  <a:rPr lang="en-US" sz="1600" b="1">
                    <a:solidFill>
                      <a:schemeClr val="tx1"/>
                    </a:solidFill>
                    <a:ea typeface="Arial Unicode MS" panose="020B0604020202020204" pitchFamily="34" charset="-128"/>
                    <a:cs typeface="Arial Unicode MS" panose="020B0604020202020204" pitchFamily="34" charset="-128"/>
                  </a:rPr>
                  <a:t>What‘s the best way to split these balls in two groups?</a:t>
                </a:r>
              </a:p>
              <a:p>
                <a:pPr>
                  <a:lnSpc>
                    <a:spcPct val="110000"/>
                  </a:lnSpc>
                  <a:spcBef>
                    <a:spcPts val="600"/>
                  </a:spcBef>
                  <a:spcAft>
                    <a:spcPts val="600"/>
                  </a:spcAft>
                </a:pPr>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23" name="Textfeld 22">
                <a:extLst>
                  <a:ext uri="{FF2B5EF4-FFF2-40B4-BE49-F238E27FC236}">
                    <a16:creationId xmlns:a16="http://schemas.microsoft.com/office/drawing/2014/main" id="{D46CC869-E03B-43C5-839A-0B785E9815A0}"/>
                  </a:ext>
                </a:extLst>
              </p:cNvPr>
              <p:cNvSpPr txBox="1">
                <a:spLocks noRot="1" noChangeAspect="1" noMove="1" noResize="1" noEditPoints="1" noAdjustHandles="1" noChangeArrowheads="1" noChangeShapeType="1" noTextEdit="1"/>
              </p:cNvSpPr>
              <p:nvPr/>
            </p:nvSpPr>
            <p:spPr>
              <a:xfrm>
                <a:off x="615642" y="1423600"/>
                <a:ext cx="10242508" cy="1784784"/>
              </a:xfrm>
              <a:prstGeom prst="rect">
                <a:avLst/>
              </a:prstGeom>
              <a:blipFill>
                <a:blip r:embed="rId3"/>
                <a:stretch>
                  <a:fillRect l="-1250" t="-3425"/>
                </a:stretch>
              </a:blipFill>
            </p:spPr>
            <p:txBody>
              <a:bodyPr/>
              <a:lstStyle/>
              <a:p>
                <a:r>
                  <a:rPr lang="en-US">
                    <a:noFill/>
                  </a:rPr>
                  <a:t> </a:t>
                </a:r>
              </a:p>
            </p:txBody>
          </p:sp>
        </mc:Fallback>
      </mc:AlternateContent>
      <p:grpSp>
        <p:nvGrpSpPr>
          <p:cNvPr id="73" name="Gruppieren 72">
            <a:extLst>
              <a:ext uri="{FF2B5EF4-FFF2-40B4-BE49-F238E27FC236}">
                <a16:creationId xmlns:a16="http://schemas.microsoft.com/office/drawing/2014/main" id="{A7D6D011-F185-4994-8C6F-6C062333EA6C}"/>
              </a:ext>
            </a:extLst>
          </p:cNvPr>
          <p:cNvGrpSpPr/>
          <p:nvPr/>
        </p:nvGrpSpPr>
        <p:grpSpPr>
          <a:xfrm>
            <a:off x="1262862" y="4058766"/>
            <a:ext cx="4896000" cy="1008000"/>
            <a:chOff x="918225" y="2780667"/>
            <a:chExt cx="6801130" cy="1404417"/>
          </a:xfrm>
        </p:grpSpPr>
        <p:grpSp>
          <p:nvGrpSpPr>
            <p:cNvPr id="48" name="Gruppieren 47">
              <a:extLst>
                <a:ext uri="{FF2B5EF4-FFF2-40B4-BE49-F238E27FC236}">
                  <a16:creationId xmlns:a16="http://schemas.microsoft.com/office/drawing/2014/main" id="{F50C1A91-7B02-4A84-8E68-BB97F09C0E89}"/>
                </a:ext>
              </a:extLst>
            </p:cNvPr>
            <p:cNvGrpSpPr/>
            <p:nvPr/>
          </p:nvGrpSpPr>
          <p:grpSpPr>
            <a:xfrm>
              <a:off x="987354" y="2972640"/>
              <a:ext cx="6732001" cy="1067982"/>
              <a:chOff x="946888" y="2684869"/>
              <a:chExt cx="6732001" cy="1067982"/>
            </a:xfrm>
          </p:grpSpPr>
          <p:grpSp>
            <p:nvGrpSpPr>
              <p:cNvPr id="49" name="Gruppieren 48">
                <a:extLst>
                  <a:ext uri="{FF2B5EF4-FFF2-40B4-BE49-F238E27FC236}">
                    <a16:creationId xmlns:a16="http://schemas.microsoft.com/office/drawing/2014/main" id="{E0B1D41B-4C6B-4B1E-B904-526DF6A84386}"/>
                  </a:ext>
                </a:extLst>
              </p:cNvPr>
              <p:cNvGrpSpPr/>
              <p:nvPr/>
            </p:nvGrpSpPr>
            <p:grpSpPr>
              <a:xfrm>
                <a:off x="946888" y="2684869"/>
                <a:ext cx="6732001" cy="1067982"/>
                <a:chOff x="986607" y="3303000"/>
                <a:chExt cx="4537464" cy="743507"/>
              </a:xfrm>
            </p:grpSpPr>
            <p:grpSp>
              <p:nvGrpSpPr>
                <p:cNvPr id="51" name="Gruppieren 50">
                  <a:extLst>
                    <a:ext uri="{FF2B5EF4-FFF2-40B4-BE49-F238E27FC236}">
                      <a16:creationId xmlns:a16="http://schemas.microsoft.com/office/drawing/2014/main" id="{A5EC0EE4-E062-4E35-96FD-788F96DDE8CA}"/>
                    </a:ext>
                  </a:extLst>
                </p:cNvPr>
                <p:cNvGrpSpPr/>
                <p:nvPr/>
              </p:nvGrpSpPr>
              <p:grpSpPr>
                <a:xfrm>
                  <a:off x="986607" y="3303000"/>
                  <a:ext cx="4537464" cy="449850"/>
                  <a:chOff x="986607" y="3303000"/>
                  <a:chExt cx="4537464" cy="449850"/>
                </a:xfrm>
              </p:grpSpPr>
              <p:cxnSp>
                <p:nvCxnSpPr>
                  <p:cNvPr id="56" name="Gerader Verbinder 55">
                    <a:extLst>
                      <a:ext uri="{FF2B5EF4-FFF2-40B4-BE49-F238E27FC236}">
                        <a16:creationId xmlns:a16="http://schemas.microsoft.com/office/drawing/2014/main" id="{2F828D32-4D81-487C-8BB9-B9BE636F7BBF}"/>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7" name="Gerader Verbinder 56">
                    <a:extLst>
                      <a:ext uri="{FF2B5EF4-FFF2-40B4-BE49-F238E27FC236}">
                        <a16:creationId xmlns:a16="http://schemas.microsoft.com/office/drawing/2014/main" id="{9D0880BE-9782-452C-A922-3223D4EA8C70}"/>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8" name="Gerader Verbinder 57">
                    <a:extLst>
                      <a:ext uri="{FF2B5EF4-FFF2-40B4-BE49-F238E27FC236}">
                        <a16:creationId xmlns:a16="http://schemas.microsoft.com/office/drawing/2014/main" id="{0BBE5A92-1153-4922-B439-FA519F08B86D}"/>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9" name="Gerader Verbinder 58">
                    <a:extLst>
                      <a:ext uri="{FF2B5EF4-FFF2-40B4-BE49-F238E27FC236}">
                        <a16:creationId xmlns:a16="http://schemas.microsoft.com/office/drawing/2014/main" id="{3D3D6C63-781A-4BA4-BFC2-D7EA167BB513}"/>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0" name="Gerader Verbinder 59">
                    <a:extLst>
                      <a:ext uri="{FF2B5EF4-FFF2-40B4-BE49-F238E27FC236}">
                        <a16:creationId xmlns:a16="http://schemas.microsoft.com/office/drawing/2014/main" id="{922C453A-F824-4FDF-B1A7-A4B9F03FA476}"/>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1" name="Ellipse 60">
                    <a:extLst>
                      <a:ext uri="{FF2B5EF4-FFF2-40B4-BE49-F238E27FC236}">
                        <a16:creationId xmlns:a16="http://schemas.microsoft.com/office/drawing/2014/main" id="{41929FCB-FB6F-4139-BAC8-776B6CC906F5}"/>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2" name="Ellipse 61">
                    <a:extLst>
                      <a:ext uri="{FF2B5EF4-FFF2-40B4-BE49-F238E27FC236}">
                        <a16:creationId xmlns:a16="http://schemas.microsoft.com/office/drawing/2014/main" id="{3864E6AD-3A9C-4F8A-A3BE-FEA7DF013994}"/>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3" name="Ellipse 62">
                    <a:extLst>
                      <a:ext uri="{FF2B5EF4-FFF2-40B4-BE49-F238E27FC236}">
                        <a16:creationId xmlns:a16="http://schemas.microsoft.com/office/drawing/2014/main" id="{B91F897B-F689-425B-8D9D-B489A3E38DD6}"/>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4" name="Ellipse 63">
                    <a:extLst>
                      <a:ext uri="{FF2B5EF4-FFF2-40B4-BE49-F238E27FC236}">
                        <a16:creationId xmlns:a16="http://schemas.microsoft.com/office/drawing/2014/main" id="{F4D01EC7-1368-4D8C-A2BE-E25E854CBCEC}"/>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5" name="Ellipse 64">
                    <a:extLst>
                      <a:ext uri="{FF2B5EF4-FFF2-40B4-BE49-F238E27FC236}">
                        <a16:creationId xmlns:a16="http://schemas.microsoft.com/office/drawing/2014/main" id="{C7996A9D-382F-4591-A21B-438364CA14B9}"/>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6" name="Ellipse 65">
                    <a:extLst>
                      <a:ext uri="{FF2B5EF4-FFF2-40B4-BE49-F238E27FC236}">
                        <a16:creationId xmlns:a16="http://schemas.microsoft.com/office/drawing/2014/main" id="{E4C0847D-047D-4D89-8C90-4261F243915E}"/>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7" name="Ellipse 66">
                    <a:extLst>
                      <a:ext uri="{FF2B5EF4-FFF2-40B4-BE49-F238E27FC236}">
                        <a16:creationId xmlns:a16="http://schemas.microsoft.com/office/drawing/2014/main" id="{1ACE23D9-D008-4C41-998A-964A9FC999A2}"/>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8" name="Ellipse 67">
                    <a:extLst>
                      <a:ext uri="{FF2B5EF4-FFF2-40B4-BE49-F238E27FC236}">
                        <a16:creationId xmlns:a16="http://schemas.microsoft.com/office/drawing/2014/main" id="{DF118E3E-D850-4D5F-8136-C02A2D4862FC}"/>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9" name="Ellipse 68">
                    <a:extLst>
                      <a:ext uri="{FF2B5EF4-FFF2-40B4-BE49-F238E27FC236}">
                        <a16:creationId xmlns:a16="http://schemas.microsoft.com/office/drawing/2014/main" id="{0340D88E-6F66-4BD9-A3B1-EDDFE6DE3641}"/>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52" name="Textfeld 51">
                  <a:extLst>
                    <a:ext uri="{FF2B5EF4-FFF2-40B4-BE49-F238E27FC236}">
                      <a16:creationId xmlns:a16="http://schemas.microsoft.com/office/drawing/2014/main" id="{2689E19A-5BC9-4B6E-97F4-B377B2C1EF65}"/>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53" name="Textfeld 52">
                  <a:extLst>
                    <a:ext uri="{FF2B5EF4-FFF2-40B4-BE49-F238E27FC236}">
                      <a16:creationId xmlns:a16="http://schemas.microsoft.com/office/drawing/2014/main" id="{B8241891-FA8A-46E4-8FD6-5A006061A8BE}"/>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54" name="Textfeld 53">
                  <a:extLst>
                    <a:ext uri="{FF2B5EF4-FFF2-40B4-BE49-F238E27FC236}">
                      <a16:creationId xmlns:a16="http://schemas.microsoft.com/office/drawing/2014/main" id="{CA135A0F-CC69-41F6-B284-6113C9ABD699}"/>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55" name="Textfeld 54">
                  <a:extLst>
                    <a:ext uri="{FF2B5EF4-FFF2-40B4-BE49-F238E27FC236}">
                      <a16:creationId xmlns:a16="http://schemas.microsoft.com/office/drawing/2014/main" id="{5E8FDF68-339D-4985-94EB-C5DACAA1E7AD}"/>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50" name="Ellipse 49">
                <a:extLst>
                  <a:ext uri="{FF2B5EF4-FFF2-40B4-BE49-F238E27FC236}">
                    <a16:creationId xmlns:a16="http://schemas.microsoft.com/office/drawing/2014/main" id="{12D21413-8A1C-4ECA-9B27-736EEB90DE62}"/>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70" name="Rechteck 69">
              <a:extLst>
                <a:ext uri="{FF2B5EF4-FFF2-40B4-BE49-F238E27FC236}">
                  <a16:creationId xmlns:a16="http://schemas.microsoft.com/office/drawing/2014/main" id="{BEEFAEC3-BB70-40A7-A870-119E5402A3F0}"/>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1" name="Rechteck 70">
              <a:extLst>
                <a:ext uri="{FF2B5EF4-FFF2-40B4-BE49-F238E27FC236}">
                  <a16:creationId xmlns:a16="http://schemas.microsoft.com/office/drawing/2014/main" id="{2CCEF242-394B-4249-8381-355D5CDC67FB}"/>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72" name="Gerader Verbinder 71">
              <a:extLst>
                <a:ext uri="{FF2B5EF4-FFF2-40B4-BE49-F238E27FC236}">
                  <a16:creationId xmlns:a16="http://schemas.microsoft.com/office/drawing/2014/main" id="{18FE78C6-79B5-462E-AD00-A682722AD72C}"/>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124" name="Gruppieren 123">
            <a:extLst>
              <a:ext uri="{FF2B5EF4-FFF2-40B4-BE49-F238E27FC236}">
                <a16:creationId xmlns:a16="http://schemas.microsoft.com/office/drawing/2014/main" id="{9241C80F-B532-4B58-ACEA-5C37C0C139F6}"/>
              </a:ext>
            </a:extLst>
          </p:cNvPr>
          <p:cNvGrpSpPr/>
          <p:nvPr/>
        </p:nvGrpSpPr>
        <p:grpSpPr>
          <a:xfrm>
            <a:off x="6865966" y="4041068"/>
            <a:ext cx="4896000" cy="1008000"/>
            <a:chOff x="918225" y="2780667"/>
            <a:chExt cx="6801130" cy="1404417"/>
          </a:xfrm>
        </p:grpSpPr>
        <p:grpSp>
          <p:nvGrpSpPr>
            <p:cNvPr id="99" name="Gruppieren 98">
              <a:extLst>
                <a:ext uri="{FF2B5EF4-FFF2-40B4-BE49-F238E27FC236}">
                  <a16:creationId xmlns:a16="http://schemas.microsoft.com/office/drawing/2014/main" id="{B7E8A650-98F7-40F5-9376-259C930E2CB5}"/>
                </a:ext>
              </a:extLst>
            </p:cNvPr>
            <p:cNvGrpSpPr/>
            <p:nvPr/>
          </p:nvGrpSpPr>
          <p:grpSpPr>
            <a:xfrm>
              <a:off x="987354" y="2972640"/>
              <a:ext cx="6732001" cy="1067982"/>
              <a:chOff x="946888" y="2684869"/>
              <a:chExt cx="6732001" cy="1067982"/>
            </a:xfrm>
          </p:grpSpPr>
          <p:grpSp>
            <p:nvGrpSpPr>
              <p:cNvPr id="100" name="Gruppieren 99">
                <a:extLst>
                  <a:ext uri="{FF2B5EF4-FFF2-40B4-BE49-F238E27FC236}">
                    <a16:creationId xmlns:a16="http://schemas.microsoft.com/office/drawing/2014/main" id="{25DF5F3A-696F-464C-B504-8DB3084EF26F}"/>
                  </a:ext>
                </a:extLst>
              </p:cNvPr>
              <p:cNvGrpSpPr/>
              <p:nvPr/>
            </p:nvGrpSpPr>
            <p:grpSpPr>
              <a:xfrm>
                <a:off x="946888" y="2684869"/>
                <a:ext cx="6732001" cy="1067982"/>
                <a:chOff x="986607" y="3303000"/>
                <a:chExt cx="4537464" cy="743507"/>
              </a:xfrm>
            </p:grpSpPr>
            <p:grpSp>
              <p:nvGrpSpPr>
                <p:cNvPr id="102" name="Gruppieren 101">
                  <a:extLst>
                    <a:ext uri="{FF2B5EF4-FFF2-40B4-BE49-F238E27FC236}">
                      <a16:creationId xmlns:a16="http://schemas.microsoft.com/office/drawing/2014/main" id="{AA703A52-9218-49D7-9B2A-E5D91A1813C3}"/>
                    </a:ext>
                  </a:extLst>
                </p:cNvPr>
                <p:cNvGrpSpPr/>
                <p:nvPr/>
              </p:nvGrpSpPr>
              <p:grpSpPr>
                <a:xfrm>
                  <a:off x="986607" y="3303000"/>
                  <a:ext cx="4537464" cy="449850"/>
                  <a:chOff x="986607" y="3303000"/>
                  <a:chExt cx="4537464" cy="449850"/>
                </a:xfrm>
              </p:grpSpPr>
              <p:cxnSp>
                <p:nvCxnSpPr>
                  <p:cNvPr id="107" name="Gerader Verbinder 106">
                    <a:extLst>
                      <a:ext uri="{FF2B5EF4-FFF2-40B4-BE49-F238E27FC236}">
                        <a16:creationId xmlns:a16="http://schemas.microsoft.com/office/drawing/2014/main" id="{947E6C80-737D-4EFB-AAD8-8FFB4194E6EB}"/>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8" name="Gerader Verbinder 107">
                    <a:extLst>
                      <a:ext uri="{FF2B5EF4-FFF2-40B4-BE49-F238E27FC236}">
                        <a16:creationId xmlns:a16="http://schemas.microsoft.com/office/drawing/2014/main" id="{1183839B-C9B0-4ECD-90C5-4413A7024AA9}"/>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09" name="Gerader Verbinder 108">
                    <a:extLst>
                      <a:ext uri="{FF2B5EF4-FFF2-40B4-BE49-F238E27FC236}">
                        <a16:creationId xmlns:a16="http://schemas.microsoft.com/office/drawing/2014/main" id="{9FECFCF3-9E2A-49A4-9BE6-5E2C7FF79AAE}"/>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0" name="Gerader Verbinder 109">
                    <a:extLst>
                      <a:ext uri="{FF2B5EF4-FFF2-40B4-BE49-F238E27FC236}">
                        <a16:creationId xmlns:a16="http://schemas.microsoft.com/office/drawing/2014/main" id="{DA137600-7F10-4596-8A79-D1ACDA88680D}"/>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11" name="Gerader Verbinder 110">
                    <a:extLst>
                      <a:ext uri="{FF2B5EF4-FFF2-40B4-BE49-F238E27FC236}">
                        <a16:creationId xmlns:a16="http://schemas.microsoft.com/office/drawing/2014/main" id="{2B27BDAC-DCB0-4F3E-8250-B0756A89C0B3}"/>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12" name="Ellipse 111">
                    <a:extLst>
                      <a:ext uri="{FF2B5EF4-FFF2-40B4-BE49-F238E27FC236}">
                        <a16:creationId xmlns:a16="http://schemas.microsoft.com/office/drawing/2014/main" id="{70C47718-467E-4484-AEC7-FC25E67E8E90}"/>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3" name="Ellipse 112">
                    <a:extLst>
                      <a:ext uri="{FF2B5EF4-FFF2-40B4-BE49-F238E27FC236}">
                        <a16:creationId xmlns:a16="http://schemas.microsoft.com/office/drawing/2014/main" id="{BB21D727-BCFA-43E1-8D64-F5B9F2ECD589}"/>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4" name="Ellipse 113">
                    <a:extLst>
                      <a:ext uri="{FF2B5EF4-FFF2-40B4-BE49-F238E27FC236}">
                        <a16:creationId xmlns:a16="http://schemas.microsoft.com/office/drawing/2014/main" id="{16DA7C93-29AA-45AE-864B-AC4B4AD24E7D}"/>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5" name="Ellipse 114">
                    <a:extLst>
                      <a:ext uri="{FF2B5EF4-FFF2-40B4-BE49-F238E27FC236}">
                        <a16:creationId xmlns:a16="http://schemas.microsoft.com/office/drawing/2014/main" id="{03EB1D02-366E-4EB8-B26A-17E65E451E2C}"/>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6" name="Ellipse 115">
                    <a:extLst>
                      <a:ext uri="{FF2B5EF4-FFF2-40B4-BE49-F238E27FC236}">
                        <a16:creationId xmlns:a16="http://schemas.microsoft.com/office/drawing/2014/main" id="{6ED0DBAC-D081-4780-A607-176AE1C256AF}"/>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7" name="Ellipse 116">
                    <a:extLst>
                      <a:ext uri="{FF2B5EF4-FFF2-40B4-BE49-F238E27FC236}">
                        <a16:creationId xmlns:a16="http://schemas.microsoft.com/office/drawing/2014/main" id="{4FFDFECA-4248-4DB8-8B8C-A047FD5531ED}"/>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8" name="Ellipse 117">
                    <a:extLst>
                      <a:ext uri="{FF2B5EF4-FFF2-40B4-BE49-F238E27FC236}">
                        <a16:creationId xmlns:a16="http://schemas.microsoft.com/office/drawing/2014/main" id="{58A1156E-B684-450C-847D-41625D935C24}"/>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9" name="Ellipse 118">
                    <a:extLst>
                      <a:ext uri="{FF2B5EF4-FFF2-40B4-BE49-F238E27FC236}">
                        <a16:creationId xmlns:a16="http://schemas.microsoft.com/office/drawing/2014/main" id="{3D5CAF38-23A8-4104-8AC9-0E7100D71B1A}"/>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20" name="Ellipse 119">
                    <a:extLst>
                      <a:ext uri="{FF2B5EF4-FFF2-40B4-BE49-F238E27FC236}">
                        <a16:creationId xmlns:a16="http://schemas.microsoft.com/office/drawing/2014/main" id="{E6D6F476-B373-4D59-8109-A229E6A2B55B}"/>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03" name="Textfeld 102">
                  <a:extLst>
                    <a:ext uri="{FF2B5EF4-FFF2-40B4-BE49-F238E27FC236}">
                      <a16:creationId xmlns:a16="http://schemas.microsoft.com/office/drawing/2014/main" id="{AE0671C4-033D-4FF1-AC4D-AB96E027ED30}"/>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104" name="Textfeld 103">
                  <a:extLst>
                    <a:ext uri="{FF2B5EF4-FFF2-40B4-BE49-F238E27FC236}">
                      <a16:creationId xmlns:a16="http://schemas.microsoft.com/office/drawing/2014/main" id="{CF0C0444-7C34-4049-8995-8EAC631F9D55}"/>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105" name="Textfeld 104">
                  <a:extLst>
                    <a:ext uri="{FF2B5EF4-FFF2-40B4-BE49-F238E27FC236}">
                      <a16:creationId xmlns:a16="http://schemas.microsoft.com/office/drawing/2014/main" id="{E6AC0DDB-A675-4538-B7E1-7CF4DF7F2D9C}"/>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106" name="Textfeld 105">
                  <a:extLst>
                    <a:ext uri="{FF2B5EF4-FFF2-40B4-BE49-F238E27FC236}">
                      <a16:creationId xmlns:a16="http://schemas.microsoft.com/office/drawing/2014/main" id="{B6EB49F9-4027-45FC-BB7C-59CFBAFDAF94}"/>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01" name="Ellipse 100">
                <a:extLst>
                  <a:ext uri="{FF2B5EF4-FFF2-40B4-BE49-F238E27FC236}">
                    <a16:creationId xmlns:a16="http://schemas.microsoft.com/office/drawing/2014/main" id="{785DE2B1-E5EE-4195-A5B7-609AE6C54D3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21" name="Rechteck 120">
              <a:extLst>
                <a:ext uri="{FF2B5EF4-FFF2-40B4-BE49-F238E27FC236}">
                  <a16:creationId xmlns:a16="http://schemas.microsoft.com/office/drawing/2014/main" id="{57B93CE4-0BF1-4262-A67C-6237FAEE4C56}"/>
                </a:ext>
              </a:extLst>
            </p:cNvPr>
            <p:cNvSpPr/>
            <p:nvPr/>
          </p:nvSpPr>
          <p:spPr bwMode="auto">
            <a:xfrm>
              <a:off x="918225" y="2908206"/>
              <a:ext cx="2821802"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22" name="Rechteck 121">
              <a:extLst>
                <a:ext uri="{FF2B5EF4-FFF2-40B4-BE49-F238E27FC236}">
                  <a16:creationId xmlns:a16="http://schemas.microsoft.com/office/drawing/2014/main" id="{6E42BD8E-3F42-4AC3-8D81-73B53B8CE2D0}"/>
                </a:ext>
              </a:extLst>
            </p:cNvPr>
            <p:cNvSpPr/>
            <p:nvPr/>
          </p:nvSpPr>
          <p:spPr bwMode="auto">
            <a:xfrm>
              <a:off x="3777063" y="2915601"/>
              <a:ext cx="3902653"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23" name="Gerader Verbinder 122">
              <a:extLst>
                <a:ext uri="{FF2B5EF4-FFF2-40B4-BE49-F238E27FC236}">
                  <a16:creationId xmlns:a16="http://schemas.microsoft.com/office/drawing/2014/main" id="{6CCDD76A-9EA5-4073-B081-AF2BE90A5CD8}"/>
                </a:ext>
              </a:extLst>
            </p:cNvPr>
            <p:cNvCxnSpPr/>
            <p:nvPr/>
          </p:nvCxnSpPr>
          <p:spPr bwMode="auto">
            <a:xfrm flipH="1">
              <a:off x="3758176"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150" name="Gruppieren 149">
            <a:extLst>
              <a:ext uri="{FF2B5EF4-FFF2-40B4-BE49-F238E27FC236}">
                <a16:creationId xmlns:a16="http://schemas.microsoft.com/office/drawing/2014/main" id="{4B393182-57A5-4243-AA18-42304097BAF0}"/>
              </a:ext>
            </a:extLst>
          </p:cNvPr>
          <p:cNvGrpSpPr/>
          <p:nvPr/>
        </p:nvGrpSpPr>
        <p:grpSpPr>
          <a:xfrm>
            <a:off x="1270464" y="5292897"/>
            <a:ext cx="4896000" cy="1008000"/>
            <a:chOff x="918224" y="2780667"/>
            <a:chExt cx="6801131" cy="1404417"/>
          </a:xfrm>
        </p:grpSpPr>
        <p:grpSp>
          <p:nvGrpSpPr>
            <p:cNvPr id="125" name="Gruppieren 124">
              <a:extLst>
                <a:ext uri="{FF2B5EF4-FFF2-40B4-BE49-F238E27FC236}">
                  <a16:creationId xmlns:a16="http://schemas.microsoft.com/office/drawing/2014/main" id="{B32B1FBC-C905-4075-91D7-3C0767772BDD}"/>
                </a:ext>
              </a:extLst>
            </p:cNvPr>
            <p:cNvGrpSpPr/>
            <p:nvPr/>
          </p:nvGrpSpPr>
          <p:grpSpPr>
            <a:xfrm>
              <a:off x="987354" y="2972640"/>
              <a:ext cx="6732001" cy="1067982"/>
              <a:chOff x="946888" y="2684869"/>
              <a:chExt cx="6732001" cy="1067982"/>
            </a:xfrm>
          </p:grpSpPr>
          <p:grpSp>
            <p:nvGrpSpPr>
              <p:cNvPr id="126" name="Gruppieren 125">
                <a:extLst>
                  <a:ext uri="{FF2B5EF4-FFF2-40B4-BE49-F238E27FC236}">
                    <a16:creationId xmlns:a16="http://schemas.microsoft.com/office/drawing/2014/main" id="{37B39E13-8BAA-4ADE-B573-9419E44CCF07}"/>
                  </a:ext>
                </a:extLst>
              </p:cNvPr>
              <p:cNvGrpSpPr/>
              <p:nvPr/>
            </p:nvGrpSpPr>
            <p:grpSpPr>
              <a:xfrm>
                <a:off x="946888" y="2684869"/>
                <a:ext cx="6732001" cy="1067982"/>
                <a:chOff x="986607" y="3303000"/>
                <a:chExt cx="4537464" cy="743507"/>
              </a:xfrm>
            </p:grpSpPr>
            <p:grpSp>
              <p:nvGrpSpPr>
                <p:cNvPr id="128" name="Gruppieren 127">
                  <a:extLst>
                    <a:ext uri="{FF2B5EF4-FFF2-40B4-BE49-F238E27FC236}">
                      <a16:creationId xmlns:a16="http://schemas.microsoft.com/office/drawing/2014/main" id="{8AB67898-5D5C-4FEF-B38E-9E12565ED242}"/>
                    </a:ext>
                  </a:extLst>
                </p:cNvPr>
                <p:cNvGrpSpPr/>
                <p:nvPr/>
              </p:nvGrpSpPr>
              <p:grpSpPr>
                <a:xfrm>
                  <a:off x="986607" y="3303000"/>
                  <a:ext cx="4537464" cy="449850"/>
                  <a:chOff x="986607" y="3303000"/>
                  <a:chExt cx="4537464" cy="449850"/>
                </a:xfrm>
              </p:grpSpPr>
              <p:cxnSp>
                <p:nvCxnSpPr>
                  <p:cNvPr id="133" name="Gerader Verbinder 132">
                    <a:extLst>
                      <a:ext uri="{FF2B5EF4-FFF2-40B4-BE49-F238E27FC236}">
                        <a16:creationId xmlns:a16="http://schemas.microsoft.com/office/drawing/2014/main" id="{749F91FF-8C7D-4C98-9D2A-D61492346D69}"/>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4" name="Gerader Verbinder 133">
                    <a:extLst>
                      <a:ext uri="{FF2B5EF4-FFF2-40B4-BE49-F238E27FC236}">
                        <a16:creationId xmlns:a16="http://schemas.microsoft.com/office/drawing/2014/main" id="{1648DA7D-82C4-4F5F-9931-3FC6A4D31BF7}"/>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5" name="Gerader Verbinder 134">
                    <a:extLst>
                      <a:ext uri="{FF2B5EF4-FFF2-40B4-BE49-F238E27FC236}">
                        <a16:creationId xmlns:a16="http://schemas.microsoft.com/office/drawing/2014/main" id="{2E047FF5-5AE2-4757-B5E5-5C0A29E55B15}"/>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6" name="Gerader Verbinder 135">
                    <a:extLst>
                      <a:ext uri="{FF2B5EF4-FFF2-40B4-BE49-F238E27FC236}">
                        <a16:creationId xmlns:a16="http://schemas.microsoft.com/office/drawing/2014/main" id="{F0DA2A74-E414-422E-845F-CF65197F9065}"/>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7" name="Gerader Verbinder 136">
                    <a:extLst>
                      <a:ext uri="{FF2B5EF4-FFF2-40B4-BE49-F238E27FC236}">
                        <a16:creationId xmlns:a16="http://schemas.microsoft.com/office/drawing/2014/main" id="{A66BFD99-5A50-419A-A137-A9641ED4BE7C}"/>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8" name="Ellipse 137">
                    <a:extLst>
                      <a:ext uri="{FF2B5EF4-FFF2-40B4-BE49-F238E27FC236}">
                        <a16:creationId xmlns:a16="http://schemas.microsoft.com/office/drawing/2014/main" id="{AC46A38D-4B24-4924-90AC-C07AED17F057}"/>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39" name="Ellipse 138">
                    <a:extLst>
                      <a:ext uri="{FF2B5EF4-FFF2-40B4-BE49-F238E27FC236}">
                        <a16:creationId xmlns:a16="http://schemas.microsoft.com/office/drawing/2014/main" id="{249D2264-26E5-4E36-80D6-5B233C719DED}"/>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0" name="Ellipse 139">
                    <a:extLst>
                      <a:ext uri="{FF2B5EF4-FFF2-40B4-BE49-F238E27FC236}">
                        <a16:creationId xmlns:a16="http://schemas.microsoft.com/office/drawing/2014/main" id="{C5E5573B-A8D1-45E1-A240-6F350D73B9E3}"/>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1" name="Ellipse 140">
                    <a:extLst>
                      <a:ext uri="{FF2B5EF4-FFF2-40B4-BE49-F238E27FC236}">
                        <a16:creationId xmlns:a16="http://schemas.microsoft.com/office/drawing/2014/main" id="{7FBA92F0-4817-4CAF-840F-C19A17A697AF}"/>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2" name="Ellipse 141">
                    <a:extLst>
                      <a:ext uri="{FF2B5EF4-FFF2-40B4-BE49-F238E27FC236}">
                        <a16:creationId xmlns:a16="http://schemas.microsoft.com/office/drawing/2014/main" id="{F13CE28C-B179-41D6-A345-816444561D26}"/>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3" name="Ellipse 142">
                    <a:extLst>
                      <a:ext uri="{FF2B5EF4-FFF2-40B4-BE49-F238E27FC236}">
                        <a16:creationId xmlns:a16="http://schemas.microsoft.com/office/drawing/2014/main" id="{2E930779-E314-4791-9D35-EF72FC11B5B9}"/>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4" name="Ellipse 143">
                    <a:extLst>
                      <a:ext uri="{FF2B5EF4-FFF2-40B4-BE49-F238E27FC236}">
                        <a16:creationId xmlns:a16="http://schemas.microsoft.com/office/drawing/2014/main" id="{9649A850-759C-40EF-8B2A-E243A47C7AD4}"/>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5" name="Ellipse 144">
                    <a:extLst>
                      <a:ext uri="{FF2B5EF4-FFF2-40B4-BE49-F238E27FC236}">
                        <a16:creationId xmlns:a16="http://schemas.microsoft.com/office/drawing/2014/main" id="{6F37041A-D229-47F3-9A6B-623DB79A8E66}"/>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6" name="Ellipse 145">
                    <a:extLst>
                      <a:ext uri="{FF2B5EF4-FFF2-40B4-BE49-F238E27FC236}">
                        <a16:creationId xmlns:a16="http://schemas.microsoft.com/office/drawing/2014/main" id="{8BE25E96-C151-4554-A974-389A39AA41D0}"/>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29" name="Textfeld 128">
                  <a:extLst>
                    <a:ext uri="{FF2B5EF4-FFF2-40B4-BE49-F238E27FC236}">
                      <a16:creationId xmlns:a16="http://schemas.microsoft.com/office/drawing/2014/main" id="{F8817264-64D5-4F4D-82C6-9E5DC75992C9}"/>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130" name="Textfeld 129">
                  <a:extLst>
                    <a:ext uri="{FF2B5EF4-FFF2-40B4-BE49-F238E27FC236}">
                      <a16:creationId xmlns:a16="http://schemas.microsoft.com/office/drawing/2014/main" id="{13957B84-3FD0-407D-B51C-52060DEE224A}"/>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131" name="Textfeld 130">
                  <a:extLst>
                    <a:ext uri="{FF2B5EF4-FFF2-40B4-BE49-F238E27FC236}">
                      <a16:creationId xmlns:a16="http://schemas.microsoft.com/office/drawing/2014/main" id="{58E5D270-2125-4D43-B0D9-5D9B30111B42}"/>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132" name="Textfeld 131">
                  <a:extLst>
                    <a:ext uri="{FF2B5EF4-FFF2-40B4-BE49-F238E27FC236}">
                      <a16:creationId xmlns:a16="http://schemas.microsoft.com/office/drawing/2014/main" id="{752BBD44-7046-430F-8E01-9E3F6AE91DF2}"/>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27" name="Ellipse 126">
                <a:extLst>
                  <a:ext uri="{FF2B5EF4-FFF2-40B4-BE49-F238E27FC236}">
                    <a16:creationId xmlns:a16="http://schemas.microsoft.com/office/drawing/2014/main" id="{8C2F3EC3-DB9F-4B18-8EA1-EEF855805D38}"/>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47" name="Rechteck 146">
              <a:extLst>
                <a:ext uri="{FF2B5EF4-FFF2-40B4-BE49-F238E27FC236}">
                  <a16:creationId xmlns:a16="http://schemas.microsoft.com/office/drawing/2014/main" id="{7DFA15EC-BEC1-40B3-8713-BA3D07CB4A9F}"/>
                </a:ext>
              </a:extLst>
            </p:cNvPr>
            <p:cNvSpPr/>
            <p:nvPr/>
          </p:nvSpPr>
          <p:spPr bwMode="auto">
            <a:xfrm>
              <a:off x="918224" y="2908206"/>
              <a:ext cx="3560032"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8" name="Rechteck 147">
              <a:extLst>
                <a:ext uri="{FF2B5EF4-FFF2-40B4-BE49-F238E27FC236}">
                  <a16:creationId xmlns:a16="http://schemas.microsoft.com/office/drawing/2014/main" id="{7CFBEC22-F501-46A1-B327-5377FD9C1E1A}"/>
                </a:ext>
              </a:extLst>
            </p:cNvPr>
            <p:cNvSpPr/>
            <p:nvPr/>
          </p:nvSpPr>
          <p:spPr bwMode="auto">
            <a:xfrm>
              <a:off x="4498485" y="2915601"/>
              <a:ext cx="3181231"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49" name="Gerader Verbinder 148">
              <a:extLst>
                <a:ext uri="{FF2B5EF4-FFF2-40B4-BE49-F238E27FC236}">
                  <a16:creationId xmlns:a16="http://schemas.microsoft.com/office/drawing/2014/main" id="{69EF098F-F322-4545-B34A-BC70B7707CC1}"/>
                </a:ext>
              </a:extLst>
            </p:cNvPr>
            <p:cNvCxnSpPr/>
            <p:nvPr/>
          </p:nvCxnSpPr>
          <p:spPr bwMode="auto">
            <a:xfrm flipH="1">
              <a:off x="4478256"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grpSp>
        <p:nvGrpSpPr>
          <p:cNvPr id="200" name="Gruppieren 199">
            <a:extLst>
              <a:ext uri="{FF2B5EF4-FFF2-40B4-BE49-F238E27FC236}">
                <a16:creationId xmlns:a16="http://schemas.microsoft.com/office/drawing/2014/main" id="{63A9E29D-CA33-44F0-AC23-A487D41E2101}"/>
              </a:ext>
            </a:extLst>
          </p:cNvPr>
          <p:cNvGrpSpPr/>
          <p:nvPr/>
        </p:nvGrpSpPr>
        <p:grpSpPr>
          <a:xfrm>
            <a:off x="6857850" y="5309427"/>
            <a:ext cx="4896000" cy="1008000"/>
            <a:chOff x="918224" y="2768507"/>
            <a:chExt cx="6801131" cy="1404417"/>
          </a:xfrm>
        </p:grpSpPr>
        <p:grpSp>
          <p:nvGrpSpPr>
            <p:cNvPr id="175" name="Gruppieren 174">
              <a:extLst>
                <a:ext uri="{FF2B5EF4-FFF2-40B4-BE49-F238E27FC236}">
                  <a16:creationId xmlns:a16="http://schemas.microsoft.com/office/drawing/2014/main" id="{C4DCB37B-A2C6-4C9A-A206-A5DD6838D664}"/>
                </a:ext>
              </a:extLst>
            </p:cNvPr>
            <p:cNvGrpSpPr/>
            <p:nvPr/>
          </p:nvGrpSpPr>
          <p:grpSpPr>
            <a:xfrm>
              <a:off x="987354" y="2972640"/>
              <a:ext cx="6732001" cy="1067982"/>
              <a:chOff x="946888" y="2684869"/>
              <a:chExt cx="6732001" cy="1067982"/>
            </a:xfrm>
          </p:grpSpPr>
          <p:grpSp>
            <p:nvGrpSpPr>
              <p:cNvPr id="176" name="Gruppieren 175">
                <a:extLst>
                  <a:ext uri="{FF2B5EF4-FFF2-40B4-BE49-F238E27FC236}">
                    <a16:creationId xmlns:a16="http://schemas.microsoft.com/office/drawing/2014/main" id="{E624879D-D7AB-450E-90A6-2FEA5547C3CF}"/>
                  </a:ext>
                </a:extLst>
              </p:cNvPr>
              <p:cNvGrpSpPr/>
              <p:nvPr/>
            </p:nvGrpSpPr>
            <p:grpSpPr>
              <a:xfrm>
                <a:off x="946888" y="2684869"/>
                <a:ext cx="6732001" cy="1067982"/>
                <a:chOff x="986607" y="3303000"/>
                <a:chExt cx="4537464" cy="743507"/>
              </a:xfrm>
            </p:grpSpPr>
            <p:grpSp>
              <p:nvGrpSpPr>
                <p:cNvPr id="178" name="Gruppieren 177">
                  <a:extLst>
                    <a:ext uri="{FF2B5EF4-FFF2-40B4-BE49-F238E27FC236}">
                      <a16:creationId xmlns:a16="http://schemas.microsoft.com/office/drawing/2014/main" id="{78281BBC-13D8-4633-943D-01F2EFFBBD3F}"/>
                    </a:ext>
                  </a:extLst>
                </p:cNvPr>
                <p:cNvGrpSpPr/>
                <p:nvPr/>
              </p:nvGrpSpPr>
              <p:grpSpPr>
                <a:xfrm>
                  <a:off x="986607" y="3303000"/>
                  <a:ext cx="4537464" cy="449850"/>
                  <a:chOff x="986607" y="3303000"/>
                  <a:chExt cx="4537464" cy="449850"/>
                </a:xfrm>
              </p:grpSpPr>
              <p:cxnSp>
                <p:nvCxnSpPr>
                  <p:cNvPr id="183" name="Gerader Verbinder 182">
                    <a:extLst>
                      <a:ext uri="{FF2B5EF4-FFF2-40B4-BE49-F238E27FC236}">
                        <a16:creationId xmlns:a16="http://schemas.microsoft.com/office/drawing/2014/main" id="{43B25D0C-7533-4D1E-85F5-72424AF8C2B3}"/>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4" name="Gerader Verbinder 183">
                    <a:extLst>
                      <a:ext uri="{FF2B5EF4-FFF2-40B4-BE49-F238E27FC236}">
                        <a16:creationId xmlns:a16="http://schemas.microsoft.com/office/drawing/2014/main" id="{A303F3F1-B2A7-4037-ACF9-A07CD6A4C52C}"/>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5" name="Gerader Verbinder 184">
                    <a:extLst>
                      <a:ext uri="{FF2B5EF4-FFF2-40B4-BE49-F238E27FC236}">
                        <a16:creationId xmlns:a16="http://schemas.microsoft.com/office/drawing/2014/main" id="{8454F12C-188A-49AD-A56B-4A11E1E8D7CD}"/>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6" name="Gerader Verbinder 185">
                    <a:extLst>
                      <a:ext uri="{FF2B5EF4-FFF2-40B4-BE49-F238E27FC236}">
                        <a16:creationId xmlns:a16="http://schemas.microsoft.com/office/drawing/2014/main" id="{2FA67AD0-6538-47C4-978D-AF526515B507}"/>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87" name="Gerader Verbinder 186">
                    <a:extLst>
                      <a:ext uri="{FF2B5EF4-FFF2-40B4-BE49-F238E27FC236}">
                        <a16:creationId xmlns:a16="http://schemas.microsoft.com/office/drawing/2014/main" id="{528F034E-68D5-4C9C-A8E9-302329C28F34}"/>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88" name="Ellipse 187">
                    <a:extLst>
                      <a:ext uri="{FF2B5EF4-FFF2-40B4-BE49-F238E27FC236}">
                        <a16:creationId xmlns:a16="http://schemas.microsoft.com/office/drawing/2014/main" id="{BF430D6C-CDB1-4F9C-BD07-45845F479031}"/>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89" name="Ellipse 188">
                    <a:extLst>
                      <a:ext uri="{FF2B5EF4-FFF2-40B4-BE49-F238E27FC236}">
                        <a16:creationId xmlns:a16="http://schemas.microsoft.com/office/drawing/2014/main" id="{1E2287D6-3979-4444-A8B9-4E2056C4E54E}"/>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0" name="Ellipse 189">
                    <a:extLst>
                      <a:ext uri="{FF2B5EF4-FFF2-40B4-BE49-F238E27FC236}">
                        <a16:creationId xmlns:a16="http://schemas.microsoft.com/office/drawing/2014/main" id="{3C9B7095-42DE-4702-AABB-6095E3FA58AE}"/>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1" name="Ellipse 190">
                    <a:extLst>
                      <a:ext uri="{FF2B5EF4-FFF2-40B4-BE49-F238E27FC236}">
                        <a16:creationId xmlns:a16="http://schemas.microsoft.com/office/drawing/2014/main" id="{9E4C5ED0-174E-4BA0-98A5-336393B1ED59}"/>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2" name="Ellipse 191">
                    <a:extLst>
                      <a:ext uri="{FF2B5EF4-FFF2-40B4-BE49-F238E27FC236}">
                        <a16:creationId xmlns:a16="http://schemas.microsoft.com/office/drawing/2014/main" id="{B3D2A10B-C50B-4130-B786-B89C2E468C65}"/>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3" name="Ellipse 192">
                    <a:extLst>
                      <a:ext uri="{FF2B5EF4-FFF2-40B4-BE49-F238E27FC236}">
                        <a16:creationId xmlns:a16="http://schemas.microsoft.com/office/drawing/2014/main" id="{66EBA95A-2168-4A95-9729-326DDA1A40EC}"/>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4" name="Ellipse 193">
                    <a:extLst>
                      <a:ext uri="{FF2B5EF4-FFF2-40B4-BE49-F238E27FC236}">
                        <a16:creationId xmlns:a16="http://schemas.microsoft.com/office/drawing/2014/main" id="{9EC09854-DE77-46CF-AEE3-9B3B67E3894D}"/>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5" name="Ellipse 194">
                    <a:extLst>
                      <a:ext uri="{FF2B5EF4-FFF2-40B4-BE49-F238E27FC236}">
                        <a16:creationId xmlns:a16="http://schemas.microsoft.com/office/drawing/2014/main" id="{5F9AD3EE-69EA-44A7-81D3-84BAE9AABE78}"/>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6" name="Ellipse 195">
                    <a:extLst>
                      <a:ext uri="{FF2B5EF4-FFF2-40B4-BE49-F238E27FC236}">
                        <a16:creationId xmlns:a16="http://schemas.microsoft.com/office/drawing/2014/main" id="{5DF23488-1166-444E-9071-5FC51BA28121}"/>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79" name="Textfeld 178">
                  <a:extLst>
                    <a:ext uri="{FF2B5EF4-FFF2-40B4-BE49-F238E27FC236}">
                      <a16:creationId xmlns:a16="http://schemas.microsoft.com/office/drawing/2014/main" id="{1D0B43DD-0CBC-491C-92CE-1183993C0C2B}"/>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180" name="Textfeld 179">
                  <a:extLst>
                    <a:ext uri="{FF2B5EF4-FFF2-40B4-BE49-F238E27FC236}">
                      <a16:creationId xmlns:a16="http://schemas.microsoft.com/office/drawing/2014/main" id="{F69C4D3F-C74F-4B91-9479-2B0686AA3409}"/>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181" name="Textfeld 180">
                  <a:extLst>
                    <a:ext uri="{FF2B5EF4-FFF2-40B4-BE49-F238E27FC236}">
                      <a16:creationId xmlns:a16="http://schemas.microsoft.com/office/drawing/2014/main" id="{FDB2D6D7-74F2-4984-A6F7-4BE62E9052E5}"/>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182" name="Textfeld 181">
                  <a:extLst>
                    <a:ext uri="{FF2B5EF4-FFF2-40B4-BE49-F238E27FC236}">
                      <a16:creationId xmlns:a16="http://schemas.microsoft.com/office/drawing/2014/main" id="{F4702C0F-D0F5-4D2E-A395-C1FA4399411C}"/>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77" name="Ellipse 176">
                <a:extLst>
                  <a:ext uri="{FF2B5EF4-FFF2-40B4-BE49-F238E27FC236}">
                    <a16:creationId xmlns:a16="http://schemas.microsoft.com/office/drawing/2014/main" id="{070C153E-1920-4322-8BE1-5ACAEE339080}"/>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97" name="Rechteck 196">
              <a:extLst>
                <a:ext uri="{FF2B5EF4-FFF2-40B4-BE49-F238E27FC236}">
                  <a16:creationId xmlns:a16="http://schemas.microsoft.com/office/drawing/2014/main" id="{B282013C-F0CD-45A7-A145-7AC4E51E1F1A}"/>
                </a:ext>
              </a:extLst>
            </p:cNvPr>
            <p:cNvSpPr/>
            <p:nvPr/>
          </p:nvSpPr>
          <p:spPr bwMode="auto">
            <a:xfrm>
              <a:off x="918224" y="2908206"/>
              <a:ext cx="4112685"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8" name="Rechteck 197">
              <a:extLst>
                <a:ext uri="{FF2B5EF4-FFF2-40B4-BE49-F238E27FC236}">
                  <a16:creationId xmlns:a16="http://schemas.microsoft.com/office/drawing/2014/main" id="{7A9AD93A-FC46-4B54-9014-1F780F3382E5}"/>
                </a:ext>
              </a:extLst>
            </p:cNvPr>
            <p:cNvSpPr/>
            <p:nvPr/>
          </p:nvSpPr>
          <p:spPr bwMode="auto">
            <a:xfrm>
              <a:off x="5073671" y="2915601"/>
              <a:ext cx="2606046"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99" name="Gerader Verbinder 198">
              <a:extLst>
                <a:ext uri="{FF2B5EF4-FFF2-40B4-BE49-F238E27FC236}">
                  <a16:creationId xmlns:a16="http://schemas.microsoft.com/office/drawing/2014/main" id="{A584B816-5A89-44AD-AC44-BDB4D4161368}"/>
                </a:ext>
              </a:extLst>
            </p:cNvPr>
            <p:cNvCxnSpPr/>
            <p:nvPr/>
          </p:nvCxnSpPr>
          <p:spPr bwMode="auto">
            <a:xfrm flipH="1">
              <a:off x="5052513" y="276850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201" name="Textfeld 200">
            <a:extLst>
              <a:ext uri="{FF2B5EF4-FFF2-40B4-BE49-F238E27FC236}">
                <a16:creationId xmlns:a16="http://schemas.microsoft.com/office/drawing/2014/main" id="{A12F98CD-B22F-4AE2-9847-8243EAFB397F}"/>
              </a:ext>
            </a:extLst>
          </p:cNvPr>
          <p:cNvSpPr txBox="1"/>
          <p:nvPr/>
        </p:nvSpPr>
        <p:spPr>
          <a:xfrm>
            <a:off x="739151" y="4422175"/>
            <a:ext cx="320601" cy="281103"/>
          </a:xfrm>
          <a:prstGeom prst="rect">
            <a:avLst/>
          </a:prstGeom>
          <a:noFill/>
        </p:spPr>
        <p:txBody>
          <a:bodyPr wrap="none" lIns="0" tIns="0" rIns="0" bIns="0" rtlCol="0">
            <a:spAutoFit/>
          </a:bodyPr>
          <a:lstStyle/>
          <a:p>
            <a:pPr>
              <a:lnSpc>
                <a:spcPct val="110000"/>
              </a:lnSpc>
              <a:spcBef>
                <a:spcPts val="0"/>
              </a:spcBef>
            </a:pPr>
            <a:r>
              <a:rPr lang="en-US" b="1">
                <a:solidFill>
                  <a:schemeClr val="tx1"/>
                </a:solidFill>
                <a:latin typeface="+mn-lt"/>
                <a:ea typeface="Arial Unicode MS" panose="020B0604020202020204" pitchFamily="34" charset="-128"/>
                <a:cs typeface="Arial Unicode MS" panose="020B0604020202020204" pitchFamily="34" charset="-128"/>
              </a:rPr>
              <a:t>1.3</a:t>
            </a:r>
          </a:p>
        </p:txBody>
      </p:sp>
      <p:sp>
        <p:nvSpPr>
          <p:cNvPr id="202" name="Textfeld 201">
            <a:extLst>
              <a:ext uri="{FF2B5EF4-FFF2-40B4-BE49-F238E27FC236}">
                <a16:creationId xmlns:a16="http://schemas.microsoft.com/office/drawing/2014/main" id="{AA9C99E6-F120-4CF9-BA18-FE9ED10F69E7}"/>
              </a:ext>
            </a:extLst>
          </p:cNvPr>
          <p:cNvSpPr txBox="1"/>
          <p:nvPr/>
        </p:nvSpPr>
        <p:spPr>
          <a:xfrm>
            <a:off x="6389138" y="4422174"/>
            <a:ext cx="320601" cy="281103"/>
          </a:xfrm>
          <a:prstGeom prst="rect">
            <a:avLst/>
          </a:prstGeom>
          <a:noFill/>
        </p:spPr>
        <p:txBody>
          <a:bodyPr wrap="none" lIns="0" tIns="0" rIns="0" bIns="0" rtlCol="0">
            <a:spAutoFit/>
          </a:bodyPr>
          <a:lstStyle/>
          <a:p>
            <a:pPr>
              <a:lnSpc>
                <a:spcPct val="110000"/>
              </a:lnSpc>
              <a:spcBef>
                <a:spcPts val="0"/>
              </a:spcBef>
            </a:pPr>
            <a:r>
              <a:rPr lang="en-US" b="1">
                <a:solidFill>
                  <a:schemeClr val="tx1"/>
                </a:solidFill>
                <a:latin typeface="+mn-lt"/>
                <a:ea typeface="Arial Unicode MS" panose="020B0604020202020204" pitchFamily="34" charset="-128"/>
                <a:cs typeface="Arial Unicode MS" panose="020B0604020202020204" pitchFamily="34" charset="-128"/>
              </a:rPr>
              <a:t>1.6</a:t>
            </a:r>
          </a:p>
        </p:txBody>
      </p:sp>
      <p:sp>
        <p:nvSpPr>
          <p:cNvPr id="203" name="Textfeld 202">
            <a:extLst>
              <a:ext uri="{FF2B5EF4-FFF2-40B4-BE49-F238E27FC236}">
                <a16:creationId xmlns:a16="http://schemas.microsoft.com/office/drawing/2014/main" id="{6B01957F-32F4-4C89-A98B-3E484BBD73D9}"/>
              </a:ext>
            </a:extLst>
          </p:cNvPr>
          <p:cNvSpPr txBox="1"/>
          <p:nvPr/>
        </p:nvSpPr>
        <p:spPr>
          <a:xfrm>
            <a:off x="736452" y="5568943"/>
            <a:ext cx="320601" cy="281103"/>
          </a:xfrm>
          <a:prstGeom prst="rect">
            <a:avLst/>
          </a:prstGeom>
          <a:noFill/>
        </p:spPr>
        <p:txBody>
          <a:bodyPr wrap="none" lIns="0" tIns="0" rIns="0" bIns="0" rtlCol="0">
            <a:spAutoFit/>
          </a:bodyPr>
          <a:lstStyle/>
          <a:p>
            <a:pPr>
              <a:lnSpc>
                <a:spcPct val="110000"/>
              </a:lnSpc>
              <a:spcBef>
                <a:spcPts val="0"/>
              </a:spcBef>
            </a:pPr>
            <a:r>
              <a:rPr lang="en-US" b="1">
                <a:solidFill>
                  <a:schemeClr val="tx1"/>
                </a:solidFill>
                <a:latin typeface="+mn-lt"/>
                <a:ea typeface="Arial Unicode MS" panose="020B0604020202020204" pitchFamily="34" charset="-128"/>
                <a:cs typeface="Arial Unicode MS" panose="020B0604020202020204" pitchFamily="34" charset="-128"/>
              </a:rPr>
              <a:t>2.0</a:t>
            </a:r>
          </a:p>
        </p:txBody>
      </p:sp>
      <p:sp>
        <p:nvSpPr>
          <p:cNvPr id="204" name="Textfeld 203">
            <a:extLst>
              <a:ext uri="{FF2B5EF4-FFF2-40B4-BE49-F238E27FC236}">
                <a16:creationId xmlns:a16="http://schemas.microsoft.com/office/drawing/2014/main" id="{5E72A940-4E36-4289-AFC4-76047BFE3909}"/>
              </a:ext>
            </a:extLst>
          </p:cNvPr>
          <p:cNvSpPr txBox="1"/>
          <p:nvPr/>
        </p:nvSpPr>
        <p:spPr>
          <a:xfrm>
            <a:off x="6391643" y="5647617"/>
            <a:ext cx="320601" cy="281103"/>
          </a:xfrm>
          <a:prstGeom prst="rect">
            <a:avLst/>
          </a:prstGeom>
          <a:noFill/>
        </p:spPr>
        <p:txBody>
          <a:bodyPr wrap="none" lIns="0" tIns="0" rIns="0" bIns="0" rtlCol="0">
            <a:spAutoFit/>
          </a:bodyPr>
          <a:lstStyle/>
          <a:p>
            <a:pPr>
              <a:lnSpc>
                <a:spcPct val="110000"/>
              </a:lnSpc>
              <a:spcBef>
                <a:spcPts val="0"/>
              </a:spcBef>
            </a:pPr>
            <a:r>
              <a:rPr lang="en-US" b="1">
                <a:solidFill>
                  <a:schemeClr val="tx1"/>
                </a:solidFill>
                <a:latin typeface="+mn-lt"/>
                <a:ea typeface="Arial Unicode MS" panose="020B0604020202020204" pitchFamily="34" charset="-128"/>
                <a:cs typeface="Arial Unicode MS" panose="020B0604020202020204" pitchFamily="34" charset="-128"/>
              </a:rPr>
              <a:t>2.3</a:t>
            </a:r>
          </a:p>
        </p:txBody>
      </p:sp>
      <p:sp>
        <p:nvSpPr>
          <p:cNvPr id="24" name="Rechteck 23">
            <a:extLst>
              <a:ext uri="{FF2B5EF4-FFF2-40B4-BE49-F238E27FC236}">
                <a16:creationId xmlns:a16="http://schemas.microsoft.com/office/drawing/2014/main" id="{742EEDD6-82C3-4D03-94C4-C09FF8BBBB1F}"/>
              </a:ext>
            </a:extLst>
          </p:cNvPr>
          <p:cNvSpPr/>
          <p:nvPr/>
        </p:nvSpPr>
        <p:spPr bwMode="auto">
          <a:xfrm>
            <a:off x="627063" y="3970236"/>
            <a:ext cx="5691810" cy="1155840"/>
          </a:xfrm>
          <a:prstGeom prst="rect">
            <a:avLst/>
          </a:prstGeom>
          <a:noFill/>
          <a:ln w="3810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pic>
        <p:nvPicPr>
          <p:cNvPr id="30" name="Grafik 29" descr="Schließen">
            <a:extLst>
              <a:ext uri="{FF2B5EF4-FFF2-40B4-BE49-F238E27FC236}">
                <a16:creationId xmlns:a16="http://schemas.microsoft.com/office/drawing/2014/main" id="{78AA521C-2EDF-44B7-8AC3-FA386574BE74}"/>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0578138" y="3678003"/>
            <a:ext cx="1654984" cy="1654984"/>
          </a:xfrm>
          <a:prstGeom prst="rect">
            <a:avLst/>
          </a:prstGeom>
        </p:spPr>
      </p:pic>
      <p:pic>
        <p:nvPicPr>
          <p:cNvPr id="151" name="Grafik 150" descr="Schließen">
            <a:extLst>
              <a:ext uri="{FF2B5EF4-FFF2-40B4-BE49-F238E27FC236}">
                <a16:creationId xmlns:a16="http://schemas.microsoft.com/office/drawing/2014/main" id="{90691892-F05C-4FCE-A57C-CA3FF277C95C}"/>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4948576" y="5004110"/>
            <a:ext cx="1654984" cy="1654984"/>
          </a:xfrm>
          <a:prstGeom prst="rect">
            <a:avLst/>
          </a:prstGeom>
        </p:spPr>
      </p:pic>
      <p:pic>
        <p:nvPicPr>
          <p:cNvPr id="152" name="Grafik 151" descr="Schließen">
            <a:extLst>
              <a:ext uri="{FF2B5EF4-FFF2-40B4-BE49-F238E27FC236}">
                <a16:creationId xmlns:a16="http://schemas.microsoft.com/office/drawing/2014/main" id="{D00F53E8-809A-4F5D-8B7C-B918CCFFDA5B}"/>
              </a:ext>
            </a:extLst>
          </p:cNvPr>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10589459" y="4993637"/>
            <a:ext cx="1654984" cy="1654984"/>
          </a:xfrm>
          <a:prstGeom prst="rect">
            <a:avLst/>
          </a:prstGeom>
        </p:spPr>
      </p:pic>
      <p:grpSp>
        <p:nvGrpSpPr>
          <p:cNvPr id="153" name="Gruppieren 152">
            <a:extLst>
              <a:ext uri="{FF2B5EF4-FFF2-40B4-BE49-F238E27FC236}">
                <a16:creationId xmlns:a16="http://schemas.microsoft.com/office/drawing/2014/main" id="{D44172F7-4E28-4367-8BF7-E48E8FF5B8AF}"/>
              </a:ext>
            </a:extLst>
          </p:cNvPr>
          <p:cNvGrpSpPr/>
          <p:nvPr/>
        </p:nvGrpSpPr>
        <p:grpSpPr>
          <a:xfrm>
            <a:off x="987354" y="2972640"/>
            <a:ext cx="7574393" cy="1170602"/>
            <a:chOff x="987354" y="2972640"/>
            <a:chExt cx="7574393" cy="1170602"/>
          </a:xfrm>
        </p:grpSpPr>
        <p:grpSp>
          <p:nvGrpSpPr>
            <p:cNvPr id="154" name="Gruppieren 153">
              <a:extLst>
                <a:ext uri="{FF2B5EF4-FFF2-40B4-BE49-F238E27FC236}">
                  <a16:creationId xmlns:a16="http://schemas.microsoft.com/office/drawing/2014/main" id="{A64E99A0-C9EA-401F-BA75-942D4D50A344}"/>
                </a:ext>
              </a:extLst>
            </p:cNvPr>
            <p:cNvGrpSpPr/>
            <p:nvPr/>
          </p:nvGrpSpPr>
          <p:grpSpPr>
            <a:xfrm>
              <a:off x="987354" y="2972640"/>
              <a:ext cx="6732001" cy="1067982"/>
              <a:chOff x="946888" y="2684869"/>
              <a:chExt cx="6732001" cy="1067982"/>
            </a:xfrm>
          </p:grpSpPr>
          <p:grpSp>
            <p:nvGrpSpPr>
              <p:cNvPr id="157" name="Gruppieren 156">
                <a:extLst>
                  <a:ext uri="{FF2B5EF4-FFF2-40B4-BE49-F238E27FC236}">
                    <a16:creationId xmlns:a16="http://schemas.microsoft.com/office/drawing/2014/main" id="{E3C8C7CA-2CF3-45E1-8597-18DF502E71C1}"/>
                  </a:ext>
                </a:extLst>
              </p:cNvPr>
              <p:cNvGrpSpPr/>
              <p:nvPr/>
            </p:nvGrpSpPr>
            <p:grpSpPr>
              <a:xfrm>
                <a:off x="946888" y="2684869"/>
                <a:ext cx="6732001" cy="1067982"/>
                <a:chOff x="986607" y="3303000"/>
                <a:chExt cx="4537464" cy="743507"/>
              </a:xfrm>
            </p:grpSpPr>
            <p:grpSp>
              <p:nvGrpSpPr>
                <p:cNvPr id="159" name="Gruppieren 158">
                  <a:extLst>
                    <a:ext uri="{FF2B5EF4-FFF2-40B4-BE49-F238E27FC236}">
                      <a16:creationId xmlns:a16="http://schemas.microsoft.com/office/drawing/2014/main" id="{83821251-8AB1-46BA-B92A-6661285AE7E6}"/>
                    </a:ext>
                  </a:extLst>
                </p:cNvPr>
                <p:cNvGrpSpPr/>
                <p:nvPr/>
              </p:nvGrpSpPr>
              <p:grpSpPr>
                <a:xfrm>
                  <a:off x="986607" y="3303000"/>
                  <a:ext cx="4537464" cy="449850"/>
                  <a:chOff x="986607" y="3303000"/>
                  <a:chExt cx="4537464" cy="449850"/>
                </a:xfrm>
              </p:grpSpPr>
              <p:cxnSp>
                <p:nvCxnSpPr>
                  <p:cNvPr id="164" name="Gerader Verbinder 163">
                    <a:extLst>
                      <a:ext uri="{FF2B5EF4-FFF2-40B4-BE49-F238E27FC236}">
                        <a16:creationId xmlns:a16="http://schemas.microsoft.com/office/drawing/2014/main" id="{162031C7-63D8-4E14-9747-E91CAF8E3FF2}"/>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5" name="Gerader Verbinder 164">
                    <a:extLst>
                      <a:ext uri="{FF2B5EF4-FFF2-40B4-BE49-F238E27FC236}">
                        <a16:creationId xmlns:a16="http://schemas.microsoft.com/office/drawing/2014/main" id="{B0B06BB5-B84F-455F-85EC-74834FDCD64B}"/>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6" name="Gerader Verbinder 165">
                    <a:extLst>
                      <a:ext uri="{FF2B5EF4-FFF2-40B4-BE49-F238E27FC236}">
                        <a16:creationId xmlns:a16="http://schemas.microsoft.com/office/drawing/2014/main" id="{15BDFA5E-BB50-4CA9-9C8A-1048F85E1A4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7" name="Gerader Verbinder 166">
                    <a:extLst>
                      <a:ext uri="{FF2B5EF4-FFF2-40B4-BE49-F238E27FC236}">
                        <a16:creationId xmlns:a16="http://schemas.microsoft.com/office/drawing/2014/main" id="{219C404F-CED4-4880-9D94-A8BBEF11D520}"/>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8" name="Gerader Verbinder 167">
                    <a:extLst>
                      <a:ext uri="{FF2B5EF4-FFF2-40B4-BE49-F238E27FC236}">
                        <a16:creationId xmlns:a16="http://schemas.microsoft.com/office/drawing/2014/main" id="{9C5886B4-C712-417C-BFBB-3E91913D4912}"/>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9" name="Ellipse 168">
                    <a:extLst>
                      <a:ext uri="{FF2B5EF4-FFF2-40B4-BE49-F238E27FC236}">
                        <a16:creationId xmlns:a16="http://schemas.microsoft.com/office/drawing/2014/main" id="{86D00660-4198-4033-B028-1E52CA0506BA}"/>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0" name="Ellipse 169">
                    <a:extLst>
                      <a:ext uri="{FF2B5EF4-FFF2-40B4-BE49-F238E27FC236}">
                        <a16:creationId xmlns:a16="http://schemas.microsoft.com/office/drawing/2014/main" id="{9AC425B6-7CAF-4EC5-9F54-917F56B91213}"/>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1" name="Ellipse 170">
                    <a:extLst>
                      <a:ext uri="{FF2B5EF4-FFF2-40B4-BE49-F238E27FC236}">
                        <a16:creationId xmlns:a16="http://schemas.microsoft.com/office/drawing/2014/main" id="{F3A57C51-C895-470D-8F19-1E2474CFAA32}"/>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2" name="Ellipse 171">
                    <a:extLst>
                      <a:ext uri="{FF2B5EF4-FFF2-40B4-BE49-F238E27FC236}">
                        <a16:creationId xmlns:a16="http://schemas.microsoft.com/office/drawing/2014/main" id="{D24B2BDA-AB8F-42A0-AB93-D2C70AB0BD8C}"/>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3" name="Ellipse 172">
                    <a:extLst>
                      <a:ext uri="{FF2B5EF4-FFF2-40B4-BE49-F238E27FC236}">
                        <a16:creationId xmlns:a16="http://schemas.microsoft.com/office/drawing/2014/main" id="{38AE6C3F-CC9E-4E4D-83C2-0E990DF4871D}"/>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4" name="Ellipse 173">
                    <a:extLst>
                      <a:ext uri="{FF2B5EF4-FFF2-40B4-BE49-F238E27FC236}">
                        <a16:creationId xmlns:a16="http://schemas.microsoft.com/office/drawing/2014/main" id="{65D6CF91-2F23-48D0-B00F-A63DA53FCC04}"/>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05" name="Ellipse 204">
                    <a:extLst>
                      <a:ext uri="{FF2B5EF4-FFF2-40B4-BE49-F238E27FC236}">
                        <a16:creationId xmlns:a16="http://schemas.microsoft.com/office/drawing/2014/main" id="{AC49A1E6-5BD5-45D3-92BE-2051605FFD15}"/>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06" name="Ellipse 205">
                    <a:extLst>
                      <a:ext uri="{FF2B5EF4-FFF2-40B4-BE49-F238E27FC236}">
                        <a16:creationId xmlns:a16="http://schemas.microsoft.com/office/drawing/2014/main" id="{CACDCBCB-97F5-40F3-8636-BE4CB6CD9F62}"/>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07" name="Ellipse 206">
                    <a:extLst>
                      <a:ext uri="{FF2B5EF4-FFF2-40B4-BE49-F238E27FC236}">
                        <a16:creationId xmlns:a16="http://schemas.microsoft.com/office/drawing/2014/main" id="{82354E59-E267-4A95-9224-4CF3C4082EBB}"/>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0" name="Textfeld 159">
                  <a:extLst>
                    <a:ext uri="{FF2B5EF4-FFF2-40B4-BE49-F238E27FC236}">
                      <a16:creationId xmlns:a16="http://schemas.microsoft.com/office/drawing/2014/main" id="{6B0EDAF4-048F-408D-8D64-ABCDDBB75922}"/>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161" name="Textfeld 160">
                  <a:extLst>
                    <a:ext uri="{FF2B5EF4-FFF2-40B4-BE49-F238E27FC236}">
                      <a16:creationId xmlns:a16="http://schemas.microsoft.com/office/drawing/2014/main" id="{5E3851DE-DDCB-4A10-8D76-D9AB9FFE07D9}"/>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162" name="Textfeld 161">
                  <a:extLst>
                    <a:ext uri="{FF2B5EF4-FFF2-40B4-BE49-F238E27FC236}">
                      <a16:creationId xmlns:a16="http://schemas.microsoft.com/office/drawing/2014/main" id="{776ACF86-E332-4C84-8A49-CE3C856585F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163" name="Textfeld 162">
                  <a:extLst>
                    <a:ext uri="{FF2B5EF4-FFF2-40B4-BE49-F238E27FC236}">
                      <a16:creationId xmlns:a16="http://schemas.microsoft.com/office/drawing/2014/main" id="{678F822A-EE36-4FFD-9C2A-0805CCEB7A68}"/>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58" name="Ellipse 157">
                <a:extLst>
                  <a:ext uri="{FF2B5EF4-FFF2-40B4-BE49-F238E27FC236}">
                    <a16:creationId xmlns:a16="http://schemas.microsoft.com/office/drawing/2014/main" id="{62D25EB4-5611-4CDE-8D8B-C9F538206430}"/>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cxnSp>
          <p:nvCxnSpPr>
            <p:cNvPr id="155" name="Gerade Verbindung mit Pfeil 154">
              <a:extLst>
                <a:ext uri="{FF2B5EF4-FFF2-40B4-BE49-F238E27FC236}">
                  <a16:creationId xmlns:a16="http://schemas.microsoft.com/office/drawing/2014/main" id="{8DF6515B-129C-4A12-9683-A439106FBC03}"/>
                </a:ext>
              </a:extLst>
            </p:cNvPr>
            <p:cNvCxnSpPr/>
            <p:nvPr/>
          </p:nvCxnSpPr>
          <p:spPr bwMode="auto">
            <a:xfrm>
              <a:off x="7719355" y="3135937"/>
              <a:ext cx="108000"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56" name="Textfeld 155">
              <a:extLst>
                <a:ext uri="{FF2B5EF4-FFF2-40B4-BE49-F238E27FC236}">
                  <a16:creationId xmlns:a16="http://schemas.microsoft.com/office/drawing/2014/main" id="{E60D59A0-E2FA-442B-BBF0-11F4B082F02B}"/>
                </a:ext>
              </a:extLst>
            </p:cNvPr>
            <p:cNvSpPr txBox="1"/>
            <p:nvPr/>
          </p:nvSpPr>
          <p:spPr>
            <a:xfrm>
              <a:off x="7647347" y="3228842"/>
              <a:ext cx="914400" cy="914400"/>
            </a:xfrm>
            <a:prstGeom prst="rect">
              <a:avLst/>
            </a:prstGeom>
            <a:noFill/>
          </p:spPr>
          <p:txBody>
            <a:bodyPr wrap="none" lIns="0" tIns="0" rIns="0" bIns="0" rtlCol="0">
              <a:noAutofit/>
            </a:bodyPr>
            <a:lstStyle/>
            <a:p>
              <a:pPr>
                <a:lnSpc>
                  <a:spcPct val="110000"/>
                </a:lnSpc>
                <a:spcBef>
                  <a:spcPts val="0"/>
                </a:spcBef>
              </a:pPr>
              <a:r>
                <a:rPr lang="en-US" sz="1600">
                  <a:solidFill>
                    <a:schemeClr val="tx1"/>
                  </a:solidFill>
                  <a:latin typeface="+mn-lt"/>
                  <a:ea typeface="Arial Unicode MS" panose="020B0604020202020204" pitchFamily="34" charset="-128"/>
                  <a:cs typeface="Arial Unicode MS" panose="020B0604020202020204" pitchFamily="34" charset="-128"/>
                </a:rPr>
                <a:t>x</a:t>
              </a:r>
            </a:p>
          </p:txBody>
        </p:sp>
      </p:grpSp>
    </p:spTree>
    <p:extLst>
      <p:ext uri="{BB962C8B-B14F-4D97-AF65-F5344CB8AC3E}">
        <p14:creationId xmlns:p14="http://schemas.microsoft.com/office/powerpoint/2010/main" val="61161813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Towards an Error Metric for Classification: Confusion Matrix</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1115644448"/>
              </p:ext>
            </p:extLst>
          </p:nvPr>
        </p:nvGraphicFramePr>
        <p:xfrm>
          <a:off x="627064" y="1424899"/>
          <a:ext cx="6696246" cy="2377162"/>
        </p:xfrm>
        <a:graphic>
          <a:graphicData uri="http://schemas.openxmlformats.org/drawingml/2006/table">
            <a:tbl>
              <a:tblPr firstRow="1" firstCol="1" bandRow="1">
                <a:tableStyleId>{5C22544A-7EE6-4342-B048-85BDC9FD1C3A}</a:tableStyleId>
              </a:tblPr>
              <a:tblGrid>
                <a:gridCol w="2232082">
                  <a:extLst>
                    <a:ext uri="{9D8B030D-6E8A-4147-A177-3AD203B41FA5}">
                      <a16:colId xmlns:a16="http://schemas.microsoft.com/office/drawing/2014/main" val="2518754195"/>
                    </a:ext>
                  </a:extLst>
                </a:gridCol>
                <a:gridCol w="2232082">
                  <a:extLst>
                    <a:ext uri="{9D8B030D-6E8A-4147-A177-3AD203B41FA5}">
                      <a16:colId xmlns:a16="http://schemas.microsoft.com/office/drawing/2014/main" val="122075331"/>
                    </a:ext>
                  </a:extLst>
                </a:gridCol>
                <a:gridCol w="223208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Positive</a:t>
                      </a:r>
                    </a:p>
                  </a:txBody>
                  <a:tcPr anchor="ctr"/>
                </a:tc>
                <a:tc>
                  <a:txBody>
                    <a:bodyPr/>
                    <a:lstStyle/>
                    <a:p>
                      <a:pPr algn="ctr"/>
                      <a:r>
                        <a:rPr lang="en-US" noProof="0"/>
                        <a:t>Negative</a:t>
                      </a:r>
                    </a:p>
                  </a:txBody>
                  <a:tcPr anchor="ctr"/>
                </a:tc>
                <a:extLst>
                  <a:ext uri="{0D108BD9-81ED-4DB2-BD59-A6C34878D82A}">
                    <a16:rowId xmlns:a16="http://schemas.microsoft.com/office/drawing/2014/main" val="3171441879"/>
                  </a:ext>
                </a:extLst>
              </a:tr>
              <a:tr h="796521">
                <a:tc>
                  <a:txBody>
                    <a:bodyPr/>
                    <a:lstStyle/>
                    <a:p>
                      <a:pPr algn="ctr"/>
                      <a:r>
                        <a:rPr lang="en-US" noProof="0"/>
                        <a:t>Predicted Positive</a:t>
                      </a:r>
                    </a:p>
                  </a:txBody>
                  <a:tcPr anchor="ctr"/>
                </a:tc>
                <a:tc>
                  <a:txBody>
                    <a:bodyPr/>
                    <a:lstStyle/>
                    <a:p>
                      <a:pPr algn="ctr"/>
                      <a:r>
                        <a:rPr lang="en-US" noProof="0"/>
                        <a:t>True Positive</a:t>
                      </a:r>
                    </a:p>
                  </a:txBody>
                  <a:tcPr anchor="ctr">
                    <a:solidFill>
                      <a:srgbClr val="32A0A0"/>
                    </a:solidFill>
                  </a:tcPr>
                </a:tc>
                <a:tc>
                  <a:txBody>
                    <a:bodyPr/>
                    <a:lstStyle/>
                    <a:p>
                      <a:pPr algn="ctr"/>
                      <a:r>
                        <a:rPr lang="en-US" b="1" noProof="0"/>
                        <a:t>False Positive</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Negative</a:t>
                      </a:r>
                    </a:p>
                  </a:txBody>
                  <a:tcPr anchor="ctr"/>
                </a:tc>
                <a:tc>
                  <a:txBody>
                    <a:bodyPr/>
                    <a:lstStyle/>
                    <a:p>
                      <a:pPr algn="ctr"/>
                      <a:r>
                        <a:rPr lang="en-US" b="1" noProof="0"/>
                        <a:t>False Negative</a:t>
                      </a:r>
                    </a:p>
                  </a:txBody>
                  <a:tcPr anchor="ctr">
                    <a:solidFill>
                      <a:srgbClr val="AF235F"/>
                    </a:solidFill>
                  </a:tcPr>
                </a:tc>
                <a:tc>
                  <a:txBody>
                    <a:bodyPr/>
                    <a:lstStyle/>
                    <a:p>
                      <a:pPr algn="ctr"/>
                      <a:r>
                        <a:rPr lang="en-US" noProof="0"/>
                        <a:t>True Negative</a:t>
                      </a:r>
                    </a:p>
                  </a:txBody>
                  <a:tcPr anchor="ctr">
                    <a:solidFill>
                      <a:srgbClr val="32A0A0"/>
                    </a:solidFill>
                  </a:tcPr>
                </a:tc>
                <a:extLst>
                  <a:ext uri="{0D108BD9-81ED-4DB2-BD59-A6C34878D82A}">
                    <a16:rowId xmlns:a16="http://schemas.microsoft.com/office/drawing/2014/main" val="2496120109"/>
                  </a:ext>
                </a:extLst>
              </a:tr>
            </a:tbl>
          </a:graphicData>
        </a:graphic>
      </p:graphicFrame>
      <p:sp>
        <p:nvSpPr>
          <p:cNvPr id="4" name="Rechteck 3">
            <a:extLst>
              <a:ext uri="{FF2B5EF4-FFF2-40B4-BE49-F238E27FC236}">
                <a16:creationId xmlns:a16="http://schemas.microsoft.com/office/drawing/2014/main" id="{6CDD0184-CE38-43FF-B501-7848C6161DEB}"/>
              </a:ext>
            </a:extLst>
          </p:cNvPr>
          <p:cNvSpPr/>
          <p:nvPr/>
        </p:nvSpPr>
        <p:spPr bwMode="auto">
          <a:xfrm>
            <a:off x="2858815" y="969107"/>
            <a:ext cx="4464495" cy="423268"/>
          </a:xfrm>
          <a:prstGeom prst="rect">
            <a:avLst/>
          </a:prstGeom>
          <a:solidFill>
            <a:srgbClr val="879BAA"/>
          </a:solidFill>
          <a:ln w="9525">
            <a:solidFill>
              <a:schemeClr val="bg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Reality</a:t>
            </a:r>
          </a:p>
        </p:txBody>
      </p:sp>
    </p:spTree>
    <p:extLst>
      <p:ext uri="{BB962C8B-B14F-4D97-AF65-F5344CB8AC3E}">
        <p14:creationId xmlns:p14="http://schemas.microsoft.com/office/powerpoint/2010/main" val="55366764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Towards an Error Metric for Classification: Confusion Matrix</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1978987464"/>
              </p:ext>
            </p:extLst>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32A0A0"/>
                    </a:solidFill>
                  </a:tcPr>
                </a:tc>
                <a:tc>
                  <a:txBody>
                    <a:bodyPr/>
                    <a:lstStyle/>
                    <a:p>
                      <a:pPr algn="ctr"/>
                      <a:endParaRPr lang="en-US" sz="2000" b="1" noProof="0">
                        <a:solidFill>
                          <a:srgbClr val="871E50"/>
                        </a:solidFill>
                      </a:endParaRP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endParaRPr lang="en-US" sz="2000" b="1" noProof="0"/>
                    </a:p>
                  </a:txBody>
                  <a:tcPr anchor="ctr">
                    <a:solidFill>
                      <a:srgbClr val="AF235F"/>
                    </a:solidFill>
                  </a:tcPr>
                </a:tc>
                <a:tc>
                  <a:txBody>
                    <a:bodyPr/>
                    <a:lstStyle/>
                    <a:p>
                      <a:pPr algn="ctr"/>
                      <a:endParaRPr lang="en-US" sz="2000" b="1" noProof="0"/>
                    </a:p>
                  </a:txBody>
                  <a:tcPr anchor="ctr">
                    <a:solidFill>
                      <a:srgbClr val="32A0A0"/>
                    </a:solidFill>
                  </a:tcPr>
                </a:tc>
                <a:extLst>
                  <a:ext uri="{0D108BD9-81ED-4DB2-BD59-A6C34878D82A}">
                    <a16:rowId xmlns:a16="http://schemas.microsoft.com/office/drawing/2014/main" val="2496120109"/>
                  </a:ext>
                </a:extLst>
              </a:tr>
            </a:tbl>
          </a:graphicData>
        </a:graphic>
      </p:graphicFrame>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cxnSp>
        <p:nvCxnSpPr>
          <p:cNvPr id="5" name="Gerade Verbindung mit Pfeil 4">
            <a:extLst>
              <a:ext uri="{FF2B5EF4-FFF2-40B4-BE49-F238E27FC236}">
                <a16:creationId xmlns:a16="http://schemas.microsoft.com/office/drawing/2014/main" id="{644E0149-80B2-4E03-8FA2-244DFCF49F07}"/>
              </a:ext>
            </a:extLst>
          </p:cNvPr>
          <p:cNvCxnSpPr/>
          <p:nvPr/>
        </p:nvCxnSpPr>
        <p:spPr bwMode="auto">
          <a:xfrm>
            <a:off x="2714799" y="2060848"/>
            <a:ext cx="0" cy="1831702"/>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0" name="Gerade Verbindung mit Pfeil 39">
            <a:extLst>
              <a:ext uri="{FF2B5EF4-FFF2-40B4-BE49-F238E27FC236}">
                <a16:creationId xmlns:a16="http://schemas.microsoft.com/office/drawing/2014/main" id="{C850DDBE-FB3E-46EB-A59B-93E9351B2836}"/>
              </a:ext>
            </a:extLst>
          </p:cNvPr>
          <p:cNvCxnSpPr/>
          <p:nvPr/>
        </p:nvCxnSpPr>
        <p:spPr bwMode="auto">
          <a:xfrm>
            <a:off x="3254859" y="2060848"/>
            <a:ext cx="0" cy="1831702"/>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 Verbindung mit Pfeil 41">
            <a:extLst>
              <a:ext uri="{FF2B5EF4-FFF2-40B4-BE49-F238E27FC236}">
                <a16:creationId xmlns:a16="http://schemas.microsoft.com/office/drawing/2014/main" id="{42CBED36-1FFB-4848-BDA9-B3CAA50E4C20}"/>
              </a:ext>
            </a:extLst>
          </p:cNvPr>
          <p:cNvCxnSpPr/>
          <p:nvPr/>
        </p:nvCxnSpPr>
        <p:spPr bwMode="auto">
          <a:xfrm flipH="1">
            <a:off x="3539041" y="2060848"/>
            <a:ext cx="831943" cy="1799952"/>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4" name="Gerade Verbindung mit Pfeil 43">
            <a:extLst>
              <a:ext uri="{FF2B5EF4-FFF2-40B4-BE49-F238E27FC236}">
                <a16:creationId xmlns:a16="http://schemas.microsoft.com/office/drawing/2014/main" id="{5C598F2C-7795-40B2-BF26-D01DFBDCB8DE}"/>
              </a:ext>
            </a:extLst>
          </p:cNvPr>
          <p:cNvCxnSpPr/>
          <p:nvPr/>
        </p:nvCxnSpPr>
        <p:spPr bwMode="auto">
          <a:xfrm flipH="1">
            <a:off x="3802007" y="2060848"/>
            <a:ext cx="1037030" cy="1831702"/>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 Verbindung mit Pfeil 46">
            <a:extLst>
              <a:ext uri="{FF2B5EF4-FFF2-40B4-BE49-F238E27FC236}">
                <a16:creationId xmlns:a16="http://schemas.microsoft.com/office/drawing/2014/main" id="{D8AE9FCD-9A2C-480B-9F86-5247B5DAA020}"/>
              </a:ext>
            </a:extLst>
          </p:cNvPr>
          <p:cNvCxnSpPr/>
          <p:nvPr/>
        </p:nvCxnSpPr>
        <p:spPr bwMode="auto">
          <a:xfrm flipH="1">
            <a:off x="4012364" y="2060848"/>
            <a:ext cx="1402735" cy="1916287"/>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8" name="Gerade Verbindung mit Pfeil 47">
            <a:extLst>
              <a:ext uri="{FF2B5EF4-FFF2-40B4-BE49-F238E27FC236}">
                <a16:creationId xmlns:a16="http://schemas.microsoft.com/office/drawing/2014/main" id="{5251AE87-278E-40CB-9F9C-4E4AF9CB5B2D}"/>
              </a:ext>
            </a:extLst>
          </p:cNvPr>
          <p:cNvCxnSpPr/>
          <p:nvPr/>
        </p:nvCxnSpPr>
        <p:spPr bwMode="auto">
          <a:xfrm flipH="1">
            <a:off x="4155801" y="2060848"/>
            <a:ext cx="1799358" cy="200000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0" name="Rechteck 59">
            <a:extLst>
              <a:ext uri="{FF2B5EF4-FFF2-40B4-BE49-F238E27FC236}">
                <a16:creationId xmlns:a16="http://schemas.microsoft.com/office/drawing/2014/main" id="{EA45E194-7C9F-4E02-9EED-53113322BC61}"/>
              </a:ext>
            </a:extLst>
          </p:cNvPr>
          <p:cNvSpPr/>
          <p:nvPr/>
        </p:nvSpPr>
        <p:spPr bwMode="auto">
          <a:xfrm>
            <a:off x="2498775" y="3647852"/>
            <a:ext cx="1872000" cy="802275"/>
          </a:xfrm>
          <a:prstGeom prst="rect">
            <a:avLst/>
          </a:prstGeom>
          <a:noFill/>
          <a:ln w="5715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63256710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Towards an Error Metric for Classification: Confusion Matrix</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2037508890"/>
              </p:ext>
            </p:extLst>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32A0A0"/>
                    </a:solidFill>
                  </a:tcPr>
                </a:tc>
                <a:tc>
                  <a:txBody>
                    <a:bodyPr/>
                    <a:lstStyle/>
                    <a:p>
                      <a:pPr algn="ctr"/>
                      <a:endParaRPr lang="en-US" sz="2000" b="1" noProof="0"/>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r>
                        <a:rPr lang="en-US" sz="2000" b="1" noProof="0"/>
                        <a:t>0</a:t>
                      </a:r>
                    </a:p>
                  </a:txBody>
                  <a:tcPr anchor="ctr">
                    <a:solidFill>
                      <a:srgbClr val="AF235F"/>
                    </a:solidFill>
                  </a:tcPr>
                </a:tc>
                <a:tc>
                  <a:txBody>
                    <a:bodyPr/>
                    <a:lstStyle/>
                    <a:p>
                      <a:pPr algn="ctr"/>
                      <a:endParaRPr lang="en-US" sz="2000" b="1" noProof="0"/>
                    </a:p>
                  </a:txBody>
                  <a:tcPr anchor="ctr">
                    <a:solidFill>
                      <a:srgbClr val="32A0A0"/>
                    </a:solidFill>
                  </a:tcPr>
                </a:tc>
                <a:extLst>
                  <a:ext uri="{0D108BD9-81ED-4DB2-BD59-A6C34878D82A}">
                    <a16:rowId xmlns:a16="http://schemas.microsoft.com/office/drawing/2014/main" val="2496120109"/>
                  </a:ext>
                </a:extLst>
              </a:tr>
            </a:tbl>
          </a:graphicData>
        </a:graphic>
      </p:graphicFrame>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40" name="Rechteck 39">
            <a:extLst>
              <a:ext uri="{FF2B5EF4-FFF2-40B4-BE49-F238E27FC236}">
                <a16:creationId xmlns:a16="http://schemas.microsoft.com/office/drawing/2014/main" id="{966D653A-4B3D-4B3B-9A65-76B085D22DDD}"/>
              </a:ext>
            </a:extLst>
          </p:cNvPr>
          <p:cNvSpPr/>
          <p:nvPr/>
        </p:nvSpPr>
        <p:spPr bwMode="auto">
          <a:xfrm>
            <a:off x="2494634" y="4452571"/>
            <a:ext cx="1872000" cy="802275"/>
          </a:xfrm>
          <a:prstGeom prst="rect">
            <a:avLst/>
          </a:prstGeom>
          <a:noFill/>
          <a:ln w="5715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2771658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Towards an Error Metric for Classification: Confusion Matrix</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1038537068"/>
              </p:ext>
            </p:extLst>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32A0A0"/>
                    </a:solidFill>
                  </a:tcPr>
                </a:tc>
                <a:tc>
                  <a:txBody>
                    <a:bodyPr/>
                    <a:lstStyle/>
                    <a:p>
                      <a:pPr algn="ctr"/>
                      <a:r>
                        <a:rPr lang="en-US" sz="2000" b="1" noProof="0"/>
                        <a:t>1</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r>
                        <a:rPr lang="en-US" sz="2000" b="1" noProof="0"/>
                        <a:t>0</a:t>
                      </a:r>
                    </a:p>
                  </a:txBody>
                  <a:tcPr anchor="ctr">
                    <a:solidFill>
                      <a:srgbClr val="AF235F"/>
                    </a:solidFill>
                  </a:tcPr>
                </a:tc>
                <a:tc>
                  <a:txBody>
                    <a:bodyPr/>
                    <a:lstStyle/>
                    <a:p>
                      <a:pPr algn="ctr"/>
                      <a:endParaRPr lang="en-US" sz="2000" b="1" noProof="0"/>
                    </a:p>
                  </a:txBody>
                  <a:tcPr anchor="ctr">
                    <a:solidFill>
                      <a:srgbClr val="32A0A0"/>
                    </a:solidFill>
                  </a:tcPr>
                </a:tc>
                <a:extLst>
                  <a:ext uri="{0D108BD9-81ED-4DB2-BD59-A6C34878D82A}">
                    <a16:rowId xmlns:a16="http://schemas.microsoft.com/office/drawing/2014/main" val="2496120109"/>
                  </a:ext>
                </a:extLst>
              </a:tr>
            </a:tbl>
          </a:graphicData>
        </a:graphic>
      </p:graphicFrame>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40" name="Rechteck 39">
            <a:extLst>
              <a:ext uri="{FF2B5EF4-FFF2-40B4-BE49-F238E27FC236}">
                <a16:creationId xmlns:a16="http://schemas.microsoft.com/office/drawing/2014/main" id="{3ADBE336-E95D-4EC0-AC1F-A201A911E92D}"/>
              </a:ext>
            </a:extLst>
          </p:cNvPr>
          <p:cNvSpPr/>
          <p:nvPr/>
        </p:nvSpPr>
        <p:spPr bwMode="auto">
          <a:xfrm>
            <a:off x="4366634" y="3663228"/>
            <a:ext cx="1872000" cy="802275"/>
          </a:xfrm>
          <a:prstGeom prst="rect">
            <a:avLst/>
          </a:prstGeom>
          <a:noFill/>
          <a:ln w="5715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5" name="Gerade Verbindung mit Pfeil 4">
            <a:extLst>
              <a:ext uri="{FF2B5EF4-FFF2-40B4-BE49-F238E27FC236}">
                <a16:creationId xmlns:a16="http://schemas.microsoft.com/office/drawing/2014/main" id="{E3E13A54-8231-48D2-92C2-F420F9B250FA}"/>
              </a:ext>
            </a:extLst>
          </p:cNvPr>
          <p:cNvCxnSpPr/>
          <p:nvPr/>
        </p:nvCxnSpPr>
        <p:spPr bwMode="auto">
          <a:xfrm>
            <a:off x="3816376" y="2060848"/>
            <a:ext cx="924134" cy="1836465"/>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9719236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Towards an Error Metric for Classification: Confusion Matrix</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3402384305"/>
              </p:ext>
            </p:extLst>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32A0A0"/>
                    </a:solidFill>
                  </a:tcPr>
                </a:tc>
                <a:tc>
                  <a:txBody>
                    <a:bodyPr/>
                    <a:lstStyle/>
                    <a:p>
                      <a:pPr algn="ctr"/>
                      <a:r>
                        <a:rPr lang="en-US" sz="2000" b="1" noProof="0"/>
                        <a:t>1</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r>
                        <a:rPr lang="en-US" sz="2000" b="1" noProof="0"/>
                        <a:t>0</a:t>
                      </a:r>
                    </a:p>
                  </a:txBody>
                  <a:tcPr anchor="ctr">
                    <a:solidFill>
                      <a:srgbClr val="AF235F"/>
                    </a:solidFill>
                  </a:tcPr>
                </a:tc>
                <a:tc>
                  <a:txBody>
                    <a:bodyPr/>
                    <a:lstStyle/>
                    <a:p>
                      <a:pPr algn="ctr"/>
                      <a:r>
                        <a:rPr lang="en-US" sz="2000" b="1" noProof="0"/>
                        <a:t>3</a:t>
                      </a:r>
                    </a:p>
                  </a:txBody>
                  <a:tcPr anchor="ctr">
                    <a:solidFill>
                      <a:srgbClr val="32A0A0"/>
                    </a:solidFill>
                  </a:tcPr>
                </a:tc>
                <a:extLst>
                  <a:ext uri="{0D108BD9-81ED-4DB2-BD59-A6C34878D82A}">
                    <a16:rowId xmlns:a16="http://schemas.microsoft.com/office/drawing/2014/main" val="2496120109"/>
                  </a:ext>
                </a:extLst>
              </a:tr>
            </a:tbl>
          </a:graphicData>
        </a:graphic>
      </p:graphicFrame>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40" name="Rechteck 39">
            <a:extLst>
              <a:ext uri="{FF2B5EF4-FFF2-40B4-BE49-F238E27FC236}">
                <a16:creationId xmlns:a16="http://schemas.microsoft.com/office/drawing/2014/main" id="{FC68ACD3-E64C-4A97-8CAC-C08DAB427DF3}"/>
              </a:ext>
            </a:extLst>
          </p:cNvPr>
          <p:cNvSpPr/>
          <p:nvPr/>
        </p:nvSpPr>
        <p:spPr bwMode="auto">
          <a:xfrm>
            <a:off x="4376837" y="4437459"/>
            <a:ext cx="1872000" cy="802275"/>
          </a:xfrm>
          <a:prstGeom prst="rect">
            <a:avLst/>
          </a:prstGeom>
          <a:noFill/>
          <a:ln w="5715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5" name="Gerade Verbindung mit Pfeil 4">
            <a:extLst>
              <a:ext uri="{FF2B5EF4-FFF2-40B4-BE49-F238E27FC236}">
                <a16:creationId xmlns:a16="http://schemas.microsoft.com/office/drawing/2014/main" id="{1002A6DB-CA7F-4346-96B9-368C0E73AD2E}"/>
              </a:ext>
            </a:extLst>
          </p:cNvPr>
          <p:cNvCxnSpPr/>
          <p:nvPr/>
        </p:nvCxnSpPr>
        <p:spPr bwMode="auto">
          <a:xfrm>
            <a:off x="2146225" y="1967706"/>
            <a:ext cx="2594285" cy="2642908"/>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1" name="Gerade Verbindung mit Pfeil 40">
            <a:extLst>
              <a:ext uri="{FF2B5EF4-FFF2-40B4-BE49-F238E27FC236}">
                <a16:creationId xmlns:a16="http://schemas.microsoft.com/office/drawing/2014/main" id="{CBBA8C74-73B6-462B-B147-16DDDE737DD9}"/>
              </a:ext>
            </a:extLst>
          </p:cNvPr>
          <p:cNvCxnSpPr/>
          <p:nvPr/>
        </p:nvCxnSpPr>
        <p:spPr bwMode="auto">
          <a:xfrm>
            <a:off x="1704496" y="1959131"/>
            <a:ext cx="2941028" cy="2774982"/>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2" name="Gerade Verbindung mit Pfeil 41">
            <a:extLst>
              <a:ext uri="{FF2B5EF4-FFF2-40B4-BE49-F238E27FC236}">
                <a16:creationId xmlns:a16="http://schemas.microsoft.com/office/drawing/2014/main" id="{F4514BF7-3157-45B3-A43E-5FD1B3AB6828}"/>
              </a:ext>
            </a:extLst>
          </p:cNvPr>
          <p:cNvCxnSpPr/>
          <p:nvPr/>
        </p:nvCxnSpPr>
        <p:spPr bwMode="auto">
          <a:xfrm>
            <a:off x="1118635" y="1993026"/>
            <a:ext cx="3447258" cy="2897270"/>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3144476292"/>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Error Metric: Accuracy</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3333025349"/>
              </p:ext>
            </p:extLst>
          </p:nvPr>
        </p:nvGraphicFramePr>
        <p:xfrm>
          <a:off x="611181" y="1808283"/>
          <a:ext cx="6696246" cy="2377162"/>
        </p:xfrm>
        <a:graphic>
          <a:graphicData uri="http://schemas.openxmlformats.org/drawingml/2006/table">
            <a:tbl>
              <a:tblPr firstRow="1" firstCol="1" bandRow="1">
                <a:tableStyleId>{5C22544A-7EE6-4342-B048-85BDC9FD1C3A}</a:tableStyleId>
              </a:tblPr>
              <a:tblGrid>
                <a:gridCol w="2232082">
                  <a:extLst>
                    <a:ext uri="{9D8B030D-6E8A-4147-A177-3AD203B41FA5}">
                      <a16:colId xmlns:a16="http://schemas.microsoft.com/office/drawing/2014/main" val="2518754195"/>
                    </a:ext>
                  </a:extLst>
                </a:gridCol>
                <a:gridCol w="2232082">
                  <a:extLst>
                    <a:ext uri="{9D8B030D-6E8A-4147-A177-3AD203B41FA5}">
                      <a16:colId xmlns:a16="http://schemas.microsoft.com/office/drawing/2014/main" val="122075331"/>
                    </a:ext>
                  </a:extLst>
                </a:gridCol>
                <a:gridCol w="223208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Positive</a:t>
                      </a:r>
                    </a:p>
                  </a:txBody>
                  <a:tcPr anchor="ctr"/>
                </a:tc>
                <a:tc>
                  <a:txBody>
                    <a:bodyPr/>
                    <a:lstStyle/>
                    <a:p>
                      <a:pPr algn="ctr"/>
                      <a:r>
                        <a:rPr lang="en-US" noProof="0"/>
                        <a:t>Negative</a:t>
                      </a:r>
                    </a:p>
                  </a:txBody>
                  <a:tcPr anchor="ctr"/>
                </a:tc>
                <a:extLst>
                  <a:ext uri="{0D108BD9-81ED-4DB2-BD59-A6C34878D82A}">
                    <a16:rowId xmlns:a16="http://schemas.microsoft.com/office/drawing/2014/main" val="3171441879"/>
                  </a:ext>
                </a:extLst>
              </a:tr>
              <a:tr h="796521">
                <a:tc>
                  <a:txBody>
                    <a:bodyPr/>
                    <a:lstStyle/>
                    <a:p>
                      <a:pPr algn="ctr"/>
                      <a:r>
                        <a:rPr lang="en-US" noProof="0"/>
                        <a:t>Predicted Positive</a:t>
                      </a:r>
                    </a:p>
                  </a:txBody>
                  <a:tcPr anchor="ctr"/>
                </a:tc>
                <a:tc>
                  <a:txBody>
                    <a:bodyPr/>
                    <a:lstStyle/>
                    <a:p>
                      <a:pPr algn="ctr"/>
                      <a:r>
                        <a:rPr lang="en-US" noProof="0"/>
                        <a:t>True Positive</a:t>
                      </a:r>
                    </a:p>
                  </a:txBody>
                  <a:tcPr anchor="ctr">
                    <a:solidFill>
                      <a:srgbClr val="4BB9B9"/>
                    </a:solidFill>
                  </a:tcPr>
                </a:tc>
                <a:tc>
                  <a:txBody>
                    <a:bodyPr/>
                    <a:lstStyle/>
                    <a:p>
                      <a:pPr algn="ctr"/>
                      <a:r>
                        <a:rPr lang="en-US" b="1" noProof="0"/>
                        <a:t>False Positive</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Negative</a:t>
                      </a:r>
                    </a:p>
                  </a:txBody>
                  <a:tcPr anchor="ctr"/>
                </a:tc>
                <a:tc>
                  <a:txBody>
                    <a:bodyPr/>
                    <a:lstStyle/>
                    <a:p>
                      <a:pPr algn="ctr"/>
                      <a:r>
                        <a:rPr lang="en-US" b="1" noProof="0"/>
                        <a:t>False Negative</a:t>
                      </a:r>
                    </a:p>
                  </a:txBody>
                  <a:tcPr anchor="ctr">
                    <a:solidFill>
                      <a:srgbClr val="AF235F"/>
                    </a:solidFill>
                  </a:tcPr>
                </a:tc>
                <a:tc>
                  <a:txBody>
                    <a:bodyPr/>
                    <a:lstStyle/>
                    <a:p>
                      <a:pPr algn="ctr"/>
                      <a:r>
                        <a:rPr lang="en-US" noProof="0"/>
                        <a:t>True Negative</a:t>
                      </a:r>
                    </a:p>
                  </a:txBody>
                  <a:tcPr anchor="ctr">
                    <a:solidFill>
                      <a:srgbClr val="4BB9B9"/>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61535C09-44D8-4C74-9E57-F61E9CAA0B73}"/>
                  </a:ext>
                </a:extLst>
              </p:cNvPr>
              <p:cNvSpPr txBox="1"/>
              <p:nvPr/>
            </p:nvSpPr>
            <p:spPr>
              <a:xfrm>
                <a:off x="3218855" y="4689140"/>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𝐴𝑐𝑐𝑢𝑟𝑎𝑐𝑦</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𝑻𝒆𝒔𝒕</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𝑺𝒄𝒐𝒓𝒆</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𝑁𝑒𝑔𝑎𝑡𝑖𝑣𝑒</m:t>
                          </m:r>
                        </m:num>
                        <m:den>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oMath>
                  </m:oMathPara>
                </a14:m>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 name="Textfeld 6">
                <a:extLst>
                  <a:ext uri="{FF2B5EF4-FFF2-40B4-BE49-F238E27FC236}">
                    <a16:creationId xmlns:a16="http://schemas.microsoft.com/office/drawing/2014/main" id="{61535C09-44D8-4C74-9E57-F61E9CAA0B73}"/>
                  </a:ext>
                </a:extLst>
              </p:cNvPr>
              <p:cNvSpPr txBox="1">
                <a:spLocks noRot="1" noChangeAspect="1" noMove="1" noResize="1" noEditPoints="1" noAdjustHandles="1" noChangeArrowheads="1" noChangeShapeType="1" noTextEdit="1"/>
              </p:cNvSpPr>
              <p:nvPr/>
            </p:nvSpPr>
            <p:spPr>
              <a:xfrm>
                <a:off x="3218855" y="4689140"/>
                <a:ext cx="914400" cy="914400"/>
              </a:xfrm>
              <a:prstGeom prst="rect">
                <a:avLst/>
              </a:prstGeom>
              <a:blipFill>
                <a:blip r:embed="rId2"/>
                <a:stretch>
                  <a:fillRect l="-667" r="-548667"/>
                </a:stretch>
              </a:blipFill>
            </p:spPr>
            <p:txBody>
              <a:bodyPr/>
              <a:lstStyle/>
              <a:p>
                <a:r>
                  <a:rPr lang="en-US">
                    <a:noFill/>
                  </a:rPr>
                  <a:t> </a:t>
                </a:r>
              </a:p>
            </p:txBody>
          </p:sp>
        </mc:Fallback>
      </mc:AlternateContent>
      <p:sp>
        <p:nvSpPr>
          <p:cNvPr id="4" name="Rechteck 3">
            <a:extLst>
              <a:ext uri="{FF2B5EF4-FFF2-40B4-BE49-F238E27FC236}">
                <a16:creationId xmlns:a16="http://schemas.microsoft.com/office/drawing/2014/main" id="{4CBF4A07-9A31-4FCD-88D5-AF8971DAEC0A}"/>
              </a:ext>
            </a:extLst>
          </p:cNvPr>
          <p:cNvSpPr/>
          <p:nvPr/>
        </p:nvSpPr>
        <p:spPr bwMode="auto">
          <a:xfrm>
            <a:off x="2842893" y="2601445"/>
            <a:ext cx="4464000" cy="1584000"/>
          </a:xfrm>
          <a:prstGeom prst="rect">
            <a:avLst/>
          </a:prstGeom>
          <a:noFill/>
          <a:ln w="5715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3" name="Rechteck 12">
            <a:extLst>
              <a:ext uri="{FF2B5EF4-FFF2-40B4-BE49-F238E27FC236}">
                <a16:creationId xmlns:a16="http://schemas.microsoft.com/office/drawing/2014/main" id="{3A147D3E-7C04-4D84-AD7C-2D93F5105BDF}"/>
              </a:ext>
            </a:extLst>
          </p:cNvPr>
          <p:cNvSpPr/>
          <p:nvPr/>
        </p:nvSpPr>
        <p:spPr bwMode="auto">
          <a:xfrm>
            <a:off x="2858815" y="1348496"/>
            <a:ext cx="4464495" cy="423268"/>
          </a:xfrm>
          <a:prstGeom prst="rect">
            <a:avLst/>
          </a:prstGeom>
          <a:solidFill>
            <a:srgbClr val="879BAA"/>
          </a:solidFill>
          <a:ln w="9525">
            <a:solidFill>
              <a:schemeClr val="bg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Reality</a:t>
            </a:r>
          </a:p>
        </p:txBody>
      </p:sp>
    </p:spTree>
    <p:extLst>
      <p:ext uri="{BB962C8B-B14F-4D97-AF65-F5344CB8AC3E}">
        <p14:creationId xmlns:p14="http://schemas.microsoft.com/office/powerpoint/2010/main" val="3211227153"/>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Error Metric: Accuracy</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3432386201"/>
              </p:ext>
            </p:extLst>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4BB9B9"/>
                    </a:solidFill>
                  </a:tcPr>
                </a:tc>
                <a:tc>
                  <a:txBody>
                    <a:bodyPr/>
                    <a:lstStyle/>
                    <a:p>
                      <a:pPr algn="ctr"/>
                      <a:r>
                        <a:rPr lang="en-US" sz="2000" b="1" noProof="0"/>
                        <a:t>1</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r>
                        <a:rPr lang="en-US" sz="2000" b="1" noProof="0"/>
                        <a:t>0</a:t>
                      </a:r>
                    </a:p>
                  </a:txBody>
                  <a:tcPr anchor="ctr">
                    <a:solidFill>
                      <a:srgbClr val="AF235F"/>
                    </a:solidFill>
                  </a:tcPr>
                </a:tc>
                <a:tc>
                  <a:txBody>
                    <a:bodyPr/>
                    <a:lstStyle/>
                    <a:p>
                      <a:pPr algn="ctr"/>
                      <a:r>
                        <a:rPr lang="en-US" sz="2000" b="1" noProof="0"/>
                        <a:t>3</a:t>
                      </a:r>
                    </a:p>
                  </a:txBody>
                  <a:tcPr anchor="ctr">
                    <a:solidFill>
                      <a:srgbClr val="4BB9B9"/>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61535C09-44D8-4C74-9E57-F61E9CAA0B73}"/>
                  </a:ext>
                </a:extLst>
              </p:cNvPr>
              <p:cNvSpPr txBox="1"/>
              <p:nvPr/>
            </p:nvSpPr>
            <p:spPr>
              <a:xfrm>
                <a:off x="706599" y="5502932"/>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𝑨𝒄𝒄𝒖𝒓𝒂𝒄𝒚</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𝑻𝒆𝒔𝒕</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𝑺𝒄𝒐𝒓𝒆</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𝐺𝑟𝑒𝑒𝑛𝑠</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𝑅𝑒𝑑𝑠</m:t>
                          </m:r>
                        </m:num>
                        <m:den>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6+3</m:t>
                          </m:r>
                        </m:num>
                        <m:den>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10</m:t>
                          </m:r>
                        </m:den>
                      </m:f>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𝟗</m:t>
                      </m:r>
                    </m:oMath>
                  </m:oMathPara>
                </a14:m>
                <a:endParaRPr lang="en-US"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 name="Textfeld 6">
                <a:extLst>
                  <a:ext uri="{FF2B5EF4-FFF2-40B4-BE49-F238E27FC236}">
                    <a16:creationId xmlns:a16="http://schemas.microsoft.com/office/drawing/2014/main" id="{61535C09-44D8-4C74-9E57-F61E9CAA0B73}"/>
                  </a:ext>
                </a:extLst>
              </p:cNvPr>
              <p:cNvSpPr txBox="1">
                <a:spLocks noRot="1" noChangeAspect="1" noMove="1" noResize="1" noEditPoints="1" noAdjustHandles="1" noChangeArrowheads="1" noChangeShapeType="1" noTextEdit="1"/>
              </p:cNvSpPr>
              <p:nvPr/>
            </p:nvSpPr>
            <p:spPr>
              <a:xfrm>
                <a:off x="706599" y="5502932"/>
                <a:ext cx="914400" cy="914400"/>
              </a:xfrm>
              <a:prstGeom prst="rect">
                <a:avLst/>
              </a:prstGeom>
              <a:blipFill>
                <a:blip r:embed="rId2"/>
                <a:stretch>
                  <a:fillRect l="-667" r="-660667"/>
                </a:stretch>
              </a:blipFill>
            </p:spPr>
            <p:txBody>
              <a:bodyPr/>
              <a:lstStyle/>
              <a:p>
                <a:r>
                  <a:rPr lang="en-US">
                    <a:noFill/>
                  </a:rPr>
                  <a:t> </a:t>
                </a:r>
              </a:p>
            </p:txBody>
          </p:sp>
        </mc:Fallback>
      </mc:AlternateContent>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396914616"/>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Problems with Accuracy</a:t>
            </a:r>
          </a:p>
        </p:txBody>
      </p:sp>
      <p:sp>
        <p:nvSpPr>
          <p:cNvPr id="40" name="Textfeld 39">
            <a:extLst>
              <a:ext uri="{FF2B5EF4-FFF2-40B4-BE49-F238E27FC236}">
                <a16:creationId xmlns:a16="http://schemas.microsoft.com/office/drawing/2014/main" id="{A634D258-4BB5-4E06-977B-BA8BA224D089}"/>
              </a:ext>
            </a:extLst>
          </p:cNvPr>
          <p:cNvSpPr txBox="1"/>
          <p:nvPr/>
        </p:nvSpPr>
        <p:spPr>
          <a:xfrm>
            <a:off x="428545" y="1028343"/>
            <a:ext cx="11341260" cy="4662815"/>
          </a:xfrm>
          <a:prstGeom prst="rect">
            <a:avLst/>
          </a:prstGeom>
          <a:noFill/>
        </p:spPr>
        <p:txBody>
          <a:bodyPr wrap="square">
            <a:spAutoFit/>
          </a:bodyPr>
          <a:lstStyle/>
          <a:p>
            <a:pPr algn="just"/>
            <a:endParaRPr lang="en-US" b="0" i="0">
              <a:solidFill>
                <a:srgbClr val="1C1C1C"/>
              </a:solidFill>
              <a:effectLst/>
              <a:latin typeface="IBM Plex Sans"/>
            </a:endParaRPr>
          </a:p>
          <a:p>
            <a:pPr algn="just"/>
            <a:r>
              <a:rPr lang="en-US" b="1" i="0">
                <a:solidFill>
                  <a:srgbClr val="1C1C1C"/>
                </a:solidFill>
                <a:effectLst/>
                <a:latin typeface="IBM Plex Sans"/>
              </a:rPr>
              <a:t>Example</a:t>
            </a:r>
            <a:r>
              <a:rPr lang="en-US" b="0" i="0">
                <a:solidFill>
                  <a:srgbClr val="1C1C1C"/>
                </a:solidFill>
                <a:effectLst/>
                <a:latin typeface="IBM Plex Sans"/>
              </a:rPr>
              <a:t>:</a:t>
            </a:r>
          </a:p>
          <a:p>
            <a:pPr algn="just"/>
            <a:r>
              <a:rPr lang="en-US" b="1">
                <a:solidFill>
                  <a:srgbClr val="1C1C1C"/>
                </a:solidFill>
                <a:latin typeface="IBM Plex Sans"/>
              </a:rPr>
              <a:t>Classifier</a:t>
            </a:r>
            <a:r>
              <a:rPr lang="en-US">
                <a:solidFill>
                  <a:srgbClr val="1C1C1C"/>
                </a:solidFill>
                <a:latin typeface="IBM Plex Sans"/>
              </a:rPr>
              <a:t>: medical data, predict if person has disease or not; highly imbalanced classes</a:t>
            </a:r>
          </a:p>
          <a:p>
            <a:pPr algn="just"/>
            <a:r>
              <a:rPr lang="en-US" b="1">
                <a:solidFill>
                  <a:srgbClr val="1C1C1C"/>
                </a:solidFill>
                <a:latin typeface="IBM Plex Sans"/>
              </a:rPr>
              <a:t>Result</a:t>
            </a:r>
            <a:r>
              <a:rPr lang="en-US">
                <a:solidFill>
                  <a:srgbClr val="1C1C1C"/>
                </a:solidFill>
                <a:latin typeface="IBM Plex Sans"/>
              </a:rPr>
              <a:t>: high accuracy, BUT :</a:t>
            </a:r>
          </a:p>
          <a:p>
            <a:pPr marL="285750" indent="-285750" algn="just">
              <a:buFont typeface="Arial" panose="020B0604020202020204" pitchFamily="34" charset="0"/>
              <a:buChar char="•"/>
            </a:pPr>
            <a:r>
              <a:rPr lang="en-US">
                <a:solidFill>
                  <a:srgbClr val="1C1C1C"/>
                </a:solidFill>
                <a:latin typeface="IBM Plex Sans"/>
              </a:rPr>
              <a:t> A</a:t>
            </a:r>
            <a:r>
              <a:rPr lang="en-US" b="0" i="0">
                <a:solidFill>
                  <a:srgbClr val="1C1C1C"/>
                </a:solidFill>
                <a:effectLst/>
                <a:latin typeface="IBM Plex Sans"/>
              </a:rPr>
              <a:t>lways correctly diagnosed disease, but it gets half of the healthy people wrong. (precision)</a:t>
            </a:r>
          </a:p>
          <a:p>
            <a:pPr marL="285750" indent="-285750" algn="just">
              <a:buFont typeface="Arial" panose="020B0604020202020204" pitchFamily="34" charset="0"/>
              <a:buChar char="•"/>
            </a:pPr>
            <a:r>
              <a:rPr lang="en-US" b="0" i="0">
                <a:solidFill>
                  <a:srgbClr val="1C1C1C"/>
                </a:solidFill>
                <a:effectLst/>
                <a:latin typeface="IBM Plex Sans"/>
              </a:rPr>
              <a:t> Right for every healthy person, but misses half of the disease cases. (recall) </a:t>
            </a:r>
          </a:p>
          <a:p>
            <a:pPr marL="285750" indent="-285750" algn="just">
              <a:buFont typeface="Arial" panose="020B0604020202020204" pitchFamily="34" charset="0"/>
              <a:buChar char="•"/>
            </a:pPr>
            <a:endParaRPr lang="en-US" b="0" i="0">
              <a:solidFill>
                <a:srgbClr val="1C1C1C"/>
              </a:solidFill>
              <a:effectLst/>
              <a:latin typeface="IBM Plex Sans"/>
            </a:endParaRPr>
          </a:p>
          <a:p>
            <a:pPr algn="just"/>
            <a:r>
              <a:rPr lang="en-US">
                <a:solidFill>
                  <a:srgbClr val="1C1C1C"/>
                </a:solidFill>
                <a:latin typeface="IBM Plex Sans"/>
              </a:rPr>
              <a:t>A</a:t>
            </a:r>
            <a:r>
              <a:rPr lang="en-US" b="0" i="0">
                <a:solidFill>
                  <a:srgbClr val="1C1C1C"/>
                </a:solidFill>
                <a:effectLst/>
                <a:latin typeface="IBM Plex Sans"/>
              </a:rPr>
              <a:t>ccuracy doesn’t help. What’s important is that no matter if someone is sick or healthy the classifier gets it right.</a:t>
            </a:r>
          </a:p>
          <a:p>
            <a:pPr algn="just">
              <a:buFont typeface="Arial" panose="020B0604020202020204" pitchFamily="34" charset="0"/>
              <a:buChar char="•"/>
            </a:pPr>
            <a:endParaRPr lang="en-US" b="0" i="0">
              <a:solidFill>
                <a:srgbClr val="1C1C1C"/>
              </a:solidFill>
              <a:effectLst/>
              <a:latin typeface="IBM Plex Sans"/>
            </a:endParaRPr>
          </a:p>
          <a:p>
            <a:pPr algn="just"/>
            <a:r>
              <a:rPr lang="en-US" b="0" i="0">
                <a:solidFill>
                  <a:srgbClr val="1C1C1C"/>
                </a:solidFill>
                <a:effectLst/>
                <a:latin typeface="IBM Plex Sans"/>
              </a:rPr>
              <a:t>Let’s say you are screening a population for a sickness that occurs only 1 in a 1 000 cases. Would a classifier that is 99.9% accurate seems good ? Well intuitively yes, but the classifier could just predict every person is healthy and get it right 999 out of 1000 times, so it would be 99.9% accurate. Huh. Not good.</a:t>
            </a:r>
          </a:p>
        </p:txBody>
      </p:sp>
    </p:spTree>
    <p:extLst>
      <p:ext uri="{BB962C8B-B14F-4D97-AF65-F5344CB8AC3E}">
        <p14:creationId xmlns:p14="http://schemas.microsoft.com/office/powerpoint/2010/main" val="13758284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9F3B35E7-AE50-4CD5-B5DA-7B79B6238CD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421177" y="559972"/>
            <a:ext cx="3333750" cy="6057900"/>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Error Metric: Precision</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744509492"/>
              </p:ext>
            </p:extLst>
          </p:nvPr>
        </p:nvGraphicFramePr>
        <p:xfrm>
          <a:off x="754331" y="2710048"/>
          <a:ext cx="5328096" cy="2318802"/>
        </p:xfrm>
        <a:graphic>
          <a:graphicData uri="http://schemas.openxmlformats.org/drawingml/2006/table">
            <a:tbl>
              <a:tblPr firstRow="1" firstCol="1" bandRow="1">
                <a:tableStyleId>{5C22544A-7EE6-4342-B048-85BDC9FD1C3A}</a:tableStyleId>
              </a:tblPr>
              <a:tblGrid>
                <a:gridCol w="1776032">
                  <a:extLst>
                    <a:ext uri="{9D8B030D-6E8A-4147-A177-3AD203B41FA5}">
                      <a16:colId xmlns:a16="http://schemas.microsoft.com/office/drawing/2014/main" val="2518754195"/>
                    </a:ext>
                  </a:extLst>
                </a:gridCol>
                <a:gridCol w="1776032">
                  <a:extLst>
                    <a:ext uri="{9D8B030D-6E8A-4147-A177-3AD203B41FA5}">
                      <a16:colId xmlns:a16="http://schemas.microsoft.com/office/drawing/2014/main" val="122075331"/>
                    </a:ext>
                  </a:extLst>
                </a:gridCol>
                <a:gridCol w="1776032">
                  <a:extLst>
                    <a:ext uri="{9D8B030D-6E8A-4147-A177-3AD203B41FA5}">
                      <a16:colId xmlns:a16="http://schemas.microsoft.com/office/drawing/2014/main" val="4226612734"/>
                    </a:ext>
                  </a:extLst>
                </a:gridCol>
              </a:tblGrid>
              <a:tr h="696692">
                <a:tc>
                  <a:txBody>
                    <a:bodyPr/>
                    <a:lstStyle/>
                    <a:p>
                      <a:pPr algn="ctr"/>
                      <a:endParaRPr lang="en-US" noProof="0"/>
                    </a:p>
                  </a:txBody>
                  <a:tcPr anchor="ctr"/>
                </a:tc>
                <a:tc>
                  <a:txBody>
                    <a:bodyPr/>
                    <a:lstStyle/>
                    <a:p>
                      <a:pPr algn="ctr"/>
                      <a:r>
                        <a:rPr lang="en-US" noProof="0"/>
                        <a:t>Positive</a:t>
                      </a:r>
                    </a:p>
                  </a:txBody>
                  <a:tcPr anchor="ctr"/>
                </a:tc>
                <a:tc>
                  <a:txBody>
                    <a:bodyPr/>
                    <a:lstStyle/>
                    <a:p>
                      <a:pPr algn="ctr"/>
                      <a:r>
                        <a:rPr lang="en-US" noProof="0"/>
                        <a:t>Negative</a:t>
                      </a:r>
                    </a:p>
                  </a:txBody>
                  <a:tcPr anchor="ctr"/>
                </a:tc>
                <a:extLst>
                  <a:ext uri="{0D108BD9-81ED-4DB2-BD59-A6C34878D82A}">
                    <a16:rowId xmlns:a16="http://schemas.microsoft.com/office/drawing/2014/main" val="3171441879"/>
                  </a:ext>
                </a:extLst>
              </a:tr>
              <a:tr h="707710">
                <a:tc>
                  <a:txBody>
                    <a:bodyPr/>
                    <a:lstStyle/>
                    <a:p>
                      <a:pPr algn="ctr"/>
                      <a:r>
                        <a:rPr lang="en-US" noProof="0"/>
                        <a:t>Predicted Positive</a:t>
                      </a:r>
                    </a:p>
                  </a:txBody>
                  <a:tcPr anchor="ctr"/>
                </a:tc>
                <a:tc>
                  <a:txBody>
                    <a:bodyPr/>
                    <a:lstStyle/>
                    <a:p>
                      <a:pPr algn="ctr"/>
                      <a:r>
                        <a:rPr lang="en-US" noProof="0"/>
                        <a:t>True Positive</a:t>
                      </a:r>
                    </a:p>
                    <a:p>
                      <a:pPr algn="ctr"/>
                      <a:r>
                        <a:rPr lang="en-US" noProof="0"/>
                        <a:t>6</a:t>
                      </a:r>
                    </a:p>
                  </a:txBody>
                  <a:tcPr anchor="ctr">
                    <a:solidFill>
                      <a:srgbClr val="32A0A0"/>
                    </a:solidFill>
                  </a:tcPr>
                </a:tc>
                <a:tc>
                  <a:txBody>
                    <a:bodyPr/>
                    <a:lstStyle/>
                    <a:p>
                      <a:pPr algn="ctr"/>
                      <a:r>
                        <a:rPr lang="en-US" b="1" noProof="0"/>
                        <a:t>False Positive</a:t>
                      </a:r>
                    </a:p>
                    <a:p>
                      <a:pPr algn="ctr"/>
                      <a:r>
                        <a:rPr lang="en-US" b="1" noProof="0"/>
                        <a:t>1</a:t>
                      </a:r>
                    </a:p>
                  </a:txBody>
                  <a:tcPr anchor="ctr">
                    <a:solidFill>
                      <a:srgbClr val="AF235F"/>
                    </a:solidFill>
                  </a:tcPr>
                </a:tc>
                <a:extLst>
                  <a:ext uri="{0D108BD9-81ED-4DB2-BD59-A6C34878D82A}">
                    <a16:rowId xmlns:a16="http://schemas.microsoft.com/office/drawing/2014/main" val="2389779071"/>
                  </a:ext>
                </a:extLst>
              </a:tr>
              <a:tr h="707710">
                <a:tc>
                  <a:txBody>
                    <a:bodyPr/>
                    <a:lstStyle/>
                    <a:p>
                      <a:pPr algn="ctr"/>
                      <a:r>
                        <a:rPr lang="en-US" noProof="0"/>
                        <a:t>Predicted Negative</a:t>
                      </a:r>
                    </a:p>
                  </a:txBody>
                  <a:tcPr anchor="ctr"/>
                </a:tc>
                <a:tc>
                  <a:txBody>
                    <a:bodyPr/>
                    <a:lstStyle/>
                    <a:p>
                      <a:pPr algn="ctr"/>
                      <a:r>
                        <a:rPr lang="en-US" b="1" noProof="0"/>
                        <a:t>False Negative</a:t>
                      </a:r>
                    </a:p>
                    <a:p>
                      <a:pPr algn="ctr"/>
                      <a:r>
                        <a:rPr lang="en-US" b="1" noProof="0"/>
                        <a:t>0</a:t>
                      </a:r>
                    </a:p>
                  </a:txBody>
                  <a:tcPr anchor="ctr">
                    <a:solidFill>
                      <a:srgbClr val="AF235F"/>
                    </a:solidFill>
                  </a:tcPr>
                </a:tc>
                <a:tc>
                  <a:txBody>
                    <a:bodyPr/>
                    <a:lstStyle/>
                    <a:p>
                      <a:pPr algn="ctr"/>
                      <a:r>
                        <a:rPr lang="en-US" noProof="0"/>
                        <a:t>True Negative</a:t>
                      </a:r>
                    </a:p>
                    <a:p>
                      <a:pPr algn="ctr"/>
                      <a:r>
                        <a:rPr lang="en-US" noProof="0"/>
                        <a:t>3</a:t>
                      </a:r>
                    </a:p>
                  </a:txBody>
                  <a:tcPr anchor="ctr">
                    <a:solidFill>
                      <a:srgbClr val="32A0A0"/>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6D5A94C7-77FE-4943-BCE7-71B7D85D903A}"/>
                  </a:ext>
                </a:extLst>
              </p:cNvPr>
              <p:cNvSpPr txBox="1"/>
              <p:nvPr/>
            </p:nvSpPr>
            <p:spPr>
              <a:xfrm>
                <a:off x="1200433" y="4990493"/>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8" name="Textfeld 7">
                <a:extLst>
                  <a:ext uri="{FF2B5EF4-FFF2-40B4-BE49-F238E27FC236}">
                    <a16:creationId xmlns:a16="http://schemas.microsoft.com/office/drawing/2014/main" id="{6D5A94C7-77FE-4943-BCE7-71B7D85D903A}"/>
                  </a:ext>
                </a:extLst>
              </p:cNvPr>
              <p:cNvSpPr txBox="1">
                <a:spLocks noRot="1" noChangeAspect="1" noMove="1" noResize="1" noEditPoints="1" noAdjustHandles="1" noChangeArrowheads="1" noChangeShapeType="1" noTextEdit="1"/>
              </p:cNvSpPr>
              <p:nvPr/>
            </p:nvSpPr>
            <p:spPr>
              <a:xfrm>
                <a:off x="1200433" y="4990493"/>
                <a:ext cx="914400" cy="914400"/>
              </a:xfrm>
              <a:prstGeom prst="rect">
                <a:avLst/>
              </a:prstGeom>
              <a:blipFill>
                <a:blip r:embed="rId3"/>
                <a:stretch>
                  <a:fillRect r="-380667"/>
                </a:stretch>
              </a:blipFill>
            </p:spPr>
            <p:txBody>
              <a:bodyPr/>
              <a:lstStyle/>
              <a:p>
                <a:r>
                  <a:rPr lang="en-US">
                    <a:noFill/>
                  </a:rPr>
                  <a:t> </a:t>
                </a:r>
              </a:p>
            </p:txBody>
          </p:sp>
        </mc:Fallback>
      </mc:AlternateContent>
      <p:sp>
        <p:nvSpPr>
          <p:cNvPr id="11" name="Textfeld 10">
            <a:extLst>
              <a:ext uri="{FF2B5EF4-FFF2-40B4-BE49-F238E27FC236}">
                <a16:creationId xmlns:a16="http://schemas.microsoft.com/office/drawing/2014/main" id="{05C61DF6-A49C-4CA7-B738-8FF04B661530}"/>
              </a:ext>
            </a:extLst>
          </p:cNvPr>
          <p:cNvSpPr txBox="1"/>
          <p:nvPr/>
        </p:nvSpPr>
        <p:spPr>
          <a:xfrm>
            <a:off x="3989432" y="352155"/>
            <a:ext cx="914400" cy="275909"/>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How many positive/green predictions are actual positive/true greens?</a:t>
            </a:r>
          </a:p>
        </p:txBody>
      </p:sp>
      <p:sp>
        <p:nvSpPr>
          <p:cNvPr id="4" name="Rechteck 3">
            <a:extLst>
              <a:ext uri="{FF2B5EF4-FFF2-40B4-BE49-F238E27FC236}">
                <a16:creationId xmlns:a16="http://schemas.microsoft.com/office/drawing/2014/main" id="{3848C088-98B6-4017-A291-8C1125042A61}"/>
              </a:ext>
            </a:extLst>
          </p:cNvPr>
          <p:cNvSpPr/>
          <p:nvPr/>
        </p:nvSpPr>
        <p:spPr bwMode="auto">
          <a:xfrm>
            <a:off x="2416321" y="3385977"/>
            <a:ext cx="3802124" cy="792000"/>
          </a:xfrm>
          <a:prstGeom prst="rect">
            <a:avLst/>
          </a:prstGeom>
          <a:noFill/>
          <a:ln w="57150">
            <a:solidFill>
              <a:schemeClr val="tx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7" name="Rechteck 6">
            <a:extLst>
              <a:ext uri="{FF2B5EF4-FFF2-40B4-BE49-F238E27FC236}">
                <a16:creationId xmlns:a16="http://schemas.microsoft.com/office/drawing/2014/main" id="{BFAAE5EA-DAFD-4DE5-842A-C1D918A23B09}"/>
              </a:ext>
            </a:extLst>
          </p:cNvPr>
          <p:cNvSpPr/>
          <p:nvPr/>
        </p:nvSpPr>
        <p:spPr bwMode="auto">
          <a:xfrm>
            <a:off x="2528567" y="2256756"/>
            <a:ext cx="3562022" cy="423268"/>
          </a:xfrm>
          <a:prstGeom prst="rect">
            <a:avLst/>
          </a:prstGeom>
          <a:solidFill>
            <a:srgbClr val="879BAA"/>
          </a:solidFill>
          <a:ln w="9525">
            <a:solidFill>
              <a:schemeClr val="bg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Reality</a:t>
            </a:r>
          </a:p>
        </p:txBody>
      </p:sp>
      <p:grpSp>
        <p:nvGrpSpPr>
          <p:cNvPr id="10" name="Gruppieren 9">
            <a:extLst>
              <a:ext uri="{FF2B5EF4-FFF2-40B4-BE49-F238E27FC236}">
                <a16:creationId xmlns:a16="http://schemas.microsoft.com/office/drawing/2014/main" id="{4A5EEAC9-1572-49D1-B2FC-D8DEFE363A87}"/>
              </a:ext>
            </a:extLst>
          </p:cNvPr>
          <p:cNvGrpSpPr/>
          <p:nvPr/>
        </p:nvGrpSpPr>
        <p:grpSpPr>
          <a:xfrm>
            <a:off x="567609" y="848429"/>
            <a:ext cx="5616576" cy="1224001"/>
            <a:chOff x="918225" y="2780667"/>
            <a:chExt cx="6801130" cy="1404417"/>
          </a:xfrm>
        </p:grpSpPr>
        <p:grpSp>
          <p:nvGrpSpPr>
            <p:cNvPr id="12" name="Gruppieren 11">
              <a:extLst>
                <a:ext uri="{FF2B5EF4-FFF2-40B4-BE49-F238E27FC236}">
                  <a16:creationId xmlns:a16="http://schemas.microsoft.com/office/drawing/2014/main" id="{DBA3791A-260B-49E3-80C1-3BDA12241227}"/>
                </a:ext>
              </a:extLst>
            </p:cNvPr>
            <p:cNvGrpSpPr/>
            <p:nvPr/>
          </p:nvGrpSpPr>
          <p:grpSpPr>
            <a:xfrm>
              <a:off x="987354" y="2972640"/>
              <a:ext cx="6732001" cy="1067982"/>
              <a:chOff x="946888" y="2684869"/>
              <a:chExt cx="6732001" cy="1067982"/>
            </a:xfrm>
          </p:grpSpPr>
          <p:grpSp>
            <p:nvGrpSpPr>
              <p:cNvPr id="16" name="Gruppieren 15">
                <a:extLst>
                  <a:ext uri="{FF2B5EF4-FFF2-40B4-BE49-F238E27FC236}">
                    <a16:creationId xmlns:a16="http://schemas.microsoft.com/office/drawing/2014/main" id="{3E0B37C8-4610-4945-88EF-6B4945538EC7}"/>
                  </a:ext>
                </a:extLst>
              </p:cNvPr>
              <p:cNvGrpSpPr/>
              <p:nvPr/>
            </p:nvGrpSpPr>
            <p:grpSpPr>
              <a:xfrm>
                <a:off x="946888" y="2684869"/>
                <a:ext cx="6732001" cy="1067982"/>
                <a:chOff x="986607" y="3303000"/>
                <a:chExt cx="4537464" cy="743507"/>
              </a:xfrm>
            </p:grpSpPr>
            <p:grpSp>
              <p:nvGrpSpPr>
                <p:cNvPr id="18" name="Gruppieren 17">
                  <a:extLst>
                    <a:ext uri="{FF2B5EF4-FFF2-40B4-BE49-F238E27FC236}">
                      <a16:creationId xmlns:a16="http://schemas.microsoft.com/office/drawing/2014/main" id="{BA82E101-3F81-41D0-8309-68B70C334835}"/>
                    </a:ext>
                  </a:extLst>
                </p:cNvPr>
                <p:cNvGrpSpPr/>
                <p:nvPr/>
              </p:nvGrpSpPr>
              <p:grpSpPr>
                <a:xfrm>
                  <a:off x="986607" y="3303000"/>
                  <a:ext cx="4537464" cy="449850"/>
                  <a:chOff x="986607" y="3303000"/>
                  <a:chExt cx="4537464" cy="449850"/>
                </a:xfrm>
              </p:grpSpPr>
              <p:cxnSp>
                <p:nvCxnSpPr>
                  <p:cNvPr id="23" name="Gerader Verbinder 22">
                    <a:extLst>
                      <a:ext uri="{FF2B5EF4-FFF2-40B4-BE49-F238E27FC236}">
                        <a16:creationId xmlns:a16="http://schemas.microsoft.com/office/drawing/2014/main" id="{23DAA4A8-839F-4114-BB34-ACD83B96D7C1}"/>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r Verbinder 23">
                    <a:extLst>
                      <a:ext uri="{FF2B5EF4-FFF2-40B4-BE49-F238E27FC236}">
                        <a16:creationId xmlns:a16="http://schemas.microsoft.com/office/drawing/2014/main" id="{64870508-E388-4A2E-B8BD-F12AE9CEF2E3}"/>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r Verbinder 24">
                    <a:extLst>
                      <a:ext uri="{FF2B5EF4-FFF2-40B4-BE49-F238E27FC236}">
                        <a16:creationId xmlns:a16="http://schemas.microsoft.com/office/drawing/2014/main" id="{38A2865B-2B27-4EE1-9D62-6BB02900216A}"/>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r Verbinder 25">
                    <a:extLst>
                      <a:ext uri="{FF2B5EF4-FFF2-40B4-BE49-F238E27FC236}">
                        <a16:creationId xmlns:a16="http://schemas.microsoft.com/office/drawing/2014/main" id="{E9653C34-814A-4BB8-B5F4-74E3DAF4A7CA}"/>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6088469D-5222-4C36-8D31-FC5668CBB22B}"/>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8" name="Ellipse 27">
                    <a:extLst>
                      <a:ext uri="{FF2B5EF4-FFF2-40B4-BE49-F238E27FC236}">
                        <a16:creationId xmlns:a16="http://schemas.microsoft.com/office/drawing/2014/main" id="{021B4F46-73C0-43C8-B9EB-C450FDD5D8CE}"/>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Ellipse 28">
                    <a:extLst>
                      <a:ext uri="{FF2B5EF4-FFF2-40B4-BE49-F238E27FC236}">
                        <a16:creationId xmlns:a16="http://schemas.microsoft.com/office/drawing/2014/main" id="{B9048635-8CF8-46D3-AC03-7AE6570CC151}"/>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0" name="Ellipse 29">
                    <a:extLst>
                      <a:ext uri="{FF2B5EF4-FFF2-40B4-BE49-F238E27FC236}">
                        <a16:creationId xmlns:a16="http://schemas.microsoft.com/office/drawing/2014/main" id="{8D4BC14D-AF76-43D9-AD81-FEF2F4496755}"/>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1" name="Ellipse 30">
                    <a:extLst>
                      <a:ext uri="{FF2B5EF4-FFF2-40B4-BE49-F238E27FC236}">
                        <a16:creationId xmlns:a16="http://schemas.microsoft.com/office/drawing/2014/main" id="{ABB90543-36CE-462C-9B93-AD59B8A97DE4}"/>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8FC4F41C-1FC1-47D3-89FB-C240B9BB3B4F}"/>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E3332BFB-C4E2-426B-B750-1BC0AAA517CA}"/>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DB34CA4A-D596-4885-A070-22A128C7768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005A1620-C218-4D78-B828-9DCF250FC211}"/>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8FB5FBB5-F617-416E-BDA4-C96521D3D244}"/>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9" name="Textfeld 18">
                  <a:extLst>
                    <a:ext uri="{FF2B5EF4-FFF2-40B4-BE49-F238E27FC236}">
                      <a16:creationId xmlns:a16="http://schemas.microsoft.com/office/drawing/2014/main" id="{6A57313D-89ED-4C25-B334-B9AC90BBEC4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0" name="Textfeld 19">
                  <a:extLst>
                    <a:ext uri="{FF2B5EF4-FFF2-40B4-BE49-F238E27FC236}">
                      <a16:creationId xmlns:a16="http://schemas.microsoft.com/office/drawing/2014/main" id="{A69C8D2D-1C2C-4193-B5E5-B089CFF03906}"/>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1" name="Textfeld 20">
                  <a:extLst>
                    <a:ext uri="{FF2B5EF4-FFF2-40B4-BE49-F238E27FC236}">
                      <a16:creationId xmlns:a16="http://schemas.microsoft.com/office/drawing/2014/main" id="{A9E5B57E-5021-4233-9515-117A0FD09C92}"/>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2" name="Textfeld 21">
                  <a:extLst>
                    <a:ext uri="{FF2B5EF4-FFF2-40B4-BE49-F238E27FC236}">
                      <a16:creationId xmlns:a16="http://schemas.microsoft.com/office/drawing/2014/main" id="{10742244-02AD-473C-B2D0-E3277379C3E8}"/>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7" name="Ellipse 16">
                <a:extLst>
                  <a:ext uri="{FF2B5EF4-FFF2-40B4-BE49-F238E27FC236}">
                    <a16:creationId xmlns:a16="http://schemas.microsoft.com/office/drawing/2014/main" id="{388C9891-BFCB-4B08-AF05-D551B0BB834A}"/>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3" name="Rechteck 12">
              <a:extLst>
                <a:ext uri="{FF2B5EF4-FFF2-40B4-BE49-F238E27FC236}">
                  <a16:creationId xmlns:a16="http://schemas.microsoft.com/office/drawing/2014/main" id="{00B74AA2-724D-4F3D-B701-6C3F9C9B4F31}"/>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 name="Rechteck 13">
              <a:extLst>
                <a:ext uri="{FF2B5EF4-FFF2-40B4-BE49-F238E27FC236}">
                  <a16:creationId xmlns:a16="http://schemas.microsoft.com/office/drawing/2014/main" id="{87FF4FF3-6385-41ED-9D45-3DE4704613A7}"/>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5" name="Gerader Verbinder 14">
              <a:extLst>
                <a:ext uri="{FF2B5EF4-FFF2-40B4-BE49-F238E27FC236}">
                  <a16:creationId xmlns:a16="http://schemas.microsoft.com/office/drawing/2014/main" id="{7606F939-EDB1-46B9-9365-01C6DF5A116A}"/>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mc:AlternateContent xmlns:mc="http://schemas.openxmlformats.org/markup-compatibility/2006" xmlns:a14="http://schemas.microsoft.com/office/drawing/2010/main">
        <mc:Choice Requires="a14">
          <p:sp>
            <p:nvSpPr>
              <p:cNvPr id="37" name="Textfeld 36">
                <a:extLst>
                  <a:ext uri="{FF2B5EF4-FFF2-40B4-BE49-F238E27FC236}">
                    <a16:creationId xmlns:a16="http://schemas.microsoft.com/office/drawing/2014/main" id="{4A6557BB-15D8-4E83-BA03-6B204DF7A2CB}"/>
                  </a:ext>
                </a:extLst>
              </p:cNvPr>
              <p:cNvSpPr txBox="1"/>
              <p:nvPr/>
            </p:nvSpPr>
            <p:spPr>
              <a:xfrm>
                <a:off x="1198406" y="5616026"/>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𝑷𝒓𝒆𝒄𝒊𝒔𝒊𝒐𝒏</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𝐺𝑟𝑒𝑒𝑛𝑠</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7</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=0.86 </m:t>
                      </m:r>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7" name="Textfeld 36">
                <a:extLst>
                  <a:ext uri="{FF2B5EF4-FFF2-40B4-BE49-F238E27FC236}">
                    <a16:creationId xmlns:a16="http://schemas.microsoft.com/office/drawing/2014/main" id="{4A6557BB-15D8-4E83-BA03-6B204DF7A2CB}"/>
                  </a:ext>
                </a:extLst>
              </p:cNvPr>
              <p:cNvSpPr txBox="1">
                <a:spLocks noRot="1" noChangeAspect="1" noMove="1" noResize="1" noEditPoints="1" noAdjustHandles="1" noChangeArrowheads="1" noChangeShapeType="1" noTextEdit="1"/>
              </p:cNvSpPr>
              <p:nvPr/>
            </p:nvSpPr>
            <p:spPr>
              <a:xfrm>
                <a:off x="1198406" y="5616026"/>
                <a:ext cx="914400" cy="914400"/>
              </a:xfrm>
              <a:prstGeom prst="rect">
                <a:avLst/>
              </a:prstGeom>
              <a:blipFill>
                <a:blip r:embed="rId4"/>
                <a:stretch>
                  <a:fillRect r="-387333"/>
                </a:stretch>
              </a:blipFill>
            </p:spPr>
            <p:txBody>
              <a:bodyPr/>
              <a:lstStyle/>
              <a:p>
                <a:r>
                  <a:rPr lang="en-US">
                    <a:noFill/>
                  </a:rPr>
                  <a:t> </a:t>
                </a:r>
              </a:p>
            </p:txBody>
          </p:sp>
        </mc:Fallback>
      </mc:AlternateContent>
      <p:sp>
        <p:nvSpPr>
          <p:cNvPr id="5" name="Textfeld 4">
            <a:extLst>
              <a:ext uri="{FF2B5EF4-FFF2-40B4-BE49-F238E27FC236}">
                <a16:creationId xmlns:a16="http://schemas.microsoft.com/office/drawing/2014/main" id="{E07F3247-9416-4C94-A703-E3B66FDCBA6E}"/>
              </a:ext>
            </a:extLst>
          </p:cNvPr>
          <p:cNvSpPr txBox="1"/>
          <p:nvPr/>
        </p:nvSpPr>
        <p:spPr>
          <a:xfrm>
            <a:off x="10023611" y="1578902"/>
            <a:ext cx="1764196" cy="4037124"/>
          </a:xfrm>
          <a:prstGeom prst="rect">
            <a:avLst/>
          </a:prstGeom>
          <a:noFill/>
        </p:spPr>
        <p:txBody>
          <a:bodyPr wrap="square" lIns="0" tIns="0" rIns="0" bIns="0" rtlCol="0">
            <a:noAutofit/>
          </a:bodyPr>
          <a:lstStyle/>
          <a:p>
            <a:pPr>
              <a:lnSpc>
                <a:spcPct val="110000"/>
              </a:lnSpc>
              <a:spcBef>
                <a:spcPts val="0"/>
              </a:spcBef>
            </a:pPr>
            <a:endParaRPr lang="en-US" sz="2000" b="1">
              <a:solidFill>
                <a:srgbClr val="871E50"/>
              </a:solidFill>
            </a:endParaRPr>
          </a:p>
          <a:p>
            <a:pPr>
              <a:lnSpc>
                <a:spcPct val="110000"/>
              </a:lnSpc>
              <a:spcBef>
                <a:spcPts val="0"/>
              </a:spcBef>
            </a:pPr>
            <a:endParaRPr lang="en-US" sz="2000" b="1">
              <a:solidFill>
                <a:srgbClr val="871E50"/>
              </a:solidFill>
            </a:endParaRPr>
          </a:p>
          <a:p>
            <a:pPr>
              <a:lnSpc>
                <a:spcPct val="110000"/>
              </a:lnSpc>
              <a:spcBef>
                <a:spcPts val="0"/>
              </a:spcBef>
            </a:pPr>
            <a:r>
              <a:rPr lang="en-US" sz="2000" b="1">
                <a:solidFill>
                  <a:srgbClr val="871E50"/>
                </a:solidFill>
              </a:rPr>
              <a:t>How valid are the search results?</a:t>
            </a:r>
          </a:p>
          <a:p>
            <a:pPr>
              <a:lnSpc>
                <a:spcPct val="110000"/>
              </a:lnSpc>
              <a:spcBef>
                <a:spcPts val="0"/>
              </a:spcBef>
            </a:pPr>
            <a:endParaRPr lang="en-US" sz="2000" b="1">
              <a:solidFill>
                <a:srgbClr val="871E50"/>
              </a:solidFill>
            </a:endParaRPr>
          </a:p>
          <a:p>
            <a:pPr>
              <a:lnSpc>
                <a:spcPct val="110000"/>
              </a:lnSpc>
              <a:spcBef>
                <a:spcPts val="0"/>
              </a:spcBef>
            </a:pPr>
            <a:r>
              <a:rPr lang="en-US" sz="1600" b="1">
                <a:solidFill>
                  <a:srgbClr val="871E50"/>
                </a:solidFill>
              </a:rPr>
              <a:t>Use precision if predicting right is important (have all patients diagnosed by the classifier really had the disease?)</a:t>
            </a:r>
            <a:endParaRPr lang="de-DE" sz="1600" b="1">
              <a:solidFill>
                <a:srgbClr val="871E50"/>
              </a:solidFill>
            </a:endParaRPr>
          </a:p>
        </p:txBody>
      </p:sp>
    </p:spTree>
    <p:extLst>
      <p:ext uri="{BB962C8B-B14F-4D97-AF65-F5344CB8AC3E}">
        <p14:creationId xmlns:p14="http://schemas.microsoft.com/office/powerpoint/2010/main" val="156942159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a:extLst>
              <a:ext uri="{FF2B5EF4-FFF2-40B4-BE49-F238E27FC236}">
                <a16:creationId xmlns:a16="http://schemas.microsoft.com/office/drawing/2014/main" id="{9F3B35E7-AE50-4CD5-B5DA-7B79B6238CD7}"/>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6285433" y="454518"/>
            <a:ext cx="3429255" cy="6231446"/>
          </a:xfrm>
          <a:prstGeom prst="rect">
            <a:avLst/>
          </a:prstGeom>
          <a:noFill/>
          <a:extLst>
            <a:ext uri="{909E8E84-426E-40DD-AFC4-6F175D3DCCD1}">
              <a14:hiddenFill xmlns:a14="http://schemas.microsoft.com/office/drawing/2010/main">
                <a:solidFill>
                  <a:srgbClr val="FFFFFF"/>
                </a:solidFill>
              </a14:hiddenFill>
            </a:ext>
          </a:extLst>
        </p:spPr>
      </p:pic>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Error Metric: Recall</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3316447547"/>
              </p:ext>
            </p:extLst>
          </p:nvPr>
        </p:nvGraphicFramePr>
        <p:xfrm>
          <a:off x="754330" y="2710048"/>
          <a:ext cx="5438202" cy="2112112"/>
        </p:xfrm>
        <a:graphic>
          <a:graphicData uri="http://schemas.openxmlformats.org/drawingml/2006/table">
            <a:tbl>
              <a:tblPr firstRow="1" firstCol="1" bandRow="1">
                <a:tableStyleId>{5C22544A-7EE6-4342-B048-85BDC9FD1C3A}</a:tableStyleId>
              </a:tblPr>
              <a:tblGrid>
                <a:gridCol w="1812734">
                  <a:extLst>
                    <a:ext uri="{9D8B030D-6E8A-4147-A177-3AD203B41FA5}">
                      <a16:colId xmlns:a16="http://schemas.microsoft.com/office/drawing/2014/main" val="2518754195"/>
                    </a:ext>
                  </a:extLst>
                </a:gridCol>
                <a:gridCol w="1812734">
                  <a:extLst>
                    <a:ext uri="{9D8B030D-6E8A-4147-A177-3AD203B41FA5}">
                      <a16:colId xmlns:a16="http://schemas.microsoft.com/office/drawing/2014/main" val="122075331"/>
                    </a:ext>
                  </a:extLst>
                </a:gridCol>
                <a:gridCol w="1812734">
                  <a:extLst>
                    <a:ext uri="{9D8B030D-6E8A-4147-A177-3AD203B41FA5}">
                      <a16:colId xmlns:a16="http://schemas.microsoft.com/office/drawing/2014/main" val="4226612734"/>
                    </a:ext>
                  </a:extLst>
                </a:gridCol>
              </a:tblGrid>
              <a:tr h="696692">
                <a:tc>
                  <a:txBody>
                    <a:bodyPr/>
                    <a:lstStyle/>
                    <a:p>
                      <a:pPr algn="ctr"/>
                      <a:endParaRPr lang="en-US" noProof="0"/>
                    </a:p>
                  </a:txBody>
                  <a:tcPr anchor="ctr"/>
                </a:tc>
                <a:tc>
                  <a:txBody>
                    <a:bodyPr/>
                    <a:lstStyle/>
                    <a:p>
                      <a:pPr algn="ctr"/>
                      <a:r>
                        <a:rPr lang="en-US" noProof="0"/>
                        <a:t>Positive</a:t>
                      </a:r>
                    </a:p>
                  </a:txBody>
                  <a:tcPr anchor="ctr"/>
                </a:tc>
                <a:tc>
                  <a:txBody>
                    <a:bodyPr/>
                    <a:lstStyle/>
                    <a:p>
                      <a:pPr algn="ctr"/>
                      <a:r>
                        <a:rPr lang="en-US" noProof="0"/>
                        <a:t>Negative</a:t>
                      </a:r>
                    </a:p>
                  </a:txBody>
                  <a:tcPr anchor="ctr"/>
                </a:tc>
                <a:extLst>
                  <a:ext uri="{0D108BD9-81ED-4DB2-BD59-A6C34878D82A}">
                    <a16:rowId xmlns:a16="http://schemas.microsoft.com/office/drawing/2014/main" val="3171441879"/>
                  </a:ext>
                </a:extLst>
              </a:tr>
              <a:tr h="707710">
                <a:tc>
                  <a:txBody>
                    <a:bodyPr/>
                    <a:lstStyle/>
                    <a:p>
                      <a:pPr algn="ctr"/>
                      <a:r>
                        <a:rPr lang="en-US" noProof="0"/>
                        <a:t>Predicted Positive</a:t>
                      </a:r>
                    </a:p>
                  </a:txBody>
                  <a:tcPr anchor="ctr"/>
                </a:tc>
                <a:tc>
                  <a:txBody>
                    <a:bodyPr/>
                    <a:lstStyle/>
                    <a:p>
                      <a:pPr algn="ctr"/>
                      <a:r>
                        <a:rPr lang="en-US" noProof="0"/>
                        <a:t>True Positive</a:t>
                      </a:r>
                    </a:p>
                    <a:p>
                      <a:pPr algn="ctr"/>
                      <a:r>
                        <a:rPr lang="en-US" noProof="0"/>
                        <a:t>6</a:t>
                      </a:r>
                    </a:p>
                  </a:txBody>
                  <a:tcPr anchor="ctr">
                    <a:solidFill>
                      <a:srgbClr val="32A0A0"/>
                    </a:solidFill>
                  </a:tcPr>
                </a:tc>
                <a:tc>
                  <a:txBody>
                    <a:bodyPr/>
                    <a:lstStyle/>
                    <a:p>
                      <a:pPr algn="ctr"/>
                      <a:r>
                        <a:rPr lang="en-US" b="1" noProof="0"/>
                        <a:t>False Positive</a:t>
                      </a:r>
                    </a:p>
                    <a:p>
                      <a:pPr algn="ctr"/>
                      <a:r>
                        <a:rPr lang="en-US" b="1" noProof="0"/>
                        <a:t>1</a:t>
                      </a:r>
                    </a:p>
                  </a:txBody>
                  <a:tcPr anchor="ctr">
                    <a:solidFill>
                      <a:srgbClr val="AF235F"/>
                    </a:solidFill>
                  </a:tcPr>
                </a:tc>
                <a:extLst>
                  <a:ext uri="{0D108BD9-81ED-4DB2-BD59-A6C34878D82A}">
                    <a16:rowId xmlns:a16="http://schemas.microsoft.com/office/drawing/2014/main" val="2389779071"/>
                  </a:ext>
                </a:extLst>
              </a:tr>
              <a:tr h="707710">
                <a:tc>
                  <a:txBody>
                    <a:bodyPr/>
                    <a:lstStyle/>
                    <a:p>
                      <a:pPr algn="ctr"/>
                      <a:r>
                        <a:rPr lang="en-US" noProof="0"/>
                        <a:t>Predicted Negative</a:t>
                      </a:r>
                    </a:p>
                  </a:txBody>
                  <a:tcPr anchor="ctr"/>
                </a:tc>
                <a:tc>
                  <a:txBody>
                    <a:bodyPr/>
                    <a:lstStyle/>
                    <a:p>
                      <a:pPr algn="ctr"/>
                      <a:r>
                        <a:rPr lang="en-US" b="1" noProof="0"/>
                        <a:t>False Negative</a:t>
                      </a:r>
                    </a:p>
                    <a:p>
                      <a:pPr algn="ctr"/>
                      <a:r>
                        <a:rPr lang="en-US" b="1" noProof="0"/>
                        <a:t>0</a:t>
                      </a:r>
                    </a:p>
                  </a:txBody>
                  <a:tcPr anchor="ctr">
                    <a:solidFill>
                      <a:srgbClr val="AF235F"/>
                    </a:solidFill>
                  </a:tcPr>
                </a:tc>
                <a:tc>
                  <a:txBody>
                    <a:bodyPr/>
                    <a:lstStyle/>
                    <a:p>
                      <a:pPr algn="ctr"/>
                      <a:r>
                        <a:rPr lang="en-US" noProof="0"/>
                        <a:t>True Negative</a:t>
                      </a:r>
                    </a:p>
                    <a:p>
                      <a:pPr algn="ctr"/>
                      <a:r>
                        <a:rPr lang="en-US" noProof="0"/>
                        <a:t>3</a:t>
                      </a:r>
                    </a:p>
                  </a:txBody>
                  <a:tcPr anchor="ctr">
                    <a:solidFill>
                      <a:srgbClr val="32A0A0"/>
                    </a:solidFill>
                  </a:tcPr>
                </a:tc>
                <a:extLst>
                  <a:ext uri="{0D108BD9-81ED-4DB2-BD59-A6C34878D82A}">
                    <a16:rowId xmlns:a16="http://schemas.microsoft.com/office/drawing/2014/main" val="2496120109"/>
                  </a:ext>
                </a:extLst>
              </a:tr>
            </a:tbl>
          </a:graphicData>
        </a:graphic>
      </p:graphicFrame>
      <p:sp>
        <p:nvSpPr>
          <p:cNvPr id="11" name="Textfeld 10">
            <a:extLst>
              <a:ext uri="{FF2B5EF4-FFF2-40B4-BE49-F238E27FC236}">
                <a16:creationId xmlns:a16="http://schemas.microsoft.com/office/drawing/2014/main" id="{05C61DF6-A49C-4CA7-B738-8FF04B661530}"/>
              </a:ext>
            </a:extLst>
          </p:cNvPr>
          <p:cNvSpPr txBox="1"/>
          <p:nvPr/>
        </p:nvSpPr>
        <p:spPr>
          <a:xfrm>
            <a:off x="3824486" y="352155"/>
            <a:ext cx="914400" cy="275909"/>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How many positives/greens are predicted as positive/green?</a:t>
            </a:r>
          </a:p>
        </p:txBody>
      </p:sp>
      <p:sp>
        <p:nvSpPr>
          <p:cNvPr id="7" name="Rechteck 6">
            <a:extLst>
              <a:ext uri="{FF2B5EF4-FFF2-40B4-BE49-F238E27FC236}">
                <a16:creationId xmlns:a16="http://schemas.microsoft.com/office/drawing/2014/main" id="{BFAAE5EA-DAFD-4DE5-842A-C1D918A23B09}"/>
              </a:ext>
            </a:extLst>
          </p:cNvPr>
          <p:cNvSpPr/>
          <p:nvPr/>
        </p:nvSpPr>
        <p:spPr bwMode="auto">
          <a:xfrm>
            <a:off x="2528567" y="2256756"/>
            <a:ext cx="3562022" cy="423268"/>
          </a:xfrm>
          <a:prstGeom prst="rect">
            <a:avLst/>
          </a:prstGeom>
          <a:solidFill>
            <a:srgbClr val="879BAA"/>
          </a:solidFill>
          <a:ln w="9525">
            <a:solidFill>
              <a:schemeClr val="bg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Reality</a:t>
            </a:r>
          </a:p>
        </p:txBody>
      </p:sp>
      <p:grpSp>
        <p:nvGrpSpPr>
          <p:cNvPr id="10" name="Gruppieren 9">
            <a:extLst>
              <a:ext uri="{FF2B5EF4-FFF2-40B4-BE49-F238E27FC236}">
                <a16:creationId xmlns:a16="http://schemas.microsoft.com/office/drawing/2014/main" id="{4A5EEAC9-1572-49D1-B2FC-D8DEFE363A87}"/>
              </a:ext>
            </a:extLst>
          </p:cNvPr>
          <p:cNvGrpSpPr/>
          <p:nvPr/>
        </p:nvGrpSpPr>
        <p:grpSpPr>
          <a:xfrm>
            <a:off x="567609" y="848429"/>
            <a:ext cx="5616576" cy="1224001"/>
            <a:chOff x="918225" y="2780667"/>
            <a:chExt cx="6801130" cy="1404417"/>
          </a:xfrm>
        </p:grpSpPr>
        <p:grpSp>
          <p:nvGrpSpPr>
            <p:cNvPr id="12" name="Gruppieren 11">
              <a:extLst>
                <a:ext uri="{FF2B5EF4-FFF2-40B4-BE49-F238E27FC236}">
                  <a16:creationId xmlns:a16="http://schemas.microsoft.com/office/drawing/2014/main" id="{DBA3791A-260B-49E3-80C1-3BDA12241227}"/>
                </a:ext>
              </a:extLst>
            </p:cNvPr>
            <p:cNvGrpSpPr/>
            <p:nvPr/>
          </p:nvGrpSpPr>
          <p:grpSpPr>
            <a:xfrm>
              <a:off x="987354" y="2972640"/>
              <a:ext cx="6732001" cy="1067982"/>
              <a:chOff x="946888" y="2684869"/>
              <a:chExt cx="6732001" cy="1067982"/>
            </a:xfrm>
          </p:grpSpPr>
          <p:grpSp>
            <p:nvGrpSpPr>
              <p:cNvPr id="16" name="Gruppieren 15">
                <a:extLst>
                  <a:ext uri="{FF2B5EF4-FFF2-40B4-BE49-F238E27FC236}">
                    <a16:creationId xmlns:a16="http://schemas.microsoft.com/office/drawing/2014/main" id="{3E0B37C8-4610-4945-88EF-6B4945538EC7}"/>
                  </a:ext>
                </a:extLst>
              </p:cNvPr>
              <p:cNvGrpSpPr/>
              <p:nvPr/>
            </p:nvGrpSpPr>
            <p:grpSpPr>
              <a:xfrm>
                <a:off x="946888" y="2684869"/>
                <a:ext cx="6732001" cy="1067982"/>
                <a:chOff x="986607" y="3303000"/>
                <a:chExt cx="4537464" cy="743507"/>
              </a:xfrm>
            </p:grpSpPr>
            <p:grpSp>
              <p:nvGrpSpPr>
                <p:cNvPr id="18" name="Gruppieren 17">
                  <a:extLst>
                    <a:ext uri="{FF2B5EF4-FFF2-40B4-BE49-F238E27FC236}">
                      <a16:creationId xmlns:a16="http://schemas.microsoft.com/office/drawing/2014/main" id="{BA82E101-3F81-41D0-8309-68B70C334835}"/>
                    </a:ext>
                  </a:extLst>
                </p:cNvPr>
                <p:cNvGrpSpPr/>
                <p:nvPr/>
              </p:nvGrpSpPr>
              <p:grpSpPr>
                <a:xfrm>
                  <a:off x="986607" y="3303000"/>
                  <a:ext cx="4537464" cy="449850"/>
                  <a:chOff x="986607" y="3303000"/>
                  <a:chExt cx="4537464" cy="449850"/>
                </a:xfrm>
              </p:grpSpPr>
              <p:cxnSp>
                <p:nvCxnSpPr>
                  <p:cNvPr id="23" name="Gerader Verbinder 22">
                    <a:extLst>
                      <a:ext uri="{FF2B5EF4-FFF2-40B4-BE49-F238E27FC236}">
                        <a16:creationId xmlns:a16="http://schemas.microsoft.com/office/drawing/2014/main" id="{23DAA4A8-839F-4114-BB34-ACD83B96D7C1}"/>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r Verbinder 23">
                    <a:extLst>
                      <a:ext uri="{FF2B5EF4-FFF2-40B4-BE49-F238E27FC236}">
                        <a16:creationId xmlns:a16="http://schemas.microsoft.com/office/drawing/2014/main" id="{64870508-E388-4A2E-B8BD-F12AE9CEF2E3}"/>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r Verbinder 24">
                    <a:extLst>
                      <a:ext uri="{FF2B5EF4-FFF2-40B4-BE49-F238E27FC236}">
                        <a16:creationId xmlns:a16="http://schemas.microsoft.com/office/drawing/2014/main" id="{38A2865B-2B27-4EE1-9D62-6BB02900216A}"/>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r Verbinder 25">
                    <a:extLst>
                      <a:ext uri="{FF2B5EF4-FFF2-40B4-BE49-F238E27FC236}">
                        <a16:creationId xmlns:a16="http://schemas.microsoft.com/office/drawing/2014/main" id="{E9653C34-814A-4BB8-B5F4-74E3DAF4A7CA}"/>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6088469D-5222-4C36-8D31-FC5668CBB22B}"/>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8" name="Ellipse 27">
                    <a:extLst>
                      <a:ext uri="{FF2B5EF4-FFF2-40B4-BE49-F238E27FC236}">
                        <a16:creationId xmlns:a16="http://schemas.microsoft.com/office/drawing/2014/main" id="{021B4F46-73C0-43C8-B9EB-C450FDD5D8CE}"/>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9" name="Ellipse 28">
                    <a:extLst>
                      <a:ext uri="{FF2B5EF4-FFF2-40B4-BE49-F238E27FC236}">
                        <a16:creationId xmlns:a16="http://schemas.microsoft.com/office/drawing/2014/main" id="{B9048635-8CF8-46D3-AC03-7AE6570CC151}"/>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0" name="Ellipse 29">
                    <a:extLst>
                      <a:ext uri="{FF2B5EF4-FFF2-40B4-BE49-F238E27FC236}">
                        <a16:creationId xmlns:a16="http://schemas.microsoft.com/office/drawing/2014/main" id="{8D4BC14D-AF76-43D9-AD81-FEF2F4496755}"/>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1" name="Ellipse 30">
                    <a:extLst>
                      <a:ext uri="{FF2B5EF4-FFF2-40B4-BE49-F238E27FC236}">
                        <a16:creationId xmlns:a16="http://schemas.microsoft.com/office/drawing/2014/main" id="{ABB90543-36CE-462C-9B93-AD59B8A97DE4}"/>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8FC4F41C-1FC1-47D3-89FB-C240B9BB3B4F}"/>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E3332BFB-C4E2-426B-B750-1BC0AAA517CA}"/>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DB34CA4A-D596-4885-A070-22A128C7768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005A1620-C218-4D78-B828-9DCF250FC211}"/>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8FB5FBB5-F617-416E-BDA4-C96521D3D244}"/>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9" name="Textfeld 18">
                  <a:extLst>
                    <a:ext uri="{FF2B5EF4-FFF2-40B4-BE49-F238E27FC236}">
                      <a16:creationId xmlns:a16="http://schemas.microsoft.com/office/drawing/2014/main" id="{6A57313D-89ED-4C25-B334-B9AC90BBEC4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0" name="Textfeld 19">
                  <a:extLst>
                    <a:ext uri="{FF2B5EF4-FFF2-40B4-BE49-F238E27FC236}">
                      <a16:creationId xmlns:a16="http://schemas.microsoft.com/office/drawing/2014/main" id="{A69C8D2D-1C2C-4193-B5E5-B089CFF03906}"/>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1" name="Textfeld 20">
                  <a:extLst>
                    <a:ext uri="{FF2B5EF4-FFF2-40B4-BE49-F238E27FC236}">
                      <a16:creationId xmlns:a16="http://schemas.microsoft.com/office/drawing/2014/main" id="{A9E5B57E-5021-4233-9515-117A0FD09C92}"/>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2" name="Textfeld 21">
                  <a:extLst>
                    <a:ext uri="{FF2B5EF4-FFF2-40B4-BE49-F238E27FC236}">
                      <a16:creationId xmlns:a16="http://schemas.microsoft.com/office/drawing/2014/main" id="{10742244-02AD-473C-B2D0-E3277379C3E8}"/>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17" name="Ellipse 16">
                <a:extLst>
                  <a:ext uri="{FF2B5EF4-FFF2-40B4-BE49-F238E27FC236}">
                    <a16:creationId xmlns:a16="http://schemas.microsoft.com/office/drawing/2014/main" id="{388C9891-BFCB-4B08-AF05-D551B0BB834A}"/>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3" name="Rechteck 12">
              <a:extLst>
                <a:ext uri="{FF2B5EF4-FFF2-40B4-BE49-F238E27FC236}">
                  <a16:creationId xmlns:a16="http://schemas.microsoft.com/office/drawing/2014/main" id="{00B74AA2-724D-4F3D-B701-6C3F9C9B4F31}"/>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4" name="Rechteck 13">
              <a:extLst>
                <a:ext uri="{FF2B5EF4-FFF2-40B4-BE49-F238E27FC236}">
                  <a16:creationId xmlns:a16="http://schemas.microsoft.com/office/drawing/2014/main" id="{87FF4FF3-6385-41ED-9D45-3DE4704613A7}"/>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5" name="Gerader Verbinder 14">
              <a:extLst>
                <a:ext uri="{FF2B5EF4-FFF2-40B4-BE49-F238E27FC236}">
                  <a16:creationId xmlns:a16="http://schemas.microsoft.com/office/drawing/2014/main" id="{7606F939-EDB1-46B9-9365-01C6DF5A116A}"/>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mc:AlternateContent xmlns:mc="http://schemas.openxmlformats.org/markup-compatibility/2006" xmlns:a14="http://schemas.microsoft.com/office/drawing/2010/main">
        <mc:Choice Requires="a14">
          <p:sp>
            <p:nvSpPr>
              <p:cNvPr id="39" name="Textfeld 38">
                <a:extLst>
                  <a:ext uri="{FF2B5EF4-FFF2-40B4-BE49-F238E27FC236}">
                    <a16:creationId xmlns:a16="http://schemas.microsoft.com/office/drawing/2014/main" id="{2BDA3330-2EEC-4E97-B5CE-E376B1935267}"/>
                  </a:ext>
                </a:extLst>
              </p:cNvPr>
              <p:cNvSpPr txBox="1"/>
              <p:nvPr/>
            </p:nvSpPr>
            <p:spPr>
              <a:xfrm>
                <a:off x="1198406" y="4919464"/>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𝑅𝑒𝑐𝑎𝑙𝑙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𝐸𝑙𝑒𝑚𝑒𝑛𝑡𝑠</m:t>
                          </m:r>
                        </m:den>
                      </m:f>
                    </m:oMath>
                  </m:oMathPara>
                </a14:m>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39" name="Textfeld 38">
                <a:extLst>
                  <a:ext uri="{FF2B5EF4-FFF2-40B4-BE49-F238E27FC236}">
                    <a16:creationId xmlns:a16="http://schemas.microsoft.com/office/drawing/2014/main" id="{2BDA3330-2EEC-4E97-B5CE-E376B1935267}"/>
                  </a:ext>
                </a:extLst>
              </p:cNvPr>
              <p:cNvSpPr txBox="1">
                <a:spLocks noRot="1" noChangeAspect="1" noMove="1" noResize="1" noEditPoints="1" noAdjustHandles="1" noChangeArrowheads="1" noChangeShapeType="1" noTextEdit="1"/>
              </p:cNvSpPr>
              <p:nvPr/>
            </p:nvSpPr>
            <p:spPr>
              <a:xfrm>
                <a:off x="1198406" y="4919464"/>
                <a:ext cx="914400" cy="914400"/>
              </a:xfrm>
              <a:prstGeom prst="rect">
                <a:avLst/>
              </a:prstGeom>
              <a:blipFill>
                <a:blip r:embed="rId3"/>
                <a:stretch>
                  <a:fillRect r="-32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0" name="Textfeld 39">
                <a:extLst>
                  <a:ext uri="{FF2B5EF4-FFF2-40B4-BE49-F238E27FC236}">
                    <a16:creationId xmlns:a16="http://schemas.microsoft.com/office/drawing/2014/main" id="{B40E747D-416B-435E-A9EE-FDCA0343A648}"/>
                  </a:ext>
                </a:extLst>
              </p:cNvPr>
              <p:cNvSpPr txBox="1"/>
              <p:nvPr/>
            </p:nvSpPr>
            <p:spPr>
              <a:xfrm>
                <a:off x="1160959" y="5684521"/>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𝑹𝒆𝒄𝒂𝒍𝒍</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𝐺𝑟𝑒𝑒𝑛𝑠</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𝐸𝑙𝑒𝑚𝑒𝑛𝑡𝑠</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oMath>
                  </m:oMathPara>
                </a14:m>
                <a:endParaRPr lang="en-US"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40" name="Textfeld 39">
                <a:extLst>
                  <a:ext uri="{FF2B5EF4-FFF2-40B4-BE49-F238E27FC236}">
                    <a16:creationId xmlns:a16="http://schemas.microsoft.com/office/drawing/2014/main" id="{B40E747D-416B-435E-A9EE-FDCA0343A648}"/>
                  </a:ext>
                </a:extLst>
              </p:cNvPr>
              <p:cNvSpPr txBox="1">
                <a:spLocks noRot="1" noChangeAspect="1" noMove="1" noResize="1" noEditPoints="1" noAdjustHandles="1" noChangeArrowheads="1" noChangeShapeType="1" noTextEdit="1"/>
              </p:cNvSpPr>
              <p:nvPr/>
            </p:nvSpPr>
            <p:spPr>
              <a:xfrm>
                <a:off x="1160959" y="5684521"/>
                <a:ext cx="914400" cy="914400"/>
              </a:xfrm>
              <a:prstGeom prst="rect">
                <a:avLst/>
              </a:prstGeom>
              <a:blipFill>
                <a:blip r:embed="rId4"/>
                <a:stretch>
                  <a:fillRect r="-298667"/>
                </a:stretch>
              </a:blipFill>
            </p:spPr>
            <p:txBody>
              <a:bodyPr/>
              <a:lstStyle/>
              <a:p>
                <a:r>
                  <a:rPr lang="en-US">
                    <a:noFill/>
                  </a:rPr>
                  <a:t> </a:t>
                </a:r>
              </a:p>
            </p:txBody>
          </p:sp>
        </mc:Fallback>
      </mc:AlternateContent>
      <p:sp>
        <p:nvSpPr>
          <p:cNvPr id="41" name="Rechteck 40">
            <a:extLst>
              <a:ext uri="{FF2B5EF4-FFF2-40B4-BE49-F238E27FC236}">
                <a16:creationId xmlns:a16="http://schemas.microsoft.com/office/drawing/2014/main" id="{93175AB2-B805-4CA8-B8B7-0DA265406C86}"/>
              </a:ext>
            </a:extLst>
          </p:cNvPr>
          <p:cNvSpPr/>
          <p:nvPr/>
        </p:nvSpPr>
        <p:spPr bwMode="auto">
          <a:xfrm>
            <a:off x="2581469" y="3342478"/>
            <a:ext cx="1818827" cy="1509706"/>
          </a:xfrm>
          <a:prstGeom prst="rect">
            <a:avLst/>
          </a:prstGeom>
          <a:noFill/>
          <a:ln w="5715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4" name="Textfeld 3">
            <a:extLst>
              <a:ext uri="{FF2B5EF4-FFF2-40B4-BE49-F238E27FC236}">
                <a16:creationId xmlns:a16="http://schemas.microsoft.com/office/drawing/2014/main" id="{AB108AD5-8AE5-4620-83AB-B4A1B64D2811}"/>
              </a:ext>
            </a:extLst>
          </p:cNvPr>
          <p:cNvSpPr txBox="1"/>
          <p:nvPr/>
        </p:nvSpPr>
        <p:spPr>
          <a:xfrm>
            <a:off x="9807587" y="1331217"/>
            <a:ext cx="1823154" cy="3717963"/>
          </a:xfrm>
          <a:prstGeom prst="rect">
            <a:avLst/>
          </a:prstGeom>
          <a:noFill/>
        </p:spPr>
        <p:txBody>
          <a:bodyPr wrap="square" lIns="0" tIns="0" rIns="0" bIns="0" rtlCol="0">
            <a:noAutofit/>
          </a:bodyPr>
          <a:lstStyle/>
          <a:p>
            <a:pPr>
              <a:lnSpc>
                <a:spcPct val="110000"/>
              </a:lnSpc>
              <a:spcBef>
                <a:spcPts val="0"/>
              </a:spcBef>
            </a:pPr>
            <a:endParaRPr lang="en-US" sz="2000" b="1">
              <a:solidFill>
                <a:srgbClr val="871E50"/>
              </a:solidFill>
            </a:endParaRPr>
          </a:p>
          <a:p>
            <a:pPr>
              <a:lnSpc>
                <a:spcPct val="110000"/>
              </a:lnSpc>
              <a:spcBef>
                <a:spcPts val="0"/>
              </a:spcBef>
            </a:pPr>
            <a:endParaRPr lang="en-US" sz="2000" b="1">
              <a:solidFill>
                <a:srgbClr val="871E50"/>
              </a:solidFill>
            </a:endParaRPr>
          </a:p>
          <a:p>
            <a:pPr>
              <a:lnSpc>
                <a:spcPct val="110000"/>
              </a:lnSpc>
              <a:spcBef>
                <a:spcPts val="0"/>
              </a:spcBef>
            </a:pPr>
            <a:r>
              <a:rPr lang="en-US" sz="2000" b="1">
                <a:solidFill>
                  <a:srgbClr val="871E50"/>
                </a:solidFill>
              </a:rPr>
              <a:t>How complete are the results?</a:t>
            </a:r>
          </a:p>
          <a:p>
            <a:pPr>
              <a:lnSpc>
                <a:spcPct val="110000"/>
              </a:lnSpc>
              <a:spcBef>
                <a:spcPts val="0"/>
              </a:spcBef>
            </a:pPr>
            <a:endParaRPr lang="en-US" sz="2000" b="1">
              <a:solidFill>
                <a:srgbClr val="871E50"/>
              </a:solidFill>
              <a:latin typeface="+mn-lt"/>
              <a:ea typeface="Arial Unicode MS" panose="020B0604020202020204" pitchFamily="34" charset="-128"/>
              <a:cs typeface="Arial Unicode MS" panose="020B0604020202020204" pitchFamily="34" charset="-128"/>
            </a:endParaRPr>
          </a:p>
          <a:p>
            <a:pPr>
              <a:lnSpc>
                <a:spcPct val="110000"/>
              </a:lnSpc>
              <a:spcBef>
                <a:spcPts val="0"/>
              </a:spcBef>
            </a:pPr>
            <a:r>
              <a:rPr lang="en-US" sz="1600" b="1">
                <a:solidFill>
                  <a:srgbClr val="871E50"/>
                </a:solidFill>
              </a:rPr>
              <a:t>Use recall if finding all is important (are all patients with the disease detected?)</a:t>
            </a:r>
            <a:endParaRPr lang="de-DE" sz="1600" b="1">
              <a:solidFill>
                <a:srgbClr val="871E50"/>
              </a:solidFill>
            </a:endParaRPr>
          </a:p>
        </p:txBody>
      </p:sp>
    </p:spTree>
    <p:extLst>
      <p:ext uri="{BB962C8B-B14F-4D97-AF65-F5344CB8AC3E}">
        <p14:creationId xmlns:p14="http://schemas.microsoft.com/office/powerpoint/2010/main" val="334832479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Model Quality: Precision</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92D050"/>
                    </a:solidFill>
                  </a:tcPr>
                </a:tc>
                <a:tc>
                  <a:txBody>
                    <a:bodyPr/>
                    <a:lstStyle/>
                    <a:p>
                      <a:pPr algn="ctr"/>
                      <a:r>
                        <a:rPr lang="en-US" sz="2000" b="1" noProof="0"/>
                        <a:t>1</a:t>
                      </a:r>
                    </a:p>
                  </a:txBody>
                  <a:tcPr anchor="ctr">
                    <a:solidFill>
                      <a:srgbClr val="FF0000"/>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r>
                        <a:rPr lang="en-US" sz="2000" b="1" noProof="0"/>
                        <a:t>0</a:t>
                      </a:r>
                    </a:p>
                  </a:txBody>
                  <a:tcPr anchor="ctr">
                    <a:solidFill>
                      <a:srgbClr val="FF0000"/>
                    </a:solidFill>
                  </a:tcPr>
                </a:tc>
                <a:tc>
                  <a:txBody>
                    <a:bodyPr/>
                    <a:lstStyle/>
                    <a:p>
                      <a:pPr algn="ctr"/>
                      <a:r>
                        <a:rPr lang="en-US" sz="2000" b="1" noProof="0"/>
                        <a:t>3</a:t>
                      </a:r>
                    </a:p>
                  </a:txBody>
                  <a:tcPr anchor="ctr">
                    <a:solidFill>
                      <a:srgbClr val="92D050"/>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6D5A94C7-77FE-4943-BCE7-71B7D85D903A}"/>
                  </a:ext>
                </a:extLst>
              </p:cNvPr>
              <p:cNvSpPr txBox="1"/>
              <p:nvPr/>
            </p:nvSpPr>
            <p:spPr>
              <a:xfrm>
                <a:off x="6549378" y="1901746"/>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𝑷𝒓𝒆𝒄𝒊𝒔𝒊𝒐𝒏</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𝐺𝑟𝑒𝑒𝑛𝑠</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7</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=0.86 </m:t>
                      </m:r>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8" name="Textfeld 7">
                <a:extLst>
                  <a:ext uri="{FF2B5EF4-FFF2-40B4-BE49-F238E27FC236}">
                    <a16:creationId xmlns:a16="http://schemas.microsoft.com/office/drawing/2014/main" id="{6D5A94C7-77FE-4943-BCE7-71B7D85D903A}"/>
                  </a:ext>
                </a:extLst>
              </p:cNvPr>
              <p:cNvSpPr txBox="1">
                <a:spLocks noRot="1" noChangeAspect="1" noMove="1" noResize="1" noEditPoints="1" noAdjustHandles="1" noChangeArrowheads="1" noChangeShapeType="1" noTextEdit="1"/>
              </p:cNvSpPr>
              <p:nvPr/>
            </p:nvSpPr>
            <p:spPr>
              <a:xfrm>
                <a:off x="6549378" y="1901746"/>
                <a:ext cx="914400" cy="914400"/>
              </a:xfrm>
              <a:prstGeom prst="rect">
                <a:avLst/>
              </a:prstGeom>
              <a:blipFill>
                <a:blip r:embed="rId2"/>
                <a:stretch>
                  <a:fillRect r="-388000"/>
                </a:stretch>
              </a:blipFill>
            </p:spPr>
            <p:txBody>
              <a:bodyPr/>
              <a:lstStyle/>
              <a:p>
                <a:r>
                  <a:rPr lang="en-US">
                    <a:noFill/>
                  </a:rPr>
                  <a:t> </a:t>
                </a:r>
              </a:p>
            </p:txBody>
          </p:sp>
        </mc:Fallback>
      </mc:AlternateContent>
      <p:sp>
        <p:nvSpPr>
          <p:cNvPr id="11" name="Textfeld 10">
            <a:extLst>
              <a:ext uri="{FF2B5EF4-FFF2-40B4-BE49-F238E27FC236}">
                <a16:creationId xmlns:a16="http://schemas.microsoft.com/office/drawing/2014/main" id="{05C61DF6-A49C-4CA7-B738-8FF04B661530}"/>
              </a:ext>
            </a:extLst>
          </p:cNvPr>
          <p:cNvSpPr txBox="1"/>
          <p:nvPr/>
        </p:nvSpPr>
        <p:spPr>
          <a:xfrm>
            <a:off x="6354601" y="1625837"/>
            <a:ext cx="914400" cy="275909"/>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How many green predictions are actual green?</a:t>
            </a:r>
          </a:p>
        </p:txBody>
      </p:sp>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714256013"/>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Model Quality: Recall</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2103606020"/>
              </p:ext>
            </p:extLst>
          </p:nvPr>
        </p:nvGraphicFramePr>
        <p:xfrm>
          <a:off x="627064" y="1424899"/>
          <a:ext cx="6696246" cy="2377162"/>
        </p:xfrm>
        <a:graphic>
          <a:graphicData uri="http://schemas.openxmlformats.org/drawingml/2006/table">
            <a:tbl>
              <a:tblPr firstRow="1" firstCol="1" bandRow="1">
                <a:tableStyleId>{5C22544A-7EE6-4342-B048-85BDC9FD1C3A}</a:tableStyleId>
              </a:tblPr>
              <a:tblGrid>
                <a:gridCol w="2232082">
                  <a:extLst>
                    <a:ext uri="{9D8B030D-6E8A-4147-A177-3AD203B41FA5}">
                      <a16:colId xmlns:a16="http://schemas.microsoft.com/office/drawing/2014/main" val="2518754195"/>
                    </a:ext>
                  </a:extLst>
                </a:gridCol>
                <a:gridCol w="2232082">
                  <a:extLst>
                    <a:ext uri="{9D8B030D-6E8A-4147-A177-3AD203B41FA5}">
                      <a16:colId xmlns:a16="http://schemas.microsoft.com/office/drawing/2014/main" val="122075331"/>
                    </a:ext>
                  </a:extLst>
                </a:gridCol>
                <a:gridCol w="223208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Positive</a:t>
                      </a:r>
                    </a:p>
                  </a:txBody>
                  <a:tcPr anchor="ctr"/>
                </a:tc>
                <a:tc>
                  <a:txBody>
                    <a:bodyPr/>
                    <a:lstStyle/>
                    <a:p>
                      <a:pPr algn="ctr"/>
                      <a:r>
                        <a:rPr lang="en-US" noProof="0"/>
                        <a:t>Negative</a:t>
                      </a:r>
                    </a:p>
                  </a:txBody>
                  <a:tcPr anchor="ctr"/>
                </a:tc>
                <a:extLst>
                  <a:ext uri="{0D108BD9-81ED-4DB2-BD59-A6C34878D82A}">
                    <a16:rowId xmlns:a16="http://schemas.microsoft.com/office/drawing/2014/main" val="3171441879"/>
                  </a:ext>
                </a:extLst>
              </a:tr>
              <a:tr h="796521">
                <a:tc>
                  <a:txBody>
                    <a:bodyPr/>
                    <a:lstStyle/>
                    <a:p>
                      <a:pPr algn="ctr"/>
                      <a:r>
                        <a:rPr lang="en-US" noProof="0"/>
                        <a:t>Predicted Positive</a:t>
                      </a:r>
                    </a:p>
                  </a:txBody>
                  <a:tcPr anchor="ctr"/>
                </a:tc>
                <a:tc>
                  <a:txBody>
                    <a:bodyPr/>
                    <a:lstStyle/>
                    <a:p>
                      <a:pPr algn="ctr"/>
                      <a:r>
                        <a:rPr lang="en-US" noProof="0"/>
                        <a:t>True Positive</a:t>
                      </a:r>
                    </a:p>
                  </a:txBody>
                  <a:tcPr anchor="ctr">
                    <a:solidFill>
                      <a:srgbClr val="92D050"/>
                    </a:solidFill>
                  </a:tcPr>
                </a:tc>
                <a:tc>
                  <a:txBody>
                    <a:bodyPr/>
                    <a:lstStyle/>
                    <a:p>
                      <a:pPr algn="ctr"/>
                      <a:r>
                        <a:rPr lang="en-US" b="1" noProof="0"/>
                        <a:t>False Positive</a:t>
                      </a:r>
                    </a:p>
                  </a:txBody>
                  <a:tcPr anchor="ctr">
                    <a:solidFill>
                      <a:srgbClr val="FF0000"/>
                    </a:solidFill>
                  </a:tcPr>
                </a:tc>
                <a:extLst>
                  <a:ext uri="{0D108BD9-81ED-4DB2-BD59-A6C34878D82A}">
                    <a16:rowId xmlns:a16="http://schemas.microsoft.com/office/drawing/2014/main" val="2389779071"/>
                  </a:ext>
                </a:extLst>
              </a:tr>
              <a:tr h="796521">
                <a:tc>
                  <a:txBody>
                    <a:bodyPr/>
                    <a:lstStyle/>
                    <a:p>
                      <a:pPr algn="ctr"/>
                      <a:r>
                        <a:rPr lang="en-US" noProof="0"/>
                        <a:t>Predicted Negative</a:t>
                      </a:r>
                    </a:p>
                  </a:txBody>
                  <a:tcPr anchor="ctr"/>
                </a:tc>
                <a:tc>
                  <a:txBody>
                    <a:bodyPr/>
                    <a:lstStyle/>
                    <a:p>
                      <a:pPr algn="ctr"/>
                      <a:r>
                        <a:rPr lang="en-US" b="1" noProof="0"/>
                        <a:t>False Negative</a:t>
                      </a:r>
                    </a:p>
                  </a:txBody>
                  <a:tcPr anchor="ctr">
                    <a:solidFill>
                      <a:srgbClr val="FF0000"/>
                    </a:solidFill>
                  </a:tcPr>
                </a:tc>
                <a:tc>
                  <a:txBody>
                    <a:bodyPr/>
                    <a:lstStyle/>
                    <a:p>
                      <a:pPr algn="ctr"/>
                      <a:r>
                        <a:rPr lang="en-US" noProof="0"/>
                        <a:t>True Negative</a:t>
                      </a:r>
                    </a:p>
                  </a:txBody>
                  <a:tcPr anchor="ctr">
                    <a:solidFill>
                      <a:srgbClr val="92D050"/>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6D5A94C7-77FE-4943-BCE7-71B7D85D903A}"/>
                  </a:ext>
                </a:extLst>
              </p:cNvPr>
              <p:cNvSpPr txBox="1"/>
              <p:nvPr/>
            </p:nvSpPr>
            <p:spPr>
              <a:xfrm>
                <a:off x="7493174" y="2322722"/>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𝑃𝑟𝑒𝑐𝑖𝑠𝑖𝑜𝑛</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num>
                        <m:den>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oMath>
                  </m:oMathPara>
                </a14:m>
                <a:endParaRPr lang="en-US" sz="1600">
                  <a:solidFill>
                    <a:schemeClr val="accent2"/>
                  </a:solidFill>
                  <a:latin typeface="+mn-lt"/>
                  <a:ea typeface="Arial Unicode MS" panose="020B0604020202020204" pitchFamily="34" charset="-128"/>
                  <a:cs typeface="Arial Unicode MS" panose="020B0604020202020204" pitchFamily="34" charset="-128"/>
                </a:endParaRPr>
              </a:p>
            </p:txBody>
          </p:sp>
        </mc:Choice>
        <mc:Fallback xmlns="">
          <p:sp>
            <p:nvSpPr>
              <p:cNvPr id="8" name="Textfeld 7">
                <a:extLst>
                  <a:ext uri="{FF2B5EF4-FFF2-40B4-BE49-F238E27FC236}">
                    <a16:creationId xmlns:a16="http://schemas.microsoft.com/office/drawing/2014/main" id="{6D5A94C7-77FE-4943-BCE7-71B7D85D903A}"/>
                  </a:ext>
                </a:extLst>
              </p:cNvPr>
              <p:cNvSpPr txBox="1">
                <a:spLocks noRot="1" noChangeAspect="1" noMove="1" noResize="1" noEditPoints="1" noAdjustHandles="1" noChangeArrowheads="1" noChangeShapeType="1" noTextEdit="1"/>
              </p:cNvSpPr>
              <p:nvPr/>
            </p:nvSpPr>
            <p:spPr>
              <a:xfrm>
                <a:off x="7493174" y="2322722"/>
                <a:ext cx="914400" cy="914400"/>
              </a:xfrm>
              <a:prstGeom prst="rect">
                <a:avLst/>
              </a:prstGeom>
              <a:blipFill>
                <a:blip r:embed="rId2"/>
                <a:stretch>
                  <a:fillRect r="-38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001430ED-1BFB-4463-82B6-145BFFE16F81}"/>
                  </a:ext>
                </a:extLst>
              </p:cNvPr>
              <p:cNvSpPr txBox="1"/>
              <p:nvPr/>
            </p:nvSpPr>
            <p:spPr>
              <a:xfrm>
                <a:off x="2216662" y="4005064"/>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𝑅𝑒𝑐𝑎𝑙𝑙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𝐸𝑙𝑒𝑚𝑒𝑛𝑡𝑠</m:t>
                          </m:r>
                        </m:den>
                      </m:f>
                    </m:oMath>
                  </m:oMathPara>
                </a14:m>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9" name="Textfeld 8">
                <a:extLst>
                  <a:ext uri="{FF2B5EF4-FFF2-40B4-BE49-F238E27FC236}">
                    <a16:creationId xmlns:a16="http://schemas.microsoft.com/office/drawing/2014/main" id="{001430ED-1BFB-4463-82B6-145BFFE16F81}"/>
                  </a:ext>
                </a:extLst>
              </p:cNvPr>
              <p:cNvSpPr txBox="1">
                <a:spLocks noRot="1" noChangeAspect="1" noMove="1" noResize="1" noEditPoints="1" noAdjustHandles="1" noChangeArrowheads="1" noChangeShapeType="1" noTextEdit="1"/>
              </p:cNvSpPr>
              <p:nvPr/>
            </p:nvSpPr>
            <p:spPr>
              <a:xfrm>
                <a:off x="2216662" y="4005064"/>
                <a:ext cx="914400" cy="914400"/>
              </a:xfrm>
              <a:prstGeom prst="rect">
                <a:avLst/>
              </a:prstGeom>
              <a:blipFill>
                <a:blip r:embed="rId3"/>
                <a:stretch>
                  <a:fillRect r="-326000"/>
                </a:stretch>
              </a:blipFill>
            </p:spPr>
            <p:txBody>
              <a:bodyPr/>
              <a:lstStyle/>
              <a:p>
                <a:r>
                  <a:rPr lang="en-US">
                    <a:noFill/>
                  </a:rPr>
                  <a:t> </a:t>
                </a:r>
              </a:p>
            </p:txBody>
          </p:sp>
        </mc:Fallback>
      </mc:AlternateContent>
      <p:sp>
        <p:nvSpPr>
          <p:cNvPr id="11" name="Textfeld 10">
            <a:extLst>
              <a:ext uri="{FF2B5EF4-FFF2-40B4-BE49-F238E27FC236}">
                <a16:creationId xmlns:a16="http://schemas.microsoft.com/office/drawing/2014/main" id="{05C61DF6-A49C-4CA7-B738-8FF04B661530}"/>
              </a:ext>
            </a:extLst>
          </p:cNvPr>
          <p:cNvSpPr txBox="1"/>
          <p:nvPr/>
        </p:nvSpPr>
        <p:spPr>
          <a:xfrm>
            <a:off x="7646945" y="3136262"/>
            <a:ext cx="914400" cy="275909"/>
          </a:xfrm>
          <a:prstGeom prst="rect">
            <a:avLst/>
          </a:prstGeom>
          <a:noFill/>
        </p:spPr>
        <p:txBody>
          <a:bodyPr wrap="none" lIns="0" tIns="0" rIns="0" bIns="0" rtlCol="0">
            <a:noAutofit/>
          </a:bodyPr>
          <a:lstStyle/>
          <a:p>
            <a:pPr>
              <a:lnSpc>
                <a:spcPct val="110000"/>
              </a:lnSpc>
              <a:spcBef>
                <a:spcPts val="0"/>
              </a:spcBef>
            </a:pPr>
            <a:r>
              <a:rPr lang="en-US" sz="1400" b="1">
                <a:solidFill>
                  <a:schemeClr val="accent2"/>
                </a:solidFill>
                <a:latin typeface="+mn-lt"/>
                <a:ea typeface="Arial Unicode MS" panose="020B0604020202020204" pitchFamily="34" charset="-128"/>
                <a:cs typeface="Arial Unicode MS" panose="020B0604020202020204" pitchFamily="34" charset="-128"/>
              </a:rPr>
              <a:t>How many positive predictions are actual positive?</a:t>
            </a:r>
          </a:p>
        </p:txBody>
      </p:sp>
      <p:sp>
        <p:nvSpPr>
          <p:cNvPr id="12" name="Textfeld 11">
            <a:extLst>
              <a:ext uri="{FF2B5EF4-FFF2-40B4-BE49-F238E27FC236}">
                <a16:creationId xmlns:a16="http://schemas.microsoft.com/office/drawing/2014/main" id="{E2133B40-BFC8-4DA0-8E55-40CEDB95FB17}"/>
              </a:ext>
            </a:extLst>
          </p:cNvPr>
          <p:cNvSpPr txBox="1"/>
          <p:nvPr/>
        </p:nvSpPr>
        <p:spPr>
          <a:xfrm>
            <a:off x="2216662" y="4732032"/>
            <a:ext cx="914400" cy="275909"/>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How many positive are positive predicted?</a:t>
            </a:r>
          </a:p>
        </p:txBody>
      </p:sp>
      <p:sp>
        <p:nvSpPr>
          <p:cNvPr id="4" name="Rechteck 3">
            <a:extLst>
              <a:ext uri="{FF2B5EF4-FFF2-40B4-BE49-F238E27FC236}">
                <a16:creationId xmlns:a16="http://schemas.microsoft.com/office/drawing/2014/main" id="{6EB774F2-F159-47F4-BA8F-6592E58A6F88}"/>
              </a:ext>
            </a:extLst>
          </p:cNvPr>
          <p:cNvSpPr/>
          <p:nvPr/>
        </p:nvSpPr>
        <p:spPr bwMode="auto">
          <a:xfrm>
            <a:off x="2822811" y="2191843"/>
            <a:ext cx="2268252" cy="1620000"/>
          </a:xfrm>
          <a:prstGeom prst="rect">
            <a:avLst/>
          </a:prstGeom>
          <a:noFill/>
          <a:ln w="57150">
            <a:solidFill>
              <a:schemeClr val="tx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0" name="Rechteck 9">
            <a:extLst>
              <a:ext uri="{FF2B5EF4-FFF2-40B4-BE49-F238E27FC236}">
                <a16:creationId xmlns:a16="http://schemas.microsoft.com/office/drawing/2014/main" id="{AF13563B-D284-4D9B-813B-F56E9BC98294}"/>
              </a:ext>
            </a:extLst>
          </p:cNvPr>
          <p:cNvSpPr/>
          <p:nvPr/>
        </p:nvSpPr>
        <p:spPr bwMode="auto">
          <a:xfrm>
            <a:off x="2858815" y="969107"/>
            <a:ext cx="4464495" cy="423268"/>
          </a:xfrm>
          <a:prstGeom prst="rect">
            <a:avLst/>
          </a:prstGeom>
          <a:solidFill>
            <a:srgbClr val="879BAA"/>
          </a:solidFill>
          <a:ln w="9525">
            <a:solidFill>
              <a:schemeClr val="bg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Reality</a:t>
            </a:r>
          </a:p>
        </p:txBody>
      </p:sp>
    </p:spTree>
    <p:extLst>
      <p:ext uri="{BB962C8B-B14F-4D97-AF65-F5344CB8AC3E}">
        <p14:creationId xmlns:p14="http://schemas.microsoft.com/office/powerpoint/2010/main" val="83687037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Model Quality: Recall</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92D050"/>
                    </a:solidFill>
                  </a:tcPr>
                </a:tc>
                <a:tc>
                  <a:txBody>
                    <a:bodyPr/>
                    <a:lstStyle/>
                    <a:p>
                      <a:pPr algn="ctr"/>
                      <a:r>
                        <a:rPr lang="en-US" sz="2000" b="1" noProof="0"/>
                        <a:t>1</a:t>
                      </a:r>
                    </a:p>
                  </a:txBody>
                  <a:tcPr anchor="ctr">
                    <a:solidFill>
                      <a:srgbClr val="FF0000"/>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r>
                        <a:rPr lang="en-US" sz="2000" b="1" noProof="0"/>
                        <a:t>0</a:t>
                      </a:r>
                    </a:p>
                  </a:txBody>
                  <a:tcPr anchor="ctr">
                    <a:solidFill>
                      <a:srgbClr val="FF0000"/>
                    </a:solidFill>
                  </a:tcPr>
                </a:tc>
                <a:tc>
                  <a:txBody>
                    <a:bodyPr/>
                    <a:lstStyle/>
                    <a:p>
                      <a:pPr algn="ctr"/>
                      <a:r>
                        <a:rPr lang="en-US" sz="2000" b="1" noProof="0"/>
                        <a:t>3</a:t>
                      </a:r>
                    </a:p>
                  </a:txBody>
                  <a:tcPr anchor="ctr">
                    <a:solidFill>
                      <a:srgbClr val="92D050"/>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001430ED-1BFB-4463-82B6-145BFFE16F81}"/>
                  </a:ext>
                </a:extLst>
              </p:cNvPr>
              <p:cNvSpPr txBox="1"/>
              <p:nvPr/>
            </p:nvSpPr>
            <p:spPr>
              <a:xfrm>
                <a:off x="6891263" y="3234591"/>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𝑹𝒆𝒄𝒂𝒍𝒍</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𝐺𝑟𝑒𝑒𝑛𝑠</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𝐸𝑙𝑒𝑚𝑒𝑛𝑡𝑠</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m:t>
                      </m:r>
                    </m:oMath>
                  </m:oMathPara>
                </a14:m>
                <a:endParaRPr lang="en-US"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9" name="Textfeld 8">
                <a:extLst>
                  <a:ext uri="{FF2B5EF4-FFF2-40B4-BE49-F238E27FC236}">
                    <a16:creationId xmlns:a16="http://schemas.microsoft.com/office/drawing/2014/main" id="{001430ED-1BFB-4463-82B6-145BFFE16F81}"/>
                  </a:ext>
                </a:extLst>
              </p:cNvPr>
              <p:cNvSpPr txBox="1">
                <a:spLocks noRot="1" noChangeAspect="1" noMove="1" noResize="1" noEditPoints="1" noAdjustHandles="1" noChangeArrowheads="1" noChangeShapeType="1" noTextEdit="1"/>
              </p:cNvSpPr>
              <p:nvPr/>
            </p:nvSpPr>
            <p:spPr>
              <a:xfrm>
                <a:off x="6891263" y="3234591"/>
                <a:ext cx="914400" cy="914400"/>
              </a:xfrm>
              <a:prstGeom prst="rect">
                <a:avLst/>
              </a:prstGeom>
              <a:blipFill>
                <a:blip r:embed="rId2"/>
                <a:stretch>
                  <a:fillRect r="-298667"/>
                </a:stretch>
              </a:blipFill>
            </p:spPr>
            <p:txBody>
              <a:bodyPr/>
              <a:lstStyle/>
              <a:p>
                <a:r>
                  <a:rPr lang="en-US">
                    <a:noFill/>
                  </a:rPr>
                  <a:t> </a:t>
                </a:r>
              </a:p>
            </p:txBody>
          </p:sp>
        </mc:Fallback>
      </mc:AlternateContent>
      <p:sp>
        <p:nvSpPr>
          <p:cNvPr id="12" name="Textfeld 11">
            <a:extLst>
              <a:ext uri="{FF2B5EF4-FFF2-40B4-BE49-F238E27FC236}">
                <a16:creationId xmlns:a16="http://schemas.microsoft.com/office/drawing/2014/main" id="{E2133B40-BFC8-4DA0-8E55-40CEDB95FB17}"/>
              </a:ext>
            </a:extLst>
          </p:cNvPr>
          <p:cNvSpPr txBox="1"/>
          <p:nvPr/>
        </p:nvSpPr>
        <p:spPr>
          <a:xfrm>
            <a:off x="6354601" y="2865059"/>
            <a:ext cx="914400" cy="275909"/>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How many greens are green predicted?</a:t>
            </a:r>
          </a:p>
        </p:txBody>
      </p:sp>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185945455"/>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Error Metric: F1 Score</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399218322"/>
              </p:ext>
            </p:extLst>
          </p:nvPr>
        </p:nvGraphicFramePr>
        <p:xfrm>
          <a:off x="627064" y="1424899"/>
          <a:ext cx="6696246" cy="2377162"/>
        </p:xfrm>
        <a:graphic>
          <a:graphicData uri="http://schemas.openxmlformats.org/drawingml/2006/table">
            <a:tbl>
              <a:tblPr firstRow="1" firstCol="1" bandRow="1">
                <a:tableStyleId>{5C22544A-7EE6-4342-B048-85BDC9FD1C3A}</a:tableStyleId>
              </a:tblPr>
              <a:tblGrid>
                <a:gridCol w="2232082">
                  <a:extLst>
                    <a:ext uri="{9D8B030D-6E8A-4147-A177-3AD203B41FA5}">
                      <a16:colId xmlns:a16="http://schemas.microsoft.com/office/drawing/2014/main" val="2518754195"/>
                    </a:ext>
                  </a:extLst>
                </a:gridCol>
                <a:gridCol w="2232082">
                  <a:extLst>
                    <a:ext uri="{9D8B030D-6E8A-4147-A177-3AD203B41FA5}">
                      <a16:colId xmlns:a16="http://schemas.microsoft.com/office/drawing/2014/main" val="122075331"/>
                    </a:ext>
                  </a:extLst>
                </a:gridCol>
                <a:gridCol w="223208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Positive</a:t>
                      </a:r>
                    </a:p>
                  </a:txBody>
                  <a:tcPr anchor="ctr"/>
                </a:tc>
                <a:tc>
                  <a:txBody>
                    <a:bodyPr/>
                    <a:lstStyle/>
                    <a:p>
                      <a:pPr algn="ctr"/>
                      <a:r>
                        <a:rPr lang="en-US" noProof="0"/>
                        <a:t>Negative</a:t>
                      </a:r>
                    </a:p>
                  </a:txBody>
                  <a:tcPr anchor="ctr"/>
                </a:tc>
                <a:extLst>
                  <a:ext uri="{0D108BD9-81ED-4DB2-BD59-A6C34878D82A}">
                    <a16:rowId xmlns:a16="http://schemas.microsoft.com/office/drawing/2014/main" val="3171441879"/>
                  </a:ext>
                </a:extLst>
              </a:tr>
              <a:tr h="796521">
                <a:tc>
                  <a:txBody>
                    <a:bodyPr/>
                    <a:lstStyle/>
                    <a:p>
                      <a:pPr algn="ctr"/>
                      <a:r>
                        <a:rPr lang="en-US" noProof="0"/>
                        <a:t>Predicted Positive</a:t>
                      </a:r>
                    </a:p>
                  </a:txBody>
                  <a:tcPr anchor="ctr"/>
                </a:tc>
                <a:tc>
                  <a:txBody>
                    <a:bodyPr/>
                    <a:lstStyle/>
                    <a:p>
                      <a:pPr algn="ctr"/>
                      <a:r>
                        <a:rPr lang="en-US" noProof="0"/>
                        <a:t>True Positive</a:t>
                      </a:r>
                    </a:p>
                  </a:txBody>
                  <a:tcPr anchor="ctr">
                    <a:solidFill>
                      <a:srgbClr val="32A0A0"/>
                    </a:solidFill>
                  </a:tcPr>
                </a:tc>
                <a:tc>
                  <a:txBody>
                    <a:bodyPr/>
                    <a:lstStyle/>
                    <a:p>
                      <a:pPr algn="ctr"/>
                      <a:r>
                        <a:rPr lang="en-US" b="1" noProof="0"/>
                        <a:t>False Positive</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Negative</a:t>
                      </a:r>
                    </a:p>
                  </a:txBody>
                  <a:tcPr anchor="ctr"/>
                </a:tc>
                <a:tc>
                  <a:txBody>
                    <a:bodyPr/>
                    <a:lstStyle/>
                    <a:p>
                      <a:pPr algn="ctr"/>
                      <a:r>
                        <a:rPr lang="en-US" b="1" noProof="0"/>
                        <a:t>False Negative</a:t>
                      </a:r>
                    </a:p>
                  </a:txBody>
                  <a:tcPr anchor="ctr">
                    <a:solidFill>
                      <a:srgbClr val="AF235F"/>
                    </a:solidFill>
                  </a:tcPr>
                </a:tc>
                <a:tc>
                  <a:txBody>
                    <a:bodyPr/>
                    <a:lstStyle/>
                    <a:p>
                      <a:pPr algn="ctr"/>
                      <a:r>
                        <a:rPr lang="en-US" noProof="0"/>
                        <a:t>True Negative</a:t>
                      </a:r>
                    </a:p>
                  </a:txBody>
                  <a:tcPr anchor="ctr">
                    <a:solidFill>
                      <a:srgbClr val="32A0A0"/>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6D5A94C7-77FE-4943-BCE7-71B7D85D903A}"/>
                  </a:ext>
                </a:extLst>
              </p:cNvPr>
              <p:cNvSpPr txBox="1"/>
              <p:nvPr/>
            </p:nvSpPr>
            <p:spPr>
              <a:xfrm>
                <a:off x="7493174" y="2322722"/>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𝑃𝑟𝑒𝑐𝑖𝑠𝑖𝑜𝑛</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num>
                        <m:den>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oMath>
                  </m:oMathPara>
                </a14:m>
                <a:endParaRPr lang="en-US" sz="1600">
                  <a:solidFill>
                    <a:schemeClr val="accent2"/>
                  </a:solidFill>
                  <a:latin typeface="+mn-lt"/>
                  <a:ea typeface="Arial Unicode MS" panose="020B0604020202020204" pitchFamily="34" charset="-128"/>
                  <a:cs typeface="Arial Unicode MS" panose="020B0604020202020204" pitchFamily="34" charset="-128"/>
                </a:endParaRPr>
              </a:p>
            </p:txBody>
          </p:sp>
        </mc:Choice>
        <mc:Fallback xmlns="">
          <p:sp>
            <p:nvSpPr>
              <p:cNvPr id="8" name="Textfeld 7">
                <a:extLst>
                  <a:ext uri="{FF2B5EF4-FFF2-40B4-BE49-F238E27FC236}">
                    <a16:creationId xmlns:a16="http://schemas.microsoft.com/office/drawing/2014/main" id="{6D5A94C7-77FE-4943-BCE7-71B7D85D903A}"/>
                  </a:ext>
                </a:extLst>
              </p:cNvPr>
              <p:cNvSpPr txBox="1">
                <a:spLocks noRot="1" noChangeAspect="1" noMove="1" noResize="1" noEditPoints="1" noAdjustHandles="1" noChangeArrowheads="1" noChangeShapeType="1" noTextEdit="1"/>
              </p:cNvSpPr>
              <p:nvPr/>
            </p:nvSpPr>
            <p:spPr>
              <a:xfrm>
                <a:off x="7493174" y="2322722"/>
                <a:ext cx="914400" cy="914400"/>
              </a:xfrm>
              <a:prstGeom prst="rect">
                <a:avLst/>
              </a:prstGeom>
              <a:blipFill>
                <a:blip r:embed="rId2"/>
                <a:stretch>
                  <a:fillRect r="-381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001430ED-1BFB-4463-82B6-145BFFE16F81}"/>
                  </a:ext>
                </a:extLst>
              </p:cNvPr>
              <p:cNvSpPr txBox="1"/>
              <p:nvPr/>
            </p:nvSpPr>
            <p:spPr>
              <a:xfrm>
                <a:off x="2216662" y="4005064"/>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𝑅𝑒𝑐𝑎𝑙𝑙</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num>
                        <m:den>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accent2"/>
                              </a:solidFill>
                              <a:latin typeface="Cambria Math" panose="02040503050406030204" pitchFamily="18" charset="0"/>
                              <a:ea typeface="Arial Unicode MS" panose="020B0604020202020204" pitchFamily="34" charset="-128"/>
                              <a:cs typeface="Arial Unicode MS" panose="020B0604020202020204" pitchFamily="34" charset="-128"/>
                            </a:rPr>
                            <m:t>𝐸𝑙𝑒𝑚𝑒𝑛𝑡𝑠</m:t>
                          </m:r>
                        </m:den>
                      </m:f>
                    </m:oMath>
                  </m:oMathPara>
                </a14:m>
                <a:endParaRPr lang="en-US">
                  <a:solidFill>
                    <a:schemeClr val="accent2"/>
                  </a:solidFill>
                  <a:latin typeface="+mn-lt"/>
                  <a:ea typeface="Arial Unicode MS" panose="020B0604020202020204" pitchFamily="34" charset="-128"/>
                  <a:cs typeface="Arial Unicode MS" panose="020B0604020202020204" pitchFamily="34" charset="-128"/>
                </a:endParaRPr>
              </a:p>
            </p:txBody>
          </p:sp>
        </mc:Choice>
        <mc:Fallback xmlns="">
          <p:sp>
            <p:nvSpPr>
              <p:cNvPr id="9" name="Textfeld 8">
                <a:extLst>
                  <a:ext uri="{FF2B5EF4-FFF2-40B4-BE49-F238E27FC236}">
                    <a16:creationId xmlns:a16="http://schemas.microsoft.com/office/drawing/2014/main" id="{001430ED-1BFB-4463-82B6-145BFFE16F81}"/>
                  </a:ext>
                </a:extLst>
              </p:cNvPr>
              <p:cNvSpPr txBox="1">
                <a:spLocks noRot="1" noChangeAspect="1" noMove="1" noResize="1" noEditPoints="1" noAdjustHandles="1" noChangeArrowheads="1" noChangeShapeType="1" noTextEdit="1"/>
              </p:cNvSpPr>
              <p:nvPr/>
            </p:nvSpPr>
            <p:spPr>
              <a:xfrm>
                <a:off x="2216662" y="4005064"/>
                <a:ext cx="914400" cy="914400"/>
              </a:xfrm>
              <a:prstGeom prst="rect">
                <a:avLst/>
              </a:prstGeom>
              <a:blipFill>
                <a:blip r:embed="rId3"/>
                <a:stretch>
                  <a:fillRect r="-326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76BE2D8B-E98F-431F-9F71-59341EA4C308}"/>
                  </a:ext>
                </a:extLst>
              </p:cNvPr>
              <p:cNvSpPr txBox="1"/>
              <p:nvPr/>
            </p:nvSpPr>
            <p:spPr>
              <a:xfrm>
                <a:off x="7493174" y="3927883"/>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𝐹</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𝑆𝑐𝑜𝑟𝑒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f>
                        <m:fPr>
                          <m:ctrlP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Pr>
                        <m:num>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𝑅𝑒𝑐𝑎𝑙𝑙</m:t>
                          </m:r>
                        </m:num>
                        <m:den>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𝑅𝑒𝑐𝑎𝑙𝑙</m:t>
                          </m:r>
                        </m:den>
                      </m:f>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10" name="Textfeld 9">
                <a:extLst>
                  <a:ext uri="{FF2B5EF4-FFF2-40B4-BE49-F238E27FC236}">
                    <a16:creationId xmlns:a16="http://schemas.microsoft.com/office/drawing/2014/main" id="{76BE2D8B-E98F-431F-9F71-59341EA4C308}"/>
                  </a:ext>
                </a:extLst>
              </p:cNvPr>
              <p:cNvSpPr txBox="1">
                <a:spLocks noRot="1" noChangeAspect="1" noMove="1" noResize="1" noEditPoints="1" noAdjustHandles="1" noChangeArrowheads="1" noChangeShapeType="1" noTextEdit="1"/>
              </p:cNvSpPr>
              <p:nvPr/>
            </p:nvSpPr>
            <p:spPr>
              <a:xfrm>
                <a:off x="7493174" y="3927883"/>
                <a:ext cx="914400" cy="914400"/>
              </a:xfrm>
              <a:prstGeom prst="rect">
                <a:avLst/>
              </a:prstGeom>
              <a:blipFill>
                <a:blip r:embed="rId4"/>
                <a:stretch>
                  <a:fillRect r="-228667"/>
                </a:stretch>
              </a:blipFill>
            </p:spPr>
            <p:txBody>
              <a:bodyPr/>
              <a:lstStyle/>
              <a:p>
                <a:r>
                  <a:rPr lang="en-US">
                    <a:noFill/>
                  </a:rPr>
                  <a:t> </a:t>
                </a:r>
              </a:p>
            </p:txBody>
          </p:sp>
        </mc:Fallback>
      </mc:AlternateContent>
      <p:sp>
        <p:nvSpPr>
          <p:cNvPr id="11" name="Textfeld 10">
            <a:extLst>
              <a:ext uri="{FF2B5EF4-FFF2-40B4-BE49-F238E27FC236}">
                <a16:creationId xmlns:a16="http://schemas.microsoft.com/office/drawing/2014/main" id="{05C61DF6-A49C-4CA7-B738-8FF04B661530}"/>
              </a:ext>
            </a:extLst>
          </p:cNvPr>
          <p:cNvSpPr txBox="1"/>
          <p:nvPr/>
        </p:nvSpPr>
        <p:spPr>
          <a:xfrm>
            <a:off x="7646945" y="3136262"/>
            <a:ext cx="914400" cy="275909"/>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How many positive predictions are actual positive?</a:t>
            </a:r>
          </a:p>
        </p:txBody>
      </p:sp>
      <p:sp>
        <p:nvSpPr>
          <p:cNvPr id="12" name="Textfeld 11">
            <a:extLst>
              <a:ext uri="{FF2B5EF4-FFF2-40B4-BE49-F238E27FC236}">
                <a16:creationId xmlns:a16="http://schemas.microsoft.com/office/drawing/2014/main" id="{E2133B40-BFC8-4DA0-8E55-40CEDB95FB17}"/>
              </a:ext>
            </a:extLst>
          </p:cNvPr>
          <p:cNvSpPr txBox="1"/>
          <p:nvPr/>
        </p:nvSpPr>
        <p:spPr>
          <a:xfrm>
            <a:off x="2216662" y="4732032"/>
            <a:ext cx="914400" cy="275909"/>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How many positive are positive predicted?</a:t>
            </a:r>
          </a:p>
        </p:txBody>
      </p:sp>
      <p:sp>
        <p:nvSpPr>
          <p:cNvPr id="13" name="Textfeld 12">
            <a:extLst>
              <a:ext uri="{FF2B5EF4-FFF2-40B4-BE49-F238E27FC236}">
                <a16:creationId xmlns:a16="http://schemas.microsoft.com/office/drawing/2014/main" id="{A27E6586-ECD1-40C7-9154-6CE7E8B6F2FD}"/>
              </a:ext>
            </a:extLst>
          </p:cNvPr>
          <p:cNvSpPr txBox="1"/>
          <p:nvPr/>
        </p:nvSpPr>
        <p:spPr>
          <a:xfrm>
            <a:off x="7646945" y="4718056"/>
            <a:ext cx="3804877" cy="452864"/>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Tradeoff of Precision and Recall. </a:t>
            </a:r>
            <a:br>
              <a:rPr lang="en-US" sz="1400" b="1">
                <a:solidFill>
                  <a:schemeClr val="tx1"/>
                </a:solidFill>
                <a:latin typeface="+mn-lt"/>
                <a:ea typeface="Arial Unicode MS" panose="020B0604020202020204" pitchFamily="34" charset="-128"/>
                <a:cs typeface="Arial Unicode MS" panose="020B0604020202020204" pitchFamily="34" charset="-128"/>
              </a:rPr>
            </a:br>
            <a:r>
              <a:rPr lang="en-US" sz="1400" b="1">
                <a:solidFill>
                  <a:schemeClr val="tx1"/>
                </a:solidFill>
                <a:latin typeface="+mn-lt"/>
                <a:ea typeface="Arial Unicode MS" panose="020B0604020202020204" pitchFamily="34" charset="-128"/>
                <a:cs typeface="Arial Unicode MS" panose="020B0604020202020204" pitchFamily="34" charset="-128"/>
              </a:rPr>
              <a:t>Harmonic mean of precision and recall</a:t>
            </a:r>
          </a:p>
        </p:txBody>
      </p:sp>
      <p:cxnSp>
        <p:nvCxnSpPr>
          <p:cNvPr id="5" name="Gerade Verbindung mit Pfeil 4">
            <a:extLst>
              <a:ext uri="{FF2B5EF4-FFF2-40B4-BE49-F238E27FC236}">
                <a16:creationId xmlns:a16="http://schemas.microsoft.com/office/drawing/2014/main" id="{E145B2D3-B0B3-4B5F-A3B1-4BDBED48BE01}"/>
              </a:ext>
            </a:extLst>
          </p:cNvPr>
          <p:cNvCxnSpPr/>
          <p:nvPr/>
        </p:nvCxnSpPr>
        <p:spPr bwMode="auto">
          <a:xfrm>
            <a:off x="6423211" y="4437112"/>
            <a:ext cx="684076" cy="0"/>
          </a:xfrm>
          <a:prstGeom prst="straightConnector1">
            <a:avLst/>
          </a:prstGeom>
          <a:solidFill>
            <a:schemeClr val="tx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mit Pfeil 13">
            <a:extLst>
              <a:ext uri="{FF2B5EF4-FFF2-40B4-BE49-F238E27FC236}">
                <a16:creationId xmlns:a16="http://schemas.microsoft.com/office/drawing/2014/main" id="{FDE09557-17F3-4E8C-94A1-D5CBDE3F0573}"/>
              </a:ext>
            </a:extLst>
          </p:cNvPr>
          <p:cNvCxnSpPr/>
          <p:nvPr/>
        </p:nvCxnSpPr>
        <p:spPr bwMode="auto">
          <a:xfrm>
            <a:off x="9267527" y="3429000"/>
            <a:ext cx="0" cy="431800"/>
          </a:xfrm>
          <a:prstGeom prst="straightConnector1">
            <a:avLst/>
          </a:prstGeom>
          <a:solidFill>
            <a:schemeClr val="tx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5" name="Rechteck 14">
            <a:extLst>
              <a:ext uri="{FF2B5EF4-FFF2-40B4-BE49-F238E27FC236}">
                <a16:creationId xmlns:a16="http://schemas.microsoft.com/office/drawing/2014/main" id="{7A34F425-42C8-4E6F-9A10-F3C85F584CD0}"/>
              </a:ext>
            </a:extLst>
          </p:cNvPr>
          <p:cNvSpPr/>
          <p:nvPr/>
        </p:nvSpPr>
        <p:spPr bwMode="auto">
          <a:xfrm>
            <a:off x="2858815" y="969107"/>
            <a:ext cx="4464495" cy="423268"/>
          </a:xfrm>
          <a:prstGeom prst="rect">
            <a:avLst/>
          </a:prstGeom>
          <a:solidFill>
            <a:srgbClr val="879BAA"/>
          </a:solidFill>
          <a:ln w="9525">
            <a:solidFill>
              <a:schemeClr val="bg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Reality</a:t>
            </a:r>
          </a:p>
        </p:txBody>
      </p:sp>
    </p:spTree>
    <p:extLst>
      <p:ext uri="{BB962C8B-B14F-4D97-AF65-F5344CB8AC3E}">
        <p14:creationId xmlns:p14="http://schemas.microsoft.com/office/powerpoint/2010/main" val="2461144211"/>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Error Metric: F1 Score</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3531233092"/>
              </p:ext>
            </p:extLst>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32A0A0"/>
                    </a:solidFill>
                  </a:tcPr>
                </a:tc>
                <a:tc>
                  <a:txBody>
                    <a:bodyPr/>
                    <a:lstStyle/>
                    <a:p>
                      <a:pPr algn="ctr"/>
                      <a:r>
                        <a:rPr lang="en-US" sz="2000" b="1" noProof="0"/>
                        <a:t>1</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r>
                        <a:rPr lang="en-US" sz="2000" b="1" noProof="0"/>
                        <a:t>0</a:t>
                      </a:r>
                    </a:p>
                  </a:txBody>
                  <a:tcPr anchor="ctr">
                    <a:solidFill>
                      <a:srgbClr val="AF235F"/>
                    </a:solidFill>
                  </a:tcPr>
                </a:tc>
                <a:tc>
                  <a:txBody>
                    <a:bodyPr/>
                    <a:lstStyle/>
                    <a:p>
                      <a:pPr algn="ctr"/>
                      <a:r>
                        <a:rPr lang="en-US" sz="2000" b="1" noProof="0"/>
                        <a:t>3</a:t>
                      </a:r>
                    </a:p>
                  </a:txBody>
                  <a:tcPr anchor="ctr">
                    <a:solidFill>
                      <a:srgbClr val="32A0A0"/>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76BE2D8B-E98F-431F-9F71-59341EA4C308}"/>
                  </a:ext>
                </a:extLst>
              </p:cNvPr>
              <p:cNvSpPr txBox="1"/>
              <p:nvPr/>
            </p:nvSpPr>
            <p:spPr>
              <a:xfrm>
                <a:off x="6660939" y="4498358"/>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𝑭</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𝑺𝒄𝒐𝒓𝒆</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
                        <m:fPr>
                          <m:ctrlP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Pr>
                        <m:num>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𝑅𝑒𝑐𝑎𝑙𝑙</m:t>
                          </m:r>
                        </m:num>
                        <m:den>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𝑅𝑒𝑐𝑎𝑙𝑙</m:t>
                          </m:r>
                        </m:den>
                      </m:f>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f>
                        <m:fPr>
                          <m:ctrlP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Pr>
                        <m:num>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0.86</m:t>
                          </m:r>
                          <m:r>
                            <a:rPr lang="de-DE" sz="1600" i="1">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1</m:t>
                          </m:r>
                        </m:num>
                        <m:den>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0.86+1</m:t>
                          </m:r>
                        </m:den>
                      </m:f>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1"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𝟎</m:t>
                      </m:r>
                      <m:r>
                        <a:rPr lang="de-DE" sz="1600" b="1"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1"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𝟗𝟐</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10" name="Textfeld 9">
                <a:extLst>
                  <a:ext uri="{FF2B5EF4-FFF2-40B4-BE49-F238E27FC236}">
                    <a16:creationId xmlns:a16="http://schemas.microsoft.com/office/drawing/2014/main" id="{76BE2D8B-E98F-431F-9F71-59341EA4C308}"/>
                  </a:ext>
                </a:extLst>
              </p:cNvPr>
              <p:cNvSpPr txBox="1">
                <a:spLocks noRot="1" noChangeAspect="1" noMove="1" noResize="1" noEditPoints="1" noAdjustHandles="1" noChangeArrowheads="1" noChangeShapeType="1" noTextEdit="1"/>
              </p:cNvSpPr>
              <p:nvPr/>
            </p:nvSpPr>
            <p:spPr>
              <a:xfrm>
                <a:off x="6660939" y="4498358"/>
                <a:ext cx="914400" cy="914400"/>
              </a:xfrm>
              <a:prstGeom prst="rect">
                <a:avLst/>
              </a:prstGeom>
              <a:blipFill>
                <a:blip r:embed="rId2"/>
                <a:stretch>
                  <a:fillRect r="-448000"/>
                </a:stretch>
              </a:blipFill>
            </p:spPr>
            <p:txBody>
              <a:bodyPr/>
              <a:lstStyle/>
              <a:p>
                <a:r>
                  <a:rPr lang="en-US">
                    <a:noFill/>
                  </a:rPr>
                  <a:t> </a:t>
                </a:r>
              </a:p>
            </p:txBody>
          </p:sp>
        </mc:Fallback>
      </mc:AlternateContent>
      <p:sp>
        <p:nvSpPr>
          <p:cNvPr id="14" name="Textfeld 13">
            <a:extLst>
              <a:ext uri="{FF2B5EF4-FFF2-40B4-BE49-F238E27FC236}">
                <a16:creationId xmlns:a16="http://schemas.microsoft.com/office/drawing/2014/main" id="{E98207B5-D9CB-4515-B34A-FB7524CF4B90}"/>
              </a:ext>
            </a:extLst>
          </p:cNvPr>
          <p:cNvSpPr txBox="1"/>
          <p:nvPr/>
        </p:nvSpPr>
        <p:spPr>
          <a:xfrm>
            <a:off x="6354601" y="4163814"/>
            <a:ext cx="3804877" cy="452864"/>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Tradeoff of precision and recall.</a:t>
            </a:r>
          </a:p>
        </p:txBody>
      </p:sp>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1509273415"/>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Error Metrics: Accuracy, Precision, Recall and F1 Score</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559337913"/>
              </p:ext>
            </p:extLst>
          </p:nvPr>
        </p:nvGraphicFramePr>
        <p:xfrm>
          <a:off x="627064" y="1424899"/>
          <a:ext cx="6696246" cy="2377162"/>
        </p:xfrm>
        <a:graphic>
          <a:graphicData uri="http://schemas.openxmlformats.org/drawingml/2006/table">
            <a:tbl>
              <a:tblPr firstRow="1" firstCol="1" bandRow="1">
                <a:tableStyleId>{5C22544A-7EE6-4342-B048-85BDC9FD1C3A}</a:tableStyleId>
              </a:tblPr>
              <a:tblGrid>
                <a:gridCol w="2232082">
                  <a:extLst>
                    <a:ext uri="{9D8B030D-6E8A-4147-A177-3AD203B41FA5}">
                      <a16:colId xmlns:a16="http://schemas.microsoft.com/office/drawing/2014/main" val="2518754195"/>
                    </a:ext>
                  </a:extLst>
                </a:gridCol>
                <a:gridCol w="2232082">
                  <a:extLst>
                    <a:ext uri="{9D8B030D-6E8A-4147-A177-3AD203B41FA5}">
                      <a16:colId xmlns:a16="http://schemas.microsoft.com/office/drawing/2014/main" val="122075331"/>
                    </a:ext>
                  </a:extLst>
                </a:gridCol>
                <a:gridCol w="223208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Positive</a:t>
                      </a:r>
                    </a:p>
                  </a:txBody>
                  <a:tcPr anchor="ctr"/>
                </a:tc>
                <a:tc>
                  <a:txBody>
                    <a:bodyPr/>
                    <a:lstStyle/>
                    <a:p>
                      <a:pPr algn="ctr"/>
                      <a:r>
                        <a:rPr lang="en-US" noProof="0"/>
                        <a:t>Negative</a:t>
                      </a:r>
                    </a:p>
                  </a:txBody>
                  <a:tcPr anchor="ctr"/>
                </a:tc>
                <a:extLst>
                  <a:ext uri="{0D108BD9-81ED-4DB2-BD59-A6C34878D82A}">
                    <a16:rowId xmlns:a16="http://schemas.microsoft.com/office/drawing/2014/main" val="3171441879"/>
                  </a:ext>
                </a:extLst>
              </a:tr>
              <a:tr h="796521">
                <a:tc>
                  <a:txBody>
                    <a:bodyPr/>
                    <a:lstStyle/>
                    <a:p>
                      <a:pPr algn="ctr"/>
                      <a:r>
                        <a:rPr lang="en-US" noProof="0"/>
                        <a:t>Predicted Positive</a:t>
                      </a:r>
                    </a:p>
                  </a:txBody>
                  <a:tcPr anchor="ctr"/>
                </a:tc>
                <a:tc>
                  <a:txBody>
                    <a:bodyPr/>
                    <a:lstStyle/>
                    <a:p>
                      <a:pPr algn="ctr"/>
                      <a:r>
                        <a:rPr lang="en-US" noProof="0"/>
                        <a:t>True Positive</a:t>
                      </a:r>
                    </a:p>
                  </a:txBody>
                  <a:tcPr anchor="ctr">
                    <a:solidFill>
                      <a:srgbClr val="32A0A0"/>
                    </a:solidFill>
                  </a:tcPr>
                </a:tc>
                <a:tc>
                  <a:txBody>
                    <a:bodyPr/>
                    <a:lstStyle/>
                    <a:p>
                      <a:pPr algn="ctr"/>
                      <a:r>
                        <a:rPr lang="en-US" b="1" noProof="0"/>
                        <a:t>False Positive</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Negative</a:t>
                      </a:r>
                    </a:p>
                  </a:txBody>
                  <a:tcPr anchor="ctr"/>
                </a:tc>
                <a:tc>
                  <a:txBody>
                    <a:bodyPr/>
                    <a:lstStyle/>
                    <a:p>
                      <a:pPr algn="ctr"/>
                      <a:r>
                        <a:rPr lang="en-US" b="1" noProof="0"/>
                        <a:t>False Negative</a:t>
                      </a:r>
                    </a:p>
                  </a:txBody>
                  <a:tcPr anchor="ctr">
                    <a:solidFill>
                      <a:srgbClr val="AF235F"/>
                    </a:solidFill>
                  </a:tcPr>
                </a:tc>
                <a:tc>
                  <a:txBody>
                    <a:bodyPr/>
                    <a:lstStyle/>
                    <a:p>
                      <a:pPr algn="ctr"/>
                      <a:r>
                        <a:rPr lang="en-US" noProof="0"/>
                        <a:t>True Negative</a:t>
                      </a:r>
                    </a:p>
                  </a:txBody>
                  <a:tcPr anchor="ctr">
                    <a:solidFill>
                      <a:srgbClr val="32A0A0"/>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61535C09-44D8-4C74-9E57-F61E9CAA0B73}"/>
                  </a:ext>
                </a:extLst>
              </p:cNvPr>
              <p:cNvSpPr txBox="1"/>
              <p:nvPr/>
            </p:nvSpPr>
            <p:spPr>
              <a:xfrm>
                <a:off x="3362871" y="5015725"/>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𝑨𝒄𝒄𝒖𝒓𝒂𝒄𝒚</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𝑻𝒆𝒔𝒕</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𝑺𝒄𝒐𝒓𝒆</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𝑁𝑒𝑔𝑎𝑡𝑖𝑣𝑒</m:t>
                          </m:r>
                        </m:num>
                        <m:den>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oMath>
                  </m:oMathPara>
                </a14:m>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 name="Textfeld 6">
                <a:extLst>
                  <a:ext uri="{FF2B5EF4-FFF2-40B4-BE49-F238E27FC236}">
                    <a16:creationId xmlns:a16="http://schemas.microsoft.com/office/drawing/2014/main" id="{61535C09-44D8-4C74-9E57-F61E9CAA0B73}"/>
                  </a:ext>
                </a:extLst>
              </p:cNvPr>
              <p:cNvSpPr txBox="1">
                <a:spLocks noRot="1" noChangeAspect="1" noMove="1" noResize="1" noEditPoints="1" noAdjustHandles="1" noChangeArrowheads="1" noChangeShapeType="1" noTextEdit="1"/>
              </p:cNvSpPr>
              <p:nvPr/>
            </p:nvSpPr>
            <p:spPr>
              <a:xfrm>
                <a:off x="3362871" y="5015725"/>
                <a:ext cx="914400" cy="914400"/>
              </a:xfrm>
              <a:prstGeom prst="rect">
                <a:avLst/>
              </a:prstGeom>
              <a:blipFill>
                <a:blip r:embed="rId2"/>
                <a:stretch>
                  <a:fillRect l="-667" r="-557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6D5A94C7-77FE-4943-BCE7-71B7D85D903A}"/>
                  </a:ext>
                </a:extLst>
              </p:cNvPr>
              <p:cNvSpPr txBox="1"/>
              <p:nvPr/>
            </p:nvSpPr>
            <p:spPr>
              <a:xfrm>
                <a:off x="7493174" y="2322722"/>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𝑷𝒓𝒆𝒄𝒊𝒔𝒊𝒐𝒏</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8" name="Textfeld 7">
                <a:extLst>
                  <a:ext uri="{FF2B5EF4-FFF2-40B4-BE49-F238E27FC236}">
                    <a16:creationId xmlns:a16="http://schemas.microsoft.com/office/drawing/2014/main" id="{6D5A94C7-77FE-4943-BCE7-71B7D85D903A}"/>
                  </a:ext>
                </a:extLst>
              </p:cNvPr>
              <p:cNvSpPr txBox="1">
                <a:spLocks noRot="1" noChangeAspect="1" noMove="1" noResize="1" noEditPoints="1" noAdjustHandles="1" noChangeArrowheads="1" noChangeShapeType="1" noTextEdit="1"/>
              </p:cNvSpPr>
              <p:nvPr/>
            </p:nvSpPr>
            <p:spPr>
              <a:xfrm>
                <a:off x="7493174" y="2322722"/>
                <a:ext cx="914400" cy="914400"/>
              </a:xfrm>
              <a:prstGeom prst="rect">
                <a:avLst/>
              </a:prstGeom>
              <a:blipFill>
                <a:blip r:embed="rId3"/>
                <a:stretch>
                  <a:fillRect r="-39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001430ED-1BFB-4463-82B6-145BFFE16F81}"/>
                  </a:ext>
                </a:extLst>
              </p:cNvPr>
              <p:cNvSpPr txBox="1"/>
              <p:nvPr/>
            </p:nvSpPr>
            <p:spPr>
              <a:xfrm>
                <a:off x="2216662" y="4005064"/>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𝑹𝒆𝒄𝒂𝒍𝒍</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rgbClr val="00B050"/>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𝑁𝑢𝑚𝑏𝑒𝑟</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𝑜𝑓</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𝑃𝑜𝑠𝑖𝑡𝑖𝑣𝑒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𝐸𝑙𝑒𝑚𝑒𝑛𝑡𝑠</m:t>
                          </m:r>
                        </m:den>
                      </m:f>
                    </m:oMath>
                  </m:oMathPara>
                </a14:m>
                <a:endParaRPr lang="en-US">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9" name="Textfeld 8">
                <a:extLst>
                  <a:ext uri="{FF2B5EF4-FFF2-40B4-BE49-F238E27FC236}">
                    <a16:creationId xmlns:a16="http://schemas.microsoft.com/office/drawing/2014/main" id="{001430ED-1BFB-4463-82B6-145BFFE16F81}"/>
                  </a:ext>
                </a:extLst>
              </p:cNvPr>
              <p:cNvSpPr txBox="1">
                <a:spLocks noRot="1" noChangeAspect="1" noMove="1" noResize="1" noEditPoints="1" noAdjustHandles="1" noChangeArrowheads="1" noChangeShapeType="1" noTextEdit="1"/>
              </p:cNvSpPr>
              <p:nvPr/>
            </p:nvSpPr>
            <p:spPr>
              <a:xfrm>
                <a:off x="2216662" y="4005064"/>
                <a:ext cx="914400" cy="914400"/>
              </a:xfrm>
              <a:prstGeom prst="rect">
                <a:avLst/>
              </a:prstGeom>
              <a:blipFill>
                <a:blip r:embed="rId4"/>
                <a:stretch>
                  <a:fillRect r="-332000"/>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76BE2D8B-E98F-431F-9F71-59341EA4C308}"/>
                  </a:ext>
                </a:extLst>
              </p:cNvPr>
              <p:cNvSpPr txBox="1"/>
              <p:nvPr/>
            </p:nvSpPr>
            <p:spPr>
              <a:xfrm>
                <a:off x="7493174" y="3927883"/>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𝑭</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𝑺𝒄𝒐𝒓𝒆</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
                        <m:fPr>
                          <m:ctrlP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Pr>
                        <m:num>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𝑅𝑒𝑐𝑎𝑙𝑙</m:t>
                          </m:r>
                        </m:num>
                        <m:den>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𝑅𝑒𝑐𝑎𝑙𝑙</m:t>
                          </m:r>
                        </m:den>
                      </m:f>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10" name="Textfeld 9">
                <a:extLst>
                  <a:ext uri="{FF2B5EF4-FFF2-40B4-BE49-F238E27FC236}">
                    <a16:creationId xmlns:a16="http://schemas.microsoft.com/office/drawing/2014/main" id="{76BE2D8B-E98F-431F-9F71-59341EA4C308}"/>
                  </a:ext>
                </a:extLst>
              </p:cNvPr>
              <p:cNvSpPr txBox="1">
                <a:spLocks noRot="1" noChangeAspect="1" noMove="1" noResize="1" noEditPoints="1" noAdjustHandles="1" noChangeArrowheads="1" noChangeShapeType="1" noTextEdit="1"/>
              </p:cNvSpPr>
              <p:nvPr/>
            </p:nvSpPr>
            <p:spPr>
              <a:xfrm>
                <a:off x="7493174" y="3927883"/>
                <a:ext cx="914400" cy="914400"/>
              </a:xfrm>
              <a:prstGeom prst="rect">
                <a:avLst/>
              </a:prstGeom>
              <a:blipFill>
                <a:blip r:embed="rId5"/>
                <a:stretch>
                  <a:fillRect r="-235333"/>
                </a:stretch>
              </a:blipFill>
            </p:spPr>
            <p:txBody>
              <a:bodyPr/>
              <a:lstStyle/>
              <a:p>
                <a:r>
                  <a:rPr lang="en-US">
                    <a:noFill/>
                  </a:rPr>
                  <a:t> </a:t>
                </a:r>
              </a:p>
            </p:txBody>
          </p:sp>
        </mc:Fallback>
      </mc:AlternateContent>
      <p:sp>
        <p:nvSpPr>
          <p:cNvPr id="11" name="Textfeld 10">
            <a:extLst>
              <a:ext uri="{FF2B5EF4-FFF2-40B4-BE49-F238E27FC236}">
                <a16:creationId xmlns:a16="http://schemas.microsoft.com/office/drawing/2014/main" id="{05C61DF6-A49C-4CA7-B738-8FF04B661530}"/>
              </a:ext>
            </a:extLst>
          </p:cNvPr>
          <p:cNvSpPr txBox="1"/>
          <p:nvPr/>
        </p:nvSpPr>
        <p:spPr>
          <a:xfrm>
            <a:off x="7646945" y="3136262"/>
            <a:ext cx="914400" cy="275909"/>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How many positive predictions are actual positives?</a:t>
            </a:r>
          </a:p>
        </p:txBody>
      </p:sp>
      <p:sp>
        <p:nvSpPr>
          <p:cNvPr id="12" name="Textfeld 11">
            <a:extLst>
              <a:ext uri="{FF2B5EF4-FFF2-40B4-BE49-F238E27FC236}">
                <a16:creationId xmlns:a16="http://schemas.microsoft.com/office/drawing/2014/main" id="{E2133B40-BFC8-4DA0-8E55-40CEDB95FB17}"/>
              </a:ext>
            </a:extLst>
          </p:cNvPr>
          <p:cNvSpPr txBox="1"/>
          <p:nvPr/>
        </p:nvSpPr>
        <p:spPr>
          <a:xfrm>
            <a:off x="2216662" y="4732032"/>
            <a:ext cx="914400" cy="275909"/>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How many positive are positive predicted?</a:t>
            </a:r>
          </a:p>
        </p:txBody>
      </p:sp>
      <p:sp>
        <p:nvSpPr>
          <p:cNvPr id="14" name="Textfeld 13">
            <a:extLst>
              <a:ext uri="{FF2B5EF4-FFF2-40B4-BE49-F238E27FC236}">
                <a16:creationId xmlns:a16="http://schemas.microsoft.com/office/drawing/2014/main" id="{E98207B5-D9CB-4515-B34A-FB7524CF4B90}"/>
              </a:ext>
            </a:extLst>
          </p:cNvPr>
          <p:cNvSpPr txBox="1"/>
          <p:nvPr/>
        </p:nvSpPr>
        <p:spPr>
          <a:xfrm>
            <a:off x="7646945" y="4718056"/>
            <a:ext cx="3804877" cy="452864"/>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Tradeoff of precision and recall.</a:t>
            </a:r>
          </a:p>
        </p:txBody>
      </p:sp>
      <p:sp>
        <p:nvSpPr>
          <p:cNvPr id="13" name="Rechteck 12">
            <a:extLst>
              <a:ext uri="{FF2B5EF4-FFF2-40B4-BE49-F238E27FC236}">
                <a16:creationId xmlns:a16="http://schemas.microsoft.com/office/drawing/2014/main" id="{2803CE43-3653-4C12-8862-4A588BC2660F}"/>
              </a:ext>
            </a:extLst>
          </p:cNvPr>
          <p:cNvSpPr/>
          <p:nvPr/>
        </p:nvSpPr>
        <p:spPr bwMode="auto">
          <a:xfrm>
            <a:off x="2858815" y="969107"/>
            <a:ext cx="4464495" cy="423268"/>
          </a:xfrm>
          <a:prstGeom prst="rect">
            <a:avLst/>
          </a:prstGeom>
          <a:solidFill>
            <a:srgbClr val="879BAA"/>
          </a:solidFill>
          <a:ln w="9525">
            <a:solidFill>
              <a:schemeClr val="bg1"/>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800" b="1">
                <a:solidFill>
                  <a:schemeClr val="bg1"/>
                </a:solidFill>
                <a:latin typeface="+mn-lt"/>
                <a:ea typeface="Arial Unicode MS" panose="020B0604020202020204" pitchFamily="34" charset="-128"/>
                <a:cs typeface="Arial Unicode MS" panose="020B0604020202020204" pitchFamily="34" charset="-128"/>
              </a:rPr>
              <a:t>Reality</a:t>
            </a:r>
          </a:p>
        </p:txBody>
      </p:sp>
      <p:sp>
        <p:nvSpPr>
          <p:cNvPr id="15" name="Textfeld 14">
            <a:extLst>
              <a:ext uri="{FF2B5EF4-FFF2-40B4-BE49-F238E27FC236}">
                <a16:creationId xmlns:a16="http://schemas.microsoft.com/office/drawing/2014/main" id="{223ED9EF-4885-499F-B4EF-F9578DAF36D0}"/>
              </a:ext>
            </a:extLst>
          </p:cNvPr>
          <p:cNvSpPr txBox="1"/>
          <p:nvPr/>
        </p:nvSpPr>
        <p:spPr>
          <a:xfrm>
            <a:off x="627064" y="6015252"/>
            <a:ext cx="10836751" cy="338554"/>
          </a:xfrm>
          <a:prstGeom prst="rect">
            <a:avLst/>
          </a:prstGeom>
          <a:noFill/>
        </p:spPr>
        <p:txBody>
          <a:bodyPr wrap="square">
            <a:spAutoFit/>
          </a:bodyPr>
          <a:lstStyle/>
          <a:p>
            <a:r>
              <a:rPr lang="de-DE" sz="1600"/>
              <a:t>https://towardsdatascience.com/should-i-look-at-precision-recall-or-specificity-sensitivity-3946158aace1</a:t>
            </a:r>
          </a:p>
        </p:txBody>
      </p:sp>
    </p:spTree>
    <p:extLst>
      <p:ext uri="{BB962C8B-B14F-4D97-AF65-F5344CB8AC3E}">
        <p14:creationId xmlns:p14="http://schemas.microsoft.com/office/powerpoint/2010/main" val="128399500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FB2A92C-9976-40AE-AA14-F66884AF4BD1}"/>
              </a:ext>
            </a:extLst>
          </p:cNvPr>
          <p:cNvSpPr>
            <a:spLocks noGrp="1"/>
          </p:cNvSpPr>
          <p:nvPr>
            <p:ph type="title"/>
          </p:nvPr>
        </p:nvSpPr>
        <p:spPr/>
        <p:txBody>
          <a:bodyPr/>
          <a:lstStyle/>
          <a:p>
            <a:r>
              <a:rPr lang="en-US"/>
              <a:t>Error Metrics: Accuracy, Precision, Recall and F1 Score</a:t>
            </a:r>
          </a:p>
        </p:txBody>
      </p:sp>
      <p:graphicFrame>
        <p:nvGraphicFramePr>
          <p:cNvPr id="3" name="Tabelle 3">
            <a:extLst>
              <a:ext uri="{FF2B5EF4-FFF2-40B4-BE49-F238E27FC236}">
                <a16:creationId xmlns:a16="http://schemas.microsoft.com/office/drawing/2014/main" id="{B250A5D1-64E8-4787-BA79-626C57E701A7}"/>
              </a:ext>
            </a:extLst>
          </p:cNvPr>
          <p:cNvGraphicFramePr>
            <a:graphicFrameLocks noGrp="1"/>
          </p:cNvGraphicFramePr>
          <p:nvPr>
            <p:extLst>
              <p:ext uri="{D42A27DB-BD31-4B8C-83A1-F6EECF244321}">
                <p14:modId xmlns:p14="http://schemas.microsoft.com/office/powerpoint/2010/main" val="2234866282"/>
              </p:ext>
            </p:extLst>
          </p:nvPr>
        </p:nvGraphicFramePr>
        <p:xfrm>
          <a:off x="627063" y="2872273"/>
          <a:ext cx="5616576" cy="2377162"/>
        </p:xfrm>
        <a:graphic>
          <a:graphicData uri="http://schemas.openxmlformats.org/drawingml/2006/table">
            <a:tbl>
              <a:tblPr firstRow="1" firstCol="1" bandRow="1">
                <a:tableStyleId>{5C22544A-7EE6-4342-B048-85BDC9FD1C3A}</a:tableStyleId>
              </a:tblPr>
              <a:tblGrid>
                <a:gridCol w="1872192">
                  <a:extLst>
                    <a:ext uri="{9D8B030D-6E8A-4147-A177-3AD203B41FA5}">
                      <a16:colId xmlns:a16="http://schemas.microsoft.com/office/drawing/2014/main" val="2518754195"/>
                    </a:ext>
                  </a:extLst>
                </a:gridCol>
                <a:gridCol w="1872192">
                  <a:extLst>
                    <a:ext uri="{9D8B030D-6E8A-4147-A177-3AD203B41FA5}">
                      <a16:colId xmlns:a16="http://schemas.microsoft.com/office/drawing/2014/main" val="122075331"/>
                    </a:ext>
                  </a:extLst>
                </a:gridCol>
                <a:gridCol w="1872192">
                  <a:extLst>
                    <a:ext uri="{9D8B030D-6E8A-4147-A177-3AD203B41FA5}">
                      <a16:colId xmlns:a16="http://schemas.microsoft.com/office/drawing/2014/main" val="4226612734"/>
                    </a:ext>
                  </a:extLst>
                </a:gridCol>
              </a:tblGrid>
              <a:tr h="784120">
                <a:tc>
                  <a:txBody>
                    <a:bodyPr/>
                    <a:lstStyle/>
                    <a:p>
                      <a:pPr algn="ctr"/>
                      <a:endParaRPr lang="en-US" noProof="0"/>
                    </a:p>
                  </a:txBody>
                  <a:tcPr anchor="ctr"/>
                </a:tc>
                <a:tc>
                  <a:txBody>
                    <a:bodyPr/>
                    <a:lstStyle/>
                    <a:p>
                      <a:pPr algn="ctr"/>
                      <a:r>
                        <a:rPr lang="en-US" noProof="0"/>
                        <a:t>Green</a:t>
                      </a:r>
                    </a:p>
                  </a:txBody>
                  <a:tcPr anchor="ctr"/>
                </a:tc>
                <a:tc>
                  <a:txBody>
                    <a:bodyPr/>
                    <a:lstStyle/>
                    <a:p>
                      <a:pPr algn="ctr"/>
                      <a:r>
                        <a:rPr lang="en-US" noProof="0"/>
                        <a:t>Red</a:t>
                      </a:r>
                    </a:p>
                  </a:txBody>
                  <a:tcPr anchor="ctr"/>
                </a:tc>
                <a:extLst>
                  <a:ext uri="{0D108BD9-81ED-4DB2-BD59-A6C34878D82A}">
                    <a16:rowId xmlns:a16="http://schemas.microsoft.com/office/drawing/2014/main" val="3171441879"/>
                  </a:ext>
                </a:extLst>
              </a:tr>
              <a:tr h="796521">
                <a:tc>
                  <a:txBody>
                    <a:bodyPr/>
                    <a:lstStyle/>
                    <a:p>
                      <a:pPr algn="ctr"/>
                      <a:r>
                        <a:rPr lang="en-US" noProof="0"/>
                        <a:t>Predicted Green</a:t>
                      </a:r>
                    </a:p>
                  </a:txBody>
                  <a:tcPr anchor="ctr"/>
                </a:tc>
                <a:tc>
                  <a:txBody>
                    <a:bodyPr/>
                    <a:lstStyle/>
                    <a:p>
                      <a:pPr algn="ctr"/>
                      <a:r>
                        <a:rPr lang="en-US" sz="2000" b="1" noProof="0"/>
                        <a:t>6</a:t>
                      </a:r>
                    </a:p>
                  </a:txBody>
                  <a:tcPr anchor="ctr">
                    <a:solidFill>
                      <a:srgbClr val="32A0A0"/>
                    </a:solidFill>
                  </a:tcPr>
                </a:tc>
                <a:tc>
                  <a:txBody>
                    <a:bodyPr/>
                    <a:lstStyle/>
                    <a:p>
                      <a:pPr algn="ctr"/>
                      <a:r>
                        <a:rPr lang="en-US" sz="2000" b="1" noProof="0"/>
                        <a:t>1</a:t>
                      </a:r>
                    </a:p>
                  </a:txBody>
                  <a:tcPr anchor="ctr">
                    <a:solidFill>
                      <a:srgbClr val="AF235F"/>
                    </a:solidFill>
                  </a:tcPr>
                </a:tc>
                <a:extLst>
                  <a:ext uri="{0D108BD9-81ED-4DB2-BD59-A6C34878D82A}">
                    <a16:rowId xmlns:a16="http://schemas.microsoft.com/office/drawing/2014/main" val="2389779071"/>
                  </a:ext>
                </a:extLst>
              </a:tr>
              <a:tr h="796521">
                <a:tc>
                  <a:txBody>
                    <a:bodyPr/>
                    <a:lstStyle/>
                    <a:p>
                      <a:pPr algn="ctr"/>
                      <a:r>
                        <a:rPr lang="en-US" noProof="0"/>
                        <a:t>Predicted Red</a:t>
                      </a:r>
                    </a:p>
                  </a:txBody>
                  <a:tcPr anchor="ctr"/>
                </a:tc>
                <a:tc>
                  <a:txBody>
                    <a:bodyPr/>
                    <a:lstStyle/>
                    <a:p>
                      <a:pPr algn="ctr"/>
                      <a:r>
                        <a:rPr lang="en-US" sz="2000" b="1" noProof="0"/>
                        <a:t>0</a:t>
                      </a:r>
                    </a:p>
                  </a:txBody>
                  <a:tcPr anchor="ctr">
                    <a:solidFill>
                      <a:srgbClr val="AF235F"/>
                    </a:solidFill>
                  </a:tcPr>
                </a:tc>
                <a:tc>
                  <a:txBody>
                    <a:bodyPr/>
                    <a:lstStyle/>
                    <a:p>
                      <a:pPr algn="ctr"/>
                      <a:r>
                        <a:rPr lang="en-US" sz="2000" b="1" noProof="0"/>
                        <a:t>3</a:t>
                      </a:r>
                    </a:p>
                  </a:txBody>
                  <a:tcPr anchor="ctr">
                    <a:solidFill>
                      <a:srgbClr val="32A0A0"/>
                    </a:solidFill>
                  </a:tcPr>
                </a:tc>
                <a:extLst>
                  <a:ext uri="{0D108BD9-81ED-4DB2-BD59-A6C34878D82A}">
                    <a16:rowId xmlns:a16="http://schemas.microsoft.com/office/drawing/2014/main" val="2496120109"/>
                  </a:ext>
                </a:extLst>
              </a:tr>
            </a:tbl>
          </a:graphicData>
        </a:graphic>
      </p:graphicFrame>
      <mc:AlternateContent xmlns:mc="http://schemas.openxmlformats.org/markup-compatibility/2006" xmlns:a14="http://schemas.microsoft.com/office/drawing/2010/main">
        <mc:Choice Requires="a14">
          <p:sp>
            <p:nvSpPr>
              <p:cNvPr id="7" name="Textfeld 6">
                <a:extLst>
                  <a:ext uri="{FF2B5EF4-FFF2-40B4-BE49-F238E27FC236}">
                    <a16:creationId xmlns:a16="http://schemas.microsoft.com/office/drawing/2014/main" id="{61535C09-44D8-4C74-9E57-F61E9CAA0B73}"/>
                  </a:ext>
                </a:extLst>
              </p:cNvPr>
              <p:cNvSpPr txBox="1"/>
              <p:nvPr/>
            </p:nvSpPr>
            <p:spPr>
              <a:xfrm>
                <a:off x="706599" y="5502932"/>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𝑨𝒄𝒄𝒖𝒓𝒂𝒄𝒚</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𝑻𝒆𝒔𝒕</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𝑺𝒄𝒐𝒓𝒆</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𝐺𝑟𝑒𝑒𝑛𝑠</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𝑅𝑒𝑑𝑠</m:t>
                          </m:r>
                        </m:num>
                        <m:den>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6+3</m:t>
                          </m:r>
                        </m:num>
                        <m:den>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10</m:t>
                          </m:r>
                        </m:den>
                      </m:f>
                      <m:r>
                        <a:rPr lang="de-DE"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𝟗</m:t>
                      </m:r>
                    </m:oMath>
                  </m:oMathPara>
                </a14:m>
                <a:endParaRPr lang="en-US"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7" name="Textfeld 6">
                <a:extLst>
                  <a:ext uri="{FF2B5EF4-FFF2-40B4-BE49-F238E27FC236}">
                    <a16:creationId xmlns:a16="http://schemas.microsoft.com/office/drawing/2014/main" id="{61535C09-44D8-4C74-9E57-F61E9CAA0B73}"/>
                  </a:ext>
                </a:extLst>
              </p:cNvPr>
              <p:cNvSpPr txBox="1">
                <a:spLocks noRot="1" noChangeAspect="1" noMove="1" noResize="1" noEditPoints="1" noAdjustHandles="1" noChangeArrowheads="1" noChangeShapeType="1" noTextEdit="1"/>
              </p:cNvSpPr>
              <p:nvPr/>
            </p:nvSpPr>
            <p:spPr>
              <a:xfrm>
                <a:off x="706599" y="5502932"/>
                <a:ext cx="914400" cy="914400"/>
              </a:xfrm>
              <a:prstGeom prst="rect">
                <a:avLst/>
              </a:prstGeom>
              <a:blipFill>
                <a:blip r:embed="rId2"/>
                <a:stretch>
                  <a:fillRect l="-667" r="-660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Textfeld 7">
                <a:extLst>
                  <a:ext uri="{FF2B5EF4-FFF2-40B4-BE49-F238E27FC236}">
                    <a16:creationId xmlns:a16="http://schemas.microsoft.com/office/drawing/2014/main" id="{6D5A94C7-77FE-4943-BCE7-71B7D85D903A}"/>
                  </a:ext>
                </a:extLst>
              </p:cNvPr>
              <p:cNvSpPr txBox="1"/>
              <p:nvPr/>
            </p:nvSpPr>
            <p:spPr>
              <a:xfrm>
                <a:off x="6549378" y="1901746"/>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𝑷𝒓𝒆𝒄𝒊𝒔𝒊𝒐𝒏</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𝐺𝑟𝑒𝑒𝑛𝑠</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𝑃𝑟𝑒𝑑𝑖𝑐𝑡𝑖𝑜𝑛𝑠</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7</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𝟎</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𝟖𝟔</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oMath>
                  </m:oMathPara>
                </a14:m>
                <a:endParaRPr lang="en-US" sz="1600">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8" name="Textfeld 7">
                <a:extLst>
                  <a:ext uri="{FF2B5EF4-FFF2-40B4-BE49-F238E27FC236}">
                    <a16:creationId xmlns:a16="http://schemas.microsoft.com/office/drawing/2014/main" id="{6D5A94C7-77FE-4943-BCE7-71B7D85D903A}"/>
                  </a:ext>
                </a:extLst>
              </p:cNvPr>
              <p:cNvSpPr txBox="1">
                <a:spLocks noRot="1" noChangeAspect="1" noMove="1" noResize="1" noEditPoints="1" noAdjustHandles="1" noChangeArrowheads="1" noChangeShapeType="1" noTextEdit="1"/>
              </p:cNvSpPr>
              <p:nvPr/>
            </p:nvSpPr>
            <p:spPr>
              <a:xfrm>
                <a:off x="6549378" y="1901746"/>
                <a:ext cx="914400" cy="914400"/>
              </a:xfrm>
              <a:prstGeom prst="rect">
                <a:avLst/>
              </a:prstGeom>
              <a:blipFill>
                <a:blip r:embed="rId3"/>
                <a:stretch>
                  <a:fillRect r="-394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feld 8">
                <a:extLst>
                  <a:ext uri="{FF2B5EF4-FFF2-40B4-BE49-F238E27FC236}">
                    <a16:creationId xmlns:a16="http://schemas.microsoft.com/office/drawing/2014/main" id="{001430ED-1BFB-4463-82B6-145BFFE16F81}"/>
                  </a:ext>
                </a:extLst>
              </p:cNvPr>
              <p:cNvSpPr txBox="1"/>
              <p:nvPr/>
            </p:nvSpPr>
            <p:spPr>
              <a:xfrm>
                <a:off x="6891263" y="3234591"/>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𝑹𝒆𝒄𝒂𝒍𝒍</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𝑇𝑟𝑢𝑒</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𝐺𝑟𝑒𝑒𝑛𝑠</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𝑎𝑙𝑙</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𝐺𝑟𝑒𝑒𝑛</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𝐸𝑙𝑒𝑚𝑒𝑛𝑡𝑠</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f>
                        <m:fPr>
                          <m:ctrlP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ctrlPr>
                        </m:fPr>
                        <m:num>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num>
                        <m:den>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6</m:t>
                          </m:r>
                        </m:den>
                      </m:f>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oMath>
                  </m:oMathPara>
                </a14:m>
                <a:endParaRPr lang="en-US"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9" name="Textfeld 8">
                <a:extLst>
                  <a:ext uri="{FF2B5EF4-FFF2-40B4-BE49-F238E27FC236}">
                    <a16:creationId xmlns:a16="http://schemas.microsoft.com/office/drawing/2014/main" id="{001430ED-1BFB-4463-82B6-145BFFE16F81}"/>
                  </a:ext>
                </a:extLst>
              </p:cNvPr>
              <p:cNvSpPr txBox="1">
                <a:spLocks noRot="1" noChangeAspect="1" noMove="1" noResize="1" noEditPoints="1" noAdjustHandles="1" noChangeArrowheads="1" noChangeShapeType="1" noTextEdit="1"/>
              </p:cNvSpPr>
              <p:nvPr/>
            </p:nvSpPr>
            <p:spPr>
              <a:xfrm>
                <a:off x="6891263" y="3234591"/>
                <a:ext cx="914400" cy="914400"/>
              </a:xfrm>
              <a:prstGeom prst="rect">
                <a:avLst/>
              </a:prstGeom>
              <a:blipFill>
                <a:blip r:embed="rId4"/>
                <a:stretch>
                  <a:fillRect r="-299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feld 9">
                <a:extLst>
                  <a:ext uri="{FF2B5EF4-FFF2-40B4-BE49-F238E27FC236}">
                    <a16:creationId xmlns:a16="http://schemas.microsoft.com/office/drawing/2014/main" id="{76BE2D8B-E98F-431F-9F71-59341EA4C308}"/>
                  </a:ext>
                </a:extLst>
              </p:cNvPr>
              <p:cNvSpPr txBox="1"/>
              <p:nvPr/>
            </p:nvSpPr>
            <p:spPr>
              <a:xfrm>
                <a:off x="6660939" y="4498358"/>
                <a:ext cx="914400" cy="914400"/>
              </a:xfrm>
              <a:prstGeom prst="rect">
                <a:avLst/>
              </a:prstGeom>
              <a:noFill/>
            </p:spPr>
            <p:txBody>
              <a:bodyPr wrap="none" lIns="0" tIns="0" rIns="0" bIns="0" rtlCol="0">
                <a:noAutofit/>
              </a:bodyPr>
              <a:lstStyle/>
              <a:p>
                <a:pPr>
                  <a:lnSpc>
                    <a:spcPct val="110000"/>
                  </a:lnSpc>
                  <a:spcBef>
                    <a:spcPts val="0"/>
                  </a:spcBef>
                </a:pPr>
                <a14:m>
                  <m:oMathPara xmlns:m="http://schemas.openxmlformats.org/officeDocument/2006/math">
                    <m:oMathParaPr>
                      <m:jc m:val="centerGroup"/>
                    </m:oMathParaPr>
                    <m:oMath xmlns:m="http://schemas.openxmlformats.org/officeDocument/2006/math">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𝑭</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𝟏</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 </m:t>
                      </m:r>
                      <m:r>
                        <a:rPr lang="de-DE" sz="1600" b="1"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𝑺𝒄𝒐𝒓𝒆</m:t>
                      </m:r>
                      <m:r>
                        <a:rPr lang="de-DE" sz="1600" b="0" i="1" smtClean="0">
                          <a:solidFill>
                            <a:schemeClr val="tx1"/>
                          </a:solidFill>
                          <a:latin typeface="Cambria Math" panose="02040503050406030204" pitchFamily="18" charset="0"/>
                          <a:ea typeface="Arial Unicode MS" panose="020B0604020202020204" pitchFamily="34" charset="-128"/>
                          <a:cs typeface="Arial Unicode MS" panose="020B0604020202020204" pitchFamily="34" charset="-128"/>
                        </a:rPr>
                        <m:t>=2</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f>
                        <m:fPr>
                          <m:ctrlP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Pr>
                        <m:num>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 ∙</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𝑅𝑒𝑐𝑎𝑙𝑙</m:t>
                          </m:r>
                        </m:num>
                        <m:den>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𝑃𝑟𝑒𝑐𝑖𝑠𝑖𝑜𝑛</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𝑅𝑒𝑐𝑎𝑙𝑙</m:t>
                          </m:r>
                        </m:den>
                      </m:f>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=2∙</m:t>
                      </m:r>
                      <m:f>
                        <m:fPr>
                          <m:ctrlP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ctrlPr>
                        </m:fPr>
                        <m:num>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1∙0.86</m:t>
                          </m:r>
                        </m:num>
                        <m:den>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1+0.86</m:t>
                          </m:r>
                        </m:den>
                      </m:f>
                      <m:r>
                        <a:rPr lang="de-DE" sz="1600" b="0"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1"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𝟎</m:t>
                      </m:r>
                      <m:r>
                        <a:rPr lang="de-DE" sz="1600" b="1"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m:t>
                      </m:r>
                      <m:r>
                        <a:rPr lang="de-DE" sz="1600" b="1" i="1" smtClean="0">
                          <a:solidFill>
                            <a:schemeClr val="tx1"/>
                          </a:solidFill>
                          <a:latin typeface="Cambria Math" panose="02040503050406030204" pitchFamily="18" charset="0"/>
                          <a:ea typeface="Cambria Math" panose="02040503050406030204" pitchFamily="18" charset="0"/>
                          <a:cs typeface="Arial Unicode MS" panose="020B0604020202020204" pitchFamily="34" charset="-128"/>
                        </a:rPr>
                        <m:t>𝟗𝟐</m:t>
                      </m:r>
                    </m:oMath>
                  </m:oMathPara>
                </a14:m>
                <a:endParaRPr lang="en-US" sz="1600" b="1">
                  <a:solidFill>
                    <a:schemeClr val="tx1"/>
                  </a:solidFill>
                  <a:latin typeface="+mn-lt"/>
                  <a:ea typeface="Arial Unicode MS" panose="020B0604020202020204" pitchFamily="34" charset="-128"/>
                  <a:cs typeface="Arial Unicode MS" panose="020B0604020202020204" pitchFamily="34" charset="-128"/>
                </a:endParaRPr>
              </a:p>
            </p:txBody>
          </p:sp>
        </mc:Choice>
        <mc:Fallback xmlns="">
          <p:sp>
            <p:nvSpPr>
              <p:cNvPr id="10" name="Textfeld 9">
                <a:extLst>
                  <a:ext uri="{FF2B5EF4-FFF2-40B4-BE49-F238E27FC236}">
                    <a16:creationId xmlns:a16="http://schemas.microsoft.com/office/drawing/2014/main" id="{76BE2D8B-E98F-431F-9F71-59341EA4C308}"/>
                  </a:ext>
                </a:extLst>
              </p:cNvPr>
              <p:cNvSpPr txBox="1">
                <a:spLocks noRot="1" noChangeAspect="1" noMove="1" noResize="1" noEditPoints="1" noAdjustHandles="1" noChangeArrowheads="1" noChangeShapeType="1" noTextEdit="1"/>
              </p:cNvSpPr>
              <p:nvPr/>
            </p:nvSpPr>
            <p:spPr>
              <a:xfrm>
                <a:off x="6660939" y="4498358"/>
                <a:ext cx="914400" cy="914400"/>
              </a:xfrm>
              <a:prstGeom prst="rect">
                <a:avLst/>
              </a:prstGeom>
              <a:blipFill>
                <a:blip r:embed="rId5"/>
                <a:stretch>
                  <a:fillRect r="-448000"/>
                </a:stretch>
              </a:blipFill>
            </p:spPr>
            <p:txBody>
              <a:bodyPr/>
              <a:lstStyle/>
              <a:p>
                <a:r>
                  <a:rPr lang="en-US">
                    <a:noFill/>
                  </a:rPr>
                  <a:t> </a:t>
                </a:r>
              </a:p>
            </p:txBody>
          </p:sp>
        </mc:Fallback>
      </mc:AlternateContent>
      <p:sp>
        <p:nvSpPr>
          <p:cNvPr id="11" name="Textfeld 10">
            <a:extLst>
              <a:ext uri="{FF2B5EF4-FFF2-40B4-BE49-F238E27FC236}">
                <a16:creationId xmlns:a16="http://schemas.microsoft.com/office/drawing/2014/main" id="{05C61DF6-A49C-4CA7-B738-8FF04B661530}"/>
              </a:ext>
            </a:extLst>
          </p:cNvPr>
          <p:cNvSpPr txBox="1"/>
          <p:nvPr/>
        </p:nvSpPr>
        <p:spPr>
          <a:xfrm>
            <a:off x="6354601" y="1625837"/>
            <a:ext cx="914400" cy="275909"/>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How many green predictions are actual green?</a:t>
            </a:r>
          </a:p>
        </p:txBody>
      </p:sp>
      <p:sp>
        <p:nvSpPr>
          <p:cNvPr id="12" name="Textfeld 11">
            <a:extLst>
              <a:ext uri="{FF2B5EF4-FFF2-40B4-BE49-F238E27FC236}">
                <a16:creationId xmlns:a16="http://schemas.microsoft.com/office/drawing/2014/main" id="{E2133B40-BFC8-4DA0-8E55-40CEDB95FB17}"/>
              </a:ext>
            </a:extLst>
          </p:cNvPr>
          <p:cNvSpPr txBox="1"/>
          <p:nvPr/>
        </p:nvSpPr>
        <p:spPr>
          <a:xfrm>
            <a:off x="6354601" y="2865059"/>
            <a:ext cx="914400" cy="275909"/>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How many greens are green predicted?</a:t>
            </a:r>
          </a:p>
        </p:txBody>
      </p:sp>
      <p:sp>
        <p:nvSpPr>
          <p:cNvPr id="14" name="Textfeld 13">
            <a:extLst>
              <a:ext uri="{FF2B5EF4-FFF2-40B4-BE49-F238E27FC236}">
                <a16:creationId xmlns:a16="http://schemas.microsoft.com/office/drawing/2014/main" id="{E98207B5-D9CB-4515-B34A-FB7524CF4B90}"/>
              </a:ext>
            </a:extLst>
          </p:cNvPr>
          <p:cNvSpPr txBox="1"/>
          <p:nvPr/>
        </p:nvSpPr>
        <p:spPr>
          <a:xfrm>
            <a:off x="6354601" y="4163814"/>
            <a:ext cx="3804877" cy="452864"/>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Tradeoff of precision and recall.</a:t>
            </a:r>
          </a:p>
        </p:txBody>
      </p:sp>
      <p:grpSp>
        <p:nvGrpSpPr>
          <p:cNvPr id="13" name="Gruppieren 12">
            <a:extLst>
              <a:ext uri="{FF2B5EF4-FFF2-40B4-BE49-F238E27FC236}">
                <a16:creationId xmlns:a16="http://schemas.microsoft.com/office/drawing/2014/main" id="{DC537BAA-0F78-432E-A466-63FCAF8393B7}"/>
              </a:ext>
            </a:extLst>
          </p:cNvPr>
          <p:cNvGrpSpPr/>
          <p:nvPr/>
        </p:nvGrpSpPr>
        <p:grpSpPr>
          <a:xfrm>
            <a:off x="627063" y="1484918"/>
            <a:ext cx="5616576" cy="1224001"/>
            <a:chOff x="918225" y="2780667"/>
            <a:chExt cx="6801130" cy="1404417"/>
          </a:xfrm>
        </p:grpSpPr>
        <p:grpSp>
          <p:nvGrpSpPr>
            <p:cNvPr id="15" name="Gruppieren 14">
              <a:extLst>
                <a:ext uri="{FF2B5EF4-FFF2-40B4-BE49-F238E27FC236}">
                  <a16:creationId xmlns:a16="http://schemas.microsoft.com/office/drawing/2014/main" id="{EE6C5070-D9FC-4CB7-A2E4-350B540C7A1B}"/>
                </a:ext>
              </a:extLst>
            </p:cNvPr>
            <p:cNvGrpSpPr/>
            <p:nvPr/>
          </p:nvGrpSpPr>
          <p:grpSpPr>
            <a:xfrm>
              <a:off x="987354" y="2972640"/>
              <a:ext cx="6732001" cy="1067982"/>
              <a:chOff x="946888" y="2684869"/>
              <a:chExt cx="6732001" cy="1067982"/>
            </a:xfrm>
          </p:grpSpPr>
          <p:grpSp>
            <p:nvGrpSpPr>
              <p:cNvPr id="19" name="Gruppieren 18">
                <a:extLst>
                  <a:ext uri="{FF2B5EF4-FFF2-40B4-BE49-F238E27FC236}">
                    <a16:creationId xmlns:a16="http://schemas.microsoft.com/office/drawing/2014/main" id="{2A565CE8-BDAA-4144-B276-797D7810D6F9}"/>
                  </a:ext>
                </a:extLst>
              </p:cNvPr>
              <p:cNvGrpSpPr/>
              <p:nvPr/>
            </p:nvGrpSpPr>
            <p:grpSpPr>
              <a:xfrm>
                <a:off x="946888" y="2684869"/>
                <a:ext cx="6732001" cy="1067982"/>
                <a:chOff x="986607" y="3303000"/>
                <a:chExt cx="4537464" cy="743507"/>
              </a:xfrm>
            </p:grpSpPr>
            <p:grpSp>
              <p:nvGrpSpPr>
                <p:cNvPr id="21" name="Gruppieren 20">
                  <a:extLst>
                    <a:ext uri="{FF2B5EF4-FFF2-40B4-BE49-F238E27FC236}">
                      <a16:creationId xmlns:a16="http://schemas.microsoft.com/office/drawing/2014/main" id="{41A1554E-BB9F-4111-B323-D279C9B47CFB}"/>
                    </a:ext>
                  </a:extLst>
                </p:cNvPr>
                <p:cNvGrpSpPr/>
                <p:nvPr/>
              </p:nvGrpSpPr>
              <p:grpSpPr>
                <a:xfrm>
                  <a:off x="986607" y="3303000"/>
                  <a:ext cx="4537464" cy="449850"/>
                  <a:chOff x="986607" y="3303000"/>
                  <a:chExt cx="4537464" cy="449850"/>
                </a:xfrm>
              </p:grpSpPr>
              <p:cxnSp>
                <p:nvCxnSpPr>
                  <p:cNvPr id="26" name="Gerader Verbinder 25">
                    <a:extLst>
                      <a:ext uri="{FF2B5EF4-FFF2-40B4-BE49-F238E27FC236}">
                        <a16:creationId xmlns:a16="http://schemas.microsoft.com/office/drawing/2014/main" id="{A7C5EE82-CF13-479C-A15C-710497990D2E}"/>
                      </a:ext>
                    </a:extLst>
                  </p:cNvPr>
                  <p:cNvCxnSpPr/>
                  <p:nvPr/>
                </p:nvCxnSpPr>
                <p:spPr bwMode="auto">
                  <a:xfrm>
                    <a:off x="1094619"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r Verbinder 26">
                    <a:extLst>
                      <a:ext uri="{FF2B5EF4-FFF2-40B4-BE49-F238E27FC236}">
                        <a16:creationId xmlns:a16="http://schemas.microsoft.com/office/drawing/2014/main" id="{A8D1C64C-F080-4110-8159-3C006A0D3496}"/>
                      </a:ext>
                    </a:extLst>
                  </p:cNvPr>
                  <p:cNvCxnSpPr/>
                  <p:nvPr/>
                </p:nvCxnSpPr>
                <p:spPr bwMode="auto">
                  <a:xfrm>
                    <a:off x="2149108"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8" name="Gerader Verbinder 27">
                    <a:extLst>
                      <a:ext uri="{FF2B5EF4-FFF2-40B4-BE49-F238E27FC236}">
                        <a16:creationId xmlns:a16="http://schemas.microsoft.com/office/drawing/2014/main" id="{92EA39BF-C694-4018-9275-67FD01CCCC91}"/>
                      </a:ext>
                    </a:extLst>
                  </p:cNvPr>
                  <p:cNvCxnSpPr/>
                  <p:nvPr/>
                </p:nvCxnSpPr>
                <p:spPr bwMode="auto">
                  <a:xfrm>
                    <a:off x="3325890"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r Verbinder 28">
                    <a:extLst>
                      <a:ext uri="{FF2B5EF4-FFF2-40B4-BE49-F238E27FC236}">
                        <a16:creationId xmlns:a16="http://schemas.microsoft.com/office/drawing/2014/main" id="{CA990B52-3CB1-4F0A-8A7B-FE41752F5D0F}"/>
                      </a:ext>
                    </a:extLst>
                  </p:cNvPr>
                  <p:cNvCxnSpPr/>
                  <p:nvPr/>
                </p:nvCxnSpPr>
                <p:spPr bwMode="auto">
                  <a:xfrm>
                    <a:off x="4502672" y="3429000"/>
                    <a:ext cx="0" cy="32385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0" name="Gerader Verbinder 29">
                    <a:extLst>
                      <a:ext uri="{FF2B5EF4-FFF2-40B4-BE49-F238E27FC236}">
                        <a16:creationId xmlns:a16="http://schemas.microsoft.com/office/drawing/2014/main" id="{0EF44D4F-3CC3-4BB9-BDD2-35428C83A4C5}"/>
                      </a:ext>
                    </a:extLst>
                  </p:cNvPr>
                  <p:cNvCxnSpPr/>
                  <p:nvPr/>
                </p:nvCxnSpPr>
                <p:spPr bwMode="auto">
                  <a:xfrm flipV="1">
                    <a:off x="986607" y="3416684"/>
                    <a:ext cx="4537464"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1" name="Ellipse 30">
                    <a:extLst>
                      <a:ext uri="{FF2B5EF4-FFF2-40B4-BE49-F238E27FC236}">
                        <a16:creationId xmlns:a16="http://schemas.microsoft.com/office/drawing/2014/main" id="{DD92CB05-5E64-4613-8C90-0690C4A6A582}"/>
                      </a:ext>
                    </a:extLst>
                  </p:cNvPr>
                  <p:cNvSpPr/>
                  <p:nvPr/>
                </p:nvSpPr>
                <p:spPr bwMode="auto">
                  <a:xfrm>
                    <a:off x="162523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2" name="Ellipse 31">
                    <a:extLst>
                      <a:ext uri="{FF2B5EF4-FFF2-40B4-BE49-F238E27FC236}">
                        <a16:creationId xmlns:a16="http://schemas.microsoft.com/office/drawing/2014/main" id="{936DE7D9-42F4-4037-836D-5C872649E58A}"/>
                      </a:ext>
                    </a:extLst>
                  </p:cNvPr>
                  <p:cNvSpPr/>
                  <p:nvPr/>
                </p:nvSpPr>
                <p:spPr bwMode="auto">
                  <a:xfrm>
                    <a:off x="3387090"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3" name="Ellipse 32">
                    <a:extLst>
                      <a:ext uri="{FF2B5EF4-FFF2-40B4-BE49-F238E27FC236}">
                        <a16:creationId xmlns:a16="http://schemas.microsoft.com/office/drawing/2014/main" id="{B84295A1-7833-4ACD-8221-F570BC13DE09}"/>
                      </a:ext>
                    </a:extLst>
                  </p:cNvPr>
                  <p:cNvSpPr/>
                  <p:nvPr/>
                </p:nvSpPr>
                <p:spPr bwMode="auto">
                  <a:xfrm>
                    <a:off x="1197341"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4" name="Ellipse 33">
                    <a:extLst>
                      <a:ext uri="{FF2B5EF4-FFF2-40B4-BE49-F238E27FC236}">
                        <a16:creationId xmlns:a16="http://schemas.microsoft.com/office/drawing/2014/main" id="{BC4273C8-55AA-4112-9BDB-FCB04A1152C0}"/>
                      </a:ext>
                    </a:extLst>
                  </p:cNvPr>
                  <p:cNvSpPr/>
                  <p:nvPr/>
                </p:nvSpPr>
                <p:spPr bwMode="auto">
                  <a:xfrm>
                    <a:off x="2053119" y="3303000"/>
                    <a:ext cx="252000" cy="252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5" name="Ellipse 34">
                    <a:extLst>
                      <a:ext uri="{FF2B5EF4-FFF2-40B4-BE49-F238E27FC236}">
                        <a16:creationId xmlns:a16="http://schemas.microsoft.com/office/drawing/2014/main" id="{BC1799A0-E96F-48BB-A6F9-FC50BFD217A0}"/>
                      </a:ext>
                    </a:extLst>
                  </p:cNvPr>
                  <p:cNvSpPr/>
                  <p:nvPr/>
                </p:nvSpPr>
                <p:spPr bwMode="auto">
                  <a:xfrm>
                    <a:off x="2540480"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6" name="Ellipse 35">
                    <a:extLst>
                      <a:ext uri="{FF2B5EF4-FFF2-40B4-BE49-F238E27FC236}">
                        <a16:creationId xmlns:a16="http://schemas.microsoft.com/office/drawing/2014/main" id="{26185F82-B555-41F0-A505-DB17736C341F}"/>
                      </a:ext>
                    </a:extLst>
                  </p:cNvPr>
                  <p:cNvSpPr/>
                  <p:nvPr/>
                </p:nvSpPr>
                <p:spPr bwMode="auto">
                  <a:xfrm>
                    <a:off x="29581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Ellipse 36">
                    <a:extLst>
                      <a:ext uri="{FF2B5EF4-FFF2-40B4-BE49-F238E27FC236}">
                        <a16:creationId xmlns:a16="http://schemas.microsoft.com/office/drawing/2014/main" id="{FAA21856-D065-48E5-ABF7-F8289158EB63}"/>
                      </a:ext>
                    </a:extLst>
                  </p:cNvPr>
                  <p:cNvSpPr/>
                  <p:nvPr/>
                </p:nvSpPr>
                <p:spPr bwMode="auto">
                  <a:xfrm>
                    <a:off x="3874451"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8" name="Ellipse 37">
                    <a:extLst>
                      <a:ext uri="{FF2B5EF4-FFF2-40B4-BE49-F238E27FC236}">
                        <a16:creationId xmlns:a16="http://schemas.microsoft.com/office/drawing/2014/main" id="{E16F0C13-C8D6-4724-8DC3-60642522E847}"/>
                      </a:ext>
                    </a:extLst>
                  </p:cNvPr>
                  <p:cNvSpPr/>
                  <p:nvPr/>
                </p:nvSpPr>
                <p:spPr bwMode="auto">
                  <a:xfrm>
                    <a:off x="429726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9" name="Ellipse 38">
                    <a:extLst>
                      <a:ext uri="{FF2B5EF4-FFF2-40B4-BE49-F238E27FC236}">
                        <a16:creationId xmlns:a16="http://schemas.microsoft.com/office/drawing/2014/main" id="{E7D1B863-759E-4807-AB9D-F6ACF4F96D1E}"/>
                      </a:ext>
                    </a:extLst>
                  </p:cNvPr>
                  <p:cNvSpPr/>
                  <p:nvPr/>
                </p:nvSpPr>
                <p:spPr bwMode="auto">
                  <a:xfrm>
                    <a:off x="4728288" y="3303000"/>
                    <a:ext cx="252000" cy="252000"/>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22" name="Textfeld 21">
                  <a:extLst>
                    <a:ext uri="{FF2B5EF4-FFF2-40B4-BE49-F238E27FC236}">
                      <a16:creationId xmlns:a16="http://schemas.microsoft.com/office/drawing/2014/main" id="{B71F020B-2267-4BF2-AF87-32495AE1B703}"/>
                    </a:ext>
                  </a:extLst>
                </p:cNvPr>
                <p:cNvSpPr txBox="1"/>
                <p:nvPr/>
              </p:nvSpPr>
              <p:spPr>
                <a:xfrm>
                  <a:off x="1058425" y="3794507"/>
                  <a:ext cx="252000"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0</a:t>
                  </a:r>
                </a:p>
              </p:txBody>
            </p:sp>
            <p:sp>
              <p:nvSpPr>
                <p:cNvPr id="23" name="Textfeld 22">
                  <a:extLst>
                    <a:ext uri="{FF2B5EF4-FFF2-40B4-BE49-F238E27FC236}">
                      <a16:creationId xmlns:a16="http://schemas.microsoft.com/office/drawing/2014/main" id="{939425AE-8613-4D9A-9F22-E68E9C021448}"/>
                    </a:ext>
                  </a:extLst>
                </p:cNvPr>
                <p:cNvSpPr txBox="1"/>
                <p:nvPr/>
              </p:nvSpPr>
              <p:spPr>
                <a:xfrm>
                  <a:off x="2083280" y="3799655"/>
                  <a:ext cx="221837" cy="236557"/>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1</a:t>
                  </a:r>
                </a:p>
              </p:txBody>
            </p:sp>
            <p:sp>
              <p:nvSpPr>
                <p:cNvPr id="24" name="Textfeld 23">
                  <a:extLst>
                    <a:ext uri="{FF2B5EF4-FFF2-40B4-BE49-F238E27FC236}">
                      <a16:creationId xmlns:a16="http://schemas.microsoft.com/office/drawing/2014/main" id="{68A43E7F-D154-42D1-A54E-8D98C44347DA}"/>
                    </a:ext>
                  </a:extLst>
                </p:cNvPr>
                <p:cNvSpPr txBox="1"/>
                <p:nvPr/>
              </p:nvSpPr>
              <p:spPr>
                <a:xfrm>
                  <a:off x="3291024" y="3794508"/>
                  <a:ext cx="251998" cy="241705"/>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2</a:t>
                  </a:r>
                </a:p>
              </p:txBody>
            </p:sp>
            <p:sp>
              <p:nvSpPr>
                <p:cNvPr id="25" name="Textfeld 24">
                  <a:extLst>
                    <a:ext uri="{FF2B5EF4-FFF2-40B4-BE49-F238E27FC236}">
                      <a16:creationId xmlns:a16="http://schemas.microsoft.com/office/drawing/2014/main" id="{330E7586-D057-4E50-8E24-7037BE4A0766}"/>
                    </a:ext>
                  </a:extLst>
                </p:cNvPr>
                <p:cNvSpPr txBox="1"/>
                <p:nvPr/>
              </p:nvSpPr>
              <p:spPr>
                <a:xfrm>
                  <a:off x="4463844" y="3799656"/>
                  <a:ext cx="264444" cy="246851"/>
                </a:xfrm>
                <a:prstGeom prst="rect">
                  <a:avLst/>
                </a:prstGeom>
                <a:noFill/>
              </p:spPr>
              <p:txBody>
                <a:bodyPr wrap="none" lIns="0" tIns="0" rIns="0" bIns="0" rtlCol="0">
                  <a:noAutofit/>
                </a:bodyPr>
                <a:lstStyle/>
                <a:p>
                  <a:pPr>
                    <a:lnSpc>
                      <a:spcPct val="110000"/>
                    </a:lnSpc>
                    <a:spcBef>
                      <a:spcPts val="0"/>
                    </a:spcBef>
                  </a:pPr>
                  <a:r>
                    <a:rPr lang="en-US" sz="1600" b="1">
                      <a:solidFill>
                        <a:schemeClr val="tx1"/>
                      </a:solidFill>
                      <a:latin typeface="+mn-lt"/>
                      <a:ea typeface="Arial Unicode MS" panose="020B0604020202020204" pitchFamily="34" charset="-128"/>
                      <a:cs typeface="Arial Unicode MS" panose="020B0604020202020204" pitchFamily="34" charset="-128"/>
                    </a:rPr>
                    <a:t>3</a:t>
                  </a:r>
                </a:p>
              </p:txBody>
            </p:sp>
          </p:grpSp>
          <p:sp>
            <p:nvSpPr>
              <p:cNvPr id="20" name="Ellipse 19">
                <a:extLst>
                  <a:ext uri="{FF2B5EF4-FFF2-40B4-BE49-F238E27FC236}">
                    <a16:creationId xmlns:a16="http://schemas.microsoft.com/office/drawing/2014/main" id="{EE33533F-A9B9-462F-90FA-0CC4CE92C65E}"/>
                  </a:ext>
                </a:extLst>
              </p:cNvPr>
              <p:cNvSpPr/>
              <p:nvPr/>
            </p:nvSpPr>
            <p:spPr bwMode="auto">
              <a:xfrm>
                <a:off x="7126976" y="2684869"/>
                <a:ext cx="373879" cy="361976"/>
              </a:xfrm>
              <a:prstGeom prst="ellipse">
                <a:avLst/>
              </a:prstGeom>
              <a:solidFill>
                <a:srgbClr val="00B05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16" name="Rechteck 15">
              <a:extLst>
                <a:ext uri="{FF2B5EF4-FFF2-40B4-BE49-F238E27FC236}">
                  <a16:creationId xmlns:a16="http://schemas.microsoft.com/office/drawing/2014/main" id="{C478F98F-4BF6-4215-AA51-CA0D2550492D}"/>
                </a:ext>
              </a:extLst>
            </p:cNvPr>
            <p:cNvSpPr/>
            <p:nvPr/>
          </p:nvSpPr>
          <p:spPr bwMode="auto">
            <a:xfrm>
              <a:off x="918225" y="2908206"/>
              <a:ext cx="2305399" cy="1125020"/>
            </a:xfrm>
            <a:prstGeom prst="rect">
              <a:avLst/>
            </a:prstGeom>
            <a:solidFill>
              <a:srgbClr val="FF000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4F833FC0-EE36-41DB-9B6E-E859E3735724}"/>
                </a:ext>
              </a:extLst>
            </p:cNvPr>
            <p:cNvSpPr/>
            <p:nvPr/>
          </p:nvSpPr>
          <p:spPr bwMode="auto">
            <a:xfrm>
              <a:off x="3238378" y="2915601"/>
              <a:ext cx="4441339" cy="1125020"/>
            </a:xfrm>
            <a:prstGeom prst="rect">
              <a:avLst/>
            </a:prstGeom>
            <a:solidFill>
              <a:srgbClr val="00B050">
                <a:alpha val="25098"/>
              </a:srgbClr>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8" name="Gerader Verbinder 17">
              <a:extLst>
                <a:ext uri="{FF2B5EF4-FFF2-40B4-BE49-F238E27FC236}">
                  <a16:creationId xmlns:a16="http://schemas.microsoft.com/office/drawing/2014/main" id="{81C14ADC-A208-4D52-9CB1-5146997D5A78}"/>
                </a:ext>
              </a:extLst>
            </p:cNvPr>
            <p:cNvCxnSpPr/>
            <p:nvPr/>
          </p:nvCxnSpPr>
          <p:spPr bwMode="auto">
            <a:xfrm flipH="1">
              <a:off x="3223624" y="2780667"/>
              <a:ext cx="739" cy="1404417"/>
            </a:xfrm>
            <a:prstGeom prst="line">
              <a:avLst/>
            </a:prstGeom>
            <a:solidFill>
              <a:schemeClr val="tx2"/>
            </a:solidFill>
            <a:ln w="38100"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Tree>
    <p:extLst>
      <p:ext uri="{BB962C8B-B14F-4D97-AF65-F5344CB8AC3E}">
        <p14:creationId xmlns:p14="http://schemas.microsoft.com/office/powerpoint/2010/main" val="238527333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090D6C-7FA2-4842-8E08-EA259B777B8B}"/>
              </a:ext>
            </a:extLst>
          </p:cNvPr>
          <p:cNvSpPr>
            <a:spLocks noGrp="1"/>
          </p:cNvSpPr>
          <p:nvPr>
            <p:ph type="title"/>
          </p:nvPr>
        </p:nvSpPr>
        <p:spPr/>
        <p:txBody>
          <a:bodyPr/>
          <a:lstStyle/>
          <a:p>
            <a:r>
              <a:rPr lang="en-US" dirty="0"/>
              <a:t>Exercise 1.1: Quiz</a:t>
            </a:r>
          </a:p>
        </p:txBody>
      </p:sp>
      <p:sp>
        <p:nvSpPr>
          <p:cNvPr id="3" name="Inhaltsplatzhalter 2">
            <a:extLst>
              <a:ext uri="{FF2B5EF4-FFF2-40B4-BE49-F238E27FC236}">
                <a16:creationId xmlns:a16="http://schemas.microsoft.com/office/drawing/2014/main" id="{0EF4D9C8-AFC7-479B-AE2E-17CACAC811C0}"/>
              </a:ext>
            </a:extLst>
          </p:cNvPr>
          <p:cNvSpPr>
            <a:spLocks noGrp="1"/>
          </p:cNvSpPr>
          <p:nvPr>
            <p:ph idx="1"/>
          </p:nvPr>
        </p:nvSpPr>
        <p:spPr>
          <a:xfrm>
            <a:off x="627063" y="1440000"/>
            <a:ext cx="5364100" cy="2276338"/>
          </a:xfrm>
        </p:spPr>
        <p:txBody>
          <a:bodyPr anchor="ctr"/>
          <a:lstStyle/>
          <a:p>
            <a:pPr algn="ctr">
              <a:spcBef>
                <a:spcPts val="600"/>
              </a:spcBef>
              <a:spcAft>
                <a:spcPts val="600"/>
              </a:spcAft>
            </a:pPr>
            <a:endParaRPr lang="en-US" sz="2000" dirty="0"/>
          </a:p>
          <a:p>
            <a:pPr algn="ctr">
              <a:spcBef>
                <a:spcPts val="600"/>
              </a:spcBef>
              <a:spcAft>
                <a:spcPts val="600"/>
              </a:spcAft>
            </a:pPr>
            <a:r>
              <a:rPr lang="en-US" sz="2000" dirty="0">
                <a:hlinkClick r:id="rId3"/>
              </a:rPr>
              <a:t>https://forms.office.com/r/yGdHArDsHu</a:t>
            </a:r>
            <a:endParaRPr lang="en-US" sz="2000" dirty="0"/>
          </a:p>
          <a:p>
            <a:pPr algn="ctr">
              <a:spcBef>
                <a:spcPts val="600"/>
              </a:spcBef>
              <a:spcAft>
                <a:spcPts val="600"/>
              </a:spcAft>
            </a:pPr>
            <a:endParaRPr lang="en-US" sz="2000" dirty="0"/>
          </a:p>
          <a:p>
            <a:pPr marL="465138" lvl="1" indent="-285750">
              <a:buFont typeface="Arial" panose="020B0604020202020204" pitchFamily="34" charset="0"/>
              <a:buChar char="•"/>
            </a:pPr>
            <a:endParaRPr lang="en-US" sz="2000" dirty="0"/>
          </a:p>
        </p:txBody>
      </p:sp>
      <p:sp>
        <p:nvSpPr>
          <p:cNvPr id="4" name="Rechteck 3">
            <a:extLst>
              <a:ext uri="{FF2B5EF4-FFF2-40B4-BE49-F238E27FC236}">
                <a16:creationId xmlns:a16="http://schemas.microsoft.com/office/drawing/2014/main" id="{5451DBE2-675A-4C23-9439-0031597B6348}"/>
              </a:ext>
            </a:extLst>
          </p:cNvPr>
          <p:cNvSpPr/>
          <p:nvPr/>
        </p:nvSpPr>
        <p:spPr bwMode="auto">
          <a:xfrm>
            <a:off x="0" y="6652933"/>
            <a:ext cx="1270000" cy="15613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0" numCol="1" spcCol="72000" rtlCol="0" anchor="ctr">
            <a:spAutoFit/>
          </a:bodyPr>
          <a:lstStyle/>
          <a:p>
            <a:pPr algn="ctr">
              <a:lnSpc>
                <a:spcPct val="110000"/>
              </a:lnSpc>
              <a:spcBef>
                <a:spcPct val="0"/>
              </a:spcBef>
              <a:buFont typeface="Wingdings" charset="0"/>
              <a:buNone/>
            </a:pPr>
            <a:r>
              <a:rPr lang="en-US" sz="1000">
                <a:solidFill>
                  <a:srgbClr val="000000"/>
                </a:solidFill>
                <a:latin typeface="+mn-lt"/>
                <a:ea typeface="Arial Unicode MS" panose="020B0604020202020204" pitchFamily="34" charset="-128"/>
                <a:cs typeface="Arial Unicode MS" panose="020B0604020202020204" pitchFamily="34" charset="-128"/>
              </a:rPr>
              <a:t>Intern</a:t>
            </a:r>
          </a:p>
        </p:txBody>
      </p:sp>
      <p:pic>
        <p:nvPicPr>
          <p:cNvPr id="5" name="Grafik 4">
            <a:extLst>
              <a:ext uri="{FF2B5EF4-FFF2-40B4-BE49-F238E27FC236}">
                <a16:creationId xmlns:a16="http://schemas.microsoft.com/office/drawing/2014/main" id="{85CFCC2B-4ABC-48A9-9722-4390ABE282A6}"/>
              </a:ext>
            </a:extLst>
          </p:cNvPr>
          <p:cNvPicPr>
            <a:picLocks noChangeAspect="1"/>
          </p:cNvPicPr>
          <p:nvPr/>
        </p:nvPicPr>
        <p:blipFill>
          <a:blip r:embed="rId4"/>
          <a:stretch>
            <a:fillRect/>
          </a:stretch>
        </p:blipFill>
        <p:spPr>
          <a:xfrm>
            <a:off x="6207189" y="1401051"/>
            <a:ext cx="5364098" cy="4922836"/>
          </a:xfrm>
          <a:prstGeom prst="rect">
            <a:avLst/>
          </a:prstGeom>
        </p:spPr>
      </p:pic>
      <p:pic>
        <p:nvPicPr>
          <p:cNvPr id="6" name="Grafik 5">
            <a:extLst>
              <a:ext uri="{FF2B5EF4-FFF2-40B4-BE49-F238E27FC236}">
                <a16:creationId xmlns:a16="http://schemas.microsoft.com/office/drawing/2014/main" id="{3A938E32-0B8B-4F7B-AA76-457D5C1A39FF}"/>
              </a:ext>
            </a:extLst>
          </p:cNvPr>
          <p:cNvPicPr>
            <a:picLocks noChangeAspect="1"/>
          </p:cNvPicPr>
          <p:nvPr/>
        </p:nvPicPr>
        <p:blipFill>
          <a:blip r:embed="rId5"/>
          <a:stretch>
            <a:fillRect/>
          </a:stretch>
        </p:blipFill>
        <p:spPr>
          <a:xfrm>
            <a:off x="635000" y="3429000"/>
            <a:ext cx="5112072" cy="2884217"/>
          </a:xfrm>
          <a:prstGeom prst="rect">
            <a:avLst/>
          </a:prstGeom>
        </p:spPr>
      </p:pic>
      <p:sp>
        <p:nvSpPr>
          <p:cNvPr id="7" name="Textfeld 6">
            <a:extLst>
              <a:ext uri="{FF2B5EF4-FFF2-40B4-BE49-F238E27FC236}">
                <a16:creationId xmlns:a16="http://schemas.microsoft.com/office/drawing/2014/main" id="{C5D2F998-F544-4882-BF9A-E0B22910EF63}"/>
              </a:ext>
            </a:extLst>
          </p:cNvPr>
          <p:cNvSpPr txBox="1"/>
          <p:nvPr/>
        </p:nvSpPr>
        <p:spPr>
          <a:xfrm>
            <a:off x="8691463" y="6333840"/>
            <a:ext cx="914400" cy="163593"/>
          </a:xfrm>
          <a:prstGeom prst="rect">
            <a:avLst/>
          </a:prstGeom>
          <a:noFill/>
        </p:spPr>
        <p:txBody>
          <a:bodyPr wrap="none" lIns="0" tIns="0" rIns="0" bIns="0" rtlCol="0">
            <a:noAutofit/>
          </a:bodyPr>
          <a:lstStyle/>
          <a:p>
            <a:r>
              <a:rPr lang="en-US" sz="1000" b="1">
                <a:hlinkClick r:id="rId6"/>
              </a:rPr>
              <a:t>https://forms.office.com/Pages/DesignPage.aspx#</a:t>
            </a:r>
            <a:endParaRPr lang="en-US" sz="1000" b="1"/>
          </a:p>
        </p:txBody>
      </p:sp>
    </p:spTree>
    <p:extLst>
      <p:ext uri="{BB962C8B-B14F-4D97-AF65-F5344CB8AC3E}">
        <p14:creationId xmlns:p14="http://schemas.microsoft.com/office/powerpoint/2010/main" val="210404265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err="1"/>
              <a:t>Overview</a:t>
            </a:r>
            <a:r>
              <a:rPr lang="de-DE"/>
              <a:t>: </a:t>
            </a:r>
            <a:r>
              <a:rPr lang="de-DE" err="1"/>
              <a:t>what</a:t>
            </a:r>
            <a:r>
              <a:rPr lang="de-DE"/>
              <a:t> </a:t>
            </a:r>
            <a:r>
              <a:rPr lang="de-DE" err="1"/>
              <a:t>we</a:t>
            </a:r>
            <a:r>
              <a:rPr lang="de-DE"/>
              <a:t> </a:t>
            </a:r>
            <a:r>
              <a:rPr lang="de-DE" err="1"/>
              <a:t>achieved</a:t>
            </a:r>
            <a:r>
              <a:rPr lang="de-DE"/>
              <a:t> so </a:t>
            </a:r>
            <a:r>
              <a:rPr lang="de-DE" err="1"/>
              <a:t>far</a:t>
            </a:r>
            <a:endParaRPr lang="de-DE"/>
          </a:p>
        </p:txBody>
      </p:sp>
      <p:graphicFrame>
        <p:nvGraphicFramePr>
          <p:cNvPr id="8" name="Tabelle 8">
            <a:extLst>
              <a:ext uri="{FF2B5EF4-FFF2-40B4-BE49-F238E27FC236}">
                <a16:creationId xmlns:a16="http://schemas.microsoft.com/office/drawing/2014/main" id="{5F58DBC5-4155-48F7-BDFF-6C068F155D8D}"/>
              </a:ext>
            </a:extLst>
          </p:cNvPr>
          <p:cNvGraphicFramePr>
            <a:graphicFrameLocks noGrp="1"/>
          </p:cNvGraphicFramePr>
          <p:nvPr>
            <p:extLst>
              <p:ext uri="{D42A27DB-BD31-4B8C-83A1-F6EECF244321}">
                <p14:modId xmlns:p14="http://schemas.microsoft.com/office/powerpoint/2010/main" val="531081377"/>
              </p:ext>
            </p:extLst>
          </p:nvPr>
        </p:nvGraphicFramePr>
        <p:xfrm>
          <a:off x="626567" y="1601995"/>
          <a:ext cx="10693188" cy="2839720"/>
        </p:xfrm>
        <a:graphic>
          <a:graphicData uri="http://schemas.openxmlformats.org/drawingml/2006/table">
            <a:tbl>
              <a:tblPr firstRow="1" bandRow="1">
                <a:tableStyleId>{5C22544A-7EE6-4342-B048-85BDC9FD1C3A}</a:tableStyleId>
              </a:tblPr>
              <a:tblGrid>
                <a:gridCol w="1782198">
                  <a:extLst>
                    <a:ext uri="{9D8B030D-6E8A-4147-A177-3AD203B41FA5}">
                      <a16:colId xmlns:a16="http://schemas.microsoft.com/office/drawing/2014/main" val="2087970704"/>
                    </a:ext>
                  </a:extLst>
                </a:gridCol>
                <a:gridCol w="1437070">
                  <a:extLst>
                    <a:ext uri="{9D8B030D-6E8A-4147-A177-3AD203B41FA5}">
                      <a16:colId xmlns:a16="http://schemas.microsoft.com/office/drawing/2014/main" val="1708460055"/>
                    </a:ext>
                  </a:extLst>
                </a:gridCol>
                <a:gridCol w="2127326">
                  <a:extLst>
                    <a:ext uri="{9D8B030D-6E8A-4147-A177-3AD203B41FA5}">
                      <a16:colId xmlns:a16="http://schemas.microsoft.com/office/drawing/2014/main" val="1810983359"/>
                    </a:ext>
                  </a:extLst>
                </a:gridCol>
                <a:gridCol w="1975662">
                  <a:extLst>
                    <a:ext uri="{9D8B030D-6E8A-4147-A177-3AD203B41FA5}">
                      <a16:colId xmlns:a16="http://schemas.microsoft.com/office/drawing/2014/main" val="4033084280"/>
                    </a:ext>
                  </a:extLst>
                </a:gridCol>
                <a:gridCol w="1588734">
                  <a:extLst>
                    <a:ext uri="{9D8B030D-6E8A-4147-A177-3AD203B41FA5}">
                      <a16:colId xmlns:a16="http://schemas.microsoft.com/office/drawing/2014/main" val="4045622136"/>
                    </a:ext>
                  </a:extLst>
                </a:gridCol>
                <a:gridCol w="1782198">
                  <a:extLst>
                    <a:ext uri="{9D8B030D-6E8A-4147-A177-3AD203B41FA5}">
                      <a16:colId xmlns:a16="http://schemas.microsoft.com/office/drawing/2014/main" val="3988611160"/>
                    </a:ext>
                  </a:extLst>
                </a:gridCol>
              </a:tblGrid>
              <a:tr h="370840">
                <a:tc>
                  <a:txBody>
                    <a:bodyPr/>
                    <a:lstStyle/>
                    <a:p>
                      <a:endParaRPr lang="de-DE"/>
                    </a:p>
                  </a:txBody>
                  <a:tcPr/>
                </a:tc>
                <a:tc>
                  <a:txBody>
                    <a:bodyPr/>
                    <a:lstStyle/>
                    <a:p>
                      <a:r>
                        <a:rPr lang="de-DE"/>
                        <a:t>Target </a:t>
                      </a:r>
                      <a:r>
                        <a:rPr lang="de-DE" err="1"/>
                        <a:t>values</a:t>
                      </a:r>
                      <a:endParaRPr lang="de-DE"/>
                    </a:p>
                  </a:txBody>
                  <a:tcPr/>
                </a:tc>
                <a:tc>
                  <a:txBody>
                    <a:bodyPr/>
                    <a:lstStyle/>
                    <a:p>
                      <a:r>
                        <a:rPr lang="de-DE"/>
                        <a:t>Loss </a:t>
                      </a:r>
                      <a:r>
                        <a:rPr lang="de-DE" err="1"/>
                        <a:t>function</a:t>
                      </a:r>
                      <a:endParaRPr lang="de-DE"/>
                    </a:p>
                  </a:txBody>
                  <a:tcPr/>
                </a:tc>
                <a:tc>
                  <a:txBody>
                    <a:bodyPr/>
                    <a:lstStyle/>
                    <a:p>
                      <a:r>
                        <a:rPr lang="de-DE"/>
                        <a:t>Error </a:t>
                      </a:r>
                      <a:r>
                        <a:rPr lang="de-DE" err="1"/>
                        <a:t>metric</a:t>
                      </a:r>
                      <a:endParaRPr lang="de-DE"/>
                    </a:p>
                  </a:txBody>
                  <a:tcPr>
                    <a:lnR w="12700" cap="flat" cmpd="sng" algn="ctr">
                      <a:solidFill>
                        <a:schemeClr val="tx1"/>
                      </a:solidFill>
                      <a:prstDash val="solid"/>
                      <a:round/>
                      <a:headEnd type="none" w="med" len="med"/>
                      <a:tailEnd type="none" w="med" len="med"/>
                    </a:lnR>
                  </a:tcPr>
                </a:tc>
                <a:tc>
                  <a:txBody>
                    <a:bodyPr/>
                    <a:lstStyle/>
                    <a:p>
                      <a:r>
                        <a:rPr lang="de-DE"/>
                        <a:t>Act </a:t>
                      </a:r>
                      <a:r>
                        <a:rPr lang="de-DE" err="1"/>
                        <a:t>function</a:t>
                      </a:r>
                      <a:r>
                        <a:rPr lang="de-DE"/>
                        <a:t> last </a:t>
                      </a:r>
                      <a:r>
                        <a:rPr lang="de-DE" err="1"/>
                        <a:t>layer</a:t>
                      </a:r>
                      <a:endParaRPr lang="de-DE"/>
                    </a:p>
                  </a:txBody>
                  <a:tcPr>
                    <a:lnL w="12700" cap="flat" cmpd="sng" algn="ctr">
                      <a:solidFill>
                        <a:schemeClr val="tx1"/>
                      </a:solidFill>
                      <a:prstDash val="solid"/>
                      <a:round/>
                      <a:headEnd type="none" w="med" len="med"/>
                      <a:tailEnd type="none" w="med" len="med"/>
                    </a:lnL>
                  </a:tcPr>
                </a:tc>
                <a:tc>
                  <a:txBody>
                    <a:bodyPr/>
                    <a:lstStyle/>
                    <a:p>
                      <a:r>
                        <a:rPr lang="de-DE"/>
                        <a:t>Act </a:t>
                      </a:r>
                      <a:r>
                        <a:rPr lang="de-DE" err="1"/>
                        <a:t>func</a:t>
                      </a:r>
                      <a:r>
                        <a:rPr lang="de-DE"/>
                        <a:t> </a:t>
                      </a:r>
                      <a:r>
                        <a:rPr lang="de-DE" err="1"/>
                        <a:t>hidden</a:t>
                      </a:r>
                      <a:r>
                        <a:rPr lang="de-DE"/>
                        <a:t> </a:t>
                      </a:r>
                      <a:r>
                        <a:rPr lang="de-DE" err="1"/>
                        <a:t>layers</a:t>
                      </a:r>
                      <a:endParaRPr lang="de-DE"/>
                    </a:p>
                  </a:txBody>
                  <a:tcPr/>
                </a:tc>
                <a:extLst>
                  <a:ext uri="{0D108BD9-81ED-4DB2-BD59-A6C34878D82A}">
                    <a16:rowId xmlns:a16="http://schemas.microsoft.com/office/drawing/2014/main" val="1837334432"/>
                  </a:ext>
                </a:extLst>
              </a:tr>
              <a:tr h="370840">
                <a:tc>
                  <a:txBody>
                    <a:bodyPr/>
                    <a:lstStyle/>
                    <a:p>
                      <a:r>
                        <a:rPr lang="de-DE"/>
                        <a:t>Regression</a:t>
                      </a:r>
                    </a:p>
                  </a:txBody>
                  <a:tcPr>
                    <a:lnB w="12700" cap="flat" cmpd="sng" algn="ctr">
                      <a:solidFill>
                        <a:schemeClr val="tx1"/>
                      </a:solidFill>
                      <a:prstDash val="solid"/>
                      <a:round/>
                      <a:headEnd type="none" w="med" len="med"/>
                      <a:tailEnd type="none" w="med" len="med"/>
                    </a:lnB>
                  </a:tcPr>
                </a:tc>
                <a:tc>
                  <a:txBody>
                    <a:bodyPr/>
                    <a:lstStyle/>
                    <a:p>
                      <a:r>
                        <a:rPr lang="de-DE" err="1"/>
                        <a:t>Continuous</a:t>
                      </a:r>
                      <a:endParaRPr lang="de-DE"/>
                    </a:p>
                  </a:txBody>
                  <a:tcPr>
                    <a:lnB w="12700" cap="flat" cmpd="sng" algn="ctr">
                      <a:solidFill>
                        <a:schemeClr val="tx1"/>
                      </a:solidFill>
                      <a:prstDash val="solid"/>
                      <a:round/>
                      <a:headEnd type="none" w="med" len="med"/>
                      <a:tailEnd type="none" w="med" len="med"/>
                    </a:lnB>
                  </a:tcPr>
                </a:tc>
                <a:tc>
                  <a:txBody>
                    <a:bodyPr/>
                    <a:lstStyle/>
                    <a:p>
                      <a:r>
                        <a:rPr lang="de-DE"/>
                        <a:t>MSE, R², MAE,…</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MSE, R², MAE,…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de-DE"/>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de-DE"/>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49673"/>
                  </a:ext>
                </a:extLst>
              </a:tr>
              <a:tr h="370840">
                <a:tc>
                  <a:txBody>
                    <a:bodyPr/>
                    <a:lstStyle/>
                    <a:p>
                      <a:r>
                        <a:rPr lang="de-DE"/>
                        <a:t>Classification</a:t>
                      </a:r>
                    </a:p>
                  </a:txBody>
                  <a:tcPr>
                    <a:lnT w="12700" cap="flat" cmpd="sng" algn="ctr">
                      <a:solidFill>
                        <a:schemeClr val="tx1"/>
                      </a:solidFill>
                      <a:prstDash val="solid"/>
                      <a:round/>
                      <a:headEnd type="none" w="med" len="med"/>
                      <a:tailEnd type="none" w="med" len="med"/>
                    </a:lnT>
                  </a:tcPr>
                </a:tc>
                <a:tc>
                  <a:txBody>
                    <a:bodyPr/>
                    <a:lstStyle/>
                    <a:p>
                      <a:r>
                        <a:rPr lang="de-DE"/>
                        <a:t>Binary</a:t>
                      </a:r>
                    </a:p>
                  </a:txBody>
                  <a:tcPr>
                    <a:lnT w="12700" cap="flat" cmpd="sng" algn="ctr">
                      <a:solidFill>
                        <a:schemeClr val="tx1"/>
                      </a:solidFill>
                      <a:prstDash val="solid"/>
                      <a:round/>
                      <a:headEnd type="none" w="med" len="med"/>
                      <a:tailEnd type="none" w="med" len="med"/>
                    </a:lnT>
                  </a:tcPr>
                </a:tc>
                <a:tc>
                  <a:txBody>
                    <a:bodyPr/>
                    <a:lstStyle/>
                    <a:p>
                      <a:r>
                        <a:rPr lang="de-DE"/>
                        <a:t>Binary </a:t>
                      </a:r>
                      <a:r>
                        <a:rPr lang="de-DE" err="1"/>
                        <a:t>cross</a:t>
                      </a:r>
                      <a:r>
                        <a:rPr lang="de-DE"/>
                        <a:t> </a:t>
                      </a:r>
                      <a:r>
                        <a:rPr lang="de-DE" err="1"/>
                        <a:t>entropy</a:t>
                      </a:r>
                      <a:endParaRPr lang="de-DE"/>
                    </a:p>
                  </a:txBody>
                  <a:tcPr>
                    <a:lnT w="12700" cap="flat" cmpd="sng" algn="ctr">
                      <a:solidFill>
                        <a:schemeClr val="tx1"/>
                      </a:solidFill>
                      <a:prstDash val="solid"/>
                      <a:round/>
                      <a:headEnd type="none" w="med" len="med"/>
                      <a:tailEnd type="none" w="med" len="med"/>
                    </a:lnT>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de-DE"/>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de-DE"/>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53496704"/>
                  </a:ext>
                </a:extLst>
              </a:tr>
              <a:tr h="370840">
                <a:tc>
                  <a:txBody>
                    <a:bodyPr/>
                    <a:lstStyle/>
                    <a:p>
                      <a:endParaRPr lang="de-DE"/>
                    </a:p>
                  </a:txBody>
                  <a:tcPr/>
                </a:tc>
                <a:tc>
                  <a:txBody>
                    <a:bodyPr/>
                    <a:lstStyle/>
                    <a:p>
                      <a:r>
                        <a:rPr lang="de-DE"/>
                        <a:t>multiple </a:t>
                      </a:r>
                      <a:r>
                        <a:rPr lang="de-DE" err="1"/>
                        <a:t>classes</a:t>
                      </a:r>
                      <a:endParaRPr lang="de-DE"/>
                    </a:p>
                  </a:txBody>
                  <a:tcPr/>
                </a:tc>
                <a:tc>
                  <a:txBody>
                    <a:bodyPr/>
                    <a:lstStyle/>
                    <a:p>
                      <a:r>
                        <a:rPr lang="de-DE" err="1"/>
                        <a:t>categorical</a:t>
                      </a:r>
                      <a:r>
                        <a:rPr lang="de-DE"/>
                        <a:t> </a:t>
                      </a:r>
                      <a:r>
                        <a:rPr lang="de-DE" err="1"/>
                        <a:t>cross</a:t>
                      </a:r>
                      <a:r>
                        <a:rPr lang="de-DE"/>
                        <a:t> </a:t>
                      </a:r>
                      <a:r>
                        <a:rPr lang="de-DE" err="1"/>
                        <a:t>entropy</a:t>
                      </a:r>
                      <a:endParaRPr lang="de-DE"/>
                    </a:p>
                  </a:txBody>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tcPr>
                </a:tc>
                <a:tc>
                  <a:txBody>
                    <a:bodyPr/>
                    <a:lstStyle/>
                    <a:p>
                      <a:endParaRPr lang="de-DE"/>
                    </a:p>
                  </a:txBody>
                  <a:tcPr>
                    <a:lnL w="12700" cap="flat" cmpd="sng" algn="ctr">
                      <a:solidFill>
                        <a:schemeClr val="tx1"/>
                      </a:solidFill>
                      <a:prstDash val="solid"/>
                      <a:round/>
                      <a:headEnd type="none" w="med" len="med"/>
                      <a:tailEnd type="none" w="med" len="med"/>
                    </a:lnL>
                  </a:tcPr>
                </a:tc>
                <a:tc>
                  <a:txBody>
                    <a:bodyPr/>
                    <a:lstStyle/>
                    <a:p>
                      <a:endParaRPr lang="de-DE"/>
                    </a:p>
                  </a:txBody>
                  <a:tcPr/>
                </a:tc>
                <a:extLst>
                  <a:ext uri="{0D108BD9-81ED-4DB2-BD59-A6C34878D82A}">
                    <a16:rowId xmlns:a16="http://schemas.microsoft.com/office/drawing/2014/main" val="4206115666"/>
                  </a:ext>
                </a:extLst>
              </a:tr>
            </a:tbl>
          </a:graphicData>
        </a:graphic>
      </p:graphicFrame>
      <p:graphicFrame>
        <p:nvGraphicFramePr>
          <p:cNvPr id="10" name="Tabelle 10">
            <a:extLst>
              <a:ext uri="{FF2B5EF4-FFF2-40B4-BE49-F238E27FC236}">
                <a16:creationId xmlns:a16="http://schemas.microsoft.com/office/drawing/2014/main" id="{1D6B67EA-476B-4CCB-B75D-E65AB8EDAFD8}"/>
              </a:ext>
            </a:extLst>
          </p:cNvPr>
          <p:cNvGraphicFramePr>
            <a:graphicFrameLocks noGrp="1"/>
          </p:cNvGraphicFramePr>
          <p:nvPr>
            <p:extLst>
              <p:ext uri="{D42A27DB-BD31-4B8C-83A1-F6EECF244321}">
                <p14:modId xmlns:p14="http://schemas.microsoft.com/office/powerpoint/2010/main" val="1072691920"/>
              </p:ext>
            </p:extLst>
          </p:nvPr>
        </p:nvGraphicFramePr>
        <p:xfrm>
          <a:off x="624909" y="4603711"/>
          <a:ext cx="10693188" cy="1752600"/>
        </p:xfrm>
        <a:graphic>
          <a:graphicData uri="http://schemas.openxmlformats.org/drawingml/2006/table">
            <a:tbl>
              <a:tblPr firstRow="1" bandRow="1">
                <a:tableStyleId>{5C22544A-7EE6-4342-B048-85BDC9FD1C3A}</a:tableStyleId>
              </a:tblPr>
              <a:tblGrid>
                <a:gridCol w="1801858">
                  <a:extLst>
                    <a:ext uri="{9D8B030D-6E8A-4147-A177-3AD203B41FA5}">
                      <a16:colId xmlns:a16="http://schemas.microsoft.com/office/drawing/2014/main" val="2422419246"/>
                    </a:ext>
                  </a:extLst>
                </a:gridCol>
                <a:gridCol w="3564396">
                  <a:extLst>
                    <a:ext uri="{9D8B030D-6E8A-4147-A177-3AD203B41FA5}">
                      <a16:colId xmlns:a16="http://schemas.microsoft.com/office/drawing/2014/main" val="2997731740"/>
                    </a:ext>
                  </a:extLst>
                </a:gridCol>
                <a:gridCol w="5326934">
                  <a:extLst>
                    <a:ext uri="{9D8B030D-6E8A-4147-A177-3AD203B41FA5}">
                      <a16:colId xmlns:a16="http://schemas.microsoft.com/office/drawing/2014/main" val="666087568"/>
                    </a:ext>
                  </a:extLst>
                </a:gridCol>
              </a:tblGrid>
              <a:tr h="370840">
                <a:tc>
                  <a:txBody>
                    <a:bodyPr/>
                    <a:lstStyle/>
                    <a:p>
                      <a:endParaRPr lang="de-DE"/>
                    </a:p>
                  </a:txBody>
                  <a:tcPr/>
                </a:tc>
                <a:tc>
                  <a:txBody>
                    <a:bodyPr/>
                    <a:lstStyle/>
                    <a:p>
                      <a:r>
                        <a:rPr lang="de-DE" err="1"/>
                        <a:t>Decision</a:t>
                      </a:r>
                      <a:r>
                        <a:rPr lang="de-DE"/>
                        <a:t> </a:t>
                      </a:r>
                      <a:r>
                        <a:rPr lang="de-DE" err="1"/>
                        <a:t>Trees</a:t>
                      </a:r>
                      <a:endParaRPr lang="de-DE"/>
                    </a:p>
                  </a:txBody>
                  <a:tcPr/>
                </a:tc>
                <a:tc>
                  <a:txBody>
                    <a:bodyPr/>
                    <a:lstStyle/>
                    <a:p>
                      <a:r>
                        <a:rPr lang="de-DE" err="1"/>
                        <a:t>Artificial</a:t>
                      </a:r>
                      <a:r>
                        <a:rPr lang="de-DE"/>
                        <a:t> </a:t>
                      </a:r>
                      <a:r>
                        <a:rPr lang="de-DE" err="1"/>
                        <a:t>Neural</a:t>
                      </a:r>
                      <a:r>
                        <a:rPr lang="de-DE"/>
                        <a:t> Nets</a:t>
                      </a:r>
                    </a:p>
                  </a:txBody>
                  <a:tcPr/>
                </a:tc>
                <a:extLst>
                  <a:ext uri="{0D108BD9-81ED-4DB2-BD59-A6C34878D82A}">
                    <a16:rowId xmlns:a16="http://schemas.microsoft.com/office/drawing/2014/main" val="2726745514"/>
                  </a:ext>
                </a:extLst>
              </a:tr>
              <a:tr h="370840">
                <a:tc>
                  <a:txBody>
                    <a:bodyPr/>
                    <a:lstStyle/>
                    <a:p>
                      <a:r>
                        <a:rPr lang="de-DE" err="1"/>
                        <a:t>Tabular</a:t>
                      </a:r>
                      <a:r>
                        <a:rPr lang="de-DE"/>
                        <a:t> </a:t>
                      </a:r>
                      <a:r>
                        <a:rPr lang="de-DE" err="1"/>
                        <a:t>data</a:t>
                      </a:r>
                      <a:endParaRPr lang="de-DE"/>
                    </a:p>
                  </a:txBody>
                  <a:tcPr/>
                </a:tc>
                <a:tc>
                  <a:txBody>
                    <a:bodyPr/>
                    <a:lstStyle/>
                    <a:p>
                      <a:endParaRPr lang="de-DE"/>
                    </a:p>
                    <a:p>
                      <a:endParaRPr lang="de-DE"/>
                    </a:p>
                  </a:txBody>
                  <a:tcPr/>
                </a:tc>
                <a:tc>
                  <a:txBody>
                    <a:bodyPr/>
                    <a:lstStyle/>
                    <a:p>
                      <a:endParaRPr lang="de-DE"/>
                    </a:p>
                  </a:txBody>
                  <a:tcPr/>
                </a:tc>
                <a:extLst>
                  <a:ext uri="{0D108BD9-81ED-4DB2-BD59-A6C34878D82A}">
                    <a16:rowId xmlns:a16="http://schemas.microsoft.com/office/drawing/2014/main" val="1605544526"/>
                  </a:ext>
                </a:extLst>
              </a:tr>
              <a:tr h="370840">
                <a:tc>
                  <a:txBody>
                    <a:bodyPr/>
                    <a:lstStyle/>
                    <a:p>
                      <a:r>
                        <a:rPr lang="de-DE"/>
                        <a:t>Text</a:t>
                      </a:r>
                    </a:p>
                  </a:txBody>
                  <a:tcPr/>
                </a:tc>
                <a:tc>
                  <a:txBody>
                    <a:bodyPr/>
                    <a:lstStyle/>
                    <a:p>
                      <a:endParaRPr lang="de-DE"/>
                    </a:p>
                  </a:txBody>
                  <a:tcPr/>
                </a:tc>
                <a:tc>
                  <a:txBody>
                    <a:bodyPr/>
                    <a:lstStyle/>
                    <a:p>
                      <a:endParaRPr lang="de-DE"/>
                    </a:p>
                  </a:txBody>
                  <a:tcPr/>
                </a:tc>
                <a:extLst>
                  <a:ext uri="{0D108BD9-81ED-4DB2-BD59-A6C34878D82A}">
                    <a16:rowId xmlns:a16="http://schemas.microsoft.com/office/drawing/2014/main" val="2472260996"/>
                  </a:ext>
                </a:extLst>
              </a:tr>
              <a:tr h="370840">
                <a:tc>
                  <a:txBody>
                    <a:bodyPr/>
                    <a:lstStyle/>
                    <a:p>
                      <a:r>
                        <a:rPr lang="de-DE"/>
                        <a:t>Images</a:t>
                      </a:r>
                    </a:p>
                  </a:txBody>
                  <a:tcPr/>
                </a:tc>
                <a:tc>
                  <a:txBody>
                    <a:bodyPr/>
                    <a:lstStyle/>
                    <a:p>
                      <a:endParaRPr lang="de-DE"/>
                    </a:p>
                  </a:txBody>
                  <a:tcPr/>
                </a:tc>
                <a:tc>
                  <a:txBody>
                    <a:bodyPr/>
                    <a:lstStyle/>
                    <a:p>
                      <a:endParaRPr lang="de-DE"/>
                    </a:p>
                  </a:txBody>
                  <a:tcPr/>
                </a:tc>
                <a:extLst>
                  <a:ext uri="{0D108BD9-81ED-4DB2-BD59-A6C34878D82A}">
                    <a16:rowId xmlns:a16="http://schemas.microsoft.com/office/drawing/2014/main" val="3245338458"/>
                  </a:ext>
                </a:extLst>
              </a:tr>
            </a:tbl>
          </a:graphicData>
        </a:graphic>
      </p:graphicFrame>
    </p:spTree>
    <p:extLst>
      <p:ext uri="{BB962C8B-B14F-4D97-AF65-F5344CB8AC3E}">
        <p14:creationId xmlns:p14="http://schemas.microsoft.com/office/powerpoint/2010/main" val="20084024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599746" y="3082908"/>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de-DE"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6518907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E48435A-1A5F-4127-96F0-C5144C364EC3}"/>
              </a:ext>
            </a:extLst>
          </p:cNvPr>
          <p:cNvSpPr>
            <a:spLocks noGrp="1"/>
          </p:cNvSpPr>
          <p:nvPr>
            <p:ph type="title"/>
          </p:nvPr>
        </p:nvSpPr>
        <p:spPr/>
        <p:txBody>
          <a:bodyPr/>
          <a:lstStyle/>
          <a:p>
            <a:r>
              <a:rPr lang="en-US"/>
              <a:t>Limitations for generalization of Model (known and unknown data)</a:t>
            </a:r>
            <a:br>
              <a:rPr lang="en-US"/>
            </a:br>
            <a:r>
              <a:rPr lang="en-US"/>
              <a:t>Overview (New Compared to ML1 in Red)</a:t>
            </a:r>
          </a:p>
        </p:txBody>
      </p:sp>
      <p:sp>
        <p:nvSpPr>
          <p:cNvPr id="8" name="Rechteck 7">
            <a:extLst>
              <a:ext uri="{FF2B5EF4-FFF2-40B4-BE49-F238E27FC236}">
                <a16:creationId xmlns:a16="http://schemas.microsoft.com/office/drawing/2014/main" id="{EFB91369-E6A9-400B-97ED-E1398EF03262}"/>
              </a:ext>
            </a:extLst>
          </p:cNvPr>
          <p:cNvSpPr/>
          <p:nvPr/>
        </p:nvSpPr>
        <p:spPr bwMode="auto">
          <a:xfrm>
            <a:off x="627063" y="1895903"/>
            <a:ext cx="827596" cy="3991148"/>
          </a:xfrm>
          <a:prstGeom prst="rect">
            <a:avLst/>
          </a:prstGeom>
          <a:solidFill>
            <a:srgbClr val="00646E"/>
          </a:solidFill>
          <a:ln>
            <a:noFill/>
          </a:ln>
          <a:effectLst/>
        </p:spPr>
        <p:txBody>
          <a:bodyPr vert="vert270"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FFFFFF"/>
                </a:solidFill>
                <a:effectLst/>
                <a:uLnTx/>
                <a:uFillTx/>
                <a:latin typeface="Arial"/>
                <a:ea typeface="Arial Unicode MS" panose="020B0604020202020204" pitchFamily="34" charset="-128"/>
                <a:cs typeface="Arial Unicode MS" panose="020B0604020202020204" pitchFamily="34" charset="-128"/>
              </a:rPr>
              <a:t>Model Error</a:t>
            </a:r>
          </a:p>
        </p:txBody>
      </p:sp>
      <p:sp>
        <p:nvSpPr>
          <p:cNvPr id="25" name="Rechteck 24">
            <a:extLst>
              <a:ext uri="{FF2B5EF4-FFF2-40B4-BE49-F238E27FC236}">
                <a16:creationId xmlns:a16="http://schemas.microsoft.com/office/drawing/2014/main" id="{19875219-2DA8-4D4B-ACDD-CF4DB4033C4E}"/>
              </a:ext>
            </a:extLst>
          </p:cNvPr>
          <p:cNvSpPr/>
          <p:nvPr/>
        </p:nvSpPr>
        <p:spPr bwMode="auto">
          <a:xfrm>
            <a:off x="1692878" y="1917328"/>
            <a:ext cx="1597985" cy="1215848"/>
          </a:xfrm>
          <a:prstGeom prst="rect">
            <a:avLst/>
          </a:prstGeom>
          <a:solidFill>
            <a:srgbClr val="00646E"/>
          </a:solid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FFFFFF"/>
                </a:solidFill>
                <a:effectLst/>
                <a:uLnTx/>
                <a:uFillTx/>
                <a:latin typeface="Arial"/>
                <a:ea typeface="Arial Unicode MS" panose="020B0604020202020204" pitchFamily="34" charset="-128"/>
                <a:cs typeface="Arial Unicode MS" panose="020B0604020202020204" pitchFamily="34" charset="-128"/>
              </a:rPr>
              <a:t>Bias Error/ Underfitting</a:t>
            </a:r>
          </a:p>
        </p:txBody>
      </p:sp>
      <p:sp>
        <p:nvSpPr>
          <p:cNvPr id="26" name="Rechteck 25">
            <a:extLst>
              <a:ext uri="{FF2B5EF4-FFF2-40B4-BE49-F238E27FC236}">
                <a16:creationId xmlns:a16="http://schemas.microsoft.com/office/drawing/2014/main" id="{468D53F2-291E-4FBC-8389-A92FE8ED5A79}"/>
              </a:ext>
            </a:extLst>
          </p:cNvPr>
          <p:cNvSpPr/>
          <p:nvPr/>
        </p:nvSpPr>
        <p:spPr bwMode="auto">
          <a:xfrm>
            <a:off x="1692878" y="3337780"/>
            <a:ext cx="1597985" cy="1079625"/>
          </a:xfrm>
          <a:prstGeom prst="rect">
            <a:avLst/>
          </a:prstGeom>
          <a:solidFill>
            <a:srgbClr val="00646E"/>
          </a:solid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FFFFFF"/>
                </a:solidFill>
                <a:effectLst/>
                <a:uLnTx/>
                <a:uFillTx/>
                <a:latin typeface="Arial"/>
                <a:ea typeface="Arial Unicode MS" panose="020B0604020202020204" pitchFamily="34" charset="-128"/>
                <a:cs typeface="Arial Unicode MS" panose="020B0604020202020204" pitchFamily="34" charset="-128"/>
              </a:rPr>
              <a:t>Variance Error/ Overfitting</a:t>
            </a:r>
          </a:p>
        </p:txBody>
      </p:sp>
      <p:sp>
        <p:nvSpPr>
          <p:cNvPr id="27" name="Rechteck 26">
            <a:extLst>
              <a:ext uri="{FF2B5EF4-FFF2-40B4-BE49-F238E27FC236}">
                <a16:creationId xmlns:a16="http://schemas.microsoft.com/office/drawing/2014/main" id="{62B95CDE-8614-44B3-B482-C3C2761CD09D}"/>
              </a:ext>
            </a:extLst>
          </p:cNvPr>
          <p:cNvSpPr/>
          <p:nvPr/>
        </p:nvSpPr>
        <p:spPr bwMode="auto">
          <a:xfrm>
            <a:off x="1692878" y="4719390"/>
            <a:ext cx="1597985" cy="1182836"/>
          </a:xfrm>
          <a:prstGeom prst="rect">
            <a:avLst/>
          </a:prstGeom>
          <a:solidFill>
            <a:srgbClr val="00646E"/>
          </a:solid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FFFFFF"/>
                </a:solidFill>
                <a:effectLst/>
                <a:uLnTx/>
                <a:uFillTx/>
                <a:latin typeface="Arial"/>
                <a:ea typeface="Arial Unicode MS" panose="020B0604020202020204" pitchFamily="34" charset="-128"/>
                <a:cs typeface="Arial Unicode MS" panose="020B0604020202020204" pitchFamily="34" charset="-128"/>
              </a:rPr>
              <a:t>Irreducible Error</a:t>
            </a:r>
          </a:p>
        </p:txBody>
      </p:sp>
      <p:sp>
        <p:nvSpPr>
          <p:cNvPr id="28" name="Rechteck 27">
            <a:extLst>
              <a:ext uri="{FF2B5EF4-FFF2-40B4-BE49-F238E27FC236}">
                <a16:creationId xmlns:a16="http://schemas.microsoft.com/office/drawing/2014/main" id="{65A56EA7-59D4-4ABD-87C2-603940C568E9}"/>
              </a:ext>
            </a:extLst>
          </p:cNvPr>
          <p:cNvSpPr/>
          <p:nvPr/>
        </p:nvSpPr>
        <p:spPr bwMode="auto">
          <a:xfrm>
            <a:off x="1692877" y="1304863"/>
            <a:ext cx="1597985"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Error Type</a:t>
            </a:r>
          </a:p>
        </p:txBody>
      </p:sp>
      <p:sp>
        <p:nvSpPr>
          <p:cNvPr id="41" name="Rechteck 40">
            <a:extLst>
              <a:ext uri="{FF2B5EF4-FFF2-40B4-BE49-F238E27FC236}">
                <a16:creationId xmlns:a16="http://schemas.microsoft.com/office/drawing/2014/main" id="{2B7819F7-7B44-4223-811B-49ABC581A4F7}"/>
              </a:ext>
            </a:extLst>
          </p:cNvPr>
          <p:cNvSpPr/>
          <p:nvPr/>
        </p:nvSpPr>
        <p:spPr bwMode="auto">
          <a:xfrm>
            <a:off x="3470884" y="1912949"/>
            <a:ext cx="1404155" cy="1215848"/>
          </a:xfrm>
          <a:prstGeom prst="rect">
            <a:avLst/>
          </a:prstGeom>
          <a:noFill/>
          <a:ln>
            <a:solidFill>
              <a:srgbClr val="00646E"/>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Model is too simple</a:t>
            </a:r>
          </a:p>
        </p:txBody>
      </p:sp>
      <p:sp>
        <p:nvSpPr>
          <p:cNvPr id="42" name="Rechteck 41">
            <a:extLst>
              <a:ext uri="{FF2B5EF4-FFF2-40B4-BE49-F238E27FC236}">
                <a16:creationId xmlns:a16="http://schemas.microsoft.com/office/drawing/2014/main" id="{948257A2-467B-4B82-8D12-435A4FE55DA7}"/>
              </a:ext>
            </a:extLst>
          </p:cNvPr>
          <p:cNvSpPr/>
          <p:nvPr/>
        </p:nvSpPr>
        <p:spPr bwMode="auto">
          <a:xfrm>
            <a:off x="3470884" y="3333401"/>
            <a:ext cx="1404155" cy="1079625"/>
          </a:xfrm>
          <a:prstGeom prst="rect">
            <a:avLst/>
          </a:prstGeom>
          <a:noFill/>
          <a:ln>
            <a:solidFill>
              <a:srgbClr val="00646E"/>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Modell is too complex</a:t>
            </a:r>
          </a:p>
        </p:txBody>
      </p:sp>
      <p:sp>
        <p:nvSpPr>
          <p:cNvPr id="43" name="Rechteck 42">
            <a:extLst>
              <a:ext uri="{FF2B5EF4-FFF2-40B4-BE49-F238E27FC236}">
                <a16:creationId xmlns:a16="http://schemas.microsoft.com/office/drawing/2014/main" id="{6D1CDD9A-6CF7-49E4-AD8E-8F16E0D65826}"/>
              </a:ext>
            </a:extLst>
          </p:cNvPr>
          <p:cNvSpPr/>
          <p:nvPr/>
        </p:nvSpPr>
        <p:spPr bwMode="auto">
          <a:xfrm>
            <a:off x="3470884" y="4715011"/>
            <a:ext cx="1404155" cy="1182836"/>
          </a:xfrm>
          <a:prstGeom prst="rect">
            <a:avLst/>
          </a:prstGeom>
          <a:noFill/>
          <a:ln>
            <a:solidFill>
              <a:srgbClr val="00646E"/>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Data are not sufficient/ Noise</a:t>
            </a:r>
          </a:p>
        </p:txBody>
      </p:sp>
      <p:sp>
        <p:nvSpPr>
          <p:cNvPr id="44" name="Rechteck 43">
            <a:extLst>
              <a:ext uri="{FF2B5EF4-FFF2-40B4-BE49-F238E27FC236}">
                <a16:creationId xmlns:a16="http://schemas.microsoft.com/office/drawing/2014/main" id="{8B3B7685-938F-4A4C-83EC-B86D160512D9}"/>
              </a:ext>
            </a:extLst>
          </p:cNvPr>
          <p:cNvSpPr/>
          <p:nvPr/>
        </p:nvSpPr>
        <p:spPr bwMode="auto">
          <a:xfrm>
            <a:off x="3470883" y="1300484"/>
            <a:ext cx="1404155"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Summary</a:t>
            </a:r>
          </a:p>
        </p:txBody>
      </p:sp>
      <p:sp>
        <p:nvSpPr>
          <p:cNvPr id="49" name="Rechteck 48">
            <a:extLst>
              <a:ext uri="{FF2B5EF4-FFF2-40B4-BE49-F238E27FC236}">
                <a16:creationId xmlns:a16="http://schemas.microsoft.com/office/drawing/2014/main" id="{731957D3-6A64-4B95-995B-89CC0A1D3DB4}"/>
              </a:ext>
            </a:extLst>
          </p:cNvPr>
          <p:cNvSpPr/>
          <p:nvPr/>
        </p:nvSpPr>
        <p:spPr bwMode="auto">
          <a:xfrm>
            <a:off x="7646980" y="1904191"/>
            <a:ext cx="2052183" cy="1215848"/>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High forecasting error both in known and unknown data</a:t>
            </a:r>
          </a:p>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Model doesn’t vary much when adding new data points</a:t>
            </a:r>
          </a:p>
        </p:txBody>
      </p:sp>
      <p:sp>
        <p:nvSpPr>
          <p:cNvPr id="50" name="Rechteck 49">
            <a:extLst>
              <a:ext uri="{FF2B5EF4-FFF2-40B4-BE49-F238E27FC236}">
                <a16:creationId xmlns:a16="http://schemas.microsoft.com/office/drawing/2014/main" id="{AA5E8329-57FE-4A6D-B51A-E1FD3898C802}"/>
              </a:ext>
            </a:extLst>
          </p:cNvPr>
          <p:cNvSpPr/>
          <p:nvPr/>
        </p:nvSpPr>
        <p:spPr bwMode="auto">
          <a:xfrm>
            <a:off x="7646981" y="3324643"/>
            <a:ext cx="2052182" cy="1079625"/>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High forecasting error in </a:t>
            </a:r>
            <a:r>
              <a:rPr lang="en-US" sz="1200">
                <a:solidFill>
                  <a:srgbClr val="000000"/>
                </a:solidFill>
                <a:ea typeface="Arial Unicode MS" panose="020B0604020202020204" pitchFamily="34" charset="-128"/>
              </a:rPr>
              <a:t>unknown</a:t>
            </a: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 data, not in </a:t>
            </a:r>
            <a:r>
              <a:rPr lang="en-US" sz="1200">
                <a:solidFill>
                  <a:srgbClr val="000000"/>
                </a:solidFill>
                <a:ea typeface="Arial Unicode MS" panose="020B0604020202020204" pitchFamily="34" charset="-128"/>
              </a:rPr>
              <a:t>known</a:t>
            </a: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 data</a:t>
            </a:r>
          </a:p>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Model varies a lot when adding new data points</a:t>
            </a:r>
          </a:p>
        </p:txBody>
      </p:sp>
      <p:sp>
        <p:nvSpPr>
          <p:cNvPr id="51" name="Rechteck 50">
            <a:extLst>
              <a:ext uri="{FF2B5EF4-FFF2-40B4-BE49-F238E27FC236}">
                <a16:creationId xmlns:a16="http://schemas.microsoft.com/office/drawing/2014/main" id="{B81856B6-12DA-4628-AF85-E35B4DDCD81F}"/>
              </a:ext>
            </a:extLst>
          </p:cNvPr>
          <p:cNvSpPr/>
          <p:nvPr/>
        </p:nvSpPr>
        <p:spPr bwMode="auto">
          <a:xfrm>
            <a:off x="7646981" y="4706253"/>
            <a:ext cx="2052182" cy="1182836"/>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Model varies not a lot when adding new data points</a:t>
            </a:r>
          </a:p>
        </p:txBody>
      </p:sp>
      <p:sp>
        <p:nvSpPr>
          <p:cNvPr id="52" name="Rechteck 51">
            <a:extLst>
              <a:ext uri="{FF2B5EF4-FFF2-40B4-BE49-F238E27FC236}">
                <a16:creationId xmlns:a16="http://schemas.microsoft.com/office/drawing/2014/main" id="{971C2B99-5F73-4050-8E95-D95F32FDE2D7}"/>
              </a:ext>
            </a:extLst>
          </p:cNvPr>
          <p:cNvSpPr/>
          <p:nvPr/>
        </p:nvSpPr>
        <p:spPr bwMode="auto">
          <a:xfrm>
            <a:off x="7646981" y="1291726"/>
            <a:ext cx="2052181"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Consequences</a:t>
            </a:r>
          </a:p>
        </p:txBody>
      </p:sp>
      <p:sp>
        <p:nvSpPr>
          <p:cNvPr id="53" name="Rechteck 52">
            <a:extLst>
              <a:ext uri="{FF2B5EF4-FFF2-40B4-BE49-F238E27FC236}">
                <a16:creationId xmlns:a16="http://schemas.microsoft.com/office/drawing/2014/main" id="{324FFF47-F275-4F6B-98EA-4EFA15A66DF3}"/>
              </a:ext>
            </a:extLst>
          </p:cNvPr>
          <p:cNvSpPr/>
          <p:nvPr/>
        </p:nvSpPr>
        <p:spPr bwMode="auto">
          <a:xfrm>
            <a:off x="5055059" y="1902154"/>
            <a:ext cx="2376221" cy="1215848"/>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The (unknown) true target function is more complex than the model.</a:t>
            </a:r>
          </a:p>
        </p:txBody>
      </p:sp>
      <p:sp>
        <p:nvSpPr>
          <p:cNvPr id="54" name="Rechteck 53">
            <a:extLst>
              <a:ext uri="{FF2B5EF4-FFF2-40B4-BE49-F238E27FC236}">
                <a16:creationId xmlns:a16="http://schemas.microsoft.com/office/drawing/2014/main" id="{AB7B7A2C-351B-4F20-B0C4-B6E404711E17}"/>
              </a:ext>
            </a:extLst>
          </p:cNvPr>
          <p:cNvSpPr/>
          <p:nvPr/>
        </p:nvSpPr>
        <p:spPr bwMode="auto">
          <a:xfrm>
            <a:off x="5055060" y="3322606"/>
            <a:ext cx="2376220" cy="1079625"/>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The true target function is simpler than the model. Common reason: </a:t>
            </a: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model tries to overcome irreducible error/ noise.</a:t>
            </a:r>
          </a:p>
        </p:txBody>
      </p:sp>
      <p:sp>
        <p:nvSpPr>
          <p:cNvPr id="55" name="Rechteck 54">
            <a:extLst>
              <a:ext uri="{FF2B5EF4-FFF2-40B4-BE49-F238E27FC236}">
                <a16:creationId xmlns:a16="http://schemas.microsoft.com/office/drawing/2014/main" id="{F744BAC1-47D3-4EB0-A139-9CE4B69311A7}"/>
              </a:ext>
            </a:extLst>
          </p:cNvPr>
          <p:cNvSpPr/>
          <p:nvPr/>
        </p:nvSpPr>
        <p:spPr bwMode="auto">
          <a:xfrm>
            <a:off x="5055060" y="4704216"/>
            <a:ext cx="2376220" cy="1182836"/>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Factors which were not measured have an impact: </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not measured input variables</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environmental factors</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measurement errors</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sampling bias, …</a:t>
            </a:r>
          </a:p>
        </p:txBody>
      </p:sp>
      <p:sp>
        <p:nvSpPr>
          <p:cNvPr id="56" name="Rechteck 55">
            <a:extLst>
              <a:ext uri="{FF2B5EF4-FFF2-40B4-BE49-F238E27FC236}">
                <a16:creationId xmlns:a16="http://schemas.microsoft.com/office/drawing/2014/main" id="{9E2C62A1-4155-44C1-A33B-139E2B24C7B6}"/>
              </a:ext>
            </a:extLst>
          </p:cNvPr>
          <p:cNvSpPr/>
          <p:nvPr/>
        </p:nvSpPr>
        <p:spPr bwMode="auto">
          <a:xfrm>
            <a:off x="5055060" y="1289689"/>
            <a:ext cx="2376219"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Details</a:t>
            </a:r>
          </a:p>
        </p:txBody>
      </p:sp>
      <p:sp>
        <p:nvSpPr>
          <p:cNvPr id="62" name="Rechteck 61">
            <a:extLst>
              <a:ext uri="{FF2B5EF4-FFF2-40B4-BE49-F238E27FC236}">
                <a16:creationId xmlns:a16="http://schemas.microsoft.com/office/drawing/2014/main" id="{AC0D6E07-FFB6-4E75-9E73-4A9C364CC986}"/>
              </a:ext>
            </a:extLst>
          </p:cNvPr>
          <p:cNvSpPr/>
          <p:nvPr/>
        </p:nvSpPr>
        <p:spPr bwMode="auto">
          <a:xfrm>
            <a:off x="10045806" y="1904191"/>
            <a:ext cx="1922021" cy="1215848"/>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Review with domain experts</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Analyze residuals</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Increase complexity</a:t>
            </a:r>
          </a:p>
        </p:txBody>
      </p:sp>
      <p:sp>
        <p:nvSpPr>
          <p:cNvPr id="63" name="Rechteck 62">
            <a:extLst>
              <a:ext uri="{FF2B5EF4-FFF2-40B4-BE49-F238E27FC236}">
                <a16:creationId xmlns:a16="http://schemas.microsoft.com/office/drawing/2014/main" id="{1204E057-584E-4D15-931D-F2456C7AF68E}"/>
              </a:ext>
            </a:extLst>
          </p:cNvPr>
          <p:cNvSpPr/>
          <p:nvPr/>
        </p:nvSpPr>
        <p:spPr bwMode="auto">
          <a:xfrm>
            <a:off x="10045807" y="3324643"/>
            <a:ext cx="1922020" cy="1079625"/>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Review with domain experts</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Split data in training and test data</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FF0000"/>
                </a:solidFill>
                <a:effectLst/>
                <a:uLnTx/>
                <a:uFillTx/>
                <a:latin typeface="Arial" pitchFamily="34" charset="0"/>
                <a:ea typeface="Arial Unicode MS" panose="020B0604020202020204" pitchFamily="34" charset="-128"/>
                <a:cs typeface="+mn-cs"/>
              </a:rPr>
              <a:t>k-fold cross validation</a:t>
            </a:r>
          </a:p>
        </p:txBody>
      </p:sp>
      <p:sp>
        <p:nvSpPr>
          <p:cNvPr id="64" name="Rechteck 63">
            <a:extLst>
              <a:ext uri="{FF2B5EF4-FFF2-40B4-BE49-F238E27FC236}">
                <a16:creationId xmlns:a16="http://schemas.microsoft.com/office/drawing/2014/main" id="{278AE140-DB52-4A38-9E72-C63FB23D3530}"/>
              </a:ext>
            </a:extLst>
          </p:cNvPr>
          <p:cNvSpPr/>
          <p:nvPr/>
        </p:nvSpPr>
        <p:spPr bwMode="auto">
          <a:xfrm>
            <a:off x="10045807" y="4706253"/>
            <a:ext cx="1922020" cy="1182836"/>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Can not be reduced by change of algorithm!</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Review with domain experts</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Collect better data</a:t>
            </a:r>
          </a:p>
        </p:txBody>
      </p:sp>
      <p:sp>
        <p:nvSpPr>
          <p:cNvPr id="65" name="Rechteck 64">
            <a:extLst>
              <a:ext uri="{FF2B5EF4-FFF2-40B4-BE49-F238E27FC236}">
                <a16:creationId xmlns:a16="http://schemas.microsoft.com/office/drawing/2014/main" id="{0C4BCCBA-99E1-405F-8F07-72046965566A}"/>
              </a:ext>
            </a:extLst>
          </p:cNvPr>
          <p:cNvSpPr/>
          <p:nvPr/>
        </p:nvSpPr>
        <p:spPr bwMode="auto">
          <a:xfrm>
            <a:off x="10045807" y="1291726"/>
            <a:ext cx="1922019"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How to prevent it</a:t>
            </a:r>
          </a:p>
        </p:txBody>
      </p:sp>
      <p:sp>
        <p:nvSpPr>
          <p:cNvPr id="70" name="Rechteck 69">
            <a:extLst>
              <a:ext uri="{FF2B5EF4-FFF2-40B4-BE49-F238E27FC236}">
                <a16:creationId xmlns:a16="http://schemas.microsoft.com/office/drawing/2014/main" id="{FEA1E5FB-DC82-490F-AD02-A5E6C3997DB1}"/>
              </a:ext>
            </a:extLst>
          </p:cNvPr>
          <p:cNvSpPr/>
          <p:nvPr/>
        </p:nvSpPr>
        <p:spPr>
          <a:xfrm>
            <a:off x="627064" y="5975992"/>
            <a:ext cx="11340763" cy="369332"/>
          </a:xfrm>
          <a:prstGeom prst="rect">
            <a:avLst/>
          </a:prstGeom>
          <a:ln w="28575">
            <a:solidFill>
              <a:srgbClr val="00646E"/>
            </a:solid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Any built model build is an approximation of a true target function and therefore includes errors.</a:t>
            </a:r>
          </a:p>
        </p:txBody>
      </p:sp>
      <p:sp>
        <p:nvSpPr>
          <p:cNvPr id="2" name="Rechteck 1">
            <a:extLst>
              <a:ext uri="{FF2B5EF4-FFF2-40B4-BE49-F238E27FC236}">
                <a16:creationId xmlns:a16="http://schemas.microsoft.com/office/drawing/2014/main" id="{4A2B2D0F-FFE5-4AAA-AEBC-997F11776D09}"/>
              </a:ext>
            </a:extLst>
          </p:cNvPr>
          <p:cNvSpPr/>
          <p:nvPr/>
        </p:nvSpPr>
        <p:spPr bwMode="auto">
          <a:xfrm>
            <a:off x="1562671" y="4581128"/>
            <a:ext cx="10513168" cy="1379690"/>
          </a:xfrm>
          <a:prstGeom prst="rect">
            <a:avLst/>
          </a:prstGeom>
          <a:ln w="28575">
            <a:solidFill>
              <a:srgbClr val="FF0000"/>
            </a:solidFill>
          </a:ln>
        </p:spPr>
        <p:txBody>
          <a:bodyPr wrap="square">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
        <p:nvSpPr>
          <p:cNvPr id="29" name="Rechteck 28">
            <a:extLst>
              <a:ext uri="{FF2B5EF4-FFF2-40B4-BE49-F238E27FC236}">
                <a16:creationId xmlns:a16="http://schemas.microsoft.com/office/drawing/2014/main" id="{BFA85BEB-49A7-42A0-8983-ABC61C17CBD4}"/>
              </a:ext>
            </a:extLst>
          </p:cNvPr>
          <p:cNvSpPr/>
          <p:nvPr/>
        </p:nvSpPr>
        <p:spPr bwMode="auto">
          <a:xfrm>
            <a:off x="7539378" y="1268760"/>
            <a:ext cx="2376221" cy="4808355"/>
          </a:xfrm>
          <a:prstGeom prst="rect">
            <a:avLst/>
          </a:prstGeom>
          <a:ln w="28575">
            <a:solidFill>
              <a:srgbClr val="FF0000"/>
            </a:solidFill>
          </a:ln>
        </p:spPr>
        <p:txBody>
          <a:bodyPr wrap="square">
            <a:no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Arial" pitchFamily="34" charset="0"/>
              <a:ea typeface="ＭＳ Ｐゴシック" charset="-128"/>
              <a:cs typeface="+mn-cs"/>
            </a:endParaRPr>
          </a:p>
        </p:txBody>
      </p:sp>
    </p:spTree>
    <p:extLst>
      <p:ext uri="{BB962C8B-B14F-4D97-AF65-F5344CB8AC3E}">
        <p14:creationId xmlns:p14="http://schemas.microsoft.com/office/powerpoint/2010/main" val="1070769265"/>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B9A852BF-C691-4765-8E42-EE513C3CE421}"/>
              </a:ext>
            </a:extLst>
          </p:cNvPr>
          <p:cNvSpPr>
            <a:spLocks noGrp="1"/>
          </p:cNvSpPr>
          <p:nvPr>
            <p:ph type="title"/>
          </p:nvPr>
        </p:nvSpPr>
        <p:spPr/>
        <p:txBody>
          <a:bodyPr/>
          <a:lstStyle/>
          <a:p>
            <a:r>
              <a:rPr lang="en-US" spc="-1">
                <a:latin typeface="Arial"/>
              </a:rPr>
              <a:t>Bias-Variance Trade-Off</a:t>
            </a:r>
            <a:endParaRPr lang="en-US"/>
          </a:p>
        </p:txBody>
      </p:sp>
      <p:pic>
        <p:nvPicPr>
          <p:cNvPr id="4" name="Grafik 3">
            <a:extLst>
              <a:ext uri="{FF2B5EF4-FFF2-40B4-BE49-F238E27FC236}">
                <a16:creationId xmlns:a16="http://schemas.microsoft.com/office/drawing/2014/main" id="{85578E09-7816-4511-AEF7-D916201083DC}"/>
              </a:ext>
            </a:extLst>
          </p:cNvPr>
          <p:cNvPicPr/>
          <p:nvPr/>
        </p:nvPicPr>
        <p:blipFill>
          <a:blip r:embed="rId3"/>
          <a:stretch/>
        </p:blipFill>
        <p:spPr>
          <a:xfrm>
            <a:off x="2498775" y="1016732"/>
            <a:ext cx="5847840" cy="4343040"/>
          </a:xfrm>
          <a:prstGeom prst="rect">
            <a:avLst/>
          </a:prstGeom>
          <a:ln>
            <a:noFill/>
          </a:ln>
        </p:spPr>
      </p:pic>
      <p:sp>
        <p:nvSpPr>
          <p:cNvPr id="5" name="Rechteck 4">
            <a:extLst>
              <a:ext uri="{FF2B5EF4-FFF2-40B4-BE49-F238E27FC236}">
                <a16:creationId xmlns:a16="http://schemas.microsoft.com/office/drawing/2014/main" id="{7289ECAF-5FBF-404D-8917-F9DF16F4841D}"/>
              </a:ext>
            </a:extLst>
          </p:cNvPr>
          <p:cNvSpPr/>
          <p:nvPr/>
        </p:nvSpPr>
        <p:spPr>
          <a:xfrm>
            <a:off x="636916" y="5796518"/>
            <a:ext cx="11088687" cy="369332"/>
          </a:xfrm>
          <a:prstGeom prst="rect">
            <a:avLst/>
          </a:prstGeom>
          <a:ln w="28575">
            <a:solidFill>
              <a:srgbClr val="00646E"/>
            </a:solid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Occam‘s razor: The simplest model/most intuitive method is preferable</a:t>
            </a:r>
          </a:p>
        </p:txBody>
      </p:sp>
    </p:spTree>
    <p:extLst>
      <p:ext uri="{BB962C8B-B14F-4D97-AF65-F5344CB8AC3E}">
        <p14:creationId xmlns:p14="http://schemas.microsoft.com/office/powerpoint/2010/main" val="389657609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a:xfrm>
            <a:off x="0" y="-1"/>
            <a:ext cx="12198350" cy="1440000"/>
          </a:xfrm>
        </p:spPr>
        <p:txBody>
          <a:bodyPr/>
          <a:lstStyle/>
          <a:p>
            <a:r>
              <a:rPr lang="en-US"/>
              <a:t>Model Selection: Under- and Overfitting for Numerical and Categorical Target Variables</a:t>
            </a:r>
            <a:br>
              <a:rPr lang="en-US"/>
            </a:br>
            <a:endParaRPr lang="en-US"/>
          </a:p>
        </p:txBody>
      </p:sp>
      <p:sp>
        <p:nvSpPr>
          <p:cNvPr id="5" name="Rechteck 4">
            <a:extLst>
              <a:ext uri="{FF2B5EF4-FFF2-40B4-BE49-F238E27FC236}">
                <a16:creationId xmlns:a16="http://schemas.microsoft.com/office/drawing/2014/main" id="{C3AA3899-F133-4629-A534-90EF30834348}"/>
              </a:ext>
            </a:extLst>
          </p:cNvPr>
          <p:cNvSpPr/>
          <p:nvPr/>
        </p:nvSpPr>
        <p:spPr bwMode="auto">
          <a:xfrm>
            <a:off x="10095619" y="1889963"/>
            <a:ext cx="1620131" cy="521762"/>
          </a:xfrm>
          <a:prstGeom prst="rect">
            <a:avLst/>
          </a:prstGeom>
          <a:noFill/>
          <a:ln w="28575">
            <a:solidFill>
              <a:srgbClr val="99FF33"/>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4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True, unknown target function</a:t>
            </a:r>
          </a:p>
        </p:txBody>
      </p:sp>
      <p:sp>
        <p:nvSpPr>
          <p:cNvPr id="8" name="Rechteck 7">
            <a:extLst>
              <a:ext uri="{FF2B5EF4-FFF2-40B4-BE49-F238E27FC236}">
                <a16:creationId xmlns:a16="http://schemas.microsoft.com/office/drawing/2014/main" id="{0BE1CB38-268C-4C28-BF33-47B3EC03BAFB}"/>
              </a:ext>
            </a:extLst>
          </p:cNvPr>
          <p:cNvSpPr/>
          <p:nvPr/>
        </p:nvSpPr>
        <p:spPr bwMode="auto">
          <a:xfrm>
            <a:off x="10095619" y="2492896"/>
            <a:ext cx="1620131" cy="521762"/>
          </a:xfrm>
          <a:prstGeom prst="rect">
            <a:avLst/>
          </a:prstGeom>
          <a:noFill/>
          <a:ln w="38100">
            <a:solidFill>
              <a:srgbClr val="C0000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4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Model target function</a:t>
            </a:r>
          </a:p>
        </p:txBody>
      </p:sp>
      <p:cxnSp>
        <p:nvCxnSpPr>
          <p:cNvPr id="4" name="Gerader Verbinder 3">
            <a:extLst>
              <a:ext uri="{FF2B5EF4-FFF2-40B4-BE49-F238E27FC236}">
                <a16:creationId xmlns:a16="http://schemas.microsoft.com/office/drawing/2014/main" id="{F29AEA33-A0F0-4B73-BD19-089A3961A6EB}"/>
              </a:ext>
            </a:extLst>
          </p:cNvPr>
          <p:cNvCxnSpPr/>
          <p:nvPr/>
        </p:nvCxnSpPr>
        <p:spPr bwMode="auto">
          <a:xfrm>
            <a:off x="9483551" y="2168860"/>
            <a:ext cx="468052" cy="0"/>
          </a:xfrm>
          <a:prstGeom prst="line">
            <a:avLst/>
          </a:prstGeom>
          <a:solidFill>
            <a:schemeClr val="tx2"/>
          </a:solidFill>
          <a:ln w="9525" cap="flat" cmpd="sng" algn="ctr">
            <a:solidFill>
              <a:srgbClr val="99FF33"/>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6" name="Gerader Verbinder 5">
            <a:extLst>
              <a:ext uri="{FF2B5EF4-FFF2-40B4-BE49-F238E27FC236}">
                <a16:creationId xmlns:a16="http://schemas.microsoft.com/office/drawing/2014/main" id="{51D9A86C-59CC-484C-84CF-06BD2FE8D7C9}"/>
              </a:ext>
            </a:extLst>
          </p:cNvPr>
          <p:cNvCxnSpPr/>
          <p:nvPr/>
        </p:nvCxnSpPr>
        <p:spPr bwMode="auto">
          <a:xfrm>
            <a:off x="9483551" y="2744924"/>
            <a:ext cx="504056" cy="0"/>
          </a:xfrm>
          <a:prstGeom prst="line">
            <a:avLst/>
          </a:prstGeom>
          <a:solidFill>
            <a:schemeClr val="tx2"/>
          </a:solidFill>
          <a:ln w="9525" cap="flat" cmpd="sng" algn="ctr">
            <a:solidFill>
              <a:srgbClr val="C0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nvGrpSpPr>
          <p:cNvPr id="18" name="Gruppieren 17">
            <a:extLst>
              <a:ext uri="{FF2B5EF4-FFF2-40B4-BE49-F238E27FC236}">
                <a16:creationId xmlns:a16="http://schemas.microsoft.com/office/drawing/2014/main" id="{D0F13862-58C8-4476-BA32-29E1568FB4C6}"/>
              </a:ext>
            </a:extLst>
          </p:cNvPr>
          <p:cNvGrpSpPr/>
          <p:nvPr/>
        </p:nvGrpSpPr>
        <p:grpSpPr>
          <a:xfrm>
            <a:off x="698574" y="1572824"/>
            <a:ext cx="8583339" cy="3853909"/>
            <a:chOff x="698575" y="1572824"/>
            <a:chExt cx="7740860" cy="3853909"/>
          </a:xfrm>
        </p:grpSpPr>
        <p:pic>
          <p:nvPicPr>
            <p:cNvPr id="10" name="Picture 2" descr="Bildergebnis fÃ¼r overfitting">
              <a:extLst>
                <a:ext uri="{FF2B5EF4-FFF2-40B4-BE49-F238E27FC236}">
                  <a16:creationId xmlns:a16="http://schemas.microsoft.com/office/drawing/2014/main" id="{BACBD9B0-1EEF-4ADC-9BD2-B1131FD6EC1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98575" y="1572824"/>
              <a:ext cx="7632848" cy="3844162"/>
            </a:xfrm>
            <a:prstGeom prst="rect">
              <a:avLst/>
            </a:prstGeom>
            <a:noFill/>
            <a:extLst>
              <a:ext uri="{909E8E84-426E-40DD-AFC4-6F175D3DCCD1}">
                <a14:hiddenFill xmlns:a14="http://schemas.microsoft.com/office/drawing/2010/main">
                  <a:solidFill>
                    <a:srgbClr val="FFFFFF"/>
                  </a:solidFill>
                </a14:hiddenFill>
              </a:ext>
            </a:extLst>
          </p:spPr>
        </p:pic>
        <p:sp>
          <p:nvSpPr>
            <p:cNvPr id="7" name="Rechteck 6">
              <a:extLst>
                <a:ext uri="{FF2B5EF4-FFF2-40B4-BE49-F238E27FC236}">
                  <a16:creationId xmlns:a16="http://schemas.microsoft.com/office/drawing/2014/main" id="{4CCCFF58-F2FB-460C-A0F2-5E2497B07547}"/>
                </a:ext>
              </a:extLst>
            </p:cNvPr>
            <p:cNvSpPr/>
            <p:nvPr/>
          </p:nvSpPr>
          <p:spPr bwMode="auto">
            <a:xfrm>
              <a:off x="2210743" y="1572824"/>
              <a:ext cx="1980220" cy="3844162"/>
            </a:xfrm>
            <a:prstGeom prst="rect">
              <a:avLst/>
            </a:prstGeom>
            <a:noFill/>
            <a:ln w="57150">
              <a:solidFill>
                <a:srgbClr val="FF000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
          <p:nvSpPr>
            <p:cNvPr id="13" name="Rechteck 12">
              <a:extLst>
                <a:ext uri="{FF2B5EF4-FFF2-40B4-BE49-F238E27FC236}">
                  <a16:creationId xmlns:a16="http://schemas.microsoft.com/office/drawing/2014/main" id="{1FE1FC44-1481-46EE-AC94-CD3F8A0B4595}"/>
                </a:ext>
              </a:extLst>
            </p:cNvPr>
            <p:cNvSpPr/>
            <p:nvPr/>
          </p:nvSpPr>
          <p:spPr bwMode="auto">
            <a:xfrm>
              <a:off x="4334979" y="1582571"/>
              <a:ext cx="1980220" cy="3844162"/>
            </a:xfrm>
            <a:prstGeom prst="rect">
              <a:avLst/>
            </a:prstGeom>
            <a:noFill/>
            <a:ln w="57150">
              <a:solidFill>
                <a:srgbClr val="00B05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
          <p:nvSpPr>
            <p:cNvPr id="14" name="Rechteck 13">
              <a:extLst>
                <a:ext uri="{FF2B5EF4-FFF2-40B4-BE49-F238E27FC236}">
                  <a16:creationId xmlns:a16="http://schemas.microsoft.com/office/drawing/2014/main" id="{F8E9F18B-D479-4775-BAE3-DDB3B2FBEC73}"/>
                </a:ext>
              </a:extLst>
            </p:cNvPr>
            <p:cNvSpPr/>
            <p:nvPr/>
          </p:nvSpPr>
          <p:spPr bwMode="auto">
            <a:xfrm>
              <a:off x="6459215" y="1572824"/>
              <a:ext cx="1980220" cy="3844162"/>
            </a:xfrm>
            <a:prstGeom prst="rect">
              <a:avLst/>
            </a:prstGeom>
            <a:noFill/>
            <a:ln w="57150">
              <a:solidFill>
                <a:srgbClr val="FF000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grpSp>
      <p:grpSp>
        <p:nvGrpSpPr>
          <p:cNvPr id="3" name="Gruppieren 2">
            <a:extLst>
              <a:ext uri="{FF2B5EF4-FFF2-40B4-BE49-F238E27FC236}">
                <a16:creationId xmlns:a16="http://schemas.microsoft.com/office/drawing/2014/main" id="{AE21AA59-D790-4F64-BDE9-1A22D581CA21}"/>
              </a:ext>
            </a:extLst>
          </p:cNvPr>
          <p:cNvGrpSpPr/>
          <p:nvPr/>
        </p:nvGrpSpPr>
        <p:grpSpPr>
          <a:xfrm>
            <a:off x="2318755" y="5553236"/>
            <a:ext cx="6973959" cy="735653"/>
            <a:chOff x="2318755" y="5121188"/>
            <a:chExt cx="7327664" cy="1164276"/>
          </a:xfrm>
        </p:grpSpPr>
        <p:sp>
          <p:nvSpPr>
            <p:cNvPr id="11" name="Rechtwinkliges Dreieck 10">
              <a:extLst>
                <a:ext uri="{FF2B5EF4-FFF2-40B4-BE49-F238E27FC236}">
                  <a16:creationId xmlns:a16="http://schemas.microsoft.com/office/drawing/2014/main" id="{3C4CA521-5C9F-4A28-A38C-2175C508EE05}"/>
                </a:ext>
              </a:extLst>
            </p:cNvPr>
            <p:cNvSpPr/>
            <p:nvPr/>
          </p:nvSpPr>
          <p:spPr bwMode="auto">
            <a:xfrm>
              <a:off x="2318755" y="5218405"/>
              <a:ext cx="7327664" cy="1067059"/>
            </a:xfrm>
            <a:prstGeom prst="rtTriangle">
              <a:avLst/>
            </a:prstGeom>
            <a:noFill/>
            <a:ln w="38100">
              <a:solidFill>
                <a:srgbClr val="D7698C"/>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
          <p:nvSpPr>
            <p:cNvPr id="12" name="Textfeld 11">
              <a:extLst>
                <a:ext uri="{FF2B5EF4-FFF2-40B4-BE49-F238E27FC236}">
                  <a16:creationId xmlns:a16="http://schemas.microsoft.com/office/drawing/2014/main" id="{8EB087F2-CF83-4402-8F36-7A4A7310D472}"/>
                </a:ext>
              </a:extLst>
            </p:cNvPr>
            <p:cNvSpPr txBox="1"/>
            <p:nvPr/>
          </p:nvSpPr>
          <p:spPr>
            <a:xfrm>
              <a:off x="2444769" y="5870757"/>
              <a:ext cx="1008112" cy="324036"/>
            </a:xfrm>
            <a:prstGeom prst="rect">
              <a:avLst/>
            </a:prstGeom>
            <a:noFill/>
          </p:spPr>
          <p:txBody>
            <a:bodyPr wrap="none" lIns="0" tIns="0" rIns="0" bIns="0" rtlCol="0">
              <a:noAutofit/>
            </a:body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2000" b="1" i="0" u="none" strike="noStrike" kern="1200" cap="none" spc="0" normalizeH="0" baseline="0" noProof="0">
                  <a:ln>
                    <a:noFill/>
                  </a:ln>
                  <a:solidFill>
                    <a:srgbClr val="D7698C"/>
                  </a:solidFill>
                  <a:effectLst/>
                  <a:uLnTx/>
                  <a:uFillTx/>
                  <a:latin typeface="Arial"/>
                  <a:ea typeface="Arial Unicode MS" panose="020B0604020202020204" pitchFamily="34" charset="-128"/>
                  <a:cs typeface="Arial Unicode MS" panose="020B0604020202020204" pitchFamily="34" charset="-128"/>
                </a:rPr>
                <a:t>Bias / underfitting</a:t>
              </a:r>
            </a:p>
          </p:txBody>
        </p:sp>
        <p:sp>
          <p:nvSpPr>
            <p:cNvPr id="15" name="Textfeld 14">
              <a:extLst>
                <a:ext uri="{FF2B5EF4-FFF2-40B4-BE49-F238E27FC236}">
                  <a16:creationId xmlns:a16="http://schemas.microsoft.com/office/drawing/2014/main" id="{21C9E22B-0491-48FE-B005-A1A14B38290A}"/>
                </a:ext>
              </a:extLst>
            </p:cNvPr>
            <p:cNvSpPr txBox="1"/>
            <p:nvPr/>
          </p:nvSpPr>
          <p:spPr>
            <a:xfrm>
              <a:off x="6876903" y="5252109"/>
              <a:ext cx="1008112" cy="324036"/>
            </a:xfrm>
            <a:prstGeom prst="rect">
              <a:avLst/>
            </a:prstGeom>
            <a:noFill/>
          </p:spPr>
          <p:txBody>
            <a:bodyPr wrap="none" lIns="0" tIns="0" rIns="0" bIns="0" rtlCol="0">
              <a:noAutofit/>
            </a:bodyPr>
            <a:lstStyle>
              <a:defPPr>
                <a:defRPr lang="de-DE"/>
              </a:defPPr>
              <a:lvl1pPr>
                <a:lnSpc>
                  <a:spcPct val="110000"/>
                </a:lnSpc>
                <a:spcBef>
                  <a:spcPts val="0"/>
                </a:spcBef>
                <a:defRPr sz="2400" b="1">
                  <a:solidFill>
                    <a:srgbClr val="D7698C"/>
                  </a:solidFill>
                  <a:latin typeface="+mn-lt"/>
                  <a:ea typeface="Arial Unicode MS" panose="020B0604020202020204" pitchFamily="34" charset="-128"/>
                  <a:cs typeface="Arial Unicode MS" panose="020B0604020202020204" pitchFamily="34" charset="-128"/>
                </a:defRPr>
              </a:lvl1p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2000" b="1" i="0" u="none" strike="noStrike" kern="1200" cap="none" spc="0" normalizeH="0" baseline="0" noProof="0">
                  <a:ln>
                    <a:noFill/>
                  </a:ln>
                  <a:solidFill>
                    <a:srgbClr val="0070C0"/>
                  </a:solidFill>
                  <a:effectLst/>
                  <a:uLnTx/>
                  <a:uFillTx/>
                  <a:latin typeface="Arial"/>
                  <a:ea typeface="Arial Unicode MS" panose="020B0604020202020204" pitchFamily="34" charset="-128"/>
                </a:rPr>
                <a:t>Variance/ Overfitting</a:t>
              </a:r>
            </a:p>
          </p:txBody>
        </p:sp>
        <p:sp>
          <p:nvSpPr>
            <p:cNvPr id="16" name="Rechtwinkliges Dreieck 15">
              <a:extLst>
                <a:ext uri="{FF2B5EF4-FFF2-40B4-BE49-F238E27FC236}">
                  <a16:creationId xmlns:a16="http://schemas.microsoft.com/office/drawing/2014/main" id="{F7543F41-B553-4F40-9BD5-1AED49A56C1F}"/>
                </a:ext>
              </a:extLst>
            </p:cNvPr>
            <p:cNvSpPr/>
            <p:nvPr/>
          </p:nvSpPr>
          <p:spPr bwMode="auto">
            <a:xfrm flipH="1" flipV="1">
              <a:off x="2318755" y="5121188"/>
              <a:ext cx="7316316" cy="1067059"/>
            </a:xfrm>
            <a:prstGeom prst="rtTriangle">
              <a:avLst/>
            </a:prstGeom>
            <a:noFill/>
            <a:ln w="38100">
              <a:solidFill>
                <a:srgbClr val="0070C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grpSp>
      <p:cxnSp>
        <p:nvCxnSpPr>
          <p:cNvPr id="17" name="Gerader Verbinder 16">
            <a:extLst>
              <a:ext uri="{FF2B5EF4-FFF2-40B4-BE49-F238E27FC236}">
                <a16:creationId xmlns:a16="http://schemas.microsoft.com/office/drawing/2014/main" id="{A2A6DB97-5854-4F9E-808E-5C12D176D57D}"/>
              </a:ext>
            </a:extLst>
          </p:cNvPr>
          <p:cNvCxnSpPr/>
          <p:nvPr/>
        </p:nvCxnSpPr>
        <p:spPr bwMode="auto">
          <a:xfrm>
            <a:off x="3002831" y="1572824"/>
            <a:ext cx="0" cy="1028084"/>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r Verbinder 19">
            <a:extLst>
              <a:ext uri="{FF2B5EF4-FFF2-40B4-BE49-F238E27FC236}">
                <a16:creationId xmlns:a16="http://schemas.microsoft.com/office/drawing/2014/main" id="{FEC50226-E253-4E0E-85A5-1CDE1D6EEA7A}"/>
              </a:ext>
            </a:extLst>
          </p:cNvPr>
          <p:cNvCxnSpPr/>
          <p:nvPr/>
        </p:nvCxnSpPr>
        <p:spPr bwMode="auto">
          <a:xfrm>
            <a:off x="3722911" y="1952836"/>
            <a:ext cx="0" cy="1061822"/>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r Verbinder 21">
            <a:extLst>
              <a:ext uri="{FF2B5EF4-FFF2-40B4-BE49-F238E27FC236}">
                <a16:creationId xmlns:a16="http://schemas.microsoft.com/office/drawing/2014/main" id="{A550323A-2A03-42A5-8E4E-DBB342FC2EFB}"/>
              </a:ext>
            </a:extLst>
          </p:cNvPr>
          <p:cNvCxnSpPr/>
          <p:nvPr/>
        </p:nvCxnSpPr>
        <p:spPr bwMode="auto">
          <a:xfrm>
            <a:off x="3002831" y="1889963"/>
            <a:ext cx="720080" cy="854961"/>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33134423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7FD71F6-C3A5-47EF-BC2B-27B17BF34C04}"/>
              </a:ext>
            </a:extLst>
          </p:cNvPr>
          <p:cNvSpPr>
            <a:spLocks noGrp="1"/>
          </p:cNvSpPr>
          <p:nvPr>
            <p:ph type="title"/>
          </p:nvPr>
        </p:nvSpPr>
        <p:spPr/>
        <p:txBody>
          <a:bodyPr/>
          <a:lstStyle/>
          <a:p>
            <a:r>
              <a:rPr lang="en-US"/>
              <a:t>Machine Learning Libraries Offer Countless Model Options</a:t>
            </a:r>
            <a:br>
              <a:rPr lang="en-US"/>
            </a:br>
            <a:r>
              <a:rPr lang="en-US"/>
              <a:t>Some of Them Tend to Have Bias, Other May Tend to Overfitting</a:t>
            </a:r>
          </a:p>
        </p:txBody>
      </p:sp>
      <p:sp>
        <p:nvSpPr>
          <p:cNvPr id="6" name="Rechtwinkliges Dreieck 5">
            <a:extLst>
              <a:ext uri="{FF2B5EF4-FFF2-40B4-BE49-F238E27FC236}">
                <a16:creationId xmlns:a16="http://schemas.microsoft.com/office/drawing/2014/main" id="{F18D8377-9EE5-4B6E-B4EE-3D43D2A6309A}"/>
              </a:ext>
            </a:extLst>
          </p:cNvPr>
          <p:cNvSpPr/>
          <p:nvPr/>
        </p:nvSpPr>
        <p:spPr bwMode="auto">
          <a:xfrm>
            <a:off x="2179610" y="1668367"/>
            <a:ext cx="7327664" cy="1067059"/>
          </a:xfrm>
          <a:prstGeom prst="rtTriangle">
            <a:avLst/>
          </a:prstGeom>
          <a:noFill/>
          <a:ln w="38100">
            <a:solidFill>
              <a:srgbClr val="D7698C"/>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
        <p:nvSpPr>
          <p:cNvPr id="7" name="Textfeld 6">
            <a:extLst>
              <a:ext uri="{FF2B5EF4-FFF2-40B4-BE49-F238E27FC236}">
                <a16:creationId xmlns:a16="http://schemas.microsoft.com/office/drawing/2014/main" id="{6C91F885-419C-4D99-83D4-4C5DE27E66CA}"/>
              </a:ext>
            </a:extLst>
          </p:cNvPr>
          <p:cNvSpPr txBox="1"/>
          <p:nvPr/>
        </p:nvSpPr>
        <p:spPr>
          <a:xfrm>
            <a:off x="2330280" y="1808820"/>
            <a:ext cx="1008112" cy="324036"/>
          </a:xfrm>
          <a:prstGeom prst="rect">
            <a:avLst/>
          </a:prstGeom>
          <a:noFill/>
        </p:spPr>
        <p:txBody>
          <a:bodyPr wrap="none" lIns="0" tIns="0" rIns="0" bIns="0" rtlCol="0">
            <a:noAutofit/>
          </a:body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1" i="0" u="none" strike="noStrike" kern="1200" cap="none" spc="0" normalizeH="0" baseline="0" noProof="0">
                <a:ln>
                  <a:noFill/>
                </a:ln>
                <a:solidFill>
                  <a:srgbClr val="D7698C"/>
                </a:solidFill>
                <a:effectLst/>
                <a:uLnTx/>
                <a:uFillTx/>
                <a:latin typeface="Arial"/>
                <a:ea typeface="Arial Unicode MS" panose="020B0604020202020204" pitchFamily="34" charset="-128"/>
                <a:cs typeface="Arial Unicode MS" panose="020B0604020202020204" pitchFamily="34" charset="-128"/>
              </a:rPr>
              <a:t>Bias</a:t>
            </a:r>
          </a:p>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1" i="0" u="none" strike="noStrike" kern="1200" cap="none" spc="0" normalizeH="0" baseline="0" noProof="0">
                <a:ln>
                  <a:noFill/>
                </a:ln>
                <a:solidFill>
                  <a:srgbClr val="D7698C"/>
                </a:solidFill>
                <a:effectLst/>
                <a:uLnTx/>
                <a:uFillTx/>
                <a:latin typeface="Arial"/>
                <a:ea typeface="Arial Unicode MS" panose="020B0604020202020204" pitchFamily="34" charset="-128"/>
                <a:cs typeface="Arial Unicode MS" panose="020B0604020202020204" pitchFamily="34" charset="-128"/>
              </a:rPr>
              <a:t>Underfitting</a:t>
            </a:r>
          </a:p>
        </p:txBody>
      </p:sp>
      <p:sp>
        <p:nvSpPr>
          <p:cNvPr id="8" name="Textfeld 7">
            <a:extLst>
              <a:ext uri="{FF2B5EF4-FFF2-40B4-BE49-F238E27FC236}">
                <a16:creationId xmlns:a16="http://schemas.microsoft.com/office/drawing/2014/main" id="{DB140797-5C08-4687-AFE1-883EC6F0BA5D}"/>
              </a:ext>
            </a:extLst>
          </p:cNvPr>
          <p:cNvSpPr txBox="1"/>
          <p:nvPr/>
        </p:nvSpPr>
        <p:spPr>
          <a:xfrm>
            <a:off x="8355904" y="1631270"/>
            <a:ext cx="1008112" cy="324036"/>
          </a:xfrm>
          <a:prstGeom prst="rect">
            <a:avLst/>
          </a:prstGeom>
          <a:noFill/>
        </p:spPr>
        <p:txBody>
          <a:bodyPr wrap="none" lIns="0" tIns="0" rIns="0" bIns="0" rtlCol="0">
            <a:noAutofit/>
          </a:bodyPr>
          <a:lstStyle>
            <a:defPPr>
              <a:defRPr lang="de-DE"/>
            </a:defPPr>
            <a:lvl1pPr>
              <a:lnSpc>
                <a:spcPct val="110000"/>
              </a:lnSpc>
              <a:spcBef>
                <a:spcPts val="0"/>
              </a:spcBef>
              <a:defRPr sz="2400" b="1">
                <a:solidFill>
                  <a:srgbClr val="D7698C"/>
                </a:solidFill>
                <a:latin typeface="+mn-lt"/>
                <a:ea typeface="Arial Unicode MS" panose="020B0604020202020204" pitchFamily="34" charset="-128"/>
                <a:cs typeface="Arial Unicode MS" panose="020B0604020202020204" pitchFamily="34" charset="-128"/>
              </a:defRPr>
            </a:lvl1pPr>
          </a:lstStyle>
          <a:p>
            <a:pPr marL="0" marR="0" lvl="0" indent="0" algn="r" defTabSz="914400" rtl="0" eaLnBrk="1" fontAlgn="base" latinLnBrk="0" hangingPunct="1">
              <a:lnSpc>
                <a:spcPct val="110000"/>
              </a:lnSpc>
              <a:spcBef>
                <a:spcPts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Arial"/>
                <a:ea typeface="Arial Unicode MS" panose="020B0604020202020204" pitchFamily="34" charset="-128"/>
              </a:rPr>
              <a:t>Variance</a:t>
            </a:r>
          </a:p>
          <a:p>
            <a:pPr marL="0" marR="0" lvl="0" indent="0" algn="r" defTabSz="914400" rtl="0" eaLnBrk="1" fontAlgn="base" latinLnBrk="0" hangingPunct="1">
              <a:lnSpc>
                <a:spcPct val="110000"/>
              </a:lnSpc>
              <a:spcBef>
                <a:spcPts val="0"/>
              </a:spcBef>
              <a:spcAft>
                <a:spcPct val="0"/>
              </a:spcAft>
              <a:buClrTx/>
              <a:buSzTx/>
              <a:buFontTx/>
              <a:buNone/>
              <a:tabLst/>
              <a:defRPr/>
            </a:pPr>
            <a:r>
              <a:rPr kumimoji="0" lang="en-US" sz="1600" b="1" i="0" u="none" strike="noStrike" kern="1200" cap="none" spc="0" normalizeH="0" baseline="0" noProof="0">
                <a:ln>
                  <a:noFill/>
                </a:ln>
                <a:solidFill>
                  <a:srgbClr val="0070C0"/>
                </a:solidFill>
                <a:effectLst/>
                <a:uLnTx/>
                <a:uFillTx/>
                <a:latin typeface="Arial"/>
                <a:ea typeface="Arial Unicode MS" panose="020B0604020202020204" pitchFamily="34" charset="-128"/>
              </a:rPr>
              <a:t>Overfitting</a:t>
            </a:r>
          </a:p>
        </p:txBody>
      </p:sp>
      <p:sp>
        <p:nvSpPr>
          <p:cNvPr id="9" name="Rechtwinkliges Dreieck 8">
            <a:extLst>
              <a:ext uri="{FF2B5EF4-FFF2-40B4-BE49-F238E27FC236}">
                <a16:creationId xmlns:a16="http://schemas.microsoft.com/office/drawing/2014/main" id="{7D5EDC9A-C736-455B-A131-0EA5E42A0DF2}"/>
              </a:ext>
            </a:extLst>
          </p:cNvPr>
          <p:cNvSpPr/>
          <p:nvPr/>
        </p:nvSpPr>
        <p:spPr bwMode="auto">
          <a:xfrm flipH="1" flipV="1">
            <a:off x="2179610" y="1571150"/>
            <a:ext cx="7316316" cy="1067059"/>
          </a:xfrm>
          <a:prstGeom prst="rtTriangle">
            <a:avLst/>
          </a:prstGeom>
          <a:noFill/>
          <a:ln w="38100">
            <a:solidFill>
              <a:srgbClr val="0070C0"/>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en-US"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
        <p:nvSpPr>
          <p:cNvPr id="10" name="Ellipse 9">
            <a:extLst>
              <a:ext uri="{FF2B5EF4-FFF2-40B4-BE49-F238E27FC236}">
                <a16:creationId xmlns:a16="http://schemas.microsoft.com/office/drawing/2014/main" id="{DFEABCDB-1096-420F-B954-E89225CE743C}"/>
              </a:ext>
            </a:extLst>
          </p:cNvPr>
          <p:cNvSpPr/>
          <p:nvPr/>
        </p:nvSpPr>
        <p:spPr bwMode="auto">
          <a:xfrm>
            <a:off x="2168262" y="2924944"/>
            <a:ext cx="1930775" cy="698604"/>
          </a:xfrm>
          <a:prstGeom prst="ellipse">
            <a:avLst/>
          </a:prstGeom>
          <a:noFill/>
          <a:ln>
            <a:solidFill>
              <a:srgbClr val="50BED7"/>
            </a:solidFill>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ctr" defTabSz="914400" rtl="0" eaLnBrk="1" fontAlgn="base" latinLnBrk="0" hangingPunct="1">
              <a:lnSpc>
                <a:spcPct val="110000"/>
              </a:lnSpc>
              <a:spcBef>
                <a:spcPct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Linear regression</a:t>
            </a:r>
          </a:p>
        </p:txBody>
      </p:sp>
      <p:sp>
        <p:nvSpPr>
          <p:cNvPr id="11" name="Ellipse 10">
            <a:extLst>
              <a:ext uri="{FF2B5EF4-FFF2-40B4-BE49-F238E27FC236}">
                <a16:creationId xmlns:a16="http://schemas.microsoft.com/office/drawing/2014/main" id="{D67D7E0F-C99B-4394-A2A2-D0AA3DF0D83F}"/>
              </a:ext>
            </a:extLst>
          </p:cNvPr>
          <p:cNvSpPr/>
          <p:nvPr/>
        </p:nvSpPr>
        <p:spPr bwMode="auto">
          <a:xfrm>
            <a:off x="3641157" y="3320988"/>
            <a:ext cx="1930775" cy="698604"/>
          </a:xfrm>
          <a:prstGeom prst="ellipse">
            <a:avLst/>
          </a:prstGeom>
          <a:noFill/>
          <a:ln>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Non-linear regression</a:t>
            </a:r>
          </a:p>
        </p:txBody>
      </p:sp>
      <p:sp>
        <p:nvSpPr>
          <p:cNvPr id="13" name="Ellipse 12">
            <a:extLst>
              <a:ext uri="{FF2B5EF4-FFF2-40B4-BE49-F238E27FC236}">
                <a16:creationId xmlns:a16="http://schemas.microsoft.com/office/drawing/2014/main" id="{2CF3ABD3-B269-485B-87C0-501394C09E17}"/>
              </a:ext>
            </a:extLst>
          </p:cNvPr>
          <p:cNvSpPr/>
          <p:nvPr/>
        </p:nvSpPr>
        <p:spPr bwMode="auto">
          <a:xfrm>
            <a:off x="5401124" y="3021810"/>
            <a:ext cx="1930775" cy="698604"/>
          </a:xfrm>
          <a:prstGeom prst="ellipse">
            <a:avLst/>
          </a:prstGeom>
          <a:noFill/>
          <a:ln>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Random forests</a:t>
            </a:r>
          </a:p>
        </p:txBody>
      </p:sp>
      <p:sp>
        <p:nvSpPr>
          <p:cNvPr id="14" name="Ellipse 13">
            <a:extLst>
              <a:ext uri="{FF2B5EF4-FFF2-40B4-BE49-F238E27FC236}">
                <a16:creationId xmlns:a16="http://schemas.microsoft.com/office/drawing/2014/main" id="{134773BB-FAC0-423C-B817-78D7E8A960C4}"/>
              </a:ext>
            </a:extLst>
          </p:cNvPr>
          <p:cNvSpPr/>
          <p:nvPr/>
        </p:nvSpPr>
        <p:spPr bwMode="auto">
          <a:xfrm>
            <a:off x="6653766" y="3351038"/>
            <a:ext cx="2289725" cy="803157"/>
          </a:xfrm>
          <a:prstGeom prst="ellipse">
            <a:avLst/>
          </a:prstGeom>
          <a:noFill/>
          <a:ln>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Simple neural networks</a:t>
            </a:r>
          </a:p>
        </p:txBody>
      </p:sp>
      <p:sp>
        <p:nvSpPr>
          <p:cNvPr id="15" name="Ellipse 14">
            <a:extLst>
              <a:ext uri="{FF2B5EF4-FFF2-40B4-BE49-F238E27FC236}">
                <a16:creationId xmlns:a16="http://schemas.microsoft.com/office/drawing/2014/main" id="{F6C028CE-AC1B-4E12-B389-7660780ED605}"/>
              </a:ext>
            </a:extLst>
          </p:cNvPr>
          <p:cNvSpPr/>
          <p:nvPr/>
        </p:nvSpPr>
        <p:spPr bwMode="auto">
          <a:xfrm>
            <a:off x="7958124" y="2910133"/>
            <a:ext cx="2811784" cy="807164"/>
          </a:xfrm>
          <a:prstGeom prst="ellipse">
            <a:avLst/>
          </a:prstGeom>
          <a:noFill/>
          <a:ln>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Convolutional neural networks (CNN)</a:t>
            </a:r>
          </a:p>
        </p:txBody>
      </p:sp>
      <p:sp>
        <p:nvSpPr>
          <p:cNvPr id="16" name="Rechteck 15">
            <a:extLst>
              <a:ext uri="{FF2B5EF4-FFF2-40B4-BE49-F238E27FC236}">
                <a16:creationId xmlns:a16="http://schemas.microsoft.com/office/drawing/2014/main" id="{71EE7E40-99DA-4C3B-9C16-54678F3EEA77}"/>
              </a:ext>
            </a:extLst>
          </p:cNvPr>
          <p:cNvSpPr/>
          <p:nvPr/>
        </p:nvSpPr>
        <p:spPr bwMode="auto">
          <a:xfrm>
            <a:off x="639432" y="5638774"/>
            <a:ext cx="11088687" cy="369332"/>
          </a:xfrm>
          <a:prstGeom prst="rect">
            <a:avLst/>
          </a:prstGeom>
          <a:ln w="28575">
            <a:solidFill>
              <a:srgbClr val="00646E"/>
            </a:solid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Try to use technical expertise and keep the model as simple as possible, but not simpler.</a:t>
            </a:r>
          </a:p>
        </p:txBody>
      </p:sp>
      <p:sp>
        <p:nvSpPr>
          <p:cNvPr id="17" name="Rechteck 16">
            <a:extLst>
              <a:ext uri="{FF2B5EF4-FFF2-40B4-BE49-F238E27FC236}">
                <a16:creationId xmlns:a16="http://schemas.microsoft.com/office/drawing/2014/main" id="{2D18ACD9-E07A-4279-B3CE-7D19FC90206B}"/>
              </a:ext>
            </a:extLst>
          </p:cNvPr>
          <p:cNvSpPr/>
          <p:nvPr/>
        </p:nvSpPr>
        <p:spPr bwMode="auto">
          <a:xfrm>
            <a:off x="627062" y="4251412"/>
            <a:ext cx="11088687" cy="1077218"/>
          </a:xfrm>
          <a:prstGeom prst="rect">
            <a:avLst/>
          </a:prstGeom>
          <a:ln w="28575">
            <a:noFill/>
          </a:ln>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DAS IST QUATSCH!!! Of course, it depends on the problem at hand:</a:t>
            </a:r>
          </a:p>
          <a:p>
            <a:pPr marL="285750" marR="0" lvl="0" indent="-285750" algn="l" defTabSz="914400" rtl="0" eaLnBrk="1" fontAlgn="base" latinLnBrk="0" hangingPunct="1">
              <a:lnSpc>
                <a:spcPct val="100000"/>
              </a:lnSpc>
              <a:spcBef>
                <a:spcPct val="500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For truly linear relationships, linear regression will not have bias. </a:t>
            </a:r>
          </a:p>
          <a:p>
            <a:pPr marL="285750" marR="0" lvl="0" indent="-285750" algn="l" defTabSz="914400" rtl="0" eaLnBrk="1" fontAlgn="base" latinLnBrk="0" hangingPunct="1">
              <a:lnSpc>
                <a:spcPct val="100000"/>
              </a:lnSpc>
              <a:spcBef>
                <a:spcPct val="50000"/>
              </a:spcBef>
              <a:spcAft>
                <a:spcPct val="0"/>
              </a:spcAft>
              <a:buClrTx/>
              <a:buSzTx/>
              <a:buFont typeface="Arial" panose="020B0604020202020204" pitchFamily="34" charset="0"/>
              <a:buChar char="•"/>
              <a:tabLst/>
              <a:defRPr/>
            </a:pPr>
            <a:r>
              <a:rPr kumimoji="0" lang="en-US" sz="16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For complex problems the danger is to overfit using complex tools</a:t>
            </a:r>
          </a:p>
        </p:txBody>
      </p:sp>
    </p:spTree>
    <p:extLst>
      <p:ext uri="{BB962C8B-B14F-4D97-AF65-F5344CB8AC3E}">
        <p14:creationId xmlns:p14="http://schemas.microsoft.com/office/powerpoint/2010/main" val="3549020349"/>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How to Prevent Overfitting 1: </a:t>
            </a:r>
            <a:br>
              <a:rPr lang="en-US"/>
            </a:br>
            <a:r>
              <a:rPr lang="en-US"/>
              <a:t>Split Dataset into Training and Test Data</a:t>
            </a:r>
          </a:p>
        </p:txBody>
      </p:sp>
      <p:cxnSp>
        <p:nvCxnSpPr>
          <p:cNvPr id="5" name="Gerader Verbinder 4">
            <a:extLst>
              <a:ext uri="{FF2B5EF4-FFF2-40B4-BE49-F238E27FC236}">
                <a16:creationId xmlns:a16="http://schemas.microsoft.com/office/drawing/2014/main" id="{8432FA34-B36F-485C-8AE2-96CCA9A3562D}"/>
              </a:ext>
            </a:extLst>
          </p:cNvPr>
          <p:cNvCxnSpPr/>
          <p:nvPr/>
        </p:nvCxnSpPr>
        <p:spPr bwMode="auto">
          <a:xfrm>
            <a:off x="4046947" y="1912246"/>
            <a:ext cx="0" cy="3096344"/>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7" name="Gerader Verbinder 6">
            <a:extLst>
              <a:ext uri="{FF2B5EF4-FFF2-40B4-BE49-F238E27FC236}">
                <a16:creationId xmlns:a16="http://schemas.microsoft.com/office/drawing/2014/main" id="{647D844A-0AFF-4D50-83C3-C8705EB5CD5F}"/>
              </a:ext>
            </a:extLst>
          </p:cNvPr>
          <p:cNvCxnSpPr>
            <a:cxnSpLocks/>
          </p:cNvCxnSpPr>
          <p:nvPr/>
        </p:nvCxnSpPr>
        <p:spPr bwMode="auto">
          <a:xfrm>
            <a:off x="4046947" y="5008590"/>
            <a:ext cx="4248472" cy="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2" name="Textfeld 11">
            <a:extLst>
              <a:ext uri="{FF2B5EF4-FFF2-40B4-BE49-F238E27FC236}">
                <a16:creationId xmlns:a16="http://schemas.microsoft.com/office/drawing/2014/main" id="{BB7A3185-C2FF-4CF8-9772-798E02F3DC59}"/>
              </a:ext>
            </a:extLst>
          </p:cNvPr>
          <p:cNvSpPr txBox="1"/>
          <p:nvPr/>
        </p:nvSpPr>
        <p:spPr>
          <a:xfrm>
            <a:off x="5091063" y="5203725"/>
            <a:ext cx="1656184" cy="961579"/>
          </a:xfrm>
          <a:prstGeom prst="rect">
            <a:avLst/>
          </a:prstGeom>
          <a:noFill/>
        </p:spPr>
        <p:txBody>
          <a:bodyPr wrap="none" lIns="0" tIns="0" rIns="0" bIns="0" rtlCol="0">
            <a:noAutofit/>
          </a:body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Model complexity</a:t>
            </a:r>
          </a:p>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E.g. the number of predictors</a:t>
            </a:r>
          </a:p>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or the polynomial degree</a:t>
            </a:r>
          </a:p>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(both resulting in a larger number of coefficients)</a:t>
            </a:r>
          </a:p>
        </p:txBody>
      </p:sp>
      <p:cxnSp>
        <p:nvCxnSpPr>
          <p:cNvPr id="14" name="Gerader Verbinder 13">
            <a:extLst>
              <a:ext uri="{FF2B5EF4-FFF2-40B4-BE49-F238E27FC236}">
                <a16:creationId xmlns:a16="http://schemas.microsoft.com/office/drawing/2014/main" id="{387A40D0-D037-425D-B69D-F01926BF582F}"/>
              </a:ext>
            </a:extLst>
          </p:cNvPr>
          <p:cNvCxnSpPr/>
          <p:nvPr/>
        </p:nvCxnSpPr>
        <p:spPr bwMode="auto">
          <a:xfrm flipV="1">
            <a:off x="5811143" y="2164274"/>
            <a:ext cx="0" cy="2844316"/>
          </a:xfrm>
          <a:prstGeom prst="line">
            <a:avLst/>
          </a:prstGeom>
          <a:solidFill>
            <a:schemeClr val="tx2"/>
          </a:solidFill>
          <a:ln w="9525" cap="flat" cmpd="sng" algn="ctr">
            <a:solidFill>
              <a:schemeClr val="tx1"/>
            </a:solidFill>
            <a:prstDash val="dash"/>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5" name="Textfeld 14">
            <a:extLst>
              <a:ext uri="{FF2B5EF4-FFF2-40B4-BE49-F238E27FC236}">
                <a16:creationId xmlns:a16="http://schemas.microsoft.com/office/drawing/2014/main" id="{CD398118-4DB5-4169-9EAB-8B7AAAD2CA1C}"/>
              </a:ext>
            </a:extLst>
          </p:cNvPr>
          <p:cNvSpPr txBox="1"/>
          <p:nvPr/>
        </p:nvSpPr>
        <p:spPr>
          <a:xfrm rot="16200000">
            <a:off x="3556370" y="3007337"/>
            <a:ext cx="549786" cy="418787"/>
          </a:xfrm>
          <a:prstGeom prst="rect">
            <a:avLst/>
          </a:prstGeom>
          <a:noFill/>
        </p:spPr>
        <p:txBody>
          <a:bodyPr wrap="none" lIns="0" tIns="0" rIns="0" bIns="0" rtlCol="0">
            <a:noAutofit/>
          </a:bodyPr>
          <a:lstStyle>
            <a:defPPr>
              <a:defRPr lang="de-DE"/>
            </a:defPPr>
            <a:lvl1pPr>
              <a:lnSpc>
                <a:spcPct val="110000"/>
              </a:lnSpc>
              <a:spcBef>
                <a:spcPts val="0"/>
              </a:spcBef>
              <a:defRPr sz="1600">
                <a:solidFill>
                  <a:schemeClr val="tx1"/>
                </a:solidFill>
                <a:latin typeface="+mn-lt"/>
                <a:ea typeface="Arial Unicode MS" panose="020B0604020202020204" pitchFamily="34" charset="-128"/>
                <a:cs typeface="Arial Unicode MS" panose="020B0604020202020204" pitchFamily="34" charset="-128"/>
              </a:defRPr>
            </a:lvl1p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rPr>
              <a:t>Accuracy</a:t>
            </a:r>
          </a:p>
        </p:txBody>
      </p:sp>
      <p:sp>
        <p:nvSpPr>
          <p:cNvPr id="16" name="Textfeld 15">
            <a:extLst>
              <a:ext uri="{FF2B5EF4-FFF2-40B4-BE49-F238E27FC236}">
                <a16:creationId xmlns:a16="http://schemas.microsoft.com/office/drawing/2014/main" id="{17AF6DC5-E55A-42D8-AA1B-31088825253E}"/>
              </a:ext>
            </a:extLst>
          </p:cNvPr>
          <p:cNvSpPr txBox="1"/>
          <p:nvPr/>
        </p:nvSpPr>
        <p:spPr>
          <a:xfrm>
            <a:off x="5156932" y="1808820"/>
            <a:ext cx="914400" cy="914400"/>
          </a:xfrm>
          <a:prstGeom prst="rect">
            <a:avLst/>
          </a:prstGeom>
          <a:noFill/>
        </p:spPr>
        <p:txBody>
          <a:bodyPr wrap="none" lIns="0" tIns="0" rIns="0" bIns="0" rtlCol="0">
            <a:noAutofit/>
          </a:bodyPr>
          <a:lstStyle>
            <a:defPPr>
              <a:defRPr lang="de-DE"/>
            </a:defPPr>
            <a:lvl1pPr>
              <a:lnSpc>
                <a:spcPct val="110000"/>
              </a:lnSpc>
              <a:spcBef>
                <a:spcPts val="0"/>
              </a:spcBef>
              <a:defRPr i="1">
                <a:solidFill>
                  <a:schemeClr val="tx1"/>
                </a:solidFill>
                <a:latin typeface="+mn-lt"/>
                <a:ea typeface="Arial Unicode MS" panose="020B0604020202020204" pitchFamily="34" charset="-128"/>
                <a:cs typeface="Arial Unicode MS" panose="020B0604020202020204" pitchFamily="34" charset="-128"/>
              </a:defRPr>
            </a:lvl1p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800" b="1" i="1" u="none" strike="noStrike" kern="1200" cap="none" spc="0" normalizeH="0" baseline="0" noProof="0">
                <a:ln>
                  <a:noFill/>
                </a:ln>
                <a:solidFill>
                  <a:srgbClr val="000000"/>
                </a:solidFill>
                <a:effectLst/>
                <a:uLnTx/>
                <a:uFillTx/>
                <a:latin typeface="Arial"/>
                <a:ea typeface="Arial Unicode MS" panose="020B0604020202020204" pitchFamily="34" charset="-128"/>
              </a:rPr>
              <a:t>Optimal model</a:t>
            </a:r>
          </a:p>
        </p:txBody>
      </p:sp>
      <p:sp>
        <p:nvSpPr>
          <p:cNvPr id="17" name="Textfeld 16">
            <a:extLst>
              <a:ext uri="{FF2B5EF4-FFF2-40B4-BE49-F238E27FC236}">
                <a16:creationId xmlns:a16="http://schemas.microsoft.com/office/drawing/2014/main" id="{F63AFE10-0D4F-461C-A03A-E2CB7AD862CE}"/>
              </a:ext>
            </a:extLst>
          </p:cNvPr>
          <p:cNvSpPr txBox="1"/>
          <p:nvPr/>
        </p:nvSpPr>
        <p:spPr>
          <a:xfrm>
            <a:off x="6099175" y="4509120"/>
            <a:ext cx="914400" cy="914400"/>
          </a:xfrm>
          <a:prstGeom prst="rect">
            <a:avLst/>
          </a:prstGeom>
          <a:noFill/>
        </p:spPr>
        <p:txBody>
          <a:bodyPr wrap="none" lIns="0" tIns="0" rIns="0" bIns="0" rtlCol="0">
            <a:noAutofit/>
          </a:body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800" b="1" i="1"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„Overfitting“</a:t>
            </a:r>
          </a:p>
        </p:txBody>
      </p:sp>
      <p:sp>
        <p:nvSpPr>
          <p:cNvPr id="19" name="Textfeld 18">
            <a:extLst>
              <a:ext uri="{FF2B5EF4-FFF2-40B4-BE49-F238E27FC236}">
                <a16:creationId xmlns:a16="http://schemas.microsoft.com/office/drawing/2014/main" id="{532F2C39-CB31-46AB-BFDB-8C47BF039455}"/>
              </a:ext>
            </a:extLst>
          </p:cNvPr>
          <p:cNvSpPr txBox="1"/>
          <p:nvPr/>
        </p:nvSpPr>
        <p:spPr>
          <a:xfrm>
            <a:off x="4680499" y="4509120"/>
            <a:ext cx="914400" cy="914400"/>
          </a:xfrm>
          <a:prstGeom prst="rect">
            <a:avLst/>
          </a:prstGeom>
          <a:noFill/>
        </p:spPr>
        <p:txBody>
          <a:bodyPr wrap="none" lIns="0" tIns="0" rIns="0" bIns="0" rtlCol="0">
            <a:noAutofit/>
          </a:body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800" b="1" i="1"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„Bias“</a:t>
            </a:r>
          </a:p>
        </p:txBody>
      </p:sp>
      <p:sp>
        <p:nvSpPr>
          <p:cNvPr id="18" name="Freihandform: Form 17">
            <a:extLst>
              <a:ext uri="{FF2B5EF4-FFF2-40B4-BE49-F238E27FC236}">
                <a16:creationId xmlns:a16="http://schemas.microsoft.com/office/drawing/2014/main" id="{B5BA9DE3-A0E2-40F8-8C5F-A51A3912F326}"/>
              </a:ext>
            </a:extLst>
          </p:cNvPr>
          <p:cNvSpPr/>
          <p:nvPr/>
        </p:nvSpPr>
        <p:spPr bwMode="auto">
          <a:xfrm rot="10800000" flipH="1">
            <a:off x="4374837" y="2736979"/>
            <a:ext cx="3634307" cy="1107756"/>
          </a:xfrm>
          <a:custGeom>
            <a:avLst/>
            <a:gdLst>
              <a:gd name="connsiteX0" fmla="*/ 0 w 3497942"/>
              <a:gd name="connsiteY0" fmla="*/ 0 h 1107756"/>
              <a:gd name="connsiteX1" fmla="*/ 638628 w 3497942"/>
              <a:gd name="connsiteY1" fmla="*/ 812800 h 1107756"/>
              <a:gd name="connsiteX2" fmla="*/ 1698171 w 3497942"/>
              <a:gd name="connsiteY2" fmla="*/ 1074057 h 1107756"/>
              <a:gd name="connsiteX3" fmla="*/ 3497942 w 3497942"/>
              <a:gd name="connsiteY3" fmla="*/ 130629 h 1107756"/>
            </a:gdLst>
            <a:ahLst/>
            <a:cxnLst>
              <a:cxn ang="0">
                <a:pos x="connsiteX0" y="connsiteY0"/>
              </a:cxn>
              <a:cxn ang="0">
                <a:pos x="connsiteX1" y="connsiteY1"/>
              </a:cxn>
              <a:cxn ang="0">
                <a:pos x="connsiteX2" y="connsiteY2"/>
              </a:cxn>
              <a:cxn ang="0">
                <a:pos x="connsiteX3" y="connsiteY3"/>
              </a:cxn>
            </a:cxnLst>
            <a:rect l="l" t="t" r="r" b="b"/>
            <a:pathLst>
              <a:path w="3497942" h="1107756">
                <a:moveTo>
                  <a:pt x="0" y="0"/>
                </a:moveTo>
                <a:cubicBezTo>
                  <a:pt x="177800" y="316895"/>
                  <a:pt x="355600" y="633791"/>
                  <a:pt x="638628" y="812800"/>
                </a:cubicBezTo>
                <a:cubicBezTo>
                  <a:pt x="921657" y="991810"/>
                  <a:pt x="1221619" y="1187752"/>
                  <a:pt x="1698171" y="1074057"/>
                </a:cubicBezTo>
                <a:cubicBezTo>
                  <a:pt x="2174723" y="960362"/>
                  <a:pt x="2836332" y="545495"/>
                  <a:pt x="3497942" y="130629"/>
                </a:cubicBezTo>
              </a:path>
            </a:pathLst>
          </a:custGeom>
          <a:noFill/>
          <a:ln w="38100">
            <a:solidFill>
              <a:srgbClr val="00B050"/>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de-DE" sz="2400" b="0" i="0" u="none" strike="noStrike" kern="1200" cap="none" spc="0" normalizeH="0" baseline="0" noProof="0">
              <a:ln>
                <a:noFill/>
              </a:ln>
              <a:solidFill>
                <a:srgbClr val="000000"/>
              </a:solidFill>
              <a:effectLst/>
              <a:uLnTx/>
              <a:uFillTx/>
              <a:latin typeface="Arial" charset="0"/>
              <a:ea typeface="ヒラギノ角ゴ Pro W3" charset="0"/>
              <a:cs typeface="+mn-cs"/>
            </a:endParaRPr>
          </a:p>
        </p:txBody>
      </p:sp>
      <p:sp>
        <p:nvSpPr>
          <p:cNvPr id="20" name="Freihandform: Form 19">
            <a:extLst>
              <a:ext uri="{FF2B5EF4-FFF2-40B4-BE49-F238E27FC236}">
                <a16:creationId xmlns:a16="http://schemas.microsoft.com/office/drawing/2014/main" id="{BB7DC448-6FB6-4FAA-91E1-3173B0DBFEA8}"/>
              </a:ext>
            </a:extLst>
          </p:cNvPr>
          <p:cNvSpPr/>
          <p:nvPr/>
        </p:nvSpPr>
        <p:spPr bwMode="auto">
          <a:xfrm rot="10800000" flipH="1">
            <a:off x="4339945" y="2080220"/>
            <a:ext cx="3634306" cy="1440000"/>
          </a:xfrm>
          <a:custGeom>
            <a:avLst/>
            <a:gdLst>
              <a:gd name="connsiteX0" fmla="*/ 0 w 3672114"/>
              <a:gd name="connsiteY0" fmla="*/ 0 h 1045029"/>
              <a:gd name="connsiteX1" fmla="*/ 1132114 w 3672114"/>
              <a:gd name="connsiteY1" fmla="*/ 624115 h 1045029"/>
              <a:gd name="connsiteX2" fmla="*/ 3672114 w 3672114"/>
              <a:gd name="connsiteY2" fmla="*/ 1045029 h 1045029"/>
            </a:gdLst>
            <a:ahLst/>
            <a:cxnLst>
              <a:cxn ang="0">
                <a:pos x="connsiteX0" y="connsiteY0"/>
              </a:cxn>
              <a:cxn ang="0">
                <a:pos x="connsiteX1" y="connsiteY1"/>
              </a:cxn>
              <a:cxn ang="0">
                <a:pos x="connsiteX2" y="connsiteY2"/>
              </a:cxn>
            </a:cxnLst>
            <a:rect l="l" t="t" r="r" b="b"/>
            <a:pathLst>
              <a:path w="3672114" h="1045029">
                <a:moveTo>
                  <a:pt x="0" y="0"/>
                </a:moveTo>
                <a:cubicBezTo>
                  <a:pt x="260047" y="224972"/>
                  <a:pt x="520095" y="449944"/>
                  <a:pt x="1132114" y="624115"/>
                </a:cubicBezTo>
                <a:cubicBezTo>
                  <a:pt x="1744133" y="798286"/>
                  <a:pt x="2708123" y="921657"/>
                  <a:pt x="3672114" y="1045029"/>
                </a:cubicBezTo>
              </a:path>
            </a:pathLst>
          </a:custGeom>
          <a:noFill/>
          <a:ln w="38100">
            <a:solidFill>
              <a:srgbClr val="3333CC"/>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vert="horz" wrap="square" lIns="0" tIns="0" rIns="0" bIns="0" numCol="1" rtlCol="0" anchor="t" anchorCtr="0" compatLnSpc="1">
            <a:prstTxWarp prst="textNoShape">
              <a:avLst/>
            </a:prstTxWarp>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endParaRPr kumimoji="0" lang="de-DE" sz="2400" b="0" i="0" u="none" strike="noStrike" kern="1200" cap="none" spc="0" normalizeH="0" baseline="0" noProof="0">
              <a:ln>
                <a:noFill/>
              </a:ln>
              <a:solidFill>
                <a:srgbClr val="000000"/>
              </a:solidFill>
              <a:effectLst/>
              <a:uLnTx/>
              <a:uFillTx/>
              <a:latin typeface="Arial" charset="0"/>
              <a:ea typeface="ヒラギノ角ゴ Pro W3" charset="0"/>
              <a:cs typeface="+mn-cs"/>
            </a:endParaRPr>
          </a:p>
        </p:txBody>
      </p:sp>
      <p:pic>
        <p:nvPicPr>
          <p:cNvPr id="3" name="Grafik 2">
            <a:extLst>
              <a:ext uri="{FF2B5EF4-FFF2-40B4-BE49-F238E27FC236}">
                <a16:creationId xmlns:a16="http://schemas.microsoft.com/office/drawing/2014/main" id="{B20BE50E-0CB5-437B-BF5D-A9AFEBC3DCBB}"/>
              </a:ext>
            </a:extLst>
          </p:cNvPr>
          <p:cNvPicPr>
            <a:picLocks noChangeAspect="1"/>
          </p:cNvPicPr>
          <p:nvPr/>
        </p:nvPicPr>
        <p:blipFill>
          <a:blip r:embed="rId2"/>
          <a:stretch>
            <a:fillRect/>
          </a:stretch>
        </p:blipFill>
        <p:spPr>
          <a:xfrm>
            <a:off x="8551500" y="2173041"/>
            <a:ext cx="2866020" cy="2597855"/>
          </a:xfrm>
          <a:prstGeom prst="rect">
            <a:avLst/>
          </a:prstGeom>
        </p:spPr>
      </p:pic>
      <p:sp>
        <p:nvSpPr>
          <p:cNvPr id="21" name="Textfeld 20">
            <a:extLst>
              <a:ext uri="{FF2B5EF4-FFF2-40B4-BE49-F238E27FC236}">
                <a16:creationId xmlns:a16="http://schemas.microsoft.com/office/drawing/2014/main" id="{A427CA46-E591-4271-B437-EBC1314FA0BF}"/>
              </a:ext>
            </a:extLst>
          </p:cNvPr>
          <p:cNvSpPr txBox="1"/>
          <p:nvPr/>
        </p:nvSpPr>
        <p:spPr>
          <a:xfrm>
            <a:off x="8943491" y="1771616"/>
            <a:ext cx="2438025" cy="325236"/>
          </a:xfrm>
          <a:prstGeom prst="rect">
            <a:avLst/>
          </a:prstGeom>
          <a:noFill/>
        </p:spPr>
        <p:txBody>
          <a:bodyPr wrap="none" lIns="0" tIns="0" rIns="0" bIns="0" rtlCol="0">
            <a:noAutofit/>
          </a:bodyPr>
          <a:lstStyle>
            <a:defPPr>
              <a:defRPr lang="de-DE"/>
            </a:defPPr>
            <a:lvl1pPr>
              <a:lnSpc>
                <a:spcPct val="110000"/>
              </a:lnSpc>
              <a:spcBef>
                <a:spcPts val="0"/>
              </a:spcBef>
              <a:defRPr sz="1600">
                <a:solidFill>
                  <a:schemeClr val="tx1"/>
                </a:solidFill>
                <a:latin typeface="+mn-lt"/>
                <a:ea typeface="Arial Unicode MS" panose="020B0604020202020204" pitchFamily="34" charset="-128"/>
                <a:cs typeface="Arial Unicode MS" panose="020B0604020202020204" pitchFamily="34" charset="-128"/>
              </a:defRPr>
            </a:lvl1p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rPr>
              <a:t>Polynomial 4</a:t>
            </a:r>
            <a:r>
              <a:rPr kumimoji="0" lang="en-US" sz="1600" b="0" i="0" u="none" strike="noStrike" kern="1200" cap="none" spc="0" normalizeH="0" baseline="30000" noProof="0">
                <a:ln>
                  <a:noFill/>
                </a:ln>
                <a:solidFill>
                  <a:srgbClr val="000000"/>
                </a:solidFill>
                <a:effectLst/>
                <a:uLnTx/>
                <a:uFillTx/>
                <a:latin typeface="Arial"/>
                <a:ea typeface="Arial Unicode MS" panose="020B0604020202020204" pitchFamily="34" charset="-128"/>
              </a:rPr>
              <a:t>th</a:t>
            </a: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rPr>
              <a:t> degree</a:t>
            </a:r>
          </a:p>
        </p:txBody>
      </p:sp>
      <p:cxnSp>
        <p:nvCxnSpPr>
          <p:cNvPr id="6" name="Gerade Verbindung mit Pfeil 5">
            <a:extLst>
              <a:ext uri="{FF2B5EF4-FFF2-40B4-BE49-F238E27FC236}">
                <a16:creationId xmlns:a16="http://schemas.microsoft.com/office/drawing/2014/main" id="{71CD5AB6-D56C-4E62-8B48-A929D4E1A2EF}"/>
              </a:ext>
            </a:extLst>
          </p:cNvPr>
          <p:cNvCxnSpPr>
            <a:cxnSpLocks/>
          </p:cNvCxnSpPr>
          <p:nvPr/>
        </p:nvCxnSpPr>
        <p:spPr bwMode="auto">
          <a:xfrm>
            <a:off x="7155238" y="2736978"/>
            <a:ext cx="1312590" cy="371367"/>
          </a:xfrm>
          <a:prstGeom prst="straightConnector1">
            <a:avLst/>
          </a:prstGeom>
          <a:solidFill>
            <a:schemeClr val="tx2"/>
          </a:solidFill>
          <a:ln w="28575" cap="flat" cmpd="sng" algn="ctr">
            <a:solidFill>
              <a:schemeClr val="tx1"/>
            </a:solidFill>
            <a:prstDash val="dash"/>
            <a:round/>
            <a:headEnd type="oval" w="med" len="med"/>
            <a:tailEnd type="triangl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pic>
        <p:nvPicPr>
          <p:cNvPr id="23" name="Grafik 22">
            <a:extLst>
              <a:ext uri="{FF2B5EF4-FFF2-40B4-BE49-F238E27FC236}">
                <a16:creationId xmlns:a16="http://schemas.microsoft.com/office/drawing/2014/main" id="{FDD1A9D8-F34C-4C9F-82B6-3EFEC58907B2}"/>
              </a:ext>
            </a:extLst>
          </p:cNvPr>
          <p:cNvPicPr>
            <a:picLocks noChangeAspect="1"/>
          </p:cNvPicPr>
          <p:nvPr/>
        </p:nvPicPr>
        <p:blipFill>
          <a:blip r:embed="rId3"/>
          <a:stretch>
            <a:fillRect/>
          </a:stretch>
        </p:blipFill>
        <p:spPr>
          <a:xfrm>
            <a:off x="294190" y="2168860"/>
            <a:ext cx="2821951" cy="2597855"/>
          </a:xfrm>
          <a:prstGeom prst="rect">
            <a:avLst/>
          </a:prstGeom>
        </p:spPr>
      </p:pic>
      <p:cxnSp>
        <p:nvCxnSpPr>
          <p:cNvPr id="25" name="Gerade Verbindung mit Pfeil 24">
            <a:extLst>
              <a:ext uri="{FF2B5EF4-FFF2-40B4-BE49-F238E27FC236}">
                <a16:creationId xmlns:a16="http://schemas.microsoft.com/office/drawing/2014/main" id="{0E85BF46-B4C8-487B-9C51-B699035A7701}"/>
              </a:ext>
            </a:extLst>
          </p:cNvPr>
          <p:cNvCxnSpPr>
            <a:cxnSpLocks/>
          </p:cNvCxnSpPr>
          <p:nvPr/>
        </p:nvCxnSpPr>
        <p:spPr bwMode="auto">
          <a:xfrm flipH="1" flipV="1">
            <a:off x="3218776" y="3802536"/>
            <a:ext cx="1820162" cy="292383"/>
          </a:xfrm>
          <a:prstGeom prst="straightConnector1">
            <a:avLst/>
          </a:prstGeom>
          <a:solidFill>
            <a:schemeClr val="tx2"/>
          </a:solidFill>
          <a:ln w="28575" cap="flat" cmpd="sng" algn="ctr">
            <a:solidFill>
              <a:schemeClr val="tx1"/>
            </a:solidFill>
            <a:prstDash val="dash"/>
            <a:round/>
            <a:headEnd type="oval" w="med" len="med"/>
            <a:tailEnd type="triangl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28" name="Textfeld 27">
            <a:extLst>
              <a:ext uri="{FF2B5EF4-FFF2-40B4-BE49-F238E27FC236}">
                <a16:creationId xmlns:a16="http://schemas.microsoft.com/office/drawing/2014/main" id="{9386543D-5584-4DE0-A377-D26501CA1A6E}"/>
              </a:ext>
            </a:extLst>
          </p:cNvPr>
          <p:cNvSpPr txBox="1"/>
          <p:nvPr/>
        </p:nvSpPr>
        <p:spPr>
          <a:xfrm>
            <a:off x="785557" y="1761398"/>
            <a:ext cx="2438025" cy="325236"/>
          </a:xfrm>
          <a:prstGeom prst="rect">
            <a:avLst/>
          </a:prstGeom>
          <a:noFill/>
        </p:spPr>
        <p:txBody>
          <a:bodyPr wrap="none" lIns="0" tIns="0" rIns="0" bIns="0" rtlCol="0">
            <a:noAutofit/>
          </a:bodyPr>
          <a:lstStyle>
            <a:defPPr>
              <a:defRPr lang="de-DE"/>
            </a:defPPr>
            <a:lvl1pPr>
              <a:lnSpc>
                <a:spcPct val="110000"/>
              </a:lnSpc>
              <a:spcBef>
                <a:spcPts val="0"/>
              </a:spcBef>
              <a:defRPr sz="1600">
                <a:solidFill>
                  <a:schemeClr val="tx1"/>
                </a:solidFill>
                <a:latin typeface="+mn-lt"/>
                <a:ea typeface="Arial Unicode MS" panose="020B0604020202020204" pitchFamily="34" charset="-128"/>
                <a:cs typeface="Arial Unicode MS" panose="020B0604020202020204" pitchFamily="34" charset="-128"/>
              </a:defRPr>
            </a:lvl1p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rPr>
              <a:t>Polynomial 1</a:t>
            </a:r>
            <a:r>
              <a:rPr kumimoji="0" lang="en-US" sz="1600" b="0" i="0" u="none" strike="noStrike" kern="1200" cap="none" spc="0" normalizeH="0" baseline="30000" noProof="0">
                <a:ln>
                  <a:noFill/>
                </a:ln>
                <a:solidFill>
                  <a:srgbClr val="000000"/>
                </a:solidFill>
                <a:effectLst/>
                <a:uLnTx/>
                <a:uFillTx/>
                <a:latin typeface="Arial"/>
                <a:ea typeface="Arial Unicode MS" panose="020B0604020202020204" pitchFamily="34" charset="-128"/>
              </a:rPr>
              <a:t>st</a:t>
            </a: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rPr>
              <a:t> degree</a:t>
            </a:r>
          </a:p>
        </p:txBody>
      </p:sp>
      <p:sp>
        <p:nvSpPr>
          <p:cNvPr id="10" name="Textfeld 9">
            <a:extLst>
              <a:ext uri="{FF2B5EF4-FFF2-40B4-BE49-F238E27FC236}">
                <a16:creationId xmlns:a16="http://schemas.microsoft.com/office/drawing/2014/main" id="{6B3C8145-3B7A-49D3-8DA3-B4021083D853}"/>
              </a:ext>
            </a:extLst>
          </p:cNvPr>
          <p:cNvSpPr txBox="1"/>
          <p:nvPr/>
        </p:nvSpPr>
        <p:spPr>
          <a:xfrm>
            <a:off x="7437661" y="1761554"/>
            <a:ext cx="914400" cy="182966"/>
          </a:xfrm>
          <a:prstGeom prst="rect">
            <a:avLst/>
          </a:prstGeom>
          <a:noFill/>
        </p:spPr>
        <p:txBody>
          <a:bodyPr wrap="none" lIns="0" tIns="0" rIns="0" bIns="0" rtlCol="0">
            <a:noAutofit/>
          </a:body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400" b="1" i="0" u="none" strike="noStrike" kern="1200" cap="none" spc="0" normalizeH="0" baseline="0" noProof="0">
                <a:ln>
                  <a:noFill/>
                </a:ln>
                <a:solidFill>
                  <a:srgbClr val="3333CC"/>
                </a:solidFill>
                <a:effectLst/>
                <a:uLnTx/>
                <a:uFillTx/>
                <a:latin typeface="Arial"/>
                <a:ea typeface="Arial Unicode MS" panose="020B0604020202020204" pitchFamily="34" charset="-128"/>
                <a:cs typeface="Arial Unicode MS" panose="020B0604020202020204" pitchFamily="34" charset="-128"/>
              </a:rPr>
              <a:t>Train data</a:t>
            </a:r>
          </a:p>
        </p:txBody>
      </p:sp>
      <p:sp>
        <p:nvSpPr>
          <p:cNvPr id="24" name="Textfeld 23">
            <a:extLst>
              <a:ext uri="{FF2B5EF4-FFF2-40B4-BE49-F238E27FC236}">
                <a16:creationId xmlns:a16="http://schemas.microsoft.com/office/drawing/2014/main" id="{E7369A29-7F56-4AD2-ABCC-CD648E37D45A}"/>
              </a:ext>
            </a:extLst>
          </p:cNvPr>
          <p:cNvSpPr txBox="1"/>
          <p:nvPr/>
        </p:nvSpPr>
        <p:spPr>
          <a:xfrm>
            <a:off x="7517051" y="3836724"/>
            <a:ext cx="914400" cy="182966"/>
          </a:xfrm>
          <a:prstGeom prst="rect">
            <a:avLst/>
          </a:prstGeom>
          <a:noFill/>
        </p:spPr>
        <p:txBody>
          <a:bodyPr wrap="none" lIns="0" tIns="0" rIns="0" bIns="0" rtlCol="0">
            <a:noAutofit/>
          </a:bodyPr>
          <a:lstStyle/>
          <a:p>
            <a:pPr marL="0" marR="0" lvl="0" indent="0" algn="l" defTabSz="914400" rtl="0" eaLnBrk="1" fontAlgn="base" latinLnBrk="0" hangingPunct="1">
              <a:lnSpc>
                <a:spcPct val="110000"/>
              </a:lnSpc>
              <a:spcBef>
                <a:spcPts val="0"/>
              </a:spcBef>
              <a:spcAft>
                <a:spcPct val="0"/>
              </a:spcAft>
              <a:buClrTx/>
              <a:buSzTx/>
              <a:buFontTx/>
              <a:buNone/>
              <a:tabLst/>
              <a:defRPr/>
            </a:pPr>
            <a:r>
              <a:rPr kumimoji="0" lang="en-US" sz="1400" b="1" i="0" u="none" strike="noStrike" kern="1200" cap="none" spc="0" normalizeH="0" baseline="0" noProof="0">
                <a:ln>
                  <a:noFill/>
                </a:ln>
                <a:solidFill>
                  <a:srgbClr val="00B050"/>
                </a:solidFill>
                <a:effectLst/>
                <a:uLnTx/>
                <a:uFillTx/>
                <a:latin typeface="Arial"/>
                <a:ea typeface="Arial Unicode MS" panose="020B0604020202020204" pitchFamily="34" charset="-128"/>
                <a:cs typeface="Arial Unicode MS" panose="020B0604020202020204" pitchFamily="34" charset="-128"/>
              </a:rPr>
              <a:t>Test data</a:t>
            </a:r>
          </a:p>
        </p:txBody>
      </p:sp>
    </p:spTree>
    <p:extLst>
      <p:ext uri="{BB962C8B-B14F-4D97-AF65-F5344CB8AC3E}">
        <p14:creationId xmlns:p14="http://schemas.microsoft.com/office/powerpoint/2010/main" val="177697146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3E16122-B264-447F-A28B-0F631C706A3D}"/>
              </a:ext>
            </a:extLst>
          </p:cNvPr>
          <p:cNvSpPr>
            <a:spLocks noGrp="1"/>
          </p:cNvSpPr>
          <p:nvPr>
            <p:ph type="title"/>
          </p:nvPr>
        </p:nvSpPr>
        <p:spPr/>
        <p:txBody>
          <a:bodyPr/>
          <a:lstStyle/>
          <a:p>
            <a:r>
              <a:rPr lang="en-US"/>
              <a:t>How to Prevent Overfitting 2: </a:t>
            </a:r>
            <a:br>
              <a:rPr lang="en-US"/>
            </a:br>
            <a:r>
              <a:rPr lang="en-US"/>
              <a:t>k-Fold Cross Validation</a:t>
            </a:r>
          </a:p>
        </p:txBody>
      </p:sp>
      <p:sp>
        <p:nvSpPr>
          <p:cNvPr id="6" name="Inhaltsplatzhalter 5">
            <a:extLst>
              <a:ext uri="{FF2B5EF4-FFF2-40B4-BE49-F238E27FC236}">
                <a16:creationId xmlns:a16="http://schemas.microsoft.com/office/drawing/2014/main" id="{99695BEB-D9B4-46A3-AC1B-5565F2529578}"/>
              </a:ext>
            </a:extLst>
          </p:cNvPr>
          <p:cNvSpPr>
            <a:spLocks noGrp="1"/>
          </p:cNvSpPr>
          <p:nvPr>
            <p:ph idx="1"/>
          </p:nvPr>
        </p:nvSpPr>
        <p:spPr>
          <a:xfrm>
            <a:off x="627063" y="1440000"/>
            <a:ext cx="5472112" cy="4752000"/>
          </a:xfrm>
        </p:spPr>
        <p:txBody>
          <a:bodyPr/>
          <a:lstStyle/>
          <a:p>
            <a:pPr marL="285750" indent="-285750">
              <a:lnSpc>
                <a:spcPct val="150000"/>
              </a:lnSpc>
              <a:spcBef>
                <a:spcPts val="1800"/>
              </a:spcBef>
              <a:buFont typeface="Arial" panose="020B0604020202020204" pitchFamily="34" charset="0"/>
              <a:buChar char="•"/>
            </a:pPr>
            <a:r>
              <a:rPr lang="en-US" sz="1600"/>
              <a:t>Used if number of training data is limited</a:t>
            </a:r>
          </a:p>
          <a:p>
            <a:pPr marL="285750" indent="-285750">
              <a:lnSpc>
                <a:spcPct val="150000"/>
              </a:lnSpc>
              <a:spcBef>
                <a:spcPts val="1800"/>
              </a:spcBef>
              <a:buFont typeface="Arial" panose="020B0604020202020204" pitchFamily="34" charset="0"/>
              <a:buChar char="•"/>
            </a:pPr>
            <a:r>
              <a:rPr lang="en-US" sz="1600"/>
              <a:t>Parameter k: data is split into k subgroups</a:t>
            </a:r>
          </a:p>
          <a:p>
            <a:pPr marL="644525" lvl="2" indent="-285750">
              <a:lnSpc>
                <a:spcPct val="150000"/>
              </a:lnSpc>
              <a:spcBef>
                <a:spcPts val="1800"/>
              </a:spcBef>
              <a:buFont typeface="Wingdings" panose="05000000000000000000" pitchFamily="2" charset="2"/>
              <a:buChar char="Ø"/>
            </a:pPr>
            <a:r>
              <a:rPr lang="en-US" sz="1600"/>
              <a:t>i.e. k=10 data is split into 10 groups.</a:t>
            </a:r>
          </a:p>
          <a:p>
            <a:pPr marL="285750" indent="-285750">
              <a:lnSpc>
                <a:spcPct val="150000"/>
              </a:lnSpc>
              <a:spcBef>
                <a:spcPts val="1800"/>
              </a:spcBef>
              <a:buFont typeface="Arial" panose="020B0604020202020204" pitchFamily="34" charset="0"/>
              <a:buChar char="•"/>
            </a:pPr>
            <a:r>
              <a:rPr lang="en-US" sz="1600"/>
              <a:t>Generally model evaluation is less biased than with simple train/test split</a:t>
            </a:r>
          </a:p>
          <a:p>
            <a:pPr>
              <a:lnSpc>
                <a:spcPct val="105000"/>
              </a:lnSpc>
              <a:spcBef>
                <a:spcPts val="600"/>
              </a:spcBef>
            </a:pPr>
            <a:endParaRPr lang="en-US" sz="1600"/>
          </a:p>
        </p:txBody>
      </p:sp>
      <p:sp>
        <p:nvSpPr>
          <p:cNvPr id="10" name="Inhaltsplatzhalter 9">
            <a:extLst>
              <a:ext uri="{FF2B5EF4-FFF2-40B4-BE49-F238E27FC236}">
                <a16:creationId xmlns:a16="http://schemas.microsoft.com/office/drawing/2014/main" id="{4247DA07-4618-4573-B472-5DE455139F22}"/>
              </a:ext>
            </a:extLst>
          </p:cNvPr>
          <p:cNvSpPr>
            <a:spLocks noGrp="1"/>
          </p:cNvSpPr>
          <p:nvPr>
            <p:ph sz="quarter" idx="13"/>
          </p:nvPr>
        </p:nvSpPr>
        <p:spPr>
          <a:xfrm>
            <a:off x="6243638" y="1444013"/>
            <a:ext cx="5472112" cy="4752000"/>
          </a:xfrm>
        </p:spPr>
        <p:txBody>
          <a:bodyPr/>
          <a:lstStyle/>
          <a:p>
            <a:pPr>
              <a:lnSpc>
                <a:spcPct val="105000"/>
              </a:lnSpc>
              <a:spcBef>
                <a:spcPts val="600"/>
              </a:spcBef>
            </a:pPr>
            <a:r>
              <a:rPr lang="en-US" sz="1600"/>
              <a:t>General procedure :</a:t>
            </a:r>
          </a:p>
          <a:p>
            <a:pPr marL="342900" indent="-342900">
              <a:lnSpc>
                <a:spcPct val="105000"/>
              </a:lnSpc>
              <a:spcBef>
                <a:spcPts val="600"/>
              </a:spcBef>
              <a:buFont typeface="+mj-lt"/>
              <a:buAutoNum type="arabicPeriod"/>
            </a:pPr>
            <a:r>
              <a:rPr lang="en-US" sz="1400"/>
              <a:t>Shuffle the dataset randomly.</a:t>
            </a:r>
          </a:p>
          <a:p>
            <a:pPr marL="342900" indent="-342900">
              <a:lnSpc>
                <a:spcPct val="105000"/>
              </a:lnSpc>
              <a:spcBef>
                <a:spcPts val="600"/>
              </a:spcBef>
              <a:buFont typeface="+mj-lt"/>
              <a:buAutoNum type="arabicPeriod"/>
            </a:pPr>
            <a:r>
              <a:rPr lang="en-US" sz="1400"/>
              <a:t>Split the dataset into k groups</a:t>
            </a:r>
          </a:p>
          <a:p>
            <a:pPr marL="342900" indent="-342900">
              <a:lnSpc>
                <a:spcPct val="105000"/>
              </a:lnSpc>
              <a:spcBef>
                <a:spcPts val="600"/>
              </a:spcBef>
              <a:buFont typeface="+mj-lt"/>
              <a:buAutoNum type="arabicPeriod"/>
            </a:pPr>
            <a:r>
              <a:rPr lang="en-US" sz="1400"/>
              <a:t>For each unique group:</a:t>
            </a:r>
          </a:p>
          <a:p>
            <a:pPr marL="703263" lvl="3" indent="-342900">
              <a:lnSpc>
                <a:spcPct val="105000"/>
              </a:lnSpc>
              <a:spcBef>
                <a:spcPts val="600"/>
              </a:spcBef>
              <a:buFont typeface="+mj-lt"/>
              <a:buAutoNum type="arabicPeriod"/>
            </a:pPr>
            <a:r>
              <a:rPr lang="en-US" sz="1400"/>
              <a:t>Take the group as a hold out or test data set</a:t>
            </a:r>
          </a:p>
          <a:p>
            <a:pPr marL="703263" lvl="3" indent="-342900">
              <a:lnSpc>
                <a:spcPct val="105000"/>
              </a:lnSpc>
              <a:spcBef>
                <a:spcPts val="600"/>
              </a:spcBef>
              <a:buFont typeface="+mj-lt"/>
              <a:buAutoNum type="arabicPeriod"/>
            </a:pPr>
            <a:r>
              <a:rPr lang="en-US" sz="1400"/>
              <a:t>Take the remaining groups as a training data set</a:t>
            </a:r>
          </a:p>
          <a:p>
            <a:pPr marL="703263" lvl="3" indent="-342900">
              <a:lnSpc>
                <a:spcPct val="105000"/>
              </a:lnSpc>
              <a:spcBef>
                <a:spcPts val="600"/>
              </a:spcBef>
              <a:buFont typeface="+mj-lt"/>
              <a:buAutoNum type="arabicPeriod"/>
            </a:pPr>
            <a:r>
              <a:rPr lang="en-US" sz="1400"/>
              <a:t>Fit a model on the training set and evaluate it on the test set</a:t>
            </a:r>
          </a:p>
          <a:p>
            <a:pPr marL="703263" lvl="3" indent="-342900">
              <a:lnSpc>
                <a:spcPct val="105000"/>
              </a:lnSpc>
              <a:spcBef>
                <a:spcPts val="600"/>
              </a:spcBef>
              <a:buFont typeface="+mj-lt"/>
              <a:buAutoNum type="arabicPeriod"/>
            </a:pPr>
            <a:r>
              <a:rPr lang="en-US" sz="1400"/>
              <a:t>Retain the evaluation score and discard the model</a:t>
            </a:r>
          </a:p>
          <a:p>
            <a:pPr marL="342900" indent="-342900">
              <a:lnSpc>
                <a:spcPct val="105000"/>
              </a:lnSpc>
              <a:spcBef>
                <a:spcPts val="600"/>
              </a:spcBef>
              <a:buFont typeface="+mj-lt"/>
              <a:buAutoNum type="arabicPeriod"/>
            </a:pPr>
            <a:r>
              <a:rPr lang="en-US" sz="1400"/>
              <a:t>Summarize the skill of the model using the sample of model evaluation scores</a:t>
            </a:r>
          </a:p>
        </p:txBody>
      </p:sp>
      <p:sp>
        <p:nvSpPr>
          <p:cNvPr id="12" name="Rechteck 11">
            <a:extLst>
              <a:ext uri="{FF2B5EF4-FFF2-40B4-BE49-F238E27FC236}">
                <a16:creationId xmlns:a16="http://schemas.microsoft.com/office/drawing/2014/main" id="{E4F95FCA-D810-4FD1-9DD4-28D93BA0BDFB}"/>
              </a:ext>
            </a:extLst>
          </p:cNvPr>
          <p:cNvSpPr/>
          <p:nvPr/>
        </p:nvSpPr>
        <p:spPr bwMode="auto">
          <a:xfrm>
            <a:off x="627063" y="5241974"/>
            <a:ext cx="11088687" cy="784830"/>
          </a:xfrm>
          <a:prstGeom prst="rect">
            <a:avLst/>
          </a:prstGeom>
          <a:ln w="28575">
            <a:solidFill>
              <a:srgbClr val="00646E"/>
            </a:solid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k subgroups -&gt; k models: one subgroup is test dataset, rest is training data set.</a:t>
            </a:r>
          </a:p>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Average the results.</a:t>
            </a:r>
          </a:p>
        </p:txBody>
      </p:sp>
      <p:sp>
        <p:nvSpPr>
          <p:cNvPr id="13" name="Rechteck 12">
            <a:extLst>
              <a:ext uri="{FF2B5EF4-FFF2-40B4-BE49-F238E27FC236}">
                <a16:creationId xmlns:a16="http://schemas.microsoft.com/office/drawing/2014/main" id="{DB0702EE-35AD-4FD4-B168-FDD2E97D0796}"/>
              </a:ext>
            </a:extLst>
          </p:cNvPr>
          <p:cNvSpPr/>
          <p:nvPr/>
        </p:nvSpPr>
        <p:spPr bwMode="auto">
          <a:xfrm>
            <a:off x="6897003" y="6237312"/>
            <a:ext cx="4824536" cy="324036"/>
          </a:xfrm>
          <a:prstGeom prst="rect">
            <a:avLst/>
          </a:prstGeom>
          <a:noFill/>
          <a:ln>
            <a:noFill/>
          </a:ln>
          <a:effectLst/>
        </p:spPr>
        <p:txBody>
          <a:bodyPr wrap="square" lIns="108000" tIns="54000" rIns="108000" bIns="54000" numCol="1" spcCol="72000" rtlCol="0" anchor="ctr">
            <a:noAutofit/>
          </a:bodyPr>
          <a:lstStyle/>
          <a:p>
            <a:pPr marL="0" marR="0" lvl="0" indent="0" algn="r" defTabSz="914400" rtl="0" eaLnBrk="1" fontAlgn="base" latinLnBrk="0" hangingPunct="1">
              <a:lnSpc>
                <a:spcPct val="110000"/>
              </a:lnSpc>
              <a:spcBef>
                <a:spcPct val="0"/>
              </a:spcBef>
              <a:spcAft>
                <a:spcPct val="0"/>
              </a:spcAft>
              <a:buClrTx/>
              <a:buSzTx/>
              <a:buFont typeface="Wingdings" charset="0"/>
              <a:buNone/>
              <a:tabLst/>
              <a:defRPr/>
            </a:pPr>
            <a:r>
              <a:rPr kumimoji="0" lang="de-DE" sz="1000" b="0" i="0" u="none" strike="noStrike" kern="1200" cap="none" spc="0" normalizeH="0" baseline="0" noProof="0">
                <a:ln>
                  <a:noFill/>
                </a:ln>
                <a:solidFill>
                  <a:srgbClr val="ADBECB"/>
                </a:solidFill>
                <a:effectLst/>
                <a:uLnTx/>
                <a:uFillTx/>
                <a:latin typeface="Arial" pitchFamily="34" charset="0"/>
                <a:ea typeface="ＭＳ Ｐゴシック" charset="-128"/>
                <a:cs typeface="+mn-cs"/>
                <a:hlinkClick r:id="rId3"/>
              </a:rPr>
              <a:t>Source: https://machinelearningmastery.com/k-fold-cross-validation/</a:t>
            </a:r>
            <a:endPar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8013528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090D6C-7FA2-4842-8E08-EA259B777B8B}"/>
              </a:ext>
            </a:extLst>
          </p:cNvPr>
          <p:cNvSpPr>
            <a:spLocks noGrp="1"/>
          </p:cNvSpPr>
          <p:nvPr>
            <p:ph type="title"/>
          </p:nvPr>
        </p:nvSpPr>
        <p:spPr/>
        <p:txBody>
          <a:bodyPr/>
          <a:lstStyle/>
          <a:p>
            <a:r>
              <a:rPr lang="en-US" dirty="0"/>
              <a:t>Exercise 1.2: Quiz</a:t>
            </a:r>
          </a:p>
        </p:txBody>
      </p:sp>
      <p:sp>
        <p:nvSpPr>
          <p:cNvPr id="3" name="Inhaltsplatzhalter 2">
            <a:extLst>
              <a:ext uri="{FF2B5EF4-FFF2-40B4-BE49-F238E27FC236}">
                <a16:creationId xmlns:a16="http://schemas.microsoft.com/office/drawing/2014/main" id="{0EF4D9C8-AFC7-479B-AE2E-17CACAC811C0}"/>
              </a:ext>
            </a:extLst>
          </p:cNvPr>
          <p:cNvSpPr>
            <a:spLocks noGrp="1"/>
          </p:cNvSpPr>
          <p:nvPr>
            <p:ph idx="1"/>
          </p:nvPr>
        </p:nvSpPr>
        <p:spPr>
          <a:xfrm>
            <a:off x="842591" y="1468227"/>
            <a:ext cx="4968056" cy="2184088"/>
          </a:xfrm>
        </p:spPr>
        <p:txBody>
          <a:bodyPr anchor="ctr"/>
          <a:lstStyle/>
          <a:p>
            <a:pPr algn="ctr">
              <a:spcBef>
                <a:spcPts val="600"/>
              </a:spcBef>
              <a:spcAft>
                <a:spcPts val="600"/>
              </a:spcAft>
            </a:pPr>
            <a:endParaRPr lang="en-US" sz="2000" dirty="0"/>
          </a:p>
          <a:p>
            <a:pPr algn="ctr">
              <a:spcBef>
                <a:spcPts val="600"/>
              </a:spcBef>
              <a:spcAft>
                <a:spcPts val="600"/>
              </a:spcAft>
            </a:pPr>
            <a:r>
              <a:rPr lang="en-US" sz="2000" dirty="0"/>
              <a:t>		</a:t>
            </a:r>
          </a:p>
          <a:p>
            <a:pPr algn="ctr">
              <a:spcBef>
                <a:spcPts val="600"/>
              </a:spcBef>
              <a:spcAft>
                <a:spcPts val="600"/>
              </a:spcAft>
            </a:pPr>
            <a:r>
              <a:rPr lang="en-US" sz="2000" dirty="0">
                <a:hlinkClick r:id="rId3"/>
              </a:rPr>
              <a:t>https://forms.office.com/r/d0fArXiVtm</a:t>
            </a:r>
            <a:endParaRPr lang="en-US" sz="2000" dirty="0"/>
          </a:p>
          <a:p>
            <a:pPr algn="ctr">
              <a:spcBef>
                <a:spcPts val="600"/>
              </a:spcBef>
              <a:spcAft>
                <a:spcPts val="600"/>
              </a:spcAft>
            </a:pPr>
            <a:endParaRPr lang="en-US" sz="2000" b="1" dirty="0"/>
          </a:p>
          <a:p>
            <a:pPr lvl="1" indent="0">
              <a:spcBef>
                <a:spcPts val="600"/>
              </a:spcBef>
              <a:spcAft>
                <a:spcPts val="600"/>
              </a:spcAft>
              <a:buNone/>
            </a:pPr>
            <a:endParaRPr lang="en-US" sz="2000" dirty="0"/>
          </a:p>
          <a:p>
            <a:pPr marL="465138" lvl="1" indent="-285750">
              <a:buFont typeface="Arial" panose="020B0604020202020204" pitchFamily="34" charset="0"/>
              <a:buChar char="•"/>
            </a:pPr>
            <a:endParaRPr lang="en-US" sz="2000" dirty="0"/>
          </a:p>
        </p:txBody>
      </p:sp>
      <p:sp>
        <p:nvSpPr>
          <p:cNvPr id="4" name="Rechteck 3">
            <a:extLst>
              <a:ext uri="{FF2B5EF4-FFF2-40B4-BE49-F238E27FC236}">
                <a16:creationId xmlns:a16="http://schemas.microsoft.com/office/drawing/2014/main" id="{5451DBE2-675A-4C23-9439-0031597B6348}"/>
              </a:ext>
            </a:extLst>
          </p:cNvPr>
          <p:cNvSpPr/>
          <p:nvPr/>
        </p:nvSpPr>
        <p:spPr bwMode="auto">
          <a:xfrm>
            <a:off x="0" y="6652933"/>
            <a:ext cx="1270000" cy="15613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0" numCol="1" spcCol="72000" rtlCol="0" anchor="ctr">
            <a:sp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Intern</a:t>
            </a:r>
          </a:p>
        </p:txBody>
      </p:sp>
      <p:pic>
        <p:nvPicPr>
          <p:cNvPr id="5" name="Grafik 4">
            <a:extLst>
              <a:ext uri="{FF2B5EF4-FFF2-40B4-BE49-F238E27FC236}">
                <a16:creationId xmlns:a16="http://schemas.microsoft.com/office/drawing/2014/main" id="{7E9BADAE-8B6A-43DB-BB62-FDE74620EA1E}"/>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557889" y="3320988"/>
            <a:ext cx="5460396" cy="2575566"/>
          </a:xfrm>
          <a:prstGeom prst="rect">
            <a:avLst/>
          </a:prstGeom>
        </p:spPr>
      </p:pic>
      <p:pic>
        <p:nvPicPr>
          <p:cNvPr id="6" name="Grafik 5">
            <a:extLst>
              <a:ext uri="{FF2B5EF4-FFF2-40B4-BE49-F238E27FC236}">
                <a16:creationId xmlns:a16="http://schemas.microsoft.com/office/drawing/2014/main" id="{5E208BAE-8435-4351-92CF-66DDFCCED2F1}"/>
              </a:ext>
            </a:extLst>
          </p:cNvPr>
          <p:cNvPicPr>
            <a:picLocks noChangeAspect="1"/>
          </p:cNvPicPr>
          <p:nvPr/>
        </p:nvPicPr>
        <p:blipFill>
          <a:blip r:embed="rId5"/>
          <a:stretch>
            <a:fillRect/>
          </a:stretch>
        </p:blipFill>
        <p:spPr>
          <a:xfrm>
            <a:off x="6018285" y="1439999"/>
            <a:ext cx="5845532" cy="4668526"/>
          </a:xfrm>
          <a:prstGeom prst="rect">
            <a:avLst/>
          </a:prstGeom>
        </p:spPr>
      </p:pic>
      <p:sp>
        <p:nvSpPr>
          <p:cNvPr id="7" name="Textfeld 6">
            <a:extLst>
              <a:ext uri="{FF2B5EF4-FFF2-40B4-BE49-F238E27FC236}">
                <a16:creationId xmlns:a16="http://schemas.microsoft.com/office/drawing/2014/main" id="{96D82243-191A-40C8-9C0B-C3F4FCFF0C26}"/>
              </a:ext>
            </a:extLst>
          </p:cNvPr>
          <p:cNvSpPr txBox="1"/>
          <p:nvPr/>
        </p:nvSpPr>
        <p:spPr>
          <a:xfrm>
            <a:off x="8691463" y="6333840"/>
            <a:ext cx="914400" cy="163593"/>
          </a:xfrm>
          <a:prstGeom prst="rect">
            <a:avLst/>
          </a:prstGeom>
          <a:noFill/>
        </p:spPr>
        <p:txBody>
          <a:bodyPr wrap="none" lIns="0" tIns="0" rIns="0" bIns="0" rtlCol="0">
            <a:no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kumimoji="0" lang="en-US" sz="1000" b="1" i="0" u="none" strike="noStrike" kern="1200" cap="none" spc="0" normalizeH="0" baseline="0" noProof="0">
                <a:ln>
                  <a:noFill/>
                </a:ln>
                <a:solidFill>
                  <a:srgbClr val="ADBECB"/>
                </a:solidFill>
                <a:effectLst/>
                <a:uLnTx/>
                <a:uFillTx/>
                <a:latin typeface="Arial" pitchFamily="34" charset="0"/>
                <a:ea typeface="ＭＳ Ｐゴシック" charset="-128"/>
                <a:cs typeface="+mn-cs"/>
                <a:hlinkClick r:id="rId6"/>
              </a:rPr>
              <a:t>https://forms.office.com/Pages/DesignPage.aspx#</a:t>
            </a:r>
            <a:endParaRPr kumimoji="0" lang="en-US" sz="1000" b="1" i="0" u="none" strike="noStrike" kern="1200" cap="none" spc="0" normalizeH="0" baseline="0" noProof="0">
              <a:ln>
                <a:noFill/>
              </a:ln>
              <a:solidFill>
                <a:srgbClr val="ADBECB"/>
              </a:solidFill>
              <a:effectLst/>
              <a:uLnTx/>
              <a:uFillTx/>
              <a:latin typeface="Arial" pitchFamily="34" charset="0"/>
              <a:ea typeface="ＭＳ Ｐゴシック" charset="-128"/>
              <a:cs typeface="+mn-cs"/>
            </a:endParaRPr>
          </a:p>
        </p:txBody>
      </p:sp>
    </p:spTree>
    <p:extLst>
      <p:ext uri="{BB962C8B-B14F-4D97-AF65-F5344CB8AC3E}">
        <p14:creationId xmlns:p14="http://schemas.microsoft.com/office/powerpoint/2010/main" val="3957675570"/>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FE48435A-1A5F-4127-96F0-C5144C364EC3}"/>
              </a:ext>
            </a:extLst>
          </p:cNvPr>
          <p:cNvSpPr>
            <a:spLocks noGrp="1"/>
          </p:cNvSpPr>
          <p:nvPr>
            <p:ph type="title"/>
          </p:nvPr>
        </p:nvSpPr>
        <p:spPr/>
        <p:txBody>
          <a:bodyPr/>
          <a:lstStyle/>
          <a:p>
            <a:r>
              <a:rPr lang="en-US"/>
              <a:t>Model Limitations (Review)</a:t>
            </a:r>
          </a:p>
        </p:txBody>
      </p:sp>
      <p:sp>
        <p:nvSpPr>
          <p:cNvPr id="8" name="Rechteck 7">
            <a:extLst>
              <a:ext uri="{FF2B5EF4-FFF2-40B4-BE49-F238E27FC236}">
                <a16:creationId xmlns:a16="http://schemas.microsoft.com/office/drawing/2014/main" id="{EFB91369-E6A9-400B-97ED-E1398EF03262}"/>
              </a:ext>
            </a:extLst>
          </p:cNvPr>
          <p:cNvSpPr/>
          <p:nvPr/>
        </p:nvSpPr>
        <p:spPr bwMode="auto">
          <a:xfrm>
            <a:off x="627063" y="1895903"/>
            <a:ext cx="827596" cy="3991148"/>
          </a:xfrm>
          <a:prstGeom prst="rect">
            <a:avLst/>
          </a:prstGeom>
          <a:solidFill>
            <a:srgbClr val="00646E"/>
          </a:solidFill>
          <a:ln>
            <a:noFill/>
          </a:ln>
          <a:effectLst/>
        </p:spPr>
        <p:txBody>
          <a:bodyPr vert="vert270"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FFFFFF"/>
                </a:solidFill>
                <a:effectLst/>
                <a:uLnTx/>
                <a:uFillTx/>
                <a:latin typeface="Arial"/>
                <a:ea typeface="Arial Unicode MS" panose="020B0604020202020204" pitchFamily="34" charset="-128"/>
                <a:cs typeface="Arial Unicode MS" panose="020B0604020202020204" pitchFamily="34" charset="-128"/>
              </a:rPr>
              <a:t>Model Error</a:t>
            </a:r>
          </a:p>
        </p:txBody>
      </p:sp>
      <p:sp>
        <p:nvSpPr>
          <p:cNvPr id="25" name="Rechteck 24">
            <a:extLst>
              <a:ext uri="{FF2B5EF4-FFF2-40B4-BE49-F238E27FC236}">
                <a16:creationId xmlns:a16="http://schemas.microsoft.com/office/drawing/2014/main" id="{19875219-2DA8-4D4B-ACDD-CF4DB4033C4E}"/>
              </a:ext>
            </a:extLst>
          </p:cNvPr>
          <p:cNvSpPr/>
          <p:nvPr/>
        </p:nvSpPr>
        <p:spPr bwMode="auto">
          <a:xfrm>
            <a:off x="1692878" y="1917328"/>
            <a:ext cx="1597985" cy="1215848"/>
          </a:xfrm>
          <a:prstGeom prst="rect">
            <a:avLst/>
          </a:prstGeom>
          <a:solidFill>
            <a:srgbClr val="00646E"/>
          </a:solid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FFFFFF"/>
                </a:solidFill>
                <a:effectLst/>
                <a:uLnTx/>
                <a:uFillTx/>
                <a:latin typeface="Arial"/>
                <a:ea typeface="Arial Unicode MS" panose="020B0604020202020204" pitchFamily="34" charset="-128"/>
                <a:cs typeface="Arial Unicode MS" panose="020B0604020202020204" pitchFamily="34" charset="-128"/>
              </a:rPr>
              <a:t>Bias Error/ Underfitting</a:t>
            </a:r>
          </a:p>
        </p:txBody>
      </p:sp>
      <p:sp>
        <p:nvSpPr>
          <p:cNvPr id="26" name="Rechteck 25">
            <a:extLst>
              <a:ext uri="{FF2B5EF4-FFF2-40B4-BE49-F238E27FC236}">
                <a16:creationId xmlns:a16="http://schemas.microsoft.com/office/drawing/2014/main" id="{468D53F2-291E-4FBC-8389-A92FE8ED5A79}"/>
              </a:ext>
            </a:extLst>
          </p:cNvPr>
          <p:cNvSpPr/>
          <p:nvPr/>
        </p:nvSpPr>
        <p:spPr bwMode="auto">
          <a:xfrm>
            <a:off x="1692878" y="3337780"/>
            <a:ext cx="1597985" cy="1079625"/>
          </a:xfrm>
          <a:prstGeom prst="rect">
            <a:avLst/>
          </a:prstGeom>
          <a:solidFill>
            <a:srgbClr val="00646E"/>
          </a:solid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FFFFFF"/>
                </a:solidFill>
                <a:effectLst/>
                <a:uLnTx/>
                <a:uFillTx/>
                <a:latin typeface="Arial"/>
                <a:ea typeface="Arial Unicode MS" panose="020B0604020202020204" pitchFamily="34" charset="-128"/>
                <a:cs typeface="Arial Unicode MS" panose="020B0604020202020204" pitchFamily="34" charset="-128"/>
              </a:rPr>
              <a:t>Variance Error/ Overfitting</a:t>
            </a:r>
          </a:p>
        </p:txBody>
      </p:sp>
      <p:sp>
        <p:nvSpPr>
          <p:cNvPr id="27" name="Rechteck 26">
            <a:extLst>
              <a:ext uri="{FF2B5EF4-FFF2-40B4-BE49-F238E27FC236}">
                <a16:creationId xmlns:a16="http://schemas.microsoft.com/office/drawing/2014/main" id="{62B95CDE-8614-44B3-B482-C3C2761CD09D}"/>
              </a:ext>
            </a:extLst>
          </p:cNvPr>
          <p:cNvSpPr/>
          <p:nvPr/>
        </p:nvSpPr>
        <p:spPr bwMode="auto">
          <a:xfrm>
            <a:off x="1692878" y="4719390"/>
            <a:ext cx="1597985" cy="1182836"/>
          </a:xfrm>
          <a:prstGeom prst="rect">
            <a:avLst/>
          </a:prstGeom>
          <a:solidFill>
            <a:srgbClr val="00646E"/>
          </a:solid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FFFFFF"/>
                </a:solidFill>
                <a:effectLst/>
                <a:uLnTx/>
                <a:uFillTx/>
                <a:latin typeface="Arial"/>
                <a:ea typeface="Arial Unicode MS" panose="020B0604020202020204" pitchFamily="34" charset="-128"/>
                <a:cs typeface="Arial Unicode MS" panose="020B0604020202020204" pitchFamily="34" charset="-128"/>
              </a:rPr>
              <a:t>Irreducible Error</a:t>
            </a:r>
          </a:p>
        </p:txBody>
      </p:sp>
      <p:sp>
        <p:nvSpPr>
          <p:cNvPr id="28" name="Rechteck 27">
            <a:extLst>
              <a:ext uri="{FF2B5EF4-FFF2-40B4-BE49-F238E27FC236}">
                <a16:creationId xmlns:a16="http://schemas.microsoft.com/office/drawing/2014/main" id="{65A56EA7-59D4-4ABD-87C2-603940C568E9}"/>
              </a:ext>
            </a:extLst>
          </p:cNvPr>
          <p:cNvSpPr/>
          <p:nvPr/>
        </p:nvSpPr>
        <p:spPr bwMode="auto">
          <a:xfrm>
            <a:off x="1692877" y="1304863"/>
            <a:ext cx="1597985"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Error Type</a:t>
            </a:r>
          </a:p>
        </p:txBody>
      </p:sp>
      <p:sp>
        <p:nvSpPr>
          <p:cNvPr id="41" name="Rechteck 40">
            <a:extLst>
              <a:ext uri="{FF2B5EF4-FFF2-40B4-BE49-F238E27FC236}">
                <a16:creationId xmlns:a16="http://schemas.microsoft.com/office/drawing/2014/main" id="{2B7819F7-7B44-4223-811B-49ABC581A4F7}"/>
              </a:ext>
            </a:extLst>
          </p:cNvPr>
          <p:cNvSpPr/>
          <p:nvPr/>
        </p:nvSpPr>
        <p:spPr bwMode="auto">
          <a:xfrm>
            <a:off x="3470884" y="1912949"/>
            <a:ext cx="1404155" cy="1215848"/>
          </a:xfrm>
          <a:prstGeom prst="rect">
            <a:avLst/>
          </a:prstGeom>
          <a:noFill/>
          <a:ln>
            <a:solidFill>
              <a:srgbClr val="00646E"/>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Model is too simple</a:t>
            </a:r>
          </a:p>
        </p:txBody>
      </p:sp>
      <p:sp>
        <p:nvSpPr>
          <p:cNvPr id="42" name="Rechteck 41">
            <a:extLst>
              <a:ext uri="{FF2B5EF4-FFF2-40B4-BE49-F238E27FC236}">
                <a16:creationId xmlns:a16="http://schemas.microsoft.com/office/drawing/2014/main" id="{948257A2-467B-4B82-8D12-435A4FE55DA7}"/>
              </a:ext>
            </a:extLst>
          </p:cNvPr>
          <p:cNvSpPr/>
          <p:nvPr/>
        </p:nvSpPr>
        <p:spPr bwMode="auto">
          <a:xfrm>
            <a:off x="3470884" y="3333401"/>
            <a:ext cx="1404155" cy="1079625"/>
          </a:xfrm>
          <a:prstGeom prst="rect">
            <a:avLst/>
          </a:prstGeom>
          <a:noFill/>
          <a:ln>
            <a:solidFill>
              <a:srgbClr val="00646E"/>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Modell is too complex</a:t>
            </a:r>
          </a:p>
        </p:txBody>
      </p:sp>
      <p:sp>
        <p:nvSpPr>
          <p:cNvPr id="43" name="Rechteck 42">
            <a:extLst>
              <a:ext uri="{FF2B5EF4-FFF2-40B4-BE49-F238E27FC236}">
                <a16:creationId xmlns:a16="http://schemas.microsoft.com/office/drawing/2014/main" id="{6D1CDD9A-6CF7-49E4-AD8E-8F16E0D65826}"/>
              </a:ext>
            </a:extLst>
          </p:cNvPr>
          <p:cNvSpPr/>
          <p:nvPr/>
        </p:nvSpPr>
        <p:spPr bwMode="auto">
          <a:xfrm>
            <a:off x="3470884" y="4715011"/>
            <a:ext cx="1404155" cy="1182836"/>
          </a:xfrm>
          <a:prstGeom prst="rect">
            <a:avLst/>
          </a:prstGeom>
          <a:noFill/>
          <a:ln>
            <a:solidFill>
              <a:srgbClr val="00646E"/>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Data are not sufficient</a:t>
            </a:r>
          </a:p>
        </p:txBody>
      </p:sp>
      <p:sp>
        <p:nvSpPr>
          <p:cNvPr id="44" name="Rechteck 43">
            <a:extLst>
              <a:ext uri="{FF2B5EF4-FFF2-40B4-BE49-F238E27FC236}">
                <a16:creationId xmlns:a16="http://schemas.microsoft.com/office/drawing/2014/main" id="{8B3B7685-938F-4A4C-83EC-B86D160512D9}"/>
              </a:ext>
            </a:extLst>
          </p:cNvPr>
          <p:cNvSpPr/>
          <p:nvPr/>
        </p:nvSpPr>
        <p:spPr bwMode="auto">
          <a:xfrm>
            <a:off x="3470883" y="1300484"/>
            <a:ext cx="1404155"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Summary</a:t>
            </a:r>
          </a:p>
        </p:txBody>
      </p:sp>
      <p:sp>
        <p:nvSpPr>
          <p:cNvPr id="49" name="Rechteck 48">
            <a:extLst>
              <a:ext uri="{FF2B5EF4-FFF2-40B4-BE49-F238E27FC236}">
                <a16:creationId xmlns:a16="http://schemas.microsoft.com/office/drawing/2014/main" id="{731957D3-6A64-4B95-995B-89CC0A1D3DB4}"/>
              </a:ext>
            </a:extLst>
          </p:cNvPr>
          <p:cNvSpPr/>
          <p:nvPr/>
        </p:nvSpPr>
        <p:spPr bwMode="auto">
          <a:xfrm>
            <a:off x="7646980" y="1904191"/>
            <a:ext cx="2052183" cy="1215848"/>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High forecasting error both in training and test data</a:t>
            </a:r>
          </a:p>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Model doesn’t vary much with changing training data</a:t>
            </a:r>
          </a:p>
        </p:txBody>
      </p:sp>
      <p:sp>
        <p:nvSpPr>
          <p:cNvPr id="50" name="Rechteck 49">
            <a:extLst>
              <a:ext uri="{FF2B5EF4-FFF2-40B4-BE49-F238E27FC236}">
                <a16:creationId xmlns:a16="http://schemas.microsoft.com/office/drawing/2014/main" id="{AA5E8329-57FE-4A6D-B51A-E1FD3898C802}"/>
              </a:ext>
            </a:extLst>
          </p:cNvPr>
          <p:cNvSpPr/>
          <p:nvPr/>
        </p:nvSpPr>
        <p:spPr bwMode="auto">
          <a:xfrm>
            <a:off x="7646981" y="3324643"/>
            <a:ext cx="2052182" cy="1079625"/>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High forecasting error in test data, not in training data</a:t>
            </a:r>
          </a:p>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Model varies a lot with changing training data</a:t>
            </a:r>
          </a:p>
        </p:txBody>
      </p:sp>
      <p:sp>
        <p:nvSpPr>
          <p:cNvPr id="51" name="Rechteck 50">
            <a:extLst>
              <a:ext uri="{FF2B5EF4-FFF2-40B4-BE49-F238E27FC236}">
                <a16:creationId xmlns:a16="http://schemas.microsoft.com/office/drawing/2014/main" id="{B81856B6-12DA-4628-AF85-E35B4DDCD81F}"/>
              </a:ext>
            </a:extLst>
          </p:cNvPr>
          <p:cNvSpPr/>
          <p:nvPr/>
        </p:nvSpPr>
        <p:spPr bwMode="auto">
          <a:xfrm>
            <a:off x="7646981" y="4706253"/>
            <a:ext cx="2052182" cy="1182836"/>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00000"/>
              </a:lnSpc>
              <a:spcBef>
                <a:spcPct val="0"/>
              </a:spcBef>
              <a:spcAft>
                <a:spcPts val="20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Model varies not a lot with changing (same type of) training data</a:t>
            </a:r>
          </a:p>
        </p:txBody>
      </p:sp>
      <p:sp>
        <p:nvSpPr>
          <p:cNvPr id="52" name="Rechteck 51">
            <a:extLst>
              <a:ext uri="{FF2B5EF4-FFF2-40B4-BE49-F238E27FC236}">
                <a16:creationId xmlns:a16="http://schemas.microsoft.com/office/drawing/2014/main" id="{971C2B99-5F73-4050-8E95-D95F32FDE2D7}"/>
              </a:ext>
            </a:extLst>
          </p:cNvPr>
          <p:cNvSpPr/>
          <p:nvPr/>
        </p:nvSpPr>
        <p:spPr bwMode="auto">
          <a:xfrm>
            <a:off x="7646981" y="1291726"/>
            <a:ext cx="2052181"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Consequences</a:t>
            </a:r>
          </a:p>
        </p:txBody>
      </p:sp>
      <p:sp>
        <p:nvSpPr>
          <p:cNvPr id="53" name="Rechteck 52">
            <a:extLst>
              <a:ext uri="{FF2B5EF4-FFF2-40B4-BE49-F238E27FC236}">
                <a16:creationId xmlns:a16="http://schemas.microsoft.com/office/drawing/2014/main" id="{324FFF47-F275-4F6B-98EA-4EFA15A66DF3}"/>
              </a:ext>
            </a:extLst>
          </p:cNvPr>
          <p:cNvSpPr/>
          <p:nvPr/>
        </p:nvSpPr>
        <p:spPr bwMode="auto">
          <a:xfrm>
            <a:off x="5055059" y="1902154"/>
            <a:ext cx="2376221" cy="1215848"/>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The (unknown) true target function is more complex than the model.</a:t>
            </a:r>
          </a:p>
        </p:txBody>
      </p:sp>
      <p:sp>
        <p:nvSpPr>
          <p:cNvPr id="54" name="Rechteck 53">
            <a:extLst>
              <a:ext uri="{FF2B5EF4-FFF2-40B4-BE49-F238E27FC236}">
                <a16:creationId xmlns:a16="http://schemas.microsoft.com/office/drawing/2014/main" id="{AB7B7A2C-351B-4F20-B0C4-B6E404711E17}"/>
              </a:ext>
            </a:extLst>
          </p:cNvPr>
          <p:cNvSpPr/>
          <p:nvPr/>
        </p:nvSpPr>
        <p:spPr bwMode="auto">
          <a:xfrm>
            <a:off x="5055060" y="3322606"/>
            <a:ext cx="2376220" cy="1079625"/>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The true target function is simpler than the model. Common reason: </a:t>
            </a: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model tries to overcome irreducible error</a:t>
            </a:r>
          </a:p>
        </p:txBody>
      </p:sp>
      <p:sp>
        <p:nvSpPr>
          <p:cNvPr id="55" name="Rechteck 54">
            <a:extLst>
              <a:ext uri="{FF2B5EF4-FFF2-40B4-BE49-F238E27FC236}">
                <a16:creationId xmlns:a16="http://schemas.microsoft.com/office/drawing/2014/main" id="{F744BAC1-47D3-4EB0-A139-9CE4B69311A7}"/>
              </a:ext>
            </a:extLst>
          </p:cNvPr>
          <p:cNvSpPr/>
          <p:nvPr/>
        </p:nvSpPr>
        <p:spPr bwMode="auto">
          <a:xfrm>
            <a:off x="5055060" y="4704216"/>
            <a:ext cx="2376220" cy="1182836"/>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Factors which were not measured have an impact: </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not measured input variables</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environmental factors</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measurement errors</a:t>
            </a:r>
          </a:p>
          <a:p>
            <a:pPr marL="171450" marR="0" lvl="0" indent="-171450" algn="l" defTabSz="914400" rtl="0" eaLnBrk="1" fontAlgn="base" latinLnBrk="0" hangingPunct="1">
              <a:lnSpc>
                <a:spcPct val="100000"/>
              </a:lnSpc>
              <a:spcBef>
                <a:spcPct val="0"/>
              </a:spcBef>
              <a:spcAft>
                <a:spcPct val="0"/>
              </a:spcAft>
              <a:buClrTx/>
              <a:buSzTx/>
              <a:buFont typeface="Arial" panose="020B0604020202020204" pitchFamily="34" charset="0"/>
              <a:buChar char="•"/>
              <a:tabLst/>
              <a:defRPr/>
            </a:pPr>
            <a:r>
              <a:rPr kumimoji="0" lang="en-US" sz="10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sampling bias, …</a:t>
            </a:r>
          </a:p>
        </p:txBody>
      </p:sp>
      <p:sp>
        <p:nvSpPr>
          <p:cNvPr id="56" name="Rechteck 55">
            <a:extLst>
              <a:ext uri="{FF2B5EF4-FFF2-40B4-BE49-F238E27FC236}">
                <a16:creationId xmlns:a16="http://schemas.microsoft.com/office/drawing/2014/main" id="{9E2C62A1-4155-44C1-A33B-139E2B24C7B6}"/>
              </a:ext>
            </a:extLst>
          </p:cNvPr>
          <p:cNvSpPr/>
          <p:nvPr/>
        </p:nvSpPr>
        <p:spPr bwMode="auto">
          <a:xfrm>
            <a:off x="5055060" y="1289689"/>
            <a:ext cx="2376219"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Details</a:t>
            </a:r>
          </a:p>
        </p:txBody>
      </p:sp>
      <p:sp>
        <p:nvSpPr>
          <p:cNvPr id="62" name="Rechteck 61">
            <a:extLst>
              <a:ext uri="{FF2B5EF4-FFF2-40B4-BE49-F238E27FC236}">
                <a16:creationId xmlns:a16="http://schemas.microsoft.com/office/drawing/2014/main" id="{AC0D6E07-FFB6-4E75-9E73-4A9C364CC986}"/>
              </a:ext>
            </a:extLst>
          </p:cNvPr>
          <p:cNvSpPr/>
          <p:nvPr/>
        </p:nvSpPr>
        <p:spPr bwMode="auto">
          <a:xfrm>
            <a:off x="10045806" y="1904191"/>
            <a:ext cx="1922021" cy="1215848"/>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Review with domain experts</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Analyze residuals</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mn-cs"/>
              </a:rPr>
              <a:t>Increase complexity</a:t>
            </a:r>
          </a:p>
        </p:txBody>
      </p:sp>
      <p:sp>
        <p:nvSpPr>
          <p:cNvPr id="63" name="Rechteck 62">
            <a:extLst>
              <a:ext uri="{FF2B5EF4-FFF2-40B4-BE49-F238E27FC236}">
                <a16:creationId xmlns:a16="http://schemas.microsoft.com/office/drawing/2014/main" id="{1204E057-584E-4D15-931D-F2456C7AF68E}"/>
              </a:ext>
            </a:extLst>
          </p:cNvPr>
          <p:cNvSpPr/>
          <p:nvPr/>
        </p:nvSpPr>
        <p:spPr bwMode="auto">
          <a:xfrm>
            <a:off x="10045807" y="3324643"/>
            <a:ext cx="1922020" cy="1079625"/>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Review with domain experts</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Split data in training and test data</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k-fold cross validation</a:t>
            </a:r>
          </a:p>
        </p:txBody>
      </p:sp>
      <p:sp>
        <p:nvSpPr>
          <p:cNvPr id="64" name="Rechteck 63">
            <a:extLst>
              <a:ext uri="{FF2B5EF4-FFF2-40B4-BE49-F238E27FC236}">
                <a16:creationId xmlns:a16="http://schemas.microsoft.com/office/drawing/2014/main" id="{278AE140-DB52-4A38-9E72-C63FB23D3530}"/>
              </a:ext>
            </a:extLst>
          </p:cNvPr>
          <p:cNvSpPr/>
          <p:nvPr/>
        </p:nvSpPr>
        <p:spPr bwMode="auto">
          <a:xfrm>
            <a:off x="10045807" y="4706253"/>
            <a:ext cx="1922020" cy="1182836"/>
          </a:xfrm>
          <a:prstGeom prst="rect">
            <a:avLst/>
          </a:prstGeom>
          <a:noFill/>
          <a:ln>
            <a:solidFill>
              <a:srgbClr val="00646E"/>
            </a:solidFill>
          </a:ln>
          <a:effectLst/>
        </p:spPr>
        <p:txBody>
          <a:bodyPr rot="0" spcFirstLastPara="0" vertOverflow="overflow" horzOverflow="overflow" vert="horz" wrap="square" lIns="108000" tIns="54000" rIns="108000" bIns="54000" numCol="1" spcCol="72000" rtlCol="0" fromWordArt="0" anchor="ctr" anchorCtr="0" forceAA="0" compatLnSpc="1">
            <a:prstTxWarp prst="textNoShape">
              <a:avLst/>
            </a:prstTxWarp>
            <a:noAutofit/>
          </a:bodyPr>
          <a:lstStyle/>
          <a:p>
            <a:pPr marL="0" marR="0" lvl="0" indent="0" algn="l" defTabSz="914400" rtl="0" eaLnBrk="1" fontAlgn="base" latinLnBrk="0" hangingPunct="1">
              <a:lnSpc>
                <a:spcPct val="110000"/>
              </a:lnSpc>
              <a:spcBef>
                <a:spcPct val="0"/>
              </a:spcBef>
              <a:spcAft>
                <a:spcPct val="0"/>
              </a:spcAft>
              <a:buClrTx/>
              <a:buSzTx/>
              <a:buFontTx/>
              <a:buNone/>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Can not be reduced with different algorithm!</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Review with domain experts</a:t>
            </a:r>
          </a:p>
          <a:p>
            <a:pPr marL="171450" marR="0" lvl="0" indent="-171450" algn="l" defTabSz="914400" rtl="0" eaLnBrk="1" fontAlgn="base" latinLnBrk="0" hangingPunct="1">
              <a:lnSpc>
                <a:spcPct val="110000"/>
              </a:lnSpc>
              <a:spcBef>
                <a:spcPct val="0"/>
              </a:spcBef>
              <a:spcAft>
                <a:spcPct val="0"/>
              </a:spcAft>
              <a:buClrTx/>
              <a:buSzTx/>
              <a:buFont typeface="Arial" panose="020B0604020202020204" pitchFamily="34" charset="0"/>
              <a:buChar char="•"/>
              <a:tabLst/>
              <a:defRPr/>
            </a:pPr>
            <a:r>
              <a:rPr kumimoji="0" lang="en-US" sz="1200" b="0" i="0" u="none" strike="noStrike" kern="1200" cap="none" spc="0" normalizeH="0" baseline="0" noProof="0">
                <a:ln>
                  <a:noFill/>
                </a:ln>
                <a:solidFill>
                  <a:srgbClr val="000000"/>
                </a:solidFill>
                <a:effectLst/>
                <a:uLnTx/>
                <a:uFillTx/>
                <a:latin typeface="Arial" pitchFamily="34" charset="0"/>
                <a:ea typeface="Arial Unicode MS" panose="020B0604020202020204" pitchFamily="34" charset="-128"/>
                <a:cs typeface="+mn-cs"/>
              </a:rPr>
              <a:t>Collect better data</a:t>
            </a:r>
          </a:p>
        </p:txBody>
      </p:sp>
      <p:sp>
        <p:nvSpPr>
          <p:cNvPr id="65" name="Rechteck 64">
            <a:extLst>
              <a:ext uri="{FF2B5EF4-FFF2-40B4-BE49-F238E27FC236}">
                <a16:creationId xmlns:a16="http://schemas.microsoft.com/office/drawing/2014/main" id="{0C4BCCBA-99E1-405F-8F07-72046965566A}"/>
              </a:ext>
            </a:extLst>
          </p:cNvPr>
          <p:cNvSpPr/>
          <p:nvPr/>
        </p:nvSpPr>
        <p:spPr bwMode="auto">
          <a:xfrm>
            <a:off x="10045807" y="1291726"/>
            <a:ext cx="1922019" cy="611969"/>
          </a:xfrm>
          <a:prstGeom prst="rect">
            <a:avLst/>
          </a:prstGeom>
          <a:noFill/>
          <a:ln>
            <a:no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r>
              <a:rPr kumimoji="0" lang="en-US" sz="1600" b="1"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rPr>
              <a:t>How to prevent it</a:t>
            </a:r>
          </a:p>
        </p:txBody>
      </p:sp>
      <p:sp>
        <p:nvSpPr>
          <p:cNvPr id="70" name="Rechteck 69">
            <a:extLst>
              <a:ext uri="{FF2B5EF4-FFF2-40B4-BE49-F238E27FC236}">
                <a16:creationId xmlns:a16="http://schemas.microsoft.com/office/drawing/2014/main" id="{FEA1E5FB-DC82-490F-AD02-A5E6C3997DB1}"/>
              </a:ext>
            </a:extLst>
          </p:cNvPr>
          <p:cNvSpPr/>
          <p:nvPr/>
        </p:nvSpPr>
        <p:spPr>
          <a:xfrm>
            <a:off x="627064" y="5975992"/>
            <a:ext cx="11340763" cy="369332"/>
          </a:xfrm>
          <a:prstGeom prst="rect">
            <a:avLst/>
          </a:prstGeom>
          <a:ln w="28575">
            <a:solidFill>
              <a:srgbClr val="00646E"/>
            </a:solidFill>
          </a:ln>
        </p:spPr>
        <p:txBody>
          <a:bodyPr wrap="square">
            <a:spAutoFit/>
          </a:bodyPr>
          <a:lstStyle/>
          <a:p>
            <a:pPr marL="0" marR="0" lvl="0" indent="0" algn="ctr" defTabSz="914400" rtl="0" eaLnBrk="1" fontAlgn="base" latinLnBrk="0" hangingPunct="1">
              <a:lnSpc>
                <a:spcPct val="100000"/>
              </a:lnSpc>
              <a:spcBef>
                <a:spcPct val="50000"/>
              </a:spcBef>
              <a:spcAft>
                <a:spcPct val="0"/>
              </a:spcAft>
              <a:buClrTx/>
              <a:buSzTx/>
              <a:buFontTx/>
              <a:buNone/>
              <a:tabLst/>
              <a:defRPr/>
            </a:pPr>
            <a:r>
              <a:rPr kumimoji="0" lang="en-US" sz="1800" b="0" i="0" u="none" strike="noStrike" kern="1200" cap="none" spc="0" normalizeH="0" baseline="0" noProof="0">
                <a:ln>
                  <a:noFill/>
                </a:ln>
                <a:solidFill>
                  <a:srgbClr val="000000"/>
                </a:solidFill>
                <a:effectLst/>
                <a:uLnTx/>
                <a:uFillTx/>
                <a:latin typeface="Arial" pitchFamily="34" charset="0"/>
                <a:ea typeface="ＭＳ Ｐゴシック" charset="-128"/>
                <a:cs typeface="+mn-cs"/>
              </a:rPr>
              <a:t>Any build model build is an approximation of a true target function and therefore includes errors.</a:t>
            </a:r>
          </a:p>
        </p:txBody>
      </p:sp>
    </p:spTree>
    <p:extLst>
      <p:ext uri="{BB962C8B-B14F-4D97-AF65-F5344CB8AC3E}">
        <p14:creationId xmlns:p14="http://schemas.microsoft.com/office/powerpoint/2010/main" val="585320881"/>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err="1"/>
              <a:t>Overview</a:t>
            </a:r>
            <a:r>
              <a:rPr lang="de-DE"/>
              <a:t>: </a:t>
            </a:r>
            <a:r>
              <a:rPr lang="de-DE" err="1"/>
              <a:t>what</a:t>
            </a:r>
            <a:r>
              <a:rPr lang="de-DE"/>
              <a:t> </a:t>
            </a:r>
            <a:r>
              <a:rPr lang="de-DE" err="1"/>
              <a:t>we</a:t>
            </a:r>
            <a:r>
              <a:rPr lang="de-DE"/>
              <a:t> </a:t>
            </a:r>
            <a:r>
              <a:rPr lang="de-DE" err="1"/>
              <a:t>achieved</a:t>
            </a:r>
            <a:r>
              <a:rPr lang="de-DE"/>
              <a:t> so </a:t>
            </a:r>
            <a:r>
              <a:rPr lang="de-DE" err="1"/>
              <a:t>far</a:t>
            </a:r>
            <a:endParaRPr lang="de-DE"/>
          </a:p>
        </p:txBody>
      </p:sp>
      <p:graphicFrame>
        <p:nvGraphicFramePr>
          <p:cNvPr id="8" name="Tabelle 8">
            <a:extLst>
              <a:ext uri="{FF2B5EF4-FFF2-40B4-BE49-F238E27FC236}">
                <a16:creationId xmlns:a16="http://schemas.microsoft.com/office/drawing/2014/main" id="{5F58DBC5-4155-48F7-BDFF-6C068F155D8D}"/>
              </a:ext>
            </a:extLst>
          </p:cNvPr>
          <p:cNvGraphicFramePr>
            <a:graphicFrameLocks noGrp="1"/>
          </p:cNvGraphicFramePr>
          <p:nvPr>
            <p:extLst>
              <p:ext uri="{D42A27DB-BD31-4B8C-83A1-F6EECF244321}">
                <p14:modId xmlns:p14="http://schemas.microsoft.com/office/powerpoint/2010/main" val="3093875777"/>
              </p:ext>
            </p:extLst>
          </p:nvPr>
        </p:nvGraphicFramePr>
        <p:xfrm>
          <a:off x="626567" y="1601995"/>
          <a:ext cx="10693188" cy="2839720"/>
        </p:xfrm>
        <a:graphic>
          <a:graphicData uri="http://schemas.openxmlformats.org/drawingml/2006/table">
            <a:tbl>
              <a:tblPr firstRow="1" bandRow="1">
                <a:tableStyleId>{5C22544A-7EE6-4342-B048-85BDC9FD1C3A}</a:tableStyleId>
              </a:tblPr>
              <a:tblGrid>
                <a:gridCol w="1782198">
                  <a:extLst>
                    <a:ext uri="{9D8B030D-6E8A-4147-A177-3AD203B41FA5}">
                      <a16:colId xmlns:a16="http://schemas.microsoft.com/office/drawing/2014/main" val="2087970704"/>
                    </a:ext>
                  </a:extLst>
                </a:gridCol>
                <a:gridCol w="1437070">
                  <a:extLst>
                    <a:ext uri="{9D8B030D-6E8A-4147-A177-3AD203B41FA5}">
                      <a16:colId xmlns:a16="http://schemas.microsoft.com/office/drawing/2014/main" val="1708460055"/>
                    </a:ext>
                  </a:extLst>
                </a:gridCol>
                <a:gridCol w="2127326">
                  <a:extLst>
                    <a:ext uri="{9D8B030D-6E8A-4147-A177-3AD203B41FA5}">
                      <a16:colId xmlns:a16="http://schemas.microsoft.com/office/drawing/2014/main" val="1810983359"/>
                    </a:ext>
                  </a:extLst>
                </a:gridCol>
                <a:gridCol w="1975662">
                  <a:extLst>
                    <a:ext uri="{9D8B030D-6E8A-4147-A177-3AD203B41FA5}">
                      <a16:colId xmlns:a16="http://schemas.microsoft.com/office/drawing/2014/main" val="4033084280"/>
                    </a:ext>
                  </a:extLst>
                </a:gridCol>
                <a:gridCol w="1588734">
                  <a:extLst>
                    <a:ext uri="{9D8B030D-6E8A-4147-A177-3AD203B41FA5}">
                      <a16:colId xmlns:a16="http://schemas.microsoft.com/office/drawing/2014/main" val="4045622136"/>
                    </a:ext>
                  </a:extLst>
                </a:gridCol>
                <a:gridCol w="1782198">
                  <a:extLst>
                    <a:ext uri="{9D8B030D-6E8A-4147-A177-3AD203B41FA5}">
                      <a16:colId xmlns:a16="http://schemas.microsoft.com/office/drawing/2014/main" val="3988611160"/>
                    </a:ext>
                  </a:extLst>
                </a:gridCol>
              </a:tblGrid>
              <a:tr h="370840">
                <a:tc>
                  <a:txBody>
                    <a:bodyPr/>
                    <a:lstStyle/>
                    <a:p>
                      <a:endParaRPr lang="de-DE"/>
                    </a:p>
                  </a:txBody>
                  <a:tcPr/>
                </a:tc>
                <a:tc>
                  <a:txBody>
                    <a:bodyPr/>
                    <a:lstStyle/>
                    <a:p>
                      <a:r>
                        <a:rPr lang="de-DE"/>
                        <a:t>Target </a:t>
                      </a:r>
                      <a:r>
                        <a:rPr lang="de-DE" err="1"/>
                        <a:t>values</a:t>
                      </a:r>
                      <a:endParaRPr lang="de-DE"/>
                    </a:p>
                  </a:txBody>
                  <a:tcPr/>
                </a:tc>
                <a:tc>
                  <a:txBody>
                    <a:bodyPr/>
                    <a:lstStyle/>
                    <a:p>
                      <a:r>
                        <a:rPr lang="de-DE"/>
                        <a:t>Loss </a:t>
                      </a:r>
                      <a:r>
                        <a:rPr lang="de-DE" err="1"/>
                        <a:t>function</a:t>
                      </a:r>
                      <a:endParaRPr lang="de-DE"/>
                    </a:p>
                  </a:txBody>
                  <a:tcPr/>
                </a:tc>
                <a:tc>
                  <a:txBody>
                    <a:bodyPr/>
                    <a:lstStyle/>
                    <a:p>
                      <a:r>
                        <a:rPr lang="de-DE"/>
                        <a:t>Error </a:t>
                      </a:r>
                      <a:r>
                        <a:rPr lang="de-DE" err="1"/>
                        <a:t>metric</a:t>
                      </a:r>
                      <a:endParaRPr lang="de-DE"/>
                    </a:p>
                  </a:txBody>
                  <a:tcPr>
                    <a:lnR w="12700" cap="flat" cmpd="sng" algn="ctr">
                      <a:solidFill>
                        <a:schemeClr val="tx1"/>
                      </a:solidFill>
                      <a:prstDash val="solid"/>
                      <a:round/>
                      <a:headEnd type="none" w="med" len="med"/>
                      <a:tailEnd type="none" w="med" len="med"/>
                    </a:lnR>
                  </a:tcPr>
                </a:tc>
                <a:tc>
                  <a:txBody>
                    <a:bodyPr/>
                    <a:lstStyle/>
                    <a:p>
                      <a:r>
                        <a:rPr lang="de-DE"/>
                        <a:t>Act </a:t>
                      </a:r>
                      <a:r>
                        <a:rPr lang="de-DE" err="1"/>
                        <a:t>function</a:t>
                      </a:r>
                      <a:r>
                        <a:rPr lang="de-DE"/>
                        <a:t> last </a:t>
                      </a:r>
                      <a:r>
                        <a:rPr lang="de-DE" err="1"/>
                        <a:t>layer</a:t>
                      </a:r>
                      <a:endParaRPr lang="de-DE"/>
                    </a:p>
                  </a:txBody>
                  <a:tcPr>
                    <a:lnL w="12700" cap="flat" cmpd="sng" algn="ctr">
                      <a:solidFill>
                        <a:schemeClr val="tx1"/>
                      </a:solidFill>
                      <a:prstDash val="solid"/>
                      <a:round/>
                      <a:headEnd type="none" w="med" len="med"/>
                      <a:tailEnd type="none" w="med" len="med"/>
                    </a:lnL>
                  </a:tcPr>
                </a:tc>
                <a:tc>
                  <a:txBody>
                    <a:bodyPr/>
                    <a:lstStyle/>
                    <a:p>
                      <a:r>
                        <a:rPr lang="de-DE"/>
                        <a:t>Act </a:t>
                      </a:r>
                      <a:r>
                        <a:rPr lang="de-DE" err="1"/>
                        <a:t>func</a:t>
                      </a:r>
                      <a:r>
                        <a:rPr lang="de-DE"/>
                        <a:t> </a:t>
                      </a:r>
                      <a:r>
                        <a:rPr lang="de-DE" err="1"/>
                        <a:t>hidden</a:t>
                      </a:r>
                      <a:r>
                        <a:rPr lang="de-DE"/>
                        <a:t> </a:t>
                      </a:r>
                      <a:r>
                        <a:rPr lang="de-DE" err="1"/>
                        <a:t>layers</a:t>
                      </a:r>
                      <a:endParaRPr lang="de-DE"/>
                    </a:p>
                  </a:txBody>
                  <a:tcPr/>
                </a:tc>
                <a:extLst>
                  <a:ext uri="{0D108BD9-81ED-4DB2-BD59-A6C34878D82A}">
                    <a16:rowId xmlns:a16="http://schemas.microsoft.com/office/drawing/2014/main" val="1837334432"/>
                  </a:ext>
                </a:extLst>
              </a:tr>
              <a:tr h="370840">
                <a:tc>
                  <a:txBody>
                    <a:bodyPr/>
                    <a:lstStyle/>
                    <a:p>
                      <a:r>
                        <a:rPr lang="de-DE"/>
                        <a:t>Regression</a:t>
                      </a:r>
                    </a:p>
                  </a:txBody>
                  <a:tcPr>
                    <a:lnB w="12700" cap="flat" cmpd="sng" algn="ctr">
                      <a:solidFill>
                        <a:schemeClr val="tx1"/>
                      </a:solidFill>
                      <a:prstDash val="solid"/>
                      <a:round/>
                      <a:headEnd type="none" w="med" len="med"/>
                      <a:tailEnd type="none" w="med" len="med"/>
                    </a:lnB>
                  </a:tcPr>
                </a:tc>
                <a:tc>
                  <a:txBody>
                    <a:bodyPr/>
                    <a:lstStyle/>
                    <a:p>
                      <a:r>
                        <a:rPr lang="de-DE" err="1"/>
                        <a:t>Continuous</a:t>
                      </a:r>
                      <a:endParaRPr lang="de-DE"/>
                    </a:p>
                  </a:txBody>
                  <a:tcPr>
                    <a:lnB w="12700" cap="flat" cmpd="sng" algn="ctr">
                      <a:solidFill>
                        <a:schemeClr val="tx1"/>
                      </a:solidFill>
                      <a:prstDash val="solid"/>
                      <a:round/>
                      <a:headEnd type="none" w="med" len="med"/>
                      <a:tailEnd type="none" w="med" len="med"/>
                    </a:lnB>
                  </a:tcPr>
                </a:tc>
                <a:tc>
                  <a:txBody>
                    <a:bodyPr/>
                    <a:lstStyle/>
                    <a:p>
                      <a:r>
                        <a:rPr lang="de-DE"/>
                        <a:t>MSE, R², MAE,…</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MSE, R², MAE,…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de-DE"/>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de-DE"/>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49673"/>
                  </a:ext>
                </a:extLst>
              </a:tr>
              <a:tr h="370840">
                <a:tc>
                  <a:txBody>
                    <a:bodyPr/>
                    <a:lstStyle/>
                    <a:p>
                      <a:r>
                        <a:rPr lang="de-DE"/>
                        <a:t>Classification</a:t>
                      </a:r>
                    </a:p>
                  </a:txBody>
                  <a:tcPr>
                    <a:lnT w="12700" cap="flat" cmpd="sng" algn="ctr">
                      <a:solidFill>
                        <a:schemeClr val="tx1"/>
                      </a:solidFill>
                      <a:prstDash val="solid"/>
                      <a:round/>
                      <a:headEnd type="none" w="med" len="med"/>
                      <a:tailEnd type="none" w="med" len="med"/>
                    </a:lnT>
                  </a:tcPr>
                </a:tc>
                <a:tc>
                  <a:txBody>
                    <a:bodyPr/>
                    <a:lstStyle/>
                    <a:p>
                      <a:r>
                        <a:rPr lang="de-DE"/>
                        <a:t>Binary</a:t>
                      </a:r>
                    </a:p>
                  </a:txBody>
                  <a:tcPr>
                    <a:lnT w="12700" cap="flat" cmpd="sng" algn="ctr">
                      <a:solidFill>
                        <a:schemeClr val="tx1"/>
                      </a:solidFill>
                      <a:prstDash val="solid"/>
                      <a:round/>
                      <a:headEnd type="none" w="med" len="med"/>
                      <a:tailEnd type="none" w="med" len="med"/>
                    </a:lnT>
                  </a:tcPr>
                </a:tc>
                <a:tc>
                  <a:txBody>
                    <a:bodyPr/>
                    <a:lstStyle/>
                    <a:p>
                      <a:r>
                        <a:rPr lang="de-DE"/>
                        <a:t>Binary </a:t>
                      </a:r>
                      <a:r>
                        <a:rPr lang="de-DE" err="1"/>
                        <a:t>cross</a:t>
                      </a:r>
                      <a:r>
                        <a:rPr lang="de-DE"/>
                        <a:t> </a:t>
                      </a:r>
                      <a:r>
                        <a:rPr lang="de-DE" err="1"/>
                        <a:t>entropy</a:t>
                      </a:r>
                      <a:endParaRPr lang="de-DE"/>
                    </a:p>
                  </a:txBody>
                  <a:tcPr>
                    <a:lnT w="12700" cap="flat" cmpd="sng" algn="ctr">
                      <a:solidFill>
                        <a:schemeClr val="tx1"/>
                      </a:solidFill>
                      <a:prstDash val="solid"/>
                      <a:round/>
                      <a:headEnd type="none" w="med" len="med"/>
                      <a:tailEnd type="none" w="med" len="med"/>
                    </a:lnT>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de-DE"/>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de-DE"/>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53496704"/>
                  </a:ext>
                </a:extLst>
              </a:tr>
              <a:tr h="370840">
                <a:tc>
                  <a:txBody>
                    <a:bodyPr/>
                    <a:lstStyle/>
                    <a:p>
                      <a:endParaRPr lang="de-DE"/>
                    </a:p>
                  </a:txBody>
                  <a:tcPr/>
                </a:tc>
                <a:tc>
                  <a:txBody>
                    <a:bodyPr/>
                    <a:lstStyle/>
                    <a:p>
                      <a:r>
                        <a:rPr lang="de-DE"/>
                        <a:t>multiple </a:t>
                      </a:r>
                      <a:r>
                        <a:rPr lang="de-DE" err="1"/>
                        <a:t>classes</a:t>
                      </a:r>
                      <a:endParaRPr lang="de-DE"/>
                    </a:p>
                  </a:txBody>
                  <a:tcPr/>
                </a:tc>
                <a:tc>
                  <a:txBody>
                    <a:bodyPr/>
                    <a:lstStyle/>
                    <a:p>
                      <a:r>
                        <a:rPr lang="de-DE" err="1"/>
                        <a:t>categorical</a:t>
                      </a:r>
                      <a:r>
                        <a:rPr lang="de-DE"/>
                        <a:t> </a:t>
                      </a:r>
                      <a:r>
                        <a:rPr lang="de-DE" err="1"/>
                        <a:t>cross</a:t>
                      </a:r>
                      <a:r>
                        <a:rPr lang="de-DE"/>
                        <a:t> </a:t>
                      </a:r>
                      <a:r>
                        <a:rPr lang="de-DE" err="1"/>
                        <a:t>entropy</a:t>
                      </a:r>
                      <a:endParaRPr lang="de-DE"/>
                    </a:p>
                  </a:txBody>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tcPr>
                </a:tc>
                <a:tc>
                  <a:txBody>
                    <a:bodyPr/>
                    <a:lstStyle/>
                    <a:p>
                      <a:endParaRPr lang="de-DE"/>
                    </a:p>
                  </a:txBody>
                  <a:tcPr>
                    <a:lnL w="12700" cap="flat" cmpd="sng" algn="ctr">
                      <a:solidFill>
                        <a:schemeClr val="tx1"/>
                      </a:solidFill>
                      <a:prstDash val="solid"/>
                      <a:round/>
                      <a:headEnd type="none" w="med" len="med"/>
                      <a:tailEnd type="none" w="med" len="med"/>
                    </a:lnL>
                  </a:tcPr>
                </a:tc>
                <a:tc>
                  <a:txBody>
                    <a:bodyPr/>
                    <a:lstStyle/>
                    <a:p>
                      <a:endParaRPr lang="de-DE"/>
                    </a:p>
                  </a:txBody>
                  <a:tcPr/>
                </a:tc>
                <a:extLst>
                  <a:ext uri="{0D108BD9-81ED-4DB2-BD59-A6C34878D82A}">
                    <a16:rowId xmlns:a16="http://schemas.microsoft.com/office/drawing/2014/main" val="4206115666"/>
                  </a:ext>
                </a:extLst>
              </a:tr>
            </a:tbl>
          </a:graphicData>
        </a:graphic>
      </p:graphicFrame>
      <p:graphicFrame>
        <p:nvGraphicFramePr>
          <p:cNvPr id="10" name="Tabelle 10">
            <a:extLst>
              <a:ext uri="{FF2B5EF4-FFF2-40B4-BE49-F238E27FC236}">
                <a16:creationId xmlns:a16="http://schemas.microsoft.com/office/drawing/2014/main" id="{1D6B67EA-476B-4CCB-B75D-E65AB8EDAFD8}"/>
              </a:ext>
            </a:extLst>
          </p:cNvPr>
          <p:cNvGraphicFramePr>
            <a:graphicFrameLocks noGrp="1"/>
          </p:cNvGraphicFramePr>
          <p:nvPr/>
        </p:nvGraphicFramePr>
        <p:xfrm>
          <a:off x="624909" y="4603711"/>
          <a:ext cx="10693188" cy="1752600"/>
        </p:xfrm>
        <a:graphic>
          <a:graphicData uri="http://schemas.openxmlformats.org/drawingml/2006/table">
            <a:tbl>
              <a:tblPr firstRow="1" bandRow="1">
                <a:tableStyleId>{5C22544A-7EE6-4342-B048-85BDC9FD1C3A}</a:tableStyleId>
              </a:tblPr>
              <a:tblGrid>
                <a:gridCol w="1801858">
                  <a:extLst>
                    <a:ext uri="{9D8B030D-6E8A-4147-A177-3AD203B41FA5}">
                      <a16:colId xmlns:a16="http://schemas.microsoft.com/office/drawing/2014/main" val="2422419246"/>
                    </a:ext>
                  </a:extLst>
                </a:gridCol>
                <a:gridCol w="3564396">
                  <a:extLst>
                    <a:ext uri="{9D8B030D-6E8A-4147-A177-3AD203B41FA5}">
                      <a16:colId xmlns:a16="http://schemas.microsoft.com/office/drawing/2014/main" val="2997731740"/>
                    </a:ext>
                  </a:extLst>
                </a:gridCol>
                <a:gridCol w="5326934">
                  <a:extLst>
                    <a:ext uri="{9D8B030D-6E8A-4147-A177-3AD203B41FA5}">
                      <a16:colId xmlns:a16="http://schemas.microsoft.com/office/drawing/2014/main" val="666087568"/>
                    </a:ext>
                  </a:extLst>
                </a:gridCol>
              </a:tblGrid>
              <a:tr h="370840">
                <a:tc>
                  <a:txBody>
                    <a:bodyPr/>
                    <a:lstStyle/>
                    <a:p>
                      <a:endParaRPr lang="de-DE"/>
                    </a:p>
                  </a:txBody>
                  <a:tcPr/>
                </a:tc>
                <a:tc>
                  <a:txBody>
                    <a:bodyPr/>
                    <a:lstStyle/>
                    <a:p>
                      <a:r>
                        <a:rPr lang="de-DE" err="1"/>
                        <a:t>Decision</a:t>
                      </a:r>
                      <a:r>
                        <a:rPr lang="de-DE"/>
                        <a:t> </a:t>
                      </a:r>
                      <a:r>
                        <a:rPr lang="de-DE" err="1"/>
                        <a:t>Trees</a:t>
                      </a:r>
                      <a:endParaRPr lang="de-DE"/>
                    </a:p>
                  </a:txBody>
                  <a:tcPr/>
                </a:tc>
                <a:tc>
                  <a:txBody>
                    <a:bodyPr/>
                    <a:lstStyle/>
                    <a:p>
                      <a:r>
                        <a:rPr lang="de-DE" err="1"/>
                        <a:t>Artificial</a:t>
                      </a:r>
                      <a:r>
                        <a:rPr lang="de-DE"/>
                        <a:t> </a:t>
                      </a:r>
                      <a:r>
                        <a:rPr lang="de-DE" err="1"/>
                        <a:t>Neural</a:t>
                      </a:r>
                      <a:r>
                        <a:rPr lang="de-DE"/>
                        <a:t> Nets</a:t>
                      </a:r>
                    </a:p>
                  </a:txBody>
                  <a:tcPr/>
                </a:tc>
                <a:extLst>
                  <a:ext uri="{0D108BD9-81ED-4DB2-BD59-A6C34878D82A}">
                    <a16:rowId xmlns:a16="http://schemas.microsoft.com/office/drawing/2014/main" val="2726745514"/>
                  </a:ext>
                </a:extLst>
              </a:tr>
              <a:tr h="370840">
                <a:tc>
                  <a:txBody>
                    <a:bodyPr/>
                    <a:lstStyle/>
                    <a:p>
                      <a:r>
                        <a:rPr lang="de-DE" err="1"/>
                        <a:t>Tabular</a:t>
                      </a:r>
                      <a:r>
                        <a:rPr lang="de-DE"/>
                        <a:t> </a:t>
                      </a:r>
                      <a:r>
                        <a:rPr lang="de-DE" err="1"/>
                        <a:t>data</a:t>
                      </a:r>
                      <a:endParaRPr lang="de-DE"/>
                    </a:p>
                  </a:txBody>
                  <a:tcPr/>
                </a:tc>
                <a:tc>
                  <a:txBody>
                    <a:bodyPr/>
                    <a:lstStyle/>
                    <a:p>
                      <a:endParaRPr lang="de-DE"/>
                    </a:p>
                    <a:p>
                      <a:endParaRPr lang="de-DE"/>
                    </a:p>
                  </a:txBody>
                  <a:tcPr/>
                </a:tc>
                <a:tc>
                  <a:txBody>
                    <a:bodyPr/>
                    <a:lstStyle/>
                    <a:p>
                      <a:endParaRPr lang="de-DE"/>
                    </a:p>
                  </a:txBody>
                  <a:tcPr/>
                </a:tc>
                <a:extLst>
                  <a:ext uri="{0D108BD9-81ED-4DB2-BD59-A6C34878D82A}">
                    <a16:rowId xmlns:a16="http://schemas.microsoft.com/office/drawing/2014/main" val="1605544526"/>
                  </a:ext>
                </a:extLst>
              </a:tr>
              <a:tr h="370840">
                <a:tc>
                  <a:txBody>
                    <a:bodyPr/>
                    <a:lstStyle/>
                    <a:p>
                      <a:r>
                        <a:rPr lang="de-DE"/>
                        <a:t>Text</a:t>
                      </a:r>
                    </a:p>
                  </a:txBody>
                  <a:tcPr/>
                </a:tc>
                <a:tc>
                  <a:txBody>
                    <a:bodyPr/>
                    <a:lstStyle/>
                    <a:p>
                      <a:endParaRPr lang="de-DE"/>
                    </a:p>
                  </a:txBody>
                  <a:tcPr/>
                </a:tc>
                <a:tc>
                  <a:txBody>
                    <a:bodyPr/>
                    <a:lstStyle/>
                    <a:p>
                      <a:endParaRPr lang="de-DE"/>
                    </a:p>
                  </a:txBody>
                  <a:tcPr/>
                </a:tc>
                <a:extLst>
                  <a:ext uri="{0D108BD9-81ED-4DB2-BD59-A6C34878D82A}">
                    <a16:rowId xmlns:a16="http://schemas.microsoft.com/office/drawing/2014/main" val="2472260996"/>
                  </a:ext>
                </a:extLst>
              </a:tr>
              <a:tr h="370840">
                <a:tc>
                  <a:txBody>
                    <a:bodyPr/>
                    <a:lstStyle/>
                    <a:p>
                      <a:r>
                        <a:rPr lang="de-DE"/>
                        <a:t>Images</a:t>
                      </a:r>
                    </a:p>
                  </a:txBody>
                  <a:tcPr/>
                </a:tc>
                <a:tc>
                  <a:txBody>
                    <a:bodyPr/>
                    <a:lstStyle/>
                    <a:p>
                      <a:endParaRPr lang="de-DE"/>
                    </a:p>
                  </a:txBody>
                  <a:tcPr/>
                </a:tc>
                <a:tc>
                  <a:txBody>
                    <a:bodyPr/>
                    <a:lstStyle/>
                    <a:p>
                      <a:endParaRPr lang="de-DE"/>
                    </a:p>
                  </a:txBody>
                  <a:tcPr/>
                </a:tc>
                <a:extLst>
                  <a:ext uri="{0D108BD9-81ED-4DB2-BD59-A6C34878D82A}">
                    <a16:rowId xmlns:a16="http://schemas.microsoft.com/office/drawing/2014/main" val="3245338458"/>
                  </a:ext>
                </a:extLst>
              </a:tr>
            </a:tbl>
          </a:graphicData>
        </a:graphic>
      </p:graphicFrame>
    </p:spTree>
    <p:extLst>
      <p:ext uri="{BB962C8B-B14F-4D97-AF65-F5344CB8AC3E}">
        <p14:creationId xmlns:p14="http://schemas.microsoft.com/office/powerpoint/2010/main" val="251472936"/>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59614" y="3591018"/>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de-DE"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88952166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err="1"/>
              <a:t>Overview</a:t>
            </a:r>
            <a:r>
              <a:rPr lang="de-DE"/>
              <a:t>: </a:t>
            </a:r>
            <a:r>
              <a:rPr lang="de-DE" err="1"/>
              <a:t>what</a:t>
            </a:r>
            <a:r>
              <a:rPr lang="de-DE"/>
              <a:t> </a:t>
            </a:r>
            <a:r>
              <a:rPr lang="de-DE" err="1"/>
              <a:t>comes</a:t>
            </a:r>
            <a:r>
              <a:rPr lang="de-DE"/>
              <a:t> </a:t>
            </a:r>
            <a:r>
              <a:rPr lang="de-DE" err="1"/>
              <a:t>next</a:t>
            </a:r>
            <a:endParaRPr lang="de-DE"/>
          </a:p>
        </p:txBody>
      </p:sp>
      <p:graphicFrame>
        <p:nvGraphicFramePr>
          <p:cNvPr id="8" name="Tabelle 8">
            <a:extLst>
              <a:ext uri="{FF2B5EF4-FFF2-40B4-BE49-F238E27FC236}">
                <a16:creationId xmlns:a16="http://schemas.microsoft.com/office/drawing/2014/main" id="{5F58DBC5-4155-48F7-BDFF-6C068F155D8D}"/>
              </a:ext>
            </a:extLst>
          </p:cNvPr>
          <p:cNvGraphicFramePr>
            <a:graphicFrameLocks noGrp="1"/>
          </p:cNvGraphicFramePr>
          <p:nvPr>
            <p:extLst>
              <p:ext uri="{D42A27DB-BD31-4B8C-83A1-F6EECF244321}">
                <p14:modId xmlns:p14="http://schemas.microsoft.com/office/powerpoint/2010/main" val="3220490915"/>
              </p:ext>
            </p:extLst>
          </p:nvPr>
        </p:nvGraphicFramePr>
        <p:xfrm>
          <a:off x="626567" y="1601995"/>
          <a:ext cx="10693188" cy="2839720"/>
        </p:xfrm>
        <a:graphic>
          <a:graphicData uri="http://schemas.openxmlformats.org/drawingml/2006/table">
            <a:tbl>
              <a:tblPr firstRow="1" bandRow="1">
                <a:tableStyleId>{5C22544A-7EE6-4342-B048-85BDC9FD1C3A}</a:tableStyleId>
              </a:tblPr>
              <a:tblGrid>
                <a:gridCol w="1782198">
                  <a:extLst>
                    <a:ext uri="{9D8B030D-6E8A-4147-A177-3AD203B41FA5}">
                      <a16:colId xmlns:a16="http://schemas.microsoft.com/office/drawing/2014/main" val="2087970704"/>
                    </a:ext>
                  </a:extLst>
                </a:gridCol>
                <a:gridCol w="1437070">
                  <a:extLst>
                    <a:ext uri="{9D8B030D-6E8A-4147-A177-3AD203B41FA5}">
                      <a16:colId xmlns:a16="http://schemas.microsoft.com/office/drawing/2014/main" val="1708460055"/>
                    </a:ext>
                  </a:extLst>
                </a:gridCol>
                <a:gridCol w="2127326">
                  <a:extLst>
                    <a:ext uri="{9D8B030D-6E8A-4147-A177-3AD203B41FA5}">
                      <a16:colId xmlns:a16="http://schemas.microsoft.com/office/drawing/2014/main" val="1810983359"/>
                    </a:ext>
                  </a:extLst>
                </a:gridCol>
                <a:gridCol w="1975662">
                  <a:extLst>
                    <a:ext uri="{9D8B030D-6E8A-4147-A177-3AD203B41FA5}">
                      <a16:colId xmlns:a16="http://schemas.microsoft.com/office/drawing/2014/main" val="4033084280"/>
                    </a:ext>
                  </a:extLst>
                </a:gridCol>
                <a:gridCol w="1588734">
                  <a:extLst>
                    <a:ext uri="{9D8B030D-6E8A-4147-A177-3AD203B41FA5}">
                      <a16:colId xmlns:a16="http://schemas.microsoft.com/office/drawing/2014/main" val="4045622136"/>
                    </a:ext>
                  </a:extLst>
                </a:gridCol>
                <a:gridCol w="1782198">
                  <a:extLst>
                    <a:ext uri="{9D8B030D-6E8A-4147-A177-3AD203B41FA5}">
                      <a16:colId xmlns:a16="http://schemas.microsoft.com/office/drawing/2014/main" val="3988611160"/>
                    </a:ext>
                  </a:extLst>
                </a:gridCol>
              </a:tblGrid>
              <a:tr h="370840">
                <a:tc>
                  <a:txBody>
                    <a:bodyPr/>
                    <a:lstStyle/>
                    <a:p>
                      <a:endParaRPr lang="de-DE"/>
                    </a:p>
                  </a:txBody>
                  <a:tcPr/>
                </a:tc>
                <a:tc>
                  <a:txBody>
                    <a:bodyPr/>
                    <a:lstStyle/>
                    <a:p>
                      <a:r>
                        <a:rPr lang="de-DE"/>
                        <a:t>Target </a:t>
                      </a:r>
                      <a:r>
                        <a:rPr lang="de-DE" err="1"/>
                        <a:t>values</a:t>
                      </a:r>
                      <a:endParaRPr lang="de-DE"/>
                    </a:p>
                  </a:txBody>
                  <a:tcPr/>
                </a:tc>
                <a:tc>
                  <a:txBody>
                    <a:bodyPr/>
                    <a:lstStyle/>
                    <a:p>
                      <a:r>
                        <a:rPr lang="de-DE"/>
                        <a:t>Loss </a:t>
                      </a:r>
                      <a:r>
                        <a:rPr lang="de-DE" err="1"/>
                        <a:t>function</a:t>
                      </a:r>
                      <a:endParaRPr lang="de-DE"/>
                    </a:p>
                  </a:txBody>
                  <a:tcPr/>
                </a:tc>
                <a:tc>
                  <a:txBody>
                    <a:bodyPr/>
                    <a:lstStyle/>
                    <a:p>
                      <a:r>
                        <a:rPr lang="de-DE"/>
                        <a:t>Error </a:t>
                      </a:r>
                      <a:r>
                        <a:rPr lang="de-DE" err="1"/>
                        <a:t>metric</a:t>
                      </a:r>
                      <a:endParaRPr lang="de-DE"/>
                    </a:p>
                  </a:txBody>
                  <a:tcPr>
                    <a:lnR w="12700" cap="flat" cmpd="sng" algn="ctr">
                      <a:solidFill>
                        <a:schemeClr val="tx1"/>
                      </a:solidFill>
                      <a:prstDash val="solid"/>
                      <a:round/>
                      <a:headEnd type="none" w="med" len="med"/>
                      <a:tailEnd type="none" w="med" len="med"/>
                    </a:lnR>
                  </a:tcPr>
                </a:tc>
                <a:tc>
                  <a:txBody>
                    <a:bodyPr/>
                    <a:lstStyle/>
                    <a:p>
                      <a:r>
                        <a:rPr lang="de-DE"/>
                        <a:t>Act </a:t>
                      </a:r>
                      <a:r>
                        <a:rPr lang="de-DE" err="1"/>
                        <a:t>function</a:t>
                      </a:r>
                      <a:r>
                        <a:rPr lang="de-DE"/>
                        <a:t> last </a:t>
                      </a:r>
                      <a:r>
                        <a:rPr lang="de-DE" err="1"/>
                        <a:t>layer</a:t>
                      </a:r>
                      <a:endParaRPr lang="de-DE"/>
                    </a:p>
                  </a:txBody>
                  <a:tcPr>
                    <a:lnL w="12700" cap="flat" cmpd="sng" algn="ctr">
                      <a:solidFill>
                        <a:schemeClr val="tx1"/>
                      </a:solidFill>
                      <a:prstDash val="solid"/>
                      <a:round/>
                      <a:headEnd type="none" w="med" len="med"/>
                      <a:tailEnd type="none" w="med" len="med"/>
                    </a:lnL>
                  </a:tcPr>
                </a:tc>
                <a:tc>
                  <a:txBody>
                    <a:bodyPr/>
                    <a:lstStyle/>
                    <a:p>
                      <a:r>
                        <a:rPr lang="de-DE"/>
                        <a:t>Act </a:t>
                      </a:r>
                      <a:r>
                        <a:rPr lang="de-DE" err="1"/>
                        <a:t>func</a:t>
                      </a:r>
                      <a:r>
                        <a:rPr lang="de-DE"/>
                        <a:t> </a:t>
                      </a:r>
                      <a:r>
                        <a:rPr lang="de-DE" err="1"/>
                        <a:t>hidden</a:t>
                      </a:r>
                      <a:r>
                        <a:rPr lang="de-DE"/>
                        <a:t> </a:t>
                      </a:r>
                      <a:r>
                        <a:rPr lang="de-DE" err="1"/>
                        <a:t>layers</a:t>
                      </a:r>
                      <a:endParaRPr lang="de-DE"/>
                    </a:p>
                  </a:txBody>
                  <a:tcPr/>
                </a:tc>
                <a:extLst>
                  <a:ext uri="{0D108BD9-81ED-4DB2-BD59-A6C34878D82A}">
                    <a16:rowId xmlns:a16="http://schemas.microsoft.com/office/drawing/2014/main" val="1837334432"/>
                  </a:ext>
                </a:extLst>
              </a:tr>
              <a:tr h="370840">
                <a:tc>
                  <a:txBody>
                    <a:bodyPr/>
                    <a:lstStyle/>
                    <a:p>
                      <a:r>
                        <a:rPr lang="de-DE"/>
                        <a:t>Regression</a:t>
                      </a:r>
                    </a:p>
                  </a:txBody>
                  <a:tcPr>
                    <a:lnB w="12700" cap="flat" cmpd="sng" algn="ctr">
                      <a:solidFill>
                        <a:schemeClr val="tx1"/>
                      </a:solidFill>
                      <a:prstDash val="solid"/>
                      <a:round/>
                      <a:headEnd type="none" w="med" len="med"/>
                      <a:tailEnd type="none" w="med" len="med"/>
                    </a:lnB>
                  </a:tcPr>
                </a:tc>
                <a:tc>
                  <a:txBody>
                    <a:bodyPr/>
                    <a:lstStyle/>
                    <a:p>
                      <a:r>
                        <a:rPr lang="de-DE" err="1"/>
                        <a:t>Continuous</a:t>
                      </a:r>
                      <a:endParaRPr lang="de-DE"/>
                    </a:p>
                  </a:txBody>
                  <a:tcPr>
                    <a:lnB w="12700" cap="flat" cmpd="sng" algn="ctr">
                      <a:solidFill>
                        <a:schemeClr val="tx1"/>
                      </a:solidFill>
                      <a:prstDash val="solid"/>
                      <a:round/>
                      <a:headEnd type="none" w="med" len="med"/>
                      <a:tailEnd type="none" w="med" len="med"/>
                    </a:lnB>
                  </a:tcPr>
                </a:tc>
                <a:tc>
                  <a:txBody>
                    <a:bodyPr/>
                    <a:lstStyle/>
                    <a:p>
                      <a:r>
                        <a:rPr lang="de-DE"/>
                        <a:t>MSE, R², MAE,…</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MSE, R², MAE,…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de-DE"/>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de-DE"/>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49673"/>
                  </a:ext>
                </a:extLst>
              </a:tr>
              <a:tr h="370840">
                <a:tc>
                  <a:txBody>
                    <a:bodyPr/>
                    <a:lstStyle/>
                    <a:p>
                      <a:r>
                        <a:rPr lang="de-DE"/>
                        <a:t>Classification</a:t>
                      </a:r>
                    </a:p>
                  </a:txBody>
                  <a:tcPr>
                    <a:lnT w="12700" cap="flat" cmpd="sng" algn="ctr">
                      <a:solidFill>
                        <a:schemeClr val="tx1"/>
                      </a:solidFill>
                      <a:prstDash val="solid"/>
                      <a:round/>
                      <a:headEnd type="none" w="med" len="med"/>
                      <a:tailEnd type="none" w="med" len="med"/>
                    </a:lnT>
                  </a:tcPr>
                </a:tc>
                <a:tc>
                  <a:txBody>
                    <a:bodyPr/>
                    <a:lstStyle/>
                    <a:p>
                      <a:r>
                        <a:rPr lang="de-DE"/>
                        <a:t>Binary</a:t>
                      </a:r>
                    </a:p>
                  </a:txBody>
                  <a:tcPr>
                    <a:lnT w="12700" cap="flat" cmpd="sng" algn="ctr">
                      <a:solidFill>
                        <a:schemeClr val="tx1"/>
                      </a:solidFill>
                      <a:prstDash val="solid"/>
                      <a:round/>
                      <a:headEnd type="none" w="med" len="med"/>
                      <a:tailEnd type="none" w="med" len="med"/>
                    </a:lnT>
                  </a:tcPr>
                </a:tc>
                <a:tc>
                  <a:txBody>
                    <a:bodyPr/>
                    <a:lstStyle/>
                    <a:p>
                      <a:r>
                        <a:rPr lang="de-DE"/>
                        <a:t>Binary </a:t>
                      </a:r>
                      <a:r>
                        <a:rPr lang="de-DE" err="1"/>
                        <a:t>cross</a:t>
                      </a:r>
                      <a:r>
                        <a:rPr lang="de-DE"/>
                        <a:t> </a:t>
                      </a:r>
                      <a:r>
                        <a:rPr lang="de-DE" err="1"/>
                        <a:t>entropy</a:t>
                      </a:r>
                      <a:endParaRPr lang="de-DE"/>
                    </a:p>
                  </a:txBody>
                  <a:tcPr>
                    <a:lnT w="12700" cap="flat" cmpd="sng" algn="ctr">
                      <a:solidFill>
                        <a:schemeClr val="tx1"/>
                      </a:solidFill>
                      <a:prstDash val="solid"/>
                      <a:round/>
                      <a:headEnd type="none" w="med" len="med"/>
                      <a:tailEnd type="none" w="med" len="med"/>
                    </a:lnT>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de-DE"/>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de-DE"/>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53496704"/>
                  </a:ext>
                </a:extLst>
              </a:tr>
              <a:tr h="370840">
                <a:tc>
                  <a:txBody>
                    <a:bodyPr/>
                    <a:lstStyle/>
                    <a:p>
                      <a:endParaRPr lang="de-DE"/>
                    </a:p>
                  </a:txBody>
                  <a:tcPr/>
                </a:tc>
                <a:tc>
                  <a:txBody>
                    <a:bodyPr/>
                    <a:lstStyle/>
                    <a:p>
                      <a:r>
                        <a:rPr lang="de-DE"/>
                        <a:t>multiple </a:t>
                      </a:r>
                      <a:r>
                        <a:rPr lang="de-DE" err="1"/>
                        <a:t>classes</a:t>
                      </a:r>
                      <a:endParaRPr lang="de-DE"/>
                    </a:p>
                  </a:txBody>
                  <a:tcPr/>
                </a:tc>
                <a:tc>
                  <a:txBody>
                    <a:bodyPr/>
                    <a:lstStyle/>
                    <a:p>
                      <a:r>
                        <a:rPr lang="de-DE" err="1"/>
                        <a:t>categorical</a:t>
                      </a:r>
                      <a:r>
                        <a:rPr lang="de-DE"/>
                        <a:t> </a:t>
                      </a:r>
                      <a:r>
                        <a:rPr lang="de-DE" err="1"/>
                        <a:t>cross</a:t>
                      </a:r>
                      <a:r>
                        <a:rPr lang="de-DE"/>
                        <a:t> </a:t>
                      </a:r>
                      <a:r>
                        <a:rPr lang="de-DE" err="1"/>
                        <a:t>entropy</a:t>
                      </a:r>
                      <a:endParaRPr lang="de-DE"/>
                    </a:p>
                  </a:txBody>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tcPr>
                </a:tc>
                <a:tc>
                  <a:txBody>
                    <a:bodyPr/>
                    <a:lstStyle/>
                    <a:p>
                      <a:endParaRPr lang="de-DE"/>
                    </a:p>
                  </a:txBody>
                  <a:tcPr>
                    <a:lnL w="12700" cap="flat" cmpd="sng" algn="ctr">
                      <a:solidFill>
                        <a:schemeClr val="tx1"/>
                      </a:solidFill>
                      <a:prstDash val="solid"/>
                      <a:round/>
                      <a:headEnd type="none" w="med" len="med"/>
                      <a:tailEnd type="none" w="med" len="med"/>
                    </a:lnL>
                  </a:tcPr>
                </a:tc>
                <a:tc>
                  <a:txBody>
                    <a:bodyPr/>
                    <a:lstStyle/>
                    <a:p>
                      <a:endParaRPr lang="de-DE"/>
                    </a:p>
                  </a:txBody>
                  <a:tcPr/>
                </a:tc>
                <a:extLst>
                  <a:ext uri="{0D108BD9-81ED-4DB2-BD59-A6C34878D82A}">
                    <a16:rowId xmlns:a16="http://schemas.microsoft.com/office/drawing/2014/main" val="4206115666"/>
                  </a:ext>
                </a:extLst>
              </a:tr>
            </a:tbl>
          </a:graphicData>
        </a:graphic>
      </p:graphicFrame>
      <p:graphicFrame>
        <p:nvGraphicFramePr>
          <p:cNvPr id="10" name="Tabelle 10">
            <a:extLst>
              <a:ext uri="{FF2B5EF4-FFF2-40B4-BE49-F238E27FC236}">
                <a16:creationId xmlns:a16="http://schemas.microsoft.com/office/drawing/2014/main" id="{1D6B67EA-476B-4CCB-B75D-E65AB8EDAFD8}"/>
              </a:ext>
            </a:extLst>
          </p:cNvPr>
          <p:cNvGraphicFramePr>
            <a:graphicFrameLocks noGrp="1"/>
          </p:cNvGraphicFramePr>
          <p:nvPr/>
        </p:nvGraphicFramePr>
        <p:xfrm>
          <a:off x="624909" y="4603711"/>
          <a:ext cx="10693188" cy="1752600"/>
        </p:xfrm>
        <a:graphic>
          <a:graphicData uri="http://schemas.openxmlformats.org/drawingml/2006/table">
            <a:tbl>
              <a:tblPr firstRow="1" bandRow="1">
                <a:tableStyleId>{5C22544A-7EE6-4342-B048-85BDC9FD1C3A}</a:tableStyleId>
              </a:tblPr>
              <a:tblGrid>
                <a:gridCol w="1801858">
                  <a:extLst>
                    <a:ext uri="{9D8B030D-6E8A-4147-A177-3AD203B41FA5}">
                      <a16:colId xmlns:a16="http://schemas.microsoft.com/office/drawing/2014/main" val="2422419246"/>
                    </a:ext>
                  </a:extLst>
                </a:gridCol>
                <a:gridCol w="3564396">
                  <a:extLst>
                    <a:ext uri="{9D8B030D-6E8A-4147-A177-3AD203B41FA5}">
                      <a16:colId xmlns:a16="http://schemas.microsoft.com/office/drawing/2014/main" val="2997731740"/>
                    </a:ext>
                  </a:extLst>
                </a:gridCol>
                <a:gridCol w="5326934">
                  <a:extLst>
                    <a:ext uri="{9D8B030D-6E8A-4147-A177-3AD203B41FA5}">
                      <a16:colId xmlns:a16="http://schemas.microsoft.com/office/drawing/2014/main" val="666087568"/>
                    </a:ext>
                  </a:extLst>
                </a:gridCol>
              </a:tblGrid>
              <a:tr h="370840">
                <a:tc>
                  <a:txBody>
                    <a:bodyPr/>
                    <a:lstStyle/>
                    <a:p>
                      <a:endParaRPr lang="de-DE"/>
                    </a:p>
                  </a:txBody>
                  <a:tcPr/>
                </a:tc>
                <a:tc>
                  <a:txBody>
                    <a:bodyPr/>
                    <a:lstStyle/>
                    <a:p>
                      <a:r>
                        <a:rPr lang="de-DE" err="1"/>
                        <a:t>Decision</a:t>
                      </a:r>
                      <a:r>
                        <a:rPr lang="de-DE"/>
                        <a:t> </a:t>
                      </a:r>
                      <a:r>
                        <a:rPr lang="de-DE" err="1"/>
                        <a:t>Trees</a:t>
                      </a:r>
                      <a:endParaRPr lang="de-DE"/>
                    </a:p>
                  </a:txBody>
                  <a:tcPr/>
                </a:tc>
                <a:tc>
                  <a:txBody>
                    <a:bodyPr/>
                    <a:lstStyle/>
                    <a:p>
                      <a:r>
                        <a:rPr lang="de-DE" err="1"/>
                        <a:t>Artificial</a:t>
                      </a:r>
                      <a:r>
                        <a:rPr lang="de-DE"/>
                        <a:t> </a:t>
                      </a:r>
                      <a:r>
                        <a:rPr lang="de-DE" err="1"/>
                        <a:t>Neural</a:t>
                      </a:r>
                      <a:r>
                        <a:rPr lang="de-DE"/>
                        <a:t> Nets</a:t>
                      </a:r>
                    </a:p>
                  </a:txBody>
                  <a:tcPr/>
                </a:tc>
                <a:extLst>
                  <a:ext uri="{0D108BD9-81ED-4DB2-BD59-A6C34878D82A}">
                    <a16:rowId xmlns:a16="http://schemas.microsoft.com/office/drawing/2014/main" val="2726745514"/>
                  </a:ext>
                </a:extLst>
              </a:tr>
              <a:tr h="370840">
                <a:tc>
                  <a:txBody>
                    <a:bodyPr/>
                    <a:lstStyle/>
                    <a:p>
                      <a:r>
                        <a:rPr lang="de-DE" err="1"/>
                        <a:t>Tabular</a:t>
                      </a:r>
                      <a:r>
                        <a:rPr lang="de-DE"/>
                        <a:t> </a:t>
                      </a:r>
                      <a:r>
                        <a:rPr lang="de-DE" err="1"/>
                        <a:t>data</a:t>
                      </a:r>
                      <a:endParaRPr lang="de-DE"/>
                    </a:p>
                  </a:txBody>
                  <a:tcPr/>
                </a:tc>
                <a:tc>
                  <a:txBody>
                    <a:bodyPr/>
                    <a:lstStyle/>
                    <a:p>
                      <a:r>
                        <a:rPr lang="de-DE"/>
                        <a:t>Ensemble </a:t>
                      </a:r>
                      <a:r>
                        <a:rPr lang="de-DE" err="1"/>
                        <a:t>methods</a:t>
                      </a:r>
                      <a:r>
                        <a:rPr lang="de-DE"/>
                        <a:t>: Random Forest, </a:t>
                      </a:r>
                      <a:r>
                        <a:rPr lang="de-DE" err="1"/>
                        <a:t>Boosting</a:t>
                      </a:r>
                      <a:endParaRPr lang="de-DE"/>
                    </a:p>
                  </a:txBody>
                  <a:tcPr/>
                </a:tc>
                <a:tc>
                  <a:txBody>
                    <a:bodyPr/>
                    <a:lstStyle/>
                    <a:p>
                      <a:r>
                        <a:rPr lang="de-DE" err="1"/>
                        <a:t>Starting</a:t>
                      </a:r>
                      <a:r>
                        <a:rPr lang="de-DE"/>
                        <a:t> </a:t>
                      </a:r>
                      <a:r>
                        <a:rPr lang="de-DE" err="1"/>
                        <a:t>from</a:t>
                      </a:r>
                      <a:r>
                        <a:rPr lang="de-DE"/>
                        <a:t> simple </a:t>
                      </a:r>
                      <a:r>
                        <a:rPr lang="de-DE" err="1"/>
                        <a:t>architectures</a:t>
                      </a:r>
                      <a:endParaRPr lang="de-DE"/>
                    </a:p>
                  </a:txBody>
                  <a:tcPr/>
                </a:tc>
                <a:extLst>
                  <a:ext uri="{0D108BD9-81ED-4DB2-BD59-A6C34878D82A}">
                    <a16:rowId xmlns:a16="http://schemas.microsoft.com/office/drawing/2014/main" val="1605544526"/>
                  </a:ext>
                </a:extLst>
              </a:tr>
              <a:tr h="370840">
                <a:tc>
                  <a:txBody>
                    <a:bodyPr/>
                    <a:lstStyle/>
                    <a:p>
                      <a:r>
                        <a:rPr lang="de-DE"/>
                        <a:t>Text</a:t>
                      </a:r>
                    </a:p>
                  </a:txBody>
                  <a:tcPr/>
                </a:tc>
                <a:tc>
                  <a:txBody>
                    <a:bodyPr/>
                    <a:lstStyle/>
                    <a:p>
                      <a:r>
                        <a:rPr lang="de-DE"/>
                        <a:t>-</a:t>
                      </a:r>
                    </a:p>
                  </a:txBody>
                  <a:tcPr/>
                </a:tc>
                <a:tc>
                  <a:txBody>
                    <a:bodyPr/>
                    <a:lstStyle/>
                    <a:p>
                      <a:r>
                        <a:rPr lang="de-DE"/>
                        <a:t>Transformers (</a:t>
                      </a:r>
                      <a:r>
                        <a:rPr lang="de-DE" err="1"/>
                        <a:t>encoding</a:t>
                      </a:r>
                      <a:r>
                        <a:rPr lang="de-DE"/>
                        <a:t>, </a:t>
                      </a:r>
                      <a:r>
                        <a:rPr lang="de-DE" err="1"/>
                        <a:t>decoding</a:t>
                      </a:r>
                      <a:r>
                        <a:rPr lang="de-DE"/>
                        <a:t>, </a:t>
                      </a:r>
                      <a:r>
                        <a:rPr lang="de-DE" err="1"/>
                        <a:t>attention</a:t>
                      </a:r>
                      <a:r>
                        <a:rPr lang="de-DE"/>
                        <a:t>)</a:t>
                      </a:r>
                    </a:p>
                  </a:txBody>
                  <a:tcPr/>
                </a:tc>
                <a:extLst>
                  <a:ext uri="{0D108BD9-81ED-4DB2-BD59-A6C34878D82A}">
                    <a16:rowId xmlns:a16="http://schemas.microsoft.com/office/drawing/2014/main" val="2472260996"/>
                  </a:ext>
                </a:extLst>
              </a:tr>
              <a:tr h="370840">
                <a:tc>
                  <a:txBody>
                    <a:bodyPr/>
                    <a:lstStyle/>
                    <a:p>
                      <a:r>
                        <a:rPr lang="de-DE"/>
                        <a:t>Images</a:t>
                      </a:r>
                    </a:p>
                  </a:txBody>
                  <a:tcPr/>
                </a:tc>
                <a:tc>
                  <a:txBody>
                    <a:bodyPr/>
                    <a:lstStyle/>
                    <a:p>
                      <a:r>
                        <a:rPr lang="de-DE"/>
                        <a:t>-</a:t>
                      </a:r>
                    </a:p>
                  </a:txBody>
                  <a:tcPr/>
                </a:tc>
                <a:tc>
                  <a:txBody>
                    <a:bodyPr/>
                    <a:lstStyle/>
                    <a:p>
                      <a:r>
                        <a:rPr lang="de-DE"/>
                        <a:t>CNNs</a:t>
                      </a:r>
                    </a:p>
                  </a:txBody>
                  <a:tcPr/>
                </a:tc>
                <a:extLst>
                  <a:ext uri="{0D108BD9-81ED-4DB2-BD59-A6C34878D82A}">
                    <a16:rowId xmlns:a16="http://schemas.microsoft.com/office/drawing/2014/main" val="3245338458"/>
                  </a:ext>
                </a:extLst>
              </a:tr>
            </a:tbl>
          </a:graphicData>
        </a:graphic>
      </p:graphicFrame>
    </p:spTree>
    <p:extLst>
      <p:ext uri="{BB962C8B-B14F-4D97-AF65-F5344CB8AC3E}">
        <p14:creationId xmlns:p14="http://schemas.microsoft.com/office/powerpoint/2010/main" val="6264013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22651" y="4005064"/>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de-DE"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97178517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3" name="TextShape 1"/>
          <p:cNvSpPr txBox="1"/>
          <p:nvPr/>
        </p:nvSpPr>
        <p:spPr>
          <a:xfrm>
            <a:off x="0" y="0"/>
            <a:ext cx="12197880" cy="1439640"/>
          </a:xfrm>
          <a:prstGeom prst="rect">
            <a:avLst/>
          </a:prstGeom>
          <a:noFill/>
          <a:ln w="9360">
            <a:noFill/>
          </a:ln>
        </p:spPr>
        <p:txBody>
          <a:bodyPr lIns="626400" tIns="432000" rIns="2746800" bIns="234000"/>
          <a:lstStyle/>
          <a:p>
            <a:pPr>
              <a:lnSpc>
                <a:spcPct val="100000"/>
              </a:lnSpc>
            </a:pPr>
            <a:r>
              <a:rPr lang="en-US" sz="2200" b="1" strike="noStrike" spc="-1">
                <a:solidFill>
                  <a:srgbClr val="00646E"/>
                </a:solidFill>
                <a:latin typeface="Arial"/>
              </a:rPr>
              <a:t>Recall: Bias-Variance Trade-Off</a:t>
            </a:r>
            <a:endParaRPr lang="en-US" sz="2200" b="0" strike="noStrike" spc="-1">
              <a:solidFill>
                <a:srgbClr val="ADBECB"/>
              </a:solidFill>
              <a:latin typeface="Arial"/>
            </a:endParaRPr>
          </a:p>
        </p:txBody>
      </p:sp>
      <p:pic>
        <p:nvPicPr>
          <p:cNvPr id="1544" name="Grafik 3"/>
          <p:cNvPicPr/>
          <p:nvPr/>
        </p:nvPicPr>
        <p:blipFill>
          <a:blip r:embed="rId3"/>
          <a:stretch/>
        </p:blipFill>
        <p:spPr>
          <a:xfrm>
            <a:off x="518555" y="1927014"/>
            <a:ext cx="4397483" cy="3381972"/>
          </a:xfrm>
          <a:prstGeom prst="rect">
            <a:avLst/>
          </a:prstGeom>
          <a:ln>
            <a:noFill/>
          </a:ln>
        </p:spPr>
      </p:pic>
      <p:sp>
        <p:nvSpPr>
          <p:cNvPr id="1545" name="CustomShape 2"/>
          <p:cNvSpPr/>
          <p:nvPr/>
        </p:nvSpPr>
        <p:spPr>
          <a:xfrm>
            <a:off x="636840" y="5796360"/>
            <a:ext cx="11088360" cy="364680"/>
          </a:xfrm>
          <a:prstGeom prst="rect">
            <a:avLst/>
          </a:prstGeom>
          <a:noFill/>
          <a:ln w="28440">
            <a:solidFill>
              <a:srgbClr val="00646E"/>
            </a:solidFill>
            <a:round/>
          </a:ln>
        </p:spPr>
        <p:style>
          <a:lnRef idx="0">
            <a:scrgbClr r="0" g="0" b="0"/>
          </a:lnRef>
          <a:fillRef idx="0">
            <a:scrgbClr r="0" g="0" b="0"/>
          </a:fillRef>
          <a:effectRef idx="0">
            <a:scrgbClr r="0" g="0" b="0"/>
          </a:effectRef>
          <a:fontRef idx="minor"/>
        </p:style>
        <p:txBody>
          <a:bodyPr lIns="90000" tIns="45000" rIns="90000" bIns="45000"/>
          <a:lstStyle/>
          <a:p>
            <a:pPr algn="ctr">
              <a:lnSpc>
                <a:spcPct val="100000"/>
              </a:lnSpc>
              <a:spcBef>
                <a:spcPts val="601"/>
              </a:spcBef>
            </a:pPr>
            <a:r>
              <a:rPr lang="en-US" sz="1800" b="0" strike="noStrike" spc="-1">
                <a:solidFill>
                  <a:srgbClr val="000000"/>
                </a:solidFill>
                <a:latin typeface="Arial"/>
                <a:ea typeface="ＭＳ Ｐゴシック"/>
              </a:rPr>
              <a:t>Occam‘s razor: The simplest model/most intuitive method is preferable</a:t>
            </a:r>
            <a:endParaRPr lang="en-US" sz="1800" b="0" strike="noStrike" spc="-1">
              <a:latin typeface="Arial"/>
            </a:endParaRPr>
          </a:p>
        </p:txBody>
      </p:sp>
      <p:pic>
        <p:nvPicPr>
          <p:cNvPr id="5" name="Grafik 4">
            <a:extLst>
              <a:ext uri="{FF2B5EF4-FFF2-40B4-BE49-F238E27FC236}">
                <a16:creationId xmlns:a16="http://schemas.microsoft.com/office/drawing/2014/main" id="{B47ABEA8-E819-41E1-B394-0FEC24C7267A}"/>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5595119" y="1691692"/>
            <a:ext cx="5620991" cy="3381973"/>
          </a:xfrm>
          <a:prstGeom prst="rect">
            <a:avLst/>
          </a:prstGeom>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AA1C8F7-D80F-40AA-8A4B-C3F746B380CE}"/>
              </a:ext>
            </a:extLst>
          </p:cNvPr>
          <p:cNvSpPr>
            <a:spLocks noGrp="1"/>
          </p:cNvSpPr>
          <p:nvPr>
            <p:ph type="title"/>
          </p:nvPr>
        </p:nvSpPr>
        <p:spPr/>
        <p:txBody>
          <a:bodyPr/>
          <a:lstStyle/>
          <a:p>
            <a:r>
              <a:rPr lang="en-US" spc="-1">
                <a:latin typeface="Arial"/>
              </a:rPr>
              <a:t>Classification and Regression Tree (CART): Pros and Cons</a:t>
            </a:r>
            <a:br>
              <a:rPr lang="en-US" b="0" spc="-1">
                <a:solidFill>
                  <a:srgbClr val="ADBECB"/>
                </a:solidFill>
                <a:latin typeface="Arial"/>
              </a:rPr>
            </a:br>
            <a:endParaRPr lang="en-US"/>
          </a:p>
        </p:txBody>
      </p:sp>
      <p:sp>
        <p:nvSpPr>
          <p:cNvPr id="7" name="CustomShape 5">
            <a:extLst>
              <a:ext uri="{FF2B5EF4-FFF2-40B4-BE49-F238E27FC236}">
                <a16:creationId xmlns:a16="http://schemas.microsoft.com/office/drawing/2014/main" id="{C9DEC2D4-157F-499D-930E-3312C69F023E}"/>
              </a:ext>
            </a:extLst>
          </p:cNvPr>
          <p:cNvSpPr/>
          <p:nvPr/>
        </p:nvSpPr>
        <p:spPr>
          <a:xfrm>
            <a:off x="627120" y="5733256"/>
            <a:ext cx="11088360" cy="432048"/>
          </a:xfrm>
          <a:prstGeom prst="rect">
            <a:avLst/>
          </a:prstGeom>
          <a:noFill/>
          <a:ln w="28440">
            <a:solidFill>
              <a:srgbClr val="00646E"/>
            </a:solidFill>
            <a:round/>
          </a:ln>
        </p:spPr>
        <p:style>
          <a:lnRef idx="0">
            <a:scrgbClr r="0" g="0" b="0"/>
          </a:lnRef>
          <a:fillRef idx="0">
            <a:scrgbClr r="0" g="0" b="0"/>
          </a:fillRef>
          <a:effectRef idx="0">
            <a:scrgbClr r="0" g="0" b="0"/>
          </a:effectRef>
          <a:fontRef idx="minor"/>
        </p:style>
        <p:txBody>
          <a:bodyPr lIns="90000" tIns="45000" rIns="90000" bIns="45000"/>
          <a:lstStyle/>
          <a:p>
            <a:pPr algn="ctr">
              <a:lnSpc>
                <a:spcPct val="110000"/>
              </a:lnSpc>
              <a:spcBef>
                <a:spcPts val="0"/>
              </a:spcBef>
            </a:pPr>
            <a:r>
              <a:rPr lang="en-US" sz="1800" b="0" strike="noStrike" spc="-1">
                <a:solidFill>
                  <a:srgbClr val="000000"/>
                </a:solidFill>
                <a:latin typeface="Arial"/>
                <a:ea typeface="AR PL SungtiL GB"/>
              </a:rPr>
              <a:t>Decision Trees themselves are rather weak - </a:t>
            </a:r>
            <a:r>
              <a:rPr lang="en-US" sz="1800" b="1" strike="noStrike" spc="-1">
                <a:solidFill>
                  <a:srgbClr val="000000"/>
                </a:solidFill>
                <a:latin typeface="Arial"/>
                <a:ea typeface="AR PL SungtiL GB"/>
              </a:rPr>
              <a:t>BUT</a:t>
            </a:r>
            <a:r>
              <a:rPr lang="en-US" sz="1800" b="0" strike="noStrike" spc="-1">
                <a:solidFill>
                  <a:srgbClr val="000000"/>
                </a:solidFill>
                <a:latin typeface="Arial"/>
                <a:ea typeface="AR PL SungtiL GB"/>
              </a:rPr>
              <a:t>: it is easy to address </a:t>
            </a:r>
            <a:r>
              <a:rPr lang="en-US" spc="-1">
                <a:solidFill>
                  <a:srgbClr val="000000"/>
                </a:solidFill>
                <a:ea typeface="AR PL SungtiL GB"/>
              </a:rPr>
              <a:t>their Bias and Variance problems</a:t>
            </a:r>
            <a:endParaRPr lang="en-US" sz="1800" b="0" strike="noStrike" spc="-1">
              <a:latin typeface="Arial"/>
            </a:endParaRPr>
          </a:p>
        </p:txBody>
      </p:sp>
      <p:grpSp>
        <p:nvGrpSpPr>
          <p:cNvPr id="10" name="Gruppieren 9">
            <a:extLst>
              <a:ext uri="{FF2B5EF4-FFF2-40B4-BE49-F238E27FC236}">
                <a16:creationId xmlns:a16="http://schemas.microsoft.com/office/drawing/2014/main" id="{4159A54A-BBEF-44BD-ACFD-5C117D6F2818}"/>
              </a:ext>
            </a:extLst>
          </p:cNvPr>
          <p:cNvGrpSpPr/>
          <p:nvPr/>
        </p:nvGrpSpPr>
        <p:grpSpPr>
          <a:xfrm>
            <a:off x="6797663" y="1498236"/>
            <a:ext cx="4954140" cy="3573176"/>
            <a:chOff x="6761340" y="1498236"/>
            <a:chExt cx="4954140" cy="3573176"/>
          </a:xfrm>
        </p:grpSpPr>
        <p:pic>
          <p:nvPicPr>
            <p:cNvPr id="8" name="Grafik 359">
              <a:extLst>
                <a:ext uri="{FF2B5EF4-FFF2-40B4-BE49-F238E27FC236}">
                  <a16:creationId xmlns:a16="http://schemas.microsoft.com/office/drawing/2014/main" id="{B49E04DE-34C1-4E4C-A820-C368DC225AE6}"/>
                </a:ext>
              </a:extLst>
            </p:cNvPr>
            <p:cNvPicPr/>
            <p:nvPr/>
          </p:nvPicPr>
          <p:blipFill>
            <a:blip r:embed="rId2"/>
            <a:stretch/>
          </p:blipFill>
          <p:spPr>
            <a:xfrm>
              <a:off x="6761340" y="1498236"/>
              <a:ext cx="4954140" cy="3573176"/>
            </a:xfrm>
            <a:prstGeom prst="rect">
              <a:avLst/>
            </a:prstGeom>
            <a:ln>
              <a:noFill/>
            </a:ln>
          </p:spPr>
        </p:pic>
        <p:sp>
          <p:nvSpPr>
            <p:cNvPr id="9" name="Rechteck 8">
              <a:extLst>
                <a:ext uri="{FF2B5EF4-FFF2-40B4-BE49-F238E27FC236}">
                  <a16:creationId xmlns:a16="http://schemas.microsoft.com/office/drawing/2014/main" id="{91CC824C-DC7F-4374-95A4-56E0C648E8F8}"/>
                </a:ext>
              </a:extLst>
            </p:cNvPr>
            <p:cNvSpPr/>
            <p:nvPr/>
          </p:nvSpPr>
          <p:spPr bwMode="auto">
            <a:xfrm>
              <a:off x="8655459" y="1700808"/>
              <a:ext cx="2664296" cy="432048"/>
            </a:xfrm>
            <a:prstGeom prst="rect">
              <a:avLst/>
            </a:prstGeom>
            <a:solidFill>
              <a:schemeClr val="bg1"/>
            </a:solidFill>
            <a:ln>
              <a:solidFill>
                <a:schemeClr val="bg1"/>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graphicFrame>
        <p:nvGraphicFramePr>
          <p:cNvPr id="5" name="Tabelle 5">
            <a:extLst>
              <a:ext uri="{FF2B5EF4-FFF2-40B4-BE49-F238E27FC236}">
                <a16:creationId xmlns:a16="http://schemas.microsoft.com/office/drawing/2014/main" id="{9F7F322C-2F4D-4654-864F-689FD9DA6DDF}"/>
              </a:ext>
            </a:extLst>
          </p:cNvPr>
          <p:cNvGraphicFramePr>
            <a:graphicFrameLocks noGrp="1"/>
          </p:cNvGraphicFramePr>
          <p:nvPr>
            <p:extLst>
              <p:ext uri="{D42A27DB-BD31-4B8C-83A1-F6EECF244321}">
                <p14:modId xmlns:p14="http://schemas.microsoft.com/office/powerpoint/2010/main" val="3079274684"/>
              </p:ext>
            </p:extLst>
          </p:nvPr>
        </p:nvGraphicFramePr>
        <p:xfrm>
          <a:off x="627120" y="1148680"/>
          <a:ext cx="6134220" cy="4023360"/>
        </p:xfrm>
        <a:graphic>
          <a:graphicData uri="http://schemas.openxmlformats.org/drawingml/2006/table">
            <a:tbl>
              <a:tblPr firstRow="1" bandRow="1">
                <a:tableStyleId>{5C22544A-7EE6-4342-B048-85BDC9FD1C3A}</a:tableStyleId>
              </a:tblPr>
              <a:tblGrid>
                <a:gridCol w="3067110">
                  <a:extLst>
                    <a:ext uri="{9D8B030D-6E8A-4147-A177-3AD203B41FA5}">
                      <a16:colId xmlns:a16="http://schemas.microsoft.com/office/drawing/2014/main" val="1130240670"/>
                    </a:ext>
                  </a:extLst>
                </a:gridCol>
                <a:gridCol w="3067110">
                  <a:extLst>
                    <a:ext uri="{9D8B030D-6E8A-4147-A177-3AD203B41FA5}">
                      <a16:colId xmlns:a16="http://schemas.microsoft.com/office/drawing/2014/main" val="539472403"/>
                    </a:ext>
                  </a:extLst>
                </a:gridCol>
              </a:tblGrid>
              <a:tr h="350612">
                <a:tc>
                  <a:txBody>
                    <a:bodyPr/>
                    <a:lstStyle/>
                    <a:p>
                      <a:r>
                        <a:rPr lang="de-DE"/>
                        <a:t>Pros</a:t>
                      </a:r>
                    </a:p>
                  </a:txBody>
                  <a:tcPr/>
                </a:tc>
                <a:tc>
                  <a:txBody>
                    <a:bodyPr/>
                    <a:lstStyle/>
                    <a:p>
                      <a:r>
                        <a:rPr lang="de-DE" err="1"/>
                        <a:t>Cons</a:t>
                      </a:r>
                      <a:endParaRPr lang="de-DE"/>
                    </a:p>
                  </a:txBody>
                  <a:tcPr/>
                </a:tc>
                <a:extLst>
                  <a:ext uri="{0D108BD9-81ED-4DB2-BD59-A6C34878D82A}">
                    <a16:rowId xmlns:a16="http://schemas.microsoft.com/office/drawing/2014/main" val="2999487298"/>
                  </a:ext>
                </a:extLst>
              </a:tr>
              <a:tr h="370840">
                <a:tc>
                  <a:txBody>
                    <a:bodyPr/>
                    <a:lstStyle/>
                    <a:p>
                      <a:pPr marL="285840" indent="-285480">
                        <a:lnSpc>
                          <a:spcPct val="150000"/>
                        </a:lnSpc>
                        <a:buClr>
                          <a:srgbClr val="879BAA"/>
                        </a:buClr>
                        <a:buFont typeface="Arial"/>
                        <a:buChar char="•"/>
                      </a:pPr>
                      <a:r>
                        <a:rPr lang="en-US" sz="1800" spc="-1">
                          <a:solidFill>
                            <a:srgbClr val="000000"/>
                          </a:solidFill>
                          <a:latin typeface="+mn-lt"/>
                        </a:rPr>
                        <a:t>explainable</a:t>
                      </a:r>
                      <a:endParaRPr lang="en-US" sz="1600" spc="-1">
                        <a:solidFill>
                          <a:srgbClr val="000000"/>
                        </a:solidFill>
                        <a:latin typeface="+mn-lt"/>
                      </a:endParaRPr>
                    </a:p>
                    <a:p>
                      <a:pPr marL="285840" indent="-285480">
                        <a:lnSpc>
                          <a:spcPct val="150000"/>
                        </a:lnSpc>
                        <a:buClr>
                          <a:srgbClr val="879BAA"/>
                        </a:buClr>
                        <a:buFont typeface="Arial"/>
                        <a:buChar char="•"/>
                      </a:pPr>
                      <a:r>
                        <a:rPr lang="en-US" sz="1800" spc="-1">
                          <a:solidFill>
                            <a:srgbClr val="000000"/>
                          </a:solidFill>
                          <a:latin typeface="+mn-lt"/>
                        </a:rPr>
                        <a:t>little data preparation</a:t>
                      </a:r>
                    </a:p>
                    <a:p>
                      <a:pPr marL="285840" indent="-285480">
                        <a:lnSpc>
                          <a:spcPct val="150000"/>
                        </a:lnSpc>
                        <a:buClr>
                          <a:srgbClr val="879BAA"/>
                        </a:buClr>
                        <a:buFont typeface="Arial"/>
                        <a:buChar char="•"/>
                      </a:pPr>
                      <a:r>
                        <a:rPr lang="en-US" sz="1800" spc="-1">
                          <a:solidFill>
                            <a:srgbClr val="000000"/>
                          </a:solidFill>
                          <a:latin typeface="+mn-lt"/>
                        </a:rPr>
                        <a:t>implicit selection of features</a:t>
                      </a:r>
                    </a:p>
                    <a:p>
                      <a:pPr marL="285840" indent="-285480">
                        <a:lnSpc>
                          <a:spcPct val="150000"/>
                        </a:lnSpc>
                        <a:buClr>
                          <a:srgbClr val="879BAA"/>
                        </a:buClr>
                        <a:buFont typeface="Arial"/>
                        <a:buChar char="•"/>
                      </a:pPr>
                      <a:r>
                        <a:rPr lang="en-US" sz="1800" spc="-1">
                          <a:solidFill>
                            <a:srgbClr val="000000"/>
                          </a:solidFill>
                          <a:latin typeface="+mn-lt"/>
                        </a:rPr>
                        <a:t>can handle non-linearities</a:t>
                      </a:r>
                    </a:p>
                    <a:p>
                      <a:pPr marL="285840" indent="-285480">
                        <a:lnSpc>
                          <a:spcPct val="150000"/>
                        </a:lnSpc>
                        <a:buClr>
                          <a:srgbClr val="879BAA"/>
                        </a:buClr>
                        <a:buFont typeface="Arial"/>
                        <a:buChar char="•"/>
                      </a:pPr>
                      <a:r>
                        <a:rPr lang="en-US" sz="1800" spc="-1">
                          <a:solidFill>
                            <a:srgbClr val="000000"/>
                          </a:solidFill>
                          <a:latin typeface="+mn-lt"/>
                        </a:rPr>
                        <a:t>Computationally efficient</a:t>
                      </a:r>
                    </a:p>
                    <a:p>
                      <a:endParaRPr lang="de-DE"/>
                    </a:p>
                  </a:txBody>
                  <a:tcPr/>
                </a:tc>
                <a:tc>
                  <a:txBody>
                    <a:bodyPr/>
                    <a:lstStyle/>
                    <a:p>
                      <a:pPr marL="285840" indent="-285480">
                        <a:lnSpc>
                          <a:spcPct val="150000"/>
                        </a:lnSpc>
                        <a:buClr>
                          <a:srgbClr val="879BAA"/>
                        </a:buClr>
                        <a:buFont typeface="Arial"/>
                        <a:buChar char="•"/>
                      </a:pPr>
                      <a:r>
                        <a:rPr lang="en-US" sz="1800" spc="-1">
                          <a:solidFill>
                            <a:srgbClr val="000000"/>
                          </a:solidFill>
                          <a:latin typeface="+mn-lt"/>
                        </a:rPr>
                        <a:t>without adaptions not very robust (=changes with diff. data)</a:t>
                      </a:r>
                    </a:p>
                    <a:p>
                      <a:pPr marL="285840" indent="-285480">
                        <a:lnSpc>
                          <a:spcPct val="150000"/>
                        </a:lnSpc>
                        <a:buClr>
                          <a:srgbClr val="879BAA"/>
                        </a:buClr>
                        <a:buFont typeface="Arial"/>
                        <a:buChar char="•"/>
                      </a:pPr>
                      <a:r>
                        <a:rPr lang="en-US" sz="1800" spc="-1">
                          <a:solidFill>
                            <a:srgbClr val="000000"/>
                          </a:solidFill>
                          <a:latin typeface="+mn-lt"/>
                        </a:rPr>
                        <a:t>overfitting</a:t>
                      </a:r>
                    </a:p>
                    <a:p>
                      <a:pPr marL="285840" indent="-285480">
                        <a:lnSpc>
                          <a:spcPct val="150000"/>
                        </a:lnSpc>
                        <a:buClr>
                          <a:srgbClr val="879BAA"/>
                        </a:buClr>
                        <a:buFont typeface="Arial"/>
                        <a:buChar char="•"/>
                      </a:pPr>
                      <a:r>
                        <a:rPr lang="en-US" sz="1800" spc="-1">
                          <a:solidFill>
                            <a:srgbClr val="000000"/>
                          </a:solidFill>
                          <a:latin typeface="+mn-lt"/>
                        </a:rPr>
                        <a:t>local optimal decisions per node → globally optimized decision tree not guaranteed  </a:t>
                      </a:r>
                    </a:p>
                    <a:p>
                      <a:endParaRPr lang="de-DE"/>
                    </a:p>
                  </a:txBody>
                  <a:tcPr/>
                </a:tc>
                <a:extLst>
                  <a:ext uri="{0D108BD9-81ED-4DB2-BD59-A6C34878D82A}">
                    <a16:rowId xmlns:a16="http://schemas.microsoft.com/office/drawing/2014/main" val="4122273765"/>
                  </a:ext>
                </a:extLst>
              </a:tr>
            </a:tbl>
          </a:graphicData>
        </a:graphic>
      </p:graphicFrame>
    </p:spTree>
    <p:extLst>
      <p:ext uri="{BB962C8B-B14F-4D97-AF65-F5344CB8AC3E}">
        <p14:creationId xmlns:p14="http://schemas.microsoft.com/office/powerpoint/2010/main" val="1033063976"/>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 name="Grafik 12">
            <a:extLst>
              <a:ext uri="{FF2B5EF4-FFF2-40B4-BE49-F238E27FC236}">
                <a16:creationId xmlns:a16="http://schemas.microsoft.com/office/drawing/2014/main" id="{8F8E0906-8C5D-47A3-B39D-351501BC999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6783251" y="1700808"/>
            <a:ext cx="4923466" cy="4068452"/>
          </a:xfrm>
          <a:prstGeom prst="rect">
            <a:avLst/>
          </a:prstGeom>
        </p:spPr>
      </p:pic>
      <p:sp>
        <p:nvSpPr>
          <p:cNvPr id="7" name="Titel 6">
            <a:extLst>
              <a:ext uri="{FF2B5EF4-FFF2-40B4-BE49-F238E27FC236}">
                <a16:creationId xmlns:a16="http://schemas.microsoft.com/office/drawing/2014/main" id="{DEEDD0AC-C589-4B84-B4D8-B310ABE7069F}"/>
              </a:ext>
            </a:extLst>
          </p:cNvPr>
          <p:cNvSpPr>
            <a:spLocks noGrp="1"/>
          </p:cNvSpPr>
          <p:nvPr>
            <p:ph type="title"/>
          </p:nvPr>
        </p:nvSpPr>
        <p:spPr/>
        <p:txBody>
          <a:bodyPr/>
          <a:lstStyle/>
          <a:p>
            <a:r>
              <a:rPr lang="en-US" spc="-1">
                <a:ea typeface="ＭＳ Ｐゴシック"/>
              </a:rPr>
              <a:t>Ensemble Methods: Improve Decision Trees by Model </a:t>
            </a:r>
            <a:r>
              <a:rPr lang="en-US" spc="-1">
                <a:latin typeface="Arial"/>
                <a:ea typeface="ＭＳ Ｐゴシック"/>
              </a:rPr>
              <a:t>Averaging</a:t>
            </a:r>
            <a:endParaRPr lang="en-US"/>
          </a:p>
        </p:txBody>
      </p:sp>
      <p:sp>
        <p:nvSpPr>
          <p:cNvPr id="8" name="Inhaltsplatzhalter 7">
            <a:extLst>
              <a:ext uri="{FF2B5EF4-FFF2-40B4-BE49-F238E27FC236}">
                <a16:creationId xmlns:a16="http://schemas.microsoft.com/office/drawing/2014/main" id="{07BF1A48-F1D3-4A9E-9EEA-5B01D053D0A7}"/>
              </a:ext>
            </a:extLst>
          </p:cNvPr>
          <p:cNvSpPr>
            <a:spLocks noGrp="1"/>
          </p:cNvSpPr>
          <p:nvPr>
            <p:ph idx="1"/>
          </p:nvPr>
        </p:nvSpPr>
        <p:spPr/>
        <p:txBody>
          <a:bodyPr/>
          <a:lstStyle/>
          <a:p>
            <a:pPr>
              <a:lnSpc>
                <a:spcPct val="200000"/>
              </a:lnSpc>
            </a:pPr>
            <a:r>
              <a:rPr lang="en-US" sz="1400" b="1"/>
              <a:t>Construct more than one Decision Tree and average!</a:t>
            </a:r>
          </a:p>
          <a:p>
            <a:pPr>
              <a:lnSpc>
                <a:spcPct val="200000"/>
              </a:lnSpc>
            </a:pPr>
            <a:endParaRPr lang="en-US" sz="1400" b="1"/>
          </a:p>
          <a:p>
            <a:pPr>
              <a:lnSpc>
                <a:spcPct val="200000"/>
              </a:lnSpc>
            </a:pPr>
            <a:r>
              <a:rPr lang="en-US" sz="1400" b="1"/>
              <a:t>Address Variance by:</a:t>
            </a:r>
          </a:p>
          <a:p>
            <a:pPr marL="285750" indent="-285750">
              <a:lnSpc>
                <a:spcPct val="150000"/>
              </a:lnSpc>
              <a:buFont typeface="Arial" panose="020B0604020202020204" pitchFamily="34" charset="0"/>
              <a:buChar char="•"/>
            </a:pPr>
            <a:r>
              <a:rPr lang="en-US" sz="1400"/>
              <a:t>Bootstrapping and aggregating </a:t>
            </a:r>
            <a:br>
              <a:rPr lang="en-US" sz="1400"/>
            </a:br>
            <a:r>
              <a:rPr lang="en-US" sz="1400"/>
              <a:t>(= Bagging: parallel: </a:t>
            </a:r>
            <a:br>
              <a:rPr lang="en-US" sz="1400"/>
            </a:br>
            <a:r>
              <a:rPr lang="en-US" sz="1400"/>
              <a:t>samples with replacement/ </a:t>
            </a:r>
            <a:br>
              <a:rPr lang="en-US" sz="1400"/>
            </a:br>
            <a:r>
              <a:rPr lang="en-US" sz="1400"/>
              <a:t>average predictions) </a:t>
            </a:r>
          </a:p>
          <a:p>
            <a:pPr marL="285750" indent="-285750">
              <a:lnSpc>
                <a:spcPct val="150000"/>
              </a:lnSpc>
              <a:buFont typeface="Arial" panose="020B0604020202020204" pitchFamily="34" charset="0"/>
              <a:buChar char="•"/>
            </a:pPr>
            <a:r>
              <a:rPr lang="en-US" sz="1400"/>
              <a:t>Random Feature Selection</a:t>
            </a:r>
          </a:p>
          <a:p>
            <a:pPr>
              <a:lnSpc>
                <a:spcPct val="200000"/>
              </a:lnSpc>
            </a:pPr>
            <a:endParaRPr lang="en-US" sz="1400"/>
          </a:p>
          <a:p>
            <a:pPr>
              <a:lnSpc>
                <a:spcPct val="200000"/>
              </a:lnSpc>
            </a:pPr>
            <a:r>
              <a:rPr lang="en-US" sz="1400" b="1"/>
              <a:t>Address Bias by:</a:t>
            </a:r>
          </a:p>
          <a:p>
            <a:pPr marL="285750" indent="-285750">
              <a:lnSpc>
                <a:spcPct val="200000"/>
              </a:lnSpc>
              <a:buFont typeface="Arial" panose="020B0604020202020204" pitchFamily="34" charset="0"/>
              <a:buChar char="•"/>
            </a:pPr>
            <a:r>
              <a:rPr lang="en-US" sz="1400"/>
              <a:t>Boosting (sequential: next tree only on errors of first tree)</a:t>
            </a:r>
            <a:br>
              <a:rPr lang="en-US" sz="1400"/>
            </a:br>
            <a:r>
              <a:rPr lang="en-US" sz="1400"/>
              <a:t>→ not our focus, just and excursion</a:t>
            </a:r>
          </a:p>
          <a:p>
            <a:endParaRPr lang="en-US" sz="1400"/>
          </a:p>
        </p:txBody>
      </p:sp>
      <p:sp>
        <p:nvSpPr>
          <p:cNvPr id="10" name="Geschweifte Klammer rechts 9">
            <a:extLst>
              <a:ext uri="{FF2B5EF4-FFF2-40B4-BE49-F238E27FC236}">
                <a16:creationId xmlns:a16="http://schemas.microsoft.com/office/drawing/2014/main" id="{DED667FC-4878-4745-A080-A249197E9926}"/>
              </a:ext>
            </a:extLst>
          </p:cNvPr>
          <p:cNvSpPr/>
          <p:nvPr/>
        </p:nvSpPr>
        <p:spPr bwMode="auto">
          <a:xfrm>
            <a:off x="4334979" y="2492896"/>
            <a:ext cx="792088" cy="1836204"/>
          </a:xfrm>
          <a:prstGeom prst="rightBrace">
            <a:avLst/>
          </a:prstGeom>
          <a:noFill/>
          <a:ln w="9525" cap="flat" cmpd="sng" algn="ctr">
            <a:solidFill>
              <a:schemeClr val="tx1"/>
            </a:solidFill>
            <a:prstDash val="solid"/>
            <a:round/>
            <a:headEnd type="none" w="med" len="med"/>
            <a:tailEnd type="none" w="med" len="med"/>
          </a:ln>
          <a:effectLst/>
        </p:spPr>
        <p:txBody>
          <a:bodyPr vert="horz" wrap="square" lIns="0" tIns="0" rIns="0" bIns="0" numCol="1" rtlCol="0" anchor="t" anchorCtr="0" compatLnSpc="1">
            <a:prstTxWarp prst="textNoShape">
              <a:avLst/>
            </a:prstTxWarp>
            <a:spAutoFit/>
          </a:bodyPr>
          <a:lstStyle/>
          <a:p>
            <a:pPr marL="0" marR="0" indent="0" algn="l" defTabSz="914400" rtl="0" eaLnBrk="1" fontAlgn="base" latinLnBrk="0" hangingPunct="1">
              <a:lnSpc>
                <a:spcPct val="100000"/>
              </a:lnSpc>
              <a:spcBef>
                <a:spcPct val="50000"/>
              </a:spcBef>
              <a:spcAft>
                <a:spcPct val="0"/>
              </a:spcAft>
              <a:buClrTx/>
              <a:buSzTx/>
              <a:buFontTx/>
              <a:buNone/>
              <a:tabLst/>
            </a:pPr>
            <a:endParaRPr kumimoji="0" lang="en-US" sz="2400" b="0" i="0" u="none" strike="noStrike" cap="none" normalizeH="0" baseline="0">
              <a:ln>
                <a:noFill/>
              </a:ln>
              <a:solidFill>
                <a:srgbClr val="000000"/>
              </a:solidFill>
              <a:effectLst/>
              <a:latin typeface="Arial" charset="0"/>
              <a:ea typeface="ヒラギノ角ゴ Pro W3" charset="0"/>
            </a:endParaRPr>
          </a:p>
        </p:txBody>
      </p:sp>
      <p:sp>
        <p:nvSpPr>
          <p:cNvPr id="11" name="Rechteck 10">
            <a:extLst>
              <a:ext uri="{FF2B5EF4-FFF2-40B4-BE49-F238E27FC236}">
                <a16:creationId xmlns:a16="http://schemas.microsoft.com/office/drawing/2014/main" id="{6BBFED31-0AAA-48D4-A3CF-BD8B177C12F5}"/>
              </a:ext>
            </a:extLst>
          </p:cNvPr>
          <p:cNvSpPr/>
          <p:nvPr/>
        </p:nvSpPr>
        <p:spPr>
          <a:xfrm>
            <a:off x="5343091" y="3226332"/>
            <a:ext cx="1877437" cy="369332"/>
          </a:xfrm>
          <a:prstGeom prst="rect">
            <a:avLst/>
          </a:prstGeom>
        </p:spPr>
        <p:txBody>
          <a:bodyPr wrap="none">
            <a:spAutoFit/>
          </a:bodyPr>
          <a:lstStyle/>
          <a:p>
            <a:r>
              <a:rPr lang="en-US" b="1">
                <a:solidFill>
                  <a:schemeClr val="tx1"/>
                </a:solidFill>
              </a:rPr>
              <a:t>Random Forest</a:t>
            </a:r>
          </a:p>
        </p:txBody>
      </p:sp>
    </p:spTree>
    <p:extLst>
      <p:ext uri="{BB962C8B-B14F-4D97-AF65-F5344CB8AC3E}">
        <p14:creationId xmlns:p14="http://schemas.microsoft.com/office/powerpoint/2010/main" val="430723604"/>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4" name="CustomShape 1"/>
          <p:cNvSpPr/>
          <p:nvPr/>
        </p:nvSpPr>
        <p:spPr>
          <a:xfrm>
            <a:off x="0" y="0"/>
            <a:ext cx="12197160" cy="1438920"/>
          </a:xfrm>
          <a:prstGeom prst="rect">
            <a:avLst/>
          </a:prstGeom>
          <a:noFill/>
          <a:ln w="9360">
            <a:noFill/>
          </a:ln>
        </p:spPr>
        <p:style>
          <a:lnRef idx="0">
            <a:scrgbClr r="0" g="0" b="0"/>
          </a:lnRef>
          <a:fillRef idx="0">
            <a:scrgbClr r="0" g="0" b="0"/>
          </a:fillRef>
          <a:effectRef idx="0">
            <a:scrgbClr r="0" g="0" b="0"/>
          </a:effectRef>
          <a:fontRef idx="minor"/>
        </p:style>
        <p:txBody>
          <a:bodyPr lIns="626400" tIns="432000" rIns="2746800" bIns="234000"/>
          <a:lstStyle/>
          <a:p>
            <a:pPr>
              <a:lnSpc>
                <a:spcPct val="100000"/>
              </a:lnSpc>
              <a:spcBef>
                <a:spcPts val="1100"/>
              </a:spcBef>
            </a:pPr>
            <a:r>
              <a:rPr lang="en-US" sz="2200" b="1" strike="noStrike" spc="-1">
                <a:solidFill>
                  <a:srgbClr val="00646E"/>
                </a:solidFill>
                <a:latin typeface="Arial"/>
                <a:ea typeface="ＭＳ Ｐゴシック"/>
              </a:rPr>
              <a:t>Random Forests: Bagging + Random Feature Selection</a:t>
            </a:r>
            <a:endParaRPr lang="en-US" sz="2200" b="0" strike="noStrike" spc="-1">
              <a:latin typeface="Arial"/>
            </a:endParaRPr>
          </a:p>
        </p:txBody>
      </p:sp>
      <p:sp>
        <p:nvSpPr>
          <p:cNvPr id="1555" name="CustomShape 2"/>
          <p:cNvSpPr/>
          <p:nvPr/>
        </p:nvSpPr>
        <p:spPr>
          <a:xfrm>
            <a:off x="627120" y="1152000"/>
            <a:ext cx="7076520" cy="7916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a:lnSpc>
                <a:spcPct val="110000"/>
              </a:lnSpc>
              <a:spcBef>
                <a:spcPts val="901"/>
              </a:spcBef>
            </a:pPr>
            <a:endParaRPr lang="de-DE" sz="1800" b="0" strike="noStrike" spc="-1">
              <a:latin typeface="Arial"/>
            </a:endParaRPr>
          </a:p>
          <a:p>
            <a:pPr>
              <a:lnSpc>
                <a:spcPct val="110000"/>
              </a:lnSpc>
              <a:spcBef>
                <a:spcPts val="901"/>
              </a:spcBef>
            </a:pPr>
            <a:endParaRPr lang="de-DE" sz="1800" b="0" strike="noStrike" spc="-1">
              <a:latin typeface="Arial"/>
            </a:endParaRPr>
          </a:p>
          <a:p>
            <a:pPr>
              <a:lnSpc>
                <a:spcPct val="110000"/>
              </a:lnSpc>
              <a:spcBef>
                <a:spcPts val="901"/>
              </a:spcBef>
            </a:pPr>
            <a:endParaRPr lang="de-DE" sz="1800" b="0" strike="noStrike" spc="-1">
              <a:latin typeface="Arial"/>
            </a:endParaRPr>
          </a:p>
        </p:txBody>
      </p:sp>
      <mc:AlternateContent xmlns:mc="http://schemas.openxmlformats.org/markup-compatibility/2006" xmlns:a14="http://schemas.microsoft.com/office/drawing/2010/main">
        <mc:Choice Requires="a14">
          <p:sp>
            <p:nvSpPr>
              <p:cNvPr id="1556" name="CustomShape 3"/>
              <p:cNvSpPr/>
              <p:nvPr/>
            </p:nvSpPr>
            <p:spPr>
              <a:xfrm rot="16200">
                <a:off x="7604258" y="1492506"/>
                <a:ext cx="4101120" cy="4430989"/>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a:lnSpc>
                    <a:spcPct val="110000"/>
                  </a:lnSpc>
                  <a:spcBef>
                    <a:spcPts val="901"/>
                  </a:spcBef>
                </a:pPr>
                <a:r>
                  <a:rPr lang="en-US" sz="1800" b="1" strike="noStrike" spc="-1">
                    <a:solidFill>
                      <a:srgbClr val="000000"/>
                    </a:solidFill>
                    <a:latin typeface="Arial"/>
                    <a:ea typeface="ＭＳ Ｐゴシック"/>
                  </a:rPr>
                  <a:t>Bootstrap Aggregating (Bagging):</a:t>
                </a:r>
                <a:endParaRPr lang="en-US" sz="1800" b="0" strike="noStrike" spc="-1">
                  <a:latin typeface="Arial"/>
                </a:endParaRPr>
              </a:p>
              <a:p>
                <a:pPr marL="285840" indent="-285480">
                  <a:lnSpc>
                    <a:spcPct val="110000"/>
                  </a:lnSpc>
                  <a:spcBef>
                    <a:spcPts val="901"/>
                  </a:spcBef>
                  <a:buClr>
                    <a:srgbClr val="000000"/>
                  </a:buClr>
                  <a:buFont typeface="Arial"/>
                  <a:buChar char="•"/>
                </a:pPr>
                <a:r>
                  <a:rPr lang="en-US" b="1" spc="-1">
                    <a:solidFill>
                      <a:srgbClr val="000000"/>
                    </a:solidFill>
                    <a:ea typeface="ＭＳ Ｐゴシック"/>
                  </a:rPr>
                  <a:t>Number of Estimators n (</a:t>
                </a:r>
                <a:r>
                  <a:rPr lang="en-US" spc="-1">
                    <a:solidFill>
                      <a:srgbClr val="000000"/>
                    </a:solidFill>
                    <a:ea typeface="ＭＳ Ｐゴシック"/>
                  </a:rPr>
                  <a:t>~100)</a:t>
                </a:r>
                <a:r>
                  <a:rPr lang="en-US" b="1" spc="-1">
                    <a:solidFill>
                      <a:srgbClr val="000000"/>
                    </a:solidFill>
                    <a:ea typeface="ＭＳ Ｐゴシック"/>
                  </a:rPr>
                  <a:t>:</a:t>
                </a:r>
                <a:endParaRPr lang="en-US" spc="-1">
                  <a:solidFill>
                    <a:srgbClr val="000000"/>
                  </a:solidFill>
                  <a:ea typeface="ＭＳ Ｐゴシック"/>
                </a:endParaRPr>
              </a:p>
              <a:p>
                <a:pPr marL="743040" lvl="1" indent="-285480">
                  <a:lnSpc>
                    <a:spcPct val="110000"/>
                  </a:lnSpc>
                  <a:spcBef>
                    <a:spcPts val="901"/>
                  </a:spcBef>
                  <a:buClr>
                    <a:srgbClr val="000000"/>
                  </a:buClr>
                  <a:buFont typeface="Arial"/>
                  <a:buChar char="•"/>
                </a:pPr>
                <a:r>
                  <a:rPr lang="en-US" spc="-1">
                    <a:solidFill>
                      <a:srgbClr val="000000"/>
                    </a:solidFill>
                    <a:ea typeface="ＭＳ Ｐゴシック"/>
                  </a:rPr>
                  <a:t>create n subsamples, build n models and aggregate results </a:t>
                </a:r>
              </a:p>
              <a:p>
                <a:pPr marL="360">
                  <a:lnSpc>
                    <a:spcPct val="110000"/>
                  </a:lnSpc>
                  <a:spcBef>
                    <a:spcPts val="901"/>
                  </a:spcBef>
                  <a:buClr>
                    <a:srgbClr val="000000"/>
                  </a:buClr>
                </a:pPr>
                <a:r>
                  <a:rPr lang="en-US" sz="1400" spc="-1">
                    <a:solidFill>
                      <a:srgbClr val="000000"/>
                    </a:solidFill>
                    <a:ea typeface="ＭＳ Ｐゴシック"/>
                  </a:rPr>
                  <a:t>(bootstrapping: random sampling with replacement) </a:t>
                </a:r>
              </a:p>
              <a:p>
                <a:pPr marL="360">
                  <a:lnSpc>
                    <a:spcPct val="110000"/>
                  </a:lnSpc>
                  <a:spcBef>
                    <a:spcPts val="901"/>
                  </a:spcBef>
                  <a:buClr>
                    <a:srgbClr val="000000"/>
                  </a:buClr>
                </a:pPr>
                <a:endParaRPr lang="en-US" sz="1800" b="0" strike="noStrike" spc="-1">
                  <a:latin typeface="Arial"/>
                </a:endParaRPr>
              </a:p>
              <a:p>
                <a:pPr>
                  <a:lnSpc>
                    <a:spcPct val="110000"/>
                  </a:lnSpc>
                  <a:spcBef>
                    <a:spcPts val="901"/>
                  </a:spcBef>
                </a:pPr>
                <a:r>
                  <a:rPr lang="en-US" sz="1800" b="1" strike="noStrike" spc="-1">
                    <a:solidFill>
                      <a:srgbClr val="000000"/>
                    </a:solidFill>
                    <a:latin typeface="Arial"/>
                    <a:ea typeface="ＭＳ Ｐゴシック"/>
                  </a:rPr>
                  <a:t>Random Feature Selection</a:t>
                </a:r>
                <a:r>
                  <a:rPr lang="en-US" sz="1800" b="0" strike="noStrike" spc="-1">
                    <a:solidFill>
                      <a:srgbClr val="000000"/>
                    </a:solidFill>
                    <a:latin typeface="Arial"/>
                    <a:ea typeface="ＭＳ Ｐゴシック"/>
                  </a:rPr>
                  <a:t>:</a:t>
                </a:r>
                <a:endParaRPr lang="en-US" sz="1800" b="0" strike="noStrike" spc="-1">
                  <a:latin typeface="Arial"/>
                </a:endParaRPr>
              </a:p>
              <a:p>
                <a:pPr marL="285840" indent="-285480">
                  <a:lnSpc>
                    <a:spcPct val="110000"/>
                  </a:lnSpc>
                  <a:spcBef>
                    <a:spcPts val="901"/>
                  </a:spcBef>
                  <a:buClr>
                    <a:srgbClr val="000000"/>
                  </a:buClr>
                  <a:buFont typeface="Arial"/>
                  <a:buChar char="•"/>
                </a:pPr>
                <a:r>
                  <a:rPr lang="en-US" sz="1800" b="0" strike="noStrike" spc="-1">
                    <a:solidFill>
                      <a:srgbClr val="000000"/>
                    </a:solidFill>
                    <a:latin typeface="Arial"/>
                    <a:ea typeface="ＭＳ Ｐゴシック"/>
                  </a:rPr>
                  <a:t>for each of the n subsamples: random set of m features (Xs) is used to construct Decision Tree</a:t>
                </a:r>
                <a:endParaRPr lang="en-US" sz="1800" b="0" strike="noStrike" spc="-1">
                  <a:latin typeface="Arial"/>
                </a:endParaRPr>
              </a:p>
              <a:p>
                <a:pPr marL="285840" indent="-285480">
                  <a:lnSpc>
                    <a:spcPct val="110000"/>
                  </a:lnSpc>
                  <a:spcBef>
                    <a:spcPts val="901"/>
                  </a:spcBef>
                  <a:buClr>
                    <a:srgbClr val="000000"/>
                  </a:buClr>
                  <a:buFont typeface="Arial"/>
                  <a:buChar char="•"/>
                </a:pPr>
                <a:r>
                  <a:rPr lang="en-US" sz="1800" b="0" strike="noStrike" spc="-1">
                    <a:solidFill>
                      <a:srgbClr val="000000"/>
                    </a:solidFill>
                    <a:latin typeface="Arial"/>
                    <a:ea typeface="ＭＳ Ｐゴシック"/>
                  </a:rPr>
                  <a:t>m is typically </a:t>
                </a:r>
                <a14:m>
                  <m:oMath xmlns:m="http://schemas.openxmlformats.org/officeDocument/2006/math">
                    <m:rad>
                      <m:radPr>
                        <m:degHide m:val="on"/>
                        <m:ctrlPr>
                          <a:rPr lang="en-US" sz="1800" b="0" i="1" strike="noStrike" spc="-1" smtClean="0">
                            <a:solidFill>
                              <a:srgbClr val="000000"/>
                            </a:solidFill>
                            <a:latin typeface="Cambria Math" panose="02040503050406030204" pitchFamily="18" charset="0"/>
                            <a:ea typeface="ＭＳ Ｐゴシック"/>
                          </a:rPr>
                        </m:ctrlPr>
                      </m:radPr>
                      <m:deg/>
                      <m:e>
                        <m:r>
                          <a:rPr lang="de-DE" sz="1800" b="0" i="1" strike="noStrike" spc="-1" smtClean="0">
                            <a:solidFill>
                              <a:srgbClr val="000000"/>
                            </a:solidFill>
                            <a:latin typeface="Cambria Math" panose="02040503050406030204" pitchFamily="18" charset="0"/>
                            <a:ea typeface="ＭＳ Ｐゴシック"/>
                          </a:rPr>
                          <m:t>𝑀</m:t>
                        </m:r>
                      </m:e>
                    </m:rad>
                  </m:oMath>
                </a14:m>
                <a:r>
                  <a:rPr lang="en-US" sz="1800" b="0" strike="noStrike" spc="-1">
                    <a:solidFill>
                      <a:srgbClr val="000000"/>
                    </a:solidFill>
                    <a:latin typeface="Arial"/>
                    <a:ea typeface="ＭＳ Ｐゴシック"/>
                  </a:rPr>
                  <a:t> or </a:t>
                </a:r>
                <a14:m>
                  <m:oMath xmlns:m="http://schemas.openxmlformats.org/officeDocument/2006/math">
                    <m:sSub>
                      <m:sSubPr>
                        <m:ctrlPr>
                          <a:rPr lang="en-US" sz="1800" b="0" i="1" strike="noStrike" spc="-1" smtClean="0">
                            <a:solidFill>
                              <a:srgbClr val="000000"/>
                            </a:solidFill>
                            <a:latin typeface="Cambria Math" panose="02040503050406030204" pitchFamily="18" charset="0"/>
                            <a:ea typeface="ＭＳ Ｐゴシック"/>
                          </a:rPr>
                        </m:ctrlPr>
                      </m:sSubPr>
                      <m:e>
                        <m:r>
                          <a:rPr lang="de-DE" sz="1800" b="0" i="1" strike="noStrike" spc="-1" smtClean="0">
                            <a:solidFill>
                              <a:srgbClr val="000000"/>
                            </a:solidFill>
                            <a:latin typeface="Cambria Math" panose="02040503050406030204" pitchFamily="18" charset="0"/>
                            <a:ea typeface="ＭＳ Ｐゴシック"/>
                          </a:rPr>
                          <m:t>𝑙𝑜𝑔</m:t>
                        </m:r>
                      </m:e>
                      <m:sub>
                        <m:r>
                          <a:rPr lang="de-DE" sz="1800" b="0" i="1" strike="noStrike" spc="-1" smtClean="0">
                            <a:solidFill>
                              <a:srgbClr val="000000"/>
                            </a:solidFill>
                            <a:latin typeface="Cambria Math" panose="02040503050406030204" pitchFamily="18" charset="0"/>
                            <a:ea typeface="ＭＳ Ｐゴシック"/>
                          </a:rPr>
                          <m:t>2</m:t>
                        </m:r>
                      </m:sub>
                    </m:sSub>
                    <m:r>
                      <a:rPr lang="de-DE" sz="1800" b="0" i="1" strike="noStrike" spc="-1" smtClean="0">
                        <a:solidFill>
                          <a:srgbClr val="000000"/>
                        </a:solidFill>
                        <a:latin typeface="Cambria Math" panose="02040503050406030204" pitchFamily="18" charset="0"/>
                        <a:ea typeface="ＭＳ Ｐゴシック"/>
                      </a:rPr>
                      <m:t>(</m:t>
                    </m:r>
                    <m:r>
                      <a:rPr lang="de-DE" sz="1800" b="0" i="1" strike="noStrike" spc="-1" smtClean="0">
                        <a:solidFill>
                          <a:srgbClr val="000000"/>
                        </a:solidFill>
                        <a:latin typeface="Cambria Math" panose="02040503050406030204" pitchFamily="18" charset="0"/>
                        <a:ea typeface="ＭＳ Ｐゴシック"/>
                      </a:rPr>
                      <m:t>𝑀</m:t>
                    </m:r>
                    <m:r>
                      <a:rPr lang="de-DE" sz="1800" b="0" i="1" strike="noStrike" spc="-1" smtClean="0">
                        <a:solidFill>
                          <a:srgbClr val="000000"/>
                        </a:solidFill>
                        <a:latin typeface="Cambria Math" panose="02040503050406030204" pitchFamily="18" charset="0"/>
                        <a:ea typeface="ＭＳ Ｐゴシック"/>
                      </a:rPr>
                      <m:t>)</m:t>
                    </m:r>
                  </m:oMath>
                </a14:m>
                <a:r>
                  <a:rPr lang="en-US" sz="1800" b="0" strike="noStrike" spc="-1">
                    <a:solidFill>
                      <a:srgbClr val="000000"/>
                    </a:solidFill>
                    <a:latin typeface="Arial"/>
                    <a:ea typeface="ＭＳ Ｐゴシック"/>
                  </a:rPr>
                  <a:t> with M being the total number of features </a:t>
                </a:r>
                <a:endParaRPr lang="en-US" sz="1800" b="0" strike="noStrike" spc="-1">
                  <a:latin typeface="Arial"/>
                </a:endParaRPr>
              </a:p>
              <a:p>
                <a:pPr>
                  <a:lnSpc>
                    <a:spcPct val="110000"/>
                  </a:lnSpc>
                  <a:spcBef>
                    <a:spcPts val="901"/>
                  </a:spcBef>
                </a:pPr>
                <a:endParaRPr lang="en-US" sz="1800" b="0" strike="noStrike" spc="-1">
                  <a:latin typeface="Arial"/>
                </a:endParaRPr>
              </a:p>
              <a:p>
                <a:pPr>
                  <a:lnSpc>
                    <a:spcPct val="110000"/>
                  </a:lnSpc>
                  <a:spcBef>
                    <a:spcPts val="901"/>
                  </a:spcBef>
                </a:pPr>
                <a:endParaRPr lang="en-US" sz="1800" b="0" strike="noStrike" spc="-1">
                  <a:latin typeface="Arial"/>
                </a:endParaRPr>
              </a:p>
              <a:p>
                <a:pPr>
                  <a:lnSpc>
                    <a:spcPct val="110000"/>
                  </a:lnSpc>
                  <a:spcBef>
                    <a:spcPts val="901"/>
                  </a:spcBef>
                </a:pPr>
                <a:endParaRPr lang="en-US" sz="1800" b="0" strike="noStrike" spc="-1">
                  <a:latin typeface="Arial"/>
                </a:endParaRPr>
              </a:p>
              <a:p>
                <a:pPr>
                  <a:lnSpc>
                    <a:spcPct val="110000"/>
                  </a:lnSpc>
                  <a:spcBef>
                    <a:spcPts val="901"/>
                  </a:spcBef>
                </a:pPr>
                <a:endParaRPr lang="en-US" sz="1800" b="0" strike="noStrike" spc="-1">
                  <a:latin typeface="Arial"/>
                </a:endParaRPr>
              </a:p>
              <a:p>
                <a:pPr>
                  <a:lnSpc>
                    <a:spcPct val="110000"/>
                  </a:lnSpc>
                  <a:spcBef>
                    <a:spcPts val="901"/>
                  </a:spcBef>
                </a:pPr>
                <a:endParaRPr lang="en-US" sz="1800" b="0" strike="noStrike" spc="-1">
                  <a:latin typeface="Arial"/>
                </a:endParaRPr>
              </a:p>
            </p:txBody>
          </p:sp>
        </mc:Choice>
        <mc:Fallback xmlns="">
          <p:sp>
            <p:nvSpPr>
              <p:cNvPr id="1556" name="CustomShape 3"/>
              <p:cNvSpPr>
                <a:spLocks noRot="1" noChangeAspect="1" noMove="1" noResize="1" noEditPoints="1" noAdjustHandles="1" noChangeArrowheads="1" noChangeShapeType="1" noTextEdit="1"/>
              </p:cNvSpPr>
              <p:nvPr/>
            </p:nvSpPr>
            <p:spPr>
              <a:xfrm rot="16200">
                <a:off x="7604258" y="1492506"/>
                <a:ext cx="4101120" cy="4430989"/>
              </a:xfrm>
              <a:prstGeom prst="rect">
                <a:avLst/>
              </a:prstGeom>
              <a:blipFill>
                <a:blip r:embed="rId3"/>
                <a:stretch>
                  <a:fillRect l="-3102" t="-1642" r="-4431" b="-1642"/>
                </a:stretch>
              </a:blipFill>
              <a:ln w="9360">
                <a:noFill/>
              </a:ln>
            </p:spPr>
            <p:txBody>
              <a:bodyPr/>
              <a:lstStyle/>
              <a:p>
                <a:r>
                  <a:rPr lang="en-US">
                    <a:noFill/>
                  </a:rPr>
                  <a:t> </a:t>
                </a:r>
              </a:p>
            </p:txBody>
          </p:sp>
        </mc:Fallback>
      </mc:AlternateContent>
      <p:grpSp>
        <p:nvGrpSpPr>
          <p:cNvPr id="4" name="Gruppieren 3">
            <a:extLst>
              <a:ext uri="{FF2B5EF4-FFF2-40B4-BE49-F238E27FC236}">
                <a16:creationId xmlns:a16="http://schemas.microsoft.com/office/drawing/2014/main" id="{AE17DC1E-3237-4ED2-8EEA-576BA52AE94C}"/>
              </a:ext>
            </a:extLst>
          </p:cNvPr>
          <p:cNvGrpSpPr/>
          <p:nvPr/>
        </p:nvGrpSpPr>
        <p:grpSpPr>
          <a:xfrm>
            <a:off x="108000" y="1181134"/>
            <a:ext cx="7128000" cy="4752000"/>
            <a:chOff x="72000" y="1152000"/>
            <a:chExt cx="7128000" cy="4752000"/>
          </a:xfrm>
        </p:grpSpPr>
        <p:grpSp>
          <p:nvGrpSpPr>
            <p:cNvPr id="2" name="Gruppieren 1">
              <a:extLst>
                <a:ext uri="{FF2B5EF4-FFF2-40B4-BE49-F238E27FC236}">
                  <a16:creationId xmlns:a16="http://schemas.microsoft.com/office/drawing/2014/main" id="{BC4DD7FA-1672-4EC7-809A-305BE07CE1BA}"/>
                </a:ext>
              </a:extLst>
            </p:cNvPr>
            <p:cNvGrpSpPr/>
            <p:nvPr/>
          </p:nvGrpSpPr>
          <p:grpSpPr>
            <a:xfrm>
              <a:off x="72000" y="1152000"/>
              <a:ext cx="7128000" cy="4752000"/>
              <a:chOff x="72000" y="1152000"/>
              <a:chExt cx="7128000" cy="4752000"/>
            </a:xfrm>
          </p:grpSpPr>
          <p:pic>
            <p:nvPicPr>
              <p:cNvPr id="1557" name="Grafik 368"/>
              <p:cNvPicPr/>
              <p:nvPr/>
            </p:nvPicPr>
            <p:blipFill>
              <a:blip r:embed="rId4" cstate="screen">
                <a:extLst>
                  <a:ext uri="{28A0092B-C50C-407E-A947-70E740481C1C}">
                    <a14:useLocalDpi xmlns:a14="http://schemas.microsoft.com/office/drawing/2010/main"/>
                  </a:ext>
                </a:extLst>
              </a:blip>
              <a:srcRect/>
              <a:stretch/>
            </p:blipFill>
            <p:spPr>
              <a:xfrm>
                <a:off x="393840" y="1152000"/>
                <a:ext cx="6806160" cy="4752000"/>
              </a:xfrm>
              <a:prstGeom prst="rect">
                <a:avLst/>
              </a:prstGeom>
              <a:ln>
                <a:noFill/>
              </a:ln>
            </p:spPr>
          </p:pic>
          <p:sp>
            <p:nvSpPr>
              <p:cNvPr id="1558" name="CustomShape 4"/>
              <p:cNvSpPr/>
              <p:nvPr/>
            </p:nvSpPr>
            <p:spPr>
              <a:xfrm>
                <a:off x="216000" y="1368000"/>
                <a:ext cx="792000" cy="9360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1559" name="CustomShape 5"/>
              <p:cNvSpPr/>
              <p:nvPr/>
            </p:nvSpPr>
            <p:spPr>
              <a:xfrm>
                <a:off x="108000" y="2772000"/>
                <a:ext cx="792000" cy="9360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1560" name="CustomShape 6"/>
              <p:cNvSpPr/>
              <p:nvPr/>
            </p:nvSpPr>
            <p:spPr>
              <a:xfrm>
                <a:off x="72000" y="4896000"/>
                <a:ext cx="792000" cy="9360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grpSp>
        <p:grpSp>
          <p:nvGrpSpPr>
            <p:cNvPr id="3" name="Gruppieren 2">
              <a:extLst>
                <a:ext uri="{FF2B5EF4-FFF2-40B4-BE49-F238E27FC236}">
                  <a16:creationId xmlns:a16="http://schemas.microsoft.com/office/drawing/2014/main" id="{A870C176-9009-4BFA-BCA2-2B491C562529}"/>
                </a:ext>
              </a:extLst>
            </p:cNvPr>
            <p:cNvGrpSpPr/>
            <p:nvPr/>
          </p:nvGrpSpPr>
          <p:grpSpPr>
            <a:xfrm>
              <a:off x="936000" y="2916000"/>
              <a:ext cx="6156000" cy="288000"/>
              <a:chOff x="936000" y="2916000"/>
              <a:chExt cx="6156000" cy="288000"/>
            </a:xfrm>
          </p:grpSpPr>
          <p:sp>
            <p:nvSpPr>
              <p:cNvPr id="1561" name="TextShape 7"/>
              <p:cNvSpPr txBox="1"/>
              <p:nvPr/>
            </p:nvSpPr>
            <p:spPr>
              <a:xfrm>
                <a:off x="936000" y="2916000"/>
                <a:ext cx="1656000" cy="288000"/>
              </a:xfrm>
              <a:prstGeom prst="rect">
                <a:avLst/>
              </a:prstGeom>
              <a:noFill/>
              <a:ln>
                <a:noFill/>
              </a:ln>
            </p:spPr>
            <p:txBody>
              <a:bodyPr lIns="90000" tIns="45000" rIns="90000" bIns="45000"/>
              <a:lstStyle/>
              <a:p>
                <a:r>
                  <a:rPr lang="en-US" sz="1000" b="0" strike="noStrike" spc="-1">
                    <a:latin typeface="Arial"/>
                  </a:rPr>
                  <a:t>Random set of features</a:t>
                </a:r>
              </a:p>
            </p:txBody>
          </p:sp>
          <p:sp>
            <p:nvSpPr>
              <p:cNvPr id="1562" name="TextShape 8"/>
              <p:cNvSpPr txBox="1"/>
              <p:nvPr/>
            </p:nvSpPr>
            <p:spPr>
              <a:xfrm>
                <a:off x="3204000" y="2916000"/>
                <a:ext cx="1656000" cy="288000"/>
              </a:xfrm>
              <a:prstGeom prst="rect">
                <a:avLst/>
              </a:prstGeom>
              <a:noFill/>
              <a:ln>
                <a:noFill/>
              </a:ln>
            </p:spPr>
            <p:txBody>
              <a:bodyPr lIns="90000" tIns="45000" rIns="90000" bIns="45000"/>
              <a:lstStyle/>
              <a:p>
                <a:r>
                  <a:rPr lang="en-US" sz="1000" b="0" strike="noStrike" spc="-1">
                    <a:latin typeface="Arial"/>
                  </a:rPr>
                  <a:t>Random set of features</a:t>
                </a:r>
              </a:p>
            </p:txBody>
          </p:sp>
          <p:sp>
            <p:nvSpPr>
              <p:cNvPr id="1563" name="TextShape 9"/>
              <p:cNvSpPr txBox="1"/>
              <p:nvPr/>
            </p:nvSpPr>
            <p:spPr>
              <a:xfrm>
                <a:off x="5436000" y="2916000"/>
                <a:ext cx="1656000" cy="288000"/>
              </a:xfrm>
              <a:prstGeom prst="rect">
                <a:avLst/>
              </a:prstGeom>
              <a:noFill/>
              <a:ln>
                <a:noFill/>
              </a:ln>
            </p:spPr>
            <p:txBody>
              <a:bodyPr lIns="90000" tIns="45000" rIns="90000" bIns="45000"/>
              <a:lstStyle/>
              <a:p>
                <a:r>
                  <a:rPr lang="en-US" sz="1000" b="0" strike="noStrike" spc="-1">
                    <a:latin typeface="Arial"/>
                  </a:rPr>
                  <a:t>Random set of features</a:t>
                </a:r>
              </a:p>
            </p:txBody>
          </p:sp>
        </p:grpSp>
      </p:gr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4" name="CustomShape 1"/>
          <p:cNvSpPr/>
          <p:nvPr/>
        </p:nvSpPr>
        <p:spPr>
          <a:xfrm>
            <a:off x="0" y="0"/>
            <a:ext cx="12197160" cy="1438920"/>
          </a:xfrm>
          <a:prstGeom prst="rect">
            <a:avLst/>
          </a:prstGeom>
          <a:noFill/>
          <a:ln w="9360">
            <a:noFill/>
          </a:ln>
        </p:spPr>
        <p:style>
          <a:lnRef idx="0">
            <a:scrgbClr r="0" g="0" b="0"/>
          </a:lnRef>
          <a:fillRef idx="0">
            <a:scrgbClr r="0" g="0" b="0"/>
          </a:fillRef>
          <a:effectRef idx="0">
            <a:scrgbClr r="0" g="0" b="0"/>
          </a:effectRef>
          <a:fontRef idx="minor"/>
        </p:style>
        <p:txBody>
          <a:bodyPr lIns="626400" tIns="432000" rIns="2746800" bIns="234000"/>
          <a:lstStyle/>
          <a:p>
            <a:pPr>
              <a:lnSpc>
                <a:spcPct val="100000"/>
              </a:lnSpc>
              <a:spcBef>
                <a:spcPts val="1100"/>
              </a:spcBef>
            </a:pPr>
            <a:r>
              <a:rPr lang="en-US" sz="2200" b="1" strike="noStrike" spc="-1">
                <a:solidFill>
                  <a:srgbClr val="00646E"/>
                </a:solidFill>
                <a:latin typeface="Arial"/>
                <a:ea typeface="ＭＳ Ｐゴシック"/>
              </a:rPr>
              <a:t>Random Forests: Example for One Tree</a:t>
            </a:r>
            <a:endParaRPr lang="en-US" sz="2200" b="0" strike="noStrike" spc="-1">
              <a:latin typeface="Arial"/>
            </a:endParaRPr>
          </a:p>
        </p:txBody>
      </p:sp>
      <p:sp>
        <p:nvSpPr>
          <p:cNvPr id="1576" name="CustomShape 3"/>
          <p:cNvSpPr/>
          <p:nvPr/>
        </p:nvSpPr>
        <p:spPr>
          <a:xfrm>
            <a:off x="627120" y="5661248"/>
            <a:ext cx="11088360" cy="693000"/>
          </a:xfrm>
          <a:prstGeom prst="rect">
            <a:avLst/>
          </a:prstGeom>
          <a:noFill/>
          <a:ln w="28440">
            <a:solidFill>
              <a:srgbClr val="00646E"/>
            </a:solidFill>
            <a:round/>
          </a:ln>
        </p:spPr>
        <p:style>
          <a:lnRef idx="0">
            <a:scrgbClr r="0" g="0" b="0"/>
          </a:lnRef>
          <a:fillRef idx="0">
            <a:scrgbClr r="0" g="0" b="0"/>
          </a:fillRef>
          <a:effectRef idx="0">
            <a:scrgbClr r="0" g="0" b="0"/>
          </a:effectRef>
          <a:fontRef idx="minor"/>
        </p:style>
        <p:txBody>
          <a:bodyPr lIns="90000" tIns="45000" rIns="90000" bIns="45000"/>
          <a:lstStyle/>
          <a:p>
            <a:pPr algn="ctr">
              <a:lnSpc>
                <a:spcPct val="110000"/>
              </a:lnSpc>
            </a:pPr>
            <a:r>
              <a:rPr lang="en-US" sz="1800" b="0" strike="noStrike" spc="-1">
                <a:solidFill>
                  <a:srgbClr val="000000"/>
                </a:solidFill>
                <a:latin typeface="Arial"/>
                <a:ea typeface="ＭＳ Ｐゴシック"/>
              </a:rPr>
              <a:t>In Comparison to a single Decision Tree: average has </a:t>
            </a:r>
            <a:r>
              <a:rPr lang="en-US" sz="1800" b="1" strike="noStrike" spc="-1">
                <a:solidFill>
                  <a:srgbClr val="000000"/>
                </a:solidFill>
                <a:latin typeface="Arial"/>
                <a:ea typeface="ＭＳ Ｐゴシック"/>
              </a:rPr>
              <a:t>smaller prediction Variance</a:t>
            </a:r>
            <a:r>
              <a:rPr lang="en-US" sz="1800" b="0" strike="noStrike" spc="-1">
                <a:solidFill>
                  <a:srgbClr val="000000"/>
                </a:solidFill>
                <a:latin typeface="Arial"/>
                <a:ea typeface="ＭＳ Ｐゴシック"/>
              </a:rPr>
              <a:t> which leads to a better performance, but therefore algorithm is a </a:t>
            </a:r>
            <a:r>
              <a:rPr lang="en-US" sz="1800" b="1" strike="noStrike" spc="-1">
                <a:solidFill>
                  <a:srgbClr val="000000"/>
                </a:solidFill>
                <a:latin typeface="Arial"/>
                <a:ea typeface="ＭＳ Ｐゴシック"/>
              </a:rPr>
              <a:t>„black box“</a:t>
            </a:r>
            <a:endParaRPr lang="en-US" sz="1800" b="0" strike="noStrike" spc="-1">
              <a:latin typeface="Arial"/>
            </a:endParaRPr>
          </a:p>
        </p:txBody>
      </p:sp>
      <p:graphicFrame>
        <p:nvGraphicFramePr>
          <p:cNvPr id="2" name="Tabelle 2">
            <a:extLst>
              <a:ext uri="{FF2B5EF4-FFF2-40B4-BE49-F238E27FC236}">
                <a16:creationId xmlns:a16="http://schemas.microsoft.com/office/drawing/2014/main" id="{AD53849F-5AA2-442B-8E9F-B5180E4371AA}"/>
              </a:ext>
            </a:extLst>
          </p:cNvPr>
          <p:cNvGraphicFramePr>
            <a:graphicFrameLocks noGrp="1"/>
          </p:cNvGraphicFramePr>
          <p:nvPr/>
        </p:nvGraphicFramePr>
        <p:xfrm>
          <a:off x="644736" y="1052736"/>
          <a:ext cx="3474219" cy="2194560"/>
        </p:xfrm>
        <a:graphic>
          <a:graphicData uri="http://schemas.openxmlformats.org/drawingml/2006/table">
            <a:tbl>
              <a:tblPr firstRow="1" bandRow="1">
                <a:tableStyleId>{5C22544A-7EE6-4342-B048-85BDC9FD1C3A}</a:tableStyleId>
              </a:tblPr>
              <a:tblGrid>
                <a:gridCol w="341871">
                  <a:extLst>
                    <a:ext uri="{9D8B030D-6E8A-4147-A177-3AD203B41FA5}">
                      <a16:colId xmlns:a16="http://schemas.microsoft.com/office/drawing/2014/main" val="255140635"/>
                    </a:ext>
                  </a:extLst>
                </a:gridCol>
                <a:gridCol w="828092">
                  <a:extLst>
                    <a:ext uri="{9D8B030D-6E8A-4147-A177-3AD203B41FA5}">
                      <a16:colId xmlns:a16="http://schemas.microsoft.com/office/drawing/2014/main" val="3569876583"/>
                    </a:ext>
                  </a:extLst>
                </a:gridCol>
                <a:gridCol w="648072">
                  <a:extLst>
                    <a:ext uri="{9D8B030D-6E8A-4147-A177-3AD203B41FA5}">
                      <a16:colId xmlns:a16="http://schemas.microsoft.com/office/drawing/2014/main" val="1389167866"/>
                    </a:ext>
                  </a:extLst>
                </a:gridCol>
                <a:gridCol w="720080">
                  <a:extLst>
                    <a:ext uri="{9D8B030D-6E8A-4147-A177-3AD203B41FA5}">
                      <a16:colId xmlns:a16="http://schemas.microsoft.com/office/drawing/2014/main" val="461725031"/>
                    </a:ext>
                  </a:extLst>
                </a:gridCol>
                <a:gridCol w="936104">
                  <a:extLst>
                    <a:ext uri="{9D8B030D-6E8A-4147-A177-3AD203B41FA5}">
                      <a16:colId xmlns:a16="http://schemas.microsoft.com/office/drawing/2014/main" val="2167941387"/>
                    </a:ext>
                  </a:extLst>
                </a:gridCol>
              </a:tblGrid>
              <a:tr h="246637">
                <a:tc>
                  <a:txBody>
                    <a:bodyPr/>
                    <a:lstStyle/>
                    <a:p>
                      <a:endParaRPr lang="en-US" sz="1200" b="0">
                        <a:latin typeface="+mn-lt"/>
                      </a:endParaRPr>
                    </a:p>
                  </a:txBody>
                  <a:tcPr/>
                </a:tc>
                <a:tc>
                  <a:txBody>
                    <a:bodyPr/>
                    <a:lstStyle/>
                    <a:p>
                      <a:r>
                        <a:rPr lang="en-US" sz="1200" b="0" noProof="0">
                          <a:latin typeface="+mn-lt"/>
                        </a:rPr>
                        <a:t>age</a:t>
                      </a:r>
                    </a:p>
                  </a:txBody>
                  <a:tcPr/>
                </a:tc>
                <a:tc>
                  <a:txBody>
                    <a:bodyPr/>
                    <a:lstStyle/>
                    <a:p>
                      <a:r>
                        <a:rPr lang="en-US" sz="1200" b="0" noProof="0">
                          <a:latin typeface="+mn-lt"/>
                        </a:rPr>
                        <a:t>size</a:t>
                      </a:r>
                    </a:p>
                  </a:txBody>
                  <a:tcPr/>
                </a:tc>
                <a:tc>
                  <a:txBody>
                    <a:bodyPr/>
                    <a:lstStyle/>
                    <a:p>
                      <a:r>
                        <a:rPr lang="en-US" sz="1200" b="0" noProof="0">
                          <a:latin typeface="+mn-lt"/>
                        </a:rPr>
                        <a:t>weight</a:t>
                      </a:r>
                    </a:p>
                  </a:txBody>
                  <a:tcPr/>
                </a:tc>
                <a:tc>
                  <a:txBody>
                    <a:bodyPr/>
                    <a:lstStyle/>
                    <a:p>
                      <a:r>
                        <a:rPr lang="en-US" sz="1200" b="0" noProof="0">
                          <a:solidFill>
                            <a:schemeClr val="bg1"/>
                          </a:solidFill>
                          <a:latin typeface="+mn-lt"/>
                        </a:rPr>
                        <a:t>health</a:t>
                      </a:r>
                    </a:p>
                  </a:txBody>
                  <a:tcPr/>
                </a:tc>
                <a:extLst>
                  <a:ext uri="{0D108BD9-81ED-4DB2-BD59-A6C34878D82A}">
                    <a16:rowId xmlns:a16="http://schemas.microsoft.com/office/drawing/2014/main" val="2884208729"/>
                  </a:ext>
                </a:extLst>
              </a:tr>
              <a:tr h="246637">
                <a:tc>
                  <a:txBody>
                    <a:bodyPr/>
                    <a:lstStyle/>
                    <a:p>
                      <a:r>
                        <a:rPr lang="de-DE" sz="1200" b="0">
                          <a:latin typeface="+mn-lt"/>
                        </a:rPr>
                        <a:t>1.</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tall</a:t>
                      </a:r>
                    </a:p>
                  </a:txBody>
                  <a:tcPr marL="90000" marR="90000"/>
                </a:tc>
                <a:tc>
                  <a:txBody>
                    <a:bodyPr/>
                    <a:lstStyle/>
                    <a:p>
                      <a:r>
                        <a:rPr lang="en-US" sz="1200" b="0" strike="noStrike" spc="-1" noProof="0">
                          <a:latin typeface="+mn-lt"/>
                        </a:rPr>
                        <a:t>heavy</a:t>
                      </a:r>
                    </a:p>
                  </a:txBody>
                  <a:tcPr marL="90000" marR="90000"/>
                </a:tc>
                <a:tc>
                  <a:txBody>
                    <a:bodyPr/>
                    <a:lstStyle/>
                    <a:p>
                      <a:r>
                        <a:rPr lang="en-US" sz="1200" b="0" strike="noStrike" spc="-1" noProof="0">
                          <a:solidFill>
                            <a:srgbClr val="FF0000"/>
                          </a:solidFill>
                          <a:latin typeface="+mn-lt"/>
                        </a:rPr>
                        <a:t>diseased</a:t>
                      </a:r>
                    </a:p>
                  </a:txBody>
                  <a:tcPr marL="90000" marR="90000"/>
                </a:tc>
                <a:extLst>
                  <a:ext uri="{0D108BD9-81ED-4DB2-BD59-A6C34878D82A}">
                    <a16:rowId xmlns:a16="http://schemas.microsoft.com/office/drawing/2014/main" val="598854406"/>
                  </a:ext>
                </a:extLst>
              </a:tr>
              <a:tr h="246637">
                <a:tc>
                  <a:txBody>
                    <a:bodyPr/>
                    <a:lstStyle/>
                    <a:p>
                      <a:r>
                        <a:rPr lang="de-DE" sz="1200" b="0">
                          <a:latin typeface="+mn-lt"/>
                        </a:rPr>
                        <a:t>2.</a:t>
                      </a:r>
                      <a:endParaRPr lang="en-US" sz="1200" b="0">
                        <a:latin typeface="+mn-lt"/>
                      </a:endParaRPr>
                    </a:p>
                  </a:txBody>
                  <a:tcPr/>
                </a:tc>
                <a:tc>
                  <a:txBody>
                    <a:bodyPr/>
                    <a:lstStyle/>
                    <a:p>
                      <a:r>
                        <a:rPr lang="en-US" sz="1200" b="0" strike="noStrike" spc="-1" noProof="0">
                          <a:latin typeface="+mn-lt"/>
                        </a:rPr>
                        <a:t>young</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latin typeface="+mn-lt"/>
                        </a:rPr>
                        <a:t>light</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2772030561"/>
                  </a:ext>
                </a:extLst>
              </a:tr>
              <a:tr h="246637">
                <a:tc>
                  <a:txBody>
                    <a:bodyPr/>
                    <a:lstStyle/>
                    <a:p>
                      <a:r>
                        <a:rPr lang="de-DE" sz="1200" b="0">
                          <a:latin typeface="+mn-lt"/>
                        </a:rPr>
                        <a:t>3.</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latin typeface="+mn-lt"/>
                        </a:rPr>
                        <a:t>heavy</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315945746"/>
                  </a:ext>
                </a:extLst>
              </a:tr>
              <a:tr h="246637">
                <a:tc>
                  <a:txBody>
                    <a:bodyPr/>
                    <a:lstStyle/>
                    <a:p>
                      <a:r>
                        <a:rPr lang="de-DE" sz="1200" b="0">
                          <a:latin typeface="+mn-lt"/>
                        </a:rPr>
                        <a:t>4.</a:t>
                      </a:r>
                      <a:endParaRPr lang="en-US" sz="1200" b="0">
                        <a:latin typeface="+mn-lt"/>
                      </a:endParaRPr>
                    </a:p>
                  </a:txBody>
                  <a:tcPr/>
                </a:tc>
                <a:tc>
                  <a:txBody>
                    <a:bodyPr/>
                    <a:lstStyle/>
                    <a:p>
                      <a:r>
                        <a:rPr lang="en-US" sz="1200" b="0" strike="noStrike" spc="-1" noProof="0">
                          <a:latin typeface="+mn-lt"/>
                        </a:rPr>
                        <a:t>young</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latin typeface="+mn-lt"/>
                        </a:rPr>
                        <a:t>light</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3944307586"/>
                  </a:ext>
                </a:extLst>
              </a:tr>
              <a:tr h="246637">
                <a:tc>
                  <a:txBody>
                    <a:bodyPr/>
                    <a:lstStyle/>
                    <a:p>
                      <a:r>
                        <a:rPr lang="de-DE" sz="1200" b="0">
                          <a:latin typeface="+mn-lt"/>
                        </a:rPr>
                        <a:t>5.</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tall</a:t>
                      </a:r>
                    </a:p>
                  </a:txBody>
                  <a:tcPr marL="90000" marR="90000"/>
                </a:tc>
                <a:tc>
                  <a:txBody>
                    <a:bodyPr/>
                    <a:lstStyle/>
                    <a:p>
                      <a:r>
                        <a:rPr lang="en-US" sz="1200" b="0" strike="noStrike" spc="-1" noProof="0">
                          <a:latin typeface="+mn-lt"/>
                        </a:rPr>
                        <a:t>heavy</a:t>
                      </a:r>
                    </a:p>
                  </a:txBody>
                  <a:tcPr marL="90000" marR="90000"/>
                </a:tc>
                <a:tc>
                  <a:txBody>
                    <a:bodyPr/>
                    <a:lstStyle/>
                    <a:p>
                      <a:r>
                        <a:rPr lang="en-US" sz="1200" b="0" strike="noStrike" spc="-1" noProof="0">
                          <a:solidFill>
                            <a:srgbClr val="FF0000"/>
                          </a:solidFill>
                          <a:latin typeface="+mn-lt"/>
                        </a:rPr>
                        <a:t>diseased</a:t>
                      </a:r>
                    </a:p>
                  </a:txBody>
                  <a:tcPr marL="90000" marR="90000"/>
                </a:tc>
                <a:extLst>
                  <a:ext uri="{0D108BD9-81ED-4DB2-BD59-A6C34878D82A}">
                    <a16:rowId xmlns:a16="http://schemas.microsoft.com/office/drawing/2014/main" val="1893350133"/>
                  </a:ext>
                </a:extLst>
              </a:tr>
              <a:tr h="246637">
                <a:tc>
                  <a:txBody>
                    <a:bodyPr/>
                    <a:lstStyle/>
                    <a:p>
                      <a:r>
                        <a:rPr lang="de-DE" sz="1200" b="0">
                          <a:latin typeface="+mn-lt"/>
                        </a:rPr>
                        <a:t>6.</a:t>
                      </a:r>
                      <a:endParaRPr lang="en-US" sz="1200" b="0">
                        <a:latin typeface="+mn-lt"/>
                      </a:endParaRPr>
                    </a:p>
                  </a:txBody>
                  <a:tcPr/>
                </a:tc>
                <a:tc>
                  <a:txBody>
                    <a:bodyPr/>
                    <a:lstStyle/>
                    <a:p>
                      <a:r>
                        <a:rPr lang="en-US" sz="1200" b="0" strike="noStrike" spc="-1" noProof="0">
                          <a:latin typeface="+mn-lt"/>
                        </a:rPr>
                        <a:t>young</a:t>
                      </a:r>
                    </a:p>
                  </a:txBody>
                  <a:tcPr marL="90000" marR="90000"/>
                </a:tc>
                <a:tc>
                  <a:txBody>
                    <a:bodyPr/>
                    <a:lstStyle/>
                    <a:p>
                      <a:r>
                        <a:rPr lang="en-US" sz="1200" b="0" strike="noStrike" spc="-1" noProof="0">
                          <a:latin typeface="+mn-lt"/>
                        </a:rPr>
                        <a:t>tall</a:t>
                      </a:r>
                    </a:p>
                  </a:txBody>
                  <a:tcPr marL="90000" marR="90000"/>
                </a:tc>
                <a:tc>
                  <a:txBody>
                    <a:bodyPr/>
                    <a:lstStyle/>
                    <a:p>
                      <a:r>
                        <a:rPr lang="en-US" sz="1200" b="0" strike="noStrike" spc="-1" noProof="0">
                          <a:latin typeface="+mn-lt"/>
                        </a:rPr>
                        <a:t>light</a:t>
                      </a:r>
                    </a:p>
                  </a:txBody>
                  <a:tcPr marL="90000" marR="90000"/>
                </a:tc>
                <a:tc>
                  <a:txBody>
                    <a:bodyPr/>
                    <a:lstStyle/>
                    <a:p>
                      <a:r>
                        <a:rPr lang="en-US" sz="1200" b="0" strike="noStrike" spc="-1" noProof="0">
                          <a:solidFill>
                            <a:srgbClr val="FF0000"/>
                          </a:solidFill>
                          <a:latin typeface="+mn-lt"/>
                        </a:rPr>
                        <a:t>diseased</a:t>
                      </a:r>
                    </a:p>
                  </a:txBody>
                  <a:tcPr marL="90000" marR="90000"/>
                </a:tc>
                <a:extLst>
                  <a:ext uri="{0D108BD9-81ED-4DB2-BD59-A6C34878D82A}">
                    <a16:rowId xmlns:a16="http://schemas.microsoft.com/office/drawing/2014/main" val="623792709"/>
                  </a:ext>
                </a:extLst>
              </a:tr>
              <a:tr h="246637">
                <a:tc>
                  <a:txBody>
                    <a:bodyPr/>
                    <a:lstStyle/>
                    <a:p>
                      <a:r>
                        <a:rPr lang="de-DE" sz="1200" b="0">
                          <a:latin typeface="+mn-lt"/>
                        </a:rPr>
                        <a:t>7.</a:t>
                      </a:r>
                      <a:endParaRPr lang="en-US" sz="1200" b="0">
                        <a:latin typeface="+mn-lt"/>
                      </a:endParaRPr>
                    </a:p>
                  </a:txBody>
                  <a:tcPr/>
                </a:tc>
                <a:tc>
                  <a:txBody>
                    <a:bodyPr/>
                    <a:lstStyle/>
                    <a:p>
                      <a:r>
                        <a:rPr lang="en-US" sz="1200" b="0" strike="noStrike" spc="-1" noProof="0">
                          <a:latin typeface="+mn-lt"/>
                        </a:rPr>
                        <a:t>young</a:t>
                      </a:r>
                    </a:p>
                  </a:txBody>
                  <a:tcPr marL="90000" marR="90000"/>
                </a:tc>
                <a:tc>
                  <a:txBody>
                    <a:bodyPr/>
                    <a:lstStyle/>
                    <a:p>
                      <a:r>
                        <a:rPr lang="en-US" sz="1200" b="0" strike="noStrike" spc="-1" noProof="0">
                          <a:latin typeface="+mn-lt"/>
                        </a:rPr>
                        <a:t>tall</a:t>
                      </a:r>
                    </a:p>
                  </a:txBody>
                  <a:tcPr marL="90000" marR="90000"/>
                </a:tc>
                <a:tc>
                  <a:txBody>
                    <a:bodyPr/>
                    <a:lstStyle/>
                    <a:p>
                      <a:r>
                        <a:rPr lang="en-US" sz="1200" b="0" strike="noStrike" spc="-1" noProof="0">
                          <a:latin typeface="+mn-lt"/>
                        </a:rPr>
                        <a:t>light</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181528401"/>
                  </a:ext>
                </a:extLst>
              </a:tr>
            </a:tbl>
          </a:graphicData>
        </a:graphic>
      </p:graphicFrame>
      <p:graphicFrame>
        <p:nvGraphicFramePr>
          <p:cNvPr id="21" name="Tabelle 2">
            <a:extLst>
              <a:ext uri="{FF2B5EF4-FFF2-40B4-BE49-F238E27FC236}">
                <a16:creationId xmlns:a16="http://schemas.microsoft.com/office/drawing/2014/main" id="{FC8ACCC5-062A-409C-9F95-6B9A54AFDC3E}"/>
              </a:ext>
            </a:extLst>
          </p:cNvPr>
          <p:cNvGraphicFramePr>
            <a:graphicFrameLocks noGrp="1"/>
          </p:cNvGraphicFramePr>
          <p:nvPr>
            <p:extLst>
              <p:ext uri="{D42A27DB-BD31-4B8C-83A1-F6EECF244321}">
                <p14:modId xmlns:p14="http://schemas.microsoft.com/office/powerpoint/2010/main" val="4182943565"/>
              </p:ext>
            </p:extLst>
          </p:nvPr>
        </p:nvGraphicFramePr>
        <p:xfrm>
          <a:off x="4822926" y="1081658"/>
          <a:ext cx="3474219" cy="1371600"/>
        </p:xfrm>
        <a:graphic>
          <a:graphicData uri="http://schemas.openxmlformats.org/drawingml/2006/table">
            <a:tbl>
              <a:tblPr firstRow="1" bandRow="1">
                <a:tableStyleId>{5C22544A-7EE6-4342-B048-85BDC9FD1C3A}</a:tableStyleId>
              </a:tblPr>
              <a:tblGrid>
                <a:gridCol w="341871">
                  <a:extLst>
                    <a:ext uri="{9D8B030D-6E8A-4147-A177-3AD203B41FA5}">
                      <a16:colId xmlns:a16="http://schemas.microsoft.com/office/drawing/2014/main" val="255140635"/>
                    </a:ext>
                  </a:extLst>
                </a:gridCol>
                <a:gridCol w="828092">
                  <a:extLst>
                    <a:ext uri="{9D8B030D-6E8A-4147-A177-3AD203B41FA5}">
                      <a16:colId xmlns:a16="http://schemas.microsoft.com/office/drawing/2014/main" val="3569876583"/>
                    </a:ext>
                  </a:extLst>
                </a:gridCol>
                <a:gridCol w="648072">
                  <a:extLst>
                    <a:ext uri="{9D8B030D-6E8A-4147-A177-3AD203B41FA5}">
                      <a16:colId xmlns:a16="http://schemas.microsoft.com/office/drawing/2014/main" val="1389167866"/>
                    </a:ext>
                  </a:extLst>
                </a:gridCol>
                <a:gridCol w="720080">
                  <a:extLst>
                    <a:ext uri="{9D8B030D-6E8A-4147-A177-3AD203B41FA5}">
                      <a16:colId xmlns:a16="http://schemas.microsoft.com/office/drawing/2014/main" val="461725031"/>
                    </a:ext>
                  </a:extLst>
                </a:gridCol>
                <a:gridCol w="936104">
                  <a:extLst>
                    <a:ext uri="{9D8B030D-6E8A-4147-A177-3AD203B41FA5}">
                      <a16:colId xmlns:a16="http://schemas.microsoft.com/office/drawing/2014/main" val="2167941387"/>
                    </a:ext>
                  </a:extLst>
                </a:gridCol>
              </a:tblGrid>
              <a:tr h="253713">
                <a:tc>
                  <a:txBody>
                    <a:bodyPr/>
                    <a:lstStyle/>
                    <a:p>
                      <a:endParaRPr lang="en-US" sz="1200" b="0">
                        <a:latin typeface="+mn-lt"/>
                      </a:endParaRPr>
                    </a:p>
                  </a:txBody>
                  <a:tcPr/>
                </a:tc>
                <a:tc>
                  <a:txBody>
                    <a:bodyPr/>
                    <a:lstStyle/>
                    <a:p>
                      <a:r>
                        <a:rPr lang="en-US" sz="1200" b="0" noProof="0">
                          <a:latin typeface="+mn-lt"/>
                        </a:rPr>
                        <a:t>age</a:t>
                      </a:r>
                    </a:p>
                  </a:txBody>
                  <a:tcPr/>
                </a:tc>
                <a:tc>
                  <a:txBody>
                    <a:bodyPr/>
                    <a:lstStyle/>
                    <a:p>
                      <a:r>
                        <a:rPr lang="en-US" sz="1200" b="0" noProof="0">
                          <a:latin typeface="+mn-lt"/>
                        </a:rPr>
                        <a:t>size</a:t>
                      </a:r>
                    </a:p>
                  </a:txBody>
                  <a:tcPr/>
                </a:tc>
                <a:tc>
                  <a:txBody>
                    <a:bodyPr/>
                    <a:lstStyle/>
                    <a:p>
                      <a:r>
                        <a:rPr lang="en-US" sz="1200" b="0" noProof="0">
                          <a:latin typeface="+mn-lt"/>
                        </a:rPr>
                        <a:t>weight</a:t>
                      </a:r>
                    </a:p>
                  </a:txBody>
                  <a:tcPr/>
                </a:tc>
                <a:tc>
                  <a:txBody>
                    <a:bodyPr/>
                    <a:lstStyle/>
                    <a:p>
                      <a:r>
                        <a:rPr lang="en-US" sz="1200" b="0" noProof="0">
                          <a:latin typeface="+mn-lt"/>
                        </a:rPr>
                        <a:t>health</a:t>
                      </a:r>
                    </a:p>
                  </a:txBody>
                  <a:tcPr/>
                </a:tc>
                <a:extLst>
                  <a:ext uri="{0D108BD9-81ED-4DB2-BD59-A6C34878D82A}">
                    <a16:rowId xmlns:a16="http://schemas.microsoft.com/office/drawing/2014/main" val="2884208729"/>
                  </a:ext>
                </a:extLst>
              </a:tr>
              <a:tr h="253713">
                <a:tc>
                  <a:txBody>
                    <a:bodyPr/>
                    <a:lstStyle/>
                    <a:p>
                      <a:r>
                        <a:rPr lang="de-DE" sz="1200" b="0">
                          <a:latin typeface="+mn-lt"/>
                        </a:rPr>
                        <a:t>1.</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tall</a:t>
                      </a:r>
                    </a:p>
                  </a:txBody>
                  <a:tcPr marL="90000" marR="90000"/>
                </a:tc>
                <a:tc>
                  <a:txBody>
                    <a:bodyPr/>
                    <a:lstStyle/>
                    <a:p>
                      <a:r>
                        <a:rPr lang="en-US" sz="1200" b="0" strike="noStrike" spc="-1" noProof="0">
                          <a:latin typeface="+mn-lt"/>
                        </a:rPr>
                        <a:t>heavy</a:t>
                      </a:r>
                    </a:p>
                  </a:txBody>
                  <a:tcPr marL="90000" marR="90000"/>
                </a:tc>
                <a:tc>
                  <a:txBody>
                    <a:bodyPr/>
                    <a:lstStyle/>
                    <a:p>
                      <a:r>
                        <a:rPr lang="en-US" sz="1200" b="0" strike="noStrike" spc="-1" noProof="0">
                          <a:solidFill>
                            <a:srgbClr val="FF0000"/>
                          </a:solidFill>
                          <a:latin typeface="+mn-lt"/>
                        </a:rPr>
                        <a:t>diseased</a:t>
                      </a:r>
                    </a:p>
                  </a:txBody>
                  <a:tcPr marL="90000" marR="90000"/>
                </a:tc>
                <a:extLst>
                  <a:ext uri="{0D108BD9-81ED-4DB2-BD59-A6C34878D82A}">
                    <a16:rowId xmlns:a16="http://schemas.microsoft.com/office/drawing/2014/main" val="598854406"/>
                  </a:ext>
                </a:extLst>
              </a:tr>
              <a:tr h="253713">
                <a:tc>
                  <a:txBody>
                    <a:bodyPr/>
                    <a:lstStyle/>
                    <a:p>
                      <a:r>
                        <a:rPr lang="de-DE" sz="1200" b="0">
                          <a:latin typeface="+mn-lt"/>
                        </a:rPr>
                        <a:t>2.</a:t>
                      </a:r>
                      <a:endParaRPr lang="en-US" sz="1200" b="0">
                        <a:latin typeface="+mn-lt"/>
                      </a:endParaRPr>
                    </a:p>
                  </a:txBody>
                  <a:tcPr/>
                </a:tc>
                <a:tc>
                  <a:txBody>
                    <a:bodyPr/>
                    <a:lstStyle/>
                    <a:p>
                      <a:r>
                        <a:rPr lang="en-US" sz="1200" b="0" strike="noStrike" spc="-1" noProof="0">
                          <a:latin typeface="+mn-lt"/>
                        </a:rPr>
                        <a:t>young</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latin typeface="+mn-lt"/>
                        </a:rPr>
                        <a:t>light</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2772030561"/>
                  </a:ext>
                </a:extLst>
              </a:tr>
              <a:tr h="253713">
                <a:tc>
                  <a:txBody>
                    <a:bodyPr/>
                    <a:lstStyle/>
                    <a:p>
                      <a:r>
                        <a:rPr lang="de-DE" sz="1200" b="0">
                          <a:latin typeface="+mn-lt"/>
                        </a:rPr>
                        <a:t>3.</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latin typeface="+mn-lt"/>
                        </a:rPr>
                        <a:t>heavy</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315945746"/>
                  </a:ext>
                </a:extLst>
              </a:tr>
              <a:tr h="253713">
                <a:tc>
                  <a:txBody>
                    <a:bodyPr/>
                    <a:lstStyle/>
                    <a:p>
                      <a:r>
                        <a:rPr lang="de-DE" sz="1200" b="0">
                          <a:latin typeface="+mn-lt"/>
                        </a:rPr>
                        <a:t>4.</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latin typeface="+mn-lt"/>
                        </a:rPr>
                        <a:t>heavy</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3944307586"/>
                  </a:ext>
                </a:extLst>
              </a:tr>
            </a:tbl>
          </a:graphicData>
        </a:graphic>
      </p:graphicFrame>
      <p:cxnSp>
        <p:nvCxnSpPr>
          <p:cNvPr id="5" name="Gerade Verbindung mit Pfeil 4">
            <a:extLst>
              <a:ext uri="{FF2B5EF4-FFF2-40B4-BE49-F238E27FC236}">
                <a16:creationId xmlns:a16="http://schemas.microsoft.com/office/drawing/2014/main" id="{882E660C-E797-40FA-91E8-9374A6143808}"/>
              </a:ext>
            </a:extLst>
          </p:cNvPr>
          <p:cNvCxnSpPr/>
          <p:nvPr/>
        </p:nvCxnSpPr>
        <p:spPr bwMode="auto">
          <a:xfrm>
            <a:off x="4118955" y="1484784"/>
            <a:ext cx="703971" cy="0"/>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 Verbindung mit Pfeil 23">
            <a:extLst>
              <a:ext uri="{FF2B5EF4-FFF2-40B4-BE49-F238E27FC236}">
                <a16:creationId xmlns:a16="http://schemas.microsoft.com/office/drawing/2014/main" id="{0A05F043-31F4-4ECF-A00E-67CF90439CA6}"/>
              </a:ext>
            </a:extLst>
          </p:cNvPr>
          <p:cNvCxnSpPr>
            <a:endCxn id="21" idx="1"/>
          </p:cNvCxnSpPr>
          <p:nvPr/>
        </p:nvCxnSpPr>
        <p:spPr bwMode="auto">
          <a:xfrm>
            <a:off x="4116688" y="1736812"/>
            <a:ext cx="706238" cy="30646"/>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5" name="Gerade Verbindung mit Pfeil 24">
            <a:extLst>
              <a:ext uri="{FF2B5EF4-FFF2-40B4-BE49-F238E27FC236}">
                <a16:creationId xmlns:a16="http://schemas.microsoft.com/office/drawing/2014/main" id="{F54F2A9B-5054-4D58-9553-618A6ED01C20}"/>
              </a:ext>
            </a:extLst>
          </p:cNvPr>
          <p:cNvCxnSpPr/>
          <p:nvPr/>
        </p:nvCxnSpPr>
        <p:spPr bwMode="auto">
          <a:xfrm>
            <a:off x="4099936" y="2024844"/>
            <a:ext cx="722990" cy="0"/>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mit Pfeil 25">
            <a:extLst>
              <a:ext uri="{FF2B5EF4-FFF2-40B4-BE49-F238E27FC236}">
                <a16:creationId xmlns:a16="http://schemas.microsoft.com/office/drawing/2014/main" id="{2D3B3A66-F6AA-4E80-BFB4-702D566A70C1}"/>
              </a:ext>
            </a:extLst>
          </p:cNvPr>
          <p:cNvCxnSpPr/>
          <p:nvPr/>
        </p:nvCxnSpPr>
        <p:spPr bwMode="auto">
          <a:xfrm>
            <a:off x="4116688" y="2024844"/>
            <a:ext cx="706238" cy="282673"/>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9" name="Textfeld 8">
            <a:extLst>
              <a:ext uri="{FF2B5EF4-FFF2-40B4-BE49-F238E27FC236}">
                <a16:creationId xmlns:a16="http://schemas.microsoft.com/office/drawing/2014/main" id="{59A31C58-FFB5-4FA5-B1AD-F835097FE548}"/>
              </a:ext>
            </a:extLst>
          </p:cNvPr>
          <p:cNvSpPr txBox="1"/>
          <p:nvPr/>
        </p:nvSpPr>
        <p:spPr>
          <a:xfrm>
            <a:off x="3210062" y="700445"/>
            <a:ext cx="2920334" cy="258349"/>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draw subsample with replacement</a:t>
            </a:r>
          </a:p>
        </p:txBody>
      </p:sp>
      <p:graphicFrame>
        <p:nvGraphicFramePr>
          <p:cNvPr id="31" name="Tabelle 2">
            <a:extLst>
              <a:ext uri="{FF2B5EF4-FFF2-40B4-BE49-F238E27FC236}">
                <a16:creationId xmlns:a16="http://schemas.microsoft.com/office/drawing/2014/main" id="{E2375F53-06F3-4105-8C56-1D74D8BA13F7}"/>
              </a:ext>
            </a:extLst>
          </p:cNvPr>
          <p:cNvGraphicFramePr>
            <a:graphicFrameLocks noGrp="1"/>
          </p:cNvGraphicFramePr>
          <p:nvPr>
            <p:extLst>
              <p:ext uri="{D42A27DB-BD31-4B8C-83A1-F6EECF244321}">
                <p14:modId xmlns:p14="http://schemas.microsoft.com/office/powerpoint/2010/main" val="3289132711"/>
              </p:ext>
            </p:extLst>
          </p:nvPr>
        </p:nvGraphicFramePr>
        <p:xfrm>
          <a:off x="4920428" y="3009286"/>
          <a:ext cx="2754139" cy="1371600"/>
        </p:xfrm>
        <a:graphic>
          <a:graphicData uri="http://schemas.openxmlformats.org/drawingml/2006/table">
            <a:tbl>
              <a:tblPr firstRow="1" bandRow="1">
                <a:tableStyleId>{5C22544A-7EE6-4342-B048-85BDC9FD1C3A}</a:tableStyleId>
              </a:tblPr>
              <a:tblGrid>
                <a:gridCol w="341871">
                  <a:extLst>
                    <a:ext uri="{9D8B030D-6E8A-4147-A177-3AD203B41FA5}">
                      <a16:colId xmlns:a16="http://schemas.microsoft.com/office/drawing/2014/main" val="255140635"/>
                    </a:ext>
                  </a:extLst>
                </a:gridCol>
                <a:gridCol w="828092">
                  <a:extLst>
                    <a:ext uri="{9D8B030D-6E8A-4147-A177-3AD203B41FA5}">
                      <a16:colId xmlns:a16="http://schemas.microsoft.com/office/drawing/2014/main" val="3569876583"/>
                    </a:ext>
                  </a:extLst>
                </a:gridCol>
                <a:gridCol w="648072">
                  <a:extLst>
                    <a:ext uri="{9D8B030D-6E8A-4147-A177-3AD203B41FA5}">
                      <a16:colId xmlns:a16="http://schemas.microsoft.com/office/drawing/2014/main" val="1389167866"/>
                    </a:ext>
                  </a:extLst>
                </a:gridCol>
                <a:gridCol w="936104">
                  <a:extLst>
                    <a:ext uri="{9D8B030D-6E8A-4147-A177-3AD203B41FA5}">
                      <a16:colId xmlns:a16="http://schemas.microsoft.com/office/drawing/2014/main" val="2167941387"/>
                    </a:ext>
                  </a:extLst>
                </a:gridCol>
              </a:tblGrid>
              <a:tr h="252365">
                <a:tc>
                  <a:txBody>
                    <a:bodyPr/>
                    <a:lstStyle/>
                    <a:p>
                      <a:endParaRPr lang="en-US" sz="1200" b="0">
                        <a:latin typeface="+mn-lt"/>
                      </a:endParaRPr>
                    </a:p>
                  </a:txBody>
                  <a:tcPr/>
                </a:tc>
                <a:tc>
                  <a:txBody>
                    <a:bodyPr/>
                    <a:lstStyle/>
                    <a:p>
                      <a:r>
                        <a:rPr lang="en-US" sz="1200" b="0" noProof="0">
                          <a:latin typeface="+mn-lt"/>
                        </a:rPr>
                        <a:t>age</a:t>
                      </a:r>
                    </a:p>
                  </a:txBody>
                  <a:tcPr/>
                </a:tc>
                <a:tc>
                  <a:txBody>
                    <a:bodyPr/>
                    <a:lstStyle/>
                    <a:p>
                      <a:r>
                        <a:rPr lang="en-US" sz="1200" b="0" noProof="0">
                          <a:latin typeface="+mn-lt"/>
                        </a:rPr>
                        <a:t>size</a:t>
                      </a:r>
                    </a:p>
                  </a:txBody>
                  <a:tcPr/>
                </a:tc>
                <a:tc>
                  <a:txBody>
                    <a:bodyPr/>
                    <a:lstStyle/>
                    <a:p>
                      <a:r>
                        <a:rPr lang="en-US" sz="1200" b="0" noProof="0">
                          <a:latin typeface="+mn-lt"/>
                        </a:rPr>
                        <a:t>health</a:t>
                      </a:r>
                    </a:p>
                  </a:txBody>
                  <a:tcPr/>
                </a:tc>
                <a:extLst>
                  <a:ext uri="{0D108BD9-81ED-4DB2-BD59-A6C34878D82A}">
                    <a16:rowId xmlns:a16="http://schemas.microsoft.com/office/drawing/2014/main" val="2884208729"/>
                  </a:ext>
                </a:extLst>
              </a:tr>
              <a:tr h="252365">
                <a:tc>
                  <a:txBody>
                    <a:bodyPr/>
                    <a:lstStyle/>
                    <a:p>
                      <a:r>
                        <a:rPr lang="de-DE" sz="1200" b="0">
                          <a:latin typeface="+mn-lt"/>
                        </a:rPr>
                        <a:t>1.</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tall</a:t>
                      </a:r>
                    </a:p>
                  </a:txBody>
                  <a:tcPr marL="90000" marR="90000"/>
                </a:tc>
                <a:tc>
                  <a:txBody>
                    <a:bodyPr/>
                    <a:lstStyle/>
                    <a:p>
                      <a:r>
                        <a:rPr lang="en-US" sz="1200" b="0" strike="noStrike" spc="-1" noProof="0">
                          <a:solidFill>
                            <a:srgbClr val="FF0000"/>
                          </a:solidFill>
                          <a:latin typeface="+mn-lt"/>
                        </a:rPr>
                        <a:t>diseased</a:t>
                      </a:r>
                    </a:p>
                  </a:txBody>
                  <a:tcPr marL="90000" marR="90000"/>
                </a:tc>
                <a:extLst>
                  <a:ext uri="{0D108BD9-81ED-4DB2-BD59-A6C34878D82A}">
                    <a16:rowId xmlns:a16="http://schemas.microsoft.com/office/drawing/2014/main" val="598854406"/>
                  </a:ext>
                </a:extLst>
              </a:tr>
              <a:tr h="252365">
                <a:tc>
                  <a:txBody>
                    <a:bodyPr/>
                    <a:lstStyle/>
                    <a:p>
                      <a:r>
                        <a:rPr lang="de-DE" sz="1200" b="0">
                          <a:latin typeface="+mn-lt"/>
                        </a:rPr>
                        <a:t>2.</a:t>
                      </a:r>
                      <a:endParaRPr lang="en-US" sz="1200" b="0">
                        <a:latin typeface="+mn-lt"/>
                      </a:endParaRPr>
                    </a:p>
                  </a:txBody>
                  <a:tcPr/>
                </a:tc>
                <a:tc>
                  <a:txBody>
                    <a:bodyPr/>
                    <a:lstStyle/>
                    <a:p>
                      <a:r>
                        <a:rPr lang="en-US" sz="1200" b="0" strike="noStrike" spc="-1" noProof="0">
                          <a:latin typeface="+mn-lt"/>
                        </a:rPr>
                        <a:t>young</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2772030561"/>
                  </a:ext>
                </a:extLst>
              </a:tr>
              <a:tr h="252365">
                <a:tc>
                  <a:txBody>
                    <a:bodyPr/>
                    <a:lstStyle/>
                    <a:p>
                      <a:r>
                        <a:rPr lang="de-DE" sz="1200" b="0">
                          <a:latin typeface="+mn-lt"/>
                        </a:rPr>
                        <a:t>3.</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315945746"/>
                  </a:ext>
                </a:extLst>
              </a:tr>
              <a:tr h="252365">
                <a:tc>
                  <a:txBody>
                    <a:bodyPr/>
                    <a:lstStyle/>
                    <a:p>
                      <a:r>
                        <a:rPr lang="de-DE" sz="1200" b="0">
                          <a:latin typeface="+mn-lt"/>
                        </a:rPr>
                        <a:t>4.</a:t>
                      </a:r>
                      <a:endParaRPr lang="en-US" sz="1200" b="0">
                        <a:latin typeface="+mn-lt"/>
                      </a:endParaRPr>
                    </a:p>
                  </a:txBody>
                  <a:tcPr/>
                </a:tc>
                <a:tc>
                  <a:txBody>
                    <a:bodyPr/>
                    <a:lstStyle/>
                    <a:p>
                      <a:r>
                        <a:rPr lang="en-US" sz="1200" b="0" strike="noStrike" spc="-1" noProof="0">
                          <a:latin typeface="+mn-lt"/>
                        </a:rPr>
                        <a:t>old</a:t>
                      </a:r>
                    </a:p>
                  </a:txBody>
                  <a:tcPr marL="90000" marR="90000"/>
                </a:tc>
                <a:tc>
                  <a:txBody>
                    <a:bodyPr/>
                    <a:lstStyle/>
                    <a:p>
                      <a:r>
                        <a:rPr lang="en-US" sz="1200" b="0" strike="noStrike" spc="-1" noProof="0">
                          <a:latin typeface="+mn-lt"/>
                        </a:rPr>
                        <a:t>small</a:t>
                      </a:r>
                    </a:p>
                  </a:txBody>
                  <a:tcPr marL="90000" marR="90000"/>
                </a:tc>
                <a:tc>
                  <a:txBody>
                    <a:bodyPr/>
                    <a:lstStyle/>
                    <a:p>
                      <a:r>
                        <a:rPr lang="en-US" sz="1200" b="0" strike="noStrike" spc="-1" noProof="0">
                          <a:solidFill>
                            <a:srgbClr val="FF0000"/>
                          </a:solidFill>
                          <a:latin typeface="+mn-lt"/>
                        </a:rPr>
                        <a:t>healthy</a:t>
                      </a:r>
                    </a:p>
                  </a:txBody>
                  <a:tcPr marL="90000" marR="90000"/>
                </a:tc>
                <a:extLst>
                  <a:ext uri="{0D108BD9-81ED-4DB2-BD59-A6C34878D82A}">
                    <a16:rowId xmlns:a16="http://schemas.microsoft.com/office/drawing/2014/main" val="3944307586"/>
                  </a:ext>
                </a:extLst>
              </a:tr>
            </a:tbl>
          </a:graphicData>
        </a:graphic>
      </p:graphicFrame>
      <p:cxnSp>
        <p:nvCxnSpPr>
          <p:cNvPr id="32" name="Gerade Verbindung mit Pfeil 31">
            <a:extLst>
              <a:ext uri="{FF2B5EF4-FFF2-40B4-BE49-F238E27FC236}">
                <a16:creationId xmlns:a16="http://schemas.microsoft.com/office/drawing/2014/main" id="{52352F93-8F06-435F-A8DE-BE691158622A}"/>
              </a:ext>
            </a:extLst>
          </p:cNvPr>
          <p:cNvCxnSpPr/>
          <p:nvPr/>
        </p:nvCxnSpPr>
        <p:spPr bwMode="auto">
          <a:xfrm>
            <a:off x="5666220" y="2453258"/>
            <a:ext cx="0" cy="626603"/>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5" name="Gerade Verbindung mit Pfeil 34">
            <a:extLst>
              <a:ext uri="{FF2B5EF4-FFF2-40B4-BE49-F238E27FC236}">
                <a16:creationId xmlns:a16="http://schemas.microsoft.com/office/drawing/2014/main" id="{2752A4AA-CBC6-4A99-B79D-8C7AD67F5C46}"/>
              </a:ext>
            </a:extLst>
          </p:cNvPr>
          <p:cNvCxnSpPr>
            <a:endCxn id="31" idx="0"/>
          </p:cNvCxnSpPr>
          <p:nvPr/>
        </p:nvCxnSpPr>
        <p:spPr bwMode="auto">
          <a:xfrm>
            <a:off x="6297497" y="2453258"/>
            <a:ext cx="0" cy="556028"/>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36" name="Gerade Verbindung mit Pfeil 35">
            <a:extLst>
              <a:ext uri="{FF2B5EF4-FFF2-40B4-BE49-F238E27FC236}">
                <a16:creationId xmlns:a16="http://schemas.microsoft.com/office/drawing/2014/main" id="{9621B687-7756-4842-9752-F54EE0EE6E59}"/>
              </a:ext>
            </a:extLst>
          </p:cNvPr>
          <p:cNvCxnSpPr/>
          <p:nvPr/>
        </p:nvCxnSpPr>
        <p:spPr bwMode="auto">
          <a:xfrm flipH="1">
            <a:off x="7122259" y="2489262"/>
            <a:ext cx="624646" cy="520024"/>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9" name="Textfeld 38">
            <a:extLst>
              <a:ext uri="{FF2B5EF4-FFF2-40B4-BE49-F238E27FC236}">
                <a16:creationId xmlns:a16="http://schemas.microsoft.com/office/drawing/2014/main" id="{CCFB1D8E-7DD6-4A38-ADDA-7231378F67D9}"/>
              </a:ext>
            </a:extLst>
          </p:cNvPr>
          <p:cNvSpPr txBox="1"/>
          <p:nvPr/>
        </p:nvSpPr>
        <p:spPr>
          <a:xfrm>
            <a:off x="6317101" y="2489262"/>
            <a:ext cx="1429804" cy="246073"/>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select features</a:t>
            </a:r>
          </a:p>
        </p:txBody>
      </p:sp>
      <p:sp>
        <p:nvSpPr>
          <p:cNvPr id="14" name="Textfeld 13">
            <a:extLst>
              <a:ext uri="{FF2B5EF4-FFF2-40B4-BE49-F238E27FC236}">
                <a16:creationId xmlns:a16="http://schemas.microsoft.com/office/drawing/2014/main" id="{B19FAB16-F37C-4FA7-9E57-E4BAA70CE53E}"/>
              </a:ext>
            </a:extLst>
          </p:cNvPr>
          <p:cNvSpPr txBox="1"/>
          <p:nvPr/>
        </p:nvSpPr>
        <p:spPr>
          <a:xfrm>
            <a:off x="2909560" y="3868958"/>
            <a:ext cx="620986" cy="324036"/>
          </a:xfrm>
          <a:prstGeom prst="rect">
            <a:avLst/>
          </a:prstGeom>
          <a:noFill/>
          <a:ln w="19050">
            <a:solidFill>
              <a:schemeClr val="tx1"/>
            </a:solidFill>
          </a:ln>
        </p:spPr>
        <p:txBody>
          <a:bodyPr wrap="square" lIns="0" tIns="0" rIns="0" bIns="0" rtlCol="0" anchor="ctr" anchorCtr="0">
            <a:noAutofit/>
          </a:bodyPr>
          <a:lstStyle/>
          <a:p>
            <a:pPr algn="ct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age</a:t>
            </a:r>
          </a:p>
        </p:txBody>
      </p:sp>
      <p:sp>
        <p:nvSpPr>
          <p:cNvPr id="41" name="Textfeld 40">
            <a:extLst>
              <a:ext uri="{FF2B5EF4-FFF2-40B4-BE49-F238E27FC236}">
                <a16:creationId xmlns:a16="http://schemas.microsoft.com/office/drawing/2014/main" id="{F01B2355-A1A0-41A8-B188-84E2AA53ACD1}"/>
              </a:ext>
            </a:extLst>
          </p:cNvPr>
          <p:cNvSpPr txBox="1"/>
          <p:nvPr/>
        </p:nvSpPr>
        <p:spPr>
          <a:xfrm>
            <a:off x="3650903" y="4542426"/>
            <a:ext cx="620986" cy="324036"/>
          </a:xfrm>
          <a:prstGeom prst="rect">
            <a:avLst/>
          </a:prstGeom>
          <a:noFill/>
          <a:ln w="19050">
            <a:solidFill>
              <a:schemeClr val="tx1"/>
            </a:solidFill>
          </a:ln>
        </p:spPr>
        <p:txBody>
          <a:bodyPr wrap="square" lIns="0" tIns="0" rIns="0" bIns="0" rtlCol="0" anchor="ctr" anchorCtr="0">
            <a:noAutofit/>
          </a:bodyPr>
          <a:lstStyle/>
          <a:p>
            <a:pPr algn="ct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size</a:t>
            </a:r>
          </a:p>
        </p:txBody>
      </p:sp>
      <p:cxnSp>
        <p:nvCxnSpPr>
          <p:cNvPr id="42" name="Gerade Verbindung mit Pfeil 41">
            <a:extLst>
              <a:ext uri="{FF2B5EF4-FFF2-40B4-BE49-F238E27FC236}">
                <a16:creationId xmlns:a16="http://schemas.microsoft.com/office/drawing/2014/main" id="{418602AC-FBD4-4DC5-B1CC-8AD4F57E5AB0}"/>
              </a:ext>
            </a:extLst>
          </p:cNvPr>
          <p:cNvCxnSpPr>
            <a:stCxn id="14" idx="2"/>
            <a:endCxn id="41" idx="0"/>
          </p:cNvCxnSpPr>
          <p:nvPr/>
        </p:nvCxnSpPr>
        <p:spPr bwMode="auto">
          <a:xfrm>
            <a:off x="3220053" y="4192994"/>
            <a:ext cx="741343" cy="349432"/>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7" name="Gerade Verbindung mit Pfeil 46">
            <a:extLst>
              <a:ext uri="{FF2B5EF4-FFF2-40B4-BE49-F238E27FC236}">
                <a16:creationId xmlns:a16="http://schemas.microsoft.com/office/drawing/2014/main" id="{80298EB1-64C0-4793-8969-615B476761B2}"/>
              </a:ext>
            </a:extLst>
          </p:cNvPr>
          <p:cNvCxnSpPr>
            <a:stCxn id="14" idx="2"/>
          </p:cNvCxnSpPr>
          <p:nvPr/>
        </p:nvCxnSpPr>
        <p:spPr bwMode="auto">
          <a:xfrm flipH="1">
            <a:off x="2321478" y="4192994"/>
            <a:ext cx="898575" cy="447196"/>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50" name="Textfeld 49">
            <a:extLst>
              <a:ext uri="{FF2B5EF4-FFF2-40B4-BE49-F238E27FC236}">
                <a16:creationId xmlns:a16="http://schemas.microsoft.com/office/drawing/2014/main" id="{B8F01BF8-8E63-4B5C-B921-3D235D9C11AD}"/>
              </a:ext>
            </a:extLst>
          </p:cNvPr>
          <p:cNvSpPr txBox="1"/>
          <p:nvPr/>
        </p:nvSpPr>
        <p:spPr>
          <a:xfrm>
            <a:off x="3686907" y="4144698"/>
            <a:ext cx="310493" cy="253712"/>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old</a:t>
            </a:r>
          </a:p>
        </p:txBody>
      </p:sp>
      <p:sp>
        <p:nvSpPr>
          <p:cNvPr id="51" name="Textfeld 50">
            <a:extLst>
              <a:ext uri="{FF2B5EF4-FFF2-40B4-BE49-F238E27FC236}">
                <a16:creationId xmlns:a16="http://schemas.microsoft.com/office/drawing/2014/main" id="{DE8D95F2-099F-48B9-B9B0-7CE9AC635940}"/>
              </a:ext>
            </a:extLst>
          </p:cNvPr>
          <p:cNvSpPr txBox="1"/>
          <p:nvPr/>
        </p:nvSpPr>
        <p:spPr>
          <a:xfrm>
            <a:off x="2210394" y="4170242"/>
            <a:ext cx="542805" cy="253712"/>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young</a:t>
            </a:r>
          </a:p>
        </p:txBody>
      </p:sp>
      <p:sp>
        <p:nvSpPr>
          <p:cNvPr id="52" name="Textfeld 51">
            <a:extLst>
              <a:ext uri="{FF2B5EF4-FFF2-40B4-BE49-F238E27FC236}">
                <a16:creationId xmlns:a16="http://schemas.microsoft.com/office/drawing/2014/main" id="{43C82C21-8B19-4CCA-A34E-FB18EF2C74D7}"/>
              </a:ext>
            </a:extLst>
          </p:cNvPr>
          <p:cNvSpPr txBox="1"/>
          <p:nvPr/>
        </p:nvSpPr>
        <p:spPr>
          <a:xfrm>
            <a:off x="1922711" y="4683074"/>
            <a:ext cx="542805" cy="253712"/>
          </a:xfrm>
          <a:prstGeom prst="rect">
            <a:avLst/>
          </a:prstGeom>
          <a:noFill/>
        </p:spPr>
        <p:txBody>
          <a:bodyPr wrap="none" lIns="0" tIns="0" rIns="0" bIns="0" rtlCol="0">
            <a:noAutofit/>
          </a:bodyPr>
          <a:lstStyle/>
          <a:p>
            <a:pPr>
              <a:lnSpc>
                <a:spcPct val="110000"/>
              </a:lnSpc>
              <a:spcBef>
                <a:spcPts val="0"/>
              </a:spcBef>
            </a:pPr>
            <a:r>
              <a:rPr lang="en-US" sz="1400">
                <a:solidFill>
                  <a:srgbClr val="FF0000"/>
                </a:solidFill>
                <a:latin typeface="+mn-lt"/>
                <a:ea typeface="Arial Unicode MS" panose="020B0604020202020204" pitchFamily="34" charset="-128"/>
                <a:cs typeface="Arial Unicode MS" panose="020B0604020202020204" pitchFamily="34" charset="-128"/>
              </a:rPr>
              <a:t>healthy</a:t>
            </a:r>
          </a:p>
        </p:txBody>
      </p:sp>
      <p:cxnSp>
        <p:nvCxnSpPr>
          <p:cNvPr id="53" name="Gerade Verbindung mit Pfeil 52">
            <a:extLst>
              <a:ext uri="{FF2B5EF4-FFF2-40B4-BE49-F238E27FC236}">
                <a16:creationId xmlns:a16="http://schemas.microsoft.com/office/drawing/2014/main" id="{C2FC3FB0-D387-4C91-A6D7-4B6E7E5480A3}"/>
              </a:ext>
            </a:extLst>
          </p:cNvPr>
          <p:cNvCxnSpPr>
            <a:stCxn id="41" idx="2"/>
          </p:cNvCxnSpPr>
          <p:nvPr/>
        </p:nvCxnSpPr>
        <p:spPr bwMode="auto">
          <a:xfrm>
            <a:off x="3961396" y="4866462"/>
            <a:ext cx="659348" cy="452483"/>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56" name="Gerade Verbindung mit Pfeil 55">
            <a:extLst>
              <a:ext uri="{FF2B5EF4-FFF2-40B4-BE49-F238E27FC236}">
                <a16:creationId xmlns:a16="http://schemas.microsoft.com/office/drawing/2014/main" id="{1C5D9E75-803E-40EB-A2A0-2135EAE5F9A1}"/>
              </a:ext>
            </a:extLst>
          </p:cNvPr>
          <p:cNvCxnSpPr>
            <a:stCxn id="41" idx="2"/>
          </p:cNvCxnSpPr>
          <p:nvPr/>
        </p:nvCxnSpPr>
        <p:spPr bwMode="auto">
          <a:xfrm flipH="1">
            <a:off x="3302048" y="4866462"/>
            <a:ext cx="659348" cy="452483"/>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0" name="Textfeld 59">
            <a:extLst>
              <a:ext uri="{FF2B5EF4-FFF2-40B4-BE49-F238E27FC236}">
                <a16:creationId xmlns:a16="http://schemas.microsoft.com/office/drawing/2014/main" id="{0966C48B-322B-4C84-AD7F-4F32DD2B552D}"/>
              </a:ext>
            </a:extLst>
          </p:cNvPr>
          <p:cNvSpPr txBox="1"/>
          <p:nvPr/>
        </p:nvSpPr>
        <p:spPr>
          <a:xfrm>
            <a:off x="3082540" y="4872093"/>
            <a:ext cx="542805" cy="253712"/>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tall</a:t>
            </a:r>
          </a:p>
        </p:txBody>
      </p:sp>
      <p:sp>
        <p:nvSpPr>
          <p:cNvPr id="61" name="Textfeld 60">
            <a:extLst>
              <a:ext uri="{FF2B5EF4-FFF2-40B4-BE49-F238E27FC236}">
                <a16:creationId xmlns:a16="http://schemas.microsoft.com/office/drawing/2014/main" id="{E0AF782B-28E6-47B0-AEEB-9D7C5B20FBE8}"/>
              </a:ext>
            </a:extLst>
          </p:cNvPr>
          <p:cNvSpPr txBox="1"/>
          <p:nvPr/>
        </p:nvSpPr>
        <p:spPr>
          <a:xfrm>
            <a:off x="4410196" y="4936786"/>
            <a:ext cx="542805" cy="253712"/>
          </a:xfrm>
          <a:prstGeom prst="rect">
            <a:avLst/>
          </a:prstGeom>
          <a:noFill/>
        </p:spPr>
        <p:txBody>
          <a:bodyPr wrap="non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small</a:t>
            </a:r>
          </a:p>
        </p:txBody>
      </p:sp>
      <p:sp>
        <p:nvSpPr>
          <p:cNvPr id="62" name="Textfeld 61">
            <a:extLst>
              <a:ext uri="{FF2B5EF4-FFF2-40B4-BE49-F238E27FC236}">
                <a16:creationId xmlns:a16="http://schemas.microsoft.com/office/drawing/2014/main" id="{62AA0C1C-E7EC-4227-9065-991AB317455B}"/>
              </a:ext>
            </a:extLst>
          </p:cNvPr>
          <p:cNvSpPr txBox="1"/>
          <p:nvPr/>
        </p:nvSpPr>
        <p:spPr>
          <a:xfrm>
            <a:off x="4410196" y="5367150"/>
            <a:ext cx="542805" cy="253712"/>
          </a:xfrm>
          <a:prstGeom prst="rect">
            <a:avLst/>
          </a:prstGeom>
          <a:noFill/>
        </p:spPr>
        <p:txBody>
          <a:bodyPr wrap="none" lIns="0" tIns="0" rIns="0" bIns="0" rtlCol="0">
            <a:noAutofit/>
          </a:bodyPr>
          <a:lstStyle/>
          <a:p>
            <a:pPr>
              <a:lnSpc>
                <a:spcPct val="110000"/>
              </a:lnSpc>
              <a:spcBef>
                <a:spcPts val="0"/>
              </a:spcBef>
            </a:pPr>
            <a:r>
              <a:rPr lang="en-US" sz="1400">
                <a:solidFill>
                  <a:srgbClr val="FF0000"/>
                </a:solidFill>
                <a:latin typeface="+mn-lt"/>
                <a:ea typeface="Arial Unicode MS" panose="020B0604020202020204" pitchFamily="34" charset="-128"/>
                <a:cs typeface="Arial Unicode MS" panose="020B0604020202020204" pitchFamily="34" charset="-128"/>
              </a:rPr>
              <a:t>healthy</a:t>
            </a:r>
          </a:p>
        </p:txBody>
      </p:sp>
      <p:sp>
        <p:nvSpPr>
          <p:cNvPr id="63" name="Textfeld 62">
            <a:extLst>
              <a:ext uri="{FF2B5EF4-FFF2-40B4-BE49-F238E27FC236}">
                <a16:creationId xmlns:a16="http://schemas.microsoft.com/office/drawing/2014/main" id="{C82953F2-AE10-4A6F-844D-C8F6A2DB53D7}"/>
              </a:ext>
            </a:extLst>
          </p:cNvPr>
          <p:cNvSpPr txBox="1"/>
          <p:nvPr/>
        </p:nvSpPr>
        <p:spPr>
          <a:xfrm>
            <a:off x="2943259" y="5371532"/>
            <a:ext cx="542805" cy="253712"/>
          </a:xfrm>
          <a:prstGeom prst="rect">
            <a:avLst/>
          </a:prstGeom>
          <a:noFill/>
        </p:spPr>
        <p:txBody>
          <a:bodyPr wrap="none" lIns="0" tIns="0" rIns="0" bIns="0" rtlCol="0">
            <a:noAutofit/>
          </a:bodyPr>
          <a:lstStyle/>
          <a:p>
            <a:pPr>
              <a:lnSpc>
                <a:spcPct val="110000"/>
              </a:lnSpc>
              <a:spcBef>
                <a:spcPts val="0"/>
              </a:spcBef>
            </a:pPr>
            <a:r>
              <a:rPr lang="en-US" sz="1400">
                <a:solidFill>
                  <a:srgbClr val="FF0000"/>
                </a:solidFill>
                <a:latin typeface="+mn-lt"/>
                <a:ea typeface="Arial Unicode MS" panose="020B0604020202020204" pitchFamily="34" charset="-128"/>
                <a:cs typeface="Arial Unicode MS" panose="020B0604020202020204" pitchFamily="34" charset="-128"/>
              </a:rPr>
              <a:t>diseased</a:t>
            </a:r>
          </a:p>
        </p:txBody>
      </p:sp>
      <p:cxnSp>
        <p:nvCxnSpPr>
          <p:cNvPr id="64" name="Gerade Verbindung mit Pfeil 63">
            <a:extLst>
              <a:ext uri="{FF2B5EF4-FFF2-40B4-BE49-F238E27FC236}">
                <a16:creationId xmlns:a16="http://schemas.microsoft.com/office/drawing/2014/main" id="{3317C426-56E6-4814-975E-7761E0B250DA}"/>
              </a:ext>
            </a:extLst>
          </p:cNvPr>
          <p:cNvCxnSpPr>
            <a:stCxn id="31" idx="1"/>
          </p:cNvCxnSpPr>
          <p:nvPr/>
        </p:nvCxnSpPr>
        <p:spPr bwMode="auto">
          <a:xfrm flipH="1">
            <a:off x="4370983" y="3695086"/>
            <a:ext cx="549445" cy="814034"/>
          </a:xfrm>
          <a:prstGeom prst="straightConnector1">
            <a:avLst/>
          </a:prstGeom>
          <a:solidFill>
            <a:schemeClr val="tx2"/>
          </a:solidFill>
          <a:ln w="190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66" name="Textfeld 65">
            <a:extLst>
              <a:ext uri="{FF2B5EF4-FFF2-40B4-BE49-F238E27FC236}">
                <a16:creationId xmlns:a16="http://schemas.microsoft.com/office/drawing/2014/main" id="{D08E4938-04F6-492C-9D0D-7A6555E5A5B3}"/>
              </a:ext>
            </a:extLst>
          </p:cNvPr>
          <p:cNvSpPr txBox="1"/>
          <p:nvPr/>
        </p:nvSpPr>
        <p:spPr>
          <a:xfrm>
            <a:off x="3914947" y="3745921"/>
            <a:ext cx="1092967" cy="246073"/>
          </a:xfrm>
          <a:prstGeom prst="rect">
            <a:avLst/>
          </a:prstGeom>
          <a:noFill/>
        </p:spPr>
        <p:txBody>
          <a:bodyPr wrap="none" lIns="0" tIns="0" rIns="0" bIns="0" rtlCol="0">
            <a:noAutofit/>
          </a:bodyPr>
          <a:lstStyle/>
          <a:p>
            <a:pPr>
              <a:lnSpc>
                <a:spcPct val="110000"/>
              </a:lnSpc>
              <a:spcBef>
                <a:spcPts val="0"/>
              </a:spcBef>
            </a:pPr>
            <a:r>
              <a:rPr lang="en-US" sz="1400" b="1">
                <a:solidFill>
                  <a:schemeClr val="tx1"/>
                </a:solidFill>
                <a:latin typeface="+mn-lt"/>
                <a:ea typeface="Arial Unicode MS" panose="020B0604020202020204" pitchFamily="34" charset="-128"/>
                <a:cs typeface="Arial Unicode MS" panose="020B0604020202020204" pitchFamily="34" charset="-128"/>
              </a:rPr>
              <a:t>grow Tree</a:t>
            </a:r>
          </a:p>
        </p:txBody>
      </p:sp>
      <p:sp>
        <p:nvSpPr>
          <p:cNvPr id="33" name="Textfeld 32">
            <a:extLst>
              <a:ext uri="{FF2B5EF4-FFF2-40B4-BE49-F238E27FC236}">
                <a16:creationId xmlns:a16="http://schemas.microsoft.com/office/drawing/2014/main" id="{7EE33CA7-6937-4D78-A201-1DD146F25C12}"/>
              </a:ext>
            </a:extLst>
          </p:cNvPr>
          <p:cNvSpPr txBox="1"/>
          <p:nvPr/>
        </p:nvSpPr>
        <p:spPr>
          <a:xfrm>
            <a:off x="1238634" y="3271910"/>
            <a:ext cx="2878043" cy="540060"/>
          </a:xfrm>
          <a:prstGeom prst="rect">
            <a:avLst/>
          </a:prstGeom>
          <a:noFill/>
        </p:spPr>
        <p:txBody>
          <a:bodyPr wrap="square" lIns="0" tIns="0" rIns="0" bIns="0" rtlCol="0">
            <a:noAutofit/>
          </a:bodyPr>
          <a:lstStyle/>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attributes:	 age, size, weight</a:t>
            </a:r>
          </a:p>
          <a:p>
            <a:pPr>
              <a:lnSpc>
                <a:spcPct val="110000"/>
              </a:lnSpc>
              <a:spcBef>
                <a:spcPts val="0"/>
              </a:spcBef>
            </a:pPr>
            <a:r>
              <a:rPr lang="en-US" sz="1400">
                <a:solidFill>
                  <a:schemeClr val="tx1"/>
                </a:solidFill>
                <a:latin typeface="+mn-lt"/>
                <a:ea typeface="Arial Unicode MS" panose="020B0604020202020204" pitchFamily="34" charset="-128"/>
                <a:cs typeface="Arial Unicode MS" panose="020B0604020202020204" pitchFamily="34" charset="-128"/>
              </a:rPr>
              <a:t>Target classes: healthy/diseased</a:t>
            </a:r>
          </a:p>
        </p:txBody>
      </p:sp>
      <p:sp>
        <p:nvSpPr>
          <p:cNvPr id="34" name="Pfeil: nach rechts 33">
            <a:extLst>
              <a:ext uri="{FF2B5EF4-FFF2-40B4-BE49-F238E27FC236}">
                <a16:creationId xmlns:a16="http://schemas.microsoft.com/office/drawing/2014/main" id="{6AA5C0D3-6356-44B3-BFE1-717679D70385}"/>
              </a:ext>
            </a:extLst>
          </p:cNvPr>
          <p:cNvSpPr/>
          <p:nvPr/>
        </p:nvSpPr>
        <p:spPr bwMode="auto">
          <a:xfrm>
            <a:off x="627120" y="3296905"/>
            <a:ext cx="611515" cy="432048"/>
          </a:xfrm>
          <a:prstGeom prst="rightArrow">
            <a:avLst/>
          </a:prstGeom>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7" name="CustomShape 3">
            <a:extLst>
              <a:ext uri="{FF2B5EF4-FFF2-40B4-BE49-F238E27FC236}">
                <a16:creationId xmlns:a16="http://schemas.microsoft.com/office/drawing/2014/main" id="{15AC0066-BC46-4EFB-93E3-FC54FF141584}"/>
              </a:ext>
            </a:extLst>
          </p:cNvPr>
          <p:cNvSpPr/>
          <p:nvPr/>
        </p:nvSpPr>
        <p:spPr>
          <a:xfrm rot="16200">
            <a:off x="8608795" y="1225639"/>
            <a:ext cx="3333688" cy="4043314"/>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a:lnSpc>
                <a:spcPct val="100000"/>
              </a:lnSpc>
            </a:pPr>
            <a:r>
              <a:rPr lang="en-US" sz="1400" b="1" strike="noStrike" spc="-1">
                <a:solidFill>
                  <a:srgbClr val="000000"/>
                </a:solidFill>
                <a:latin typeface="Arial"/>
                <a:ea typeface="ＭＳ Ｐゴシック"/>
              </a:rPr>
              <a:t>for each of n subsamples</a:t>
            </a:r>
            <a:r>
              <a:rPr lang="en-US" sz="1400" b="0" strike="noStrike" spc="-1">
                <a:solidFill>
                  <a:srgbClr val="000000"/>
                </a:solidFill>
                <a:latin typeface="Arial"/>
                <a:ea typeface="ＭＳ Ｐゴシック"/>
              </a:rPr>
              <a:t>:</a:t>
            </a:r>
            <a:endParaRPr lang="en-US" sz="1400" b="0" strike="noStrike" spc="-1">
              <a:latin typeface="Arial"/>
            </a:endParaRPr>
          </a:p>
          <a:p>
            <a:pPr marL="342900" indent="-342900">
              <a:lnSpc>
                <a:spcPct val="100000"/>
              </a:lnSpc>
              <a:buFont typeface="+mj-lt"/>
              <a:buAutoNum type="arabicParenR"/>
            </a:pPr>
            <a:r>
              <a:rPr lang="en-US" sz="1400" b="0" strike="noStrike" spc="-1">
                <a:solidFill>
                  <a:srgbClr val="000000"/>
                </a:solidFill>
                <a:latin typeface="Arial"/>
                <a:ea typeface="ＭＳ Ｐゴシック"/>
              </a:rPr>
              <a:t>draw a random sample with replacement of training data</a:t>
            </a:r>
          </a:p>
          <a:p>
            <a:pPr marL="342900" indent="-342900">
              <a:buFont typeface="+mj-lt"/>
              <a:buAutoNum type="arabicParenR"/>
            </a:pPr>
            <a:r>
              <a:rPr lang="en-US" sz="1400" spc="-1">
                <a:solidFill>
                  <a:srgbClr val="000000"/>
                </a:solidFill>
                <a:ea typeface="ＭＳ Ｐゴシック"/>
              </a:rPr>
              <a:t>select m features at random</a:t>
            </a:r>
            <a:endParaRPr lang="en-US" sz="1400" b="0" strike="noStrike" spc="-1">
              <a:solidFill>
                <a:srgbClr val="000000"/>
              </a:solidFill>
              <a:latin typeface="Arial"/>
              <a:ea typeface="ＭＳ Ｐゴシック"/>
            </a:endParaRPr>
          </a:p>
          <a:p>
            <a:pPr marL="342900" indent="-342900">
              <a:buFont typeface="+mj-lt"/>
              <a:buAutoNum type="arabicParenR"/>
            </a:pPr>
            <a:r>
              <a:rPr lang="en-US" sz="1400" spc="-1">
                <a:solidFill>
                  <a:srgbClr val="000000"/>
                </a:solidFill>
                <a:ea typeface="ＭＳ Ｐゴシック"/>
              </a:rPr>
              <a:t>grow a Tree from subsample and selected features</a:t>
            </a:r>
            <a:endParaRPr lang="en-US" sz="1400" spc="-1"/>
          </a:p>
          <a:p>
            <a:pPr>
              <a:lnSpc>
                <a:spcPct val="100000"/>
              </a:lnSpc>
            </a:pPr>
            <a:r>
              <a:rPr lang="en-US" sz="1400" b="1" strike="noStrike" spc="-1">
                <a:solidFill>
                  <a:srgbClr val="000000"/>
                </a:solidFill>
                <a:latin typeface="Arial"/>
                <a:ea typeface="ＭＳ Ｐゴシック"/>
              </a:rPr>
              <a:t>In the end:</a:t>
            </a:r>
          </a:p>
          <a:p>
            <a:pPr marL="342900" indent="-342900">
              <a:lnSpc>
                <a:spcPct val="100000"/>
              </a:lnSpc>
              <a:buFont typeface="+mj-lt"/>
              <a:buAutoNum type="arabicParenR" startAt="4"/>
            </a:pPr>
            <a:r>
              <a:rPr lang="en-US" sz="1400" spc="-1">
                <a:solidFill>
                  <a:srgbClr val="000000"/>
                </a:solidFill>
                <a:ea typeface="ＭＳ Ｐゴシック"/>
              </a:rPr>
              <a:t>aggregate results of all trees for overall result</a:t>
            </a:r>
          </a:p>
          <a:p>
            <a:pPr marL="285750" indent="-285750">
              <a:lnSpc>
                <a:spcPct val="100000"/>
              </a:lnSpc>
              <a:buFont typeface="Wingdings" panose="05000000000000000000" pitchFamily="2" charset="2"/>
              <a:buChar char="Ø"/>
            </a:pPr>
            <a:r>
              <a:rPr lang="en-US" sz="1400" strike="noStrike" spc="-1">
                <a:solidFill>
                  <a:srgbClr val="000000"/>
                </a:solidFill>
                <a:latin typeface="Arial"/>
                <a:ea typeface="ＭＳ Ｐゴシック"/>
              </a:rPr>
              <a:t>In </a:t>
            </a:r>
            <a:r>
              <a:rPr lang="en-US" sz="1400" spc="-1">
                <a:solidFill>
                  <a:srgbClr val="000000"/>
                </a:solidFill>
                <a:latin typeface="Arial"/>
                <a:ea typeface="ＭＳ Ｐゴシック"/>
              </a:rPr>
              <a:t>C</a:t>
            </a:r>
            <a:r>
              <a:rPr lang="en-US" sz="1400" strike="noStrike" spc="-1">
                <a:solidFill>
                  <a:srgbClr val="000000"/>
                </a:solidFill>
                <a:latin typeface="Arial"/>
                <a:ea typeface="ＭＳ Ｐゴシック"/>
              </a:rPr>
              <a:t>lassification: each data point gets labeled according to class it was identified </a:t>
            </a:r>
            <a:r>
              <a:rPr lang="en-US" sz="1400" spc="-1">
                <a:solidFill>
                  <a:srgbClr val="000000"/>
                </a:solidFill>
                <a:latin typeface="Arial"/>
                <a:ea typeface="ＭＳ Ｐゴシック"/>
              </a:rPr>
              <a:t>as</a:t>
            </a:r>
            <a:r>
              <a:rPr lang="en-US" sz="1400" strike="noStrike" spc="-1">
                <a:solidFill>
                  <a:srgbClr val="000000"/>
                </a:solidFill>
                <a:latin typeface="Arial"/>
                <a:ea typeface="ＭＳ Ｐゴシック"/>
              </a:rPr>
              <a:t> in most Trees</a:t>
            </a:r>
          </a:p>
          <a:p>
            <a:pPr marL="285750" indent="-285750">
              <a:lnSpc>
                <a:spcPct val="100000"/>
              </a:lnSpc>
              <a:buFont typeface="Wingdings" panose="05000000000000000000" pitchFamily="2" charset="2"/>
              <a:buChar char="Ø"/>
            </a:pPr>
            <a:r>
              <a:rPr lang="en-US" sz="1400" spc="-1">
                <a:solidFill>
                  <a:srgbClr val="000000"/>
                </a:solidFill>
                <a:latin typeface="Arial"/>
                <a:ea typeface="ＭＳ Ｐゴシック"/>
              </a:rPr>
              <a:t>In Regression: e.g. calculate mean</a:t>
            </a:r>
            <a:endParaRPr lang="en-US" sz="1400" strike="noStrike" spc="-1">
              <a:solidFill>
                <a:srgbClr val="000000"/>
              </a:solidFill>
              <a:latin typeface="Arial"/>
              <a:ea typeface="ＭＳ Ｐゴシック"/>
            </a:endParaRPr>
          </a:p>
        </p:txBody>
      </p:sp>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 name="CustomShape 1"/>
          <p:cNvSpPr/>
          <p:nvPr/>
        </p:nvSpPr>
        <p:spPr>
          <a:xfrm>
            <a:off x="0" y="0"/>
            <a:ext cx="12197160" cy="1438920"/>
          </a:xfrm>
          <a:prstGeom prst="rect">
            <a:avLst/>
          </a:prstGeom>
          <a:noFill/>
          <a:ln w="9360">
            <a:noFill/>
          </a:ln>
        </p:spPr>
        <p:style>
          <a:lnRef idx="0">
            <a:scrgbClr r="0" g="0" b="0"/>
          </a:lnRef>
          <a:fillRef idx="0">
            <a:scrgbClr r="0" g="0" b="0"/>
          </a:fillRef>
          <a:effectRef idx="0">
            <a:scrgbClr r="0" g="0" b="0"/>
          </a:effectRef>
          <a:fontRef idx="minor"/>
        </p:style>
        <p:txBody>
          <a:bodyPr lIns="626400" tIns="432000" rIns="2746800" bIns="234000"/>
          <a:lstStyle/>
          <a:p>
            <a:pPr>
              <a:lnSpc>
                <a:spcPct val="100000"/>
              </a:lnSpc>
              <a:spcBef>
                <a:spcPts val="1100"/>
              </a:spcBef>
            </a:pPr>
            <a:r>
              <a:rPr lang="en-US" sz="2200" b="1" strike="noStrike" spc="-1">
                <a:solidFill>
                  <a:srgbClr val="00646E"/>
                </a:solidFill>
                <a:latin typeface="Arial"/>
                <a:ea typeface="ＭＳ Ｐゴシック"/>
              </a:rPr>
              <a:t>Random Forests: Classification</a:t>
            </a:r>
            <a:endParaRPr lang="en-US" sz="2200" b="0" strike="noStrike" spc="-1">
              <a:latin typeface="Arial"/>
            </a:endParaRPr>
          </a:p>
        </p:txBody>
      </p:sp>
      <p:sp>
        <p:nvSpPr>
          <p:cNvPr id="1565" name="CustomShape 2"/>
          <p:cNvSpPr/>
          <p:nvPr/>
        </p:nvSpPr>
        <p:spPr>
          <a:xfrm>
            <a:off x="627120" y="1152000"/>
            <a:ext cx="7076520" cy="7916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a:lnSpc>
                <a:spcPct val="110000"/>
              </a:lnSpc>
              <a:spcBef>
                <a:spcPts val="901"/>
              </a:spcBef>
            </a:pPr>
            <a:endParaRPr lang="de-DE" sz="1800" b="0" strike="noStrike" spc="-1">
              <a:latin typeface="Arial"/>
            </a:endParaRPr>
          </a:p>
          <a:p>
            <a:pPr>
              <a:lnSpc>
                <a:spcPct val="110000"/>
              </a:lnSpc>
              <a:spcBef>
                <a:spcPts val="901"/>
              </a:spcBef>
            </a:pPr>
            <a:endParaRPr lang="de-DE" sz="1800" b="0" strike="noStrike" spc="-1">
              <a:latin typeface="Arial"/>
            </a:endParaRPr>
          </a:p>
          <a:p>
            <a:pPr>
              <a:lnSpc>
                <a:spcPct val="110000"/>
              </a:lnSpc>
              <a:spcBef>
                <a:spcPts val="901"/>
              </a:spcBef>
            </a:pPr>
            <a:endParaRPr lang="de-DE" sz="1800" b="0" strike="noStrike" spc="-1">
              <a:latin typeface="Arial"/>
            </a:endParaRPr>
          </a:p>
        </p:txBody>
      </p:sp>
      <p:sp>
        <p:nvSpPr>
          <p:cNvPr id="1568" name="CustomShape 4"/>
          <p:cNvSpPr/>
          <p:nvPr/>
        </p:nvSpPr>
        <p:spPr>
          <a:xfrm>
            <a:off x="216000" y="1368000"/>
            <a:ext cx="792000" cy="9360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1569" name="CustomShape 5"/>
          <p:cNvSpPr/>
          <p:nvPr/>
        </p:nvSpPr>
        <p:spPr>
          <a:xfrm>
            <a:off x="108000" y="2772000"/>
            <a:ext cx="792000" cy="9360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sp>
        <p:nvSpPr>
          <p:cNvPr id="1570" name="CustomShape 6"/>
          <p:cNvSpPr/>
          <p:nvPr/>
        </p:nvSpPr>
        <p:spPr>
          <a:xfrm>
            <a:off x="72000" y="4896000"/>
            <a:ext cx="792000" cy="9360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pic>
        <p:nvPicPr>
          <p:cNvPr id="8198" name="Picture 6" descr="enter image description here">
            <a:extLst>
              <a:ext uri="{FF2B5EF4-FFF2-40B4-BE49-F238E27FC236}">
                <a16:creationId xmlns:a16="http://schemas.microsoft.com/office/drawing/2014/main" id="{2BE2EA7B-021A-428A-A51B-0940410C2EF5}"/>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1419120" y="1448780"/>
            <a:ext cx="5092650" cy="4383220"/>
          </a:xfrm>
          <a:prstGeom prst="rect">
            <a:avLst/>
          </a:prstGeom>
          <a:noFill/>
          <a:extLst>
            <a:ext uri="{909E8E84-426E-40DD-AFC4-6F175D3DCCD1}">
              <a14:hiddenFill xmlns:a14="http://schemas.microsoft.com/office/drawing/2010/main">
                <a:solidFill>
                  <a:srgbClr val="FFFFFF"/>
                </a:solidFill>
              </a14:hiddenFill>
            </a:ext>
          </a:extLst>
        </p:spPr>
      </p:pic>
    </p:spTree>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4" name="CustomShape 1"/>
          <p:cNvSpPr/>
          <p:nvPr/>
        </p:nvSpPr>
        <p:spPr>
          <a:xfrm>
            <a:off x="0" y="0"/>
            <a:ext cx="12197160" cy="1438920"/>
          </a:xfrm>
          <a:prstGeom prst="rect">
            <a:avLst/>
          </a:prstGeom>
          <a:noFill/>
          <a:ln w="9360">
            <a:noFill/>
          </a:ln>
        </p:spPr>
        <p:style>
          <a:lnRef idx="0">
            <a:scrgbClr r="0" g="0" b="0"/>
          </a:lnRef>
          <a:fillRef idx="0">
            <a:scrgbClr r="0" g="0" b="0"/>
          </a:fillRef>
          <a:effectRef idx="0">
            <a:scrgbClr r="0" g="0" b="0"/>
          </a:effectRef>
          <a:fontRef idx="minor"/>
        </p:style>
        <p:txBody>
          <a:bodyPr lIns="626400" tIns="432000" rIns="2746800" bIns="234000"/>
          <a:lstStyle/>
          <a:p>
            <a:pPr>
              <a:lnSpc>
                <a:spcPct val="100000"/>
              </a:lnSpc>
              <a:spcBef>
                <a:spcPts val="1100"/>
              </a:spcBef>
            </a:pPr>
            <a:r>
              <a:rPr lang="en-US" sz="2200" b="1" strike="noStrike" spc="-1">
                <a:solidFill>
                  <a:srgbClr val="00646E"/>
                </a:solidFill>
                <a:latin typeface="Arial"/>
                <a:ea typeface="ＭＳ Ｐゴシック"/>
              </a:rPr>
              <a:t>Random Forests: Regression</a:t>
            </a:r>
            <a:endParaRPr lang="en-US" sz="2200" b="0" strike="noStrike" spc="-1">
              <a:latin typeface="Arial"/>
            </a:endParaRPr>
          </a:p>
        </p:txBody>
      </p:sp>
      <p:sp>
        <p:nvSpPr>
          <p:cNvPr id="1565" name="CustomShape 2"/>
          <p:cNvSpPr/>
          <p:nvPr/>
        </p:nvSpPr>
        <p:spPr>
          <a:xfrm>
            <a:off x="627120" y="1152000"/>
            <a:ext cx="7076520" cy="791640"/>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a:lnSpc>
                <a:spcPct val="110000"/>
              </a:lnSpc>
              <a:spcBef>
                <a:spcPts val="901"/>
              </a:spcBef>
            </a:pPr>
            <a:endParaRPr lang="de-DE" sz="1800" b="0" strike="noStrike" spc="-1">
              <a:latin typeface="Arial"/>
            </a:endParaRPr>
          </a:p>
          <a:p>
            <a:pPr>
              <a:lnSpc>
                <a:spcPct val="110000"/>
              </a:lnSpc>
              <a:spcBef>
                <a:spcPts val="901"/>
              </a:spcBef>
            </a:pPr>
            <a:endParaRPr lang="de-DE" sz="1800" b="0" strike="noStrike" spc="-1">
              <a:latin typeface="Arial"/>
            </a:endParaRPr>
          </a:p>
          <a:p>
            <a:pPr>
              <a:lnSpc>
                <a:spcPct val="110000"/>
              </a:lnSpc>
              <a:spcBef>
                <a:spcPts val="901"/>
              </a:spcBef>
            </a:pPr>
            <a:endParaRPr lang="de-DE" sz="1800" b="0" strike="noStrike" spc="-1">
              <a:latin typeface="Arial"/>
            </a:endParaRPr>
          </a:p>
        </p:txBody>
      </p:sp>
      <p:sp>
        <p:nvSpPr>
          <p:cNvPr id="1566" name="CustomShape 3"/>
          <p:cNvSpPr/>
          <p:nvPr/>
        </p:nvSpPr>
        <p:spPr>
          <a:xfrm rot="16200">
            <a:off x="1009111" y="1428755"/>
            <a:ext cx="10022841" cy="495018"/>
          </a:xfrm>
          <a:prstGeom prst="rect">
            <a:avLst/>
          </a:prstGeom>
          <a:noFill/>
          <a:ln w="9360">
            <a:noFill/>
          </a:ln>
        </p:spPr>
        <p:style>
          <a:lnRef idx="0">
            <a:scrgbClr r="0" g="0" b="0"/>
          </a:lnRef>
          <a:fillRef idx="0">
            <a:scrgbClr r="0" g="0" b="0"/>
          </a:fillRef>
          <a:effectRef idx="0">
            <a:scrgbClr r="0" g="0" b="0"/>
          </a:effectRef>
          <a:fontRef idx="minor"/>
        </p:style>
        <p:txBody>
          <a:bodyPr lIns="0" tIns="0" rIns="0" bIns="0"/>
          <a:lstStyle/>
          <a:p>
            <a:pPr>
              <a:lnSpc>
                <a:spcPct val="100000"/>
              </a:lnSpc>
            </a:pPr>
            <a:r>
              <a:rPr lang="en-US" spc="-1">
                <a:solidFill>
                  <a:srgbClr val="000000"/>
                </a:solidFill>
                <a:latin typeface="Arial"/>
                <a:ea typeface="ＭＳ Ｐゴシック"/>
              </a:rPr>
              <a:t>Example for Regression Trees: value = calculate something like a mean for each node or leaf</a:t>
            </a:r>
            <a:endParaRPr lang="en-US" strike="noStrike" spc="-1">
              <a:solidFill>
                <a:srgbClr val="000000"/>
              </a:solidFill>
              <a:latin typeface="Arial"/>
              <a:ea typeface="ＭＳ Ｐゴシック"/>
            </a:endParaRPr>
          </a:p>
        </p:txBody>
      </p:sp>
      <p:sp>
        <p:nvSpPr>
          <p:cNvPr id="1570" name="CustomShape 6"/>
          <p:cNvSpPr/>
          <p:nvPr/>
        </p:nvSpPr>
        <p:spPr>
          <a:xfrm>
            <a:off x="72000" y="4896000"/>
            <a:ext cx="792000" cy="936000"/>
          </a:xfrm>
          <a:prstGeom prst="rect">
            <a:avLst/>
          </a:prstGeom>
          <a:solidFill>
            <a:srgbClr val="FFFFFF"/>
          </a:solidFill>
          <a:ln>
            <a:solidFill>
              <a:srgbClr val="FFFFFF"/>
            </a:solidFill>
          </a:ln>
        </p:spPr>
        <p:style>
          <a:lnRef idx="0">
            <a:scrgbClr r="0" g="0" b="0"/>
          </a:lnRef>
          <a:fillRef idx="0">
            <a:scrgbClr r="0" g="0" b="0"/>
          </a:fillRef>
          <a:effectRef idx="0">
            <a:scrgbClr r="0" g="0" b="0"/>
          </a:effectRef>
          <a:fontRef idx="minor"/>
        </p:style>
      </p:sp>
      <p:pic>
        <p:nvPicPr>
          <p:cNvPr id="8194" name="Picture 2" descr="Image for post">
            <a:extLst>
              <a:ext uri="{FF2B5EF4-FFF2-40B4-BE49-F238E27FC236}">
                <a16:creationId xmlns:a16="http://schemas.microsoft.com/office/drawing/2014/main" id="{CA27C3B6-537F-4023-A985-3CCF09DDA4DC}"/>
              </a:ext>
            </a:extLst>
          </p:cNvPr>
          <p:cNvPicPr>
            <a:picLocks noChangeAspect="1" noChangeArrowheads="1"/>
          </p:cNvPicPr>
          <p:nvPr/>
        </p:nvPicPr>
        <p:blipFill>
          <a:blip r:embed="rId2">
            <a:extLst>
              <a:ext uri="{28A0092B-C50C-407E-A947-70E740481C1C}">
                <a14:useLocalDpi xmlns:a14="http://schemas.microsoft.com/office/drawing/2010/main"/>
              </a:ext>
            </a:extLst>
          </a:blip>
          <a:srcRect/>
          <a:stretch>
            <a:fillRect/>
          </a:stretch>
        </p:blipFill>
        <p:spPr bwMode="auto">
          <a:xfrm>
            <a:off x="734578" y="2096852"/>
            <a:ext cx="8803346" cy="361213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05922484"/>
      </p:ext>
    </p:extLst>
  </p:cSld>
  <p:clrMapOvr>
    <a:masterClrMapping/>
  </p:clrMapOvr>
  <p:timing>
    <p:tnLst>
      <p:par>
        <p:cTn id="1" dur="indefinite" restart="never" nodeType="tmRoot">
          <p:childTnLst>
            <p:seq>
              <p:cTn id="2" dur="indefinite" nodeType="mainSeq"/>
              <p:prevCondLst>
                <p:cond evt="onPrev" delay="0">
                  <p:tgtEl>
                    <p:sldTgt/>
                  </p:tgtEl>
                </p:cond>
              </p:prevCondLst>
              <p:nextCondLst>
                <p:cond evt="onNext" delay="0">
                  <p:tgtEl>
                    <p:sldTgt/>
                  </p:tgtEl>
                </p:cond>
              </p:nextCondLst>
            </p:seq>
          </p:childTnLst>
        </p:cTn>
      </p:par>
    </p:tnLst>
  </p:timing>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628070C1-A749-4086-AF66-CCCDFB2C9B31}"/>
              </a:ext>
            </a:extLst>
          </p:cNvPr>
          <p:cNvSpPr>
            <a:spLocks noGrp="1"/>
          </p:cNvSpPr>
          <p:nvPr>
            <p:ph type="title" sz="quarter"/>
          </p:nvPr>
        </p:nvSpPr>
        <p:spPr/>
        <p:txBody>
          <a:bodyPr/>
          <a:lstStyle/>
          <a:p>
            <a:r>
              <a:rPr lang="en-US"/>
              <a:t>Recall Number Recognition Example from ML1</a:t>
            </a:r>
          </a:p>
        </p:txBody>
      </p:sp>
      <p:sp>
        <p:nvSpPr>
          <p:cNvPr id="3" name="Inhaltsplatzhalter 2">
            <a:extLst>
              <a:ext uri="{FF2B5EF4-FFF2-40B4-BE49-F238E27FC236}">
                <a16:creationId xmlns:a16="http://schemas.microsoft.com/office/drawing/2014/main" id="{D07C0C44-E47D-4DE6-A6B9-3E1A275750A9}"/>
              </a:ext>
            </a:extLst>
          </p:cNvPr>
          <p:cNvSpPr>
            <a:spLocks noGrp="1"/>
          </p:cNvSpPr>
          <p:nvPr>
            <p:ph sz="quarter" idx="1"/>
          </p:nvPr>
        </p:nvSpPr>
        <p:spPr/>
        <p:txBody>
          <a:bodyPr/>
          <a:lstStyle/>
          <a:p>
            <a:pPr>
              <a:spcBef>
                <a:spcPts val="600"/>
              </a:spcBef>
              <a:spcAft>
                <a:spcPts val="600"/>
              </a:spcAft>
            </a:pPr>
            <a:r>
              <a:rPr lang="en-US"/>
              <a:t>X-Variables: 28x28 = 784 variables with pixel data</a:t>
            </a:r>
          </a:p>
          <a:p>
            <a:pPr>
              <a:spcBef>
                <a:spcPts val="600"/>
              </a:spcBef>
              <a:spcAft>
                <a:spcPts val="600"/>
              </a:spcAft>
            </a:pPr>
            <a:r>
              <a:rPr lang="en-US"/>
              <a:t>X-Range: 0-255 for intensity of the pixel </a:t>
            </a:r>
          </a:p>
          <a:p>
            <a:pPr>
              <a:spcBef>
                <a:spcPts val="600"/>
              </a:spcBef>
              <a:spcAft>
                <a:spcPts val="600"/>
              </a:spcAft>
            </a:pPr>
            <a:r>
              <a:rPr lang="en-US"/>
              <a:t>Y-Variable: correct number: 0, 1, …., 9</a:t>
            </a:r>
          </a:p>
          <a:p>
            <a:pPr>
              <a:spcBef>
                <a:spcPts val="600"/>
              </a:spcBef>
              <a:spcAft>
                <a:spcPts val="600"/>
              </a:spcAft>
            </a:pPr>
            <a:r>
              <a:rPr lang="en-US"/>
              <a:t>Numbers (700): 630 training data + 70 test data</a:t>
            </a:r>
          </a:p>
        </p:txBody>
      </p:sp>
      <p:sp>
        <p:nvSpPr>
          <p:cNvPr id="4" name="Inhaltsplatzhalter 3">
            <a:extLst>
              <a:ext uri="{FF2B5EF4-FFF2-40B4-BE49-F238E27FC236}">
                <a16:creationId xmlns:a16="http://schemas.microsoft.com/office/drawing/2014/main" id="{2EB26616-12B9-4282-A9BC-FB9D69D4DCF1}"/>
              </a:ext>
            </a:extLst>
          </p:cNvPr>
          <p:cNvSpPr>
            <a:spLocks noGrp="1"/>
          </p:cNvSpPr>
          <p:nvPr>
            <p:ph sz="quarter" idx="2"/>
          </p:nvPr>
        </p:nvSpPr>
        <p:spPr/>
        <p:txBody>
          <a:bodyPr/>
          <a:lstStyle/>
          <a:p>
            <a:r>
              <a:rPr lang="en-US"/>
              <a:t>Easy to identify:</a:t>
            </a:r>
          </a:p>
        </p:txBody>
      </p:sp>
      <p:pic>
        <p:nvPicPr>
          <p:cNvPr id="1026" name="Grafik 1" descr="image001">
            <a:extLst>
              <a:ext uri="{FF2B5EF4-FFF2-40B4-BE49-F238E27FC236}">
                <a16:creationId xmlns:a16="http://schemas.microsoft.com/office/drawing/2014/main" id="{B3D3D158-1250-4CEA-98BF-F0B1DF5D758C}"/>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9676422" y="3895510"/>
            <a:ext cx="1895361" cy="194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Inhaltsplatzhalter 3">
            <a:extLst>
              <a:ext uri="{FF2B5EF4-FFF2-40B4-BE49-F238E27FC236}">
                <a16:creationId xmlns:a16="http://schemas.microsoft.com/office/drawing/2014/main" id="{B4A77CD4-7E35-4ECA-9F98-CB986B85F165}"/>
              </a:ext>
            </a:extLst>
          </p:cNvPr>
          <p:cNvSpPr txBox="1">
            <a:spLocks/>
          </p:cNvSpPr>
          <p:nvPr/>
        </p:nvSpPr>
        <p:spPr bwMode="auto">
          <a:xfrm>
            <a:off x="6268607" y="3467217"/>
            <a:ext cx="5472112" cy="230400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solidFill>
                  <a:schemeClr val="tx1"/>
                </a:solidFill>
                <a:latin typeface="Arial" pitchFamily="34" charset="0"/>
                <a:ea typeface="+mn-ea"/>
                <a:cs typeface="Arial" pitchFamily="34" charset="0"/>
              </a:defRPr>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a:lstStyle>
          <a:p>
            <a:r>
              <a:rPr lang="en-US" kern="0"/>
              <a:t>Hard to identify:</a:t>
            </a:r>
          </a:p>
        </p:txBody>
      </p:sp>
      <p:pic>
        <p:nvPicPr>
          <p:cNvPr id="9" name="Grafik 1" descr="image001">
            <a:extLst>
              <a:ext uri="{FF2B5EF4-FFF2-40B4-BE49-F238E27FC236}">
                <a16:creationId xmlns:a16="http://schemas.microsoft.com/office/drawing/2014/main" id="{BBDAECA5-101F-4B38-B79B-2C3EA098008B}"/>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679833" y="1565488"/>
            <a:ext cx="1895361" cy="19439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42809491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AD0EC95-9C8A-4DA0-A8C4-8EC1F6B404DF}"/>
              </a:ext>
            </a:extLst>
          </p:cNvPr>
          <p:cNvSpPr>
            <a:spLocks noGrp="1"/>
          </p:cNvSpPr>
          <p:nvPr>
            <p:ph type="title"/>
          </p:nvPr>
        </p:nvSpPr>
        <p:spPr/>
        <p:txBody>
          <a:bodyPr/>
          <a:lstStyle/>
          <a:p>
            <a:r>
              <a:rPr lang="en-US"/>
              <a:t>Exercise 2.1: Random Forest Vs. Decision Trees</a:t>
            </a:r>
          </a:p>
        </p:txBody>
      </p:sp>
      <p:sp>
        <p:nvSpPr>
          <p:cNvPr id="3" name="Inhaltsplatzhalter 2">
            <a:extLst>
              <a:ext uri="{FF2B5EF4-FFF2-40B4-BE49-F238E27FC236}">
                <a16:creationId xmlns:a16="http://schemas.microsoft.com/office/drawing/2014/main" id="{D76A6773-6AE5-4A86-B546-06E23FC14F0C}"/>
              </a:ext>
            </a:extLst>
          </p:cNvPr>
          <p:cNvSpPr>
            <a:spLocks noGrp="1"/>
          </p:cNvSpPr>
          <p:nvPr>
            <p:ph sz="half" idx="1"/>
          </p:nvPr>
        </p:nvSpPr>
        <p:spPr>
          <a:xfrm>
            <a:off x="627063" y="1440000"/>
            <a:ext cx="4139964" cy="4752000"/>
          </a:xfrm>
        </p:spPr>
        <p:txBody>
          <a:bodyPr/>
          <a:lstStyle/>
          <a:p>
            <a:pPr marL="342900" indent="-342900">
              <a:spcBef>
                <a:spcPts val="1200"/>
              </a:spcBef>
              <a:spcAft>
                <a:spcPts val="0"/>
              </a:spcAft>
              <a:buFont typeface="+mj-lt"/>
              <a:buAutoNum type="arabicPeriod"/>
            </a:pPr>
            <a:r>
              <a:rPr lang="en-US"/>
              <a:t>Open </a:t>
            </a:r>
            <a:r>
              <a:rPr lang="en-US">
                <a:ea typeface="Arial Unicode MS" panose="020B0604020202020204" pitchFamily="34" charset="-128"/>
                <a:cs typeface="Arial Unicode MS" panose="020B0604020202020204" pitchFamily="34" charset="-128"/>
              </a:rPr>
              <a:t>the ML2.ipynb Notebook</a:t>
            </a:r>
          </a:p>
          <a:p>
            <a:pPr marL="342900" indent="-342900">
              <a:spcBef>
                <a:spcPts val="1200"/>
              </a:spcBef>
              <a:spcAft>
                <a:spcPts val="0"/>
              </a:spcAft>
              <a:buFont typeface="+mj-lt"/>
              <a:buAutoNum type="arabicPeriod"/>
            </a:pPr>
            <a:r>
              <a:rPr lang="en-US">
                <a:ea typeface="Arial Unicode MS" panose="020B0604020202020204" pitchFamily="34" charset="-128"/>
                <a:cs typeface="Arial Unicode MS" panose="020B0604020202020204" pitchFamily="34" charset="-128"/>
              </a:rPr>
              <a:t>Run through all cells till Exercise 2.1: Decision Trees vs. Random Forest (shift+enter)</a:t>
            </a:r>
          </a:p>
          <a:p>
            <a:pPr marL="342900" indent="-342900">
              <a:spcBef>
                <a:spcPts val="1200"/>
              </a:spcBef>
              <a:spcAft>
                <a:spcPts val="0"/>
              </a:spcAft>
              <a:buFont typeface="+mj-lt"/>
              <a:buAutoNum type="arabicPeriod"/>
            </a:pPr>
            <a:r>
              <a:rPr lang="en-US">
                <a:ea typeface="Arial Unicode MS" panose="020B0604020202020204" pitchFamily="34" charset="-128"/>
                <a:cs typeface="Arial Unicode MS" panose="020B0604020202020204" pitchFamily="34" charset="-128"/>
              </a:rPr>
              <a:t>Repeat:</a:t>
            </a:r>
          </a:p>
          <a:p>
            <a:pPr lvl="1" indent="0">
              <a:spcBef>
                <a:spcPts val="600"/>
              </a:spcBef>
              <a:spcAft>
                <a:spcPts val="600"/>
              </a:spcAft>
              <a:buNone/>
            </a:pPr>
            <a:r>
              <a:rPr lang="en-US"/>
              <a:t>Change the max depth (1-20) and create random forests and decision trees for each max depth you choose (shift+enter)</a:t>
            </a:r>
          </a:p>
          <a:p>
            <a:pPr lvl="1" indent="0">
              <a:spcBef>
                <a:spcPts val="600"/>
              </a:spcBef>
              <a:spcAft>
                <a:spcPts val="600"/>
              </a:spcAft>
              <a:buNone/>
            </a:pPr>
            <a:endParaRPr lang="en-US"/>
          </a:p>
          <a:p>
            <a:pPr>
              <a:spcBef>
                <a:spcPts val="600"/>
              </a:spcBef>
              <a:spcAft>
                <a:spcPts val="600"/>
              </a:spcAft>
            </a:pPr>
            <a:r>
              <a:rPr lang="en-US" sz="1200"/>
              <a:t>For random forest default number of estimators is 100</a:t>
            </a:r>
          </a:p>
          <a:p>
            <a:pPr marL="342900" indent="-342900">
              <a:buAutoNum type="arabicPeriod"/>
            </a:pPr>
            <a:endParaRPr lang="en-US"/>
          </a:p>
          <a:p>
            <a:pPr marL="342900" indent="-342900">
              <a:buAutoNum type="arabicPeriod"/>
            </a:pPr>
            <a:endParaRPr lang="en-US"/>
          </a:p>
        </p:txBody>
      </p:sp>
      <p:pic>
        <p:nvPicPr>
          <p:cNvPr id="9" name="Inhaltsplatzhalter 8">
            <a:extLst>
              <a:ext uri="{FF2B5EF4-FFF2-40B4-BE49-F238E27FC236}">
                <a16:creationId xmlns:a16="http://schemas.microsoft.com/office/drawing/2014/main" id="{42C82561-203D-41D0-A7EE-96ECF820BC4F}"/>
              </a:ext>
            </a:extLst>
          </p:cNvPr>
          <p:cNvPicPr>
            <a:picLocks noGrp="1" noChangeAspect="1"/>
          </p:cNvPicPr>
          <p:nvPr>
            <p:ph sz="half" idx="2"/>
          </p:nvPr>
        </p:nvPicPr>
        <p:blipFill>
          <a:blip r:embed="rId3"/>
          <a:stretch>
            <a:fillRect/>
          </a:stretch>
        </p:blipFill>
        <p:spPr>
          <a:xfrm>
            <a:off x="5631123" y="1443037"/>
            <a:ext cx="6084627" cy="4502247"/>
          </a:xfrm>
          <a:prstGeom prst="rect">
            <a:avLst/>
          </a:prstGeom>
        </p:spPr>
      </p:pic>
      <p:cxnSp>
        <p:nvCxnSpPr>
          <p:cNvPr id="8" name="Gerade Verbindung mit Pfeil 7">
            <a:extLst>
              <a:ext uri="{FF2B5EF4-FFF2-40B4-BE49-F238E27FC236}">
                <a16:creationId xmlns:a16="http://schemas.microsoft.com/office/drawing/2014/main" id="{4D07FC16-0E6E-4903-A447-AECD9D598EFF}"/>
              </a:ext>
            </a:extLst>
          </p:cNvPr>
          <p:cNvCxnSpPr/>
          <p:nvPr/>
        </p:nvCxnSpPr>
        <p:spPr bwMode="auto">
          <a:xfrm>
            <a:off x="4586288" y="3716338"/>
            <a:ext cx="1908931" cy="684770"/>
          </a:xfrm>
          <a:prstGeom prst="straightConnector1">
            <a:avLst/>
          </a:prstGeom>
          <a:solidFill>
            <a:schemeClr val="tx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3" name="Rechteck 12">
            <a:extLst>
              <a:ext uri="{FF2B5EF4-FFF2-40B4-BE49-F238E27FC236}">
                <a16:creationId xmlns:a16="http://schemas.microsoft.com/office/drawing/2014/main" id="{B6CAF31E-43AE-454B-A360-79D910C0C2EF}"/>
              </a:ext>
            </a:extLst>
          </p:cNvPr>
          <p:cNvSpPr/>
          <p:nvPr/>
        </p:nvSpPr>
        <p:spPr bwMode="auto">
          <a:xfrm>
            <a:off x="6495219" y="4288194"/>
            <a:ext cx="756084" cy="225828"/>
          </a:xfrm>
          <a:prstGeom prst="rect">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2182754"/>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E2B94B46-966A-45B4-BD0E-FB3DD9868363}"/>
              </a:ext>
            </a:extLst>
          </p:cNvPr>
          <p:cNvSpPr>
            <a:spLocks noGrp="1"/>
          </p:cNvSpPr>
          <p:nvPr>
            <p:ph type="title"/>
          </p:nvPr>
        </p:nvSpPr>
        <p:spPr/>
        <p:txBody>
          <a:bodyPr/>
          <a:lstStyle/>
          <a:p>
            <a:r>
              <a:rPr lang="en-US"/>
              <a:t>Exercise 2.1: Random Forest Vs. Decision Trees</a:t>
            </a:r>
          </a:p>
        </p:txBody>
      </p:sp>
      <p:sp>
        <p:nvSpPr>
          <p:cNvPr id="3" name="Inhaltsplatzhalter 2">
            <a:extLst>
              <a:ext uri="{FF2B5EF4-FFF2-40B4-BE49-F238E27FC236}">
                <a16:creationId xmlns:a16="http://schemas.microsoft.com/office/drawing/2014/main" id="{3EDC3B59-727B-4EE7-B5F9-9E8CB4897FEF}"/>
              </a:ext>
            </a:extLst>
          </p:cNvPr>
          <p:cNvSpPr>
            <a:spLocks noGrp="1"/>
          </p:cNvSpPr>
          <p:nvPr>
            <p:ph sz="half" idx="1"/>
          </p:nvPr>
        </p:nvSpPr>
        <p:spPr>
          <a:xfrm>
            <a:off x="7140056" y="1628605"/>
            <a:ext cx="4581697" cy="4752000"/>
          </a:xfrm>
        </p:spPr>
        <p:txBody>
          <a:bodyPr/>
          <a:lstStyle/>
          <a:p>
            <a:pPr marL="285750" indent="-285750">
              <a:spcBef>
                <a:spcPts val="600"/>
              </a:spcBef>
              <a:spcAft>
                <a:spcPts val="600"/>
              </a:spcAft>
              <a:buFont typeface="Arial" panose="020B0604020202020204" pitchFamily="34" charset="0"/>
              <a:buChar char="•"/>
            </a:pPr>
            <a:r>
              <a:rPr lang="en-US"/>
              <a:t>We get better results from random forest!</a:t>
            </a:r>
          </a:p>
          <a:p>
            <a:pPr marL="285750" indent="-285750">
              <a:spcBef>
                <a:spcPts val="600"/>
              </a:spcBef>
              <a:spcAft>
                <a:spcPts val="600"/>
              </a:spcAft>
              <a:buFont typeface="Arial" panose="020B0604020202020204" pitchFamily="34" charset="0"/>
              <a:buChar char="•"/>
            </a:pPr>
            <a:r>
              <a:rPr lang="en-US"/>
              <a:t>Similar trend for random forest and decision tree </a:t>
            </a:r>
          </a:p>
          <a:p>
            <a:pPr marL="285750" indent="-285750">
              <a:spcBef>
                <a:spcPts val="600"/>
              </a:spcBef>
              <a:spcAft>
                <a:spcPts val="600"/>
              </a:spcAft>
              <a:buFont typeface="Arial" panose="020B0604020202020204" pitchFamily="34" charset="0"/>
              <a:buChar char="•"/>
            </a:pPr>
            <a:endParaRPr lang="en-US"/>
          </a:p>
          <a:p>
            <a:pPr>
              <a:spcBef>
                <a:spcPts val="600"/>
              </a:spcBef>
              <a:spcAft>
                <a:spcPts val="600"/>
              </a:spcAft>
            </a:pPr>
            <a:endParaRPr lang="en-US"/>
          </a:p>
          <a:p>
            <a:endParaRPr lang="en-US"/>
          </a:p>
        </p:txBody>
      </p:sp>
      <p:sp>
        <p:nvSpPr>
          <p:cNvPr id="8" name="Inhaltsplatzhalter 7">
            <a:extLst>
              <a:ext uri="{FF2B5EF4-FFF2-40B4-BE49-F238E27FC236}">
                <a16:creationId xmlns:a16="http://schemas.microsoft.com/office/drawing/2014/main" id="{B04AB9AF-FDA6-47D5-96C8-5E364DBFEF8B}"/>
              </a:ext>
            </a:extLst>
          </p:cNvPr>
          <p:cNvSpPr>
            <a:spLocks noGrp="1"/>
          </p:cNvSpPr>
          <p:nvPr>
            <p:ph sz="half" idx="2"/>
          </p:nvPr>
        </p:nvSpPr>
        <p:spPr/>
        <p:txBody>
          <a:bodyPr/>
          <a:lstStyle/>
          <a:p>
            <a:r>
              <a:rPr lang="de-DE"/>
              <a:t>		</a:t>
            </a:r>
            <a:endParaRPr lang="en-US"/>
          </a:p>
        </p:txBody>
      </p:sp>
      <p:pic>
        <p:nvPicPr>
          <p:cNvPr id="11" name="Grafik 10">
            <a:extLst>
              <a:ext uri="{FF2B5EF4-FFF2-40B4-BE49-F238E27FC236}">
                <a16:creationId xmlns:a16="http://schemas.microsoft.com/office/drawing/2014/main" id="{471CA396-F128-4DE5-A97F-132544890472}"/>
              </a:ext>
            </a:extLst>
          </p:cNvPr>
          <p:cNvPicPr>
            <a:picLocks noChangeAspect="1"/>
          </p:cNvPicPr>
          <p:nvPr/>
        </p:nvPicPr>
        <p:blipFill>
          <a:blip r:embed="rId2"/>
          <a:stretch>
            <a:fillRect/>
          </a:stretch>
        </p:blipFill>
        <p:spPr>
          <a:xfrm>
            <a:off x="627770" y="1411527"/>
            <a:ext cx="6320432" cy="4283669"/>
          </a:xfrm>
          <a:prstGeom prst="rect">
            <a:avLst/>
          </a:prstGeom>
        </p:spPr>
      </p:pic>
    </p:spTree>
    <p:extLst>
      <p:ext uri="{BB962C8B-B14F-4D97-AF65-F5344CB8AC3E}">
        <p14:creationId xmlns:p14="http://schemas.microsoft.com/office/powerpoint/2010/main" val="38065005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148BB5C-567B-48C3-8ABB-9E8F64C42D61}"/>
              </a:ext>
            </a:extLst>
          </p:cNvPr>
          <p:cNvSpPr>
            <a:spLocks noGrp="1"/>
          </p:cNvSpPr>
          <p:nvPr>
            <p:ph type="title"/>
          </p:nvPr>
        </p:nvSpPr>
        <p:spPr/>
        <p:txBody>
          <a:bodyPr/>
          <a:lstStyle/>
          <a:p>
            <a:r>
              <a:rPr lang="en-US"/>
              <a:t>Exercise 2.2: Explore the Influence of #Estimators (#Models/Subsamples) of Random Forests</a:t>
            </a:r>
          </a:p>
        </p:txBody>
      </p:sp>
      <p:sp>
        <p:nvSpPr>
          <p:cNvPr id="3" name="Inhaltsplatzhalter 2">
            <a:extLst>
              <a:ext uri="{FF2B5EF4-FFF2-40B4-BE49-F238E27FC236}">
                <a16:creationId xmlns:a16="http://schemas.microsoft.com/office/drawing/2014/main" id="{F88F3390-79CF-48D9-AF0B-39C6B961DDD2}"/>
              </a:ext>
            </a:extLst>
          </p:cNvPr>
          <p:cNvSpPr>
            <a:spLocks noGrp="1"/>
          </p:cNvSpPr>
          <p:nvPr>
            <p:ph sz="half" idx="1"/>
          </p:nvPr>
        </p:nvSpPr>
        <p:spPr>
          <a:xfrm>
            <a:off x="627063" y="1440000"/>
            <a:ext cx="4139964" cy="4752000"/>
          </a:xfrm>
        </p:spPr>
        <p:txBody>
          <a:bodyPr/>
          <a:lstStyle/>
          <a:p>
            <a:pPr marL="342900" indent="-342900">
              <a:spcBef>
                <a:spcPts val="600"/>
              </a:spcBef>
              <a:spcAft>
                <a:spcPts val="600"/>
              </a:spcAft>
              <a:buFont typeface="+mj-lt"/>
              <a:buAutoNum type="arabicPeriod"/>
            </a:pPr>
            <a:r>
              <a:rPr lang="en-US"/>
              <a:t>Go to Exercise 2.2: Random Forest</a:t>
            </a:r>
          </a:p>
          <a:p>
            <a:pPr marL="342900" indent="-342900">
              <a:spcBef>
                <a:spcPts val="600"/>
              </a:spcBef>
              <a:spcAft>
                <a:spcPts val="600"/>
              </a:spcAft>
              <a:buFont typeface="+mj-lt"/>
              <a:buAutoNum type="arabicPeriod"/>
            </a:pPr>
            <a:r>
              <a:rPr lang="en-US"/>
              <a:t>Enter the max depth you think is the best</a:t>
            </a:r>
          </a:p>
          <a:p>
            <a:pPr marL="342900" indent="-342900">
              <a:spcBef>
                <a:spcPts val="600"/>
              </a:spcBef>
              <a:spcAft>
                <a:spcPts val="600"/>
              </a:spcAft>
              <a:buFont typeface="+mj-lt"/>
              <a:buAutoNum type="arabicPeriod"/>
            </a:pPr>
            <a:r>
              <a:rPr lang="en-US"/>
              <a:t>Change the number of estimators  (1-30) and create random forests</a:t>
            </a:r>
          </a:p>
          <a:p>
            <a:pPr marL="342900" indent="-342900">
              <a:spcBef>
                <a:spcPts val="600"/>
              </a:spcBef>
              <a:spcAft>
                <a:spcPts val="600"/>
              </a:spcAft>
              <a:buFont typeface="+mj-lt"/>
              <a:buAutoNum type="arabicPeriod"/>
            </a:pPr>
            <a:r>
              <a:rPr lang="en-US"/>
              <a:t>What do you think is a good number of estimators?</a:t>
            </a:r>
          </a:p>
          <a:p>
            <a:pPr marL="342900" indent="-342900">
              <a:buFont typeface="+mj-lt"/>
              <a:buAutoNum type="arabicPeriod"/>
            </a:pPr>
            <a:endParaRPr lang="en-US"/>
          </a:p>
          <a:p>
            <a:r>
              <a:rPr lang="en-US" sz="1400"/>
              <a:t>Default number of estimators is 100</a:t>
            </a:r>
          </a:p>
          <a:p>
            <a:endParaRPr lang="en-US"/>
          </a:p>
          <a:p>
            <a:pPr marL="342900" indent="-342900">
              <a:buFont typeface="+mj-lt"/>
              <a:buAutoNum type="arabicPeriod"/>
            </a:pPr>
            <a:endParaRPr lang="en-US"/>
          </a:p>
        </p:txBody>
      </p:sp>
      <p:pic>
        <p:nvPicPr>
          <p:cNvPr id="11" name="Inhaltsplatzhalter 10">
            <a:extLst>
              <a:ext uri="{FF2B5EF4-FFF2-40B4-BE49-F238E27FC236}">
                <a16:creationId xmlns:a16="http://schemas.microsoft.com/office/drawing/2014/main" id="{DB3EEE5F-D3E6-48A6-8A6E-4DD9BDF28D6F}"/>
              </a:ext>
            </a:extLst>
          </p:cNvPr>
          <p:cNvPicPr>
            <a:picLocks noGrp="1" noChangeAspect="1"/>
          </p:cNvPicPr>
          <p:nvPr>
            <p:ph sz="half" idx="2"/>
          </p:nvPr>
        </p:nvPicPr>
        <p:blipFill>
          <a:blip r:embed="rId3"/>
          <a:stretch>
            <a:fillRect/>
          </a:stretch>
        </p:blipFill>
        <p:spPr>
          <a:xfrm>
            <a:off x="5445910" y="1466199"/>
            <a:ext cx="6125377" cy="4500277"/>
          </a:xfrm>
          <a:prstGeom prst="rect">
            <a:avLst/>
          </a:prstGeom>
        </p:spPr>
      </p:pic>
      <p:cxnSp>
        <p:nvCxnSpPr>
          <p:cNvPr id="14" name="Gerade Verbindung mit Pfeil 13">
            <a:extLst>
              <a:ext uri="{FF2B5EF4-FFF2-40B4-BE49-F238E27FC236}">
                <a16:creationId xmlns:a16="http://schemas.microsoft.com/office/drawing/2014/main" id="{C5F8D32A-96A7-453E-92EC-43AD6EDF6340}"/>
              </a:ext>
            </a:extLst>
          </p:cNvPr>
          <p:cNvCxnSpPr/>
          <p:nvPr/>
        </p:nvCxnSpPr>
        <p:spPr bwMode="auto">
          <a:xfrm>
            <a:off x="4514999" y="3141128"/>
            <a:ext cx="1008112" cy="1440000"/>
          </a:xfrm>
          <a:prstGeom prst="straightConnector1">
            <a:avLst/>
          </a:prstGeom>
          <a:solidFill>
            <a:schemeClr val="tx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0" name="Rechteck 9">
            <a:extLst>
              <a:ext uri="{FF2B5EF4-FFF2-40B4-BE49-F238E27FC236}">
                <a16:creationId xmlns:a16="http://schemas.microsoft.com/office/drawing/2014/main" id="{B30AC48A-BD07-46A7-895C-F0E69DDF4142}"/>
              </a:ext>
            </a:extLst>
          </p:cNvPr>
          <p:cNvSpPr/>
          <p:nvPr/>
        </p:nvSpPr>
        <p:spPr bwMode="auto">
          <a:xfrm>
            <a:off x="5523111" y="4607328"/>
            <a:ext cx="1224136" cy="225828"/>
          </a:xfrm>
          <a:prstGeom prst="rect">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7" name="Gerade Verbindung mit Pfeil 16">
            <a:extLst>
              <a:ext uri="{FF2B5EF4-FFF2-40B4-BE49-F238E27FC236}">
                <a16:creationId xmlns:a16="http://schemas.microsoft.com/office/drawing/2014/main" id="{F31CA882-6417-471B-BAB9-961C6DA64DEC}"/>
              </a:ext>
            </a:extLst>
          </p:cNvPr>
          <p:cNvCxnSpPr/>
          <p:nvPr/>
        </p:nvCxnSpPr>
        <p:spPr bwMode="auto">
          <a:xfrm>
            <a:off x="4514999" y="2420888"/>
            <a:ext cx="1296144" cy="1939562"/>
          </a:xfrm>
          <a:prstGeom prst="straightConnector1">
            <a:avLst/>
          </a:prstGeom>
          <a:solidFill>
            <a:schemeClr val="tx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3379242996"/>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6350206-3AC2-41CC-A215-CA972EDBD5A5}"/>
              </a:ext>
            </a:extLst>
          </p:cNvPr>
          <p:cNvSpPr>
            <a:spLocks noGrp="1"/>
          </p:cNvSpPr>
          <p:nvPr>
            <p:ph type="title"/>
          </p:nvPr>
        </p:nvSpPr>
        <p:spPr/>
        <p:txBody>
          <a:bodyPr/>
          <a:lstStyle/>
          <a:p>
            <a:r>
              <a:rPr lang="en-US"/>
              <a:t>Exercise 2.2: Explore the Influence of #Estimators of </a:t>
            </a:r>
            <a:br>
              <a:rPr lang="en-US"/>
            </a:br>
            <a:r>
              <a:rPr lang="en-US"/>
              <a:t>                       Random Forests</a:t>
            </a:r>
          </a:p>
        </p:txBody>
      </p:sp>
      <p:sp>
        <p:nvSpPr>
          <p:cNvPr id="3" name="Inhaltsplatzhalter 2">
            <a:extLst>
              <a:ext uri="{FF2B5EF4-FFF2-40B4-BE49-F238E27FC236}">
                <a16:creationId xmlns:a16="http://schemas.microsoft.com/office/drawing/2014/main" id="{58959DD0-37D6-4F3B-AF0D-C30642CCD30A}"/>
              </a:ext>
            </a:extLst>
          </p:cNvPr>
          <p:cNvSpPr>
            <a:spLocks noGrp="1"/>
          </p:cNvSpPr>
          <p:nvPr>
            <p:ph sz="half" idx="1"/>
          </p:nvPr>
        </p:nvSpPr>
        <p:spPr>
          <a:xfrm>
            <a:off x="7431323" y="1592796"/>
            <a:ext cx="4284427" cy="4752000"/>
          </a:xfrm>
        </p:spPr>
        <p:txBody>
          <a:bodyPr/>
          <a:lstStyle/>
          <a:p>
            <a:pPr marL="285750" indent="-285750">
              <a:spcBef>
                <a:spcPts val="600"/>
              </a:spcBef>
              <a:spcAft>
                <a:spcPts val="600"/>
              </a:spcAft>
              <a:buFont typeface="Arial" panose="020B0604020202020204" pitchFamily="34" charset="0"/>
              <a:buChar char="•"/>
            </a:pPr>
            <a:r>
              <a:rPr lang="en-US"/>
              <a:t>We use Max Depth = 8</a:t>
            </a:r>
          </a:p>
          <a:p>
            <a:pPr marL="285750" indent="-285750">
              <a:spcBef>
                <a:spcPts val="600"/>
              </a:spcBef>
              <a:spcAft>
                <a:spcPts val="600"/>
              </a:spcAft>
              <a:buFont typeface="Arial" panose="020B0604020202020204" pitchFamily="34" charset="0"/>
              <a:buChar char="•"/>
            </a:pPr>
            <a:r>
              <a:rPr lang="en-US"/>
              <a:t>In our example seems 6 - 12 to be a good number of estimators</a:t>
            </a:r>
          </a:p>
        </p:txBody>
      </p:sp>
      <p:sp>
        <p:nvSpPr>
          <p:cNvPr id="8" name="Inhaltsplatzhalter 7">
            <a:extLst>
              <a:ext uri="{FF2B5EF4-FFF2-40B4-BE49-F238E27FC236}">
                <a16:creationId xmlns:a16="http://schemas.microsoft.com/office/drawing/2014/main" id="{41939633-2D94-44B9-A460-CBD73011BDD5}"/>
              </a:ext>
            </a:extLst>
          </p:cNvPr>
          <p:cNvSpPr>
            <a:spLocks noGrp="1"/>
          </p:cNvSpPr>
          <p:nvPr>
            <p:ph sz="half" idx="2"/>
          </p:nvPr>
        </p:nvSpPr>
        <p:spPr>
          <a:xfrm>
            <a:off x="3346666" y="1250411"/>
            <a:ext cx="5472112" cy="4752000"/>
          </a:xfrm>
        </p:spPr>
        <p:txBody>
          <a:bodyPr/>
          <a:lstStyle/>
          <a:p>
            <a:r>
              <a:rPr lang="de-DE"/>
              <a:t>		</a:t>
            </a:r>
            <a:endParaRPr lang="en-US"/>
          </a:p>
        </p:txBody>
      </p:sp>
      <p:pic>
        <p:nvPicPr>
          <p:cNvPr id="9" name="Grafik 8">
            <a:extLst>
              <a:ext uri="{FF2B5EF4-FFF2-40B4-BE49-F238E27FC236}">
                <a16:creationId xmlns:a16="http://schemas.microsoft.com/office/drawing/2014/main" id="{542E8E57-EB05-40A2-A8A8-967B5360DA32}"/>
              </a:ext>
            </a:extLst>
          </p:cNvPr>
          <p:cNvPicPr>
            <a:picLocks noChangeAspect="1"/>
          </p:cNvPicPr>
          <p:nvPr/>
        </p:nvPicPr>
        <p:blipFill>
          <a:blip r:embed="rId2"/>
          <a:stretch>
            <a:fillRect/>
          </a:stretch>
        </p:blipFill>
        <p:spPr>
          <a:xfrm>
            <a:off x="627063" y="1518869"/>
            <a:ext cx="6489146" cy="4250391"/>
          </a:xfrm>
          <a:prstGeom prst="rect">
            <a:avLst/>
          </a:prstGeom>
        </p:spPr>
      </p:pic>
    </p:spTree>
    <p:extLst>
      <p:ext uri="{BB962C8B-B14F-4D97-AF65-F5344CB8AC3E}">
        <p14:creationId xmlns:p14="http://schemas.microsoft.com/office/powerpoint/2010/main" val="23686487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3DECA9-7A22-4599-9C6F-C81100E40350}"/>
              </a:ext>
            </a:extLst>
          </p:cNvPr>
          <p:cNvSpPr>
            <a:spLocks noGrp="1"/>
          </p:cNvSpPr>
          <p:nvPr>
            <p:ph type="title"/>
          </p:nvPr>
        </p:nvSpPr>
        <p:spPr/>
        <p:txBody>
          <a:bodyPr/>
          <a:lstStyle/>
          <a:p>
            <a:r>
              <a:rPr lang="en-US"/>
              <a:t>Observed Parameters for Decision Tree and Random Forest </a:t>
            </a:r>
            <a:br>
              <a:rPr lang="en-US"/>
            </a:br>
            <a:r>
              <a:rPr lang="en-US"/>
              <a:t>in Python</a:t>
            </a:r>
          </a:p>
        </p:txBody>
      </p:sp>
      <p:sp>
        <p:nvSpPr>
          <p:cNvPr id="5" name="Rechteck 4">
            <a:extLst>
              <a:ext uri="{FF2B5EF4-FFF2-40B4-BE49-F238E27FC236}">
                <a16:creationId xmlns:a16="http://schemas.microsoft.com/office/drawing/2014/main" id="{4C5217EB-D4A3-4BF4-ACFF-3DD1CAAC994D}"/>
              </a:ext>
            </a:extLst>
          </p:cNvPr>
          <p:cNvSpPr/>
          <p:nvPr/>
        </p:nvSpPr>
        <p:spPr bwMode="auto">
          <a:xfrm>
            <a:off x="640958" y="1443038"/>
            <a:ext cx="6034282" cy="1121866"/>
          </a:xfrm>
          <a:prstGeom prst="rect">
            <a:avLst/>
          </a:prstGeom>
          <a:solidFill>
            <a:schemeClr val="accent2">
              <a:lumMod val="40000"/>
              <a:lumOff val="60000"/>
            </a:schemeClr>
          </a:solidFill>
          <a:ln>
            <a:noFill/>
          </a:ln>
          <a:effectLst/>
        </p:spPr>
        <p:txBody>
          <a:bodyPr wrap="square" lIns="108000" tIns="54000" rIns="108000" bIns="54000" numCol="1" spcCol="72000" rtlCol="0" anchor="ctr">
            <a:noAutofit/>
          </a:bodyPr>
          <a:lstStyle/>
          <a:p>
            <a:pPr>
              <a:lnSpc>
                <a:spcPct val="110000"/>
              </a:lnSpc>
              <a:spcBef>
                <a:spcPct val="0"/>
              </a:spcBef>
              <a:buFont typeface="Wingdings" charset="0"/>
              <a:buNone/>
            </a:pPr>
            <a:r>
              <a:rPr lang="en-US" sz="1600">
                <a:solidFill>
                  <a:schemeClr val="tx1"/>
                </a:solidFill>
                <a:latin typeface="+mn-lt"/>
                <a:ea typeface="Arial Unicode MS" panose="020B0604020202020204" pitchFamily="34" charset="-128"/>
                <a:cs typeface="Arial Unicode MS" panose="020B0604020202020204" pitchFamily="34" charset="-128"/>
              </a:rPr>
              <a:t>from sklearn.tree import DecisionTreeClassifier</a:t>
            </a:r>
          </a:p>
          <a:p>
            <a:pPr>
              <a:lnSpc>
                <a:spcPct val="110000"/>
              </a:lnSpc>
              <a:spcBef>
                <a:spcPct val="0"/>
              </a:spcBef>
              <a:buFont typeface="Wingdings" charset="0"/>
              <a:buNone/>
            </a:pPr>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ct val="0"/>
              </a:spcBef>
              <a:buFont typeface="Wingdings" charset="0"/>
              <a:buNone/>
            </a:pPr>
            <a:r>
              <a:rPr lang="en-US" sz="1600" b="1">
                <a:solidFill>
                  <a:schemeClr val="tx1"/>
                </a:solidFill>
                <a:latin typeface="+mn-lt"/>
                <a:ea typeface="Arial Unicode MS" panose="020B0604020202020204" pitchFamily="34" charset="-128"/>
                <a:cs typeface="Arial Unicode MS" panose="020B0604020202020204" pitchFamily="34" charset="-128"/>
              </a:rPr>
              <a:t>DecisionTreeClassifier</a:t>
            </a:r>
            <a:r>
              <a:rPr lang="en-US" sz="1600">
                <a:solidFill>
                  <a:schemeClr val="tx1"/>
                </a:solidFill>
                <a:latin typeface="+mn-lt"/>
                <a:ea typeface="Arial Unicode MS" panose="020B0604020202020204" pitchFamily="34" charset="-128"/>
                <a:cs typeface="Arial Unicode MS" panose="020B0604020202020204" pitchFamily="34" charset="-128"/>
              </a:rPr>
              <a:t>(criterion=‘entropy’,max_depth=1)</a:t>
            </a:r>
          </a:p>
        </p:txBody>
      </p:sp>
      <p:sp>
        <p:nvSpPr>
          <p:cNvPr id="8" name="Textfeld 7">
            <a:extLst>
              <a:ext uri="{FF2B5EF4-FFF2-40B4-BE49-F238E27FC236}">
                <a16:creationId xmlns:a16="http://schemas.microsoft.com/office/drawing/2014/main" id="{22F13C48-3CF0-42A6-B7FE-480141DA98B2}"/>
              </a:ext>
            </a:extLst>
          </p:cNvPr>
          <p:cNvSpPr txBox="1"/>
          <p:nvPr/>
        </p:nvSpPr>
        <p:spPr>
          <a:xfrm>
            <a:off x="1418653" y="2883350"/>
            <a:ext cx="4104457" cy="612000"/>
          </a:xfrm>
          <a:prstGeom prst="rect">
            <a:avLst/>
          </a:prstGeom>
          <a:solidFill>
            <a:schemeClr val="accent2">
              <a:lumMod val="50000"/>
            </a:schemeClr>
          </a:solidFill>
        </p:spPr>
        <p:txBody>
          <a:bodyPr wrap="square" lIns="0" tIns="0" rIns="0" bIns="0" rtlCol="0" anchor="ctr">
            <a:noAutofit/>
          </a:bodyPr>
          <a:lstStyle/>
          <a:p>
            <a:pPr algn="ctr">
              <a:lnSpc>
                <a:spcPct val="110000"/>
              </a:lnSpc>
              <a:spcBef>
                <a:spcPts val="0"/>
              </a:spcBef>
            </a:pPr>
            <a:r>
              <a:rPr lang="en-US" sz="1600" b="1">
                <a:solidFill>
                  <a:schemeClr val="bg1"/>
                </a:solidFill>
                <a:latin typeface="+mn-lt"/>
                <a:ea typeface="Arial Unicode MS" panose="020B0604020202020204" pitchFamily="34" charset="-128"/>
                <a:cs typeface="Arial Unicode MS" panose="020B0604020202020204" pitchFamily="34" charset="-128"/>
              </a:rPr>
              <a:t>Gini or Entropy – How the purity of the dataset should measured (default: ‘gini’)</a:t>
            </a:r>
          </a:p>
        </p:txBody>
      </p:sp>
      <p:sp>
        <p:nvSpPr>
          <p:cNvPr id="9" name="Textfeld 8">
            <a:extLst>
              <a:ext uri="{FF2B5EF4-FFF2-40B4-BE49-F238E27FC236}">
                <a16:creationId xmlns:a16="http://schemas.microsoft.com/office/drawing/2014/main" id="{1949CBBE-06DD-4536-8CDF-30029F97AB59}"/>
              </a:ext>
            </a:extLst>
          </p:cNvPr>
          <p:cNvSpPr txBox="1"/>
          <p:nvPr/>
        </p:nvSpPr>
        <p:spPr>
          <a:xfrm>
            <a:off x="6838457" y="3053751"/>
            <a:ext cx="4229270" cy="360000"/>
          </a:xfrm>
          <a:prstGeom prst="rect">
            <a:avLst/>
          </a:prstGeom>
          <a:solidFill>
            <a:schemeClr val="accent2">
              <a:lumMod val="50000"/>
            </a:schemeClr>
          </a:solidFill>
        </p:spPr>
        <p:txBody>
          <a:bodyPr wrap="none" lIns="0" tIns="0" rIns="0" bIns="0" rtlCol="0" anchor="ctr">
            <a:noAutofit/>
          </a:bodyPr>
          <a:lstStyle/>
          <a:p>
            <a:pPr algn="ctr">
              <a:lnSpc>
                <a:spcPct val="110000"/>
              </a:lnSpc>
              <a:spcBef>
                <a:spcPts val="0"/>
              </a:spcBef>
            </a:pPr>
            <a:r>
              <a:rPr lang="en-US" sz="1600" b="1">
                <a:solidFill>
                  <a:schemeClr val="bg1"/>
                </a:solidFill>
                <a:latin typeface="+mn-lt"/>
                <a:ea typeface="Arial Unicode MS" panose="020B0604020202020204" pitchFamily="34" charset="-128"/>
                <a:cs typeface="Arial Unicode MS" panose="020B0604020202020204" pitchFamily="34" charset="-128"/>
              </a:rPr>
              <a:t>Maximal depth of the tree (default: None) </a:t>
            </a:r>
          </a:p>
        </p:txBody>
      </p:sp>
      <p:sp>
        <p:nvSpPr>
          <p:cNvPr id="10" name="Rechteck 9">
            <a:extLst>
              <a:ext uri="{FF2B5EF4-FFF2-40B4-BE49-F238E27FC236}">
                <a16:creationId xmlns:a16="http://schemas.microsoft.com/office/drawing/2014/main" id="{D243F515-0C08-4A56-8D94-BB120EE654F6}"/>
              </a:ext>
            </a:extLst>
          </p:cNvPr>
          <p:cNvSpPr/>
          <p:nvPr/>
        </p:nvSpPr>
        <p:spPr bwMode="auto">
          <a:xfrm>
            <a:off x="640958" y="3819302"/>
            <a:ext cx="8195068" cy="1121866"/>
          </a:xfrm>
          <a:prstGeom prst="rect">
            <a:avLst/>
          </a:prstGeom>
          <a:solidFill>
            <a:schemeClr val="accent2">
              <a:lumMod val="40000"/>
              <a:lumOff val="60000"/>
            </a:schemeClr>
          </a:solidFill>
          <a:ln>
            <a:noFill/>
          </a:ln>
          <a:effectLst/>
        </p:spPr>
        <p:txBody>
          <a:bodyPr wrap="square" lIns="108000" tIns="54000" rIns="108000" bIns="54000" numCol="1" spcCol="72000" rtlCol="0" anchor="ctr">
            <a:noAutofit/>
          </a:bodyPr>
          <a:lstStyle/>
          <a:p>
            <a:pPr>
              <a:lnSpc>
                <a:spcPct val="110000"/>
              </a:lnSpc>
              <a:spcBef>
                <a:spcPct val="0"/>
              </a:spcBef>
              <a:buFont typeface="Wingdings" charset="0"/>
              <a:buNone/>
            </a:pPr>
            <a:r>
              <a:rPr lang="en-US" sz="1600">
                <a:solidFill>
                  <a:schemeClr val="tx1"/>
                </a:solidFill>
                <a:latin typeface="+mn-lt"/>
                <a:ea typeface="Arial Unicode MS" panose="020B0604020202020204" pitchFamily="34" charset="-128"/>
                <a:cs typeface="Arial Unicode MS" panose="020B0604020202020204" pitchFamily="34" charset="-128"/>
              </a:rPr>
              <a:t>from sklearn.ensemble import RandomForestClassifier</a:t>
            </a:r>
          </a:p>
          <a:p>
            <a:pPr>
              <a:lnSpc>
                <a:spcPct val="110000"/>
              </a:lnSpc>
              <a:spcBef>
                <a:spcPct val="0"/>
              </a:spcBef>
              <a:buFont typeface="Wingdings" charset="0"/>
              <a:buNone/>
            </a:pPr>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ct val="0"/>
              </a:spcBef>
              <a:buFont typeface="Wingdings" charset="0"/>
              <a:buNone/>
            </a:pPr>
            <a:r>
              <a:rPr lang="en-US" sz="1600" b="1">
                <a:solidFill>
                  <a:schemeClr val="tx1"/>
                </a:solidFill>
                <a:latin typeface="+mn-lt"/>
                <a:ea typeface="Arial Unicode MS" panose="020B0604020202020204" pitchFamily="34" charset="-128"/>
                <a:cs typeface="Arial Unicode MS" panose="020B0604020202020204" pitchFamily="34" charset="-128"/>
              </a:rPr>
              <a:t>RandomForestClassifier</a:t>
            </a:r>
            <a:r>
              <a:rPr lang="en-US" sz="1600">
                <a:solidFill>
                  <a:schemeClr val="tx1"/>
                </a:solidFill>
                <a:latin typeface="+mn-lt"/>
                <a:ea typeface="Arial Unicode MS" panose="020B0604020202020204" pitchFamily="34" charset="-128"/>
                <a:cs typeface="Arial Unicode MS" panose="020B0604020202020204" pitchFamily="34" charset="-128"/>
              </a:rPr>
              <a:t>(criterion=‘entropy',max_depth=1,</a:t>
            </a:r>
            <a:r>
              <a:rPr lang="en-US" sz="1600">
                <a:solidFill>
                  <a:schemeClr val="tx1"/>
                </a:solidFill>
                <a:ea typeface="Arial Unicode MS" panose="020B0604020202020204" pitchFamily="34" charset="-128"/>
                <a:cs typeface="Arial Unicode MS" panose="020B0604020202020204" pitchFamily="34" charset="-128"/>
              </a:rPr>
              <a:t>n_estimators=1</a:t>
            </a:r>
            <a:r>
              <a:rPr lang="en-US" sz="1600">
                <a:solidFill>
                  <a:schemeClr val="tx1"/>
                </a:solidFill>
                <a:latin typeface="+mn-lt"/>
                <a:ea typeface="Arial Unicode MS" panose="020B0604020202020204" pitchFamily="34" charset="-128"/>
                <a:cs typeface="Arial Unicode MS" panose="020B0604020202020204" pitchFamily="34" charset="-128"/>
              </a:rPr>
              <a:t>)</a:t>
            </a:r>
          </a:p>
        </p:txBody>
      </p:sp>
      <p:sp>
        <p:nvSpPr>
          <p:cNvPr id="13" name="Textfeld 12">
            <a:extLst>
              <a:ext uri="{FF2B5EF4-FFF2-40B4-BE49-F238E27FC236}">
                <a16:creationId xmlns:a16="http://schemas.microsoft.com/office/drawing/2014/main" id="{A744179B-4E75-4771-B64D-20043A3857EA}"/>
              </a:ext>
            </a:extLst>
          </p:cNvPr>
          <p:cNvSpPr txBox="1"/>
          <p:nvPr/>
        </p:nvSpPr>
        <p:spPr>
          <a:xfrm>
            <a:off x="640956" y="5696098"/>
            <a:ext cx="11074793" cy="605772"/>
          </a:xfrm>
          <a:prstGeom prst="rect">
            <a:avLst/>
          </a:prstGeom>
          <a:noFill/>
          <a:ln w="28575">
            <a:solidFill>
              <a:srgbClr val="00646E"/>
            </a:solidFill>
          </a:ln>
        </p:spPr>
        <p:txBody>
          <a:bodyPr wrap="non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There are a lot more parameters you can variate to perfect your model. But therefore it‘s not always easy </a:t>
            </a:r>
          </a:p>
          <a:p>
            <a:pPr algn="ct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to find a very good combination of parameters.</a:t>
            </a:r>
          </a:p>
        </p:txBody>
      </p:sp>
      <p:sp>
        <p:nvSpPr>
          <p:cNvPr id="14" name="Textfeld 13">
            <a:extLst>
              <a:ext uri="{FF2B5EF4-FFF2-40B4-BE49-F238E27FC236}">
                <a16:creationId xmlns:a16="http://schemas.microsoft.com/office/drawing/2014/main" id="{4C9FF38F-3834-4CF2-933F-D387107EFB6F}"/>
              </a:ext>
            </a:extLst>
          </p:cNvPr>
          <p:cNvSpPr txBox="1"/>
          <p:nvPr/>
        </p:nvSpPr>
        <p:spPr>
          <a:xfrm>
            <a:off x="6947078" y="5193232"/>
            <a:ext cx="4757121" cy="324000"/>
          </a:xfrm>
          <a:prstGeom prst="rect">
            <a:avLst/>
          </a:prstGeom>
          <a:solidFill>
            <a:schemeClr val="accent2">
              <a:lumMod val="50000"/>
            </a:schemeClr>
          </a:solidFill>
        </p:spPr>
        <p:txBody>
          <a:bodyPr wrap="none" lIns="0" tIns="0" rIns="0" bIns="0" rtlCol="0" anchor="ctr">
            <a:noAutofit/>
          </a:bodyPr>
          <a:lstStyle/>
          <a:p>
            <a:pPr algn="ctr">
              <a:lnSpc>
                <a:spcPct val="110000"/>
              </a:lnSpc>
              <a:spcBef>
                <a:spcPts val="0"/>
              </a:spcBef>
            </a:pPr>
            <a:r>
              <a:rPr lang="en-US" sz="1600" b="1">
                <a:solidFill>
                  <a:schemeClr val="bg1"/>
                </a:solidFill>
                <a:latin typeface="+mn-lt"/>
                <a:ea typeface="Arial Unicode MS" panose="020B0604020202020204" pitchFamily="34" charset="-128"/>
                <a:cs typeface="Arial Unicode MS" panose="020B0604020202020204" pitchFamily="34" charset="-128"/>
              </a:rPr>
              <a:t>Number of build models / subsets (default: 100)</a:t>
            </a:r>
          </a:p>
        </p:txBody>
      </p:sp>
      <p:cxnSp>
        <p:nvCxnSpPr>
          <p:cNvPr id="16" name="Gerade Verbindung mit Pfeil 15">
            <a:extLst>
              <a:ext uri="{FF2B5EF4-FFF2-40B4-BE49-F238E27FC236}">
                <a16:creationId xmlns:a16="http://schemas.microsoft.com/office/drawing/2014/main" id="{5B851A3D-2A8D-43A5-A800-6C585C6F7005}"/>
              </a:ext>
            </a:extLst>
          </p:cNvPr>
          <p:cNvCxnSpPr/>
          <p:nvPr/>
        </p:nvCxnSpPr>
        <p:spPr bwMode="auto">
          <a:xfrm flipV="1">
            <a:off x="3461956" y="2462099"/>
            <a:ext cx="8927" cy="433485"/>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mit Pfeil 16">
            <a:extLst>
              <a:ext uri="{FF2B5EF4-FFF2-40B4-BE49-F238E27FC236}">
                <a16:creationId xmlns:a16="http://schemas.microsoft.com/office/drawing/2014/main" id="{23C7CD58-AD99-4BC3-B2FC-1C86AB30CE80}"/>
              </a:ext>
            </a:extLst>
          </p:cNvPr>
          <p:cNvCxnSpPr/>
          <p:nvPr/>
        </p:nvCxnSpPr>
        <p:spPr bwMode="auto">
          <a:xfrm flipH="1" flipV="1">
            <a:off x="4983051" y="2510368"/>
            <a:ext cx="2196244" cy="540490"/>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 Verbindung mit Pfeil 18">
            <a:extLst>
              <a:ext uri="{FF2B5EF4-FFF2-40B4-BE49-F238E27FC236}">
                <a16:creationId xmlns:a16="http://schemas.microsoft.com/office/drawing/2014/main" id="{BFCAD4E9-EDDE-421E-95A3-3B302A1560BF}"/>
              </a:ext>
            </a:extLst>
          </p:cNvPr>
          <p:cNvCxnSpPr/>
          <p:nvPr/>
        </p:nvCxnSpPr>
        <p:spPr bwMode="auto">
          <a:xfrm flipH="1" flipV="1">
            <a:off x="6947078" y="4803447"/>
            <a:ext cx="232217" cy="38978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 Verbindung mit Pfeil 20">
            <a:extLst>
              <a:ext uri="{FF2B5EF4-FFF2-40B4-BE49-F238E27FC236}">
                <a16:creationId xmlns:a16="http://schemas.microsoft.com/office/drawing/2014/main" id="{8EBAA87C-5DA0-47E0-A8DA-8C094A86E4A7}"/>
              </a:ext>
            </a:extLst>
          </p:cNvPr>
          <p:cNvCxnSpPr/>
          <p:nvPr/>
        </p:nvCxnSpPr>
        <p:spPr bwMode="auto">
          <a:xfrm flipH="1">
            <a:off x="5154670" y="3413751"/>
            <a:ext cx="2024625" cy="1099043"/>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6" name="Gerade Verbindung mit Pfeil 25">
            <a:extLst>
              <a:ext uri="{FF2B5EF4-FFF2-40B4-BE49-F238E27FC236}">
                <a16:creationId xmlns:a16="http://schemas.microsoft.com/office/drawing/2014/main" id="{24B1D583-1D6D-49EC-8D2C-51F1A24B2105}"/>
              </a:ext>
            </a:extLst>
          </p:cNvPr>
          <p:cNvCxnSpPr/>
          <p:nvPr/>
        </p:nvCxnSpPr>
        <p:spPr bwMode="auto">
          <a:xfrm flipH="1">
            <a:off x="3461956" y="3486297"/>
            <a:ext cx="8927" cy="1026497"/>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8" name="Textfeld 47">
            <a:extLst>
              <a:ext uri="{FF2B5EF4-FFF2-40B4-BE49-F238E27FC236}">
                <a16:creationId xmlns:a16="http://schemas.microsoft.com/office/drawing/2014/main" id="{87347268-8EEA-4B8E-8355-AE1FAA2F0383}"/>
              </a:ext>
            </a:extLst>
          </p:cNvPr>
          <p:cNvSpPr txBox="1"/>
          <p:nvPr/>
        </p:nvSpPr>
        <p:spPr>
          <a:xfrm>
            <a:off x="9142733" y="3993356"/>
            <a:ext cx="2573017" cy="519438"/>
          </a:xfrm>
          <a:prstGeom prst="rect">
            <a:avLst/>
          </a:prstGeom>
          <a:noFill/>
        </p:spPr>
        <p:txBody>
          <a:bodyPr wrap="square" lIns="0" tIns="0" rIns="0" bIns="0" rtlCol="0">
            <a:spAutoFit/>
          </a:bodyPr>
          <a:lstStyle/>
          <a:p>
            <a:pPr>
              <a:lnSpc>
                <a:spcPct val="110000"/>
              </a:lnSpc>
              <a:spcBef>
                <a:spcPts val="0"/>
              </a:spcBef>
            </a:pPr>
            <a:r>
              <a:rPr lang="en-US" sz="1050">
                <a:solidFill>
                  <a:schemeClr val="tx1"/>
                </a:solidFill>
                <a:latin typeface="+mn-lt"/>
                <a:ea typeface="Arial Unicode MS" panose="020B0604020202020204" pitchFamily="34" charset="-128"/>
                <a:cs typeface="Arial Unicode MS" panose="020B0604020202020204" pitchFamily="34" charset="-128"/>
              </a:rPr>
              <a:t>For more information go to: </a:t>
            </a:r>
            <a:r>
              <a:rPr lang="en-US" sz="1050">
                <a:hlinkClick r:id="rId2"/>
              </a:rPr>
              <a:t>https://scikit-learn.org/stable/modules/generated/sklearn.ensemble.RandomForestClassifier.html</a:t>
            </a:r>
            <a:endParaRPr lang="en-US" sz="1050">
              <a:solidFill>
                <a:schemeClr val="tx1"/>
              </a:solidFill>
              <a:latin typeface="+mn-lt"/>
              <a:ea typeface="Arial Unicode MS" panose="020B0604020202020204" pitchFamily="34" charset="-128"/>
              <a:cs typeface="Arial Unicode MS" panose="020B0604020202020204" pitchFamily="34" charset="-128"/>
            </a:endParaRPr>
          </a:p>
        </p:txBody>
      </p:sp>
      <p:sp>
        <p:nvSpPr>
          <p:cNvPr id="50" name="Textfeld 49">
            <a:extLst>
              <a:ext uri="{FF2B5EF4-FFF2-40B4-BE49-F238E27FC236}">
                <a16:creationId xmlns:a16="http://schemas.microsoft.com/office/drawing/2014/main" id="{65B28FDB-2485-492C-967D-F5CADD814817}"/>
              </a:ext>
            </a:extLst>
          </p:cNvPr>
          <p:cNvSpPr txBox="1"/>
          <p:nvPr/>
        </p:nvSpPr>
        <p:spPr>
          <a:xfrm>
            <a:off x="9131183" y="1795717"/>
            <a:ext cx="2573017" cy="697179"/>
          </a:xfrm>
          <a:prstGeom prst="rect">
            <a:avLst/>
          </a:prstGeom>
          <a:noFill/>
        </p:spPr>
        <p:txBody>
          <a:bodyPr wrap="square" lIns="0" tIns="0" rIns="0" bIns="0" rtlCol="0">
            <a:spAutoFit/>
          </a:bodyPr>
          <a:lstStyle/>
          <a:p>
            <a:pPr>
              <a:lnSpc>
                <a:spcPct val="110000"/>
              </a:lnSpc>
              <a:spcBef>
                <a:spcPts val="0"/>
              </a:spcBef>
            </a:pPr>
            <a:r>
              <a:rPr lang="en-US" sz="1050">
                <a:solidFill>
                  <a:schemeClr val="tx1"/>
                </a:solidFill>
                <a:latin typeface="+mn-lt"/>
                <a:ea typeface="Arial Unicode MS" panose="020B0604020202020204" pitchFamily="34" charset="-128"/>
                <a:cs typeface="Arial Unicode MS" panose="020B0604020202020204" pitchFamily="34" charset="-128"/>
              </a:rPr>
              <a:t>For more information go to: </a:t>
            </a:r>
            <a:r>
              <a:rPr lang="en-US" sz="1050">
                <a:hlinkClick r:id="rId3"/>
              </a:rPr>
              <a:t>https://scikit-learn.org/stable/modules/generated/sklearn.tree.DecisionTreeClassifier.html#sklearn.tree.DecisionTreeClassifier</a:t>
            </a:r>
            <a:endParaRPr lang="en-US" sz="105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65687394"/>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F763C7C-F0F6-4271-BB0A-54219148E7A8}"/>
              </a:ext>
            </a:extLst>
          </p:cNvPr>
          <p:cNvSpPr>
            <a:spLocks noGrp="1"/>
          </p:cNvSpPr>
          <p:nvPr>
            <p:ph type="title"/>
          </p:nvPr>
        </p:nvSpPr>
        <p:spPr/>
        <p:txBody>
          <a:bodyPr/>
          <a:lstStyle/>
          <a:p>
            <a:r>
              <a:rPr lang="en-US" spc="-1">
                <a:latin typeface="Arial"/>
                <a:ea typeface="ＭＳ Ｐゴシック"/>
              </a:rPr>
              <a:t>Excursus: Boosting</a:t>
            </a:r>
            <a:br>
              <a:rPr lang="en-US" b="0" spc="-1">
                <a:latin typeface="Arial"/>
              </a:rPr>
            </a:br>
            <a:endParaRPr lang="en-US"/>
          </a:p>
        </p:txBody>
      </p:sp>
      <p:sp>
        <p:nvSpPr>
          <p:cNvPr id="3" name="Inhaltsplatzhalter 2">
            <a:extLst>
              <a:ext uri="{FF2B5EF4-FFF2-40B4-BE49-F238E27FC236}">
                <a16:creationId xmlns:a16="http://schemas.microsoft.com/office/drawing/2014/main" id="{3A157689-0A6B-4BA2-AEF7-5CB5A84ED02A}"/>
              </a:ext>
            </a:extLst>
          </p:cNvPr>
          <p:cNvSpPr>
            <a:spLocks noGrp="1"/>
          </p:cNvSpPr>
          <p:nvPr>
            <p:ph idx="1"/>
          </p:nvPr>
        </p:nvSpPr>
        <p:spPr>
          <a:xfrm>
            <a:off x="627063" y="1440000"/>
            <a:ext cx="8208962" cy="368820"/>
          </a:xfrm>
        </p:spPr>
        <p:txBody>
          <a:bodyPr/>
          <a:lstStyle/>
          <a:p>
            <a:pPr>
              <a:lnSpc>
                <a:spcPct val="100000"/>
              </a:lnSpc>
              <a:spcBef>
                <a:spcPts val="901"/>
              </a:spcBef>
            </a:pPr>
            <a:r>
              <a:rPr lang="en-US" spc="-1">
                <a:solidFill>
                  <a:srgbClr val="000000"/>
                </a:solidFill>
                <a:latin typeface="Arial"/>
                <a:ea typeface="ＭＳ Ｐゴシック"/>
              </a:rPr>
              <a:t>Improve a Decision Tree by running it multiple times on </a:t>
            </a:r>
            <a:r>
              <a:rPr lang="en-US" b="1" spc="-1">
                <a:solidFill>
                  <a:srgbClr val="000000"/>
                </a:solidFill>
                <a:latin typeface="Arial"/>
                <a:ea typeface="ＭＳ Ｐゴシック"/>
              </a:rPr>
              <a:t>weighted</a:t>
            </a:r>
            <a:r>
              <a:rPr lang="en-US" spc="-1">
                <a:solidFill>
                  <a:srgbClr val="000000"/>
                </a:solidFill>
                <a:latin typeface="Arial"/>
                <a:ea typeface="ＭＳ Ｐゴシック"/>
              </a:rPr>
              <a:t> training data.</a:t>
            </a:r>
            <a:endParaRPr lang="en-US" spc="-1">
              <a:latin typeface="Arial"/>
            </a:endParaRPr>
          </a:p>
          <a:p>
            <a:pPr>
              <a:lnSpc>
                <a:spcPct val="100000"/>
              </a:lnSpc>
              <a:spcBef>
                <a:spcPts val="601"/>
              </a:spcBef>
            </a:pPr>
            <a:endParaRPr lang="en-US" spc="-1">
              <a:latin typeface="Arial"/>
            </a:endParaRPr>
          </a:p>
          <a:p>
            <a:pPr>
              <a:lnSpc>
                <a:spcPct val="100000"/>
              </a:lnSpc>
              <a:spcBef>
                <a:spcPts val="901"/>
              </a:spcBef>
            </a:pPr>
            <a:endParaRPr lang="en-US" spc="-1">
              <a:latin typeface="Arial"/>
            </a:endParaRPr>
          </a:p>
          <a:p>
            <a:endParaRPr lang="en-US"/>
          </a:p>
        </p:txBody>
      </p:sp>
      <p:sp>
        <p:nvSpPr>
          <p:cNvPr id="4" name="Textfeld 3">
            <a:extLst>
              <a:ext uri="{FF2B5EF4-FFF2-40B4-BE49-F238E27FC236}">
                <a16:creationId xmlns:a16="http://schemas.microsoft.com/office/drawing/2014/main" id="{42F0D605-7544-4850-AEE2-968095D3782B}"/>
              </a:ext>
            </a:extLst>
          </p:cNvPr>
          <p:cNvSpPr txBox="1"/>
          <p:nvPr/>
        </p:nvSpPr>
        <p:spPr>
          <a:xfrm>
            <a:off x="627063" y="2024844"/>
            <a:ext cx="4500004" cy="4140460"/>
          </a:xfrm>
          <a:prstGeom prst="rect">
            <a:avLst/>
          </a:prstGeom>
          <a:noFill/>
        </p:spPr>
        <p:txBody>
          <a:bodyPr wrap="square" lIns="0" tIns="0" rIns="0" bIns="0" rtlCol="0">
            <a:noAutofit/>
          </a:bodyPr>
          <a:lstStyle/>
          <a:p>
            <a:pPr>
              <a:lnSpc>
                <a:spcPct val="100000"/>
              </a:lnSpc>
              <a:spcBef>
                <a:spcPts val="601"/>
              </a:spcBef>
            </a:pPr>
            <a:r>
              <a:rPr lang="en-US" sz="1600" b="1" spc="-1">
                <a:solidFill>
                  <a:srgbClr val="000000"/>
                </a:solidFill>
                <a:latin typeface="Arial"/>
                <a:ea typeface="ＭＳ Ｐゴシック"/>
              </a:rPr>
              <a:t>Iteratively</a:t>
            </a:r>
            <a:r>
              <a:rPr lang="en-US" sz="1600" spc="-1">
                <a:solidFill>
                  <a:srgbClr val="000000"/>
                </a:solidFill>
                <a:latin typeface="Arial"/>
                <a:ea typeface="ＭＳ Ｐゴシック"/>
              </a:rPr>
              <a:t>:</a:t>
            </a:r>
          </a:p>
          <a:p>
            <a:pPr marL="342900" indent="-342900">
              <a:spcBef>
                <a:spcPts val="601"/>
              </a:spcBef>
              <a:buFont typeface="+mj-lt"/>
              <a:buAutoNum type="arabicParenR"/>
            </a:pPr>
            <a:r>
              <a:rPr lang="en-US" sz="1600" spc="-1">
                <a:solidFill>
                  <a:srgbClr val="000000"/>
                </a:solidFill>
                <a:latin typeface="Arial"/>
                <a:ea typeface="ＭＳ Ｐゴシック"/>
              </a:rPr>
              <a:t>draw a sample from data with replacement. In first iteration each data point has equal likeliness to be chosen</a:t>
            </a:r>
          </a:p>
          <a:p>
            <a:pPr marL="342900" indent="-342900">
              <a:lnSpc>
                <a:spcPct val="100000"/>
              </a:lnSpc>
              <a:spcBef>
                <a:spcPts val="601"/>
              </a:spcBef>
              <a:buFont typeface="+mj-lt"/>
              <a:buAutoNum type="arabicParenR"/>
            </a:pPr>
            <a:r>
              <a:rPr lang="en-US" sz="1600" spc="-1">
                <a:solidFill>
                  <a:srgbClr val="000000"/>
                </a:solidFill>
                <a:latin typeface="Arial"/>
                <a:ea typeface="ＭＳ Ｐゴシック"/>
              </a:rPr>
              <a:t>grow the Tree from sample</a:t>
            </a:r>
          </a:p>
          <a:p>
            <a:pPr marL="342900" indent="-342900">
              <a:lnSpc>
                <a:spcPct val="100000"/>
              </a:lnSpc>
              <a:spcBef>
                <a:spcPts val="601"/>
              </a:spcBef>
              <a:buFont typeface="+mj-lt"/>
              <a:buAutoNum type="arabicParenR"/>
            </a:pPr>
            <a:r>
              <a:rPr lang="en-US" sz="1600" spc="-1">
                <a:solidFill>
                  <a:srgbClr val="000000"/>
                </a:solidFill>
                <a:latin typeface="Arial"/>
                <a:ea typeface="ＭＳ Ｐゴシック"/>
              </a:rPr>
              <a:t>evaluate which data points in training data were incorrectly labeled</a:t>
            </a:r>
          </a:p>
          <a:p>
            <a:pPr marL="742950" lvl="1" indent="-285750">
              <a:spcBef>
                <a:spcPts val="601"/>
              </a:spcBef>
              <a:buFont typeface="Wingdings" panose="05000000000000000000" pitchFamily="2" charset="2"/>
              <a:buChar char="Ø"/>
            </a:pPr>
            <a:r>
              <a:rPr lang="en-US" sz="1600" spc="-1">
                <a:solidFill>
                  <a:srgbClr val="000000"/>
                </a:solidFill>
                <a:latin typeface="Arial"/>
                <a:ea typeface="ＭＳ Ｐゴシック"/>
                <a:sym typeface="Wingdings" panose="05000000000000000000" pitchFamily="2" charset="2"/>
              </a:rPr>
              <a:t>these data points get weighted higher </a:t>
            </a:r>
          </a:p>
          <a:p>
            <a:pPr marL="742950" lvl="1" indent="-285750">
              <a:spcBef>
                <a:spcPts val="601"/>
              </a:spcBef>
              <a:buFont typeface="Wingdings" panose="05000000000000000000" pitchFamily="2" charset="2"/>
              <a:buChar char="Ø"/>
            </a:pPr>
            <a:r>
              <a:rPr lang="en-US" sz="1600" spc="-1">
                <a:solidFill>
                  <a:srgbClr val="000000"/>
                </a:solidFill>
                <a:latin typeface="Arial"/>
                <a:ea typeface="ＭＳ Ｐゴシック"/>
                <a:sym typeface="Wingdings" panose="05000000000000000000" pitchFamily="2" charset="2"/>
              </a:rPr>
              <a:t>thus more likely to be chosen in next sample drawing</a:t>
            </a:r>
            <a:endParaRPr lang="en-US" sz="1600" spc="-1">
              <a:latin typeface="Arial"/>
            </a:endParaRPr>
          </a:p>
          <a:p>
            <a:r>
              <a:rPr lang="en-US" sz="1600" b="1" spc="-1">
                <a:solidFill>
                  <a:srgbClr val="000000"/>
                </a:solidFill>
                <a:latin typeface="Arial"/>
                <a:ea typeface="ＭＳ Ｐゴシック"/>
              </a:rPr>
              <a:t>In the end</a:t>
            </a:r>
            <a:r>
              <a:rPr lang="en-US" sz="1600" spc="-1">
                <a:solidFill>
                  <a:srgbClr val="000000"/>
                </a:solidFill>
                <a:latin typeface="Arial"/>
                <a:ea typeface="ＭＳ Ｐゴシック"/>
              </a:rPr>
              <a:t>: </a:t>
            </a:r>
          </a:p>
          <a:p>
            <a:pPr marL="342900" indent="-342900">
              <a:buAutoNum type="arabicParenR" startAt="4"/>
            </a:pPr>
            <a:r>
              <a:rPr lang="en-US" sz="1600" spc="-1">
                <a:solidFill>
                  <a:srgbClr val="000000"/>
                </a:solidFill>
                <a:latin typeface="Arial"/>
                <a:ea typeface="ＭＳ Ｐゴシック"/>
              </a:rPr>
              <a:t>aggregate results of all trees for overall</a:t>
            </a:r>
          </a:p>
          <a:p>
            <a:pPr>
              <a:spcBef>
                <a:spcPts val="0"/>
              </a:spcBef>
            </a:pPr>
            <a:r>
              <a:rPr lang="en-US" sz="1600" spc="-1">
                <a:solidFill>
                  <a:srgbClr val="000000"/>
                </a:solidFill>
                <a:latin typeface="Arial"/>
                <a:ea typeface="ＭＳ Ｐゴシック"/>
              </a:rPr>
              <a:t>      result</a:t>
            </a:r>
            <a:endParaRPr lang="en-US" sz="1600" spc="-1">
              <a:latin typeface="Arial"/>
            </a:endParaRPr>
          </a:p>
        </p:txBody>
      </p:sp>
      <p:pic>
        <p:nvPicPr>
          <p:cNvPr id="5" name="Grafik 388">
            <a:extLst>
              <a:ext uri="{FF2B5EF4-FFF2-40B4-BE49-F238E27FC236}">
                <a16:creationId xmlns:a16="http://schemas.microsoft.com/office/drawing/2014/main" id="{ED8AF7AC-2ED7-4D83-9222-4CF614D26E77}"/>
              </a:ext>
            </a:extLst>
          </p:cNvPr>
          <p:cNvPicPr/>
          <p:nvPr/>
        </p:nvPicPr>
        <p:blipFill>
          <a:blip r:embed="rId2"/>
          <a:stretch/>
        </p:blipFill>
        <p:spPr>
          <a:xfrm>
            <a:off x="5379095" y="2141916"/>
            <a:ext cx="6336704" cy="3771360"/>
          </a:xfrm>
          <a:prstGeom prst="rect">
            <a:avLst/>
          </a:prstGeom>
          <a:ln>
            <a:noFill/>
          </a:ln>
        </p:spPr>
      </p:pic>
    </p:spTree>
    <p:extLst>
      <p:ext uri="{BB962C8B-B14F-4D97-AF65-F5344CB8AC3E}">
        <p14:creationId xmlns:p14="http://schemas.microsoft.com/office/powerpoint/2010/main" val="34188682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D1616454-2EB8-4CB9-BF01-D6FB99A1EA22}"/>
              </a:ext>
            </a:extLst>
          </p:cNvPr>
          <p:cNvSpPr>
            <a:spLocks noGrp="1"/>
          </p:cNvSpPr>
          <p:nvPr>
            <p:ph type="title"/>
          </p:nvPr>
        </p:nvSpPr>
        <p:spPr/>
        <p:txBody>
          <a:bodyPr/>
          <a:lstStyle/>
          <a:p>
            <a:r>
              <a:rPr lang="en-US" spc="-1">
                <a:latin typeface="Arial"/>
                <a:ea typeface="ＭＳ Ｐゴシック"/>
              </a:rPr>
              <a:t>Decision Tree Algorithms: Sum up</a:t>
            </a:r>
            <a:endParaRPr lang="en-US"/>
          </a:p>
        </p:txBody>
      </p:sp>
      <p:sp>
        <p:nvSpPr>
          <p:cNvPr id="5" name="Inhaltsplatzhalter 4">
            <a:extLst>
              <a:ext uri="{FF2B5EF4-FFF2-40B4-BE49-F238E27FC236}">
                <a16:creationId xmlns:a16="http://schemas.microsoft.com/office/drawing/2014/main" id="{05FF1F90-AD84-4DCB-B285-E6FFDC351002}"/>
              </a:ext>
            </a:extLst>
          </p:cNvPr>
          <p:cNvSpPr>
            <a:spLocks noGrp="1"/>
          </p:cNvSpPr>
          <p:nvPr>
            <p:ph idx="1"/>
          </p:nvPr>
        </p:nvSpPr>
        <p:spPr>
          <a:xfrm>
            <a:off x="627063" y="1440000"/>
            <a:ext cx="10692692" cy="4752000"/>
          </a:xfrm>
        </p:spPr>
        <p:txBody>
          <a:bodyPr/>
          <a:lstStyle/>
          <a:p>
            <a:pPr marL="360">
              <a:lnSpc>
                <a:spcPct val="150000"/>
              </a:lnSpc>
              <a:spcBef>
                <a:spcPts val="901"/>
              </a:spcBef>
              <a:buClr>
                <a:srgbClr val="000000"/>
              </a:buClr>
            </a:pPr>
            <a:r>
              <a:rPr lang="en-US" spc="-1">
                <a:solidFill>
                  <a:srgbClr val="000000"/>
                </a:solidFill>
                <a:latin typeface="Arial"/>
                <a:ea typeface="ＭＳ Ｐゴシック"/>
              </a:rPr>
              <a:t>Decision Trees itself are rather weak ML algorithms</a:t>
            </a:r>
            <a:endParaRPr lang="en-US" spc="-1">
              <a:latin typeface="Arial"/>
            </a:endParaRPr>
          </a:p>
          <a:p>
            <a:pPr marL="360">
              <a:lnSpc>
                <a:spcPct val="150000"/>
              </a:lnSpc>
              <a:spcBef>
                <a:spcPts val="901"/>
              </a:spcBef>
              <a:buClr>
                <a:srgbClr val="000000"/>
              </a:buClr>
            </a:pPr>
            <a:r>
              <a:rPr lang="en-US" spc="-1">
                <a:solidFill>
                  <a:srgbClr val="000000"/>
                </a:solidFill>
                <a:latin typeface="Arial"/>
                <a:ea typeface="ＭＳ Ｐゴシック"/>
              </a:rPr>
              <a:t>However, with little tricks they can become VERY powerful and at the same time computationally efficient (compared to NNs):</a:t>
            </a:r>
          </a:p>
          <a:p>
            <a:pPr marL="285750" indent="-285750">
              <a:lnSpc>
                <a:spcPct val="150000"/>
              </a:lnSpc>
              <a:spcBef>
                <a:spcPts val="901"/>
              </a:spcBef>
              <a:buFont typeface="Arial" panose="020B0604020202020204" pitchFamily="34" charset="0"/>
              <a:buChar char="•"/>
            </a:pPr>
            <a:r>
              <a:rPr lang="en-US" spc="-1">
                <a:solidFill>
                  <a:srgbClr val="000000"/>
                </a:solidFill>
                <a:latin typeface="Arial"/>
                <a:ea typeface="ＭＳ Ｐゴシック"/>
              </a:rPr>
              <a:t>Random Forests (focus this training):</a:t>
            </a:r>
          </a:p>
          <a:p>
            <a:pPr marL="465138" lvl="1" indent="-285750">
              <a:lnSpc>
                <a:spcPct val="150000"/>
              </a:lnSpc>
              <a:spcBef>
                <a:spcPts val="901"/>
              </a:spcBef>
              <a:buFont typeface="Arial" panose="020B0604020202020204" pitchFamily="34" charset="0"/>
              <a:buChar char="•"/>
            </a:pPr>
            <a:r>
              <a:rPr lang="en-US" spc="-1">
                <a:solidFill>
                  <a:srgbClr val="000000"/>
                </a:solidFill>
                <a:latin typeface="Arial"/>
                <a:ea typeface="ＭＳ Ｐゴシック"/>
              </a:rPr>
              <a:t>Bagging</a:t>
            </a:r>
          </a:p>
          <a:p>
            <a:pPr marL="465138" lvl="1" indent="-285750">
              <a:lnSpc>
                <a:spcPct val="150000"/>
              </a:lnSpc>
              <a:spcBef>
                <a:spcPts val="901"/>
              </a:spcBef>
              <a:buFont typeface="Arial" panose="020B0604020202020204" pitchFamily="34" charset="0"/>
              <a:buChar char="•"/>
            </a:pPr>
            <a:r>
              <a:rPr lang="en-US" spc="-1">
                <a:solidFill>
                  <a:srgbClr val="000000"/>
                </a:solidFill>
                <a:latin typeface="Arial"/>
                <a:ea typeface="ＭＳ Ｐゴシック"/>
              </a:rPr>
              <a:t>Random feature selection</a:t>
            </a:r>
          </a:p>
          <a:p>
            <a:pPr marL="465138" lvl="1" indent="-285750">
              <a:lnSpc>
                <a:spcPct val="150000"/>
              </a:lnSpc>
              <a:spcBef>
                <a:spcPts val="901"/>
              </a:spcBef>
              <a:buFont typeface="Arial" panose="020B0604020202020204" pitchFamily="34" charset="0"/>
              <a:buChar char="•"/>
            </a:pPr>
            <a:r>
              <a:rPr lang="en-US" spc="-1">
                <a:solidFill>
                  <a:srgbClr val="000000"/>
                </a:solidFill>
                <a:latin typeface="Arial"/>
                <a:ea typeface="ＭＳ Ｐゴシック"/>
              </a:rPr>
              <a:t>-&gt; fully grown trees (high variance, low bias): average different overfitted trees</a:t>
            </a:r>
          </a:p>
          <a:p>
            <a:pPr marL="285750" indent="-285750">
              <a:lnSpc>
                <a:spcPct val="150000"/>
              </a:lnSpc>
              <a:spcBef>
                <a:spcPts val="901"/>
              </a:spcBef>
              <a:buFont typeface="Arial" panose="020B0604020202020204" pitchFamily="34" charset="0"/>
              <a:buChar char="•"/>
            </a:pPr>
            <a:r>
              <a:rPr lang="en-US" spc="-1">
                <a:solidFill>
                  <a:srgbClr val="000000"/>
                </a:solidFill>
                <a:latin typeface="Arial"/>
                <a:ea typeface="ＭＳ Ｐゴシック"/>
              </a:rPr>
              <a:t>Boosting (considered for future trainings)</a:t>
            </a:r>
          </a:p>
          <a:p>
            <a:pPr marL="465138" lvl="1" indent="-285750">
              <a:lnSpc>
                <a:spcPct val="150000"/>
              </a:lnSpc>
              <a:spcBef>
                <a:spcPts val="901"/>
              </a:spcBef>
              <a:buFont typeface="Arial" panose="020B0604020202020204" pitchFamily="34" charset="0"/>
              <a:buChar char="•"/>
            </a:pPr>
            <a:r>
              <a:rPr lang="en-US" spc="-1">
                <a:solidFill>
                  <a:srgbClr val="000000"/>
                </a:solidFill>
                <a:latin typeface="Arial"/>
                <a:ea typeface="ＭＳ Ｐゴシック"/>
              </a:rPr>
              <a:t>-&gt; shallow trees (high bias, low variance): sequentially reduce bias</a:t>
            </a:r>
            <a:endParaRPr lang="en-US" spc="-1">
              <a:latin typeface="Arial"/>
            </a:endParaRPr>
          </a:p>
          <a:p>
            <a:pPr>
              <a:lnSpc>
                <a:spcPct val="150000"/>
              </a:lnSpc>
              <a:spcBef>
                <a:spcPts val="901"/>
              </a:spcBef>
            </a:pPr>
            <a:r>
              <a:rPr lang="en-US" spc="-1">
                <a:solidFill>
                  <a:srgbClr val="000000"/>
                </a:solidFill>
                <a:latin typeface="Arial"/>
                <a:ea typeface="ＭＳ Ｐゴシック"/>
              </a:rPr>
              <a:t>			</a:t>
            </a:r>
            <a:endParaRPr lang="en-US"/>
          </a:p>
        </p:txBody>
      </p:sp>
    </p:spTree>
    <p:extLst>
      <p:ext uri="{BB962C8B-B14F-4D97-AF65-F5344CB8AC3E}">
        <p14:creationId xmlns:p14="http://schemas.microsoft.com/office/powerpoint/2010/main" val="10155842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err="1"/>
              <a:t>Overview</a:t>
            </a:r>
            <a:r>
              <a:rPr lang="de-DE"/>
              <a:t>: </a:t>
            </a:r>
            <a:r>
              <a:rPr lang="de-DE" err="1"/>
              <a:t>what</a:t>
            </a:r>
            <a:r>
              <a:rPr lang="de-DE"/>
              <a:t> </a:t>
            </a:r>
            <a:r>
              <a:rPr lang="de-DE" err="1"/>
              <a:t>we</a:t>
            </a:r>
            <a:r>
              <a:rPr lang="de-DE"/>
              <a:t> </a:t>
            </a:r>
            <a:r>
              <a:rPr lang="de-DE" err="1"/>
              <a:t>achieved</a:t>
            </a:r>
            <a:r>
              <a:rPr lang="de-DE"/>
              <a:t> so </a:t>
            </a:r>
            <a:r>
              <a:rPr lang="de-DE" err="1"/>
              <a:t>far</a:t>
            </a:r>
            <a:endParaRPr lang="de-DE"/>
          </a:p>
        </p:txBody>
      </p:sp>
      <p:graphicFrame>
        <p:nvGraphicFramePr>
          <p:cNvPr id="8" name="Tabelle 8">
            <a:extLst>
              <a:ext uri="{FF2B5EF4-FFF2-40B4-BE49-F238E27FC236}">
                <a16:creationId xmlns:a16="http://schemas.microsoft.com/office/drawing/2014/main" id="{5F58DBC5-4155-48F7-BDFF-6C068F155D8D}"/>
              </a:ext>
            </a:extLst>
          </p:cNvPr>
          <p:cNvGraphicFramePr>
            <a:graphicFrameLocks noGrp="1"/>
          </p:cNvGraphicFramePr>
          <p:nvPr>
            <p:extLst>
              <p:ext uri="{D42A27DB-BD31-4B8C-83A1-F6EECF244321}">
                <p14:modId xmlns:p14="http://schemas.microsoft.com/office/powerpoint/2010/main" val="2216886792"/>
              </p:ext>
            </p:extLst>
          </p:nvPr>
        </p:nvGraphicFramePr>
        <p:xfrm>
          <a:off x="626567" y="1601995"/>
          <a:ext cx="10693188" cy="2839720"/>
        </p:xfrm>
        <a:graphic>
          <a:graphicData uri="http://schemas.openxmlformats.org/drawingml/2006/table">
            <a:tbl>
              <a:tblPr firstRow="1" bandRow="1">
                <a:tableStyleId>{5C22544A-7EE6-4342-B048-85BDC9FD1C3A}</a:tableStyleId>
              </a:tblPr>
              <a:tblGrid>
                <a:gridCol w="1782198">
                  <a:extLst>
                    <a:ext uri="{9D8B030D-6E8A-4147-A177-3AD203B41FA5}">
                      <a16:colId xmlns:a16="http://schemas.microsoft.com/office/drawing/2014/main" val="2087970704"/>
                    </a:ext>
                  </a:extLst>
                </a:gridCol>
                <a:gridCol w="1437070">
                  <a:extLst>
                    <a:ext uri="{9D8B030D-6E8A-4147-A177-3AD203B41FA5}">
                      <a16:colId xmlns:a16="http://schemas.microsoft.com/office/drawing/2014/main" val="1708460055"/>
                    </a:ext>
                  </a:extLst>
                </a:gridCol>
                <a:gridCol w="2127326">
                  <a:extLst>
                    <a:ext uri="{9D8B030D-6E8A-4147-A177-3AD203B41FA5}">
                      <a16:colId xmlns:a16="http://schemas.microsoft.com/office/drawing/2014/main" val="1810983359"/>
                    </a:ext>
                  </a:extLst>
                </a:gridCol>
                <a:gridCol w="1975662">
                  <a:extLst>
                    <a:ext uri="{9D8B030D-6E8A-4147-A177-3AD203B41FA5}">
                      <a16:colId xmlns:a16="http://schemas.microsoft.com/office/drawing/2014/main" val="4033084280"/>
                    </a:ext>
                  </a:extLst>
                </a:gridCol>
                <a:gridCol w="1588734">
                  <a:extLst>
                    <a:ext uri="{9D8B030D-6E8A-4147-A177-3AD203B41FA5}">
                      <a16:colId xmlns:a16="http://schemas.microsoft.com/office/drawing/2014/main" val="4045622136"/>
                    </a:ext>
                  </a:extLst>
                </a:gridCol>
                <a:gridCol w="1782198">
                  <a:extLst>
                    <a:ext uri="{9D8B030D-6E8A-4147-A177-3AD203B41FA5}">
                      <a16:colId xmlns:a16="http://schemas.microsoft.com/office/drawing/2014/main" val="3988611160"/>
                    </a:ext>
                  </a:extLst>
                </a:gridCol>
              </a:tblGrid>
              <a:tr h="370840">
                <a:tc>
                  <a:txBody>
                    <a:bodyPr/>
                    <a:lstStyle/>
                    <a:p>
                      <a:endParaRPr lang="de-DE"/>
                    </a:p>
                  </a:txBody>
                  <a:tcPr/>
                </a:tc>
                <a:tc>
                  <a:txBody>
                    <a:bodyPr/>
                    <a:lstStyle/>
                    <a:p>
                      <a:r>
                        <a:rPr lang="de-DE"/>
                        <a:t>Target </a:t>
                      </a:r>
                      <a:r>
                        <a:rPr lang="de-DE" err="1"/>
                        <a:t>values</a:t>
                      </a:r>
                      <a:endParaRPr lang="de-DE"/>
                    </a:p>
                  </a:txBody>
                  <a:tcPr/>
                </a:tc>
                <a:tc>
                  <a:txBody>
                    <a:bodyPr/>
                    <a:lstStyle/>
                    <a:p>
                      <a:r>
                        <a:rPr lang="de-DE"/>
                        <a:t>Loss </a:t>
                      </a:r>
                      <a:r>
                        <a:rPr lang="de-DE" err="1"/>
                        <a:t>function</a:t>
                      </a:r>
                      <a:endParaRPr lang="de-DE"/>
                    </a:p>
                  </a:txBody>
                  <a:tcPr/>
                </a:tc>
                <a:tc>
                  <a:txBody>
                    <a:bodyPr/>
                    <a:lstStyle/>
                    <a:p>
                      <a:r>
                        <a:rPr lang="de-DE"/>
                        <a:t>Error </a:t>
                      </a:r>
                      <a:r>
                        <a:rPr lang="de-DE" err="1"/>
                        <a:t>metric</a:t>
                      </a:r>
                      <a:endParaRPr lang="de-DE"/>
                    </a:p>
                  </a:txBody>
                  <a:tcPr>
                    <a:lnR w="12700" cap="flat" cmpd="sng" algn="ctr">
                      <a:solidFill>
                        <a:schemeClr val="tx1"/>
                      </a:solidFill>
                      <a:prstDash val="solid"/>
                      <a:round/>
                      <a:headEnd type="none" w="med" len="med"/>
                      <a:tailEnd type="none" w="med" len="med"/>
                    </a:lnR>
                  </a:tcPr>
                </a:tc>
                <a:tc>
                  <a:txBody>
                    <a:bodyPr/>
                    <a:lstStyle/>
                    <a:p>
                      <a:r>
                        <a:rPr lang="de-DE"/>
                        <a:t>Act </a:t>
                      </a:r>
                      <a:r>
                        <a:rPr lang="de-DE" err="1"/>
                        <a:t>function</a:t>
                      </a:r>
                      <a:r>
                        <a:rPr lang="de-DE"/>
                        <a:t> last </a:t>
                      </a:r>
                      <a:r>
                        <a:rPr lang="de-DE" err="1"/>
                        <a:t>layer</a:t>
                      </a:r>
                      <a:endParaRPr lang="de-DE"/>
                    </a:p>
                  </a:txBody>
                  <a:tcPr>
                    <a:lnL w="12700" cap="flat" cmpd="sng" algn="ctr">
                      <a:solidFill>
                        <a:schemeClr val="tx1"/>
                      </a:solidFill>
                      <a:prstDash val="solid"/>
                      <a:round/>
                      <a:headEnd type="none" w="med" len="med"/>
                      <a:tailEnd type="none" w="med" len="med"/>
                    </a:lnL>
                  </a:tcPr>
                </a:tc>
                <a:tc>
                  <a:txBody>
                    <a:bodyPr/>
                    <a:lstStyle/>
                    <a:p>
                      <a:r>
                        <a:rPr lang="de-DE"/>
                        <a:t>Act </a:t>
                      </a:r>
                      <a:r>
                        <a:rPr lang="de-DE" err="1"/>
                        <a:t>func</a:t>
                      </a:r>
                      <a:r>
                        <a:rPr lang="de-DE"/>
                        <a:t> </a:t>
                      </a:r>
                      <a:r>
                        <a:rPr lang="de-DE" err="1"/>
                        <a:t>hidden</a:t>
                      </a:r>
                      <a:r>
                        <a:rPr lang="de-DE"/>
                        <a:t> </a:t>
                      </a:r>
                      <a:r>
                        <a:rPr lang="de-DE" err="1"/>
                        <a:t>layers</a:t>
                      </a:r>
                      <a:endParaRPr lang="de-DE"/>
                    </a:p>
                  </a:txBody>
                  <a:tcPr/>
                </a:tc>
                <a:extLst>
                  <a:ext uri="{0D108BD9-81ED-4DB2-BD59-A6C34878D82A}">
                    <a16:rowId xmlns:a16="http://schemas.microsoft.com/office/drawing/2014/main" val="1837334432"/>
                  </a:ext>
                </a:extLst>
              </a:tr>
              <a:tr h="370840">
                <a:tc>
                  <a:txBody>
                    <a:bodyPr/>
                    <a:lstStyle/>
                    <a:p>
                      <a:r>
                        <a:rPr lang="de-DE"/>
                        <a:t>Regression</a:t>
                      </a:r>
                    </a:p>
                  </a:txBody>
                  <a:tcPr>
                    <a:lnB w="12700" cap="flat" cmpd="sng" algn="ctr">
                      <a:solidFill>
                        <a:schemeClr val="tx1"/>
                      </a:solidFill>
                      <a:prstDash val="solid"/>
                      <a:round/>
                      <a:headEnd type="none" w="med" len="med"/>
                      <a:tailEnd type="none" w="med" len="med"/>
                    </a:lnB>
                  </a:tcPr>
                </a:tc>
                <a:tc>
                  <a:txBody>
                    <a:bodyPr/>
                    <a:lstStyle/>
                    <a:p>
                      <a:r>
                        <a:rPr lang="de-DE" err="1"/>
                        <a:t>Continous</a:t>
                      </a:r>
                      <a:endParaRPr lang="de-DE"/>
                    </a:p>
                  </a:txBody>
                  <a:tcPr>
                    <a:lnB w="12700" cap="flat" cmpd="sng" algn="ctr">
                      <a:solidFill>
                        <a:schemeClr val="tx1"/>
                      </a:solidFill>
                      <a:prstDash val="solid"/>
                      <a:round/>
                      <a:headEnd type="none" w="med" len="med"/>
                      <a:tailEnd type="none" w="med" len="med"/>
                    </a:lnB>
                  </a:tcPr>
                </a:tc>
                <a:tc>
                  <a:txBody>
                    <a:bodyPr/>
                    <a:lstStyle/>
                    <a:p>
                      <a:r>
                        <a:rPr lang="de-DE"/>
                        <a:t>MSE, R², MAE,…</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MSE, R², MAE,…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de-DE"/>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endParaRPr lang="de-DE"/>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49673"/>
                  </a:ext>
                </a:extLst>
              </a:tr>
              <a:tr h="370840">
                <a:tc>
                  <a:txBody>
                    <a:bodyPr/>
                    <a:lstStyle/>
                    <a:p>
                      <a:r>
                        <a:rPr lang="de-DE"/>
                        <a:t>Classification</a:t>
                      </a:r>
                    </a:p>
                  </a:txBody>
                  <a:tcPr>
                    <a:lnT w="12700" cap="flat" cmpd="sng" algn="ctr">
                      <a:solidFill>
                        <a:schemeClr val="tx1"/>
                      </a:solidFill>
                      <a:prstDash val="solid"/>
                      <a:round/>
                      <a:headEnd type="none" w="med" len="med"/>
                      <a:tailEnd type="none" w="med" len="med"/>
                    </a:lnT>
                  </a:tcPr>
                </a:tc>
                <a:tc>
                  <a:txBody>
                    <a:bodyPr/>
                    <a:lstStyle/>
                    <a:p>
                      <a:r>
                        <a:rPr lang="de-DE"/>
                        <a:t>Binary</a:t>
                      </a:r>
                    </a:p>
                  </a:txBody>
                  <a:tcPr>
                    <a:lnT w="12700" cap="flat" cmpd="sng" algn="ctr">
                      <a:solidFill>
                        <a:schemeClr val="tx1"/>
                      </a:solidFill>
                      <a:prstDash val="solid"/>
                      <a:round/>
                      <a:headEnd type="none" w="med" len="med"/>
                      <a:tailEnd type="none" w="med" len="med"/>
                    </a:lnT>
                  </a:tcPr>
                </a:tc>
                <a:tc>
                  <a:txBody>
                    <a:bodyPr/>
                    <a:lstStyle/>
                    <a:p>
                      <a:r>
                        <a:rPr lang="de-DE"/>
                        <a:t>Binary </a:t>
                      </a:r>
                      <a:r>
                        <a:rPr lang="de-DE" err="1"/>
                        <a:t>cross</a:t>
                      </a:r>
                      <a:r>
                        <a:rPr lang="de-DE"/>
                        <a:t> </a:t>
                      </a:r>
                      <a:r>
                        <a:rPr lang="de-DE" err="1"/>
                        <a:t>entropy</a:t>
                      </a:r>
                      <a:endParaRPr lang="de-DE"/>
                    </a:p>
                  </a:txBody>
                  <a:tcPr>
                    <a:lnT w="12700" cap="flat" cmpd="sng" algn="ctr">
                      <a:solidFill>
                        <a:schemeClr val="tx1"/>
                      </a:solidFill>
                      <a:prstDash val="solid"/>
                      <a:round/>
                      <a:headEnd type="none" w="med" len="med"/>
                      <a:tailEnd type="none" w="med" len="med"/>
                    </a:lnT>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endParaRPr lang="de-DE"/>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endParaRPr lang="de-DE"/>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53496704"/>
                  </a:ext>
                </a:extLst>
              </a:tr>
              <a:tr h="370840">
                <a:tc>
                  <a:txBody>
                    <a:bodyPr/>
                    <a:lstStyle/>
                    <a:p>
                      <a:endParaRPr lang="de-DE"/>
                    </a:p>
                  </a:txBody>
                  <a:tcPr/>
                </a:tc>
                <a:tc>
                  <a:txBody>
                    <a:bodyPr/>
                    <a:lstStyle/>
                    <a:p>
                      <a:r>
                        <a:rPr lang="de-DE"/>
                        <a:t>multiple </a:t>
                      </a:r>
                      <a:r>
                        <a:rPr lang="de-DE" err="1"/>
                        <a:t>classes</a:t>
                      </a:r>
                      <a:endParaRPr lang="de-DE"/>
                    </a:p>
                  </a:txBody>
                  <a:tcPr/>
                </a:tc>
                <a:tc>
                  <a:txBody>
                    <a:bodyPr/>
                    <a:lstStyle/>
                    <a:p>
                      <a:r>
                        <a:rPr lang="de-DE" err="1"/>
                        <a:t>categorical</a:t>
                      </a:r>
                      <a:r>
                        <a:rPr lang="de-DE"/>
                        <a:t> </a:t>
                      </a:r>
                      <a:r>
                        <a:rPr lang="de-DE" err="1"/>
                        <a:t>cross</a:t>
                      </a:r>
                      <a:r>
                        <a:rPr lang="de-DE"/>
                        <a:t> </a:t>
                      </a:r>
                      <a:r>
                        <a:rPr lang="de-DE" err="1"/>
                        <a:t>entropy</a:t>
                      </a:r>
                      <a:endParaRPr lang="de-DE"/>
                    </a:p>
                  </a:txBody>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tcPr>
                </a:tc>
                <a:tc>
                  <a:txBody>
                    <a:bodyPr/>
                    <a:lstStyle/>
                    <a:p>
                      <a:endParaRPr lang="de-DE"/>
                    </a:p>
                  </a:txBody>
                  <a:tcPr>
                    <a:lnL w="12700" cap="flat" cmpd="sng" algn="ctr">
                      <a:solidFill>
                        <a:schemeClr val="tx1"/>
                      </a:solidFill>
                      <a:prstDash val="solid"/>
                      <a:round/>
                      <a:headEnd type="none" w="med" len="med"/>
                      <a:tailEnd type="none" w="med" len="med"/>
                    </a:lnL>
                  </a:tcPr>
                </a:tc>
                <a:tc>
                  <a:txBody>
                    <a:bodyPr/>
                    <a:lstStyle/>
                    <a:p>
                      <a:endParaRPr lang="de-DE"/>
                    </a:p>
                  </a:txBody>
                  <a:tcPr/>
                </a:tc>
                <a:extLst>
                  <a:ext uri="{0D108BD9-81ED-4DB2-BD59-A6C34878D82A}">
                    <a16:rowId xmlns:a16="http://schemas.microsoft.com/office/drawing/2014/main" val="4206115666"/>
                  </a:ext>
                </a:extLst>
              </a:tr>
            </a:tbl>
          </a:graphicData>
        </a:graphic>
      </p:graphicFrame>
      <p:graphicFrame>
        <p:nvGraphicFramePr>
          <p:cNvPr id="10" name="Tabelle 10">
            <a:extLst>
              <a:ext uri="{FF2B5EF4-FFF2-40B4-BE49-F238E27FC236}">
                <a16:creationId xmlns:a16="http://schemas.microsoft.com/office/drawing/2014/main" id="{1D6B67EA-476B-4CCB-B75D-E65AB8EDAFD8}"/>
              </a:ext>
            </a:extLst>
          </p:cNvPr>
          <p:cNvGraphicFramePr>
            <a:graphicFrameLocks noGrp="1"/>
          </p:cNvGraphicFramePr>
          <p:nvPr/>
        </p:nvGraphicFramePr>
        <p:xfrm>
          <a:off x="624909" y="4603711"/>
          <a:ext cx="10693188" cy="1752600"/>
        </p:xfrm>
        <a:graphic>
          <a:graphicData uri="http://schemas.openxmlformats.org/drawingml/2006/table">
            <a:tbl>
              <a:tblPr firstRow="1" bandRow="1">
                <a:tableStyleId>{5C22544A-7EE6-4342-B048-85BDC9FD1C3A}</a:tableStyleId>
              </a:tblPr>
              <a:tblGrid>
                <a:gridCol w="1801858">
                  <a:extLst>
                    <a:ext uri="{9D8B030D-6E8A-4147-A177-3AD203B41FA5}">
                      <a16:colId xmlns:a16="http://schemas.microsoft.com/office/drawing/2014/main" val="2422419246"/>
                    </a:ext>
                  </a:extLst>
                </a:gridCol>
                <a:gridCol w="3564396">
                  <a:extLst>
                    <a:ext uri="{9D8B030D-6E8A-4147-A177-3AD203B41FA5}">
                      <a16:colId xmlns:a16="http://schemas.microsoft.com/office/drawing/2014/main" val="2997731740"/>
                    </a:ext>
                  </a:extLst>
                </a:gridCol>
                <a:gridCol w="5326934">
                  <a:extLst>
                    <a:ext uri="{9D8B030D-6E8A-4147-A177-3AD203B41FA5}">
                      <a16:colId xmlns:a16="http://schemas.microsoft.com/office/drawing/2014/main" val="666087568"/>
                    </a:ext>
                  </a:extLst>
                </a:gridCol>
              </a:tblGrid>
              <a:tr h="370840">
                <a:tc>
                  <a:txBody>
                    <a:bodyPr/>
                    <a:lstStyle/>
                    <a:p>
                      <a:endParaRPr lang="de-DE"/>
                    </a:p>
                  </a:txBody>
                  <a:tcPr/>
                </a:tc>
                <a:tc>
                  <a:txBody>
                    <a:bodyPr/>
                    <a:lstStyle/>
                    <a:p>
                      <a:r>
                        <a:rPr lang="de-DE" err="1"/>
                        <a:t>Decision</a:t>
                      </a:r>
                      <a:r>
                        <a:rPr lang="de-DE"/>
                        <a:t> </a:t>
                      </a:r>
                      <a:r>
                        <a:rPr lang="de-DE" err="1"/>
                        <a:t>Trees</a:t>
                      </a:r>
                      <a:endParaRPr lang="de-DE"/>
                    </a:p>
                  </a:txBody>
                  <a:tcPr/>
                </a:tc>
                <a:tc>
                  <a:txBody>
                    <a:bodyPr/>
                    <a:lstStyle/>
                    <a:p>
                      <a:r>
                        <a:rPr lang="de-DE" err="1"/>
                        <a:t>Artificial</a:t>
                      </a:r>
                      <a:r>
                        <a:rPr lang="de-DE"/>
                        <a:t> </a:t>
                      </a:r>
                      <a:r>
                        <a:rPr lang="de-DE" err="1"/>
                        <a:t>Neural</a:t>
                      </a:r>
                      <a:r>
                        <a:rPr lang="de-DE"/>
                        <a:t> Nets</a:t>
                      </a:r>
                    </a:p>
                  </a:txBody>
                  <a:tcPr/>
                </a:tc>
                <a:extLst>
                  <a:ext uri="{0D108BD9-81ED-4DB2-BD59-A6C34878D82A}">
                    <a16:rowId xmlns:a16="http://schemas.microsoft.com/office/drawing/2014/main" val="2726745514"/>
                  </a:ext>
                </a:extLst>
              </a:tr>
              <a:tr h="370840">
                <a:tc>
                  <a:txBody>
                    <a:bodyPr/>
                    <a:lstStyle/>
                    <a:p>
                      <a:r>
                        <a:rPr lang="de-DE" err="1"/>
                        <a:t>Tabular</a:t>
                      </a:r>
                      <a:r>
                        <a:rPr lang="de-DE"/>
                        <a:t> </a:t>
                      </a:r>
                      <a:r>
                        <a:rPr lang="de-DE" err="1"/>
                        <a:t>data</a:t>
                      </a:r>
                      <a:endParaRPr lang="de-DE"/>
                    </a:p>
                  </a:txBody>
                  <a:tcPr/>
                </a:tc>
                <a:tc>
                  <a:txBody>
                    <a:bodyPr/>
                    <a:lstStyle/>
                    <a:p>
                      <a:r>
                        <a:rPr lang="de-DE"/>
                        <a:t>Ensemble </a:t>
                      </a:r>
                      <a:r>
                        <a:rPr lang="de-DE" err="1"/>
                        <a:t>methods</a:t>
                      </a:r>
                      <a:r>
                        <a:rPr lang="de-DE"/>
                        <a:t>: Random Forest, </a:t>
                      </a:r>
                      <a:r>
                        <a:rPr lang="de-DE" err="1"/>
                        <a:t>Boosting</a:t>
                      </a:r>
                      <a:endParaRPr lang="de-DE"/>
                    </a:p>
                  </a:txBody>
                  <a:tcPr/>
                </a:tc>
                <a:tc>
                  <a:txBody>
                    <a:bodyPr/>
                    <a:lstStyle/>
                    <a:p>
                      <a:r>
                        <a:rPr lang="de-DE" err="1"/>
                        <a:t>Starting</a:t>
                      </a:r>
                      <a:r>
                        <a:rPr lang="de-DE"/>
                        <a:t> </a:t>
                      </a:r>
                      <a:r>
                        <a:rPr lang="de-DE" err="1"/>
                        <a:t>from</a:t>
                      </a:r>
                      <a:r>
                        <a:rPr lang="de-DE"/>
                        <a:t> simple </a:t>
                      </a:r>
                      <a:r>
                        <a:rPr lang="de-DE" err="1"/>
                        <a:t>architectures</a:t>
                      </a:r>
                      <a:endParaRPr lang="de-DE"/>
                    </a:p>
                  </a:txBody>
                  <a:tcPr/>
                </a:tc>
                <a:extLst>
                  <a:ext uri="{0D108BD9-81ED-4DB2-BD59-A6C34878D82A}">
                    <a16:rowId xmlns:a16="http://schemas.microsoft.com/office/drawing/2014/main" val="1605544526"/>
                  </a:ext>
                </a:extLst>
              </a:tr>
              <a:tr h="370840">
                <a:tc>
                  <a:txBody>
                    <a:bodyPr/>
                    <a:lstStyle/>
                    <a:p>
                      <a:r>
                        <a:rPr lang="de-DE"/>
                        <a:t>Text</a:t>
                      </a:r>
                    </a:p>
                  </a:txBody>
                  <a:tcPr/>
                </a:tc>
                <a:tc>
                  <a:txBody>
                    <a:bodyPr/>
                    <a:lstStyle/>
                    <a:p>
                      <a:r>
                        <a:rPr lang="de-DE"/>
                        <a:t>-</a:t>
                      </a:r>
                    </a:p>
                  </a:txBody>
                  <a:tcPr/>
                </a:tc>
                <a:tc>
                  <a:txBody>
                    <a:bodyPr/>
                    <a:lstStyle/>
                    <a:p>
                      <a:r>
                        <a:rPr lang="de-DE"/>
                        <a:t>Transformers (</a:t>
                      </a:r>
                      <a:r>
                        <a:rPr lang="de-DE" err="1"/>
                        <a:t>encoding</a:t>
                      </a:r>
                      <a:r>
                        <a:rPr lang="de-DE"/>
                        <a:t>, </a:t>
                      </a:r>
                      <a:r>
                        <a:rPr lang="de-DE" err="1"/>
                        <a:t>decoding</a:t>
                      </a:r>
                      <a:r>
                        <a:rPr lang="de-DE"/>
                        <a:t>, </a:t>
                      </a:r>
                      <a:r>
                        <a:rPr lang="de-DE" err="1"/>
                        <a:t>attention</a:t>
                      </a:r>
                      <a:r>
                        <a:rPr lang="de-DE"/>
                        <a:t>)</a:t>
                      </a:r>
                    </a:p>
                  </a:txBody>
                  <a:tcPr/>
                </a:tc>
                <a:extLst>
                  <a:ext uri="{0D108BD9-81ED-4DB2-BD59-A6C34878D82A}">
                    <a16:rowId xmlns:a16="http://schemas.microsoft.com/office/drawing/2014/main" val="2472260996"/>
                  </a:ext>
                </a:extLst>
              </a:tr>
              <a:tr h="370840">
                <a:tc>
                  <a:txBody>
                    <a:bodyPr/>
                    <a:lstStyle/>
                    <a:p>
                      <a:r>
                        <a:rPr lang="de-DE"/>
                        <a:t>Images</a:t>
                      </a:r>
                    </a:p>
                  </a:txBody>
                  <a:tcPr/>
                </a:tc>
                <a:tc>
                  <a:txBody>
                    <a:bodyPr/>
                    <a:lstStyle/>
                    <a:p>
                      <a:r>
                        <a:rPr lang="de-DE"/>
                        <a:t>-</a:t>
                      </a:r>
                    </a:p>
                  </a:txBody>
                  <a:tcPr/>
                </a:tc>
                <a:tc>
                  <a:txBody>
                    <a:bodyPr/>
                    <a:lstStyle/>
                    <a:p>
                      <a:r>
                        <a:rPr lang="de-DE"/>
                        <a:t>CNNs</a:t>
                      </a:r>
                    </a:p>
                  </a:txBody>
                  <a:tcPr/>
                </a:tc>
                <a:extLst>
                  <a:ext uri="{0D108BD9-81ED-4DB2-BD59-A6C34878D82A}">
                    <a16:rowId xmlns:a16="http://schemas.microsoft.com/office/drawing/2014/main" val="3245338458"/>
                  </a:ext>
                </a:extLst>
              </a:tr>
            </a:tbl>
          </a:graphicData>
        </a:graphic>
      </p:graphicFrame>
    </p:spTree>
    <p:extLst>
      <p:ext uri="{BB962C8B-B14F-4D97-AF65-F5344CB8AC3E}">
        <p14:creationId xmlns:p14="http://schemas.microsoft.com/office/powerpoint/2010/main" val="2002005286"/>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Elements and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53134" y="4437112"/>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de-DE"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660705156"/>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Grafik 3">
            <a:extLst>
              <a:ext uri="{FF2B5EF4-FFF2-40B4-BE49-F238E27FC236}">
                <a16:creationId xmlns:a16="http://schemas.microsoft.com/office/drawing/2014/main" id="{93ED7858-3210-465F-9084-36473235B904}"/>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4025" y="1715798"/>
            <a:ext cx="3638926" cy="2031734"/>
          </a:xfrm>
          <a:prstGeom prst="rect">
            <a:avLst/>
          </a:prstGeom>
        </p:spPr>
      </p:pic>
      <p:sp>
        <p:nvSpPr>
          <p:cNvPr id="2" name="Titel 1"/>
          <p:cNvSpPr>
            <a:spLocks noGrp="1"/>
          </p:cNvSpPr>
          <p:nvPr>
            <p:ph type="title"/>
          </p:nvPr>
        </p:nvSpPr>
        <p:spPr/>
        <p:txBody>
          <a:bodyPr/>
          <a:lstStyle/>
          <a:p>
            <a:r>
              <a:rPr lang="en-US"/>
              <a:t>Review: Artificial Neural Nets (ANN) Are Highly Complex Models Inspired by the Biological Neural Networks that Constitute Brains</a:t>
            </a:r>
          </a:p>
        </p:txBody>
      </p:sp>
      <p:grpSp>
        <p:nvGrpSpPr>
          <p:cNvPr id="3" name="Gruppieren 2">
            <a:extLst>
              <a:ext uri="{FF2B5EF4-FFF2-40B4-BE49-F238E27FC236}">
                <a16:creationId xmlns:a16="http://schemas.microsoft.com/office/drawing/2014/main" id="{C38424D2-7FB2-41E1-8404-1ED8FCAE80A9}"/>
              </a:ext>
            </a:extLst>
          </p:cNvPr>
          <p:cNvGrpSpPr/>
          <p:nvPr/>
        </p:nvGrpSpPr>
        <p:grpSpPr>
          <a:xfrm>
            <a:off x="5343091" y="1232756"/>
            <a:ext cx="5184576" cy="2844316"/>
            <a:chOff x="5163071" y="1232756"/>
            <a:chExt cx="5364596" cy="3384376"/>
          </a:xfrm>
        </p:grpSpPr>
        <p:pic>
          <p:nvPicPr>
            <p:cNvPr id="1036" name="Picture 12" descr="Bildergebnis fÃ¼r neuron">
              <a:extLst>
                <a:ext uri="{FF2B5EF4-FFF2-40B4-BE49-F238E27FC236}">
                  <a16:creationId xmlns:a16="http://schemas.microsoft.com/office/drawing/2014/main" id="{5E6752D9-CC46-47ED-8F1F-355C83911610}"/>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5222679" y="1669001"/>
              <a:ext cx="5245380" cy="2007510"/>
            </a:xfrm>
            <a:prstGeom prst="rect">
              <a:avLst/>
            </a:prstGeom>
            <a:noFill/>
            <a:extLst>
              <a:ext uri="{909E8E84-426E-40DD-AFC4-6F175D3DCCD1}">
                <a14:hiddenFill xmlns:a14="http://schemas.microsoft.com/office/drawing/2010/main">
                  <a:solidFill>
                    <a:srgbClr val="FFFFFF"/>
                  </a:solidFill>
                </a14:hiddenFill>
              </a:ext>
            </a:extLst>
          </p:spPr>
        </p:pic>
        <p:sp>
          <p:nvSpPr>
            <p:cNvPr id="10" name="Denkblase: wolkenförmig 9">
              <a:extLst>
                <a:ext uri="{FF2B5EF4-FFF2-40B4-BE49-F238E27FC236}">
                  <a16:creationId xmlns:a16="http://schemas.microsoft.com/office/drawing/2014/main" id="{BAEFAF37-1131-47A1-A36D-F4EBAD484218}"/>
                </a:ext>
              </a:extLst>
            </p:cNvPr>
            <p:cNvSpPr/>
            <p:nvPr/>
          </p:nvSpPr>
          <p:spPr bwMode="auto">
            <a:xfrm>
              <a:off x="5163071" y="1232756"/>
              <a:ext cx="5364596" cy="3384376"/>
            </a:xfrm>
            <a:prstGeom prst="cloudCallout">
              <a:avLst>
                <a:gd name="adj1" fmla="val -91145"/>
                <a:gd name="adj2" fmla="val -10375"/>
              </a:avLst>
            </a:prstGeom>
            <a:noFill/>
            <a:ln/>
          </p:spPr>
          <p:style>
            <a:lnRef idx="2">
              <a:schemeClr val="accent1"/>
            </a:lnRef>
            <a:fillRef idx="1">
              <a:schemeClr val="lt1"/>
            </a:fillRef>
            <a:effectRef idx="0">
              <a:schemeClr val="accent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6" name="Inhaltsplatzhalter 6">
            <a:extLst>
              <a:ext uri="{FF2B5EF4-FFF2-40B4-BE49-F238E27FC236}">
                <a16:creationId xmlns:a16="http://schemas.microsoft.com/office/drawing/2014/main" id="{EB4D081C-BFDE-4C14-A120-03E0173A26A8}"/>
              </a:ext>
            </a:extLst>
          </p:cNvPr>
          <p:cNvSpPr>
            <a:spLocks noGrp="1"/>
          </p:cNvSpPr>
          <p:nvPr>
            <p:ph idx="1"/>
          </p:nvPr>
        </p:nvSpPr>
        <p:spPr>
          <a:xfrm>
            <a:off x="554559" y="3753036"/>
            <a:ext cx="10549172" cy="2539670"/>
          </a:xfrm>
          <a:ln w="28575">
            <a:noFill/>
          </a:ln>
        </p:spPr>
        <p:txBody>
          <a:bodyPr wrap="square" lIns="108000" tIns="0" rIns="36000" bIns="0">
            <a:spAutoFit/>
          </a:bodyPr>
          <a:lstStyle/>
          <a:p>
            <a:pPr marL="285750" indent="-285750">
              <a:lnSpc>
                <a:spcPct val="150000"/>
              </a:lnSpc>
              <a:buFont typeface="Arial" panose="020B0604020202020204" pitchFamily="34" charset="0"/>
              <a:buChar char="•"/>
            </a:pPr>
            <a:r>
              <a:rPr lang="en-US" sz="1600"/>
              <a:t>With just ~100.000 neurons a fruit fly brain can:</a:t>
            </a:r>
          </a:p>
          <a:p>
            <a:pPr marL="703263" lvl="3" indent="-342900">
              <a:lnSpc>
                <a:spcPct val="150000"/>
              </a:lnSpc>
              <a:buFont typeface="+mj-lt"/>
              <a:buAutoNum type="arabicPeriod"/>
            </a:pPr>
            <a:r>
              <a:rPr lang="en-US" sz="1600"/>
              <a:t>Fly</a:t>
            </a:r>
          </a:p>
          <a:p>
            <a:pPr marL="703263" lvl="3" indent="-342900">
              <a:lnSpc>
                <a:spcPct val="150000"/>
              </a:lnSpc>
              <a:buFont typeface="+mj-lt"/>
              <a:buAutoNum type="arabicPeriod"/>
            </a:pPr>
            <a:r>
              <a:rPr lang="en-US" sz="1600"/>
              <a:t>Find food</a:t>
            </a:r>
          </a:p>
          <a:p>
            <a:pPr marL="703263" lvl="3" indent="-342900">
              <a:lnSpc>
                <a:spcPct val="150000"/>
              </a:lnSpc>
              <a:buFont typeface="+mj-lt"/>
              <a:buAutoNum type="arabicPeriod"/>
            </a:pPr>
            <a:r>
              <a:rPr lang="en-US" sz="1600"/>
              <a:t>Realize and avoid danger</a:t>
            </a:r>
          </a:p>
          <a:p>
            <a:pPr marL="703263" lvl="3" indent="-342900">
              <a:lnSpc>
                <a:spcPct val="150000"/>
              </a:lnSpc>
              <a:buFont typeface="+mj-lt"/>
              <a:buAutoNum type="arabicPeriod"/>
            </a:pPr>
            <a:r>
              <a:rPr lang="en-US" sz="1600"/>
              <a:t>…</a:t>
            </a:r>
          </a:p>
          <a:p>
            <a:pPr marL="285750" indent="-285750">
              <a:lnSpc>
                <a:spcPct val="150000"/>
              </a:lnSpc>
              <a:buFont typeface="Arial" panose="020B0604020202020204" pitchFamily="34" charset="0"/>
              <a:buChar char="•"/>
            </a:pPr>
            <a:r>
              <a:rPr lang="en-US" sz="1600"/>
              <a:t>All our computers have  much more calculation capacity than 100.000 neurons</a:t>
            </a:r>
          </a:p>
          <a:p>
            <a:pPr marL="285750" indent="-285750">
              <a:lnSpc>
                <a:spcPct val="150000"/>
              </a:lnSpc>
              <a:buFont typeface="Arial" panose="020B0604020202020204" pitchFamily="34" charset="0"/>
              <a:buChar char="•"/>
            </a:pPr>
            <a:r>
              <a:rPr lang="en-US" sz="1600"/>
              <a:t>Why is it hard for computers to do what a fruit fly can?</a:t>
            </a:r>
          </a:p>
        </p:txBody>
      </p:sp>
      <p:sp>
        <p:nvSpPr>
          <p:cNvPr id="5" name="Rechteck 4">
            <a:extLst>
              <a:ext uri="{FF2B5EF4-FFF2-40B4-BE49-F238E27FC236}">
                <a16:creationId xmlns:a16="http://schemas.microsoft.com/office/drawing/2014/main" id="{8FB94BC4-FD9B-4620-92E4-9191C33A2467}"/>
              </a:ext>
            </a:extLst>
          </p:cNvPr>
          <p:cNvSpPr/>
          <p:nvPr/>
        </p:nvSpPr>
        <p:spPr bwMode="auto">
          <a:xfrm>
            <a:off x="7827367" y="5643246"/>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2568114657"/>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79ABE10E-3FDF-49AB-A562-793B7186B5A7}"/>
              </a:ext>
            </a:extLst>
          </p:cNvPr>
          <p:cNvSpPr>
            <a:spLocks noGrp="1"/>
          </p:cNvSpPr>
          <p:nvPr>
            <p:ph type="title"/>
          </p:nvPr>
        </p:nvSpPr>
        <p:spPr/>
        <p:txBody>
          <a:bodyPr/>
          <a:lstStyle/>
          <a:p>
            <a:r>
              <a:rPr lang="en-US"/>
              <a:t>Neural Networks Take Key Inspirations from Biological Brains: </a:t>
            </a:r>
            <a:br>
              <a:rPr lang="en-US"/>
            </a:br>
            <a:r>
              <a:rPr lang="en-US"/>
              <a:t>1. Create a Net of Many Input-Output Connections</a:t>
            </a:r>
          </a:p>
        </p:txBody>
      </p:sp>
      <p:sp>
        <p:nvSpPr>
          <p:cNvPr id="3" name="Inhaltsplatzhalter 2">
            <a:extLst>
              <a:ext uri="{FF2B5EF4-FFF2-40B4-BE49-F238E27FC236}">
                <a16:creationId xmlns:a16="http://schemas.microsoft.com/office/drawing/2014/main" id="{5D7A0078-770E-4190-9496-6D171C2C5028}"/>
              </a:ext>
            </a:extLst>
          </p:cNvPr>
          <p:cNvSpPr>
            <a:spLocks noGrp="1"/>
          </p:cNvSpPr>
          <p:nvPr>
            <p:ph sz="half" idx="1"/>
          </p:nvPr>
        </p:nvSpPr>
        <p:spPr>
          <a:xfrm>
            <a:off x="480151" y="3789304"/>
            <a:ext cx="4365748" cy="4752000"/>
          </a:xfrm>
        </p:spPr>
        <p:txBody>
          <a:bodyPr/>
          <a:lstStyle/>
          <a:p>
            <a:pPr marL="342900" indent="-342900">
              <a:spcBef>
                <a:spcPts val="600"/>
              </a:spcBef>
              <a:spcAft>
                <a:spcPts val="600"/>
              </a:spcAft>
              <a:buFont typeface="+mj-lt"/>
              <a:buAutoNum type="arabicPeriod"/>
            </a:pPr>
            <a:r>
              <a:rPr lang="en-US" sz="1600"/>
              <a:t>Build network of neurons in several layers</a:t>
            </a:r>
          </a:p>
          <a:p>
            <a:pPr marL="342900" indent="-342900">
              <a:spcBef>
                <a:spcPts val="600"/>
              </a:spcBef>
              <a:spcAft>
                <a:spcPts val="600"/>
              </a:spcAft>
              <a:buFont typeface="+mj-lt"/>
              <a:buAutoNum type="arabicPeriod"/>
            </a:pPr>
            <a:r>
              <a:rPr lang="en-US" sz="1600"/>
              <a:t>Connect a neuron with all neurons to previous and next layer (fully connected net)</a:t>
            </a:r>
          </a:p>
          <a:p>
            <a:pPr marL="342900" indent="-342900">
              <a:spcBef>
                <a:spcPts val="600"/>
              </a:spcBef>
              <a:spcAft>
                <a:spcPts val="600"/>
              </a:spcAft>
              <a:buFont typeface="+mj-lt"/>
              <a:buAutoNum type="arabicPeriod"/>
            </a:pPr>
            <a:r>
              <a:rPr lang="en-US" sz="1600"/>
              <a:t>Weights Wi,j adjust the strength of the connections between neurons</a:t>
            </a:r>
          </a:p>
          <a:p>
            <a:pPr marL="342900" indent="-342900">
              <a:spcBef>
                <a:spcPts val="600"/>
              </a:spcBef>
              <a:spcAft>
                <a:spcPts val="600"/>
              </a:spcAft>
              <a:buFont typeface="+mj-lt"/>
              <a:buAutoNum type="arabicPeriod"/>
            </a:pPr>
            <a:r>
              <a:rPr lang="en-US" sz="1600"/>
              <a:t>Sum weighted inputs up to next layer neuron</a:t>
            </a:r>
          </a:p>
          <a:p>
            <a:endParaRPr lang="en-US" sz="1600"/>
          </a:p>
        </p:txBody>
      </p:sp>
      <p:pic>
        <p:nvPicPr>
          <p:cNvPr id="9" name="Grafik 8">
            <a:extLst>
              <a:ext uri="{FF2B5EF4-FFF2-40B4-BE49-F238E27FC236}">
                <a16:creationId xmlns:a16="http://schemas.microsoft.com/office/drawing/2014/main" id="{210CF3F5-5217-4A93-BA6A-B2F7D92FF374}"/>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4845899" y="1836245"/>
            <a:ext cx="7416821" cy="4448133"/>
          </a:xfrm>
          <a:prstGeom prst="rect">
            <a:avLst/>
          </a:prstGeom>
        </p:spPr>
      </p:pic>
      <p:pic>
        <p:nvPicPr>
          <p:cNvPr id="11" name="Bildplatzhalter 10">
            <a:extLst>
              <a:ext uri="{FF2B5EF4-FFF2-40B4-BE49-F238E27FC236}">
                <a16:creationId xmlns:a16="http://schemas.microsoft.com/office/drawing/2014/main" id="{034CE200-120F-4538-BC60-D273869D53D2}"/>
              </a:ext>
            </a:extLst>
          </p:cNvPr>
          <p:cNvPicPr>
            <a:picLocks noGrp="1" noChangeAspect="1"/>
          </p:cNvPicPr>
          <p:nvPr>
            <p:ph type="pic" sz="quarter" idx="10"/>
          </p:nvPr>
        </p:nvPicPr>
        <p:blipFill>
          <a:blip r:embed="rId3" cstate="screen">
            <a:extLst>
              <a:ext uri="{28A0092B-C50C-407E-A947-70E740481C1C}">
                <a14:useLocalDpi xmlns:a14="http://schemas.microsoft.com/office/drawing/2010/main"/>
              </a:ext>
            </a:extLst>
          </a:blip>
          <a:srcRect/>
          <a:stretch>
            <a:fillRect/>
          </a:stretch>
        </p:blipFill>
        <p:spPr>
          <a:xfrm>
            <a:off x="333777" y="1755648"/>
            <a:ext cx="4181219" cy="1760066"/>
          </a:xfrm>
          <a:prstGeom prst="rect">
            <a:avLst/>
          </a:prstGeom>
        </p:spPr>
      </p:pic>
      <p:sp>
        <p:nvSpPr>
          <p:cNvPr id="8" name="Textfeld 7">
            <a:extLst>
              <a:ext uri="{FF2B5EF4-FFF2-40B4-BE49-F238E27FC236}">
                <a16:creationId xmlns:a16="http://schemas.microsoft.com/office/drawing/2014/main" id="{A0C74725-76F2-4CCD-BF43-3FC3FDB822B3}"/>
              </a:ext>
            </a:extLst>
          </p:cNvPr>
          <p:cNvSpPr txBox="1"/>
          <p:nvPr/>
        </p:nvSpPr>
        <p:spPr>
          <a:xfrm>
            <a:off x="480151" y="1514128"/>
            <a:ext cx="1439664" cy="566688"/>
          </a:xfrm>
          <a:prstGeom prst="rect">
            <a:avLst/>
          </a:prstGeom>
          <a:noFill/>
        </p:spPr>
        <p:txBody>
          <a:bodyPr wrap="squar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Human brain</a:t>
            </a:r>
          </a:p>
        </p:txBody>
      </p:sp>
      <p:sp>
        <p:nvSpPr>
          <p:cNvPr id="12" name="Textfeld 11">
            <a:extLst>
              <a:ext uri="{FF2B5EF4-FFF2-40B4-BE49-F238E27FC236}">
                <a16:creationId xmlns:a16="http://schemas.microsoft.com/office/drawing/2014/main" id="{52124751-5C89-4D2B-8023-4ED3F3616C9D}"/>
              </a:ext>
            </a:extLst>
          </p:cNvPr>
          <p:cNvSpPr txBox="1"/>
          <p:nvPr/>
        </p:nvSpPr>
        <p:spPr>
          <a:xfrm>
            <a:off x="8321099" y="1514128"/>
            <a:ext cx="2458596" cy="566688"/>
          </a:xfrm>
          <a:prstGeom prst="rect">
            <a:avLst/>
          </a:prstGeom>
          <a:noFill/>
        </p:spPr>
        <p:txBody>
          <a:bodyPr wrap="squar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Neural Network</a:t>
            </a:r>
          </a:p>
        </p:txBody>
      </p:sp>
      <p:cxnSp>
        <p:nvCxnSpPr>
          <p:cNvPr id="14" name="Gerade Verbindung mit Pfeil 13">
            <a:extLst>
              <a:ext uri="{FF2B5EF4-FFF2-40B4-BE49-F238E27FC236}">
                <a16:creationId xmlns:a16="http://schemas.microsoft.com/office/drawing/2014/main" id="{59A0F01F-EDD4-4335-A1DE-0250692A06CA}"/>
              </a:ext>
            </a:extLst>
          </p:cNvPr>
          <p:cNvCxnSpPr/>
          <p:nvPr/>
        </p:nvCxnSpPr>
        <p:spPr bwMode="auto">
          <a:xfrm>
            <a:off x="2437587" y="1684255"/>
            <a:ext cx="5533796" cy="0"/>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0" name="Rechteck 9">
            <a:extLst>
              <a:ext uri="{FF2B5EF4-FFF2-40B4-BE49-F238E27FC236}">
                <a16:creationId xmlns:a16="http://schemas.microsoft.com/office/drawing/2014/main" id="{A165F459-9F14-48BB-A489-BE87C9370187}"/>
              </a:ext>
            </a:extLst>
          </p:cNvPr>
          <p:cNvSpPr/>
          <p:nvPr/>
        </p:nvSpPr>
        <p:spPr bwMode="auto">
          <a:xfrm>
            <a:off x="7827367" y="5643246"/>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280643351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C9CCB8-50E3-48BE-BD26-1C6E49465375}"/>
              </a:ext>
            </a:extLst>
          </p:cNvPr>
          <p:cNvSpPr>
            <a:spLocks noGrp="1"/>
          </p:cNvSpPr>
          <p:nvPr>
            <p:ph type="title"/>
          </p:nvPr>
        </p:nvSpPr>
        <p:spPr/>
        <p:txBody>
          <a:bodyPr/>
          <a:lstStyle/>
          <a:p>
            <a:r>
              <a:rPr lang="en-US"/>
              <a:t>Neural Networks Take Key Inspirations from Biological Brains:</a:t>
            </a:r>
            <a:br>
              <a:rPr lang="en-US"/>
            </a:br>
            <a:r>
              <a:rPr lang="en-US"/>
              <a:t>2. Use Activation Function to Differentiate btw. Important and Unimportant Inputs</a:t>
            </a:r>
          </a:p>
        </p:txBody>
      </p:sp>
      <p:sp>
        <p:nvSpPr>
          <p:cNvPr id="3" name="Inhaltsplatzhalter 2">
            <a:extLst>
              <a:ext uri="{FF2B5EF4-FFF2-40B4-BE49-F238E27FC236}">
                <a16:creationId xmlns:a16="http://schemas.microsoft.com/office/drawing/2014/main" id="{BDF54071-E8F8-4132-BB0B-0B31435CC4C2}"/>
              </a:ext>
            </a:extLst>
          </p:cNvPr>
          <p:cNvSpPr>
            <a:spLocks noGrp="1"/>
          </p:cNvSpPr>
          <p:nvPr>
            <p:ph sz="half" idx="1"/>
          </p:nvPr>
        </p:nvSpPr>
        <p:spPr>
          <a:xfrm>
            <a:off x="626567" y="1628800"/>
            <a:ext cx="6408712" cy="4752000"/>
          </a:xfrm>
        </p:spPr>
        <p:txBody>
          <a:bodyPr/>
          <a:lstStyle/>
          <a:p>
            <a:pPr>
              <a:lnSpc>
                <a:spcPct val="100000"/>
              </a:lnSpc>
              <a:spcBef>
                <a:spcPts val="600"/>
              </a:spcBef>
              <a:spcAft>
                <a:spcPts val="600"/>
              </a:spcAft>
            </a:pPr>
            <a:r>
              <a:rPr lang="en-US" sz="1600" b="1"/>
              <a:t>Neurons </a:t>
            </a:r>
            <a:r>
              <a:rPr lang="en-US" sz="1600"/>
              <a:t>work with a threshold:</a:t>
            </a:r>
          </a:p>
          <a:p>
            <a:pPr marL="285750" indent="-285750">
              <a:lnSpc>
                <a:spcPct val="100000"/>
              </a:lnSpc>
              <a:spcBef>
                <a:spcPts val="600"/>
              </a:spcBef>
              <a:spcAft>
                <a:spcPts val="600"/>
              </a:spcAft>
              <a:buFont typeface="Arial" panose="020B0604020202020204" pitchFamily="34" charset="0"/>
              <a:buChar char="•"/>
            </a:pPr>
            <a:r>
              <a:rPr lang="en-US" sz="1600"/>
              <a:t>Large inputs -&gt; output</a:t>
            </a:r>
          </a:p>
          <a:p>
            <a:pPr marL="285750" indent="-285750">
              <a:lnSpc>
                <a:spcPct val="100000"/>
              </a:lnSpc>
              <a:spcBef>
                <a:spcPts val="600"/>
              </a:spcBef>
              <a:spcAft>
                <a:spcPts val="600"/>
              </a:spcAft>
              <a:buFont typeface="Arial" panose="020B0604020202020204" pitchFamily="34" charset="0"/>
              <a:buChar char="•"/>
            </a:pPr>
            <a:r>
              <a:rPr lang="en-US" sz="1600"/>
              <a:t>Small input -&gt; no output change</a:t>
            </a:r>
          </a:p>
          <a:p>
            <a:pPr>
              <a:lnSpc>
                <a:spcPct val="100000"/>
              </a:lnSpc>
            </a:pPr>
            <a:endParaRPr lang="en-US" sz="1600"/>
          </a:p>
          <a:p>
            <a:pPr>
              <a:lnSpc>
                <a:spcPct val="100000"/>
              </a:lnSpc>
              <a:spcBef>
                <a:spcPts val="600"/>
              </a:spcBef>
              <a:spcAft>
                <a:spcPts val="600"/>
              </a:spcAft>
            </a:pPr>
            <a:r>
              <a:rPr lang="en-US" sz="1600" b="1"/>
              <a:t>Computer </a:t>
            </a:r>
            <a:r>
              <a:rPr lang="en-US" sz="1600"/>
              <a:t>uses an “Activation Function” instead </a:t>
            </a:r>
          </a:p>
          <a:p>
            <a:pPr marL="285750" indent="-285750">
              <a:lnSpc>
                <a:spcPct val="100000"/>
              </a:lnSpc>
              <a:spcBef>
                <a:spcPts val="600"/>
              </a:spcBef>
              <a:spcAft>
                <a:spcPts val="600"/>
              </a:spcAft>
              <a:buFont typeface="Arial" pitchFamily="34" charset="0"/>
              <a:buChar char="•"/>
            </a:pPr>
            <a:r>
              <a:rPr lang="en-US" sz="1600"/>
              <a:t>Not dealing with time, but weighting input:</a:t>
            </a:r>
          </a:p>
          <a:p>
            <a:pPr marL="285750" indent="-285750">
              <a:lnSpc>
                <a:spcPct val="100000"/>
              </a:lnSpc>
              <a:spcBef>
                <a:spcPts val="600"/>
              </a:spcBef>
              <a:spcAft>
                <a:spcPts val="600"/>
              </a:spcAft>
              <a:buFont typeface="Arial" pitchFamily="34" charset="0"/>
              <a:buChar char="•"/>
            </a:pPr>
            <a:r>
              <a:rPr lang="en-US" sz="1600"/>
              <a:t>Often used in hidden layers: </a:t>
            </a:r>
          </a:p>
          <a:p>
            <a:pPr marL="465138" lvl="1" indent="-285750">
              <a:lnSpc>
                <a:spcPct val="100000"/>
              </a:lnSpc>
              <a:spcBef>
                <a:spcPts val="600"/>
              </a:spcBef>
              <a:spcAft>
                <a:spcPts val="600"/>
              </a:spcAft>
              <a:buFont typeface="Arial" pitchFamily="34" charset="0"/>
              <a:buChar char="•"/>
            </a:pPr>
            <a:r>
              <a:rPr lang="en-US" sz="1600" err="1"/>
              <a:t>ReLU</a:t>
            </a:r>
            <a:r>
              <a:rPr lang="en-US" sz="1600"/>
              <a:t> function: </a:t>
            </a:r>
          </a:p>
          <a:p>
            <a:pPr marL="644525" lvl="2" indent="-285750">
              <a:lnSpc>
                <a:spcPct val="100000"/>
              </a:lnSpc>
              <a:spcBef>
                <a:spcPts val="600"/>
              </a:spcBef>
              <a:spcAft>
                <a:spcPts val="600"/>
              </a:spcAft>
              <a:buFont typeface="Arial" pitchFamily="34" charset="0"/>
              <a:buChar char="•"/>
            </a:pPr>
            <a:r>
              <a:rPr lang="en-US" sz="1600"/>
              <a:t>Efficient as linear, but can capture more complex relations (deactivates less important parts of network to zero)</a:t>
            </a:r>
          </a:p>
          <a:p>
            <a:pPr marL="644525" lvl="2" indent="-285750">
              <a:lnSpc>
                <a:spcPct val="100000"/>
              </a:lnSpc>
              <a:spcBef>
                <a:spcPts val="600"/>
              </a:spcBef>
              <a:spcAft>
                <a:spcPts val="600"/>
              </a:spcAft>
              <a:buFont typeface="Arial" pitchFamily="34" charset="0"/>
              <a:buChar char="•"/>
            </a:pPr>
            <a:r>
              <a:rPr lang="en-US" sz="1600"/>
              <a:t>Normalize data before to 0-1 (otherwise weights too big) and regularize loss function</a:t>
            </a:r>
          </a:p>
          <a:p>
            <a:pPr marL="644525" lvl="2" indent="-285750">
              <a:lnSpc>
                <a:spcPct val="100000"/>
              </a:lnSpc>
              <a:spcBef>
                <a:spcPts val="600"/>
              </a:spcBef>
              <a:spcAft>
                <a:spcPts val="600"/>
              </a:spcAft>
              <a:buFont typeface="Arial" pitchFamily="34" charset="0"/>
              <a:buChar char="•"/>
            </a:pPr>
            <a:r>
              <a:rPr lang="en-US" sz="1600"/>
              <a:t>No vanishing gradients problem, but dying </a:t>
            </a:r>
            <a:r>
              <a:rPr lang="en-US" sz="1600" err="1"/>
              <a:t>ReLu</a:t>
            </a:r>
            <a:r>
              <a:rPr lang="en-US" sz="1600"/>
              <a:t> (leaky </a:t>
            </a:r>
            <a:r>
              <a:rPr lang="en-US" sz="1600" err="1"/>
              <a:t>ReLu</a:t>
            </a:r>
            <a:r>
              <a:rPr lang="en-US" sz="1600"/>
              <a:t>) </a:t>
            </a:r>
          </a:p>
        </p:txBody>
      </p:sp>
      <p:pic>
        <p:nvPicPr>
          <p:cNvPr id="1032" name="Picture 8">
            <a:extLst>
              <a:ext uri="{FF2B5EF4-FFF2-40B4-BE49-F238E27FC236}">
                <a16:creationId xmlns:a16="http://schemas.microsoft.com/office/drawing/2014/main" id="{0CA079CF-FDC5-4500-8B24-22F4F1B7DEA3}"/>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7179295" y="940044"/>
            <a:ext cx="3708412" cy="3001907"/>
          </a:xfrm>
          <a:prstGeom prst="rect">
            <a:avLst/>
          </a:prstGeom>
          <a:noFill/>
          <a:extLst>
            <a:ext uri="{909E8E84-426E-40DD-AFC4-6F175D3DCCD1}">
              <a14:hiddenFill xmlns:a14="http://schemas.microsoft.com/office/drawing/2010/main">
                <a:solidFill>
                  <a:srgbClr val="FFFFFF"/>
                </a:solidFill>
              </a14:hiddenFill>
            </a:ext>
          </a:extLst>
        </p:spPr>
      </p:pic>
      <p:cxnSp>
        <p:nvCxnSpPr>
          <p:cNvPr id="9" name="Gerade Verbindung mit Pfeil 8">
            <a:extLst>
              <a:ext uri="{FF2B5EF4-FFF2-40B4-BE49-F238E27FC236}">
                <a16:creationId xmlns:a16="http://schemas.microsoft.com/office/drawing/2014/main" id="{AE86C154-9BFD-4833-B480-4BC684C0F982}"/>
              </a:ext>
            </a:extLst>
          </p:cNvPr>
          <p:cNvCxnSpPr/>
          <p:nvPr/>
        </p:nvCxnSpPr>
        <p:spPr bwMode="auto">
          <a:xfrm flipV="1">
            <a:off x="3290863" y="2024844"/>
            <a:ext cx="5544616" cy="14401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6" name="Gerade Verbindung mit Pfeil 15">
            <a:extLst>
              <a:ext uri="{FF2B5EF4-FFF2-40B4-BE49-F238E27FC236}">
                <a16:creationId xmlns:a16="http://schemas.microsoft.com/office/drawing/2014/main" id="{CC3E7313-635C-426D-B642-D800FE63B614}"/>
              </a:ext>
            </a:extLst>
          </p:cNvPr>
          <p:cNvCxnSpPr/>
          <p:nvPr/>
        </p:nvCxnSpPr>
        <p:spPr bwMode="auto">
          <a:xfrm>
            <a:off x="4118955" y="2636384"/>
            <a:ext cx="4608512" cy="216552"/>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7" name="Textfeld 16">
            <a:extLst>
              <a:ext uri="{FF2B5EF4-FFF2-40B4-BE49-F238E27FC236}">
                <a16:creationId xmlns:a16="http://schemas.microsoft.com/office/drawing/2014/main" id="{F276D887-F40B-4722-B5E1-073B77D3261B}"/>
              </a:ext>
            </a:extLst>
          </p:cNvPr>
          <p:cNvSpPr txBox="1"/>
          <p:nvPr/>
        </p:nvSpPr>
        <p:spPr>
          <a:xfrm>
            <a:off x="10880465" y="3429000"/>
            <a:ext cx="1003406" cy="227819"/>
          </a:xfrm>
          <a:prstGeom prst="rect">
            <a:avLst/>
          </a:prstGeom>
          <a:noFill/>
        </p:spPr>
        <p:txBody>
          <a:bodyPr wrap="square" lIns="0" tIns="0" rIns="0" bIns="0" rtlCol="0">
            <a:spAutoFit/>
          </a:bodyPr>
          <a:lstStyle/>
          <a:p>
            <a:pPr>
              <a:lnSpc>
                <a:spcPct val="110000"/>
              </a:lnSpc>
              <a:spcBef>
                <a:spcPts val="0"/>
              </a:spcBef>
            </a:pPr>
            <a:r>
              <a:rPr lang="en-US" sz="700">
                <a:solidFill>
                  <a:schemeClr val="tx1"/>
                </a:solidFill>
              </a:rPr>
              <a:t>https://en.wikipedia.org/wiki/Action_potential</a:t>
            </a:r>
            <a:endParaRPr lang="en-US" sz="700">
              <a:solidFill>
                <a:schemeClr val="tx1"/>
              </a:solidFill>
              <a:latin typeface="+mn-lt"/>
              <a:ea typeface="Arial Unicode MS" panose="020B0604020202020204" pitchFamily="34" charset="-128"/>
              <a:cs typeface="Arial Unicode MS" panose="020B0604020202020204" pitchFamily="34" charset="-128"/>
            </a:endParaRPr>
          </a:p>
        </p:txBody>
      </p:sp>
      <p:sp>
        <p:nvSpPr>
          <p:cNvPr id="18" name="Rechteck 17">
            <a:extLst>
              <a:ext uri="{FF2B5EF4-FFF2-40B4-BE49-F238E27FC236}">
                <a16:creationId xmlns:a16="http://schemas.microsoft.com/office/drawing/2014/main" id="{9A999AFE-4760-47ED-A1A3-8FF8FD60F839}"/>
              </a:ext>
            </a:extLst>
          </p:cNvPr>
          <p:cNvSpPr/>
          <p:nvPr/>
        </p:nvSpPr>
        <p:spPr bwMode="auto">
          <a:xfrm>
            <a:off x="6584569" y="1038225"/>
            <a:ext cx="1427249" cy="308779"/>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pic>
        <p:nvPicPr>
          <p:cNvPr id="13" name="Grafik 12">
            <a:extLst>
              <a:ext uri="{FF2B5EF4-FFF2-40B4-BE49-F238E27FC236}">
                <a16:creationId xmlns:a16="http://schemas.microsoft.com/office/drawing/2014/main" id="{733CF74F-DAF3-4398-B8E4-B46D4F74A28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575339" y="4020516"/>
            <a:ext cx="3708412" cy="1876911"/>
          </a:xfrm>
          <a:prstGeom prst="rect">
            <a:avLst/>
          </a:prstGeom>
        </p:spPr>
      </p:pic>
    </p:spTree>
    <p:extLst>
      <p:ext uri="{BB962C8B-B14F-4D97-AF65-F5344CB8AC3E}">
        <p14:creationId xmlns:p14="http://schemas.microsoft.com/office/powerpoint/2010/main" val="81438585"/>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559EA2-8F0D-488F-A9E2-BD1DDB06F89C}"/>
              </a:ext>
            </a:extLst>
          </p:cNvPr>
          <p:cNvSpPr>
            <a:spLocks noGrp="1"/>
          </p:cNvSpPr>
          <p:nvPr>
            <p:ph type="title"/>
          </p:nvPr>
        </p:nvSpPr>
        <p:spPr/>
        <p:txBody>
          <a:bodyPr/>
          <a:lstStyle/>
          <a:p>
            <a:r>
              <a:rPr lang="en-US"/>
              <a:t>List of theoretically possible Activation Functions </a:t>
            </a:r>
          </a:p>
        </p:txBody>
      </p:sp>
      <p:graphicFrame>
        <p:nvGraphicFramePr>
          <p:cNvPr id="13" name="Tabelle 13">
            <a:extLst>
              <a:ext uri="{FF2B5EF4-FFF2-40B4-BE49-F238E27FC236}">
                <a16:creationId xmlns:a16="http://schemas.microsoft.com/office/drawing/2014/main" id="{073955B0-2E97-48FD-A6DF-FA301C949250}"/>
              </a:ext>
            </a:extLst>
          </p:cNvPr>
          <p:cNvGraphicFramePr>
            <a:graphicFrameLocks noGrp="1"/>
          </p:cNvGraphicFramePr>
          <p:nvPr>
            <p:ph idx="1"/>
            <p:extLst>
              <p:ext uri="{D42A27DB-BD31-4B8C-83A1-F6EECF244321}">
                <p14:modId xmlns:p14="http://schemas.microsoft.com/office/powerpoint/2010/main" val="1172813345"/>
              </p:ext>
            </p:extLst>
          </p:nvPr>
        </p:nvGraphicFramePr>
        <p:xfrm>
          <a:off x="914599" y="1331250"/>
          <a:ext cx="10873159" cy="5155810"/>
        </p:xfrm>
        <a:graphic>
          <a:graphicData uri="http://schemas.openxmlformats.org/drawingml/2006/table">
            <a:tbl>
              <a:tblPr firstRow="1" firstCol="1" bandRow="1">
                <a:tableStyleId>{5C22544A-7EE6-4342-B048-85BDC9FD1C3A}</a:tableStyleId>
              </a:tblPr>
              <a:tblGrid>
                <a:gridCol w="2153071">
                  <a:extLst>
                    <a:ext uri="{9D8B030D-6E8A-4147-A177-3AD203B41FA5}">
                      <a16:colId xmlns:a16="http://schemas.microsoft.com/office/drawing/2014/main" val="50350979"/>
                    </a:ext>
                  </a:extLst>
                </a:gridCol>
                <a:gridCol w="1518080">
                  <a:extLst>
                    <a:ext uri="{9D8B030D-6E8A-4147-A177-3AD203B41FA5}">
                      <a16:colId xmlns:a16="http://schemas.microsoft.com/office/drawing/2014/main" val="491381177"/>
                    </a:ext>
                  </a:extLst>
                </a:gridCol>
                <a:gridCol w="1835818">
                  <a:extLst>
                    <a:ext uri="{9D8B030D-6E8A-4147-A177-3AD203B41FA5}">
                      <a16:colId xmlns:a16="http://schemas.microsoft.com/office/drawing/2014/main" val="3131182123"/>
                    </a:ext>
                  </a:extLst>
                </a:gridCol>
                <a:gridCol w="5366190">
                  <a:extLst>
                    <a:ext uri="{9D8B030D-6E8A-4147-A177-3AD203B41FA5}">
                      <a16:colId xmlns:a16="http://schemas.microsoft.com/office/drawing/2014/main" val="682004119"/>
                    </a:ext>
                  </a:extLst>
                </a:gridCol>
              </a:tblGrid>
              <a:tr h="383137">
                <a:tc>
                  <a:txBody>
                    <a:bodyPr/>
                    <a:lstStyle/>
                    <a:p>
                      <a:endParaRPr lang="en-US" noProof="0"/>
                    </a:p>
                  </a:txBody>
                  <a:tcPr/>
                </a:tc>
                <a:tc>
                  <a:txBody>
                    <a:bodyPr/>
                    <a:lstStyle/>
                    <a:p>
                      <a:r>
                        <a:rPr lang="en-US" noProof="0"/>
                        <a:t>Description</a:t>
                      </a:r>
                    </a:p>
                  </a:txBody>
                  <a:tcPr/>
                </a:tc>
                <a:tc>
                  <a:txBody>
                    <a:bodyPr/>
                    <a:lstStyle/>
                    <a:p>
                      <a:r>
                        <a:rPr lang="en-US" noProof="0"/>
                        <a:t>Figure (red)</a:t>
                      </a:r>
                    </a:p>
                  </a:txBody>
                  <a:tcPr/>
                </a:tc>
                <a:tc>
                  <a:txBody>
                    <a:bodyPr/>
                    <a:lstStyle/>
                    <a:p>
                      <a:r>
                        <a:rPr lang="en-US" noProof="0"/>
                        <a:t>Pros and Cons</a:t>
                      </a:r>
                    </a:p>
                  </a:txBody>
                  <a:tcPr/>
                </a:tc>
                <a:extLst>
                  <a:ext uri="{0D108BD9-81ED-4DB2-BD59-A6C34878D82A}">
                    <a16:rowId xmlns:a16="http://schemas.microsoft.com/office/drawing/2014/main" val="1766318251"/>
                  </a:ext>
                </a:extLst>
              </a:tr>
              <a:tr h="877003">
                <a:tc>
                  <a:txBody>
                    <a:bodyPr/>
                    <a:lstStyle/>
                    <a:p>
                      <a:r>
                        <a:rPr lang="en-US" sz="1600" noProof="0"/>
                        <a:t>Linear Function</a:t>
                      </a:r>
                    </a:p>
                    <a:p>
                      <a:r>
                        <a:rPr lang="en-US" sz="1200" noProof="0"/>
                        <a:t>(Identity)</a:t>
                      </a:r>
                    </a:p>
                  </a:txBody>
                  <a:tcPr/>
                </a:tc>
                <a:tc>
                  <a:txBody>
                    <a:bodyPr/>
                    <a:lstStyle/>
                    <a:p>
                      <a:r>
                        <a:rPr lang="en-US" noProof="0"/>
                        <a:t>y = x</a:t>
                      </a:r>
                    </a:p>
                  </a:txBody>
                  <a:tcPr/>
                </a:tc>
                <a:tc>
                  <a:txBody>
                    <a:bodyPr/>
                    <a:lstStyle/>
                    <a:p>
                      <a:endParaRPr lang="en-US" noProof="0"/>
                    </a:p>
                  </a:txBody>
                  <a:tcPr/>
                </a:tc>
                <a:tc>
                  <a:txBody>
                    <a:bodyPr/>
                    <a:lstStyle/>
                    <a:p>
                      <a:pPr marL="285750" indent="-285750">
                        <a:buFontTx/>
                        <a:buChar char="-"/>
                      </a:pPr>
                      <a:r>
                        <a:rPr lang="en-US" sz="1500" noProof="0">
                          <a:solidFill>
                            <a:srgbClr val="00B050"/>
                          </a:solidFill>
                        </a:rPr>
                        <a:t>Non binary output</a:t>
                      </a:r>
                    </a:p>
                    <a:p>
                      <a:pPr marL="285750" indent="-285750">
                        <a:buFontTx/>
                        <a:buChar char="-"/>
                      </a:pPr>
                      <a:r>
                        <a:rPr lang="en-US" sz="1500" noProof="0">
                          <a:solidFill>
                            <a:srgbClr val="FF0000"/>
                          </a:solidFill>
                        </a:rPr>
                        <a:t>Problem with non-linearities</a:t>
                      </a:r>
                    </a:p>
                  </a:txBody>
                  <a:tcPr/>
                </a:tc>
                <a:extLst>
                  <a:ext uri="{0D108BD9-81ED-4DB2-BD59-A6C34878D82A}">
                    <a16:rowId xmlns:a16="http://schemas.microsoft.com/office/drawing/2014/main" val="3396052968"/>
                  </a:ext>
                </a:extLst>
              </a:tr>
              <a:tr h="84979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b="1" i="0" kern="1200" noProof="0">
                          <a:solidFill>
                            <a:schemeClr val="lt1"/>
                          </a:solidFill>
                          <a:effectLst/>
                          <a:latin typeface="+mn-lt"/>
                          <a:ea typeface="+mn-ea"/>
                          <a:cs typeface="+mn-cs"/>
                        </a:rPr>
                        <a:t>Step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b="1" i="0" kern="1200" noProof="0">
                          <a:solidFill>
                            <a:schemeClr val="lt1"/>
                          </a:solidFill>
                          <a:effectLst/>
                          <a:latin typeface="+mn-lt"/>
                          <a:ea typeface="+mn-ea"/>
                          <a:cs typeface="+mn-cs"/>
                        </a:rPr>
                        <a:t>(</a:t>
                      </a:r>
                      <a:r>
                        <a:rPr lang="en-US" sz="1200" noProof="0"/>
                        <a:t>Heavy side)</a:t>
                      </a:r>
                      <a:endParaRPr lang="en-US" sz="1200" b="1" i="0" kern="1200" noProof="0">
                        <a:solidFill>
                          <a:schemeClr val="lt1"/>
                        </a:solidFill>
                        <a:effectLst/>
                        <a:latin typeface="+mn-lt"/>
                        <a:ea typeface="+mn-ea"/>
                        <a:cs typeface="+mn-cs"/>
                      </a:endParaRPr>
                    </a:p>
                    <a:p>
                      <a:endParaRPr lang="en-US" sz="1600" noProof="0"/>
                    </a:p>
                  </a:txBody>
                  <a:tcPr/>
                </a:tc>
                <a:tc>
                  <a:txBody>
                    <a:bodyPr/>
                    <a:lstStyle/>
                    <a:p>
                      <a:r>
                        <a:rPr lang="en-US" noProof="0"/>
                        <a:t>y = θ(x)</a:t>
                      </a:r>
                    </a:p>
                    <a:p>
                      <a:r>
                        <a:rPr lang="en-US" noProof="0"/>
                        <a:t>x&lt;0 </a:t>
                      </a:r>
                      <a:r>
                        <a:rPr lang="en-US" noProof="0">
                          <a:sym typeface="Wingdings" panose="05000000000000000000" pitchFamily="2" charset="2"/>
                        </a:rPr>
                        <a:t> y=0</a:t>
                      </a:r>
                    </a:p>
                    <a:p>
                      <a:r>
                        <a:rPr lang="en-US" noProof="0">
                          <a:sym typeface="Wingdings" panose="05000000000000000000" pitchFamily="2" charset="2"/>
                        </a:rPr>
                        <a:t>x&gt;0  y=1</a:t>
                      </a:r>
                      <a:endParaRPr lang="en-US" noProof="0"/>
                    </a:p>
                  </a:txBody>
                  <a:tcPr/>
                </a:tc>
                <a:tc>
                  <a:txBody>
                    <a:bodyPr/>
                    <a:lstStyle/>
                    <a:p>
                      <a:endParaRPr lang="en-US" noProof="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500" noProof="0">
                          <a:solidFill>
                            <a:srgbClr val="00B050"/>
                          </a:solidFill>
                        </a:rPr>
                        <a:t>Good to be used for output layer</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500" noProof="0">
                          <a:solidFill>
                            <a:srgbClr val="FF0000"/>
                          </a:solidFill>
                        </a:rPr>
                        <a:t>Represent no derivative learning values</a:t>
                      </a:r>
                      <a:endParaRPr lang="en-US" sz="1500" noProof="0">
                        <a:solidFill>
                          <a:srgbClr val="00B050"/>
                        </a:solidFill>
                      </a:endParaRPr>
                    </a:p>
                    <a:p>
                      <a:endParaRPr lang="en-US" sz="1500" noProof="0"/>
                    </a:p>
                  </a:txBody>
                  <a:tcPr/>
                </a:tc>
                <a:extLst>
                  <a:ext uri="{0D108BD9-81ED-4DB2-BD59-A6C34878D82A}">
                    <a16:rowId xmlns:a16="http://schemas.microsoft.com/office/drawing/2014/main" val="3459801249"/>
                  </a:ext>
                </a:extLst>
              </a:tr>
              <a:tr h="921804">
                <a:tc>
                  <a:txBody>
                    <a:bodyPr/>
                    <a:lstStyle/>
                    <a:p>
                      <a:r>
                        <a:rPr lang="en-US" sz="1600" noProof="0"/>
                        <a:t>Sigmoid Function</a:t>
                      </a:r>
                    </a:p>
                    <a:p>
                      <a:r>
                        <a:rPr lang="en-US" sz="1200" noProof="0"/>
                        <a:t>(Logistic)</a:t>
                      </a:r>
                    </a:p>
                  </a:txBody>
                  <a:tcPr/>
                </a:tc>
                <a:tc>
                  <a:txBody>
                    <a:bodyPr/>
                    <a:lstStyle/>
                    <a:p>
                      <a:r>
                        <a:rPr lang="en-US" noProof="0"/>
                        <a:t>y = sig(x)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a:t>0 &lt; y &lt; 1</a:t>
                      </a:r>
                    </a:p>
                  </a:txBody>
                  <a:tcPr/>
                </a:tc>
                <a:tc>
                  <a:txBody>
                    <a:bodyPr/>
                    <a:lstStyle/>
                    <a:p>
                      <a:endParaRPr lang="en-US" noProof="0"/>
                    </a:p>
                  </a:txBody>
                  <a:tcPr/>
                </a:tc>
                <a:tc>
                  <a:txBody>
                    <a:bodyPr/>
                    <a:lstStyle/>
                    <a:p>
                      <a:pPr marL="285750" indent="-285750">
                        <a:buFontTx/>
                        <a:buChar char="-"/>
                      </a:pPr>
                      <a:r>
                        <a:rPr lang="en-US" sz="1500" noProof="0">
                          <a:solidFill>
                            <a:srgbClr val="00B050"/>
                          </a:solidFill>
                        </a:rPr>
                        <a:t>Activation value never gets zero (input not lost)</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500" noProof="0">
                          <a:solidFill>
                            <a:srgbClr val="00B050"/>
                          </a:solidFill>
                        </a:rPr>
                        <a:t>Good for predicting probabilities (0 ≤ y ≤ 1)</a:t>
                      </a:r>
                    </a:p>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500" noProof="0">
                          <a:solidFill>
                            <a:srgbClr val="FF0000"/>
                          </a:solidFill>
                        </a:rPr>
                        <a:t>Lost gradient problem</a:t>
                      </a:r>
                    </a:p>
                  </a:txBody>
                  <a:tcPr/>
                </a:tc>
                <a:extLst>
                  <a:ext uri="{0D108BD9-81ED-4DB2-BD59-A6C34878D82A}">
                    <a16:rowId xmlns:a16="http://schemas.microsoft.com/office/drawing/2014/main" val="3449001733"/>
                  </a:ext>
                </a:extLst>
              </a:tr>
              <a:tr h="1053626">
                <a:tc>
                  <a:txBody>
                    <a:bodyPr/>
                    <a:lstStyle/>
                    <a:p>
                      <a:r>
                        <a:rPr lang="en-US" sz="1600" noProof="0"/>
                        <a:t>Hyperbolic-Tangent Function</a:t>
                      </a:r>
                    </a:p>
                    <a:p>
                      <a:r>
                        <a:rPr lang="en-US" sz="1200" noProof="0"/>
                        <a:t>(Tanh)</a:t>
                      </a:r>
                    </a:p>
                  </a:txBody>
                  <a:tcPr/>
                </a:tc>
                <a:tc>
                  <a:txBody>
                    <a:bodyPr/>
                    <a:lstStyle/>
                    <a:p>
                      <a:r>
                        <a:rPr lang="en-US" noProof="0"/>
                        <a:t>y = tanh(x)</a:t>
                      </a:r>
                    </a:p>
                    <a:p>
                      <a:r>
                        <a:rPr lang="en-US" noProof="0"/>
                        <a:t>-1 &lt; y &lt; 1</a:t>
                      </a:r>
                    </a:p>
                  </a:txBody>
                  <a:tcPr/>
                </a:tc>
                <a:tc>
                  <a:txBody>
                    <a:bodyPr/>
                    <a:lstStyle/>
                    <a:p>
                      <a:endParaRPr lang="en-US" noProof="0"/>
                    </a:p>
                  </a:txBody>
                  <a:tcPr/>
                </a:tc>
                <a:tc>
                  <a:txBody>
                    <a:bodyPr/>
                    <a:lstStyle/>
                    <a:p>
                      <a:pPr marL="285750" indent="-285750">
                        <a:buFontTx/>
                        <a:buChar char="-"/>
                      </a:pPr>
                      <a:r>
                        <a:rPr lang="en-US" sz="1500" noProof="0">
                          <a:solidFill>
                            <a:srgbClr val="00B050"/>
                          </a:solidFill>
                        </a:rPr>
                        <a:t>Activation value never gets -1 (input not lost)</a:t>
                      </a:r>
                    </a:p>
                    <a:p>
                      <a:pPr marL="285750" indent="-285750">
                        <a:buFontTx/>
                        <a:buChar char="-"/>
                      </a:pPr>
                      <a:r>
                        <a:rPr lang="en-US" sz="1500" noProof="0">
                          <a:solidFill>
                            <a:srgbClr val="00B050"/>
                          </a:solidFill>
                        </a:rPr>
                        <a:t>More efficient than sigmoid + learning for negative values</a:t>
                      </a:r>
                    </a:p>
                    <a:p>
                      <a:pPr marL="285750" indent="-285750">
                        <a:buFontTx/>
                        <a:buChar char="-"/>
                      </a:pPr>
                      <a:r>
                        <a:rPr lang="en-US" sz="1500" noProof="0">
                          <a:solidFill>
                            <a:srgbClr val="00B050"/>
                          </a:solidFill>
                        </a:rPr>
                        <a:t>Good for classification between two classes</a:t>
                      </a:r>
                    </a:p>
                    <a:p>
                      <a:pPr marL="285750" indent="-285750">
                        <a:buFontTx/>
                        <a:buChar char="-"/>
                      </a:pPr>
                      <a:r>
                        <a:rPr lang="en-US" sz="1500" noProof="0">
                          <a:solidFill>
                            <a:srgbClr val="FF0000"/>
                          </a:solidFill>
                        </a:rPr>
                        <a:t>Lost gradient problem</a:t>
                      </a:r>
                    </a:p>
                  </a:txBody>
                  <a:tcPr/>
                </a:tc>
                <a:extLst>
                  <a:ext uri="{0D108BD9-81ED-4DB2-BD59-A6C34878D82A}">
                    <a16:rowId xmlns:a16="http://schemas.microsoft.com/office/drawing/2014/main" val="347334002"/>
                  </a:ext>
                </a:extLst>
              </a:tr>
              <a:tr h="9265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a:t>Rectified Linear Unit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(ReLU)</a:t>
                      </a:r>
                    </a:p>
                  </a:txBody>
                  <a:tcPr/>
                </a:tc>
                <a:tc>
                  <a:txBody>
                    <a:bodyPr/>
                    <a:lstStyle/>
                    <a:p>
                      <a:r>
                        <a:rPr lang="en-US" noProof="0"/>
                        <a:t>y = max(0,x)</a:t>
                      </a:r>
                    </a:p>
                    <a:p>
                      <a:r>
                        <a:rPr lang="en-US" noProof="0"/>
                        <a:t>x&lt;0 </a:t>
                      </a:r>
                      <a:r>
                        <a:rPr lang="en-US" noProof="0">
                          <a:sym typeface="Wingdings" panose="05000000000000000000" pitchFamily="2" charset="2"/>
                        </a:rPr>
                        <a:t> y=0</a:t>
                      </a:r>
                    </a:p>
                    <a:p>
                      <a:r>
                        <a:rPr lang="en-US" noProof="0">
                          <a:sym typeface="Wingdings" panose="05000000000000000000" pitchFamily="2" charset="2"/>
                        </a:rPr>
                        <a:t>x&gt;0  y=x</a:t>
                      </a:r>
                      <a:endParaRPr lang="en-US" noProof="0"/>
                    </a:p>
                  </a:txBody>
                  <a:tcPr/>
                </a:tc>
                <a:tc>
                  <a:txBody>
                    <a:bodyPr/>
                    <a:lstStyle/>
                    <a:p>
                      <a:endParaRPr lang="en-US" noProof="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500" noProof="0">
                          <a:solidFill>
                            <a:srgbClr val="00B050"/>
                          </a:solidFill>
                        </a:rPr>
                        <a:t>Very efficient </a:t>
                      </a:r>
                      <a:r>
                        <a:rPr lang="en-US" sz="1500" noProof="0">
                          <a:solidFill>
                            <a:srgbClr val="00B050"/>
                          </a:solidFill>
                          <a:sym typeface="Wingdings" panose="05000000000000000000" pitchFamily="2" charset="2"/>
                        </a:rPr>
                        <a:t> </a:t>
                      </a:r>
                      <a:r>
                        <a:rPr lang="en-US" sz="1500" noProof="0">
                          <a:solidFill>
                            <a:srgbClr val="00B050"/>
                          </a:solidFill>
                        </a:rPr>
                        <a:t>Good for multi-layer networks</a:t>
                      </a:r>
                    </a:p>
                    <a:p>
                      <a:pPr marL="285750" indent="-285750">
                        <a:buFontTx/>
                        <a:buChar char="-"/>
                      </a:pPr>
                      <a:r>
                        <a:rPr lang="en-US" sz="1500" noProof="0">
                          <a:solidFill>
                            <a:srgbClr val="00B050"/>
                          </a:solidFill>
                        </a:rPr>
                        <a:t>Solves lost gradient problem</a:t>
                      </a:r>
                    </a:p>
                    <a:p>
                      <a:pPr marL="285750" indent="-285750">
                        <a:buFontTx/>
                        <a:buChar char="-"/>
                      </a:pPr>
                      <a:r>
                        <a:rPr lang="en-US" sz="1500" noProof="0">
                          <a:solidFill>
                            <a:srgbClr val="FF0000"/>
                          </a:solidFill>
                        </a:rPr>
                        <a:t>No learning for negative values n/ dying </a:t>
                      </a:r>
                      <a:r>
                        <a:rPr lang="en-US" sz="1500" noProof="0" err="1">
                          <a:solidFill>
                            <a:srgbClr val="FF0000"/>
                          </a:solidFill>
                        </a:rPr>
                        <a:t>ReLu</a:t>
                      </a:r>
                      <a:r>
                        <a:rPr lang="en-US" sz="1500" noProof="0">
                          <a:solidFill>
                            <a:srgbClr val="FF0000"/>
                          </a:solidFill>
                        </a:rPr>
                        <a:t> (-&gt; Leaky </a:t>
                      </a:r>
                      <a:r>
                        <a:rPr lang="en-US" sz="1500" noProof="0" err="1">
                          <a:solidFill>
                            <a:srgbClr val="FF0000"/>
                          </a:solidFill>
                        </a:rPr>
                        <a:t>ReLu</a:t>
                      </a:r>
                      <a:r>
                        <a:rPr lang="en-US" sz="1500" noProof="0">
                          <a:solidFill>
                            <a:srgbClr val="FF0000"/>
                          </a:solidFill>
                        </a:rPr>
                        <a:t>)</a:t>
                      </a:r>
                    </a:p>
                  </a:txBody>
                  <a:tcPr/>
                </a:tc>
                <a:extLst>
                  <a:ext uri="{0D108BD9-81ED-4DB2-BD59-A6C34878D82A}">
                    <a16:rowId xmlns:a16="http://schemas.microsoft.com/office/drawing/2014/main" val="2547246914"/>
                  </a:ext>
                </a:extLst>
              </a:tr>
            </a:tbl>
          </a:graphicData>
        </a:graphic>
      </p:graphicFrame>
      <p:pic>
        <p:nvPicPr>
          <p:cNvPr id="15" name="Grafik 14">
            <a:extLst>
              <a:ext uri="{FF2B5EF4-FFF2-40B4-BE49-F238E27FC236}">
                <a16:creationId xmlns:a16="http://schemas.microsoft.com/office/drawing/2014/main" id="{83AF2507-F9A6-4920-AD6B-DE48C4E67E6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453559" y="3487738"/>
            <a:ext cx="1691966" cy="776507"/>
          </a:xfrm>
          <a:prstGeom prst="rect">
            <a:avLst/>
          </a:prstGeom>
        </p:spPr>
      </p:pic>
      <p:pic>
        <p:nvPicPr>
          <p:cNvPr id="16" name="Grafik 15">
            <a:extLst>
              <a:ext uri="{FF2B5EF4-FFF2-40B4-BE49-F238E27FC236}">
                <a16:creationId xmlns:a16="http://schemas.microsoft.com/office/drawing/2014/main" id="{89F7DF67-CFDB-4AB0-878E-011D6F31F837}"/>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453557" y="1700808"/>
            <a:ext cx="1691966" cy="776507"/>
          </a:xfrm>
          <a:prstGeom prst="rect">
            <a:avLst/>
          </a:prstGeom>
        </p:spPr>
      </p:pic>
      <p:pic>
        <p:nvPicPr>
          <p:cNvPr id="17" name="Grafik 16">
            <a:extLst>
              <a:ext uri="{FF2B5EF4-FFF2-40B4-BE49-F238E27FC236}">
                <a16:creationId xmlns:a16="http://schemas.microsoft.com/office/drawing/2014/main" id="{A724A864-0C78-43CE-BF3B-82C04C1DEF1D}"/>
              </a:ext>
            </a:extLst>
          </p:cNvPr>
          <p:cNvPicPr>
            <a:picLocks noChangeAspect="1"/>
          </p:cNvPicPr>
          <p:nvPr/>
        </p:nvPicPr>
        <p:blipFill>
          <a:blip r:embed="rId5" cstate="screen">
            <a:extLst>
              <a:ext uri="{28A0092B-C50C-407E-A947-70E740481C1C}">
                <a14:useLocalDpi xmlns:a14="http://schemas.microsoft.com/office/drawing/2010/main"/>
              </a:ext>
            </a:extLst>
          </a:blip>
          <a:stretch>
            <a:fillRect/>
          </a:stretch>
        </p:blipFill>
        <p:spPr>
          <a:xfrm>
            <a:off x="4453558" y="2564904"/>
            <a:ext cx="1691966" cy="785082"/>
          </a:xfrm>
          <a:prstGeom prst="rect">
            <a:avLst/>
          </a:prstGeom>
        </p:spPr>
      </p:pic>
      <p:pic>
        <p:nvPicPr>
          <p:cNvPr id="18" name="Grafik 17">
            <a:extLst>
              <a:ext uri="{FF2B5EF4-FFF2-40B4-BE49-F238E27FC236}">
                <a16:creationId xmlns:a16="http://schemas.microsoft.com/office/drawing/2014/main" id="{D8C48F8B-A497-40DC-9928-60495F744EA4}"/>
              </a:ext>
            </a:extLst>
          </p:cNvPr>
          <p:cNvPicPr>
            <a:picLocks noChangeAspect="1"/>
          </p:cNvPicPr>
          <p:nvPr/>
        </p:nvPicPr>
        <p:blipFill>
          <a:blip r:embed="rId6" cstate="screen">
            <a:extLst>
              <a:ext uri="{28A0092B-C50C-407E-A947-70E740481C1C}">
                <a14:useLocalDpi xmlns:a14="http://schemas.microsoft.com/office/drawing/2010/main"/>
              </a:ext>
            </a:extLst>
          </a:blip>
          <a:stretch>
            <a:fillRect/>
          </a:stretch>
        </p:blipFill>
        <p:spPr>
          <a:xfrm>
            <a:off x="4453559" y="4463077"/>
            <a:ext cx="1691965" cy="808895"/>
          </a:xfrm>
          <a:prstGeom prst="rect">
            <a:avLst/>
          </a:prstGeom>
        </p:spPr>
      </p:pic>
      <p:pic>
        <p:nvPicPr>
          <p:cNvPr id="19" name="Grafik 18">
            <a:extLst>
              <a:ext uri="{FF2B5EF4-FFF2-40B4-BE49-F238E27FC236}">
                <a16:creationId xmlns:a16="http://schemas.microsoft.com/office/drawing/2014/main" id="{7E46ED8E-8F25-48C3-9057-202621550DF5}"/>
              </a:ext>
            </a:extLst>
          </p:cNvPr>
          <p:cNvPicPr>
            <a:picLocks noChangeAspect="1"/>
          </p:cNvPicPr>
          <p:nvPr/>
        </p:nvPicPr>
        <p:blipFill>
          <a:blip r:embed="rId7" cstate="screen">
            <a:extLst>
              <a:ext uri="{28A0092B-C50C-407E-A947-70E740481C1C}">
                <a14:useLocalDpi xmlns:a14="http://schemas.microsoft.com/office/drawing/2010/main"/>
              </a:ext>
            </a:extLst>
          </a:blip>
          <a:stretch>
            <a:fillRect/>
          </a:stretch>
        </p:blipFill>
        <p:spPr>
          <a:xfrm>
            <a:off x="4453559" y="5452968"/>
            <a:ext cx="1697249" cy="859016"/>
          </a:xfrm>
          <a:prstGeom prst="rect">
            <a:avLst/>
          </a:prstGeom>
        </p:spPr>
      </p:pic>
      <p:sp>
        <p:nvSpPr>
          <p:cNvPr id="10" name="Pfeil: nach rechts 9">
            <a:extLst>
              <a:ext uri="{FF2B5EF4-FFF2-40B4-BE49-F238E27FC236}">
                <a16:creationId xmlns:a16="http://schemas.microsoft.com/office/drawing/2014/main" id="{BEC019C2-63D2-402A-ABBD-4F8FFF51AB8C}"/>
              </a:ext>
            </a:extLst>
          </p:cNvPr>
          <p:cNvSpPr/>
          <p:nvPr/>
        </p:nvSpPr>
        <p:spPr bwMode="auto">
          <a:xfrm>
            <a:off x="46707" y="5393367"/>
            <a:ext cx="914599" cy="978218"/>
          </a:xfrm>
          <a:prstGeom prst="rightArrow">
            <a:avLst>
              <a:gd name="adj1" fmla="val 50000"/>
              <a:gd name="adj2" fmla="val 33387"/>
            </a:avLst>
          </a:prstGeom>
          <a:noFill/>
          <a:ln w="28440">
            <a:solidFill>
              <a:srgbClr val="00646E"/>
            </a:solidFill>
            <a:round/>
          </a:ln>
        </p:spPr>
        <p:style>
          <a:lnRef idx="0">
            <a:scrgbClr r="0" g="0" b="0"/>
          </a:lnRef>
          <a:fillRef idx="0">
            <a:scrgbClr r="0" g="0" b="0"/>
          </a:fillRef>
          <a:effectRef idx="0">
            <a:scrgbClr r="0" g="0" b="0"/>
          </a:effectRef>
          <a:fontRef idx="minor"/>
        </p:style>
        <p:txBody>
          <a:bodyPr lIns="0" tIns="0" rIns="0" bIns="0">
            <a:spAutoFit/>
          </a:bodyPr>
          <a:lstStyle/>
          <a:p>
            <a:pPr algn="ctr">
              <a:spcBef>
                <a:spcPts val="0"/>
              </a:spcBef>
            </a:pPr>
            <a:r>
              <a:rPr lang="en-US" sz="1600" spc="-1">
                <a:solidFill>
                  <a:srgbClr val="000000"/>
                </a:solidFill>
                <a:latin typeface="Arial"/>
                <a:ea typeface="ＭＳ Ｐゴシック"/>
              </a:rPr>
              <a:t>Our Focus</a:t>
            </a:r>
          </a:p>
        </p:txBody>
      </p:sp>
    </p:spTree>
    <p:extLst>
      <p:ext uri="{BB962C8B-B14F-4D97-AF65-F5344CB8AC3E}">
        <p14:creationId xmlns:p14="http://schemas.microsoft.com/office/powerpoint/2010/main" val="3306078910"/>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559EA2-8F0D-488F-A9E2-BD1DDB06F89C}"/>
              </a:ext>
            </a:extLst>
          </p:cNvPr>
          <p:cNvSpPr>
            <a:spLocks noGrp="1"/>
          </p:cNvSpPr>
          <p:nvPr>
            <p:ph type="title"/>
          </p:nvPr>
        </p:nvSpPr>
        <p:spPr/>
        <p:txBody>
          <a:bodyPr/>
          <a:lstStyle/>
          <a:p>
            <a:r>
              <a:rPr lang="en-US"/>
              <a:t>Mostly used Activation Functions: hidden and output layer</a:t>
            </a:r>
          </a:p>
        </p:txBody>
      </p:sp>
      <p:graphicFrame>
        <p:nvGraphicFramePr>
          <p:cNvPr id="13" name="Tabelle 13">
            <a:extLst>
              <a:ext uri="{FF2B5EF4-FFF2-40B4-BE49-F238E27FC236}">
                <a16:creationId xmlns:a16="http://schemas.microsoft.com/office/drawing/2014/main" id="{073955B0-2E97-48FD-A6DF-FA301C949250}"/>
              </a:ext>
            </a:extLst>
          </p:cNvPr>
          <p:cNvGraphicFramePr>
            <a:graphicFrameLocks noGrp="1"/>
          </p:cNvGraphicFramePr>
          <p:nvPr>
            <p:ph idx="1"/>
            <p:extLst>
              <p:ext uri="{D42A27DB-BD31-4B8C-83A1-F6EECF244321}">
                <p14:modId xmlns:p14="http://schemas.microsoft.com/office/powerpoint/2010/main" val="4132570927"/>
              </p:ext>
            </p:extLst>
          </p:nvPr>
        </p:nvGraphicFramePr>
        <p:xfrm>
          <a:off x="914599" y="1331250"/>
          <a:ext cx="10873159" cy="4644567"/>
        </p:xfrm>
        <a:graphic>
          <a:graphicData uri="http://schemas.openxmlformats.org/drawingml/2006/table">
            <a:tbl>
              <a:tblPr firstRow="1" firstCol="1" bandRow="1">
                <a:tableStyleId>{5C22544A-7EE6-4342-B048-85BDC9FD1C3A}</a:tableStyleId>
              </a:tblPr>
              <a:tblGrid>
                <a:gridCol w="2153071">
                  <a:extLst>
                    <a:ext uri="{9D8B030D-6E8A-4147-A177-3AD203B41FA5}">
                      <a16:colId xmlns:a16="http://schemas.microsoft.com/office/drawing/2014/main" val="50350979"/>
                    </a:ext>
                  </a:extLst>
                </a:gridCol>
                <a:gridCol w="1518080">
                  <a:extLst>
                    <a:ext uri="{9D8B030D-6E8A-4147-A177-3AD203B41FA5}">
                      <a16:colId xmlns:a16="http://schemas.microsoft.com/office/drawing/2014/main" val="491381177"/>
                    </a:ext>
                  </a:extLst>
                </a:gridCol>
                <a:gridCol w="1835818">
                  <a:extLst>
                    <a:ext uri="{9D8B030D-6E8A-4147-A177-3AD203B41FA5}">
                      <a16:colId xmlns:a16="http://schemas.microsoft.com/office/drawing/2014/main" val="3131182123"/>
                    </a:ext>
                  </a:extLst>
                </a:gridCol>
                <a:gridCol w="5366190">
                  <a:extLst>
                    <a:ext uri="{9D8B030D-6E8A-4147-A177-3AD203B41FA5}">
                      <a16:colId xmlns:a16="http://schemas.microsoft.com/office/drawing/2014/main" val="682004119"/>
                    </a:ext>
                  </a:extLst>
                </a:gridCol>
              </a:tblGrid>
              <a:tr h="383137">
                <a:tc>
                  <a:txBody>
                    <a:bodyPr/>
                    <a:lstStyle/>
                    <a:p>
                      <a:r>
                        <a:rPr lang="en-US" noProof="0"/>
                        <a:t>HIDDEN LAYER</a:t>
                      </a:r>
                    </a:p>
                  </a:txBody>
                  <a:tcPr/>
                </a:tc>
                <a:tc>
                  <a:txBody>
                    <a:bodyPr/>
                    <a:lstStyle/>
                    <a:p>
                      <a:r>
                        <a:rPr lang="en-US" noProof="0"/>
                        <a:t>Description</a:t>
                      </a:r>
                    </a:p>
                  </a:txBody>
                  <a:tcPr/>
                </a:tc>
                <a:tc>
                  <a:txBody>
                    <a:bodyPr/>
                    <a:lstStyle/>
                    <a:p>
                      <a:r>
                        <a:rPr lang="en-US" noProof="0"/>
                        <a:t>Figure (red)</a:t>
                      </a:r>
                    </a:p>
                  </a:txBody>
                  <a:tcPr/>
                </a:tc>
                <a:tc>
                  <a:txBody>
                    <a:bodyPr/>
                    <a:lstStyle/>
                    <a:p>
                      <a:r>
                        <a:rPr lang="en-US" noProof="0"/>
                        <a:t>Pros and Cons</a:t>
                      </a:r>
                    </a:p>
                  </a:txBody>
                  <a:tcPr/>
                </a:tc>
                <a:extLst>
                  <a:ext uri="{0D108BD9-81ED-4DB2-BD59-A6C34878D82A}">
                    <a16:rowId xmlns:a16="http://schemas.microsoft.com/office/drawing/2014/main" val="1766318251"/>
                  </a:ext>
                </a:extLst>
              </a:tr>
              <a:tr h="87700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a:t>Rectified Linear Unit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(ReLU)</a:t>
                      </a:r>
                    </a:p>
                  </a:txBody>
                  <a:tcPr/>
                </a:tc>
                <a:tc>
                  <a:txBody>
                    <a:bodyPr/>
                    <a:lstStyle/>
                    <a:p>
                      <a:r>
                        <a:rPr lang="en-US" noProof="0"/>
                        <a:t>y = max(0,x)</a:t>
                      </a:r>
                    </a:p>
                    <a:p>
                      <a:r>
                        <a:rPr lang="en-US" noProof="0"/>
                        <a:t>x&lt;0 </a:t>
                      </a:r>
                      <a:r>
                        <a:rPr lang="en-US" noProof="0">
                          <a:sym typeface="Wingdings" panose="05000000000000000000" pitchFamily="2" charset="2"/>
                        </a:rPr>
                        <a:t> y=0</a:t>
                      </a:r>
                    </a:p>
                    <a:p>
                      <a:r>
                        <a:rPr lang="en-US" noProof="0">
                          <a:sym typeface="Wingdings" panose="05000000000000000000" pitchFamily="2" charset="2"/>
                        </a:rPr>
                        <a:t>x&gt;0  y=x</a:t>
                      </a:r>
                      <a:endParaRPr lang="en-US" noProof="0"/>
                    </a:p>
                  </a:txBody>
                  <a:tcPr/>
                </a:tc>
                <a:tc>
                  <a:txBody>
                    <a:bodyPr/>
                    <a:lstStyle/>
                    <a:p>
                      <a:endParaRPr lang="en-US" noProof="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500" noProof="0">
                          <a:solidFill>
                            <a:srgbClr val="00B050"/>
                          </a:solidFill>
                        </a:rPr>
                        <a:t>Very efficient </a:t>
                      </a:r>
                      <a:r>
                        <a:rPr lang="en-US" sz="1500" noProof="0">
                          <a:solidFill>
                            <a:srgbClr val="00B050"/>
                          </a:solidFill>
                          <a:sym typeface="Wingdings" panose="05000000000000000000" pitchFamily="2" charset="2"/>
                        </a:rPr>
                        <a:t> </a:t>
                      </a:r>
                      <a:r>
                        <a:rPr lang="en-US" sz="1500" noProof="0">
                          <a:solidFill>
                            <a:srgbClr val="00B050"/>
                          </a:solidFill>
                        </a:rPr>
                        <a:t>Good for multi-layer networks</a:t>
                      </a:r>
                    </a:p>
                    <a:p>
                      <a:pPr marL="285750" indent="-285750">
                        <a:buFontTx/>
                        <a:buChar char="-"/>
                      </a:pPr>
                      <a:r>
                        <a:rPr lang="en-US" sz="1500" noProof="0">
                          <a:solidFill>
                            <a:srgbClr val="00B050"/>
                          </a:solidFill>
                        </a:rPr>
                        <a:t>Solves lost gradient problem</a:t>
                      </a:r>
                    </a:p>
                    <a:p>
                      <a:pPr marL="285750" indent="-285750">
                        <a:buFontTx/>
                        <a:buChar char="-"/>
                      </a:pPr>
                      <a:r>
                        <a:rPr lang="en-US" sz="1500" noProof="0">
                          <a:solidFill>
                            <a:srgbClr val="FF0000"/>
                          </a:solidFill>
                        </a:rPr>
                        <a:t>No learning for negative values n/ dying ReLu (-&gt; Leaky ReLu)</a:t>
                      </a:r>
                    </a:p>
                  </a:txBody>
                  <a:tcPr/>
                </a:tc>
                <a:extLst>
                  <a:ext uri="{0D108BD9-81ED-4DB2-BD59-A6C34878D82A}">
                    <a16:rowId xmlns:a16="http://schemas.microsoft.com/office/drawing/2014/main" val="3396052968"/>
                  </a:ext>
                </a:extLst>
              </a:tr>
              <a:tr h="3487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kern="1200" noProof="0">
                          <a:solidFill>
                            <a:schemeClr val="lt1"/>
                          </a:solidFill>
                          <a:latin typeface="+mn-lt"/>
                          <a:ea typeface="+mn-ea"/>
                          <a:cs typeface="+mn-cs"/>
                        </a:rPr>
                        <a:t>OUTPUT LAYER</a:t>
                      </a:r>
                    </a:p>
                  </a:txBody>
                  <a:tcPr/>
                </a:tc>
                <a:tc>
                  <a:txBody>
                    <a:bodyPr/>
                    <a:lstStyle/>
                    <a:p>
                      <a:endParaRPr lang="en-US" noProof="0"/>
                    </a:p>
                  </a:txBody>
                  <a:tcPr/>
                </a:tc>
                <a:tc>
                  <a:txBody>
                    <a:bodyPr/>
                    <a:lstStyle/>
                    <a:p>
                      <a:endParaRPr lang="en-US" noProof="0"/>
                    </a:p>
                  </a:txBody>
                  <a:tcPr/>
                </a:tc>
                <a:tc>
                  <a:txBody>
                    <a:bodyPr/>
                    <a:lstStyle/>
                    <a:p>
                      <a:pPr marL="285750" indent="-285750">
                        <a:buFontTx/>
                        <a:buChar char="-"/>
                      </a:pPr>
                      <a:endParaRPr lang="en-US" sz="1500" noProof="0">
                        <a:solidFill>
                          <a:srgbClr val="FF0000"/>
                        </a:solidFill>
                      </a:endParaRPr>
                    </a:p>
                  </a:txBody>
                  <a:tcPr/>
                </a:tc>
                <a:extLst>
                  <a:ext uri="{0D108BD9-81ED-4DB2-BD59-A6C34878D82A}">
                    <a16:rowId xmlns:a16="http://schemas.microsoft.com/office/drawing/2014/main" val="485522419"/>
                  </a:ext>
                </a:extLst>
              </a:tr>
              <a:tr h="34873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noProof="0"/>
                        <a:t>Rectified Linear Unit Function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noProof="0"/>
                        <a:t>(ReLU)</a:t>
                      </a:r>
                    </a:p>
                  </a:txBody>
                  <a:tcPr/>
                </a:tc>
                <a:tc>
                  <a:txBody>
                    <a:bodyPr/>
                    <a:lstStyle/>
                    <a:p>
                      <a:r>
                        <a:rPr lang="en-US" noProof="0"/>
                        <a:t>y = max(0,x)</a:t>
                      </a:r>
                    </a:p>
                    <a:p>
                      <a:r>
                        <a:rPr lang="en-US" noProof="0"/>
                        <a:t>x&lt;0 </a:t>
                      </a:r>
                      <a:r>
                        <a:rPr lang="en-US" noProof="0">
                          <a:sym typeface="Wingdings" panose="05000000000000000000" pitchFamily="2" charset="2"/>
                        </a:rPr>
                        <a:t> y=0</a:t>
                      </a:r>
                    </a:p>
                    <a:p>
                      <a:r>
                        <a:rPr lang="en-US" noProof="0">
                          <a:sym typeface="Wingdings" panose="05000000000000000000" pitchFamily="2" charset="2"/>
                        </a:rPr>
                        <a:t>x&gt;0  y=x</a:t>
                      </a:r>
                      <a:endParaRPr lang="en-US" noProof="0"/>
                    </a:p>
                  </a:txBody>
                  <a:tcPr/>
                </a:tc>
                <a:tc>
                  <a:txBody>
                    <a:bodyPr/>
                    <a:lstStyle/>
                    <a:p>
                      <a:endParaRPr lang="en-US" noProof="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500" noProof="0">
                          <a:solidFill>
                            <a:srgbClr val="871E50"/>
                          </a:solidFill>
                        </a:rPr>
                        <a:t>Predict continuous value: regression (linear activation functions works as well)</a:t>
                      </a:r>
                    </a:p>
                  </a:txBody>
                  <a:tcPr/>
                </a:tc>
                <a:extLst>
                  <a:ext uri="{0D108BD9-81ED-4DB2-BD59-A6C34878D82A}">
                    <a16:rowId xmlns:a16="http://schemas.microsoft.com/office/drawing/2014/main" val="1888965467"/>
                  </a:ext>
                </a:extLst>
              </a:tr>
              <a:tr h="921804">
                <a:tc>
                  <a:txBody>
                    <a:bodyPr/>
                    <a:lstStyle/>
                    <a:p>
                      <a:r>
                        <a:rPr lang="en-US" sz="1600" noProof="0"/>
                        <a:t>Sigmoid Function</a:t>
                      </a:r>
                    </a:p>
                    <a:p>
                      <a:r>
                        <a:rPr lang="en-US" sz="1200" noProof="0"/>
                        <a:t>(Logistic)</a:t>
                      </a:r>
                    </a:p>
                  </a:txBody>
                  <a:tcPr/>
                </a:tc>
                <a:tc>
                  <a:txBody>
                    <a:bodyPr/>
                    <a:lstStyle/>
                    <a:p>
                      <a:r>
                        <a:rPr lang="en-US" noProof="0"/>
                        <a:t>y = sig(x)</a:t>
                      </a:r>
                    </a:p>
                    <a:p>
                      <a:pPr marL="0" marR="0" lvl="0" indent="0" algn="l" defTabSz="914400" rtl="0" eaLnBrk="1" fontAlgn="auto" latinLnBrk="0" hangingPunct="1">
                        <a:lnSpc>
                          <a:spcPct val="100000"/>
                        </a:lnSpc>
                        <a:spcBef>
                          <a:spcPts val="0"/>
                        </a:spcBef>
                        <a:spcAft>
                          <a:spcPts val="0"/>
                        </a:spcAft>
                        <a:buClrTx/>
                        <a:buSzTx/>
                        <a:buFontTx/>
                        <a:buNone/>
                        <a:tabLst/>
                        <a:defRPr/>
                      </a:pPr>
                      <a:r>
                        <a:rPr lang="en-US" noProof="0"/>
                        <a:t>0 &lt; y &lt; 1</a:t>
                      </a:r>
                    </a:p>
                  </a:txBody>
                  <a:tcPr/>
                </a:tc>
                <a:tc>
                  <a:txBody>
                    <a:bodyPr/>
                    <a:lstStyle/>
                    <a:p>
                      <a:endParaRPr lang="en-US" noProof="0"/>
                    </a:p>
                  </a:txBody>
                  <a:tcPr/>
                </a:tc>
                <a:tc>
                  <a:txBody>
                    <a:bodyPr/>
                    <a:lstStyle/>
                    <a:p>
                      <a:pPr marL="285750" marR="0" lvl="0" indent="-285750" algn="l" defTabSz="914400" rtl="0" eaLnBrk="1" fontAlgn="auto" latinLnBrk="0" hangingPunct="1">
                        <a:lnSpc>
                          <a:spcPct val="100000"/>
                        </a:lnSpc>
                        <a:spcBef>
                          <a:spcPts val="0"/>
                        </a:spcBef>
                        <a:spcAft>
                          <a:spcPts val="0"/>
                        </a:spcAft>
                        <a:buClrTx/>
                        <a:buSzTx/>
                        <a:buFontTx/>
                        <a:buChar char="-"/>
                        <a:tabLst/>
                        <a:defRPr/>
                      </a:pPr>
                      <a:r>
                        <a:rPr lang="en-US" sz="1500" noProof="0">
                          <a:solidFill>
                            <a:srgbClr val="871E50"/>
                          </a:solidFill>
                        </a:rPr>
                        <a:t>Predict probabilities (0 ≤ y ≤ 1) for binary classification</a:t>
                      </a:r>
                    </a:p>
                  </a:txBody>
                  <a:tcPr/>
                </a:tc>
                <a:extLst>
                  <a:ext uri="{0D108BD9-81ED-4DB2-BD59-A6C34878D82A}">
                    <a16:rowId xmlns:a16="http://schemas.microsoft.com/office/drawing/2014/main" val="3449001733"/>
                  </a:ext>
                </a:extLst>
              </a:tr>
              <a:tr h="1053626">
                <a:tc>
                  <a:txBody>
                    <a:bodyPr/>
                    <a:lstStyle/>
                    <a:p>
                      <a:r>
                        <a:rPr lang="en-US" sz="1600" noProof="0" err="1"/>
                        <a:t>Softmax</a:t>
                      </a:r>
                      <a:r>
                        <a:rPr lang="en-US" sz="1600" noProof="0"/>
                        <a:t> Function</a:t>
                      </a:r>
                    </a:p>
                    <a:p>
                      <a:endParaRPr lang="en-US" sz="1200" noProof="0"/>
                    </a:p>
                  </a:txBody>
                  <a:tcPr/>
                </a:tc>
                <a:tc>
                  <a:txBody>
                    <a:bodyPr/>
                    <a:lstStyle/>
                    <a:p>
                      <a:endParaRPr lang="en-US" noProof="0"/>
                    </a:p>
                  </a:txBody>
                  <a:tcPr/>
                </a:tc>
                <a:tc>
                  <a:txBody>
                    <a:bodyPr/>
                    <a:lstStyle/>
                    <a:p>
                      <a:endParaRPr lang="en-US" noProof="0"/>
                    </a:p>
                  </a:txBody>
                  <a:tcPr/>
                </a:tc>
                <a:tc>
                  <a:txBody>
                    <a:bodyPr/>
                    <a:lstStyle/>
                    <a:p>
                      <a:pPr marL="285750" indent="-285750">
                        <a:buFontTx/>
                        <a:buChar char="-"/>
                      </a:pPr>
                      <a:r>
                        <a:rPr lang="en-US" sz="1500" noProof="0">
                          <a:solidFill>
                            <a:srgbClr val="871E50"/>
                          </a:solidFill>
                        </a:rPr>
                        <a:t>Predict probability distribution for multi class classification</a:t>
                      </a:r>
                      <a:br>
                        <a:rPr lang="en-US" sz="1500" noProof="0">
                          <a:solidFill>
                            <a:srgbClr val="871E50"/>
                          </a:solidFill>
                        </a:rPr>
                      </a:br>
                      <a:r>
                        <a:rPr lang="en-US" sz="1500" noProof="0">
                          <a:solidFill>
                            <a:srgbClr val="871E50"/>
                          </a:solidFill>
                        </a:rPr>
                        <a:t>(sums up to 1)</a:t>
                      </a:r>
                    </a:p>
                  </a:txBody>
                  <a:tcPr/>
                </a:tc>
                <a:extLst>
                  <a:ext uri="{0D108BD9-81ED-4DB2-BD59-A6C34878D82A}">
                    <a16:rowId xmlns:a16="http://schemas.microsoft.com/office/drawing/2014/main" val="347334002"/>
                  </a:ext>
                </a:extLst>
              </a:tr>
            </a:tbl>
          </a:graphicData>
        </a:graphic>
      </p:graphicFrame>
      <p:pic>
        <p:nvPicPr>
          <p:cNvPr id="15" name="Grafik 14">
            <a:extLst>
              <a:ext uri="{FF2B5EF4-FFF2-40B4-BE49-F238E27FC236}">
                <a16:creationId xmlns:a16="http://schemas.microsoft.com/office/drawing/2014/main" id="{83AF2507-F9A6-4920-AD6B-DE48C4E67E6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638282" y="4031210"/>
            <a:ext cx="1691966" cy="776507"/>
          </a:xfrm>
          <a:prstGeom prst="rect">
            <a:avLst/>
          </a:prstGeom>
        </p:spPr>
      </p:pic>
      <p:pic>
        <p:nvPicPr>
          <p:cNvPr id="19" name="Grafik 18">
            <a:extLst>
              <a:ext uri="{FF2B5EF4-FFF2-40B4-BE49-F238E27FC236}">
                <a16:creationId xmlns:a16="http://schemas.microsoft.com/office/drawing/2014/main" id="{7E46ED8E-8F25-48C3-9057-202621550DF5}"/>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38282" y="3100476"/>
            <a:ext cx="1697249" cy="859016"/>
          </a:xfrm>
          <a:prstGeom prst="rect">
            <a:avLst/>
          </a:prstGeom>
        </p:spPr>
      </p:pic>
      <p:pic>
        <p:nvPicPr>
          <p:cNvPr id="11" name="Grafik 10">
            <a:extLst>
              <a:ext uri="{FF2B5EF4-FFF2-40B4-BE49-F238E27FC236}">
                <a16:creationId xmlns:a16="http://schemas.microsoft.com/office/drawing/2014/main" id="{A38FDB6C-2F09-4C74-B4E3-ECBEE0E22390}"/>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4639986" y="1808638"/>
            <a:ext cx="1697249" cy="859016"/>
          </a:xfrm>
          <a:prstGeom prst="rect">
            <a:avLst/>
          </a:prstGeom>
        </p:spPr>
      </p:pic>
    </p:spTree>
    <p:extLst>
      <p:ext uri="{BB962C8B-B14F-4D97-AF65-F5344CB8AC3E}">
        <p14:creationId xmlns:p14="http://schemas.microsoft.com/office/powerpoint/2010/main" val="1640111632"/>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en-US"/>
              <a:t>Review: Analogies between Human and Artificial Neural Nets</a:t>
            </a:r>
          </a:p>
        </p:txBody>
      </p:sp>
      <p:pic>
        <p:nvPicPr>
          <p:cNvPr id="2050" name="Picture 2" descr="Bildergebnis fÃ¼r neuronales netz deep">
            <a:extLst>
              <a:ext uri="{FF2B5EF4-FFF2-40B4-BE49-F238E27FC236}">
                <a16:creationId xmlns:a16="http://schemas.microsoft.com/office/drawing/2014/main" id="{A9BC1128-3F74-4C36-BD99-BCAFEA458A91}"/>
              </a:ext>
            </a:extLst>
          </p:cNvPr>
          <p:cNvPicPr>
            <a:picLocks noChangeAspect="1" noChangeArrowheads="1"/>
          </p:cNvPicPr>
          <p:nvPr/>
        </p:nvPicPr>
        <p:blipFill>
          <a:blip r:embed="rId3" cstate="screen">
            <a:extLst>
              <a:ext uri="{28A0092B-C50C-407E-A947-70E740481C1C}">
                <a14:useLocalDpi xmlns:a14="http://schemas.microsoft.com/office/drawing/2010/main"/>
              </a:ext>
            </a:extLst>
          </a:blip>
          <a:srcRect/>
          <a:stretch>
            <a:fillRect/>
          </a:stretch>
        </p:blipFill>
        <p:spPr bwMode="auto">
          <a:xfrm>
            <a:off x="6710115" y="1862826"/>
            <a:ext cx="4696173" cy="3132348"/>
          </a:xfrm>
          <a:prstGeom prst="rect">
            <a:avLst/>
          </a:prstGeom>
          <a:noFill/>
          <a:extLst>
            <a:ext uri="{909E8E84-426E-40DD-AFC4-6F175D3DCCD1}">
              <a14:hiddenFill xmlns:a14="http://schemas.microsoft.com/office/drawing/2010/main">
                <a:solidFill>
                  <a:srgbClr val="FFFFFF"/>
                </a:solidFill>
              </a14:hiddenFill>
            </a:ext>
          </a:extLst>
        </p:spPr>
      </p:pic>
      <p:sp>
        <p:nvSpPr>
          <p:cNvPr id="5" name="Legende: Linie 4">
            <a:extLst>
              <a:ext uri="{FF2B5EF4-FFF2-40B4-BE49-F238E27FC236}">
                <a16:creationId xmlns:a16="http://schemas.microsoft.com/office/drawing/2014/main" id="{6FE423ED-D100-4509-8A65-42D250FBFB68}"/>
              </a:ext>
            </a:extLst>
          </p:cNvPr>
          <p:cNvSpPr/>
          <p:nvPr/>
        </p:nvSpPr>
        <p:spPr bwMode="auto">
          <a:xfrm>
            <a:off x="6963271" y="1754814"/>
            <a:ext cx="540060" cy="3348372"/>
          </a:xfrm>
          <a:prstGeom prst="borderCallout1">
            <a:avLst>
              <a:gd name="adj1" fmla="val 99656"/>
              <a:gd name="adj2" fmla="val -421"/>
              <a:gd name="adj3" fmla="val 112500"/>
              <a:gd name="adj4" fmla="val -3833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1" name="Legende: Linie 10">
            <a:extLst>
              <a:ext uri="{FF2B5EF4-FFF2-40B4-BE49-F238E27FC236}">
                <a16:creationId xmlns:a16="http://schemas.microsoft.com/office/drawing/2014/main" id="{60F0D1C8-D10D-4960-B96F-86FB749B2602}"/>
              </a:ext>
            </a:extLst>
          </p:cNvPr>
          <p:cNvSpPr/>
          <p:nvPr/>
        </p:nvSpPr>
        <p:spPr bwMode="auto">
          <a:xfrm>
            <a:off x="7655731" y="1754814"/>
            <a:ext cx="2871936" cy="3348372"/>
          </a:xfrm>
          <a:prstGeom prst="borderCallout1">
            <a:avLst>
              <a:gd name="adj1" fmla="val 100167"/>
              <a:gd name="adj2" fmla="val 48082"/>
              <a:gd name="adj3" fmla="val 115819"/>
              <a:gd name="adj4" fmla="val 36624"/>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2" name="Legende: Linie 11">
            <a:extLst>
              <a:ext uri="{FF2B5EF4-FFF2-40B4-BE49-F238E27FC236}">
                <a16:creationId xmlns:a16="http://schemas.microsoft.com/office/drawing/2014/main" id="{8E576927-B680-4366-9C39-E303D3116FCF}"/>
              </a:ext>
            </a:extLst>
          </p:cNvPr>
          <p:cNvSpPr/>
          <p:nvPr/>
        </p:nvSpPr>
        <p:spPr bwMode="auto">
          <a:xfrm>
            <a:off x="10621247" y="1754814"/>
            <a:ext cx="540060" cy="3348372"/>
          </a:xfrm>
          <a:prstGeom prst="borderCallout1">
            <a:avLst>
              <a:gd name="adj1" fmla="val 99656"/>
              <a:gd name="adj2" fmla="val -421"/>
              <a:gd name="adj3" fmla="val 116869"/>
              <a:gd name="adj4" fmla="val 6156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0D4C43FF-B520-4BDC-A545-91090C232405}"/>
              </a:ext>
            </a:extLst>
          </p:cNvPr>
          <p:cNvSpPr txBox="1"/>
          <p:nvPr/>
        </p:nvSpPr>
        <p:spPr>
          <a:xfrm>
            <a:off x="6387207" y="5711080"/>
            <a:ext cx="1116124"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Input layer</a:t>
            </a:r>
          </a:p>
        </p:txBody>
      </p:sp>
      <p:sp>
        <p:nvSpPr>
          <p:cNvPr id="14" name="Textfeld 13">
            <a:extLst>
              <a:ext uri="{FF2B5EF4-FFF2-40B4-BE49-F238E27FC236}">
                <a16:creationId xmlns:a16="http://schemas.microsoft.com/office/drawing/2014/main" id="{E413EB5F-D997-4B6B-969B-169C29457863}"/>
              </a:ext>
            </a:extLst>
          </p:cNvPr>
          <p:cNvSpPr txBox="1"/>
          <p:nvPr/>
        </p:nvSpPr>
        <p:spPr>
          <a:xfrm>
            <a:off x="7503331" y="5693737"/>
            <a:ext cx="2871936" cy="424313"/>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Net of many input-output-connections created by Hidden layers (example: 4 layers)</a:t>
            </a:r>
          </a:p>
        </p:txBody>
      </p:sp>
      <p:sp>
        <p:nvSpPr>
          <p:cNvPr id="15" name="Textfeld 14">
            <a:extLst>
              <a:ext uri="{FF2B5EF4-FFF2-40B4-BE49-F238E27FC236}">
                <a16:creationId xmlns:a16="http://schemas.microsoft.com/office/drawing/2014/main" id="{4C19AE93-3915-4C50-BF23-2016D34F9134}"/>
              </a:ext>
            </a:extLst>
          </p:cNvPr>
          <p:cNvSpPr txBox="1"/>
          <p:nvPr/>
        </p:nvSpPr>
        <p:spPr>
          <a:xfrm>
            <a:off x="10229455" y="5689817"/>
            <a:ext cx="1116124"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Output layer</a:t>
            </a:r>
          </a:p>
        </p:txBody>
      </p:sp>
      <p:pic>
        <p:nvPicPr>
          <p:cNvPr id="2054" name="Picture 6" descr="Bildergebnis fÃ¼r artificial neuron">
            <a:extLst>
              <a:ext uri="{FF2B5EF4-FFF2-40B4-BE49-F238E27FC236}">
                <a16:creationId xmlns:a16="http://schemas.microsoft.com/office/drawing/2014/main" id="{10BB2343-4C23-46CF-ACDD-21B3C3662E8E}"/>
              </a:ext>
            </a:extLst>
          </p:cNvPr>
          <p:cNvPicPr>
            <a:picLocks noChangeAspect="1" noChangeArrowheads="1"/>
          </p:cNvPicPr>
          <p:nvPr/>
        </p:nvPicPr>
        <p:blipFill>
          <a:blip r:embed="rId4" cstate="screen">
            <a:extLst>
              <a:ext uri="{28A0092B-C50C-407E-A947-70E740481C1C}">
                <a14:useLocalDpi xmlns:a14="http://schemas.microsoft.com/office/drawing/2010/main"/>
              </a:ext>
            </a:extLst>
          </a:blip>
          <a:srcRect/>
          <a:stretch>
            <a:fillRect/>
          </a:stretch>
        </p:blipFill>
        <p:spPr bwMode="auto">
          <a:xfrm>
            <a:off x="482551" y="2129540"/>
            <a:ext cx="5402678" cy="2564233"/>
          </a:xfrm>
          <a:prstGeom prst="rect">
            <a:avLst/>
          </a:prstGeom>
          <a:noFill/>
          <a:extLst>
            <a:ext uri="{909E8E84-426E-40DD-AFC4-6F175D3DCCD1}">
              <a14:hiddenFill xmlns:a14="http://schemas.microsoft.com/office/drawing/2010/main">
                <a:solidFill>
                  <a:srgbClr val="FFFFFF"/>
                </a:solidFill>
              </a14:hiddenFill>
            </a:ext>
          </a:extLst>
        </p:spPr>
      </p:pic>
      <p:sp>
        <p:nvSpPr>
          <p:cNvPr id="18" name="Textfeld 17">
            <a:extLst>
              <a:ext uri="{FF2B5EF4-FFF2-40B4-BE49-F238E27FC236}">
                <a16:creationId xmlns:a16="http://schemas.microsoft.com/office/drawing/2014/main" id="{DCBACD58-6F4C-4A7C-A7F7-C8A49CACB24F}"/>
              </a:ext>
            </a:extLst>
          </p:cNvPr>
          <p:cNvSpPr txBox="1"/>
          <p:nvPr/>
        </p:nvSpPr>
        <p:spPr>
          <a:xfrm>
            <a:off x="348715" y="5693736"/>
            <a:ext cx="2582108" cy="615583"/>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‚Dendrites‘: weighted inputs from many other neurons</a:t>
            </a:r>
          </a:p>
        </p:txBody>
      </p:sp>
      <p:sp>
        <p:nvSpPr>
          <p:cNvPr id="20" name="Textfeld 19">
            <a:extLst>
              <a:ext uri="{FF2B5EF4-FFF2-40B4-BE49-F238E27FC236}">
                <a16:creationId xmlns:a16="http://schemas.microsoft.com/office/drawing/2014/main" id="{1DE5CFBB-333A-4097-80C5-B38A812450D2}"/>
              </a:ext>
            </a:extLst>
          </p:cNvPr>
          <p:cNvSpPr txBox="1"/>
          <p:nvPr/>
        </p:nvSpPr>
        <p:spPr>
          <a:xfrm>
            <a:off x="3074839" y="5693737"/>
            <a:ext cx="1413757"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‚Neurons‘</a:t>
            </a:r>
          </a:p>
        </p:txBody>
      </p:sp>
      <p:sp>
        <p:nvSpPr>
          <p:cNvPr id="22" name="Legende: Linie 21">
            <a:extLst>
              <a:ext uri="{FF2B5EF4-FFF2-40B4-BE49-F238E27FC236}">
                <a16:creationId xmlns:a16="http://schemas.microsoft.com/office/drawing/2014/main" id="{DBE9EB40-570A-41E3-B332-81FC4DE8CC36}"/>
              </a:ext>
            </a:extLst>
          </p:cNvPr>
          <p:cNvSpPr/>
          <p:nvPr/>
        </p:nvSpPr>
        <p:spPr bwMode="auto">
          <a:xfrm>
            <a:off x="986607" y="1737471"/>
            <a:ext cx="684076" cy="3348372"/>
          </a:xfrm>
          <a:prstGeom prst="borderCallout1">
            <a:avLst>
              <a:gd name="adj1" fmla="val 99656"/>
              <a:gd name="adj2" fmla="val -421"/>
              <a:gd name="adj3" fmla="val 112500"/>
              <a:gd name="adj4" fmla="val -3833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3" name="Legende: Linie 22">
            <a:extLst>
              <a:ext uri="{FF2B5EF4-FFF2-40B4-BE49-F238E27FC236}">
                <a16:creationId xmlns:a16="http://schemas.microsoft.com/office/drawing/2014/main" id="{691A3F1F-F7DE-43B3-97AE-73DAB3AE4944}"/>
              </a:ext>
            </a:extLst>
          </p:cNvPr>
          <p:cNvSpPr/>
          <p:nvPr/>
        </p:nvSpPr>
        <p:spPr bwMode="auto">
          <a:xfrm>
            <a:off x="5311386" y="1737471"/>
            <a:ext cx="684076" cy="3348372"/>
          </a:xfrm>
          <a:prstGeom prst="borderCallout1">
            <a:avLst>
              <a:gd name="adj1" fmla="val 101049"/>
              <a:gd name="adj2" fmla="val 48682"/>
              <a:gd name="adj3" fmla="val 111385"/>
              <a:gd name="adj4" fmla="val 3941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4" name="Textfeld 23">
            <a:extLst>
              <a:ext uri="{FF2B5EF4-FFF2-40B4-BE49-F238E27FC236}">
                <a16:creationId xmlns:a16="http://schemas.microsoft.com/office/drawing/2014/main" id="{3A75D24C-6864-461E-92A3-059380243CC0}"/>
              </a:ext>
            </a:extLst>
          </p:cNvPr>
          <p:cNvSpPr txBox="1"/>
          <p:nvPr/>
        </p:nvSpPr>
        <p:spPr>
          <a:xfrm>
            <a:off x="5252999" y="5693737"/>
            <a:ext cx="729681" cy="406970"/>
          </a:xfrm>
          <a:prstGeom prst="rect">
            <a:avLst/>
          </a:prstGeom>
          <a:noFill/>
        </p:spPr>
        <p:txBody>
          <a:bodyPr wrap="square" lIns="0" tIns="0" rIns="0" bIns="0" rtlCol="0">
            <a:noAutofit/>
          </a:bodyPr>
          <a:lstStyle/>
          <a:p>
            <a:pPr>
              <a:lnSpc>
                <a:spcPct val="110000"/>
              </a:lnSpc>
              <a:spcBef>
                <a:spcPts val="0"/>
              </a:spcBef>
            </a:pPr>
            <a:r>
              <a:rPr lang="en-US" sz="1600">
                <a:solidFill>
                  <a:srgbClr val="00646E"/>
                </a:solidFill>
                <a:latin typeface="+mn-lt"/>
                <a:ea typeface="Arial Unicode MS" panose="020B0604020202020204" pitchFamily="34" charset="-128"/>
                <a:cs typeface="Arial Unicode MS" panose="020B0604020202020204" pitchFamily="34" charset="-128"/>
              </a:rPr>
              <a:t>‚Axon‘</a:t>
            </a:r>
          </a:p>
        </p:txBody>
      </p:sp>
      <p:grpSp>
        <p:nvGrpSpPr>
          <p:cNvPr id="7" name="Gruppieren 6">
            <a:extLst>
              <a:ext uri="{FF2B5EF4-FFF2-40B4-BE49-F238E27FC236}">
                <a16:creationId xmlns:a16="http://schemas.microsoft.com/office/drawing/2014/main" id="{1BF621FF-ED67-4467-ACAB-74C6987940DC}"/>
              </a:ext>
            </a:extLst>
          </p:cNvPr>
          <p:cNvGrpSpPr/>
          <p:nvPr/>
        </p:nvGrpSpPr>
        <p:grpSpPr>
          <a:xfrm>
            <a:off x="2930823" y="1736812"/>
            <a:ext cx="998088" cy="3348372"/>
            <a:chOff x="2930823" y="1736812"/>
            <a:chExt cx="998088" cy="3348372"/>
          </a:xfrm>
        </p:grpSpPr>
        <p:sp>
          <p:nvSpPr>
            <p:cNvPr id="19" name="Legende: Linie 18">
              <a:extLst>
                <a:ext uri="{FF2B5EF4-FFF2-40B4-BE49-F238E27FC236}">
                  <a16:creationId xmlns:a16="http://schemas.microsoft.com/office/drawing/2014/main" id="{58085926-D55B-4172-A4C1-E42E5114CDA1}"/>
                </a:ext>
              </a:extLst>
            </p:cNvPr>
            <p:cNvSpPr/>
            <p:nvPr/>
          </p:nvSpPr>
          <p:spPr bwMode="auto">
            <a:xfrm>
              <a:off x="2930823" y="1736812"/>
              <a:ext cx="998088" cy="3348372"/>
            </a:xfrm>
            <a:prstGeom prst="borderCallout1">
              <a:avLst>
                <a:gd name="adj1" fmla="val 100771"/>
                <a:gd name="adj2" fmla="val 49126"/>
                <a:gd name="adj3" fmla="val 110828"/>
                <a:gd name="adj4" fmla="val 49543"/>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3" name="Rechteck 2">
              <a:extLst>
                <a:ext uri="{FF2B5EF4-FFF2-40B4-BE49-F238E27FC236}">
                  <a16:creationId xmlns:a16="http://schemas.microsoft.com/office/drawing/2014/main" id="{92BCA4B6-ABA1-42CB-9AB2-BAED232E8CBD}"/>
                </a:ext>
              </a:extLst>
            </p:cNvPr>
            <p:cNvSpPr/>
            <p:nvPr/>
          </p:nvSpPr>
          <p:spPr bwMode="auto">
            <a:xfrm>
              <a:off x="3074839" y="1847836"/>
              <a:ext cx="684076" cy="1350150"/>
            </a:xfrm>
            <a:prstGeom prst="rect">
              <a:avLst/>
            </a:prstGeom>
            <a:solidFill>
              <a:schemeClr val="bg1"/>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grpSp>
      <p:sp>
        <p:nvSpPr>
          <p:cNvPr id="4" name="Rechteck 3">
            <a:extLst>
              <a:ext uri="{FF2B5EF4-FFF2-40B4-BE49-F238E27FC236}">
                <a16:creationId xmlns:a16="http://schemas.microsoft.com/office/drawing/2014/main" id="{46DDD65F-3835-4A57-B452-F686C4110B01}"/>
              </a:ext>
            </a:extLst>
          </p:cNvPr>
          <p:cNvSpPr/>
          <p:nvPr/>
        </p:nvSpPr>
        <p:spPr bwMode="auto">
          <a:xfrm>
            <a:off x="986607" y="1194151"/>
            <a:ext cx="5008855" cy="422764"/>
          </a:xfrm>
          <a:prstGeom prst="rect">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r>
              <a:rPr lang="en-US">
                <a:solidFill>
                  <a:schemeClr val="tx1"/>
                </a:solidFill>
                <a:latin typeface="+mn-lt"/>
                <a:ea typeface="Arial Unicode MS" panose="020B0604020202020204" pitchFamily="34" charset="-128"/>
                <a:cs typeface="Arial Unicode MS" panose="020B0604020202020204" pitchFamily="34" charset="-128"/>
              </a:rPr>
              <a:t>One neuron</a:t>
            </a:r>
          </a:p>
        </p:txBody>
      </p:sp>
      <p:sp>
        <p:nvSpPr>
          <p:cNvPr id="25" name="Rechteck 24">
            <a:extLst>
              <a:ext uri="{FF2B5EF4-FFF2-40B4-BE49-F238E27FC236}">
                <a16:creationId xmlns:a16="http://schemas.microsoft.com/office/drawing/2014/main" id="{F192F5AC-9661-4952-A043-9AB86E11ADC3}"/>
              </a:ext>
            </a:extLst>
          </p:cNvPr>
          <p:cNvSpPr/>
          <p:nvPr/>
        </p:nvSpPr>
        <p:spPr bwMode="auto">
          <a:xfrm>
            <a:off x="6963271" y="1194151"/>
            <a:ext cx="4248474" cy="422764"/>
          </a:xfrm>
          <a:prstGeom prst="rect">
            <a:avLst/>
          </a:prstGeom>
          <a:noFill/>
          <a:ln>
            <a:solidFill>
              <a:srgbClr val="00646E"/>
            </a:solidFill>
            <a:prstDash val="sysDot"/>
          </a:ln>
        </p:spPr>
        <p:style>
          <a:lnRef idx="2">
            <a:schemeClr val="dk1"/>
          </a:lnRef>
          <a:fillRef idx="1">
            <a:schemeClr val="lt1"/>
          </a:fillRef>
          <a:effectRef idx="0">
            <a:schemeClr val="dk1"/>
          </a:effectRef>
          <a:fontRef idx="minor">
            <a:schemeClr val="dk1"/>
          </a:fontRef>
        </p:style>
        <p:txBody>
          <a:bodyPr wrap="square" lIns="108000" tIns="54000" rIns="108000" bIns="54000" numCol="1" spcCol="72000" rtlCol="0" anchor="ctr">
            <a:noAutofit/>
          </a:bodyPr>
          <a:lstStyle/>
          <a:p>
            <a:pPr algn="ctr">
              <a:lnSpc>
                <a:spcPct val="110000"/>
              </a:lnSpc>
              <a:spcBef>
                <a:spcPct val="0"/>
              </a:spcBef>
              <a:buFont typeface="Wingdings" charset="0"/>
              <a:buNone/>
            </a:pPr>
            <a:r>
              <a:rPr lang="en-US">
                <a:solidFill>
                  <a:schemeClr val="tx1"/>
                </a:solidFill>
                <a:latin typeface="+mn-lt"/>
                <a:ea typeface="Arial Unicode MS" panose="020B0604020202020204" pitchFamily="34" charset="-128"/>
                <a:cs typeface="Arial Unicode MS" panose="020B0604020202020204" pitchFamily="34" charset="-128"/>
              </a:rPr>
              <a:t>The entire net</a:t>
            </a:r>
          </a:p>
        </p:txBody>
      </p:sp>
    </p:spTree>
    <p:extLst>
      <p:ext uri="{BB962C8B-B14F-4D97-AF65-F5344CB8AC3E}">
        <p14:creationId xmlns:p14="http://schemas.microsoft.com/office/powerpoint/2010/main" val="9088653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animEffect transition="in" filter="fade">
                                      <p:cBhvr>
                                        <p:cTn id="7" dur="500"/>
                                        <p:tgtEl>
                                          <p:spTgt spid="1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animEffect transition="in" filter="fade">
                                      <p:cBhvr>
                                        <p:cTn id="10" dur="500"/>
                                        <p:tgtEl>
                                          <p:spTgt spid="20"/>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22"/>
                                        </p:tgtEl>
                                        <p:attrNameLst>
                                          <p:attrName>style.visibility</p:attrName>
                                        </p:attrNameLst>
                                      </p:cBhvr>
                                      <p:to>
                                        <p:strVal val="visible"/>
                                      </p:to>
                                    </p:set>
                                    <p:animEffect transition="in" filter="fade">
                                      <p:cBhvr>
                                        <p:cTn id="13" dur="500"/>
                                        <p:tgtEl>
                                          <p:spTgt spid="2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23"/>
                                        </p:tgtEl>
                                        <p:attrNameLst>
                                          <p:attrName>style.visibility</p:attrName>
                                        </p:attrNameLst>
                                      </p:cBhvr>
                                      <p:to>
                                        <p:strVal val="visible"/>
                                      </p:to>
                                    </p:set>
                                    <p:animEffect transition="in" filter="fade">
                                      <p:cBhvr>
                                        <p:cTn id="16" dur="500"/>
                                        <p:tgtEl>
                                          <p:spTgt spid="2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24"/>
                                        </p:tgtEl>
                                        <p:attrNameLst>
                                          <p:attrName>style.visibility</p:attrName>
                                        </p:attrNameLst>
                                      </p:cBhvr>
                                      <p:to>
                                        <p:strVal val="visible"/>
                                      </p:to>
                                    </p:set>
                                    <p:animEffect transition="in" filter="fade">
                                      <p:cBhvr>
                                        <p:cTn id="19" dur="500"/>
                                        <p:tgtEl>
                                          <p:spTgt spid="24"/>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nodeType="clickEffect">
                                  <p:stCondLst>
                                    <p:cond delay="0"/>
                                  </p:stCondLst>
                                  <p:childTnLst>
                                    <p:set>
                                      <p:cBhvr>
                                        <p:cTn id="23" dur="1" fill="hold">
                                          <p:stCondLst>
                                            <p:cond delay="0"/>
                                          </p:stCondLst>
                                        </p:cTn>
                                        <p:tgtEl>
                                          <p:spTgt spid="2050"/>
                                        </p:tgtEl>
                                        <p:attrNameLst>
                                          <p:attrName>style.visibility</p:attrName>
                                        </p:attrNameLst>
                                      </p:cBhvr>
                                      <p:to>
                                        <p:strVal val="visible"/>
                                      </p:to>
                                    </p:set>
                                    <p:animEffect transition="in" filter="fade">
                                      <p:cBhvr>
                                        <p:cTn id="24" dur="500"/>
                                        <p:tgtEl>
                                          <p:spTgt spid="2050"/>
                                        </p:tgtEl>
                                      </p:cBhvr>
                                    </p:animEffect>
                                  </p:childTnLst>
                                </p:cTn>
                              </p:par>
                            </p:childTnLst>
                          </p:cTn>
                        </p:par>
                      </p:childTnLst>
                    </p:cTn>
                  </p:par>
                  <p:par>
                    <p:cTn id="25" fill="hold">
                      <p:stCondLst>
                        <p:cond delay="indefinite"/>
                      </p:stCondLst>
                      <p:childTnLst>
                        <p:par>
                          <p:cTn id="26" fill="hold">
                            <p:stCondLst>
                              <p:cond delay="0"/>
                            </p:stCondLst>
                            <p:childTnLst>
                              <p:par>
                                <p:cTn id="27" presetID="10" presetClass="entr" presetSubtype="0" fill="hold" grpId="0" nodeType="clickEffect">
                                  <p:stCondLst>
                                    <p:cond delay="0"/>
                                  </p:stCondLst>
                                  <p:childTnLst>
                                    <p:set>
                                      <p:cBhvr>
                                        <p:cTn id="28" dur="1" fill="hold">
                                          <p:stCondLst>
                                            <p:cond delay="0"/>
                                          </p:stCondLst>
                                        </p:cTn>
                                        <p:tgtEl>
                                          <p:spTgt spid="6"/>
                                        </p:tgtEl>
                                        <p:attrNameLst>
                                          <p:attrName>style.visibility</p:attrName>
                                        </p:attrNameLst>
                                      </p:cBhvr>
                                      <p:to>
                                        <p:strVal val="visible"/>
                                      </p:to>
                                    </p:set>
                                    <p:animEffect transition="in" filter="fade">
                                      <p:cBhvr>
                                        <p:cTn id="29" dur="500"/>
                                        <p:tgtEl>
                                          <p:spTgt spid="6"/>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4"/>
                                        </p:tgtEl>
                                        <p:attrNameLst>
                                          <p:attrName>style.visibility</p:attrName>
                                        </p:attrNameLst>
                                      </p:cBhvr>
                                      <p:to>
                                        <p:strVal val="visible"/>
                                      </p:to>
                                    </p:set>
                                    <p:animEffect transition="in" filter="fade">
                                      <p:cBhvr>
                                        <p:cTn id="32" dur="500"/>
                                        <p:tgtEl>
                                          <p:spTgt spid="14"/>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5"/>
                                        </p:tgtEl>
                                        <p:attrNameLst>
                                          <p:attrName>style.visibility</p:attrName>
                                        </p:attrNameLst>
                                      </p:cBhvr>
                                      <p:to>
                                        <p:strVal val="visible"/>
                                      </p:to>
                                    </p:set>
                                    <p:animEffect transition="in" filter="fade">
                                      <p:cBhvr>
                                        <p:cTn id="38" dur="500"/>
                                        <p:tgtEl>
                                          <p:spTgt spid="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1"/>
                                        </p:tgtEl>
                                        <p:attrNameLst>
                                          <p:attrName>style.visibility</p:attrName>
                                        </p:attrNameLst>
                                      </p:cBhvr>
                                      <p:to>
                                        <p:strVal val="visible"/>
                                      </p:to>
                                    </p:set>
                                    <p:animEffect transition="in" filter="fade">
                                      <p:cBhvr>
                                        <p:cTn id="41" dur="500"/>
                                        <p:tgtEl>
                                          <p:spTgt spid="1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2"/>
                                        </p:tgtEl>
                                        <p:attrNameLst>
                                          <p:attrName>style.visibility</p:attrName>
                                        </p:attrNameLst>
                                      </p:cBhvr>
                                      <p:to>
                                        <p:strVal val="visible"/>
                                      </p:to>
                                    </p:set>
                                    <p:animEffect transition="in" filter="fade">
                                      <p:cBhvr>
                                        <p:cTn id="4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1" grpId="0" animBg="1"/>
      <p:bldP spid="12" grpId="0" animBg="1"/>
      <p:bldP spid="6" grpId="0"/>
      <p:bldP spid="14" grpId="0"/>
      <p:bldP spid="15" grpId="0"/>
      <p:bldP spid="18" grpId="0"/>
      <p:bldP spid="20" grpId="0"/>
      <p:bldP spid="22" grpId="0" animBg="1"/>
      <p:bldP spid="23" grpId="0" animBg="1"/>
      <p:bldP spid="24" grpId="0"/>
    </p:bldLst>
  </p:timing>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32752FBF-3213-4514-A3D5-ECE6C48C2068}"/>
              </a:ext>
            </a:extLst>
          </p:cNvPr>
          <p:cNvSpPr>
            <a:spLocks noGrp="1"/>
          </p:cNvSpPr>
          <p:nvPr>
            <p:ph type="title"/>
          </p:nvPr>
        </p:nvSpPr>
        <p:spPr/>
        <p:txBody>
          <a:bodyPr/>
          <a:lstStyle/>
          <a:p>
            <a:r>
              <a:rPr lang="en-US" dirty="0"/>
              <a:t>The Learning Rate (LR) (Review)</a:t>
            </a:r>
          </a:p>
        </p:txBody>
      </p:sp>
      <p:sp>
        <p:nvSpPr>
          <p:cNvPr id="6" name="Inhaltsplatzhalter 5">
            <a:extLst>
              <a:ext uri="{FF2B5EF4-FFF2-40B4-BE49-F238E27FC236}">
                <a16:creationId xmlns:a16="http://schemas.microsoft.com/office/drawing/2014/main" id="{6149C931-80D7-469A-A46F-83D202F043E0}"/>
              </a:ext>
            </a:extLst>
          </p:cNvPr>
          <p:cNvSpPr>
            <a:spLocks noGrp="1"/>
          </p:cNvSpPr>
          <p:nvPr>
            <p:ph idx="1"/>
          </p:nvPr>
        </p:nvSpPr>
        <p:spPr>
          <a:xfrm>
            <a:off x="627062" y="1440000"/>
            <a:ext cx="11088687" cy="4752000"/>
          </a:xfrm>
        </p:spPr>
        <p:txBody>
          <a:bodyPr/>
          <a:lstStyle/>
          <a:p>
            <a:r>
              <a:rPr lang="en-US" dirty="0"/>
              <a:t>Makes NN to adapt for every additional data point</a:t>
            </a:r>
          </a:p>
          <a:p>
            <a:endParaRPr lang="en-US" dirty="0"/>
          </a:p>
          <a:p>
            <a:pPr marL="285750" indent="-285750">
              <a:buFont typeface="Arial" panose="020B0604020202020204" pitchFamily="34" charset="0"/>
              <a:buChar char="•"/>
            </a:pPr>
            <a:r>
              <a:rPr lang="en-US" dirty="0"/>
              <a:t>Factor between 0 and 100% </a:t>
            </a:r>
          </a:p>
          <a:p>
            <a:pPr marL="285750" indent="-285750">
              <a:buFont typeface="Arial" panose="020B0604020202020204" pitchFamily="34" charset="0"/>
              <a:buChar char="•"/>
            </a:pPr>
            <a:r>
              <a:rPr lang="en-US" dirty="0"/>
              <a:t>Determines how much the line moves to the next data point</a:t>
            </a:r>
          </a:p>
          <a:p>
            <a:pPr marL="285750" indent="-285750">
              <a:buFont typeface="Arial" panose="020B0604020202020204" pitchFamily="34" charset="0"/>
              <a:buChar char="•"/>
            </a:pPr>
            <a:r>
              <a:rPr lang="en-US" dirty="0"/>
              <a:t>Dampens effect of the last data, errors and noise</a:t>
            </a:r>
          </a:p>
          <a:p>
            <a:pPr marL="285750" indent="-285750">
              <a:buFont typeface="Arial" panose="020B0604020202020204" pitchFamily="34" charset="0"/>
              <a:buChar char="•"/>
            </a:pPr>
            <a:endParaRPr lang="en-US" dirty="0"/>
          </a:p>
          <a:p>
            <a:r>
              <a:rPr lang="en-US" dirty="0"/>
              <a:t>Formula: Move = Learning Rate x Distance / 100%</a:t>
            </a:r>
          </a:p>
          <a:p>
            <a:pPr marL="285750" indent="-285750">
              <a:buFont typeface="Arial" panose="020B0604020202020204" pitchFamily="34" charset="0"/>
              <a:buChar char="•"/>
            </a:pPr>
            <a:r>
              <a:rPr lang="en-US" dirty="0"/>
              <a:t>For big data (&gt; Mill) often: LR&lt; 0.01%</a:t>
            </a:r>
          </a:p>
          <a:p>
            <a:pPr marL="823913" lvl="3" indent="-285750">
              <a:buFont typeface="Arial" panose="020B0604020202020204" pitchFamily="34" charset="0"/>
              <a:buChar char="•"/>
            </a:pPr>
            <a:endParaRPr lang="en-US" dirty="0"/>
          </a:p>
          <a:p>
            <a:pPr marL="644525" lvl="2" indent="-285750">
              <a:buFont typeface="Arial" panose="020B0604020202020204" pitchFamily="34" charset="0"/>
              <a:buChar char="•"/>
            </a:pPr>
            <a:endParaRPr lang="en-US" dirty="0"/>
          </a:p>
        </p:txBody>
      </p:sp>
      <p:grpSp>
        <p:nvGrpSpPr>
          <p:cNvPr id="42" name="Gruppieren 41">
            <a:extLst>
              <a:ext uri="{FF2B5EF4-FFF2-40B4-BE49-F238E27FC236}">
                <a16:creationId xmlns:a16="http://schemas.microsoft.com/office/drawing/2014/main" id="{17272E08-89E7-4D73-B82C-64A636B07C84}"/>
              </a:ext>
            </a:extLst>
          </p:cNvPr>
          <p:cNvGrpSpPr/>
          <p:nvPr/>
        </p:nvGrpSpPr>
        <p:grpSpPr>
          <a:xfrm>
            <a:off x="7539335" y="1478742"/>
            <a:ext cx="4102946" cy="4772802"/>
            <a:chOff x="6239791" y="1478741"/>
            <a:chExt cx="5602703" cy="6301380"/>
          </a:xfrm>
        </p:grpSpPr>
        <p:sp>
          <p:nvSpPr>
            <p:cNvPr id="4" name="Sprechblase: rechteckig mit abgerundeten Ecken 3">
              <a:extLst>
                <a:ext uri="{FF2B5EF4-FFF2-40B4-BE49-F238E27FC236}">
                  <a16:creationId xmlns:a16="http://schemas.microsoft.com/office/drawing/2014/main" id="{D8033E13-1AD0-4FA5-A8F1-76DD249F8727}"/>
                </a:ext>
              </a:extLst>
            </p:cNvPr>
            <p:cNvSpPr/>
            <p:nvPr/>
          </p:nvSpPr>
          <p:spPr bwMode="auto">
            <a:xfrm>
              <a:off x="8313971" y="1478741"/>
              <a:ext cx="1044108" cy="674364"/>
            </a:xfrm>
            <a:prstGeom prst="wedgeRoundRectCallout">
              <a:avLst>
                <a:gd name="adj1" fmla="val -73191"/>
                <a:gd name="adj2" fmla="val 163521"/>
                <a:gd name="adj3" fmla="val 16667"/>
              </a:avLst>
            </a:prstGeom>
            <a:ln w="28575">
              <a:solidFill>
                <a:srgbClr val="00646E"/>
              </a:solidFill>
            </a:ln>
          </p:spPr>
          <p:txBody>
            <a:bodyPr wrap="square">
              <a:spAutoFit/>
            </a:bodyPr>
            <a:lstStyle/>
            <a:p>
              <a:pPr algn="ctr"/>
              <a:r>
                <a:rPr lang="en-US" sz="1200">
                  <a:solidFill>
                    <a:schemeClr val="tx1"/>
                  </a:solidFill>
                </a:rPr>
                <a:t>Starting Point</a:t>
              </a:r>
            </a:p>
          </p:txBody>
        </p:sp>
        <p:cxnSp>
          <p:nvCxnSpPr>
            <p:cNvPr id="8" name="Gerader Verbinder 7">
              <a:extLst>
                <a:ext uri="{FF2B5EF4-FFF2-40B4-BE49-F238E27FC236}">
                  <a16:creationId xmlns:a16="http://schemas.microsoft.com/office/drawing/2014/main" id="{87BBEBEA-8C5E-435B-A684-2FA5C09E6775}"/>
                </a:ext>
              </a:extLst>
            </p:cNvPr>
            <p:cNvCxnSpPr/>
            <p:nvPr/>
          </p:nvCxnSpPr>
          <p:spPr bwMode="auto">
            <a:xfrm>
              <a:off x="6544330" y="2456732"/>
              <a:ext cx="0" cy="2826444"/>
            </a:xfrm>
            <a:prstGeom prst="line">
              <a:avLst/>
            </a:prstGeom>
            <a:solidFill>
              <a:schemeClr val="tx2"/>
            </a:solidFill>
            <a:ln w="9525" cap="flat" cmpd="sng" algn="ctr">
              <a:solidFill>
                <a:schemeClr val="tx1"/>
              </a:solidFill>
              <a:prstDash val="solid"/>
              <a:round/>
              <a:headEnd type="arrow"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9" name="Gerader Verbinder 8">
              <a:extLst>
                <a:ext uri="{FF2B5EF4-FFF2-40B4-BE49-F238E27FC236}">
                  <a16:creationId xmlns:a16="http://schemas.microsoft.com/office/drawing/2014/main" id="{B8C05D4C-59E8-47E8-B0D1-A5A11E25D152}"/>
                </a:ext>
              </a:extLst>
            </p:cNvPr>
            <p:cNvCxnSpPr>
              <a:cxnSpLocks/>
            </p:cNvCxnSpPr>
            <p:nvPr/>
          </p:nvCxnSpPr>
          <p:spPr bwMode="auto">
            <a:xfrm>
              <a:off x="6544330" y="5283176"/>
              <a:ext cx="4248472" cy="0"/>
            </a:xfrm>
            <a:prstGeom prst="line">
              <a:avLst/>
            </a:prstGeom>
            <a:solidFill>
              <a:schemeClr val="tx2"/>
            </a:solidFill>
            <a:ln w="9525" cap="flat" cmpd="sng" algn="ctr">
              <a:solidFill>
                <a:schemeClr val="tx1"/>
              </a:solidFill>
              <a:prstDash val="solid"/>
              <a:round/>
              <a:headEnd type="none" w="med" len="med"/>
              <a:tailEnd type="arrow"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2" name="Ellipse 11">
              <a:extLst>
                <a:ext uri="{FF2B5EF4-FFF2-40B4-BE49-F238E27FC236}">
                  <a16:creationId xmlns:a16="http://schemas.microsoft.com/office/drawing/2014/main" id="{281D2312-04B5-418D-84B3-57EDC80EBBE1}"/>
                </a:ext>
              </a:extLst>
            </p:cNvPr>
            <p:cNvSpPr/>
            <p:nvPr/>
          </p:nvSpPr>
          <p:spPr bwMode="auto">
            <a:xfrm>
              <a:off x="9724571" y="3392836"/>
              <a:ext cx="178635" cy="180000"/>
            </a:xfrm>
            <a:prstGeom prst="ellipse">
              <a:avLst/>
            </a:prstGeom>
            <a:solidFill>
              <a:srgbClr val="FF0000"/>
            </a:solid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2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5" name="Gerader Verbinder 14">
              <a:extLst>
                <a:ext uri="{FF2B5EF4-FFF2-40B4-BE49-F238E27FC236}">
                  <a16:creationId xmlns:a16="http://schemas.microsoft.com/office/drawing/2014/main" id="{447BB752-6C5F-4012-8F03-3696E484F487}"/>
                </a:ext>
              </a:extLst>
            </p:cNvPr>
            <p:cNvCxnSpPr>
              <a:cxnSpLocks/>
            </p:cNvCxnSpPr>
            <p:nvPr/>
          </p:nvCxnSpPr>
          <p:spPr bwMode="auto">
            <a:xfrm flipV="1">
              <a:off x="6553300" y="2700023"/>
              <a:ext cx="1566541" cy="2566229"/>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6" name="Rechteck 15">
              <a:extLst>
                <a:ext uri="{FF2B5EF4-FFF2-40B4-BE49-F238E27FC236}">
                  <a16:creationId xmlns:a16="http://schemas.microsoft.com/office/drawing/2014/main" id="{C774ED6A-7468-46CE-9A85-3126846CA4D5}"/>
                </a:ext>
              </a:extLst>
            </p:cNvPr>
            <p:cNvSpPr/>
            <p:nvPr/>
          </p:nvSpPr>
          <p:spPr bwMode="auto">
            <a:xfrm>
              <a:off x="9732179" y="5307844"/>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Body Hight</a:t>
              </a:r>
            </a:p>
          </p:txBody>
        </p:sp>
        <p:sp>
          <p:nvSpPr>
            <p:cNvPr id="17" name="Rechteck 16">
              <a:extLst>
                <a:ext uri="{FF2B5EF4-FFF2-40B4-BE49-F238E27FC236}">
                  <a16:creationId xmlns:a16="http://schemas.microsoft.com/office/drawing/2014/main" id="{40E3EA58-1834-4CDB-A623-73D6BA378CB3}"/>
                </a:ext>
              </a:extLst>
            </p:cNvPr>
            <p:cNvSpPr/>
            <p:nvPr/>
          </p:nvSpPr>
          <p:spPr bwMode="auto">
            <a:xfrm rot="16200000">
              <a:off x="5702782" y="2819503"/>
              <a:ext cx="136237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Leg Length</a:t>
              </a:r>
            </a:p>
          </p:txBody>
        </p:sp>
        <p:cxnSp>
          <p:nvCxnSpPr>
            <p:cNvPr id="18" name="Gerader Verbinder 17">
              <a:extLst>
                <a:ext uri="{FF2B5EF4-FFF2-40B4-BE49-F238E27FC236}">
                  <a16:creationId xmlns:a16="http://schemas.microsoft.com/office/drawing/2014/main" id="{9B285301-111B-4C97-BDCC-41633D56CFD5}"/>
                </a:ext>
              </a:extLst>
            </p:cNvPr>
            <p:cNvCxnSpPr/>
            <p:nvPr/>
          </p:nvCxnSpPr>
          <p:spPr bwMode="auto">
            <a:xfrm flipH="1">
              <a:off x="6647744" y="5137042"/>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9" name="Gerader Verbinder 18">
              <a:extLst>
                <a:ext uri="{FF2B5EF4-FFF2-40B4-BE49-F238E27FC236}">
                  <a16:creationId xmlns:a16="http://schemas.microsoft.com/office/drawing/2014/main" id="{E0F9CCF9-112E-4FE9-8A64-8CD708BCE071}"/>
                </a:ext>
              </a:extLst>
            </p:cNvPr>
            <p:cNvCxnSpPr/>
            <p:nvPr/>
          </p:nvCxnSpPr>
          <p:spPr bwMode="auto">
            <a:xfrm flipH="1">
              <a:off x="6731908" y="5135738"/>
              <a:ext cx="86300" cy="261028"/>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0" name="Gerader Verbinder 19">
              <a:extLst>
                <a:ext uri="{FF2B5EF4-FFF2-40B4-BE49-F238E27FC236}">
                  <a16:creationId xmlns:a16="http://schemas.microsoft.com/office/drawing/2014/main" id="{1B09FB96-096F-4D6A-8EAB-94399310B48B}"/>
                </a:ext>
              </a:extLst>
            </p:cNvPr>
            <p:cNvCxnSpPr/>
            <p:nvPr/>
          </p:nvCxnSpPr>
          <p:spPr bwMode="auto">
            <a:xfrm flipV="1">
              <a:off x="6475815" y="4735268"/>
              <a:ext cx="160020" cy="20574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1" name="Gerader Verbinder 20">
              <a:extLst>
                <a:ext uri="{FF2B5EF4-FFF2-40B4-BE49-F238E27FC236}">
                  <a16:creationId xmlns:a16="http://schemas.microsoft.com/office/drawing/2014/main" id="{A220A8A5-E550-4D45-BC12-A19A7E3621A1}"/>
                </a:ext>
              </a:extLst>
            </p:cNvPr>
            <p:cNvCxnSpPr/>
            <p:nvPr/>
          </p:nvCxnSpPr>
          <p:spPr bwMode="auto">
            <a:xfrm flipH="1">
              <a:off x="6460337" y="4597391"/>
              <a:ext cx="167986" cy="2131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2" name="Gerader Verbinder 21">
              <a:extLst>
                <a:ext uri="{FF2B5EF4-FFF2-40B4-BE49-F238E27FC236}">
                  <a16:creationId xmlns:a16="http://schemas.microsoft.com/office/drawing/2014/main" id="{E5AC6656-8AFA-4685-A5C0-9D20B54B9DEF}"/>
                </a:ext>
              </a:extLst>
            </p:cNvPr>
            <p:cNvCxnSpPr>
              <a:cxnSpLocks/>
            </p:cNvCxnSpPr>
            <p:nvPr/>
          </p:nvCxnSpPr>
          <p:spPr bwMode="auto">
            <a:xfrm flipV="1">
              <a:off x="6567712" y="2725525"/>
              <a:ext cx="2127876" cy="2540730"/>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3" name="Gerader Verbinder 22">
              <a:extLst>
                <a:ext uri="{FF2B5EF4-FFF2-40B4-BE49-F238E27FC236}">
                  <a16:creationId xmlns:a16="http://schemas.microsoft.com/office/drawing/2014/main" id="{4CBDF428-AE7F-4F76-A57D-E395A4429F24}"/>
                </a:ext>
              </a:extLst>
            </p:cNvPr>
            <p:cNvCxnSpPr>
              <a:cxnSpLocks/>
            </p:cNvCxnSpPr>
            <p:nvPr/>
          </p:nvCxnSpPr>
          <p:spPr bwMode="auto">
            <a:xfrm flipV="1">
              <a:off x="6544330" y="2963678"/>
              <a:ext cx="2643040" cy="2325386"/>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4" name="Gerader Verbinder 23">
              <a:extLst>
                <a:ext uri="{FF2B5EF4-FFF2-40B4-BE49-F238E27FC236}">
                  <a16:creationId xmlns:a16="http://schemas.microsoft.com/office/drawing/2014/main" id="{0363BADB-E052-4646-BAFA-C4272A0F044E}"/>
                </a:ext>
              </a:extLst>
            </p:cNvPr>
            <p:cNvCxnSpPr>
              <a:cxnSpLocks/>
            </p:cNvCxnSpPr>
            <p:nvPr/>
          </p:nvCxnSpPr>
          <p:spPr bwMode="auto">
            <a:xfrm flipV="1">
              <a:off x="6543581" y="3406238"/>
              <a:ext cx="3428984" cy="1845737"/>
            </a:xfrm>
            <a:prstGeom prst="line">
              <a:avLst/>
            </a:pr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mit Pfeil 28">
              <a:extLst>
                <a:ext uri="{FF2B5EF4-FFF2-40B4-BE49-F238E27FC236}">
                  <a16:creationId xmlns:a16="http://schemas.microsoft.com/office/drawing/2014/main" id="{E75358CE-2F15-422F-832A-A3F1DC6C3FE2}"/>
                </a:ext>
              </a:extLst>
            </p:cNvPr>
            <p:cNvCxnSpPr/>
            <p:nvPr/>
          </p:nvCxnSpPr>
          <p:spPr bwMode="auto">
            <a:xfrm>
              <a:off x="7467327" y="3866984"/>
              <a:ext cx="217949"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0" name="Rechteck 29">
              <a:extLst>
                <a:ext uri="{FF2B5EF4-FFF2-40B4-BE49-F238E27FC236}">
                  <a16:creationId xmlns:a16="http://schemas.microsoft.com/office/drawing/2014/main" id="{D6E7B518-A3D6-4599-B240-1469F2306129}"/>
                </a:ext>
              </a:extLst>
            </p:cNvPr>
            <p:cNvSpPr/>
            <p:nvPr/>
          </p:nvSpPr>
          <p:spPr bwMode="auto">
            <a:xfrm>
              <a:off x="9884727" y="3202312"/>
              <a:ext cx="1230011" cy="321221"/>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LR=100%</a:t>
              </a:r>
            </a:p>
          </p:txBody>
        </p:sp>
        <p:sp>
          <p:nvSpPr>
            <p:cNvPr id="36" name="Rechteck 35">
              <a:extLst>
                <a:ext uri="{FF2B5EF4-FFF2-40B4-BE49-F238E27FC236}">
                  <a16:creationId xmlns:a16="http://schemas.microsoft.com/office/drawing/2014/main" id="{A1FB945D-EB56-41BA-A5A3-2BBBF2F4C527}"/>
                </a:ext>
              </a:extLst>
            </p:cNvPr>
            <p:cNvSpPr/>
            <p:nvPr/>
          </p:nvSpPr>
          <p:spPr bwMode="auto">
            <a:xfrm>
              <a:off x="9233817" y="2723861"/>
              <a:ext cx="1230012" cy="321221"/>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LR=50%</a:t>
              </a:r>
            </a:p>
          </p:txBody>
        </p:sp>
        <p:sp>
          <p:nvSpPr>
            <p:cNvPr id="37" name="Rechteck 36">
              <a:extLst>
                <a:ext uri="{FF2B5EF4-FFF2-40B4-BE49-F238E27FC236}">
                  <a16:creationId xmlns:a16="http://schemas.microsoft.com/office/drawing/2014/main" id="{4ABE7D59-4B4D-4516-8568-6FC542791736}"/>
                </a:ext>
              </a:extLst>
            </p:cNvPr>
            <p:cNvSpPr/>
            <p:nvPr/>
          </p:nvSpPr>
          <p:spPr bwMode="auto">
            <a:xfrm>
              <a:off x="8769780" y="2533728"/>
              <a:ext cx="1230010" cy="288352"/>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r>
                <a:rPr lang="en-US" sz="1200">
                  <a:solidFill>
                    <a:schemeClr val="tx1"/>
                  </a:solidFill>
                  <a:latin typeface="+mn-lt"/>
                  <a:ea typeface="Arial Unicode MS" panose="020B0604020202020204" pitchFamily="34" charset="-128"/>
                  <a:cs typeface="Arial Unicode MS" panose="020B0604020202020204" pitchFamily="34" charset="-128"/>
                </a:rPr>
                <a:t>LR=25%</a:t>
              </a:r>
            </a:p>
          </p:txBody>
        </p:sp>
        <p:cxnSp>
          <p:nvCxnSpPr>
            <p:cNvPr id="38" name="Gerade Verbindung mit Pfeil 37">
              <a:extLst>
                <a:ext uri="{FF2B5EF4-FFF2-40B4-BE49-F238E27FC236}">
                  <a16:creationId xmlns:a16="http://schemas.microsoft.com/office/drawing/2014/main" id="{80AA559A-A4D2-4A39-AB53-D90214F2B123}"/>
                </a:ext>
              </a:extLst>
            </p:cNvPr>
            <p:cNvCxnSpPr/>
            <p:nvPr/>
          </p:nvCxnSpPr>
          <p:spPr bwMode="auto">
            <a:xfrm>
              <a:off x="7413701" y="3979161"/>
              <a:ext cx="593686" cy="3976"/>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40" name="Gerade Verbindung mit Pfeil 39">
              <a:extLst>
                <a:ext uri="{FF2B5EF4-FFF2-40B4-BE49-F238E27FC236}">
                  <a16:creationId xmlns:a16="http://schemas.microsoft.com/office/drawing/2014/main" id="{222E1B30-1DBC-4D10-B8F6-D232A7F5746D}"/>
                </a:ext>
              </a:extLst>
            </p:cNvPr>
            <p:cNvCxnSpPr/>
            <p:nvPr/>
          </p:nvCxnSpPr>
          <p:spPr bwMode="auto">
            <a:xfrm>
              <a:off x="7388433" y="4116142"/>
              <a:ext cx="1220748" cy="4931"/>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3" name="Sprechblase: rechteckig mit abgerundeten Ecken 42">
              <a:extLst>
                <a:ext uri="{FF2B5EF4-FFF2-40B4-BE49-F238E27FC236}">
                  <a16:creationId xmlns:a16="http://schemas.microsoft.com/office/drawing/2014/main" id="{3CFF40DD-9D93-429C-8683-9885F99D2EF5}"/>
                </a:ext>
              </a:extLst>
            </p:cNvPr>
            <p:cNvSpPr/>
            <p:nvPr/>
          </p:nvSpPr>
          <p:spPr bwMode="auto">
            <a:xfrm>
              <a:off x="7755221" y="6566265"/>
              <a:ext cx="4087273" cy="1213856"/>
            </a:xfrm>
            <a:prstGeom prst="wedgeRoundRectCallout">
              <a:avLst>
                <a:gd name="adj1" fmla="val -41180"/>
                <a:gd name="adj2" fmla="val -242942"/>
                <a:gd name="adj3" fmla="val 16667"/>
              </a:avLst>
            </a:prstGeom>
            <a:ln w="28575">
              <a:solidFill>
                <a:srgbClr val="00646E"/>
              </a:solidFill>
            </a:ln>
          </p:spPr>
          <p:txBody>
            <a:bodyPr wrap="square">
              <a:spAutoFit/>
            </a:bodyPr>
            <a:lstStyle/>
            <a:p>
              <a:pPr algn="ctr"/>
              <a:r>
                <a:rPr lang="en-US" sz="1600">
                  <a:solidFill>
                    <a:schemeClr val="tx1"/>
                  </a:solidFill>
                </a:rPr>
                <a:t>LR = How much should we move the line based on the next data point</a:t>
              </a:r>
            </a:p>
          </p:txBody>
        </p:sp>
      </p:grpSp>
    </p:spTree>
    <p:extLst>
      <p:ext uri="{BB962C8B-B14F-4D97-AF65-F5344CB8AC3E}">
        <p14:creationId xmlns:p14="http://schemas.microsoft.com/office/powerpoint/2010/main" val="4251523903"/>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Elements and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22651" y="4833156"/>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de-DE"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341529127"/>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BA7AE2-3569-4E9C-A854-5A76FC617844}"/>
              </a:ext>
            </a:extLst>
          </p:cNvPr>
          <p:cNvSpPr>
            <a:spLocks noGrp="1"/>
          </p:cNvSpPr>
          <p:nvPr>
            <p:ph type="title"/>
          </p:nvPr>
        </p:nvSpPr>
        <p:spPr/>
        <p:txBody>
          <a:bodyPr/>
          <a:lstStyle/>
          <a:p>
            <a:r>
              <a:rPr lang="en-US"/>
              <a:t>Basic Steps of Training a Neural Network with Sigmoid Activation Function Using Statistical Gradient Descent (SGD) Solver</a:t>
            </a:r>
            <a:endParaRPr lang="en-US" sz="1600">
              <a:solidFill>
                <a:srgbClr val="FF0000"/>
              </a:solidFill>
            </a:endParaRPr>
          </a:p>
        </p:txBody>
      </p:sp>
      <p:sp>
        <p:nvSpPr>
          <p:cNvPr id="3" name="Inhaltsplatzhalter 2">
            <a:extLst>
              <a:ext uri="{FF2B5EF4-FFF2-40B4-BE49-F238E27FC236}">
                <a16:creationId xmlns:a16="http://schemas.microsoft.com/office/drawing/2014/main" id="{795015EB-C1D3-4164-9B69-8D7D1F1E7AD9}"/>
              </a:ext>
            </a:extLst>
          </p:cNvPr>
          <p:cNvSpPr>
            <a:spLocks noGrp="1"/>
          </p:cNvSpPr>
          <p:nvPr>
            <p:ph sz="half" idx="1"/>
          </p:nvPr>
        </p:nvSpPr>
        <p:spPr>
          <a:xfrm>
            <a:off x="627063" y="1440000"/>
            <a:ext cx="7308316" cy="4752000"/>
          </a:xfrm>
        </p:spPr>
        <p:txBody>
          <a:bodyPr/>
          <a:lstStyle/>
          <a:p>
            <a:pPr marL="342900" indent="-342900">
              <a:lnSpc>
                <a:spcPct val="100000"/>
              </a:lnSpc>
              <a:spcBef>
                <a:spcPts val="2400"/>
              </a:spcBef>
              <a:buFont typeface="+mj-lt"/>
              <a:buAutoNum type="alphaLcParenR"/>
            </a:pPr>
            <a:r>
              <a:rPr lang="en-US" sz="1600"/>
              <a:t>Select first element from the training data set: X</a:t>
            </a:r>
            <a:r>
              <a:rPr lang="en-US" sz="1600" baseline="-25000"/>
              <a:t>1</a:t>
            </a:r>
            <a:r>
              <a:rPr lang="en-US" sz="1600"/>
              <a:t> (Inputs) and Y</a:t>
            </a:r>
            <a:r>
              <a:rPr lang="en-US" sz="1600" baseline="-25000"/>
              <a:t>1</a:t>
            </a:r>
            <a:r>
              <a:rPr lang="en-US" sz="1600"/>
              <a:t> (Outputs)</a:t>
            </a:r>
          </a:p>
          <a:p>
            <a:pPr marL="701675" lvl="2" indent="-342900">
              <a:lnSpc>
                <a:spcPct val="100000"/>
              </a:lnSpc>
              <a:spcBef>
                <a:spcPts val="2400"/>
              </a:spcBef>
              <a:buFont typeface="+mj-lt"/>
              <a:buAutoNum type="arabicPeriod"/>
            </a:pPr>
            <a:r>
              <a:rPr lang="en-US" sz="1600"/>
              <a:t>Start with random weights (some restrictions apply) -&gt; NN</a:t>
            </a:r>
            <a:r>
              <a:rPr lang="en-US" sz="1600" baseline="-25000"/>
              <a:t>1</a:t>
            </a:r>
          </a:p>
          <a:p>
            <a:pPr marL="701675" lvl="2" indent="-342900">
              <a:lnSpc>
                <a:spcPct val="100000"/>
              </a:lnSpc>
              <a:spcBef>
                <a:spcPts val="2400"/>
              </a:spcBef>
              <a:buFont typeface="+mj-lt"/>
              <a:buAutoNum type="arabicPeriod"/>
            </a:pPr>
            <a:r>
              <a:rPr lang="en-US" sz="1600"/>
              <a:t>Calculate predicted output O</a:t>
            </a:r>
            <a:r>
              <a:rPr lang="en-US" sz="1600" baseline="-25000"/>
              <a:t>1 </a:t>
            </a:r>
            <a:r>
              <a:rPr lang="en-US" sz="1600"/>
              <a:t>using NN</a:t>
            </a:r>
            <a:r>
              <a:rPr lang="en-US" sz="1600" baseline="-25000"/>
              <a:t>1 </a:t>
            </a:r>
            <a:r>
              <a:rPr lang="en-US" sz="1600"/>
              <a:t>and first element </a:t>
            </a:r>
          </a:p>
          <a:p>
            <a:pPr marL="701675" lvl="2" indent="-342900">
              <a:lnSpc>
                <a:spcPct val="100000"/>
              </a:lnSpc>
              <a:spcBef>
                <a:spcPts val="2400"/>
              </a:spcBef>
              <a:buFont typeface="+mj-lt"/>
              <a:buAutoNum type="arabicPeriod"/>
            </a:pPr>
            <a:r>
              <a:rPr lang="en-US" sz="1600"/>
              <a:t>Calculate Error E</a:t>
            </a:r>
            <a:r>
              <a:rPr lang="en-US" sz="1600" baseline="-25000"/>
              <a:t>1 </a:t>
            </a:r>
            <a:r>
              <a:rPr lang="en-US" sz="1600"/>
              <a:t>= Y</a:t>
            </a:r>
            <a:r>
              <a:rPr lang="en-US" sz="1600" baseline="-25000"/>
              <a:t>1</a:t>
            </a:r>
            <a:r>
              <a:rPr lang="en-US" sz="1600"/>
              <a:t>-</a:t>
            </a:r>
            <a:r>
              <a:rPr lang="en-US" sz="1600" baseline="-25000"/>
              <a:t> </a:t>
            </a:r>
            <a:r>
              <a:rPr lang="en-US" sz="1600"/>
              <a:t>O</a:t>
            </a:r>
            <a:r>
              <a:rPr lang="en-US" sz="1600" baseline="-25000"/>
              <a:t>1</a:t>
            </a:r>
            <a:r>
              <a:rPr lang="en-US" sz="1600"/>
              <a:t> and back propagate to weights</a:t>
            </a:r>
          </a:p>
          <a:p>
            <a:pPr marL="701675" lvl="2" indent="-342900">
              <a:lnSpc>
                <a:spcPct val="100000"/>
              </a:lnSpc>
              <a:spcBef>
                <a:spcPts val="2400"/>
              </a:spcBef>
              <a:buFont typeface="+mj-lt"/>
              <a:buAutoNum type="arabicPeriod"/>
            </a:pPr>
            <a:r>
              <a:rPr lang="en-US" sz="1600"/>
              <a:t>Recalculate weights based on error -&gt; NN</a:t>
            </a:r>
            <a:r>
              <a:rPr lang="en-US" sz="1600" baseline="-25000"/>
              <a:t>2</a:t>
            </a:r>
            <a:endParaRPr lang="en-US" sz="1600"/>
          </a:p>
          <a:p>
            <a:pPr marL="342900" indent="-342900">
              <a:lnSpc>
                <a:spcPct val="100000"/>
              </a:lnSpc>
              <a:spcBef>
                <a:spcPts val="2400"/>
              </a:spcBef>
              <a:buFont typeface="+mj-lt"/>
              <a:buAutoNum type="alphaLcParenR"/>
            </a:pPr>
            <a:r>
              <a:rPr lang="en-US" sz="1600"/>
              <a:t>Repeat step 2-4 with all elements from the training data set</a:t>
            </a:r>
          </a:p>
          <a:p>
            <a:pPr marL="342900" indent="-342900">
              <a:lnSpc>
                <a:spcPct val="100000"/>
              </a:lnSpc>
              <a:spcBef>
                <a:spcPts val="2400"/>
              </a:spcBef>
              <a:buFont typeface="+mj-lt"/>
              <a:buAutoNum type="alphaLcParenR"/>
            </a:pPr>
            <a:r>
              <a:rPr lang="en-US" sz="1600"/>
              <a:t>Iterate through all data several times (steps a) and b)) until weights converge to one value</a:t>
            </a:r>
          </a:p>
          <a:p>
            <a:endParaRPr lang="en-US"/>
          </a:p>
        </p:txBody>
      </p:sp>
      <p:pic>
        <p:nvPicPr>
          <p:cNvPr id="6" name="Grafik 5">
            <a:extLst>
              <a:ext uri="{FF2B5EF4-FFF2-40B4-BE49-F238E27FC236}">
                <a16:creationId xmlns:a16="http://schemas.microsoft.com/office/drawing/2014/main" id="{F7AE1EEF-CB36-4EBA-8501-AB50A5B74B1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37148" y="1439999"/>
            <a:ext cx="2341303" cy="1813437"/>
          </a:xfrm>
          <a:prstGeom prst="rect">
            <a:avLst/>
          </a:prstGeom>
        </p:spPr>
      </p:pic>
      <p:pic>
        <p:nvPicPr>
          <p:cNvPr id="7" name="Grafik 6">
            <a:extLst>
              <a:ext uri="{FF2B5EF4-FFF2-40B4-BE49-F238E27FC236}">
                <a16:creationId xmlns:a16="http://schemas.microsoft.com/office/drawing/2014/main" id="{2F6B2555-3557-48F0-8315-B7CD7299522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04675" y="3320988"/>
            <a:ext cx="2691044" cy="2410461"/>
          </a:xfrm>
          <a:prstGeom prst="rect">
            <a:avLst/>
          </a:prstGeom>
        </p:spPr>
      </p:pic>
      <p:sp>
        <p:nvSpPr>
          <p:cNvPr id="8" name="Rechteck 7">
            <a:extLst>
              <a:ext uri="{FF2B5EF4-FFF2-40B4-BE49-F238E27FC236}">
                <a16:creationId xmlns:a16="http://schemas.microsoft.com/office/drawing/2014/main" id="{45BC987A-A22F-46C3-BC57-8B9853C831F1}"/>
              </a:ext>
            </a:extLst>
          </p:cNvPr>
          <p:cNvSpPr/>
          <p:nvPr/>
        </p:nvSpPr>
        <p:spPr>
          <a:xfrm>
            <a:off x="627063" y="5751938"/>
            <a:ext cx="10944224" cy="646331"/>
          </a:xfrm>
          <a:prstGeom prst="rect">
            <a:avLst/>
          </a:prstGeom>
          <a:ln w="28575">
            <a:solidFill>
              <a:srgbClr val="00646E"/>
            </a:solidFill>
          </a:ln>
        </p:spPr>
        <p:txBody>
          <a:bodyPr wrap="square">
            <a:spAutoFit/>
          </a:bodyPr>
          <a:lstStyle/>
          <a:p>
            <a:pPr algn="ctr"/>
            <a:r>
              <a:rPr lang="en-US">
                <a:solidFill>
                  <a:schemeClr val="tx1"/>
                </a:solidFill>
              </a:rPr>
              <a:t>Traditional Regression Analysis would calculate all weights based on all sample data at once. (Not good for general solution.)</a:t>
            </a:r>
          </a:p>
        </p:txBody>
      </p:sp>
    </p:spTree>
    <p:extLst>
      <p:ext uri="{BB962C8B-B14F-4D97-AF65-F5344CB8AC3E}">
        <p14:creationId xmlns:p14="http://schemas.microsoft.com/office/powerpoint/2010/main" val="1836302392"/>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77116-5487-430B-A931-AE8AA50CAE50}"/>
              </a:ext>
            </a:extLst>
          </p:cNvPr>
          <p:cNvSpPr>
            <a:spLocks noGrp="1"/>
          </p:cNvSpPr>
          <p:nvPr>
            <p:ph type="title"/>
          </p:nvPr>
        </p:nvSpPr>
        <p:spPr/>
        <p:txBody>
          <a:bodyPr/>
          <a:lstStyle/>
          <a:p>
            <a:r>
              <a:rPr lang="en-US"/>
              <a:t>1. Start with Random Weights -&gt; NN</a:t>
            </a:r>
            <a:r>
              <a:rPr lang="en-US" baseline="-25000"/>
              <a:t>1</a:t>
            </a:r>
            <a:br>
              <a:rPr lang="en-US"/>
            </a:br>
            <a:endParaRPr lang="en-US"/>
          </a:p>
        </p:txBody>
      </p:sp>
      <p:sp>
        <p:nvSpPr>
          <p:cNvPr id="3" name="Inhaltsplatzhalter 2">
            <a:extLst>
              <a:ext uri="{FF2B5EF4-FFF2-40B4-BE49-F238E27FC236}">
                <a16:creationId xmlns:a16="http://schemas.microsoft.com/office/drawing/2014/main" id="{C06252BB-069D-4EA2-8BC6-D94534ECF703}"/>
              </a:ext>
            </a:extLst>
          </p:cNvPr>
          <p:cNvSpPr>
            <a:spLocks noGrp="1"/>
          </p:cNvSpPr>
          <p:nvPr>
            <p:ph sz="half" idx="1"/>
          </p:nvPr>
        </p:nvSpPr>
        <p:spPr>
          <a:xfrm>
            <a:off x="627063" y="1440000"/>
            <a:ext cx="7452332" cy="4752000"/>
          </a:xfrm>
        </p:spPr>
        <p:txBody>
          <a:bodyPr/>
          <a:lstStyle/>
          <a:p>
            <a:r>
              <a:rPr lang="en-US"/>
              <a:t>Limitations on randomness:</a:t>
            </a:r>
          </a:p>
          <a:p>
            <a:endParaRPr lang="en-US"/>
          </a:p>
          <a:p>
            <a:pPr marL="342900" indent="-342900">
              <a:buFont typeface="+mj-lt"/>
              <a:buAutoNum type="arabicPeriod"/>
            </a:pPr>
            <a:r>
              <a:rPr lang="en-US"/>
              <a:t>Avoid large values (normalize/ standardize)</a:t>
            </a:r>
            <a:br>
              <a:rPr lang="en-US"/>
            </a:br>
            <a:r>
              <a:rPr lang="en-US"/>
              <a:t> -&gt; otherwise Y will explode (</a:t>
            </a:r>
            <a:r>
              <a:rPr lang="en-US" err="1"/>
              <a:t>ReLu</a:t>
            </a:r>
            <a:r>
              <a:rPr lang="en-US"/>
              <a:t>)</a:t>
            </a:r>
            <a:br>
              <a:rPr lang="en-US"/>
            </a:br>
            <a:endParaRPr lang="en-US"/>
          </a:p>
          <a:p>
            <a:pPr marL="342900" indent="-342900">
              <a:buFont typeface="+mj-lt"/>
              <a:buAutoNum type="arabicPeriod"/>
            </a:pPr>
            <a:r>
              <a:rPr lang="en-US"/>
              <a:t>If many nodes use smaller weights to avoid large outputs</a:t>
            </a:r>
          </a:p>
          <a:p>
            <a:pPr lvl="2" indent="0">
              <a:buNone/>
            </a:pPr>
            <a:r>
              <a:rPr lang="en-US"/>
              <a:t>i.e. normal distribution with:</a:t>
            </a:r>
          </a:p>
          <a:p>
            <a:pPr marL="701675" lvl="2" indent="-342900"/>
            <a:r>
              <a:rPr lang="en-US"/>
              <a:t>Mean = 0</a:t>
            </a:r>
          </a:p>
          <a:p>
            <a:pPr marL="701675" lvl="2" indent="-342900"/>
            <a:r>
              <a:rPr lang="en-US"/>
              <a:t>Standard deviation = 1/square root (incoming links)</a:t>
            </a:r>
          </a:p>
          <a:p>
            <a:pPr marL="522288" lvl="1" indent="-342900"/>
            <a:endParaRPr lang="en-US"/>
          </a:p>
          <a:p>
            <a:pPr marL="522288" lvl="1" indent="-342900"/>
            <a:endParaRPr lang="en-US"/>
          </a:p>
          <a:p>
            <a:pPr marL="342900" indent="-342900">
              <a:buFont typeface="+mj-lt"/>
              <a:buAutoNum type="arabicPeriod"/>
            </a:pPr>
            <a:r>
              <a:rPr lang="en-US"/>
              <a:t>No Zeros! </a:t>
            </a:r>
          </a:p>
          <a:p>
            <a:pPr marL="701675" lvl="2" indent="-342900"/>
            <a:r>
              <a:rPr lang="en-US"/>
              <a:t>Factor zero kills input signal, no learning from input</a:t>
            </a:r>
          </a:p>
          <a:p>
            <a:pPr lvl="1" indent="0">
              <a:buNone/>
            </a:pPr>
            <a:endParaRPr lang="en-US"/>
          </a:p>
          <a:p>
            <a:pPr marL="285750" indent="-285750">
              <a:buFont typeface="Arial" panose="020B0604020202020204" pitchFamily="34" charset="0"/>
              <a:buChar char="•"/>
            </a:pPr>
            <a:endParaRPr lang="en-US"/>
          </a:p>
        </p:txBody>
      </p:sp>
      <p:grpSp>
        <p:nvGrpSpPr>
          <p:cNvPr id="9" name="Gruppieren 8">
            <a:extLst>
              <a:ext uri="{FF2B5EF4-FFF2-40B4-BE49-F238E27FC236}">
                <a16:creationId xmlns:a16="http://schemas.microsoft.com/office/drawing/2014/main" id="{AB8C5E90-583F-4EA1-AFB0-F6025CC8AFEF}"/>
              </a:ext>
            </a:extLst>
          </p:cNvPr>
          <p:cNvGrpSpPr/>
          <p:nvPr/>
        </p:nvGrpSpPr>
        <p:grpSpPr>
          <a:xfrm>
            <a:off x="7107287" y="1516024"/>
            <a:ext cx="4026264" cy="2187366"/>
            <a:chOff x="7827367" y="1452660"/>
            <a:chExt cx="4026264" cy="2187366"/>
          </a:xfrm>
        </p:grpSpPr>
        <p:pic>
          <p:nvPicPr>
            <p:cNvPr id="8" name="Grafik 7">
              <a:extLst>
                <a:ext uri="{FF2B5EF4-FFF2-40B4-BE49-F238E27FC236}">
                  <a16:creationId xmlns:a16="http://schemas.microsoft.com/office/drawing/2014/main" id="{39480830-F618-4D4D-B703-DFE10B17B0D7}"/>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7827367" y="1452660"/>
              <a:ext cx="4026264" cy="2187366"/>
            </a:xfrm>
            <a:prstGeom prst="rect">
              <a:avLst/>
            </a:prstGeom>
          </p:spPr>
        </p:pic>
        <p:sp>
          <p:nvSpPr>
            <p:cNvPr id="6" name="Rechteck 5">
              <a:extLst>
                <a:ext uri="{FF2B5EF4-FFF2-40B4-BE49-F238E27FC236}">
                  <a16:creationId xmlns:a16="http://schemas.microsoft.com/office/drawing/2014/main" id="{5AE04F3B-BDCA-4BFA-A966-A1188F1511EE}"/>
                </a:ext>
              </a:extLst>
            </p:cNvPr>
            <p:cNvSpPr/>
            <p:nvPr/>
          </p:nvSpPr>
          <p:spPr bwMode="auto">
            <a:xfrm>
              <a:off x="10023562" y="2417869"/>
              <a:ext cx="1692188" cy="324036"/>
            </a:xfrm>
            <a:prstGeom prst="rect">
              <a:avLst/>
            </a:prstGeom>
            <a:solidFill>
              <a:schemeClr val="bg1"/>
            </a:solidFill>
            <a:ln>
              <a:noFill/>
            </a:ln>
            <a:effectLst/>
          </p:spPr>
          <p:txBody>
            <a:bodyPr wrap="square" lIns="0" tIns="0" rIns="0" bIns="0" numCol="1" spcCol="72000" rtlCol="0" anchor="ctr">
              <a:noAutofit/>
            </a:bodyPr>
            <a:lstStyle/>
            <a:p>
              <a:pPr algn="ctr">
                <a:lnSpc>
                  <a:spcPct val="110000"/>
                </a:lnSpc>
                <a:spcBef>
                  <a:spcPct val="0"/>
                </a:spcBef>
                <a:buFont typeface="Wingdings" charset="0"/>
                <a:buNone/>
              </a:pPr>
              <a:r>
                <a:rPr lang="en-US" sz="1000">
                  <a:solidFill>
                    <a:schemeClr val="tx1"/>
                  </a:solidFill>
                  <a:latin typeface="Vijaya" panose="020B0502040204020203" pitchFamily="18" charset="0"/>
                  <a:ea typeface="Arial Unicode MS" panose="020B0604020202020204" pitchFamily="34" charset="-128"/>
                  <a:cs typeface="Vijaya" panose="020B0502040204020203" pitchFamily="18" charset="0"/>
                </a:rPr>
                <a:t>Large w, small gradient </a:t>
              </a:r>
            </a:p>
            <a:p>
              <a:pPr algn="ctr">
                <a:lnSpc>
                  <a:spcPct val="110000"/>
                </a:lnSpc>
                <a:spcBef>
                  <a:spcPct val="0"/>
                </a:spcBef>
                <a:buFont typeface="Wingdings" charset="0"/>
                <a:buNone/>
              </a:pPr>
              <a:r>
                <a:rPr lang="en-US" sz="1000">
                  <a:solidFill>
                    <a:schemeClr val="tx1"/>
                  </a:solidFill>
                  <a:latin typeface="Vijaya" panose="020B0502040204020203" pitchFamily="18" charset="0"/>
                  <a:ea typeface="Arial Unicode MS" panose="020B0604020202020204" pitchFamily="34" charset="-128"/>
                  <a:cs typeface="Vijaya" panose="020B0502040204020203" pitchFamily="18" charset="0"/>
                </a:rPr>
                <a:t>(reduced learning)</a:t>
              </a:r>
            </a:p>
          </p:txBody>
        </p:sp>
      </p:grpSp>
      <p:pic>
        <p:nvPicPr>
          <p:cNvPr id="10" name="Grafik 9">
            <a:extLst>
              <a:ext uri="{FF2B5EF4-FFF2-40B4-BE49-F238E27FC236}">
                <a16:creationId xmlns:a16="http://schemas.microsoft.com/office/drawing/2014/main" id="{A39E49DC-D6A5-437E-B637-0136AA2BB27B}"/>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7431323" y="3888000"/>
            <a:ext cx="4026264" cy="2458433"/>
          </a:xfrm>
          <a:prstGeom prst="rect">
            <a:avLst/>
          </a:prstGeom>
        </p:spPr>
      </p:pic>
      <p:sp>
        <p:nvSpPr>
          <p:cNvPr id="11" name="Rechteck 10">
            <a:extLst>
              <a:ext uri="{FF2B5EF4-FFF2-40B4-BE49-F238E27FC236}">
                <a16:creationId xmlns:a16="http://schemas.microsoft.com/office/drawing/2014/main" id="{63C02E59-104E-426C-9441-0F74398B12F8}"/>
              </a:ext>
            </a:extLst>
          </p:cNvPr>
          <p:cNvSpPr/>
          <p:nvPr/>
        </p:nvSpPr>
        <p:spPr bwMode="auto">
          <a:xfrm>
            <a:off x="7827367" y="5805264"/>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183117907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Gruppieren 7">
            <a:extLst>
              <a:ext uri="{FF2B5EF4-FFF2-40B4-BE49-F238E27FC236}">
                <a16:creationId xmlns:a16="http://schemas.microsoft.com/office/drawing/2014/main" id="{CE71807C-D6FC-44EC-94A5-CD60BEADDA23}"/>
              </a:ext>
            </a:extLst>
          </p:cNvPr>
          <p:cNvGrpSpPr/>
          <p:nvPr/>
        </p:nvGrpSpPr>
        <p:grpSpPr>
          <a:xfrm>
            <a:off x="-885601" y="1842813"/>
            <a:ext cx="13270041" cy="3060339"/>
            <a:chOff x="480756" y="1389131"/>
            <a:chExt cx="8066691" cy="4341108"/>
          </a:xfrm>
        </p:grpSpPr>
        <p:pic>
          <p:nvPicPr>
            <p:cNvPr id="7" name="Grafik 6">
              <a:extLst>
                <a:ext uri="{FF2B5EF4-FFF2-40B4-BE49-F238E27FC236}">
                  <a16:creationId xmlns:a16="http://schemas.microsoft.com/office/drawing/2014/main" id="{E017E93E-574E-4267-8561-9D32BF1E5396}"/>
                </a:ext>
              </a:extLst>
            </p:cNvPr>
            <p:cNvPicPr>
              <a:picLocks noChangeAspect="1"/>
            </p:cNvPicPr>
            <p:nvPr/>
          </p:nvPicPr>
          <p:blipFill>
            <a:blip r:embed="rId3"/>
            <a:stretch>
              <a:fillRect/>
            </a:stretch>
          </p:blipFill>
          <p:spPr>
            <a:xfrm>
              <a:off x="480756" y="1389131"/>
              <a:ext cx="7867650" cy="4324350"/>
            </a:xfrm>
            <a:prstGeom prst="rect">
              <a:avLst/>
            </a:prstGeom>
          </p:spPr>
        </p:pic>
        <p:pic>
          <p:nvPicPr>
            <p:cNvPr id="6" name="Grafik 5">
              <a:extLst>
                <a:ext uri="{FF2B5EF4-FFF2-40B4-BE49-F238E27FC236}">
                  <a16:creationId xmlns:a16="http://schemas.microsoft.com/office/drawing/2014/main" id="{85254099-435A-4F7E-B1C0-5E2405426B27}"/>
                </a:ext>
              </a:extLst>
            </p:cNvPr>
            <p:cNvPicPr>
              <a:picLocks noChangeAspect="1"/>
            </p:cNvPicPr>
            <p:nvPr/>
          </p:nvPicPr>
          <p:blipFill rotWithShape="1">
            <a:blip r:embed="rId4" cstate="screen">
              <a:extLst>
                <a:ext uri="{28A0092B-C50C-407E-A947-70E740481C1C}">
                  <a14:useLocalDpi xmlns:a14="http://schemas.microsoft.com/office/drawing/2010/main"/>
                </a:ext>
              </a:extLst>
            </a:blip>
            <a:srcRect/>
            <a:stretch/>
          </p:blipFill>
          <p:spPr>
            <a:xfrm>
              <a:off x="6747247" y="1583998"/>
              <a:ext cx="1800200" cy="4146241"/>
            </a:xfrm>
            <a:prstGeom prst="rect">
              <a:avLst/>
            </a:prstGeom>
          </p:spPr>
        </p:pic>
      </p:grpSp>
      <p:sp>
        <p:nvSpPr>
          <p:cNvPr id="2" name="Titel 1">
            <a:extLst>
              <a:ext uri="{FF2B5EF4-FFF2-40B4-BE49-F238E27FC236}">
                <a16:creationId xmlns:a16="http://schemas.microsoft.com/office/drawing/2014/main" id="{36B77116-5487-430B-A931-AE8AA50CAE50}"/>
              </a:ext>
            </a:extLst>
          </p:cNvPr>
          <p:cNvSpPr>
            <a:spLocks noGrp="1"/>
          </p:cNvSpPr>
          <p:nvPr>
            <p:ph type="title"/>
          </p:nvPr>
        </p:nvSpPr>
        <p:spPr/>
        <p:txBody>
          <a:bodyPr/>
          <a:lstStyle/>
          <a:p>
            <a:r>
              <a:rPr lang="en-US"/>
              <a:t>2. Calculate predicted output O</a:t>
            </a:r>
            <a:r>
              <a:rPr lang="en-US" baseline="-25000"/>
              <a:t>1</a:t>
            </a:r>
            <a:r>
              <a:rPr lang="en-US"/>
              <a:t> using NN</a:t>
            </a:r>
            <a:r>
              <a:rPr lang="en-US" baseline="-25000"/>
              <a:t>1</a:t>
            </a:r>
            <a:br>
              <a:rPr lang="en-US" baseline="-25000"/>
            </a:br>
            <a:r>
              <a:rPr lang="en-US" baseline="-25000"/>
              <a:t>See following slides for details</a:t>
            </a:r>
            <a:br>
              <a:rPr lang="en-US"/>
            </a:br>
            <a:endParaRPr lang="en-US"/>
          </a:p>
        </p:txBody>
      </p:sp>
      <p:grpSp>
        <p:nvGrpSpPr>
          <p:cNvPr id="15" name="Gruppieren 14">
            <a:extLst>
              <a:ext uri="{FF2B5EF4-FFF2-40B4-BE49-F238E27FC236}">
                <a16:creationId xmlns:a16="http://schemas.microsoft.com/office/drawing/2014/main" id="{E6A70A9B-5BF5-4D18-A2B0-B57FD1AA688B}"/>
              </a:ext>
            </a:extLst>
          </p:cNvPr>
          <p:cNvGrpSpPr/>
          <p:nvPr/>
        </p:nvGrpSpPr>
        <p:grpSpPr>
          <a:xfrm>
            <a:off x="627064" y="4892055"/>
            <a:ext cx="11088686" cy="1273795"/>
            <a:chOff x="770583" y="4892055"/>
            <a:chExt cx="9865096" cy="1628935"/>
          </a:xfrm>
        </p:grpSpPr>
        <p:sp>
          <p:nvSpPr>
            <p:cNvPr id="13" name="Rechteck 12">
              <a:extLst>
                <a:ext uri="{FF2B5EF4-FFF2-40B4-BE49-F238E27FC236}">
                  <a16:creationId xmlns:a16="http://schemas.microsoft.com/office/drawing/2014/main" id="{D2B856A2-1FAD-4B78-B71D-00DE96FE327B}"/>
                </a:ext>
              </a:extLst>
            </p:cNvPr>
            <p:cNvSpPr/>
            <p:nvPr/>
          </p:nvSpPr>
          <p:spPr bwMode="auto">
            <a:xfrm>
              <a:off x="770583" y="4892055"/>
              <a:ext cx="4932548" cy="1628935"/>
            </a:xfrm>
            <a:prstGeom prst="rect">
              <a:avLst/>
            </a:prstGeom>
            <a:ln w="28575">
              <a:solidFill>
                <a:srgbClr val="00646E"/>
              </a:solidFill>
            </a:ln>
          </p:spPr>
          <p:txBody>
            <a:bodyPr wrap="square" anchor="ctr">
              <a:noAutofit/>
            </a:bodyPr>
            <a:lstStyle/>
            <a:p>
              <a:pPr algn="ctr"/>
              <a:r>
                <a:rPr lang="en-US" sz="1400">
                  <a:solidFill>
                    <a:schemeClr val="tx1"/>
                  </a:solidFill>
                </a:rPr>
                <a:t>Four calculation steps in matrix formulas:</a:t>
              </a:r>
            </a:p>
          </p:txBody>
        </p:sp>
        <p:sp>
          <p:nvSpPr>
            <p:cNvPr id="14" name="Rechteck 13">
              <a:extLst>
                <a:ext uri="{FF2B5EF4-FFF2-40B4-BE49-F238E27FC236}">
                  <a16:creationId xmlns:a16="http://schemas.microsoft.com/office/drawing/2014/main" id="{2617399A-F2F5-4665-ACD0-5AD96D039ED8}"/>
                </a:ext>
              </a:extLst>
            </p:cNvPr>
            <p:cNvSpPr/>
            <p:nvPr/>
          </p:nvSpPr>
          <p:spPr bwMode="auto">
            <a:xfrm>
              <a:off x="5703131" y="4892055"/>
              <a:ext cx="4932548" cy="1628935"/>
            </a:xfrm>
            <a:prstGeom prst="rect">
              <a:avLst/>
            </a:prstGeom>
            <a:ln w="28575">
              <a:solidFill>
                <a:srgbClr val="00646E"/>
              </a:solidFill>
            </a:ln>
          </p:spPr>
          <p:txBody>
            <a:bodyPr wrap="square" anchor="ctr">
              <a:noAutofit/>
            </a:bodyPr>
            <a:lstStyle/>
            <a:p>
              <a:pPr marL="176213"/>
              <a:r>
                <a:rPr lang="en-US" sz="1400">
                  <a:solidFill>
                    <a:schemeClr val="tx1"/>
                  </a:solidFill>
                </a:rPr>
                <a:t>X</a:t>
              </a:r>
              <a:r>
                <a:rPr lang="en-US" sz="1400" baseline="-25000">
                  <a:solidFill>
                    <a:schemeClr val="tx1"/>
                  </a:solidFill>
                </a:rPr>
                <a:t>1_hidden </a:t>
              </a:r>
              <a:r>
                <a:rPr lang="en-US" sz="1400">
                  <a:solidFill>
                    <a:schemeClr val="tx1"/>
                  </a:solidFill>
                </a:rPr>
                <a:t>= W</a:t>
              </a:r>
              <a:r>
                <a:rPr lang="en-US" sz="1400" baseline="-25000">
                  <a:solidFill>
                    <a:schemeClr val="tx1"/>
                  </a:solidFill>
                </a:rPr>
                <a:t>1_hinput_hidden </a:t>
              </a:r>
              <a:r>
                <a:rPr lang="en-US" sz="1400">
                  <a:solidFill>
                    <a:schemeClr val="tx1"/>
                  </a:solidFill>
                </a:rPr>
                <a:t>x I</a:t>
              </a:r>
              <a:r>
                <a:rPr lang="en-US" sz="1400" baseline="-25000">
                  <a:solidFill>
                    <a:schemeClr val="tx1"/>
                  </a:solidFill>
                </a:rPr>
                <a:t>1_input</a:t>
              </a:r>
            </a:p>
            <a:p>
              <a:pPr marL="176213"/>
              <a:r>
                <a:rPr lang="en-US" sz="1400">
                  <a:solidFill>
                    <a:schemeClr val="tx1"/>
                  </a:solidFill>
                </a:rPr>
                <a:t>O</a:t>
              </a:r>
              <a:r>
                <a:rPr lang="en-US" sz="1400" baseline="-25000">
                  <a:solidFill>
                    <a:schemeClr val="tx1"/>
                  </a:solidFill>
                </a:rPr>
                <a:t>1_hidden </a:t>
              </a:r>
              <a:r>
                <a:rPr lang="en-US" sz="1400">
                  <a:solidFill>
                    <a:schemeClr val="tx1"/>
                  </a:solidFill>
                </a:rPr>
                <a:t>= sigmoid (X</a:t>
              </a:r>
              <a:r>
                <a:rPr lang="en-US" sz="1400" baseline="-25000">
                  <a:solidFill>
                    <a:schemeClr val="tx1"/>
                  </a:solidFill>
                </a:rPr>
                <a:t>1_hidden</a:t>
              </a:r>
              <a:r>
                <a:rPr lang="en-US" sz="1400">
                  <a:solidFill>
                    <a:schemeClr val="tx1"/>
                  </a:solidFill>
                </a:rPr>
                <a:t>) (usually </a:t>
              </a:r>
              <a:r>
                <a:rPr lang="en-US" sz="1400" err="1">
                  <a:solidFill>
                    <a:schemeClr val="tx1"/>
                  </a:solidFill>
                </a:rPr>
                <a:t>ReLu</a:t>
              </a:r>
              <a:r>
                <a:rPr lang="en-US" sz="1400">
                  <a:solidFill>
                    <a:schemeClr val="tx1"/>
                  </a:solidFill>
                </a:rPr>
                <a:t>)</a:t>
              </a:r>
            </a:p>
            <a:p>
              <a:pPr marL="176213"/>
              <a:r>
                <a:rPr lang="en-US" sz="1400">
                  <a:solidFill>
                    <a:schemeClr val="tx1"/>
                  </a:solidFill>
                </a:rPr>
                <a:t>X</a:t>
              </a:r>
              <a:r>
                <a:rPr lang="en-US" sz="1400" baseline="-25000">
                  <a:solidFill>
                    <a:schemeClr val="tx1"/>
                  </a:solidFill>
                </a:rPr>
                <a:t>1_output </a:t>
              </a:r>
              <a:r>
                <a:rPr lang="en-US" sz="1400">
                  <a:solidFill>
                    <a:schemeClr val="tx1"/>
                  </a:solidFill>
                </a:rPr>
                <a:t>=</a:t>
              </a:r>
              <a:r>
                <a:rPr lang="en-US" sz="1400" baseline="-25000">
                  <a:solidFill>
                    <a:schemeClr val="tx1"/>
                  </a:solidFill>
                </a:rPr>
                <a:t> </a:t>
              </a:r>
              <a:r>
                <a:rPr lang="en-US" sz="1400">
                  <a:solidFill>
                    <a:schemeClr val="tx1"/>
                  </a:solidFill>
                </a:rPr>
                <a:t>W</a:t>
              </a:r>
              <a:r>
                <a:rPr lang="en-US" sz="1400" baseline="-25000">
                  <a:solidFill>
                    <a:schemeClr val="tx1"/>
                  </a:solidFill>
                </a:rPr>
                <a:t>1_hidden_output </a:t>
              </a:r>
              <a:r>
                <a:rPr lang="en-US" sz="1400">
                  <a:solidFill>
                    <a:schemeClr val="tx1"/>
                  </a:solidFill>
                </a:rPr>
                <a:t>x</a:t>
              </a:r>
              <a:r>
                <a:rPr lang="en-US" sz="1400" baseline="-25000">
                  <a:solidFill>
                    <a:schemeClr val="tx1"/>
                  </a:solidFill>
                </a:rPr>
                <a:t> </a:t>
              </a:r>
              <a:r>
                <a:rPr lang="en-US" sz="1400">
                  <a:solidFill>
                    <a:schemeClr val="tx1"/>
                  </a:solidFill>
                </a:rPr>
                <a:t>O</a:t>
              </a:r>
              <a:r>
                <a:rPr lang="en-US" sz="1400" baseline="-25000">
                  <a:solidFill>
                    <a:schemeClr val="tx1"/>
                  </a:solidFill>
                </a:rPr>
                <a:t>1_hidden</a:t>
              </a:r>
            </a:p>
            <a:p>
              <a:pPr marL="176213"/>
              <a:r>
                <a:rPr lang="en-US" sz="1400">
                  <a:solidFill>
                    <a:schemeClr val="tx1"/>
                  </a:solidFill>
                </a:rPr>
                <a:t>O</a:t>
              </a:r>
              <a:r>
                <a:rPr lang="en-US" sz="1400" baseline="-25000">
                  <a:solidFill>
                    <a:schemeClr val="tx1"/>
                  </a:solidFill>
                </a:rPr>
                <a:t>1_output </a:t>
              </a:r>
              <a:r>
                <a:rPr lang="en-US" sz="1400">
                  <a:solidFill>
                    <a:schemeClr val="tx1"/>
                  </a:solidFill>
                </a:rPr>
                <a:t>= sigmoid (X</a:t>
              </a:r>
              <a:r>
                <a:rPr lang="en-US" sz="1400" baseline="-25000">
                  <a:solidFill>
                    <a:schemeClr val="tx1"/>
                  </a:solidFill>
                </a:rPr>
                <a:t>1_output</a:t>
              </a:r>
              <a:r>
                <a:rPr lang="en-US" sz="1400">
                  <a:solidFill>
                    <a:schemeClr val="tx1"/>
                  </a:solidFill>
                </a:rPr>
                <a:t>) (for binary classification)</a:t>
              </a:r>
            </a:p>
          </p:txBody>
        </p:sp>
      </p:grpSp>
      <p:sp>
        <p:nvSpPr>
          <p:cNvPr id="9" name="Rechteck 8">
            <a:extLst>
              <a:ext uri="{FF2B5EF4-FFF2-40B4-BE49-F238E27FC236}">
                <a16:creationId xmlns:a16="http://schemas.microsoft.com/office/drawing/2014/main" id="{19E34C78-DB41-4429-9645-062D8DDEF9D4}"/>
              </a:ext>
            </a:extLst>
          </p:cNvPr>
          <p:cNvSpPr/>
          <p:nvPr/>
        </p:nvSpPr>
        <p:spPr bwMode="auto">
          <a:xfrm>
            <a:off x="136737" y="1373751"/>
            <a:ext cx="4205736" cy="449304"/>
          </a:xfrm>
          <a:prstGeom prst="rect">
            <a:avLst/>
          </a:prstGeom>
          <a:noFill/>
          <a:ln>
            <a:noFill/>
          </a:ln>
          <a:effectLst/>
        </p:spPr>
        <p:txBody>
          <a:bodyPr wrap="square" lIns="108000" tIns="54000" rIns="108000" bIns="54000" numCol="1" spcCol="72000" rtlCol="0" anchor="ctr">
            <a:noAutofit/>
          </a:bodyPr>
          <a:lstStyle/>
          <a:p>
            <a:pPr>
              <a:lnSpc>
                <a:spcPct val="110000"/>
              </a:lnSpc>
              <a:spcBef>
                <a:spcPct val="0"/>
              </a:spcBef>
              <a:buFont typeface="Wingdings" charset="0"/>
              <a:buNone/>
            </a:pPr>
            <a:r>
              <a:rPr lang="en-US" sz="1400" b="1">
                <a:solidFill>
                  <a:schemeClr val="tx1"/>
                </a:solidFill>
                <a:latin typeface="+mn-lt"/>
                <a:ea typeface="Arial Unicode MS" panose="020B0604020202020204" pitchFamily="34" charset="-128"/>
                <a:cs typeface="Arial Unicode MS" panose="020B0604020202020204" pitchFamily="34" charset="-128"/>
              </a:rPr>
              <a:t>Matrix/ Vector connotation:      I</a:t>
            </a:r>
            <a:r>
              <a:rPr lang="en-US" sz="1400" b="1" baseline="-25000">
                <a:solidFill>
                  <a:schemeClr val="tx1"/>
                </a:solidFill>
                <a:latin typeface="+mn-lt"/>
                <a:ea typeface="Arial Unicode MS" panose="020B0604020202020204" pitchFamily="34" charset="-128"/>
                <a:cs typeface="Arial Unicode MS" panose="020B0604020202020204" pitchFamily="34" charset="-128"/>
              </a:rPr>
              <a:t>1_input</a:t>
            </a:r>
          </a:p>
        </p:txBody>
      </p:sp>
      <p:sp>
        <p:nvSpPr>
          <p:cNvPr id="10" name="Rechteck 9">
            <a:extLst>
              <a:ext uri="{FF2B5EF4-FFF2-40B4-BE49-F238E27FC236}">
                <a16:creationId xmlns:a16="http://schemas.microsoft.com/office/drawing/2014/main" id="{556A4AB4-A5FD-4D63-B81F-CDEDAC20D960}"/>
              </a:ext>
            </a:extLst>
          </p:cNvPr>
          <p:cNvSpPr/>
          <p:nvPr/>
        </p:nvSpPr>
        <p:spPr bwMode="auto">
          <a:xfrm>
            <a:off x="8453922" y="1386462"/>
            <a:ext cx="2981338" cy="449304"/>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endParaRPr lang="en-US" sz="1400" b="1" baseline="-25000">
              <a:solidFill>
                <a:schemeClr val="tx1"/>
              </a:solidFill>
              <a:latin typeface="+mn-lt"/>
              <a:ea typeface="Arial Unicode MS" panose="020B0604020202020204" pitchFamily="34" charset="-128"/>
              <a:cs typeface="Arial Unicode MS" panose="020B0604020202020204" pitchFamily="34" charset="-128"/>
            </a:endParaRPr>
          </a:p>
        </p:txBody>
      </p:sp>
      <p:sp>
        <p:nvSpPr>
          <p:cNvPr id="11" name="Rechteck 10">
            <a:extLst>
              <a:ext uri="{FF2B5EF4-FFF2-40B4-BE49-F238E27FC236}">
                <a16:creationId xmlns:a16="http://schemas.microsoft.com/office/drawing/2014/main" id="{B13E245E-02F5-4349-9F5C-ED22982FC231}"/>
              </a:ext>
            </a:extLst>
          </p:cNvPr>
          <p:cNvSpPr/>
          <p:nvPr/>
        </p:nvSpPr>
        <p:spPr bwMode="auto">
          <a:xfrm>
            <a:off x="4014430" y="1520782"/>
            <a:ext cx="3925423" cy="449304"/>
          </a:xfrm>
          <a:prstGeom prst="rect">
            <a:avLst/>
          </a:prstGeom>
          <a:noFill/>
          <a:ln>
            <a:noFill/>
          </a:ln>
          <a:effectLst/>
        </p:spPr>
        <p:txBody>
          <a:bodyPr wrap="square" lIns="108000" tIns="54000" rIns="108000" bIns="54000" numCol="1" spcCol="72000" rtlCol="0" anchor="ctr">
            <a:noAutofit/>
          </a:bodyPr>
          <a:lstStyle/>
          <a:p>
            <a:pPr>
              <a:lnSpc>
                <a:spcPct val="110000"/>
              </a:lnSpc>
              <a:spcBef>
                <a:spcPct val="0"/>
              </a:spcBef>
            </a:pPr>
            <a:r>
              <a:rPr lang="en-US" sz="1400" b="1">
                <a:solidFill>
                  <a:schemeClr val="tx1"/>
                </a:solidFill>
                <a:latin typeface="+mn-lt"/>
                <a:ea typeface="Arial Unicode MS" panose="020B0604020202020204" pitchFamily="34" charset="-128"/>
                <a:cs typeface="Arial Unicode MS" panose="020B0604020202020204" pitchFamily="34" charset="-128"/>
              </a:rPr>
              <a:t>W</a:t>
            </a:r>
            <a:r>
              <a:rPr lang="en-US" sz="1400" b="1" baseline="-25000">
                <a:solidFill>
                  <a:schemeClr val="tx1"/>
                </a:solidFill>
                <a:latin typeface="+mn-lt"/>
                <a:ea typeface="Arial Unicode MS" panose="020B0604020202020204" pitchFamily="34" charset="-128"/>
                <a:cs typeface="Arial Unicode MS" panose="020B0604020202020204" pitchFamily="34" charset="-128"/>
              </a:rPr>
              <a:t>1_input_hidden          </a:t>
            </a:r>
            <a:r>
              <a:rPr lang="en-US" sz="1400" b="1">
                <a:solidFill>
                  <a:schemeClr val="tx1"/>
                </a:solidFill>
                <a:ea typeface="Arial Unicode MS" panose="020B0604020202020204" pitchFamily="34" charset="-128"/>
                <a:cs typeface="Arial Unicode MS" panose="020B0604020202020204" pitchFamily="34" charset="-128"/>
              </a:rPr>
              <a:t>X</a:t>
            </a:r>
            <a:r>
              <a:rPr lang="en-US" sz="1400" b="1" baseline="-25000">
                <a:solidFill>
                  <a:schemeClr val="tx1"/>
                </a:solidFill>
                <a:ea typeface="Arial Unicode MS" panose="020B0604020202020204" pitchFamily="34" charset="-128"/>
                <a:cs typeface="Arial Unicode MS" panose="020B0604020202020204" pitchFamily="34" charset="-128"/>
              </a:rPr>
              <a:t>1_hidden</a:t>
            </a:r>
            <a:r>
              <a:rPr lang="en-US" sz="1400" b="1">
                <a:solidFill>
                  <a:schemeClr val="tx1"/>
                </a:solidFill>
                <a:ea typeface="Arial Unicode MS" panose="020B0604020202020204" pitchFamily="34" charset="-128"/>
                <a:cs typeface="Arial Unicode MS" panose="020B0604020202020204" pitchFamily="34" charset="-128"/>
              </a:rPr>
              <a:t>-&gt;O</a:t>
            </a:r>
            <a:r>
              <a:rPr lang="en-US" sz="1400" b="1" baseline="-25000">
                <a:solidFill>
                  <a:schemeClr val="tx1"/>
                </a:solidFill>
                <a:ea typeface="Arial Unicode MS" panose="020B0604020202020204" pitchFamily="34" charset="-128"/>
                <a:cs typeface="Arial Unicode MS" panose="020B0604020202020204" pitchFamily="34" charset="-128"/>
              </a:rPr>
              <a:t>1_hidden</a:t>
            </a:r>
          </a:p>
          <a:p>
            <a:pPr>
              <a:lnSpc>
                <a:spcPct val="110000"/>
              </a:lnSpc>
              <a:spcBef>
                <a:spcPct val="0"/>
              </a:spcBef>
              <a:buFont typeface="Wingdings" charset="0"/>
              <a:buNone/>
            </a:pPr>
            <a:endParaRPr lang="en-US" sz="1400" b="1" baseline="-25000">
              <a:solidFill>
                <a:schemeClr val="tx1"/>
              </a:solidFill>
              <a:latin typeface="+mn-lt"/>
              <a:ea typeface="Arial Unicode MS" panose="020B0604020202020204" pitchFamily="34" charset="-128"/>
              <a:cs typeface="Arial Unicode MS" panose="020B0604020202020204" pitchFamily="34" charset="-128"/>
            </a:endParaRPr>
          </a:p>
        </p:txBody>
      </p:sp>
      <p:sp>
        <p:nvSpPr>
          <p:cNvPr id="12" name="Rechteck 11">
            <a:extLst>
              <a:ext uri="{FF2B5EF4-FFF2-40B4-BE49-F238E27FC236}">
                <a16:creationId xmlns:a16="http://schemas.microsoft.com/office/drawing/2014/main" id="{78AF8301-3EAD-4576-BAE0-7735A58D9E78}"/>
              </a:ext>
            </a:extLst>
          </p:cNvPr>
          <p:cNvSpPr/>
          <p:nvPr/>
        </p:nvSpPr>
        <p:spPr bwMode="auto">
          <a:xfrm>
            <a:off x="6999275" y="1519070"/>
            <a:ext cx="4017105" cy="449304"/>
          </a:xfrm>
          <a:prstGeom prst="rect">
            <a:avLst/>
          </a:prstGeom>
          <a:noFill/>
          <a:ln>
            <a:noFill/>
          </a:ln>
          <a:effectLst/>
        </p:spPr>
        <p:txBody>
          <a:bodyPr wrap="square" lIns="108000" tIns="54000" rIns="108000" bIns="54000" numCol="1" spcCol="72000" rtlCol="0" anchor="ctr">
            <a:noAutofit/>
          </a:bodyPr>
          <a:lstStyle/>
          <a:p>
            <a:pPr>
              <a:lnSpc>
                <a:spcPct val="110000"/>
              </a:lnSpc>
              <a:spcBef>
                <a:spcPct val="0"/>
              </a:spcBef>
            </a:pPr>
            <a:r>
              <a:rPr lang="en-US" sz="1400" b="1">
                <a:solidFill>
                  <a:schemeClr val="tx1"/>
                </a:solidFill>
                <a:latin typeface="+mn-lt"/>
                <a:ea typeface="Arial Unicode MS" panose="020B0604020202020204" pitchFamily="34" charset="-128"/>
                <a:cs typeface="Arial Unicode MS" panose="020B0604020202020204" pitchFamily="34" charset="-128"/>
              </a:rPr>
              <a:t>W</a:t>
            </a:r>
            <a:r>
              <a:rPr lang="en-US" sz="1400" b="1" baseline="-25000">
                <a:solidFill>
                  <a:schemeClr val="tx1"/>
                </a:solidFill>
                <a:latin typeface="+mn-lt"/>
                <a:ea typeface="Arial Unicode MS" panose="020B0604020202020204" pitchFamily="34" charset="-128"/>
                <a:cs typeface="Arial Unicode MS" panose="020B0604020202020204" pitchFamily="34" charset="-128"/>
              </a:rPr>
              <a:t>1_hidden_output              </a:t>
            </a:r>
            <a:r>
              <a:rPr lang="en-US" sz="1400" b="1">
                <a:solidFill>
                  <a:schemeClr val="tx1"/>
                </a:solidFill>
                <a:ea typeface="Arial Unicode MS" panose="020B0604020202020204" pitchFamily="34" charset="-128"/>
                <a:cs typeface="Arial Unicode MS" panose="020B0604020202020204" pitchFamily="34" charset="-128"/>
              </a:rPr>
              <a:t>X</a:t>
            </a:r>
            <a:r>
              <a:rPr lang="en-US" sz="1400" b="1" baseline="-25000">
                <a:solidFill>
                  <a:schemeClr val="tx1"/>
                </a:solidFill>
                <a:ea typeface="Arial Unicode MS" panose="020B0604020202020204" pitchFamily="34" charset="-128"/>
                <a:cs typeface="Arial Unicode MS" panose="020B0604020202020204" pitchFamily="34" charset="-128"/>
              </a:rPr>
              <a:t>1_output </a:t>
            </a:r>
            <a:r>
              <a:rPr lang="en-US" sz="1400" b="1">
                <a:solidFill>
                  <a:schemeClr val="tx1"/>
                </a:solidFill>
                <a:ea typeface="Arial Unicode MS" panose="020B0604020202020204" pitchFamily="34" charset="-128"/>
                <a:cs typeface="Arial Unicode MS" panose="020B0604020202020204" pitchFamily="34" charset="-128"/>
              </a:rPr>
              <a:t>-&gt;O</a:t>
            </a:r>
            <a:r>
              <a:rPr lang="en-US" sz="1400" b="1" baseline="-25000">
                <a:solidFill>
                  <a:schemeClr val="tx1"/>
                </a:solidFill>
                <a:ea typeface="Arial Unicode MS" panose="020B0604020202020204" pitchFamily="34" charset="-128"/>
                <a:cs typeface="Arial Unicode MS" panose="020B0604020202020204" pitchFamily="34" charset="-128"/>
              </a:rPr>
              <a:t>1_output</a:t>
            </a:r>
          </a:p>
          <a:p>
            <a:pPr algn="ctr">
              <a:lnSpc>
                <a:spcPct val="110000"/>
              </a:lnSpc>
              <a:spcBef>
                <a:spcPct val="0"/>
              </a:spcBef>
              <a:buFont typeface="Wingdings" charset="0"/>
              <a:buNone/>
            </a:pPr>
            <a:endParaRPr lang="en-US" sz="1400" b="1" baseline="-25000">
              <a:solidFill>
                <a:schemeClr val="tx1"/>
              </a:solidFill>
              <a:latin typeface="+mn-lt"/>
              <a:ea typeface="Arial Unicode MS" panose="020B0604020202020204" pitchFamily="34" charset="-128"/>
              <a:cs typeface="Arial Unicode MS" panose="020B0604020202020204" pitchFamily="34" charset="-128"/>
            </a:endParaRPr>
          </a:p>
        </p:txBody>
      </p:sp>
      <p:sp>
        <p:nvSpPr>
          <p:cNvPr id="17" name="Rechteck 16">
            <a:extLst>
              <a:ext uri="{FF2B5EF4-FFF2-40B4-BE49-F238E27FC236}">
                <a16:creationId xmlns:a16="http://schemas.microsoft.com/office/drawing/2014/main" id="{543CC4A8-4A59-4482-8935-B1541613F244}"/>
              </a:ext>
            </a:extLst>
          </p:cNvPr>
          <p:cNvSpPr/>
          <p:nvPr/>
        </p:nvSpPr>
        <p:spPr bwMode="auto">
          <a:xfrm>
            <a:off x="-1" y="1425978"/>
            <a:ext cx="12147847" cy="449304"/>
          </a:xfrm>
          <a:prstGeom prst="rect">
            <a:avLst/>
          </a:prstGeom>
          <a:noFill/>
          <a:ln w="28575">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400">
              <a:solidFill>
                <a:schemeClr val="tx1"/>
              </a:solidFill>
              <a:latin typeface="+mn-lt"/>
              <a:ea typeface="Arial Unicode MS" panose="020B0604020202020204" pitchFamily="34" charset="-128"/>
              <a:cs typeface="Arial Unicode MS" panose="020B0604020202020204" pitchFamily="34" charset="-128"/>
            </a:endParaRPr>
          </a:p>
        </p:txBody>
      </p:sp>
      <p:sp>
        <p:nvSpPr>
          <p:cNvPr id="16" name="Rechteck 15">
            <a:extLst>
              <a:ext uri="{FF2B5EF4-FFF2-40B4-BE49-F238E27FC236}">
                <a16:creationId xmlns:a16="http://schemas.microsoft.com/office/drawing/2014/main" id="{AD9B60E8-DF2D-467B-8819-0E1F15B89F80}"/>
              </a:ext>
            </a:extLst>
          </p:cNvPr>
          <p:cNvSpPr/>
          <p:nvPr/>
        </p:nvSpPr>
        <p:spPr bwMode="auto">
          <a:xfrm>
            <a:off x="5055059" y="1386462"/>
            <a:ext cx="2981338" cy="449304"/>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endParaRPr lang="en-US" sz="1400" b="1" baseline="-25000">
              <a:solidFill>
                <a:schemeClr val="tx1"/>
              </a:solidFill>
              <a:latin typeface="+mn-lt"/>
              <a:ea typeface="Arial Unicode MS" panose="020B0604020202020204" pitchFamily="34" charset="-128"/>
              <a:cs typeface="Arial Unicode MS" panose="020B0604020202020204" pitchFamily="34" charset="-128"/>
            </a:endParaRPr>
          </a:p>
        </p:txBody>
      </p:sp>
      <p:sp>
        <p:nvSpPr>
          <p:cNvPr id="18" name="Rechteck 17">
            <a:extLst>
              <a:ext uri="{FF2B5EF4-FFF2-40B4-BE49-F238E27FC236}">
                <a16:creationId xmlns:a16="http://schemas.microsoft.com/office/drawing/2014/main" id="{56F864B1-6825-40DF-8EA9-5678EBFE5649}"/>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4065941494"/>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7B11D5-1661-49BF-89FE-4C6D5A2FA589}"/>
              </a:ext>
            </a:extLst>
          </p:cNvPr>
          <p:cNvSpPr>
            <a:spLocks noGrp="1"/>
          </p:cNvSpPr>
          <p:nvPr>
            <p:ph type="title"/>
          </p:nvPr>
        </p:nvSpPr>
        <p:spPr/>
        <p:txBody>
          <a:bodyPr/>
          <a:lstStyle/>
          <a:p>
            <a:r>
              <a:rPr lang="en-US"/>
              <a:t>Passing Input Values to Input Layer</a:t>
            </a:r>
          </a:p>
        </p:txBody>
      </p:sp>
      <p:pic>
        <p:nvPicPr>
          <p:cNvPr id="73" name="Grafik 5" descr="image005">
            <a:extLst>
              <a:ext uri="{FF2B5EF4-FFF2-40B4-BE49-F238E27FC236}">
                <a16:creationId xmlns:a16="http://schemas.microsoft.com/office/drawing/2014/main" id="{9032DD12-72B8-4C5B-B74A-643E8A6E316B}"/>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874989" y="1196752"/>
            <a:ext cx="2349252" cy="39291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hteck 3">
            <a:extLst>
              <a:ext uri="{FF2B5EF4-FFF2-40B4-BE49-F238E27FC236}">
                <a16:creationId xmlns:a16="http://schemas.microsoft.com/office/drawing/2014/main" id="{B6B55ACF-5A78-4515-8F0B-6C74D8B1A4FD}"/>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63238554"/>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7B11D5-1661-49BF-89FE-4C6D5A2FA589}"/>
              </a:ext>
            </a:extLst>
          </p:cNvPr>
          <p:cNvSpPr>
            <a:spLocks noGrp="1"/>
          </p:cNvSpPr>
          <p:nvPr>
            <p:ph type="title"/>
          </p:nvPr>
        </p:nvSpPr>
        <p:spPr/>
        <p:txBody>
          <a:bodyPr/>
          <a:lstStyle/>
          <a:p>
            <a:r>
              <a:rPr lang="en-US"/>
              <a:t>The Node Connections between Input Layer and Hidden Layer Are Weighted</a:t>
            </a:r>
          </a:p>
        </p:txBody>
      </p:sp>
      <p:pic>
        <p:nvPicPr>
          <p:cNvPr id="3" name="Grafik 1" descr="image001">
            <a:extLst>
              <a:ext uri="{FF2B5EF4-FFF2-40B4-BE49-F238E27FC236}">
                <a16:creationId xmlns:a16="http://schemas.microsoft.com/office/drawing/2014/main" id="{9EE7BBDA-8D12-4594-B7DD-06747B8BBB59}"/>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33233" y="1262109"/>
            <a:ext cx="4049152" cy="38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Rechteck 3">
            <a:extLst>
              <a:ext uri="{FF2B5EF4-FFF2-40B4-BE49-F238E27FC236}">
                <a16:creationId xmlns:a16="http://schemas.microsoft.com/office/drawing/2014/main" id="{8B7C8ADC-D116-4667-A415-69F959D2381A}"/>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139010028"/>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117B11D5-1661-49BF-89FE-4C6D5A2FA589}"/>
              </a:ext>
            </a:extLst>
          </p:cNvPr>
          <p:cNvSpPr>
            <a:spLocks noGrp="1"/>
          </p:cNvSpPr>
          <p:nvPr>
            <p:ph type="title"/>
          </p:nvPr>
        </p:nvSpPr>
        <p:spPr/>
        <p:txBody>
          <a:bodyPr/>
          <a:lstStyle/>
          <a:p>
            <a:r>
              <a:rPr lang="en-US"/>
              <a:t>The Weightings are Used to Determine the Input for </a:t>
            </a:r>
            <a:br>
              <a:rPr lang="en-US"/>
            </a:br>
            <a:r>
              <a:rPr lang="en-US"/>
              <a:t>the Hidden Layer</a:t>
            </a:r>
          </a:p>
        </p:txBody>
      </p:sp>
      <p:pic>
        <p:nvPicPr>
          <p:cNvPr id="3" name="Grafik 1" descr="image001">
            <a:extLst>
              <a:ext uri="{FF2B5EF4-FFF2-40B4-BE49-F238E27FC236}">
                <a16:creationId xmlns:a16="http://schemas.microsoft.com/office/drawing/2014/main" id="{9EE7BBDA-8D12-4594-B7DD-06747B8BBB59}"/>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33233" y="1262109"/>
            <a:ext cx="4049152" cy="38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9" name="Grafik 3" descr="image003">
            <a:extLst>
              <a:ext uri="{FF2B5EF4-FFF2-40B4-BE49-F238E27FC236}">
                <a16:creationId xmlns:a16="http://schemas.microsoft.com/office/drawing/2014/main" id="{1AD7EBE1-4A83-4D48-870C-B9EFDD9D1369}"/>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4810098" y="4992697"/>
            <a:ext cx="1397089" cy="1277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 name="Grafik 3" descr="image003">
            <a:extLst>
              <a:ext uri="{FF2B5EF4-FFF2-40B4-BE49-F238E27FC236}">
                <a16:creationId xmlns:a16="http://schemas.microsoft.com/office/drawing/2014/main" id="{EA0587DA-C9A7-47FB-BBC1-6D445D84C152}"/>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032034" y="4918953"/>
            <a:ext cx="2662985" cy="142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 name="Grafik 3" descr="image003">
            <a:extLst>
              <a:ext uri="{FF2B5EF4-FFF2-40B4-BE49-F238E27FC236}">
                <a16:creationId xmlns:a16="http://schemas.microsoft.com/office/drawing/2014/main" id="{8789829A-2654-4A89-8AD5-50C488239ABE}"/>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4695019" y="5595891"/>
            <a:ext cx="128924" cy="16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68" name="Verbinder: gewinkelt 2067">
            <a:extLst>
              <a:ext uri="{FF2B5EF4-FFF2-40B4-BE49-F238E27FC236}">
                <a16:creationId xmlns:a16="http://schemas.microsoft.com/office/drawing/2014/main" id="{1D0C9BC1-7133-479E-BED0-BDA0939578B4}"/>
              </a:ext>
            </a:extLst>
          </p:cNvPr>
          <p:cNvCxnSpPr/>
          <p:nvPr/>
        </p:nvCxnSpPr>
        <p:spPr bwMode="auto">
          <a:xfrm rot="5400000">
            <a:off x="1661735" y="3401945"/>
            <a:ext cx="2790860" cy="612723"/>
          </a:xfrm>
          <a:prstGeom prst="bentConnector3">
            <a:avLst>
              <a:gd name="adj1" fmla="val 91938"/>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pic>
        <p:nvPicPr>
          <p:cNvPr id="68" name="Grafik 3" descr="image003">
            <a:extLst>
              <a:ext uri="{FF2B5EF4-FFF2-40B4-BE49-F238E27FC236}">
                <a16:creationId xmlns:a16="http://schemas.microsoft.com/office/drawing/2014/main" id="{650B32D1-DD62-4A1A-9116-2055F4B249D8}"/>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6253896" y="4908255"/>
            <a:ext cx="1601873" cy="1329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9" name="Grafik 3" descr="image003">
            <a:extLst>
              <a:ext uri="{FF2B5EF4-FFF2-40B4-BE49-F238E27FC236}">
                <a16:creationId xmlns:a16="http://schemas.microsoft.com/office/drawing/2014/main" id="{7A172409-3BA7-47BC-9CEF-37B2075A9A41}"/>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7903023" y="5429552"/>
            <a:ext cx="136541" cy="255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0" name="Grafik 3" descr="image003">
            <a:extLst>
              <a:ext uri="{FF2B5EF4-FFF2-40B4-BE49-F238E27FC236}">
                <a16:creationId xmlns:a16="http://schemas.microsoft.com/office/drawing/2014/main" id="{CD736543-31F9-45C2-AB58-17E4EAAEFB88}"/>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6155435" y="5445224"/>
            <a:ext cx="136541" cy="255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1" name="Grafik 3" descr="image003">
            <a:extLst>
              <a:ext uri="{FF2B5EF4-FFF2-40B4-BE49-F238E27FC236}">
                <a16:creationId xmlns:a16="http://schemas.microsoft.com/office/drawing/2014/main" id="{E16E3640-4463-4775-A02D-60BC2AC372DB}"/>
              </a:ext>
            </a:extLst>
          </p:cNvPr>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8050625" y="5381125"/>
            <a:ext cx="568830" cy="37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 name="Rechteck 11">
            <a:extLst>
              <a:ext uri="{FF2B5EF4-FFF2-40B4-BE49-F238E27FC236}">
                <a16:creationId xmlns:a16="http://schemas.microsoft.com/office/drawing/2014/main" id="{0521EE68-E7F7-4589-A269-09F1968A0F6B}"/>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4703208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49"/>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50"/>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51"/>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06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8"/>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9"/>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70"/>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Grafik 3" descr="image003">
            <a:extLst>
              <a:ext uri="{FF2B5EF4-FFF2-40B4-BE49-F238E27FC236}">
                <a16:creationId xmlns:a16="http://schemas.microsoft.com/office/drawing/2014/main" id="{24421FF0-C4A9-4C99-B71B-D600FB43797D}"/>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4810098" y="4992697"/>
            <a:ext cx="1397089" cy="1277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3" name="Grafik 3" descr="image003">
            <a:extLst>
              <a:ext uri="{FF2B5EF4-FFF2-40B4-BE49-F238E27FC236}">
                <a16:creationId xmlns:a16="http://schemas.microsoft.com/office/drawing/2014/main" id="{71D428A8-F553-4C8F-A8BA-A0A20443DDAE}"/>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2032034" y="4918953"/>
            <a:ext cx="2662985" cy="142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4" name="Grafik 3" descr="image003">
            <a:extLst>
              <a:ext uri="{FF2B5EF4-FFF2-40B4-BE49-F238E27FC236}">
                <a16:creationId xmlns:a16="http://schemas.microsoft.com/office/drawing/2014/main" id="{1BED6EF2-95B6-4C32-8EFE-DA645266C59C}"/>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4695019" y="5595891"/>
            <a:ext cx="128924" cy="16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 name="Grafik 3" descr="image003">
            <a:extLst>
              <a:ext uri="{FF2B5EF4-FFF2-40B4-BE49-F238E27FC236}">
                <a16:creationId xmlns:a16="http://schemas.microsoft.com/office/drawing/2014/main" id="{BA3D195C-1D77-401A-82F3-7AD92FC7D7BF}"/>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6253896" y="4908255"/>
            <a:ext cx="1601873" cy="1329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 name="Grafik 3" descr="image003">
            <a:extLst>
              <a:ext uri="{FF2B5EF4-FFF2-40B4-BE49-F238E27FC236}">
                <a16:creationId xmlns:a16="http://schemas.microsoft.com/office/drawing/2014/main" id="{486A82A9-3424-47A8-9971-503D1A6CA3B7}"/>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7903023" y="5429552"/>
            <a:ext cx="136541" cy="255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Grafik 3" descr="image003">
            <a:extLst>
              <a:ext uri="{FF2B5EF4-FFF2-40B4-BE49-F238E27FC236}">
                <a16:creationId xmlns:a16="http://schemas.microsoft.com/office/drawing/2014/main" id="{A69200DA-ECBD-4BD7-B635-83518FE479BA}"/>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6155435" y="5445224"/>
            <a:ext cx="136541" cy="255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8" name="Grafik 3" descr="image003">
            <a:extLst>
              <a:ext uri="{FF2B5EF4-FFF2-40B4-BE49-F238E27FC236}">
                <a16:creationId xmlns:a16="http://schemas.microsoft.com/office/drawing/2014/main" id="{13C91D57-A640-4C2F-AEAC-5E0D2CD94EFE}"/>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8050625" y="5381125"/>
            <a:ext cx="568830" cy="37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Titel 1">
            <a:extLst>
              <a:ext uri="{FF2B5EF4-FFF2-40B4-BE49-F238E27FC236}">
                <a16:creationId xmlns:a16="http://schemas.microsoft.com/office/drawing/2014/main" id="{117B11D5-1661-49BF-89FE-4C6D5A2FA589}"/>
              </a:ext>
            </a:extLst>
          </p:cNvPr>
          <p:cNvSpPr>
            <a:spLocks noGrp="1"/>
          </p:cNvSpPr>
          <p:nvPr>
            <p:ph type="title"/>
          </p:nvPr>
        </p:nvSpPr>
        <p:spPr/>
        <p:txBody>
          <a:bodyPr/>
          <a:lstStyle/>
          <a:p>
            <a:r>
              <a:rPr lang="en-US"/>
              <a:t>The Weightings Can Be Used to Determine the Input for </a:t>
            </a:r>
            <a:br>
              <a:rPr lang="en-US"/>
            </a:br>
            <a:r>
              <a:rPr lang="en-US"/>
              <a:t>the Hidden Layer</a:t>
            </a:r>
          </a:p>
        </p:txBody>
      </p:sp>
      <p:pic>
        <p:nvPicPr>
          <p:cNvPr id="3" name="Grafik 1" descr="image001">
            <a:extLst>
              <a:ext uri="{FF2B5EF4-FFF2-40B4-BE49-F238E27FC236}">
                <a16:creationId xmlns:a16="http://schemas.microsoft.com/office/drawing/2014/main" id="{9EE7BBDA-8D12-4594-B7DD-06747B8BBB59}"/>
              </a:ext>
            </a:extLst>
          </p:cNvPr>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633233" y="1262109"/>
            <a:ext cx="4049152" cy="38416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2077" name="Gerade Verbindung mit Pfeil 2076">
            <a:extLst>
              <a:ext uri="{FF2B5EF4-FFF2-40B4-BE49-F238E27FC236}">
                <a16:creationId xmlns:a16="http://schemas.microsoft.com/office/drawing/2014/main" id="{2B18AA38-DCA2-4156-B757-C86DD7E8EA44}"/>
              </a:ext>
            </a:extLst>
          </p:cNvPr>
          <p:cNvCxnSpPr/>
          <p:nvPr/>
        </p:nvCxnSpPr>
        <p:spPr bwMode="auto">
          <a:xfrm>
            <a:off x="2780502" y="2787578"/>
            <a:ext cx="0" cy="265764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9" name="Rechteck 18">
            <a:extLst>
              <a:ext uri="{FF2B5EF4-FFF2-40B4-BE49-F238E27FC236}">
                <a16:creationId xmlns:a16="http://schemas.microsoft.com/office/drawing/2014/main" id="{DA8D6BB3-A46F-44C3-A44E-EE8BAA28E14A}"/>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23162392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3"/>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7"/>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F586245-967C-44C2-9BA5-F1E611B258B1}"/>
              </a:ext>
            </a:extLst>
          </p:cNvPr>
          <p:cNvSpPr>
            <a:spLocks noGrp="1"/>
          </p:cNvSpPr>
          <p:nvPr>
            <p:ph type="title"/>
          </p:nvPr>
        </p:nvSpPr>
        <p:spPr/>
        <p:txBody>
          <a:bodyPr/>
          <a:lstStyle/>
          <a:p>
            <a:r>
              <a:rPr lang="en-US"/>
              <a:t>The Weightings Can Be Used to Determine the Input for </a:t>
            </a:r>
            <a:br>
              <a:rPr lang="en-US"/>
            </a:br>
            <a:r>
              <a:rPr lang="en-US"/>
              <a:t>the Hidden Layer</a:t>
            </a:r>
          </a:p>
        </p:txBody>
      </p:sp>
      <p:pic>
        <p:nvPicPr>
          <p:cNvPr id="16" name="Grafik 4" descr="image004">
            <a:extLst>
              <a:ext uri="{FF2B5EF4-FFF2-40B4-BE49-F238E27FC236}">
                <a16:creationId xmlns:a16="http://schemas.microsoft.com/office/drawing/2014/main" id="{C84C35FE-67CB-468C-8BF8-4C0DF99AF4CA}"/>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72067" y="1232756"/>
            <a:ext cx="4310983" cy="384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7" name="Grafik 3" descr="image003">
            <a:extLst>
              <a:ext uri="{FF2B5EF4-FFF2-40B4-BE49-F238E27FC236}">
                <a16:creationId xmlns:a16="http://schemas.microsoft.com/office/drawing/2014/main" id="{4EE6842D-1112-4347-B20A-3EFD8EDF2EEC}"/>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4810098" y="4992697"/>
            <a:ext cx="1397089" cy="12770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9" name="Grafik 3" descr="image003">
            <a:extLst>
              <a:ext uri="{FF2B5EF4-FFF2-40B4-BE49-F238E27FC236}">
                <a16:creationId xmlns:a16="http://schemas.microsoft.com/office/drawing/2014/main" id="{C1B6C370-D070-4750-8E71-B188326845D9}"/>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2032034" y="4918953"/>
            <a:ext cx="2662985" cy="142454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0" name="Grafik 3" descr="image003">
            <a:extLst>
              <a:ext uri="{FF2B5EF4-FFF2-40B4-BE49-F238E27FC236}">
                <a16:creationId xmlns:a16="http://schemas.microsoft.com/office/drawing/2014/main" id="{7C3933A6-BDC2-41F1-9CA2-D01419E5297D}"/>
              </a:ext>
            </a:extLst>
          </p:cNvPr>
          <p:cNvPicPr>
            <a:picLocks noChangeAspect="1" noChangeArrowheads="1"/>
          </p:cNvPicPr>
          <p:nvPr/>
        </p:nvPicPr>
        <p:blipFill rotWithShape="1">
          <a:blip r:embed="rId5" cstate="screen">
            <a:extLst>
              <a:ext uri="{28A0092B-C50C-407E-A947-70E740481C1C}">
                <a14:useLocalDpi xmlns:a14="http://schemas.microsoft.com/office/drawing/2010/main"/>
              </a:ext>
            </a:extLst>
          </a:blip>
          <a:srcRect/>
          <a:stretch/>
        </p:blipFill>
        <p:spPr bwMode="auto">
          <a:xfrm>
            <a:off x="4695019" y="5595891"/>
            <a:ext cx="128924" cy="1638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1" name="Grafik 3" descr="image003">
            <a:extLst>
              <a:ext uri="{FF2B5EF4-FFF2-40B4-BE49-F238E27FC236}">
                <a16:creationId xmlns:a16="http://schemas.microsoft.com/office/drawing/2014/main" id="{9BB36219-DE80-4A1A-B16B-D97BF75A96C9}"/>
              </a:ext>
            </a:extLst>
          </p:cNvPr>
          <p:cNvPicPr>
            <a:picLocks noChangeAspect="1" noChangeArrowheads="1"/>
          </p:cNvPicPr>
          <p:nvPr/>
        </p:nvPicPr>
        <p:blipFill rotWithShape="1">
          <a:blip r:embed="rId6" cstate="screen">
            <a:extLst>
              <a:ext uri="{28A0092B-C50C-407E-A947-70E740481C1C}">
                <a14:useLocalDpi xmlns:a14="http://schemas.microsoft.com/office/drawing/2010/main"/>
              </a:ext>
            </a:extLst>
          </a:blip>
          <a:srcRect/>
          <a:stretch/>
        </p:blipFill>
        <p:spPr bwMode="auto">
          <a:xfrm>
            <a:off x="6253896" y="4908255"/>
            <a:ext cx="1601873" cy="132905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2" name="Grafik 3" descr="image003">
            <a:extLst>
              <a:ext uri="{FF2B5EF4-FFF2-40B4-BE49-F238E27FC236}">
                <a16:creationId xmlns:a16="http://schemas.microsoft.com/office/drawing/2014/main" id="{917C4E5E-60FC-4655-B757-568B786A7F6D}"/>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7903023" y="5429552"/>
            <a:ext cx="136541" cy="255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3" name="Grafik 3" descr="image003">
            <a:extLst>
              <a:ext uri="{FF2B5EF4-FFF2-40B4-BE49-F238E27FC236}">
                <a16:creationId xmlns:a16="http://schemas.microsoft.com/office/drawing/2014/main" id="{1DE49245-8F75-4657-AEF2-F2713D9E79CA}"/>
              </a:ext>
            </a:extLst>
          </p:cNvPr>
          <p:cNvPicPr>
            <a:picLocks noChangeAspect="1" noChangeArrowheads="1"/>
          </p:cNvPicPr>
          <p:nvPr/>
        </p:nvPicPr>
        <p:blipFill rotWithShape="1">
          <a:blip r:embed="rId7" cstate="screen">
            <a:extLst>
              <a:ext uri="{28A0092B-C50C-407E-A947-70E740481C1C}">
                <a14:useLocalDpi xmlns:a14="http://schemas.microsoft.com/office/drawing/2010/main"/>
              </a:ext>
            </a:extLst>
          </a:blip>
          <a:srcRect/>
          <a:stretch/>
        </p:blipFill>
        <p:spPr bwMode="auto">
          <a:xfrm>
            <a:off x="6155435" y="5445224"/>
            <a:ext cx="136541" cy="255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4" name="Grafik 3" descr="image003">
            <a:extLst>
              <a:ext uri="{FF2B5EF4-FFF2-40B4-BE49-F238E27FC236}">
                <a16:creationId xmlns:a16="http://schemas.microsoft.com/office/drawing/2014/main" id="{F9393148-605F-425B-A1B2-323CDD7CEC1D}"/>
              </a:ext>
            </a:extLst>
          </p:cNvPr>
          <p:cNvPicPr>
            <a:picLocks noChangeAspect="1" noChangeArrowheads="1"/>
          </p:cNvPicPr>
          <p:nvPr/>
        </p:nvPicPr>
        <p:blipFill rotWithShape="1">
          <a:blip r:embed="rId8" cstate="screen">
            <a:extLst>
              <a:ext uri="{28A0092B-C50C-407E-A947-70E740481C1C}">
                <a14:useLocalDpi xmlns:a14="http://schemas.microsoft.com/office/drawing/2010/main"/>
              </a:ext>
            </a:extLst>
          </a:blip>
          <a:srcRect/>
          <a:stretch/>
        </p:blipFill>
        <p:spPr bwMode="auto">
          <a:xfrm>
            <a:off x="8050625" y="5381125"/>
            <a:ext cx="568830" cy="3785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cxnSp>
        <p:nvCxnSpPr>
          <p:cNvPr id="34" name="Gerade Verbindung mit Pfeil 33">
            <a:extLst>
              <a:ext uri="{FF2B5EF4-FFF2-40B4-BE49-F238E27FC236}">
                <a16:creationId xmlns:a16="http://schemas.microsoft.com/office/drawing/2014/main" id="{0EBCE00E-AAE5-4CA4-A762-EF67D0B2D022}"/>
              </a:ext>
            </a:extLst>
          </p:cNvPr>
          <p:cNvCxnSpPr>
            <a:stCxn id="21" idx="0"/>
          </p:cNvCxnSpPr>
          <p:nvPr/>
        </p:nvCxnSpPr>
        <p:spPr bwMode="auto">
          <a:xfrm flipH="1" flipV="1">
            <a:off x="3650903" y="2456892"/>
            <a:ext cx="3403930" cy="2451363"/>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36" name="Rechteck 35">
            <a:extLst>
              <a:ext uri="{FF2B5EF4-FFF2-40B4-BE49-F238E27FC236}">
                <a16:creationId xmlns:a16="http://schemas.microsoft.com/office/drawing/2014/main" id="{0DB0587F-57F7-43CB-94CE-375946964125}"/>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2953107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17"/>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21"/>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22"/>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B14AF45-02E9-48F4-940B-0B4AFD8CEB65}"/>
              </a:ext>
            </a:extLst>
          </p:cNvPr>
          <p:cNvSpPr>
            <a:spLocks noGrp="1"/>
          </p:cNvSpPr>
          <p:nvPr>
            <p:ph type="title"/>
          </p:nvPr>
        </p:nvSpPr>
        <p:spPr/>
        <p:txBody>
          <a:bodyPr/>
          <a:lstStyle/>
          <a:p>
            <a:r>
              <a:rPr lang="en-US"/>
              <a:t>The Output of the Hidden Layers Is Calculated with </a:t>
            </a:r>
            <a:br>
              <a:rPr lang="en-US"/>
            </a:br>
            <a:r>
              <a:rPr lang="en-US"/>
              <a:t>the Activation Function</a:t>
            </a:r>
          </a:p>
        </p:txBody>
      </p:sp>
      <p:pic>
        <p:nvPicPr>
          <p:cNvPr id="3" name="Grafik 4" descr="image004">
            <a:extLst>
              <a:ext uri="{FF2B5EF4-FFF2-40B4-BE49-F238E27FC236}">
                <a16:creationId xmlns:a16="http://schemas.microsoft.com/office/drawing/2014/main" id="{A86708AB-EC0A-478C-A928-894179407608}"/>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672067" y="1232756"/>
            <a:ext cx="4310983" cy="38416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074" name="Grafik 4" descr="image004">
            <a:extLst>
              <a:ext uri="{FF2B5EF4-FFF2-40B4-BE49-F238E27FC236}">
                <a16:creationId xmlns:a16="http://schemas.microsoft.com/office/drawing/2014/main" id="{F652813A-261D-4C93-A0BB-AC91A2B74704}"/>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575339" y="1596938"/>
            <a:ext cx="3634850" cy="3160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 name="Rechteck 4">
            <a:extLst>
              <a:ext uri="{FF2B5EF4-FFF2-40B4-BE49-F238E27FC236}">
                <a16:creationId xmlns:a16="http://schemas.microsoft.com/office/drawing/2014/main" id="{37A117EC-95FB-4AFF-B7D0-14CF8496D150}"/>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291360166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49AED954-9F80-466A-B165-00D12BCE72CE}"/>
              </a:ext>
            </a:extLst>
          </p:cNvPr>
          <p:cNvSpPr>
            <a:spLocks noGrp="1"/>
          </p:cNvSpPr>
          <p:nvPr>
            <p:ph type="title"/>
          </p:nvPr>
        </p:nvSpPr>
        <p:spPr/>
        <p:txBody>
          <a:bodyPr/>
          <a:lstStyle/>
          <a:p>
            <a:r>
              <a:rPr lang="en-US"/>
              <a:t>The Output of the Hidden Layers Is Calculated with </a:t>
            </a:r>
            <a:br>
              <a:rPr lang="en-US"/>
            </a:br>
            <a:r>
              <a:rPr lang="en-US"/>
              <a:t>the Activation Function</a:t>
            </a:r>
          </a:p>
        </p:txBody>
      </p:sp>
      <p:pic>
        <p:nvPicPr>
          <p:cNvPr id="3" name="Grafik 5" descr="image005">
            <a:extLst>
              <a:ext uri="{FF2B5EF4-FFF2-40B4-BE49-F238E27FC236}">
                <a16:creationId xmlns:a16="http://schemas.microsoft.com/office/drawing/2014/main" id="{333A746C-6247-4746-A569-4464DD14A0F5}"/>
              </a:ext>
            </a:extLst>
          </p:cNvPr>
          <p:cNvPicPr>
            <a:picLocks noChangeAspect="1" noChangeArrowheads="1"/>
          </p:cNvPicPr>
          <p:nvPr/>
        </p:nvPicPr>
        <p:blipFill rotWithShape="1">
          <a:blip r:embed="rId2" cstate="screen">
            <a:extLst>
              <a:ext uri="{28A0092B-C50C-407E-A947-70E740481C1C}">
                <a14:useLocalDpi xmlns:a14="http://schemas.microsoft.com/office/drawing/2010/main"/>
              </a:ext>
            </a:extLst>
          </a:blip>
          <a:srcRect/>
          <a:stretch/>
        </p:blipFill>
        <p:spPr bwMode="auto">
          <a:xfrm>
            <a:off x="738021" y="1088740"/>
            <a:ext cx="6801314" cy="3949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Grafik 4" descr="image004">
            <a:extLst>
              <a:ext uri="{FF2B5EF4-FFF2-40B4-BE49-F238E27FC236}">
                <a16:creationId xmlns:a16="http://schemas.microsoft.com/office/drawing/2014/main" id="{3CE11961-0B6A-4CCB-A43A-EA606455B60F}"/>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7575339" y="1596938"/>
            <a:ext cx="3634850" cy="316039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uppieren 14">
            <a:extLst>
              <a:ext uri="{FF2B5EF4-FFF2-40B4-BE49-F238E27FC236}">
                <a16:creationId xmlns:a16="http://schemas.microsoft.com/office/drawing/2014/main" id="{67860047-E985-4CD8-99AB-D85FB5450039}"/>
              </a:ext>
            </a:extLst>
          </p:cNvPr>
          <p:cNvGrpSpPr/>
          <p:nvPr/>
        </p:nvGrpSpPr>
        <p:grpSpPr>
          <a:xfrm>
            <a:off x="4983051" y="4509120"/>
            <a:ext cx="4536504" cy="1224136"/>
            <a:chOff x="4983051" y="4509120"/>
            <a:chExt cx="4536504" cy="1224136"/>
          </a:xfrm>
        </p:grpSpPr>
        <p:cxnSp>
          <p:nvCxnSpPr>
            <p:cNvPr id="10" name="Gerader Verbinder 9">
              <a:extLst>
                <a:ext uri="{FF2B5EF4-FFF2-40B4-BE49-F238E27FC236}">
                  <a16:creationId xmlns:a16="http://schemas.microsoft.com/office/drawing/2014/main" id="{6BB0DA1C-43FE-4816-A863-7F49ABAACC5D}"/>
                </a:ext>
              </a:extLst>
            </p:cNvPr>
            <p:cNvCxnSpPr/>
            <p:nvPr/>
          </p:nvCxnSpPr>
          <p:spPr bwMode="auto">
            <a:xfrm>
              <a:off x="9519555" y="4509120"/>
              <a:ext cx="0" cy="1224136"/>
            </a:xfrm>
            <a:prstGeom prst="line">
              <a:avLst/>
            </a:prstGeom>
            <a:solidFill>
              <a:schemeClr val="tx2"/>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r Verbinder 11">
              <a:extLst>
                <a:ext uri="{FF2B5EF4-FFF2-40B4-BE49-F238E27FC236}">
                  <a16:creationId xmlns:a16="http://schemas.microsoft.com/office/drawing/2014/main" id="{B794E8DD-E25A-4358-A760-A678E24FB88E}"/>
                </a:ext>
              </a:extLst>
            </p:cNvPr>
            <p:cNvCxnSpPr/>
            <p:nvPr/>
          </p:nvCxnSpPr>
          <p:spPr bwMode="auto">
            <a:xfrm flipH="1">
              <a:off x="4983051" y="5733256"/>
              <a:ext cx="4536504" cy="0"/>
            </a:xfrm>
            <a:prstGeom prst="line">
              <a:avLst/>
            </a:prstGeom>
            <a:solidFill>
              <a:schemeClr val="tx2"/>
            </a:solidFill>
            <a:ln w="38100"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mit Pfeil 13">
              <a:extLst>
                <a:ext uri="{FF2B5EF4-FFF2-40B4-BE49-F238E27FC236}">
                  <a16:creationId xmlns:a16="http://schemas.microsoft.com/office/drawing/2014/main" id="{71F75288-4606-47AD-9E76-546D4CF601E8}"/>
                </a:ext>
              </a:extLst>
            </p:cNvPr>
            <p:cNvCxnSpPr/>
            <p:nvPr/>
          </p:nvCxnSpPr>
          <p:spPr bwMode="auto">
            <a:xfrm flipV="1">
              <a:off x="4983051" y="4617132"/>
              <a:ext cx="0" cy="1116124"/>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grpSp>
      <p:sp>
        <p:nvSpPr>
          <p:cNvPr id="9" name="Rechteck 8">
            <a:extLst>
              <a:ext uri="{FF2B5EF4-FFF2-40B4-BE49-F238E27FC236}">
                <a16:creationId xmlns:a16="http://schemas.microsoft.com/office/drawing/2014/main" id="{4DFD861D-FA7E-4434-AADC-965D9E6B1EA2}"/>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29206770"/>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el 3">
            <a:extLst>
              <a:ext uri="{FF2B5EF4-FFF2-40B4-BE49-F238E27FC236}">
                <a16:creationId xmlns:a16="http://schemas.microsoft.com/office/drawing/2014/main" id="{F4328078-D5E5-4538-BA21-EF74B8A030FF}"/>
              </a:ext>
            </a:extLst>
          </p:cNvPr>
          <p:cNvSpPr>
            <a:spLocks noGrp="1"/>
          </p:cNvSpPr>
          <p:nvPr>
            <p:ph type="title"/>
          </p:nvPr>
        </p:nvSpPr>
        <p:spPr/>
        <p:txBody>
          <a:bodyPr/>
          <a:lstStyle/>
          <a:p>
            <a:r>
              <a:rPr lang="en-US"/>
              <a:t>Same Procedure between Hidden and Output Layer </a:t>
            </a:r>
            <a:br>
              <a:rPr lang="en-US"/>
            </a:br>
            <a:r>
              <a:rPr lang="en-US"/>
              <a:t>Result is the Entire Neural Network</a:t>
            </a:r>
          </a:p>
        </p:txBody>
      </p:sp>
      <p:pic>
        <p:nvPicPr>
          <p:cNvPr id="6146" name="Gruppieren 7">
            <a:extLst>
              <a:ext uri="{FF2B5EF4-FFF2-40B4-BE49-F238E27FC236}">
                <a16:creationId xmlns:a16="http://schemas.microsoft.com/office/drawing/2014/main" id="{C3AA42F7-BF12-417E-A2A7-708B57BA8006}"/>
              </a:ext>
            </a:extLst>
          </p:cNvPr>
          <p:cNvPicPr>
            <a:picLocks noChangeArrowheads="1"/>
          </p:cNvPicPr>
          <p:nvPr/>
        </p:nvPicPr>
        <p:blipFill>
          <a:blip r:embed="rId2" cstate="screen">
            <a:extLst>
              <a:ext uri="{28A0092B-C50C-407E-A947-70E740481C1C}">
                <a14:useLocalDpi xmlns:a14="http://schemas.microsoft.com/office/drawing/2010/main"/>
              </a:ext>
            </a:extLst>
          </a:blip>
          <a:srcRect b="-98"/>
          <a:stretch>
            <a:fillRect/>
          </a:stretch>
        </p:blipFill>
        <p:spPr bwMode="auto">
          <a:xfrm>
            <a:off x="-309537" y="1088740"/>
            <a:ext cx="8755670" cy="4176464"/>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BA449A35-A723-4744-BA59-56D745DDAA99}"/>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165002310"/>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F5BF09A9-7A21-4E08-86AC-0AD1206A664A}"/>
              </a:ext>
            </a:extLst>
          </p:cNvPr>
          <p:cNvSpPr>
            <a:spLocks noGrp="1"/>
          </p:cNvSpPr>
          <p:nvPr>
            <p:ph type="title"/>
          </p:nvPr>
        </p:nvSpPr>
        <p:spPr/>
        <p:txBody>
          <a:bodyPr/>
          <a:lstStyle/>
          <a:p>
            <a:r>
              <a:rPr lang="en-US" sz="2000"/>
              <a:t>3. Calculate Error and Back Propagate to Weights:</a:t>
            </a:r>
            <a:br>
              <a:rPr lang="en-US"/>
            </a:br>
            <a:r>
              <a:rPr lang="en-US" sz="2000"/>
              <a:t>How to Get from Attributive to Numerical Data Output Data</a:t>
            </a:r>
          </a:p>
        </p:txBody>
      </p:sp>
      <p:sp>
        <p:nvSpPr>
          <p:cNvPr id="3" name="Inhaltsplatzhalter 2">
            <a:extLst>
              <a:ext uri="{FF2B5EF4-FFF2-40B4-BE49-F238E27FC236}">
                <a16:creationId xmlns:a16="http://schemas.microsoft.com/office/drawing/2014/main" id="{0F9CFCF3-F871-4175-B530-945BDBFD676A}"/>
              </a:ext>
            </a:extLst>
          </p:cNvPr>
          <p:cNvSpPr>
            <a:spLocks noGrp="1"/>
          </p:cNvSpPr>
          <p:nvPr>
            <p:ph idx="1"/>
          </p:nvPr>
        </p:nvSpPr>
        <p:spPr>
          <a:xfrm>
            <a:off x="627062" y="1440000"/>
            <a:ext cx="5868157" cy="4752000"/>
          </a:xfrm>
        </p:spPr>
        <p:txBody>
          <a:bodyPr/>
          <a:lstStyle/>
          <a:p>
            <a:pPr marL="285750" indent="-285750">
              <a:spcBef>
                <a:spcPts val="600"/>
              </a:spcBef>
              <a:spcAft>
                <a:spcPts val="600"/>
              </a:spcAft>
              <a:buFont typeface="Arial" panose="020B0604020202020204" pitchFamily="34" charset="0"/>
              <a:buChar char="•"/>
            </a:pPr>
            <a:r>
              <a:rPr lang="en-US"/>
              <a:t>For 10 numbers, we got 10 output layer nodes:</a:t>
            </a:r>
            <a:br>
              <a:rPr lang="en-US"/>
            </a:br>
            <a:r>
              <a:rPr lang="en-US"/>
              <a:t>multiclass</a:t>
            </a:r>
          </a:p>
          <a:p>
            <a:pPr marL="285750" indent="-285750">
              <a:spcBef>
                <a:spcPts val="600"/>
              </a:spcBef>
              <a:spcAft>
                <a:spcPts val="600"/>
              </a:spcAft>
              <a:buFont typeface="Arial" panose="020B0604020202020204" pitchFamily="34" charset="0"/>
              <a:buChar char="•"/>
            </a:pPr>
            <a:r>
              <a:rPr lang="en-US"/>
              <a:t>Each number is converted to a list for the actual output</a:t>
            </a:r>
          </a:p>
          <a:p>
            <a:pPr marL="539750" lvl="4" indent="0">
              <a:spcBef>
                <a:spcPts val="600"/>
              </a:spcBef>
              <a:spcAft>
                <a:spcPts val="600"/>
              </a:spcAft>
              <a:buNone/>
            </a:pPr>
            <a:r>
              <a:rPr lang="en-US"/>
              <a:t>0 </a:t>
            </a:r>
            <a:r>
              <a:rPr lang="en-US">
                <a:sym typeface="Wingdings" panose="05000000000000000000" pitchFamily="2" charset="2"/>
              </a:rPr>
              <a:t> [1,0,0,0,0,0,0,0,0,0]</a:t>
            </a:r>
          </a:p>
          <a:p>
            <a:pPr marL="539750" lvl="4" indent="0">
              <a:spcBef>
                <a:spcPts val="600"/>
              </a:spcBef>
              <a:spcAft>
                <a:spcPts val="600"/>
              </a:spcAft>
              <a:buNone/>
            </a:pPr>
            <a:r>
              <a:rPr lang="en-US">
                <a:sym typeface="Wingdings" panose="05000000000000000000" pitchFamily="2" charset="2"/>
              </a:rPr>
              <a:t>1  [0,1,0,0,0,0,0,0,0,0]</a:t>
            </a:r>
          </a:p>
          <a:p>
            <a:pPr marL="539750" lvl="4" indent="0">
              <a:spcBef>
                <a:spcPts val="600"/>
              </a:spcBef>
              <a:spcAft>
                <a:spcPts val="600"/>
              </a:spcAft>
              <a:buNone/>
            </a:pPr>
            <a:r>
              <a:rPr lang="en-US">
                <a:sym typeface="Wingdings" panose="05000000000000000000" pitchFamily="2" charset="2"/>
              </a:rPr>
              <a:t>2  [0,0,1,0,0,0,0,0,0,0]</a:t>
            </a:r>
          </a:p>
          <a:p>
            <a:pPr marL="539750" lvl="4" indent="0">
              <a:spcBef>
                <a:spcPts val="600"/>
              </a:spcBef>
              <a:spcAft>
                <a:spcPts val="600"/>
              </a:spcAft>
              <a:buNone/>
            </a:pPr>
            <a:r>
              <a:rPr lang="en-US">
                <a:sym typeface="Wingdings" panose="05000000000000000000" pitchFamily="2" charset="2"/>
              </a:rPr>
              <a:t>…</a:t>
            </a:r>
          </a:p>
          <a:p>
            <a:pPr marL="539750" lvl="4" indent="0">
              <a:spcBef>
                <a:spcPts val="600"/>
              </a:spcBef>
              <a:spcAft>
                <a:spcPts val="600"/>
              </a:spcAft>
              <a:buNone/>
            </a:pPr>
            <a:r>
              <a:rPr lang="en-US">
                <a:sym typeface="Wingdings" panose="05000000000000000000" pitchFamily="2" charset="2"/>
              </a:rPr>
              <a:t>9  [0,0,0,0,0,0,0,0,0,1]</a:t>
            </a:r>
          </a:p>
        </p:txBody>
      </p:sp>
      <p:grpSp>
        <p:nvGrpSpPr>
          <p:cNvPr id="13" name="Gruppieren 12">
            <a:extLst>
              <a:ext uri="{FF2B5EF4-FFF2-40B4-BE49-F238E27FC236}">
                <a16:creationId xmlns:a16="http://schemas.microsoft.com/office/drawing/2014/main" id="{DDD1B4BC-7B90-4F73-B84C-C6E7A0353E61}"/>
              </a:ext>
            </a:extLst>
          </p:cNvPr>
          <p:cNvGrpSpPr/>
          <p:nvPr/>
        </p:nvGrpSpPr>
        <p:grpSpPr>
          <a:xfrm>
            <a:off x="9195519" y="2924944"/>
            <a:ext cx="1548172" cy="3427870"/>
            <a:chOff x="6819255" y="1320448"/>
            <a:chExt cx="1742151" cy="4922734"/>
          </a:xfrm>
        </p:grpSpPr>
        <p:pic>
          <p:nvPicPr>
            <p:cNvPr id="4" name="Inhaltsplatzhalter 4">
              <a:extLst>
                <a:ext uri="{FF2B5EF4-FFF2-40B4-BE49-F238E27FC236}">
                  <a16:creationId xmlns:a16="http://schemas.microsoft.com/office/drawing/2014/main" id="{3AFE3FA4-9DFE-4C0F-9AAC-CCB182A6DDA8}"/>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819255" y="1419228"/>
              <a:ext cx="684076" cy="4823954"/>
            </a:xfrm>
            <a:prstGeom prst="rect">
              <a:avLst/>
            </a:prstGeom>
          </p:spPr>
        </p:pic>
        <p:sp>
          <p:nvSpPr>
            <p:cNvPr id="6" name="Rechteck 5">
              <a:extLst>
                <a:ext uri="{FF2B5EF4-FFF2-40B4-BE49-F238E27FC236}">
                  <a16:creationId xmlns:a16="http://schemas.microsoft.com/office/drawing/2014/main" id="{2C5ADE1B-FB9D-4A11-8CD8-EE4D21DC446F}"/>
                </a:ext>
              </a:extLst>
            </p:cNvPr>
            <p:cNvSpPr/>
            <p:nvPr/>
          </p:nvSpPr>
          <p:spPr bwMode="auto">
            <a:xfrm>
              <a:off x="7287307" y="1320448"/>
              <a:ext cx="1274099" cy="4823954"/>
            </a:xfrm>
            <a:prstGeom prst="rect">
              <a:avLst/>
            </a:prstGeom>
            <a:noFill/>
            <a:ln>
              <a:noFill/>
            </a:ln>
            <a:effectLst/>
          </p:spPr>
          <p:txBody>
            <a:bodyPr wrap="square" lIns="108000" tIns="54000" rIns="108000" bIns="54000" numCol="1" spcCol="72000" rtlCol="0" anchor="t">
              <a:normAutofit fontScale="70000" lnSpcReduction="20000"/>
            </a:bodyPr>
            <a:lstStyle/>
            <a:p>
              <a:pPr algn="ctr">
                <a:spcBef>
                  <a:spcPts val="0"/>
                </a:spcBef>
                <a:spcAft>
                  <a:spcPts val="0"/>
                </a:spcAft>
                <a:buFont typeface="Wingdings" charset="0"/>
                <a:buNone/>
              </a:pPr>
              <a:r>
                <a:rPr lang="en-US" sz="1600" b="1">
                  <a:solidFill>
                    <a:schemeClr val="tx1"/>
                  </a:solidFill>
                  <a:latin typeface="Brush Script MT" panose="03060802040406070304" pitchFamily="66" charset="0"/>
                  <a:ea typeface="Arial Unicode MS" panose="020B0604020202020204" pitchFamily="34" charset="-128"/>
                  <a:cs typeface="Arial Unicode MS" panose="020B0604020202020204" pitchFamily="34" charset="-128"/>
                </a:rPr>
                <a:t>Actual </a:t>
              </a:r>
            </a:p>
            <a:p>
              <a:pPr algn="ctr">
                <a:spcBef>
                  <a:spcPts val="0"/>
                </a:spcBef>
                <a:spcAft>
                  <a:spcPts val="0"/>
                </a:spcAft>
                <a:buFont typeface="Wingdings" charset="0"/>
                <a:buNone/>
              </a:pPr>
              <a:r>
                <a:rPr lang="en-US" sz="1600" b="1">
                  <a:solidFill>
                    <a:schemeClr val="tx1"/>
                  </a:solidFill>
                  <a:latin typeface="Brush Script MT" panose="03060802040406070304" pitchFamily="66" charset="0"/>
                  <a:ea typeface="Arial Unicode MS" panose="020B0604020202020204" pitchFamily="34" charset="-128"/>
                  <a:cs typeface="Arial Unicode MS" panose="020B0604020202020204" pitchFamily="34" charset="-128"/>
                </a:rPr>
                <a:t>Value</a:t>
              </a:r>
            </a:p>
            <a:p>
              <a:pPr algn="ctr">
                <a:lnSpc>
                  <a:spcPct val="150000"/>
                </a:lnSpc>
                <a:spcBef>
                  <a:spcPts val="6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00B050"/>
                  </a:solidFill>
                  <a:latin typeface="+mn-lt"/>
                  <a:ea typeface="Arial Unicode MS" panose="020B0604020202020204" pitchFamily="34" charset="-128"/>
                  <a:cs typeface="Arial Unicode MS" panose="020B0604020202020204" pitchFamily="34" charset="-128"/>
                </a:rPr>
                <a:t>1</a:t>
              </a:r>
            </a:p>
          </p:txBody>
        </p:sp>
      </p:grpSp>
      <p:pic>
        <p:nvPicPr>
          <p:cNvPr id="10" name="Grafik 1" descr="image001">
            <a:extLst>
              <a:ext uri="{FF2B5EF4-FFF2-40B4-BE49-F238E27FC236}">
                <a16:creationId xmlns:a16="http://schemas.microsoft.com/office/drawing/2014/main" id="{66C31E63-6DD6-489D-A228-2BA8726996A7}"/>
              </a:ext>
            </a:extLst>
          </p:cNvPr>
          <p:cNvPicPr>
            <a:picLocks noChangeAspect="1" noChangeArrowheads="1"/>
          </p:cNvPicPr>
          <p:nvPr/>
        </p:nvPicPr>
        <p:blipFill rotWithShape="1">
          <a:blip r:embed="rId3" cstate="screen">
            <a:extLst>
              <a:ext uri="{28A0092B-C50C-407E-A947-70E740481C1C}">
                <a14:useLocalDpi xmlns:a14="http://schemas.microsoft.com/office/drawing/2010/main"/>
              </a:ext>
            </a:extLst>
          </a:blip>
          <a:srcRect/>
          <a:stretch/>
        </p:blipFill>
        <p:spPr bwMode="auto">
          <a:xfrm>
            <a:off x="9333493" y="1190119"/>
            <a:ext cx="1272224" cy="1304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Grafik 1" descr="image001">
            <a:extLst>
              <a:ext uri="{FF2B5EF4-FFF2-40B4-BE49-F238E27FC236}">
                <a16:creationId xmlns:a16="http://schemas.microsoft.com/office/drawing/2014/main" id="{CE01FB44-CA7F-42E0-979A-E7D1367BB9B0}"/>
              </a:ext>
            </a:extLst>
          </p:cNvPr>
          <p:cNvPicPr>
            <a:picLocks noChangeAspect="1" noChangeArrowheads="1"/>
          </p:cNvPicPr>
          <p:nvPr/>
        </p:nvPicPr>
        <p:blipFill rotWithShape="1">
          <a:blip r:embed="rId4" cstate="screen">
            <a:extLst>
              <a:ext uri="{28A0092B-C50C-407E-A947-70E740481C1C}">
                <a14:useLocalDpi xmlns:a14="http://schemas.microsoft.com/office/drawing/2010/main"/>
              </a:ext>
            </a:extLst>
          </a:blip>
          <a:srcRect/>
          <a:stretch/>
        </p:blipFill>
        <p:spPr bwMode="auto">
          <a:xfrm>
            <a:off x="7316408" y="1199774"/>
            <a:ext cx="1272224" cy="130484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15" name="Gruppieren 14">
            <a:extLst>
              <a:ext uri="{FF2B5EF4-FFF2-40B4-BE49-F238E27FC236}">
                <a16:creationId xmlns:a16="http://schemas.microsoft.com/office/drawing/2014/main" id="{D0202C96-2322-414A-BBD6-D16A7B5BEA73}"/>
              </a:ext>
            </a:extLst>
          </p:cNvPr>
          <p:cNvGrpSpPr/>
          <p:nvPr/>
        </p:nvGrpSpPr>
        <p:grpSpPr>
          <a:xfrm>
            <a:off x="7178434" y="2911847"/>
            <a:ext cx="1548172" cy="3427870"/>
            <a:chOff x="6819255" y="1320448"/>
            <a:chExt cx="1742151" cy="4922734"/>
          </a:xfrm>
        </p:grpSpPr>
        <p:pic>
          <p:nvPicPr>
            <p:cNvPr id="16" name="Inhaltsplatzhalter 4">
              <a:extLst>
                <a:ext uri="{FF2B5EF4-FFF2-40B4-BE49-F238E27FC236}">
                  <a16:creationId xmlns:a16="http://schemas.microsoft.com/office/drawing/2014/main" id="{DDA79C7D-3D40-4804-8012-B78768D7C9AD}"/>
                </a:ext>
              </a:extLst>
            </p:cNvPr>
            <p:cNvPicPr>
              <a:picLocks noChangeAspect="1"/>
            </p:cNvPicPr>
            <p:nvPr/>
          </p:nvPicPr>
          <p:blipFill rotWithShape="1">
            <a:blip r:embed="rId2" cstate="screen">
              <a:extLst>
                <a:ext uri="{28A0092B-C50C-407E-A947-70E740481C1C}">
                  <a14:useLocalDpi xmlns:a14="http://schemas.microsoft.com/office/drawing/2010/main"/>
                </a:ext>
              </a:extLst>
            </a:blip>
            <a:srcRect/>
            <a:stretch/>
          </p:blipFill>
          <p:spPr>
            <a:xfrm>
              <a:off x="6819255" y="1419228"/>
              <a:ext cx="684076" cy="4823954"/>
            </a:xfrm>
            <a:prstGeom prst="rect">
              <a:avLst/>
            </a:prstGeom>
          </p:spPr>
        </p:pic>
        <p:sp>
          <p:nvSpPr>
            <p:cNvPr id="17" name="Rechteck 16">
              <a:extLst>
                <a:ext uri="{FF2B5EF4-FFF2-40B4-BE49-F238E27FC236}">
                  <a16:creationId xmlns:a16="http://schemas.microsoft.com/office/drawing/2014/main" id="{4870AFB0-03AE-456D-9046-24ADBDD054A7}"/>
                </a:ext>
              </a:extLst>
            </p:cNvPr>
            <p:cNvSpPr/>
            <p:nvPr/>
          </p:nvSpPr>
          <p:spPr bwMode="auto">
            <a:xfrm>
              <a:off x="7287307" y="1320448"/>
              <a:ext cx="1274099" cy="4823954"/>
            </a:xfrm>
            <a:prstGeom prst="rect">
              <a:avLst/>
            </a:prstGeom>
            <a:noFill/>
            <a:ln>
              <a:noFill/>
            </a:ln>
            <a:effectLst/>
          </p:spPr>
          <p:txBody>
            <a:bodyPr wrap="square" lIns="108000" tIns="54000" rIns="108000" bIns="54000" numCol="1" spcCol="72000" rtlCol="0" anchor="t">
              <a:normAutofit fontScale="70000" lnSpcReduction="20000"/>
            </a:bodyPr>
            <a:lstStyle/>
            <a:p>
              <a:pPr algn="ctr">
                <a:spcBef>
                  <a:spcPts val="0"/>
                </a:spcBef>
                <a:spcAft>
                  <a:spcPts val="0"/>
                </a:spcAft>
                <a:buFont typeface="Wingdings" charset="0"/>
                <a:buNone/>
              </a:pPr>
              <a:r>
                <a:rPr lang="en-US" sz="1600" b="1">
                  <a:solidFill>
                    <a:schemeClr val="tx1"/>
                  </a:solidFill>
                  <a:latin typeface="Brush Script MT" panose="03060802040406070304" pitchFamily="66" charset="0"/>
                  <a:ea typeface="Arial Unicode MS" panose="020B0604020202020204" pitchFamily="34" charset="-128"/>
                  <a:cs typeface="Arial Unicode MS" panose="020B0604020202020204" pitchFamily="34" charset="-128"/>
                </a:rPr>
                <a:t>Actual </a:t>
              </a:r>
            </a:p>
            <a:p>
              <a:pPr algn="ctr">
                <a:spcBef>
                  <a:spcPts val="0"/>
                </a:spcBef>
                <a:spcAft>
                  <a:spcPts val="0"/>
                </a:spcAft>
                <a:buFont typeface="Wingdings" charset="0"/>
                <a:buNone/>
              </a:pPr>
              <a:r>
                <a:rPr lang="en-US" sz="1600" b="1">
                  <a:solidFill>
                    <a:schemeClr val="tx1"/>
                  </a:solidFill>
                  <a:latin typeface="Brush Script MT" panose="03060802040406070304" pitchFamily="66" charset="0"/>
                  <a:ea typeface="Arial Unicode MS" panose="020B0604020202020204" pitchFamily="34" charset="-128"/>
                  <a:cs typeface="Arial Unicode MS" panose="020B0604020202020204" pitchFamily="34" charset="-128"/>
                </a:rPr>
                <a:t>Value</a:t>
              </a:r>
            </a:p>
            <a:p>
              <a:pPr algn="ctr">
                <a:lnSpc>
                  <a:spcPct val="150000"/>
                </a:lnSpc>
                <a:spcBef>
                  <a:spcPts val="6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00B050"/>
                  </a:solidFill>
                  <a:latin typeface="+mn-lt"/>
                  <a:ea typeface="Arial Unicode MS" panose="020B0604020202020204" pitchFamily="34" charset="-128"/>
                  <a:cs typeface="Arial Unicode MS" panose="020B0604020202020204" pitchFamily="34" charset="-128"/>
                </a:rPr>
                <a:t>1</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p:txBody>
        </p:sp>
      </p:grpSp>
      <p:sp>
        <p:nvSpPr>
          <p:cNvPr id="20" name="Pfeil: nach oben und unten 19">
            <a:extLst>
              <a:ext uri="{FF2B5EF4-FFF2-40B4-BE49-F238E27FC236}">
                <a16:creationId xmlns:a16="http://schemas.microsoft.com/office/drawing/2014/main" id="{FFF8845C-1551-4FFD-B71B-A9C35E803777}"/>
              </a:ext>
            </a:extLst>
          </p:cNvPr>
          <p:cNvSpPr/>
          <p:nvPr/>
        </p:nvSpPr>
        <p:spPr bwMode="auto">
          <a:xfrm>
            <a:off x="9663571" y="2426927"/>
            <a:ext cx="612068" cy="507280"/>
          </a:xfrm>
          <a:prstGeom prst="upDownArrow">
            <a:avLst>
              <a:gd name="adj1" fmla="val 48631"/>
              <a:gd name="adj2" fmla="val 30002"/>
            </a:avLst>
          </a:prstGeom>
          <a:ln w="28575">
            <a:solidFill>
              <a:srgbClr val="00646E"/>
            </a:solidFill>
          </a:ln>
        </p:spPr>
        <p:txBody>
          <a:bodyPr wrap="square" anchor="ctr">
            <a:noAutofit/>
          </a:bodyPr>
          <a:lstStyle/>
          <a:p>
            <a:pPr algn="ctr"/>
            <a:endParaRPr lang="en-US" sz="1600">
              <a:solidFill>
                <a:schemeClr val="tx1"/>
              </a:solidFill>
            </a:endParaRPr>
          </a:p>
        </p:txBody>
      </p:sp>
      <p:sp>
        <p:nvSpPr>
          <p:cNvPr id="21" name="Pfeil: nach oben und unten 20">
            <a:extLst>
              <a:ext uri="{FF2B5EF4-FFF2-40B4-BE49-F238E27FC236}">
                <a16:creationId xmlns:a16="http://schemas.microsoft.com/office/drawing/2014/main" id="{9D15A5F9-4181-483C-BCE0-407D287F0F0A}"/>
              </a:ext>
            </a:extLst>
          </p:cNvPr>
          <p:cNvSpPr/>
          <p:nvPr/>
        </p:nvSpPr>
        <p:spPr bwMode="auto">
          <a:xfrm>
            <a:off x="7646486" y="2438959"/>
            <a:ext cx="612068" cy="507280"/>
          </a:xfrm>
          <a:prstGeom prst="upDownArrow">
            <a:avLst>
              <a:gd name="adj1" fmla="val 48631"/>
              <a:gd name="adj2" fmla="val 30002"/>
            </a:avLst>
          </a:prstGeom>
          <a:ln w="28575">
            <a:solidFill>
              <a:srgbClr val="00646E"/>
            </a:solidFill>
          </a:ln>
        </p:spPr>
        <p:txBody>
          <a:bodyPr wrap="square" anchor="ctr">
            <a:noAutofit/>
          </a:bodyPr>
          <a:lstStyle/>
          <a:p>
            <a:pPr algn="ctr"/>
            <a:endParaRPr lang="en-US" sz="1600">
              <a:solidFill>
                <a:schemeClr val="tx1"/>
              </a:solidFill>
            </a:endParaRPr>
          </a:p>
        </p:txBody>
      </p:sp>
    </p:spTree>
    <p:extLst>
      <p:ext uri="{BB962C8B-B14F-4D97-AF65-F5344CB8AC3E}">
        <p14:creationId xmlns:p14="http://schemas.microsoft.com/office/powerpoint/2010/main" val="2209038171"/>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E992715-31F9-4B74-9A11-E0CE706448D9}"/>
              </a:ext>
            </a:extLst>
          </p:cNvPr>
          <p:cNvSpPr>
            <a:spLocks noGrp="1"/>
          </p:cNvSpPr>
          <p:nvPr>
            <p:ph type="title"/>
          </p:nvPr>
        </p:nvSpPr>
        <p:spPr/>
        <p:txBody>
          <a:bodyPr/>
          <a:lstStyle/>
          <a:p>
            <a:r>
              <a:rPr lang="en-US" sz="2000"/>
              <a:t>3. Calculate Error and Back Propagate to Weights</a:t>
            </a:r>
            <a:br>
              <a:rPr lang="en-US" sz="2000"/>
            </a:br>
            <a:r>
              <a:rPr lang="en-US" sz="2000"/>
              <a:t>How to calculate Prediction and Error in the Output Layer</a:t>
            </a:r>
          </a:p>
        </p:txBody>
      </p:sp>
      <p:sp>
        <p:nvSpPr>
          <p:cNvPr id="3" name="Inhaltsplatzhalter 2">
            <a:extLst>
              <a:ext uri="{FF2B5EF4-FFF2-40B4-BE49-F238E27FC236}">
                <a16:creationId xmlns:a16="http://schemas.microsoft.com/office/drawing/2014/main" id="{5D12CCC0-F7D8-4F5B-8226-5CF14F010B45}"/>
              </a:ext>
            </a:extLst>
          </p:cNvPr>
          <p:cNvSpPr>
            <a:spLocks noGrp="1"/>
          </p:cNvSpPr>
          <p:nvPr>
            <p:ph sz="half" idx="1"/>
          </p:nvPr>
        </p:nvSpPr>
        <p:spPr>
          <a:xfrm>
            <a:off x="627063" y="1440000"/>
            <a:ext cx="4788036" cy="4752000"/>
          </a:xfrm>
        </p:spPr>
        <p:txBody>
          <a:bodyPr/>
          <a:lstStyle/>
          <a:p>
            <a:pPr>
              <a:spcBef>
                <a:spcPts val="600"/>
              </a:spcBef>
              <a:spcAft>
                <a:spcPts val="0"/>
              </a:spcAft>
            </a:pPr>
            <a:r>
              <a:rPr lang="en-US"/>
              <a:t>Numerical predictions -&gt; attribute predictions:</a:t>
            </a:r>
          </a:p>
          <a:p>
            <a:pPr marL="285750" indent="-285750">
              <a:spcBef>
                <a:spcPts val="600"/>
              </a:spcBef>
              <a:spcAft>
                <a:spcPts val="0"/>
              </a:spcAft>
              <a:buFont typeface="Arial" panose="020B0604020202020204" pitchFamily="34" charset="0"/>
              <a:buChar char="•"/>
            </a:pPr>
            <a:r>
              <a:rPr lang="en-US"/>
              <a:t>Highest numerical output defines the predicted number</a:t>
            </a:r>
          </a:p>
          <a:p>
            <a:pPr>
              <a:spcBef>
                <a:spcPts val="600"/>
              </a:spcBef>
              <a:spcAft>
                <a:spcPts val="0"/>
              </a:spcAft>
            </a:pPr>
            <a:endParaRPr lang="en-US"/>
          </a:p>
          <a:p>
            <a:pPr>
              <a:spcBef>
                <a:spcPts val="600"/>
              </a:spcBef>
              <a:spcAft>
                <a:spcPts val="0"/>
              </a:spcAft>
            </a:pPr>
            <a:r>
              <a:rPr lang="en-US"/>
              <a:t>For each output layer:</a:t>
            </a:r>
          </a:p>
          <a:p>
            <a:pPr marL="285750" indent="-285750">
              <a:spcBef>
                <a:spcPts val="600"/>
              </a:spcBef>
              <a:spcAft>
                <a:spcPts val="0"/>
              </a:spcAft>
              <a:buFont typeface="Arial" panose="020B0604020202020204" pitchFamily="34" charset="0"/>
              <a:buChar char="•"/>
            </a:pPr>
            <a:r>
              <a:rPr lang="en-US"/>
              <a:t>Error = Prediction – Actual</a:t>
            </a:r>
          </a:p>
          <a:p>
            <a:pPr>
              <a:spcBef>
                <a:spcPts val="600"/>
              </a:spcBef>
              <a:spcAft>
                <a:spcPts val="0"/>
              </a:spcAft>
            </a:pPr>
            <a:endParaRPr lang="en-US"/>
          </a:p>
          <a:p>
            <a:pPr>
              <a:spcBef>
                <a:spcPts val="600"/>
              </a:spcBef>
              <a:spcAft>
                <a:spcPts val="0"/>
              </a:spcAft>
            </a:pPr>
            <a:r>
              <a:rPr lang="en-US"/>
              <a:t>1: 0.02 - 0 = 0.02</a:t>
            </a:r>
          </a:p>
          <a:p>
            <a:pPr>
              <a:spcBef>
                <a:spcPts val="600"/>
              </a:spcBef>
              <a:spcAft>
                <a:spcPts val="0"/>
              </a:spcAft>
            </a:pPr>
            <a:r>
              <a:rPr lang="en-US"/>
              <a:t>…</a:t>
            </a:r>
          </a:p>
          <a:p>
            <a:pPr>
              <a:spcBef>
                <a:spcPts val="600"/>
              </a:spcBef>
              <a:spcAft>
                <a:spcPts val="0"/>
              </a:spcAft>
            </a:pPr>
            <a:r>
              <a:rPr lang="en-US"/>
              <a:t>4: 0.40 – 0 = 0.40</a:t>
            </a:r>
          </a:p>
          <a:p>
            <a:pPr>
              <a:spcBef>
                <a:spcPts val="600"/>
              </a:spcBef>
              <a:spcAft>
                <a:spcPts val="0"/>
              </a:spcAft>
            </a:pPr>
            <a:r>
              <a:rPr lang="en-US"/>
              <a:t>…</a:t>
            </a:r>
          </a:p>
          <a:p>
            <a:pPr>
              <a:spcBef>
                <a:spcPts val="600"/>
              </a:spcBef>
              <a:spcAft>
                <a:spcPts val="0"/>
              </a:spcAft>
            </a:pPr>
            <a:r>
              <a:rPr lang="en-US"/>
              <a:t>9: 0.86 -1 = -0.14</a:t>
            </a:r>
          </a:p>
          <a:p>
            <a:pPr marL="285750" indent="-285750">
              <a:spcBef>
                <a:spcPts val="600"/>
              </a:spcBef>
              <a:spcAft>
                <a:spcPts val="600"/>
              </a:spcAft>
              <a:buFont typeface="Arial" panose="020B0604020202020204" pitchFamily="34" charset="0"/>
              <a:buChar char="•"/>
            </a:pPr>
            <a:endParaRPr lang="en-US"/>
          </a:p>
          <a:p>
            <a:pPr marL="285750" indent="-285750">
              <a:spcBef>
                <a:spcPts val="600"/>
              </a:spcBef>
              <a:spcAft>
                <a:spcPts val="600"/>
              </a:spcAft>
              <a:buFont typeface="Arial" panose="020B0604020202020204" pitchFamily="34" charset="0"/>
              <a:buChar char="•"/>
            </a:pPr>
            <a:endParaRPr lang="en-US"/>
          </a:p>
        </p:txBody>
      </p:sp>
      <p:pic>
        <p:nvPicPr>
          <p:cNvPr id="5" name="Inhaltsplatzhalter 4">
            <a:extLst>
              <a:ext uri="{FF2B5EF4-FFF2-40B4-BE49-F238E27FC236}">
                <a16:creationId xmlns:a16="http://schemas.microsoft.com/office/drawing/2014/main" id="{76B39754-378A-4643-8F1E-3A0454B6085E}"/>
              </a:ext>
            </a:extLst>
          </p:cNvPr>
          <p:cNvPicPr>
            <a:picLocks noGrp="1" noChangeAspect="1"/>
          </p:cNvPicPr>
          <p:nvPr>
            <p:ph sz="half" idx="2"/>
          </p:nvPr>
        </p:nvPicPr>
        <p:blipFill rotWithShape="1">
          <a:blip r:embed="rId2" cstate="screen">
            <a:extLst>
              <a:ext uri="{28A0092B-C50C-407E-A947-70E740481C1C}">
                <a14:useLocalDpi xmlns:a14="http://schemas.microsoft.com/office/drawing/2010/main"/>
              </a:ext>
            </a:extLst>
          </a:blip>
          <a:srcRect/>
          <a:stretch/>
        </p:blipFill>
        <p:spPr>
          <a:xfrm>
            <a:off x="7484912" y="1393078"/>
            <a:ext cx="1930445" cy="4823954"/>
          </a:xfrm>
          <a:prstGeom prst="rect">
            <a:avLst/>
          </a:prstGeom>
        </p:spPr>
      </p:pic>
      <p:sp>
        <p:nvSpPr>
          <p:cNvPr id="6" name="Rechteck 5">
            <a:extLst>
              <a:ext uri="{FF2B5EF4-FFF2-40B4-BE49-F238E27FC236}">
                <a16:creationId xmlns:a16="http://schemas.microsoft.com/office/drawing/2014/main" id="{898F037A-E280-46FF-AEDB-9C2DEA6EAD09}"/>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pic>
        <p:nvPicPr>
          <p:cNvPr id="7" name="Grafik 6">
            <a:extLst>
              <a:ext uri="{FF2B5EF4-FFF2-40B4-BE49-F238E27FC236}">
                <a16:creationId xmlns:a16="http://schemas.microsoft.com/office/drawing/2014/main" id="{D813A1DA-1A26-4CA8-B351-6EA595678B26}"/>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a:stretch/>
        </p:blipFill>
        <p:spPr>
          <a:xfrm>
            <a:off x="6135179" y="1871489"/>
            <a:ext cx="1371966" cy="4212000"/>
          </a:xfrm>
          <a:prstGeom prst="rect">
            <a:avLst/>
          </a:prstGeom>
        </p:spPr>
      </p:pic>
      <p:sp>
        <p:nvSpPr>
          <p:cNvPr id="10" name="Rechteck 9">
            <a:extLst>
              <a:ext uri="{FF2B5EF4-FFF2-40B4-BE49-F238E27FC236}">
                <a16:creationId xmlns:a16="http://schemas.microsoft.com/office/drawing/2014/main" id="{F826BB6C-E8D0-45FE-83C7-05FA4AE7F0CE}"/>
              </a:ext>
            </a:extLst>
          </p:cNvPr>
          <p:cNvSpPr/>
          <p:nvPr/>
        </p:nvSpPr>
        <p:spPr bwMode="auto">
          <a:xfrm>
            <a:off x="9303531" y="1443038"/>
            <a:ext cx="1001061" cy="4722812"/>
          </a:xfrm>
          <a:prstGeom prst="rect">
            <a:avLst/>
          </a:prstGeom>
          <a:noFill/>
          <a:ln>
            <a:noFill/>
          </a:ln>
          <a:effectLst/>
        </p:spPr>
        <p:txBody>
          <a:bodyPr wrap="square" lIns="108000" tIns="54000" rIns="108000" bIns="54000" numCol="1" spcCol="72000" rtlCol="0" anchor="t">
            <a:noAutofit/>
          </a:bodyPr>
          <a:lstStyle/>
          <a:p>
            <a:pPr algn="ctr">
              <a:lnSpc>
                <a:spcPct val="150000"/>
              </a:lnSpc>
              <a:spcBef>
                <a:spcPts val="500"/>
              </a:spcBef>
              <a:spcAft>
                <a:spcPts val="200"/>
              </a:spcAft>
              <a:buFont typeface="Wingdings" charset="0"/>
              <a:buNone/>
            </a:pPr>
            <a:r>
              <a:rPr lang="en-US" sz="1400" b="1">
                <a:solidFill>
                  <a:schemeClr val="tx1"/>
                </a:solidFill>
                <a:latin typeface="+mn-lt"/>
                <a:ea typeface="Arial Unicode MS" panose="020B0604020202020204" pitchFamily="34" charset="-128"/>
                <a:cs typeface="Arial Unicode MS" panose="020B0604020202020204" pitchFamily="34" charset="-128"/>
              </a:rPr>
              <a:t>Actual</a:t>
            </a:r>
          </a:p>
          <a:p>
            <a:pPr algn="ctr">
              <a:lnSpc>
                <a:spcPct val="150000"/>
              </a:lnSpc>
              <a:spcBef>
                <a:spcPts val="6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a:t>
            </a:r>
          </a:p>
          <a:p>
            <a:pPr algn="ctr">
              <a:lnSpc>
                <a:spcPct val="150000"/>
              </a:lnSpc>
              <a:spcBef>
                <a:spcPts val="500"/>
              </a:spcBef>
              <a:spcAft>
                <a:spcPts val="200"/>
              </a:spcAft>
              <a:buFont typeface="Wingdings" charset="0"/>
              <a:buNone/>
            </a:pPr>
            <a:r>
              <a:rPr lang="en-US" sz="1400" b="1">
                <a:solidFill>
                  <a:srgbClr val="00B050"/>
                </a:solidFill>
                <a:latin typeface="+mn-lt"/>
                <a:ea typeface="Arial Unicode MS" panose="020B0604020202020204" pitchFamily="34" charset="-128"/>
                <a:cs typeface="Arial Unicode MS" panose="020B0604020202020204" pitchFamily="34" charset="-128"/>
              </a:rPr>
              <a:t>1</a:t>
            </a:r>
          </a:p>
        </p:txBody>
      </p:sp>
      <p:sp>
        <p:nvSpPr>
          <p:cNvPr id="11" name="Rechteck 10">
            <a:extLst>
              <a:ext uri="{FF2B5EF4-FFF2-40B4-BE49-F238E27FC236}">
                <a16:creationId xmlns:a16="http://schemas.microsoft.com/office/drawing/2014/main" id="{013FD99F-466D-438A-8F27-BE25A9CE35FB}"/>
              </a:ext>
            </a:extLst>
          </p:cNvPr>
          <p:cNvSpPr/>
          <p:nvPr/>
        </p:nvSpPr>
        <p:spPr bwMode="auto">
          <a:xfrm>
            <a:off x="10462710" y="1448780"/>
            <a:ext cx="1001061" cy="4722812"/>
          </a:xfrm>
          <a:prstGeom prst="rect">
            <a:avLst/>
          </a:prstGeom>
          <a:noFill/>
          <a:ln>
            <a:noFill/>
          </a:ln>
          <a:effectLst/>
        </p:spPr>
        <p:txBody>
          <a:bodyPr wrap="square" lIns="108000" tIns="54000" rIns="108000" bIns="54000" numCol="1" spcCol="72000" rtlCol="0" anchor="t">
            <a:noAutofit/>
          </a:bodyPr>
          <a:lstStyle/>
          <a:p>
            <a:pPr algn="ctr">
              <a:lnSpc>
                <a:spcPct val="150000"/>
              </a:lnSpc>
              <a:spcBef>
                <a:spcPts val="500"/>
              </a:spcBef>
              <a:spcAft>
                <a:spcPts val="200"/>
              </a:spcAft>
              <a:buFont typeface="Wingdings" charset="0"/>
              <a:buNone/>
            </a:pPr>
            <a:r>
              <a:rPr lang="en-US" sz="1400" b="1">
                <a:solidFill>
                  <a:schemeClr val="tx1"/>
                </a:solidFill>
                <a:latin typeface="+mn-lt"/>
                <a:ea typeface="Arial Unicode MS" panose="020B0604020202020204" pitchFamily="34" charset="-128"/>
                <a:cs typeface="Arial Unicode MS" panose="020B0604020202020204" pitchFamily="34" charset="-128"/>
              </a:rPr>
              <a:t>Error</a:t>
            </a:r>
          </a:p>
          <a:p>
            <a:pPr algn="ctr">
              <a:lnSpc>
                <a:spcPct val="150000"/>
              </a:lnSpc>
              <a:spcBef>
                <a:spcPts val="6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0.02</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0.00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0.01</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0.01</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0.40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0.01</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0.01</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0.00</a:t>
            </a:r>
          </a:p>
          <a:p>
            <a:pPr algn="ctr">
              <a:lnSpc>
                <a:spcPct val="150000"/>
              </a:lnSpc>
              <a:spcBef>
                <a:spcPts val="500"/>
              </a:spcBef>
              <a:spcAft>
                <a:spcPts val="200"/>
              </a:spcAft>
              <a:buFont typeface="Wingdings" charset="0"/>
              <a:buNone/>
            </a:pPr>
            <a:r>
              <a:rPr lang="en-US" sz="1400" b="1">
                <a:solidFill>
                  <a:srgbClr val="FF0000"/>
                </a:solidFill>
                <a:latin typeface="+mn-lt"/>
                <a:ea typeface="Arial Unicode MS" panose="020B0604020202020204" pitchFamily="34" charset="-128"/>
                <a:cs typeface="Arial Unicode MS" panose="020B0604020202020204" pitchFamily="34" charset="-128"/>
              </a:rPr>
              <a:t>0.01</a:t>
            </a:r>
          </a:p>
          <a:p>
            <a:pPr algn="ctr">
              <a:lnSpc>
                <a:spcPct val="150000"/>
              </a:lnSpc>
              <a:spcBef>
                <a:spcPts val="500"/>
              </a:spcBef>
              <a:spcAft>
                <a:spcPts val="200"/>
              </a:spcAft>
              <a:buFont typeface="Wingdings" charset="0"/>
              <a:buNone/>
            </a:pPr>
            <a:r>
              <a:rPr lang="en-US" sz="1400" b="1">
                <a:solidFill>
                  <a:srgbClr val="00B050"/>
                </a:solidFill>
                <a:latin typeface="+mn-lt"/>
                <a:ea typeface="Arial Unicode MS" panose="020B0604020202020204" pitchFamily="34" charset="-128"/>
                <a:cs typeface="Arial Unicode MS" panose="020B0604020202020204" pitchFamily="34" charset="-128"/>
              </a:rPr>
              <a:t>-0.14</a:t>
            </a:r>
          </a:p>
        </p:txBody>
      </p:sp>
      <p:sp>
        <p:nvSpPr>
          <p:cNvPr id="12" name="Rechteck 11">
            <a:extLst>
              <a:ext uri="{FF2B5EF4-FFF2-40B4-BE49-F238E27FC236}">
                <a16:creationId xmlns:a16="http://schemas.microsoft.com/office/drawing/2014/main" id="{0C4DCF30-AC30-4996-B95A-8799D80ED994}"/>
              </a:ext>
            </a:extLst>
          </p:cNvPr>
          <p:cNvSpPr/>
          <p:nvPr/>
        </p:nvSpPr>
        <p:spPr bwMode="auto">
          <a:xfrm>
            <a:off x="6233192" y="1403983"/>
            <a:ext cx="1126123" cy="474633"/>
          </a:xfrm>
          <a:prstGeom prst="rect">
            <a:avLst/>
          </a:prstGeom>
          <a:noFill/>
          <a:ln>
            <a:noFill/>
          </a:ln>
          <a:effectLst/>
        </p:spPr>
        <p:txBody>
          <a:bodyPr wrap="square" lIns="108000" tIns="54000" rIns="108000" bIns="54000" numCol="1" spcCol="72000" rtlCol="0" anchor="t">
            <a:noAutofit/>
          </a:bodyPr>
          <a:lstStyle/>
          <a:p>
            <a:pPr algn="ctr">
              <a:lnSpc>
                <a:spcPct val="150000"/>
              </a:lnSpc>
              <a:spcBef>
                <a:spcPts val="500"/>
              </a:spcBef>
              <a:spcAft>
                <a:spcPts val="200"/>
              </a:spcAft>
              <a:buFont typeface="Wingdings" charset="0"/>
              <a:buNone/>
            </a:pPr>
            <a:r>
              <a:rPr lang="en-US" sz="1400" b="1">
                <a:solidFill>
                  <a:schemeClr val="tx1"/>
                </a:solidFill>
                <a:latin typeface="+mn-lt"/>
                <a:ea typeface="Arial Unicode MS" panose="020B0604020202020204" pitchFamily="34" charset="-128"/>
                <a:cs typeface="Arial Unicode MS" panose="020B0604020202020204" pitchFamily="34" charset="-128"/>
              </a:rPr>
              <a:t>Prediction</a:t>
            </a:r>
          </a:p>
        </p:txBody>
      </p:sp>
      <p:cxnSp>
        <p:nvCxnSpPr>
          <p:cNvPr id="8" name="Gerade Verbindung mit Pfeil 7">
            <a:extLst>
              <a:ext uri="{FF2B5EF4-FFF2-40B4-BE49-F238E27FC236}">
                <a16:creationId xmlns:a16="http://schemas.microsoft.com/office/drawing/2014/main" id="{FBAC9695-8E25-4941-B5AC-2F731A4B831B}"/>
              </a:ext>
            </a:extLst>
          </p:cNvPr>
          <p:cNvCxnSpPr/>
          <p:nvPr/>
        </p:nvCxnSpPr>
        <p:spPr bwMode="auto">
          <a:xfrm>
            <a:off x="7179295" y="5769260"/>
            <a:ext cx="648072" cy="0"/>
          </a:xfrm>
          <a:prstGeom prst="straightConnector1">
            <a:avLst/>
          </a:prstGeom>
          <a:solidFill>
            <a:schemeClr val="tx2"/>
          </a:solidFill>
          <a:ln w="38100" cap="flat" cmpd="sng" algn="ctr">
            <a:solidFill>
              <a:srgbClr val="00B050"/>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3" name="Gerade Verbindung mit Pfeil 12">
            <a:extLst>
              <a:ext uri="{FF2B5EF4-FFF2-40B4-BE49-F238E27FC236}">
                <a16:creationId xmlns:a16="http://schemas.microsoft.com/office/drawing/2014/main" id="{14015CE8-4B9D-4362-A59C-9F0F2C161726}"/>
              </a:ext>
            </a:extLst>
          </p:cNvPr>
          <p:cNvCxnSpPr/>
          <p:nvPr/>
        </p:nvCxnSpPr>
        <p:spPr bwMode="auto">
          <a:xfrm>
            <a:off x="7179295" y="3717032"/>
            <a:ext cx="648072" cy="0"/>
          </a:xfrm>
          <a:prstGeom prst="straightConnector1">
            <a:avLst/>
          </a:prstGeom>
          <a:solidFill>
            <a:schemeClr val="tx2"/>
          </a:solidFill>
          <a:ln w="9525"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5" name="Gerader Verbinder 14">
            <a:extLst>
              <a:ext uri="{FF2B5EF4-FFF2-40B4-BE49-F238E27FC236}">
                <a16:creationId xmlns:a16="http://schemas.microsoft.com/office/drawing/2014/main" id="{F17975A1-6A7F-4576-94EE-56F5F71E311E}"/>
              </a:ext>
            </a:extLst>
          </p:cNvPr>
          <p:cNvCxnSpPr/>
          <p:nvPr/>
        </p:nvCxnSpPr>
        <p:spPr bwMode="auto">
          <a:xfrm>
            <a:off x="7359315" y="3573016"/>
            <a:ext cx="324036" cy="324036"/>
          </a:xfrm>
          <a:prstGeom prst="line">
            <a:avLst/>
          </a:prstGeom>
          <a:solidFill>
            <a:schemeClr val="tx2"/>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r Verbinder 16">
            <a:extLst>
              <a:ext uri="{FF2B5EF4-FFF2-40B4-BE49-F238E27FC236}">
                <a16:creationId xmlns:a16="http://schemas.microsoft.com/office/drawing/2014/main" id="{F781877F-9898-48AA-84A3-D3E06513A299}"/>
              </a:ext>
            </a:extLst>
          </p:cNvPr>
          <p:cNvCxnSpPr/>
          <p:nvPr/>
        </p:nvCxnSpPr>
        <p:spPr bwMode="auto">
          <a:xfrm flipH="1">
            <a:off x="7409773" y="3573016"/>
            <a:ext cx="222969" cy="324035"/>
          </a:xfrm>
          <a:prstGeom prst="line">
            <a:avLst/>
          </a:prstGeom>
          <a:solidFill>
            <a:schemeClr val="tx2"/>
          </a:solidFill>
          <a:ln w="38100" cap="flat" cmpd="sng" algn="ctr">
            <a:solidFill>
              <a:srgbClr val="FF0000"/>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8" name="Rechteck: abgerundete Ecken 17">
            <a:extLst>
              <a:ext uri="{FF2B5EF4-FFF2-40B4-BE49-F238E27FC236}">
                <a16:creationId xmlns:a16="http://schemas.microsoft.com/office/drawing/2014/main" id="{03E197C9-C155-419A-9496-C708B095D842}"/>
              </a:ext>
            </a:extLst>
          </p:cNvPr>
          <p:cNvSpPr/>
          <p:nvPr/>
        </p:nvSpPr>
        <p:spPr bwMode="auto">
          <a:xfrm>
            <a:off x="6233192" y="1888506"/>
            <a:ext cx="5338591" cy="474579"/>
          </a:xfrm>
          <a:prstGeom prst="roundRect">
            <a:avLst/>
          </a:prstGeom>
          <a:noFill/>
          <a:ln>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19" name="Rechteck: abgerundete Ecken 18">
            <a:extLst>
              <a:ext uri="{FF2B5EF4-FFF2-40B4-BE49-F238E27FC236}">
                <a16:creationId xmlns:a16="http://schemas.microsoft.com/office/drawing/2014/main" id="{E1A899C8-9F11-4448-B439-BB9552E9A4F6}"/>
              </a:ext>
            </a:extLst>
          </p:cNvPr>
          <p:cNvSpPr/>
          <p:nvPr/>
        </p:nvSpPr>
        <p:spPr bwMode="auto">
          <a:xfrm>
            <a:off x="6240127" y="3456264"/>
            <a:ext cx="5338591" cy="474579"/>
          </a:xfrm>
          <a:prstGeom prst="roundRect">
            <a:avLst/>
          </a:prstGeom>
          <a:noFill/>
          <a:ln>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
        <p:nvSpPr>
          <p:cNvPr id="20" name="Rechteck: abgerundete Ecken 19">
            <a:extLst>
              <a:ext uri="{FF2B5EF4-FFF2-40B4-BE49-F238E27FC236}">
                <a16:creationId xmlns:a16="http://schemas.microsoft.com/office/drawing/2014/main" id="{6C425F38-B066-49D1-AF96-56FB08E614A9}"/>
              </a:ext>
            </a:extLst>
          </p:cNvPr>
          <p:cNvSpPr/>
          <p:nvPr/>
        </p:nvSpPr>
        <p:spPr bwMode="auto">
          <a:xfrm>
            <a:off x="6232696" y="5538424"/>
            <a:ext cx="5338591" cy="474579"/>
          </a:xfrm>
          <a:prstGeom prst="roundRect">
            <a:avLst/>
          </a:prstGeom>
          <a:noFill/>
          <a:ln>
            <a:solidFill>
              <a:srgbClr val="00646E"/>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1367898358"/>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Grafik 5">
            <a:extLst>
              <a:ext uri="{FF2B5EF4-FFF2-40B4-BE49-F238E27FC236}">
                <a16:creationId xmlns:a16="http://schemas.microsoft.com/office/drawing/2014/main" id="{443367FC-0C4F-424B-8B1B-A3A213A5A62A}"/>
              </a:ext>
            </a:extLst>
          </p:cNvPr>
          <p:cNvPicPr>
            <a:picLocks noChangeAspect="1"/>
          </p:cNvPicPr>
          <p:nvPr/>
        </p:nvPicPr>
        <p:blipFill>
          <a:blip r:embed="rId2"/>
          <a:stretch>
            <a:fillRect/>
          </a:stretch>
        </p:blipFill>
        <p:spPr>
          <a:xfrm>
            <a:off x="5847147" y="1700808"/>
            <a:ext cx="6010960" cy="2831073"/>
          </a:xfrm>
          <a:prstGeom prst="rect">
            <a:avLst/>
          </a:prstGeom>
        </p:spPr>
      </p:pic>
      <p:sp>
        <p:nvSpPr>
          <p:cNvPr id="2" name="Titel 1">
            <a:extLst>
              <a:ext uri="{FF2B5EF4-FFF2-40B4-BE49-F238E27FC236}">
                <a16:creationId xmlns:a16="http://schemas.microsoft.com/office/drawing/2014/main" id="{EB94D656-F06E-453E-93B9-EA8D1C0E1F1C}"/>
              </a:ext>
            </a:extLst>
          </p:cNvPr>
          <p:cNvSpPr>
            <a:spLocks noGrp="1"/>
          </p:cNvSpPr>
          <p:nvPr>
            <p:ph type="title"/>
          </p:nvPr>
        </p:nvSpPr>
        <p:spPr/>
        <p:txBody>
          <a:bodyPr/>
          <a:lstStyle/>
          <a:p>
            <a:r>
              <a:rPr lang="en-US" sz="2000"/>
              <a:t>3. Calculate Error:</a:t>
            </a:r>
            <a:br>
              <a:rPr lang="en-US" sz="2000"/>
            </a:br>
            <a:r>
              <a:rPr lang="en-US" sz="2000"/>
              <a:t>Back Propagate Error</a:t>
            </a:r>
          </a:p>
        </p:txBody>
      </p:sp>
      <p:sp>
        <p:nvSpPr>
          <p:cNvPr id="3" name="Inhaltsplatzhalter 2">
            <a:extLst>
              <a:ext uri="{FF2B5EF4-FFF2-40B4-BE49-F238E27FC236}">
                <a16:creationId xmlns:a16="http://schemas.microsoft.com/office/drawing/2014/main" id="{D76BDFB1-2E25-47BA-BD4A-3BB8901810DD}"/>
              </a:ext>
            </a:extLst>
          </p:cNvPr>
          <p:cNvSpPr>
            <a:spLocks noGrp="1"/>
          </p:cNvSpPr>
          <p:nvPr>
            <p:ph sz="half" idx="1"/>
          </p:nvPr>
        </p:nvSpPr>
        <p:spPr>
          <a:xfrm>
            <a:off x="627063" y="1440000"/>
            <a:ext cx="5328096" cy="4752000"/>
          </a:xfrm>
        </p:spPr>
        <p:txBody>
          <a:bodyPr/>
          <a:lstStyle/>
          <a:p>
            <a:pPr lvl="2" indent="0">
              <a:lnSpc>
                <a:spcPct val="200000"/>
              </a:lnSpc>
              <a:buNone/>
            </a:pPr>
            <a:r>
              <a:rPr lang="en-US"/>
              <a:t>Error of hidden layer: Redistribute output error to hidden layer based on weights</a:t>
            </a:r>
          </a:p>
          <a:p>
            <a:pPr marL="285750" indent="-285750">
              <a:lnSpc>
                <a:spcPct val="200000"/>
              </a:lnSpc>
              <a:buFont typeface="Arial" panose="020B0604020202020204" pitchFamily="34" charset="0"/>
              <a:buChar char="•"/>
            </a:pPr>
            <a:endParaRPr lang="en-US"/>
          </a:p>
        </p:txBody>
      </p:sp>
      <p:grpSp>
        <p:nvGrpSpPr>
          <p:cNvPr id="7" name="Gruppieren 6">
            <a:extLst>
              <a:ext uri="{FF2B5EF4-FFF2-40B4-BE49-F238E27FC236}">
                <a16:creationId xmlns:a16="http://schemas.microsoft.com/office/drawing/2014/main" id="{7983B972-BB5B-423A-96C6-EDFEF25CAA18}"/>
              </a:ext>
            </a:extLst>
          </p:cNvPr>
          <p:cNvGrpSpPr/>
          <p:nvPr/>
        </p:nvGrpSpPr>
        <p:grpSpPr>
          <a:xfrm>
            <a:off x="627062" y="5373216"/>
            <a:ext cx="11088687" cy="792634"/>
            <a:chOff x="770583" y="4892055"/>
            <a:chExt cx="9865096" cy="1628935"/>
          </a:xfrm>
        </p:grpSpPr>
        <p:sp>
          <p:nvSpPr>
            <p:cNvPr id="10" name="Rechteck 9">
              <a:extLst>
                <a:ext uri="{FF2B5EF4-FFF2-40B4-BE49-F238E27FC236}">
                  <a16:creationId xmlns:a16="http://schemas.microsoft.com/office/drawing/2014/main" id="{141A399E-AA37-4C5A-B8D9-6C6D2F899694}"/>
                </a:ext>
              </a:extLst>
            </p:cNvPr>
            <p:cNvSpPr/>
            <p:nvPr/>
          </p:nvSpPr>
          <p:spPr bwMode="auto">
            <a:xfrm>
              <a:off x="770583" y="4892055"/>
              <a:ext cx="4932548" cy="1628935"/>
            </a:xfrm>
            <a:prstGeom prst="rect">
              <a:avLst/>
            </a:prstGeom>
            <a:ln w="28575">
              <a:solidFill>
                <a:srgbClr val="00646E"/>
              </a:solidFill>
            </a:ln>
          </p:spPr>
          <p:txBody>
            <a:bodyPr wrap="square" anchor="ctr">
              <a:noAutofit/>
            </a:bodyPr>
            <a:lstStyle/>
            <a:p>
              <a:pPr algn="ctr"/>
              <a:r>
                <a:rPr lang="en-US" sz="1600">
                  <a:solidFill>
                    <a:schemeClr val="tx1"/>
                  </a:solidFill>
                </a:rPr>
                <a:t>Calculation in matrix formulas:</a:t>
              </a:r>
            </a:p>
          </p:txBody>
        </p:sp>
        <p:sp>
          <p:nvSpPr>
            <p:cNvPr id="11" name="Rechteck 10">
              <a:extLst>
                <a:ext uri="{FF2B5EF4-FFF2-40B4-BE49-F238E27FC236}">
                  <a16:creationId xmlns:a16="http://schemas.microsoft.com/office/drawing/2014/main" id="{6B288C20-8BC9-4CC5-B724-0FE9BD1CF8FD}"/>
                </a:ext>
              </a:extLst>
            </p:cNvPr>
            <p:cNvSpPr/>
            <p:nvPr/>
          </p:nvSpPr>
          <p:spPr bwMode="auto">
            <a:xfrm>
              <a:off x="5703131" y="4892055"/>
              <a:ext cx="4932548" cy="1628935"/>
            </a:xfrm>
            <a:prstGeom prst="rect">
              <a:avLst/>
            </a:prstGeom>
            <a:ln w="28575">
              <a:solidFill>
                <a:srgbClr val="00646E"/>
              </a:solidFill>
            </a:ln>
          </p:spPr>
          <p:txBody>
            <a:bodyPr wrap="square" anchor="ctr">
              <a:noAutofit/>
            </a:bodyPr>
            <a:lstStyle/>
            <a:p>
              <a:pPr marL="176213"/>
              <a:r>
                <a:rPr lang="en-US" sz="1600">
                  <a:solidFill>
                    <a:schemeClr val="tx1"/>
                  </a:solidFill>
                </a:rPr>
                <a:t>Error</a:t>
              </a:r>
              <a:r>
                <a:rPr lang="en-US" sz="1600" baseline="-25000">
                  <a:solidFill>
                    <a:schemeClr val="tx1"/>
                  </a:solidFill>
                </a:rPr>
                <a:t>1_output </a:t>
              </a:r>
              <a:r>
                <a:rPr lang="en-US" sz="1600">
                  <a:solidFill>
                    <a:schemeClr val="tx1"/>
                  </a:solidFill>
                </a:rPr>
                <a:t>= O</a:t>
              </a:r>
              <a:r>
                <a:rPr lang="en-US" sz="1600" baseline="-25000">
                  <a:solidFill>
                    <a:schemeClr val="tx1"/>
                  </a:solidFill>
                </a:rPr>
                <a:t>1 </a:t>
              </a:r>
              <a:r>
                <a:rPr lang="en-US" sz="1600">
                  <a:solidFill>
                    <a:schemeClr val="tx1"/>
                  </a:solidFill>
                </a:rPr>
                <a:t>- Y</a:t>
              </a:r>
              <a:r>
                <a:rPr lang="en-US" sz="1600" baseline="-25000">
                  <a:solidFill>
                    <a:schemeClr val="tx1"/>
                  </a:solidFill>
                </a:rPr>
                <a:t>1</a:t>
              </a:r>
            </a:p>
            <a:p>
              <a:pPr marL="176213"/>
              <a:r>
                <a:rPr lang="en-US" sz="1600">
                  <a:solidFill>
                    <a:schemeClr val="tx1"/>
                  </a:solidFill>
                </a:rPr>
                <a:t>Error</a:t>
              </a:r>
              <a:r>
                <a:rPr lang="en-US" sz="1600" baseline="-25000">
                  <a:solidFill>
                    <a:schemeClr val="tx1"/>
                  </a:solidFill>
                </a:rPr>
                <a:t>1_hidden </a:t>
              </a:r>
              <a:r>
                <a:rPr lang="en-US" sz="1600">
                  <a:solidFill>
                    <a:schemeClr val="tx1"/>
                  </a:solidFill>
                </a:rPr>
                <a:t>= W</a:t>
              </a:r>
              <a:r>
                <a:rPr lang="en-US" sz="1600" baseline="30000">
                  <a:solidFill>
                    <a:schemeClr val="tx1"/>
                  </a:solidFill>
                </a:rPr>
                <a:t>-1</a:t>
              </a:r>
              <a:r>
                <a:rPr lang="en-US" sz="1600" baseline="-25000">
                  <a:solidFill>
                    <a:schemeClr val="tx1"/>
                  </a:solidFill>
                </a:rPr>
                <a:t>1_hidden_output </a:t>
              </a:r>
              <a:r>
                <a:rPr lang="en-US" sz="1600">
                  <a:solidFill>
                    <a:schemeClr val="tx1"/>
                  </a:solidFill>
                </a:rPr>
                <a:t>x</a:t>
              </a:r>
              <a:r>
                <a:rPr lang="en-US" sz="1600" baseline="-25000">
                  <a:solidFill>
                    <a:schemeClr val="tx1"/>
                  </a:solidFill>
                </a:rPr>
                <a:t> </a:t>
              </a:r>
              <a:r>
                <a:rPr lang="en-US" sz="1600">
                  <a:solidFill>
                    <a:schemeClr val="tx1"/>
                  </a:solidFill>
                </a:rPr>
                <a:t>Error</a:t>
              </a:r>
              <a:r>
                <a:rPr lang="en-US" sz="1600" baseline="-25000">
                  <a:solidFill>
                    <a:schemeClr val="tx1"/>
                  </a:solidFill>
                </a:rPr>
                <a:t>1_output</a:t>
              </a:r>
            </a:p>
          </p:txBody>
        </p:sp>
      </p:grpSp>
      <p:sp>
        <p:nvSpPr>
          <p:cNvPr id="8" name="Rechteck 7">
            <a:extLst>
              <a:ext uri="{FF2B5EF4-FFF2-40B4-BE49-F238E27FC236}">
                <a16:creationId xmlns:a16="http://schemas.microsoft.com/office/drawing/2014/main" id="{38181387-9530-4064-AE98-6BEDF05AD2A8}"/>
              </a:ext>
            </a:extLst>
          </p:cNvPr>
          <p:cNvSpPr/>
          <p:nvPr/>
        </p:nvSpPr>
        <p:spPr bwMode="auto">
          <a:xfrm>
            <a:off x="7827367" y="5769260"/>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19033349"/>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2B5FD70-D743-4D9C-9DFA-C27711F67AA5}"/>
              </a:ext>
            </a:extLst>
          </p:cNvPr>
          <p:cNvSpPr>
            <a:spLocks noGrp="1"/>
          </p:cNvSpPr>
          <p:nvPr>
            <p:ph type="title"/>
          </p:nvPr>
        </p:nvSpPr>
        <p:spPr/>
        <p:txBody>
          <a:bodyPr/>
          <a:lstStyle/>
          <a:p>
            <a:r>
              <a:rPr lang="en-US"/>
              <a:t>4. Recalculate Weights Based on Error -&gt; NN</a:t>
            </a:r>
            <a:r>
              <a:rPr lang="en-US" baseline="-25000"/>
              <a:t>2</a:t>
            </a:r>
            <a:br>
              <a:rPr lang="en-US" baseline="-25000"/>
            </a:br>
            <a:r>
              <a:rPr lang="en-US"/>
              <a:t>Gradient Descent Method:</a:t>
            </a:r>
          </a:p>
        </p:txBody>
      </p:sp>
      <mc:AlternateContent xmlns:mc="http://schemas.openxmlformats.org/markup-compatibility/2006" xmlns:a14="http://schemas.microsoft.com/office/drawing/2010/main">
        <mc:Choice Requires="a14">
          <p:sp>
            <p:nvSpPr>
              <p:cNvPr id="3" name="Inhaltsplatzhalter 2">
                <a:extLst>
                  <a:ext uri="{FF2B5EF4-FFF2-40B4-BE49-F238E27FC236}">
                    <a16:creationId xmlns:a16="http://schemas.microsoft.com/office/drawing/2014/main" id="{3E7206CE-6B4A-4CFC-B4B2-60364ADD5FAA}"/>
                  </a:ext>
                </a:extLst>
              </p:cNvPr>
              <p:cNvSpPr>
                <a:spLocks noGrp="1"/>
              </p:cNvSpPr>
              <p:nvPr>
                <p:ph sz="half" idx="1"/>
              </p:nvPr>
            </p:nvSpPr>
            <p:spPr>
              <a:xfrm>
                <a:off x="627063" y="1440000"/>
                <a:ext cx="6732252" cy="4752000"/>
              </a:xfrm>
            </p:spPr>
            <p:txBody>
              <a:bodyPr/>
              <a:lstStyle/>
              <a:p>
                <a:pPr>
                  <a:spcBef>
                    <a:spcPts val="600"/>
                  </a:spcBef>
                </a:pPr>
                <a:r>
                  <a:rPr lang="en-US" sz="1600"/>
                  <a:t>For </a:t>
                </a:r>
                <a:r>
                  <a:rPr lang="en-US" sz="1400"/>
                  <a:t>each weight:</a:t>
                </a:r>
              </a:p>
              <a:p>
                <a:pPr marL="342900" indent="-342900">
                  <a:spcBef>
                    <a:spcPts val="600"/>
                  </a:spcBef>
                  <a:buFont typeface="+mj-lt"/>
                  <a:buAutoNum type="arabicPeriod"/>
                </a:pPr>
                <a:r>
                  <a:rPr lang="en-US" sz="1400"/>
                  <a:t>Calculate “Gradient” (derivative) of loss function (Error)=f(W</a:t>
                </a:r>
                <a:r>
                  <a:rPr lang="en-US" sz="1400" baseline="-25000"/>
                  <a:t>IJ</a:t>
                </a:r>
                <a:r>
                  <a:rPr lang="en-US" sz="1400"/>
                  <a:t>) </a:t>
                </a:r>
              </a:p>
              <a:p>
                <a:pPr marL="342900" indent="-342900">
                  <a:spcBef>
                    <a:spcPts val="600"/>
                  </a:spcBef>
                  <a:buFont typeface="+mj-lt"/>
                  <a:buAutoNum type="arabicPeriod"/>
                </a:pPr>
                <a:r>
                  <a:rPr lang="en-US" sz="1400"/>
                  <a:t>Principals:</a:t>
                </a:r>
              </a:p>
              <a:p>
                <a:pPr marL="522288" lvl="1" indent="-342900">
                  <a:spcBef>
                    <a:spcPts val="600"/>
                  </a:spcBef>
                </a:pPr>
                <a:r>
                  <a:rPr lang="en-US" sz="1400"/>
                  <a:t>We move weight in opposite direction than error/ loss function</a:t>
                </a:r>
              </a:p>
              <a:p>
                <a:pPr marL="522288" lvl="1" indent="-342900">
                  <a:spcBef>
                    <a:spcPts val="600"/>
                  </a:spcBef>
                </a:pPr>
                <a:r>
                  <a:rPr lang="en-US" sz="1400"/>
                  <a:t>We multiply with learning rate </a:t>
                </a:r>
                <a:r>
                  <a:rPr lang="en-US" sz="1400">
                    <a:latin typeface="Symbol" panose="05050102010706020507" pitchFamily="18" charset="2"/>
                  </a:rPr>
                  <a:t>a</a:t>
                </a:r>
                <a:endParaRPr lang="en-US" sz="1400"/>
              </a:p>
              <a:p>
                <a:pPr marL="522288" lvl="1" indent="-342900">
                  <a:spcBef>
                    <a:spcPts val="600"/>
                  </a:spcBef>
                </a:pPr>
                <a:r>
                  <a:rPr lang="en-US" sz="1400"/>
                  <a:t>We multiply by derivative</a:t>
                </a:r>
              </a:p>
              <a:p>
                <a:pPr marL="701675" lvl="2" indent="-342900">
                  <a:spcBef>
                    <a:spcPts val="600"/>
                  </a:spcBef>
                  <a:buFont typeface="Wingdings" panose="05000000000000000000" pitchFamily="2" charset="2"/>
                  <a:buChar char="Ø"/>
                </a:pPr>
                <a:r>
                  <a:rPr lang="en-US" sz="1400"/>
                  <a:t>For high slope error functions, we move weight a lot</a:t>
                </a:r>
              </a:p>
              <a:p>
                <a:pPr marL="701675" lvl="2" indent="-342900">
                  <a:spcBef>
                    <a:spcPts val="600"/>
                  </a:spcBef>
                  <a:buFont typeface="Wingdings" panose="05000000000000000000" pitchFamily="2" charset="2"/>
                  <a:buChar char="Ø"/>
                </a:pPr>
                <a:r>
                  <a:rPr lang="en-US" sz="1400"/>
                  <a:t>For low slope we move it little </a:t>
                </a:r>
              </a:p>
              <a:p>
                <a:pPr marL="522288" lvl="1" indent="-342900">
                  <a:spcBef>
                    <a:spcPts val="600"/>
                  </a:spcBef>
                </a:pPr>
                <a:r>
                  <a:rPr lang="en-US" sz="1400"/>
                  <a:t>New Weight = Old Weight  – LR  * partial derivative of loss function with respect to weight</a:t>
                </a:r>
                <a:endParaRPr lang="en-US" sz="1200"/>
              </a:p>
              <a:p>
                <a:pPr/>
                <a14:m>
                  <m:oMathPara xmlns:m="http://schemas.openxmlformats.org/officeDocument/2006/math">
                    <m:oMathParaPr>
                      <m:jc m:val="centerGroup"/>
                    </m:oMathParaPr>
                    <m:oMath xmlns:m="http://schemas.openxmlformats.org/officeDocument/2006/math">
                      <m:sSub>
                        <m:sSubPr>
                          <m:ctrlPr>
                            <a:rPr lang="en-US" sz="12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de-DE" sz="1200" b="0" i="1" smtClean="0">
                              <a:latin typeface="Cambria Math" panose="02040503050406030204" pitchFamily="18" charset="0"/>
                              <a:ea typeface="Arial Unicode MS" panose="020B0604020202020204" pitchFamily="34" charset="-128"/>
                              <a:cs typeface="Arial Unicode MS" panose="020B0604020202020204" pitchFamily="34" charset="-128"/>
                            </a:rPr>
                            <m:t>𝑤</m:t>
                          </m:r>
                        </m:e>
                        <m:sub>
                          <m:r>
                            <a:rPr lang="de-DE" sz="1200" b="0" i="1" smtClean="0">
                              <a:latin typeface="Cambria Math" panose="02040503050406030204" pitchFamily="18" charset="0"/>
                              <a:ea typeface="Arial Unicode MS" panose="020B0604020202020204" pitchFamily="34" charset="-128"/>
                              <a:cs typeface="Arial Unicode MS" panose="020B0604020202020204" pitchFamily="34" charset="-128"/>
                            </a:rPr>
                            <m:t>1, </m:t>
                          </m:r>
                          <m:r>
                            <a:rPr lang="de-DE" sz="1200" b="0" i="1" smtClean="0">
                              <a:latin typeface="Cambria Math" panose="02040503050406030204" pitchFamily="18" charset="0"/>
                              <a:ea typeface="Arial Unicode MS" panose="020B0604020202020204" pitchFamily="34" charset="-128"/>
                              <a:cs typeface="Arial Unicode MS" panose="020B0604020202020204" pitchFamily="34" charset="-128"/>
                            </a:rPr>
                            <m:t>𝑛𝑒𝑢</m:t>
                          </m:r>
                        </m:sub>
                      </m:sSub>
                      <m:r>
                        <a:rPr lang="de-DE" sz="1200" b="0" i="1" smtClean="0">
                          <a:latin typeface="Cambria Math" panose="02040503050406030204" pitchFamily="18" charset="0"/>
                          <a:ea typeface="Arial Unicode MS" panose="020B0604020202020204" pitchFamily="34" charset="-128"/>
                          <a:cs typeface="Arial Unicode MS" panose="020B0604020202020204" pitchFamily="34" charset="-128"/>
                        </a:rPr>
                        <m:t>=</m:t>
                      </m:r>
                      <m:sSub>
                        <m:sSubPr>
                          <m:ctrlPr>
                            <a:rPr lang="en-US" sz="12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de-DE" sz="1200" i="1">
                              <a:latin typeface="Cambria Math" panose="02040503050406030204" pitchFamily="18" charset="0"/>
                              <a:ea typeface="Arial Unicode MS" panose="020B0604020202020204" pitchFamily="34" charset="-128"/>
                              <a:cs typeface="Arial Unicode MS" panose="020B0604020202020204" pitchFamily="34" charset="-128"/>
                            </a:rPr>
                            <m:t>𝑤</m:t>
                          </m:r>
                        </m:e>
                        <m:sub>
                          <m:r>
                            <a:rPr lang="de-DE" sz="1200" i="1">
                              <a:latin typeface="Cambria Math" panose="02040503050406030204" pitchFamily="18" charset="0"/>
                              <a:ea typeface="Arial Unicode MS" panose="020B0604020202020204" pitchFamily="34" charset="-128"/>
                              <a:cs typeface="Arial Unicode MS" panose="020B0604020202020204" pitchFamily="34" charset="-128"/>
                            </a:rPr>
                            <m:t>1</m:t>
                          </m:r>
                        </m:sub>
                      </m:sSub>
                      <m:r>
                        <a:rPr lang="de-DE" sz="1200" b="0" i="1" smtClean="0">
                          <a:latin typeface="Cambria Math" panose="02040503050406030204" pitchFamily="18" charset="0"/>
                          <a:ea typeface="Arial Unicode MS" panose="020B0604020202020204" pitchFamily="34" charset="-128"/>
                          <a:cs typeface="Arial Unicode MS" panose="020B0604020202020204" pitchFamily="34" charset="-128"/>
                        </a:rPr>
                        <m:t>−</m:t>
                      </m:r>
                      <m:r>
                        <a:rPr lang="de-DE" sz="1200" b="0" i="1" smtClean="0">
                          <a:latin typeface="Cambria Math" panose="02040503050406030204" pitchFamily="18" charset="0"/>
                          <a:ea typeface="Cambria Math" panose="02040503050406030204" pitchFamily="18" charset="0"/>
                          <a:cs typeface="Arial Unicode MS" panose="020B0604020202020204" pitchFamily="34" charset="-128"/>
                        </a:rPr>
                        <m:t>𝛼</m:t>
                      </m:r>
                      <m:r>
                        <a:rPr lang="de-DE" sz="1200" b="0" i="1" smtClean="0">
                          <a:latin typeface="Cambria Math" panose="02040503050406030204" pitchFamily="18" charset="0"/>
                          <a:ea typeface="Cambria Math" panose="02040503050406030204" pitchFamily="18" charset="0"/>
                          <a:cs typeface="Arial Unicode MS" panose="020B0604020202020204" pitchFamily="34" charset="-128"/>
                        </a:rPr>
                        <m:t>∗</m:t>
                      </m:r>
                      <m:d>
                        <m:dPr>
                          <m:ctrlPr>
                            <a:rPr lang="en-US" sz="1200" i="1">
                              <a:latin typeface="Cambria Math" panose="02040503050406030204" pitchFamily="18" charset="0"/>
                              <a:ea typeface="Arial Unicode MS" panose="020B0604020202020204" pitchFamily="34" charset="-128"/>
                              <a:cs typeface="Arial Unicode MS" panose="020B0604020202020204" pitchFamily="34" charset="-128"/>
                            </a:rPr>
                          </m:ctrlPr>
                        </m:dPr>
                        <m:e>
                          <m:f>
                            <m:fPr>
                              <m:ctrlPr>
                                <a:rPr lang="en-US" sz="1200" i="1">
                                  <a:latin typeface="Cambria Math" panose="02040503050406030204" pitchFamily="18" charset="0"/>
                                  <a:ea typeface="Arial Unicode MS" panose="020B0604020202020204" pitchFamily="34" charset="-128"/>
                                  <a:cs typeface="Arial Unicode MS" panose="020B0604020202020204" pitchFamily="34" charset="-128"/>
                                </a:rPr>
                              </m:ctrlPr>
                            </m:fPr>
                            <m:num>
                              <m:sSub>
                                <m:sSubPr>
                                  <m:ctrlPr>
                                    <a:rPr lang="en-US" sz="12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smtClean="0">
                                      <a:latin typeface="Cambria Math" panose="02040503050406030204" pitchFamily="18" charset="0"/>
                                      <a:ea typeface="Cambria Math" panose="02040503050406030204" pitchFamily="18" charset="0"/>
                                      <a:cs typeface="Arial Unicode MS" panose="020B0604020202020204" pitchFamily="34" charset="-128"/>
                                    </a:rPr>
                                    <m:t>𝜕</m:t>
                                  </m:r>
                                  <m:r>
                                    <a:rPr lang="de-DE" sz="1200" b="0" i="1" smtClean="0">
                                      <a:latin typeface="Cambria Math" panose="02040503050406030204" pitchFamily="18" charset="0"/>
                                      <a:ea typeface="Cambria Math" panose="02040503050406030204" pitchFamily="18" charset="0"/>
                                      <a:cs typeface="Arial Unicode MS" panose="020B0604020202020204" pitchFamily="34" charset="-128"/>
                                    </a:rPr>
                                    <m:t>𝐽</m:t>
                                  </m:r>
                                  <m:r>
                                    <a:rPr lang="de-DE" sz="1200" b="0" i="1" smtClean="0">
                                      <a:latin typeface="Cambria Math" panose="02040503050406030204" pitchFamily="18" charset="0"/>
                                      <a:ea typeface="Cambria Math" panose="02040503050406030204" pitchFamily="18" charset="0"/>
                                      <a:cs typeface="Arial Unicode MS" panose="020B0604020202020204" pitchFamily="34" charset="-128"/>
                                    </a:rPr>
                                    <m:t>(</m:t>
                                  </m:r>
                                  <m:sSub>
                                    <m:sSubPr>
                                      <m:ctrlPr>
                                        <a:rPr lang="de-DE" sz="1200" b="0" i="1" smtClean="0">
                                          <a:latin typeface="Cambria Math" panose="02040503050406030204" pitchFamily="18" charset="0"/>
                                          <a:ea typeface="Cambria Math" panose="02040503050406030204" pitchFamily="18" charset="0"/>
                                        </a:rPr>
                                      </m:ctrlPr>
                                    </m:sSubPr>
                                    <m:e>
                                      <m:r>
                                        <a:rPr lang="de-DE" sz="1200" b="0" i="1" smtClean="0">
                                          <a:latin typeface="Cambria Math" panose="02040503050406030204" pitchFamily="18" charset="0"/>
                                          <a:ea typeface="Cambria Math" panose="02040503050406030204" pitchFamily="18" charset="0"/>
                                        </a:rPr>
                                        <m:t>𝑤</m:t>
                                      </m:r>
                                    </m:e>
                                    <m:sub>
                                      <m:r>
                                        <a:rPr lang="de-DE" sz="1200" b="0" i="1" smtClean="0">
                                          <a:latin typeface="Cambria Math" panose="02040503050406030204" pitchFamily="18" charset="0"/>
                                          <a:ea typeface="Cambria Math" panose="02040503050406030204" pitchFamily="18" charset="0"/>
                                        </a:rPr>
                                        <m:t>2</m:t>
                                      </m:r>
                                    </m:sub>
                                  </m:sSub>
                                  <m:r>
                                    <a:rPr lang="de-DE" sz="1200" b="0" i="1" smtClean="0">
                                      <a:latin typeface="Cambria Math" panose="02040503050406030204" pitchFamily="18" charset="0"/>
                                      <a:ea typeface="Cambria Math" panose="02040503050406030204" pitchFamily="18" charset="0"/>
                                    </a:rPr>
                                    <m:t>,</m:t>
                                  </m:r>
                                  <m:r>
                                    <a:rPr lang="de-DE" sz="1200" b="0" i="1" smtClean="0">
                                      <a:latin typeface="Cambria Math" panose="02040503050406030204" pitchFamily="18" charset="0"/>
                                      <a:ea typeface="Cambria Math" panose="02040503050406030204" pitchFamily="18" charset="0"/>
                                      <a:cs typeface="Arial Unicode MS" panose="020B0604020202020204" pitchFamily="34" charset="-128"/>
                                    </a:rPr>
                                    <m:t>𝑤</m:t>
                                  </m:r>
                                </m:e>
                                <m:sub>
                                  <m:r>
                                    <a:rPr lang="de-DE" sz="1200" b="0" i="1" smtClean="0">
                                      <a:latin typeface="Cambria Math" panose="02040503050406030204" pitchFamily="18" charset="0"/>
                                      <a:ea typeface="Arial Unicode MS" panose="020B0604020202020204" pitchFamily="34" charset="-128"/>
                                      <a:cs typeface="Arial Unicode MS" panose="020B0604020202020204" pitchFamily="34" charset="-128"/>
                                    </a:rPr>
                                    <m:t>1</m:t>
                                  </m:r>
                                </m:sub>
                              </m:sSub>
                              <m:r>
                                <a:rPr lang="de-DE" sz="1200" b="0" i="1" smtClean="0">
                                  <a:latin typeface="Cambria Math" panose="02040503050406030204" pitchFamily="18" charset="0"/>
                                  <a:ea typeface="Arial Unicode MS" panose="020B0604020202020204" pitchFamily="34" charset="-128"/>
                                  <a:cs typeface="Arial Unicode MS" panose="020B0604020202020204" pitchFamily="34" charset="-128"/>
                                </a:rPr>
                                <m:t>)</m:t>
                              </m:r>
                            </m:num>
                            <m:den>
                              <m:sSub>
                                <m:sSubPr>
                                  <m:ctrlPr>
                                    <a:rPr lang="en-US" sz="1200" i="1">
                                      <a:latin typeface="Cambria Math" panose="02040503050406030204" pitchFamily="18" charset="0"/>
                                      <a:ea typeface="Arial Unicode MS" panose="020B0604020202020204" pitchFamily="34" charset="-128"/>
                                      <a:cs typeface="Arial Unicode MS" panose="020B0604020202020204" pitchFamily="34" charset="-128"/>
                                    </a:rPr>
                                  </m:ctrlPr>
                                </m:sSubPr>
                                <m:e>
                                  <m:r>
                                    <a:rPr lang="en-US" sz="1200" i="1">
                                      <a:latin typeface="Cambria Math" panose="02040503050406030204" pitchFamily="18" charset="0"/>
                                      <a:ea typeface="Cambria Math" panose="02040503050406030204" pitchFamily="18" charset="0"/>
                                      <a:cs typeface="Arial Unicode MS" panose="020B0604020202020204" pitchFamily="34" charset="-128"/>
                                    </a:rPr>
                                    <m:t>𝜕</m:t>
                                  </m:r>
                                  <m:r>
                                    <a:rPr lang="de-DE" sz="1200" i="1">
                                      <a:latin typeface="Cambria Math" panose="02040503050406030204" pitchFamily="18" charset="0"/>
                                      <a:ea typeface="Cambria Math" panose="02040503050406030204" pitchFamily="18" charset="0"/>
                                      <a:cs typeface="Arial Unicode MS" panose="020B0604020202020204" pitchFamily="34" charset="-128"/>
                                    </a:rPr>
                                    <m:t>𝑤</m:t>
                                  </m:r>
                                </m:e>
                                <m:sub>
                                  <m:r>
                                    <a:rPr lang="de-DE" sz="1200" i="1">
                                      <a:latin typeface="Cambria Math" panose="02040503050406030204" pitchFamily="18" charset="0"/>
                                      <a:ea typeface="Arial Unicode MS" panose="020B0604020202020204" pitchFamily="34" charset="-128"/>
                                      <a:cs typeface="Arial Unicode MS" panose="020B0604020202020204" pitchFamily="34" charset="-128"/>
                                    </a:rPr>
                                    <m:t>1</m:t>
                                  </m:r>
                                </m:sub>
                              </m:sSub>
                            </m:den>
                          </m:f>
                        </m:e>
                      </m:d>
                    </m:oMath>
                  </m:oMathPara>
                </a14:m>
                <a:endParaRPr lang="en-US" sz="1200"/>
              </a:p>
            </p:txBody>
          </p:sp>
        </mc:Choice>
        <mc:Fallback xmlns="">
          <p:sp>
            <p:nvSpPr>
              <p:cNvPr id="3" name="Inhaltsplatzhalter 2">
                <a:extLst>
                  <a:ext uri="{FF2B5EF4-FFF2-40B4-BE49-F238E27FC236}">
                    <a16:creationId xmlns:a16="http://schemas.microsoft.com/office/drawing/2014/main" id="{3E7206CE-6B4A-4CFC-B4B2-60364ADD5FAA}"/>
                  </a:ext>
                </a:extLst>
              </p:cNvPr>
              <p:cNvSpPr>
                <a:spLocks noGrp="1" noRot="1" noChangeAspect="1" noMove="1" noResize="1" noEditPoints="1" noAdjustHandles="1" noChangeArrowheads="1" noChangeShapeType="1" noTextEdit="1"/>
              </p:cNvSpPr>
              <p:nvPr>
                <p:ph sz="half" idx="1"/>
              </p:nvPr>
            </p:nvSpPr>
            <p:spPr>
              <a:xfrm>
                <a:off x="627063" y="1440000"/>
                <a:ext cx="6732252" cy="4752000"/>
              </a:xfrm>
              <a:blipFill>
                <a:blip r:embed="rId2"/>
                <a:stretch>
                  <a:fillRect l="-1902" t="-1154"/>
                </a:stretch>
              </a:blipFill>
            </p:spPr>
            <p:txBody>
              <a:bodyPr/>
              <a:lstStyle/>
              <a:p>
                <a:r>
                  <a:rPr lang="en-US">
                    <a:noFill/>
                  </a:rPr>
                  <a:t> </a:t>
                </a:r>
              </a:p>
            </p:txBody>
          </p:sp>
        </mc:Fallback>
      </mc:AlternateContent>
      <p:pic>
        <p:nvPicPr>
          <p:cNvPr id="6" name="Grafik 5">
            <a:extLst>
              <a:ext uri="{FF2B5EF4-FFF2-40B4-BE49-F238E27FC236}">
                <a16:creationId xmlns:a16="http://schemas.microsoft.com/office/drawing/2014/main" id="{36F03D3D-801D-40F1-A10B-05F5892FFC1E}"/>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248301" y="3587611"/>
            <a:ext cx="3190875" cy="2276475"/>
          </a:xfrm>
          <a:prstGeom prst="rect">
            <a:avLst/>
          </a:prstGeom>
        </p:spPr>
      </p:pic>
      <p:pic>
        <p:nvPicPr>
          <p:cNvPr id="7" name="Grafik 6">
            <a:extLst>
              <a:ext uri="{FF2B5EF4-FFF2-40B4-BE49-F238E27FC236}">
                <a16:creationId xmlns:a16="http://schemas.microsoft.com/office/drawing/2014/main" id="{2172C054-2BD0-4967-9D87-5E9DACD22E78}"/>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7874892" y="1291453"/>
            <a:ext cx="4202755" cy="2605599"/>
          </a:xfrm>
          <a:prstGeom prst="rect">
            <a:avLst/>
          </a:prstGeom>
        </p:spPr>
      </p:pic>
      <p:sp>
        <p:nvSpPr>
          <p:cNvPr id="10" name="Inhaltsplatzhalter 2">
            <a:extLst>
              <a:ext uri="{FF2B5EF4-FFF2-40B4-BE49-F238E27FC236}">
                <a16:creationId xmlns:a16="http://schemas.microsoft.com/office/drawing/2014/main" id="{04DABB59-57D4-467E-8FDB-7E96FFEA7A41}"/>
              </a:ext>
            </a:extLst>
          </p:cNvPr>
          <p:cNvSpPr txBox="1">
            <a:spLocks/>
          </p:cNvSpPr>
          <p:nvPr/>
        </p:nvSpPr>
        <p:spPr bwMode="auto">
          <a:xfrm>
            <a:off x="4478995" y="5019194"/>
            <a:ext cx="3024336" cy="1248103"/>
          </a:xfrm>
          <a:prstGeom prst="rect">
            <a:avLst/>
          </a:prstGeom>
          <a:solidFill>
            <a:schemeClr val="bg1"/>
          </a:solidFill>
          <a:ln w="9525">
            <a:noFill/>
            <a:miter lim="800000"/>
            <a:headEnd/>
            <a:tailEnd/>
          </a:ln>
        </p:spPr>
        <p:txBody>
          <a:bodyPr vert="horz" wrap="square" lIns="72000" tIns="36000" rIns="0" bIns="0" numCol="1" anchor="t" anchorCtr="0" compatLnSpc="1">
            <a:prstTxWarp prst="textNoShape">
              <a:avLst/>
            </a:prstTxWarp>
          </a:bodyPr>
          <a:lstStyle>
            <a:lvl1pPr marL="0" marR="0" indent="0" algn="l" defTabSz="914400" rtl="0" eaLnBrk="1" fontAlgn="base" latinLnBrk="0" hangingPunct="1">
              <a:lnSpc>
                <a:spcPct val="110000"/>
              </a:lnSpc>
              <a:spcBef>
                <a:spcPct val="0"/>
              </a:spcBef>
              <a:spcAft>
                <a:spcPct val="0"/>
              </a:spcAft>
              <a:buClr>
                <a:srgbClr val="879BAA"/>
              </a:buClr>
              <a:buSzTx/>
              <a:buFont typeface="Arial" pitchFamily="34" charset="0"/>
              <a:buNone/>
              <a:tabLst/>
              <a:defRPr lang="de-DE">
                <a:solidFill>
                  <a:schemeClr val="tx1"/>
                </a:solidFill>
                <a:latin typeface="Arial" pitchFamily="34" charset="0"/>
                <a:ea typeface="+mn-ea"/>
                <a:cs typeface="Arial" pitchFamily="34" charset="0"/>
              </a:defRPr>
            </a:lvl1pPr>
            <a:lvl2pPr marL="179388"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2pPr>
            <a:lvl3pPr marL="358775"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3pPr>
            <a:lvl4pPr marL="538163" marR="0" indent="-177800" algn="l" defTabSz="914400" rtl="0" eaLnBrk="1" fontAlgn="base" latinLnBrk="0" hangingPunct="1">
              <a:lnSpc>
                <a:spcPct val="110000"/>
              </a:lnSpc>
              <a:spcBef>
                <a:spcPct val="0"/>
              </a:spcBef>
              <a:spcAft>
                <a:spcPct val="0"/>
              </a:spcAft>
              <a:buClr>
                <a:srgbClr val="879BAA"/>
              </a:buClr>
              <a:buSzTx/>
              <a:buFontTx/>
              <a:buChar char="•"/>
              <a:tabLst/>
              <a:defRPr lang="de-DE" smtClean="0">
                <a:solidFill>
                  <a:schemeClr val="tx1"/>
                </a:solidFill>
                <a:latin typeface="Arial" pitchFamily="34" charset="0"/>
                <a:ea typeface="+mn-ea"/>
                <a:cs typeface="Arial" pitchFamily="34" charset="0"/>
              </a:defRPr>
            </a:lvl4pPr>
            <a:lvl5pPr marL="717550" marR="0" indent="-177800" algn="l" defTabSz="914400" rtl="0" eaLnBrk="1" fontAlgn="base" latinLnBrk="0" hangingPunct="1">
              <a:lnSpc>
                <a:spcPct val="110000"/>
              </a:lnSpc>
              <a:spcBef>
                <a:spcPct val="0"/>
              </a:spcBef>
              <a:spcAft>
                <a:spcPct val="0"/>
              </a:spcAft>
              <a:buClr>
                <a:srgbClr val="879BAA"/>
              </a:buClr>
              <a:buSzTx/>
              <a:buFontTx/>
              <a:buChar char="•"/>
              <a:tabLst/>
              <a:defRPr lang="de-DE" baseline="0">
                <a:solidFill>
                  <a:schemeClr val="tx1"/>
                </a:solidFill>
                <a:latin typeface="Arial" pitchFamily="34" charset="0"/>
                <a:ea typeface="+mn-ea"/>
                <a:cs typeface="Arial" pitchFamily="34" charset="0"/>
              </a:defRPr>
            </a:lvl5pPr>
            <a:lvl6pPr marL="12207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6pPr>
            <a:lvl7pPr marL="16779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7pPr>
            <a:lvl8pPr marL="21351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8pPr>
            <a:lvl9pPr marL="2592388" indent="-188913" algn="l" rtl="0" eaLnBrk="1" fontAlgn="base" hangingPunct="1">
              <a:lnSpc>
                <a:spcPct val="110000"/>
              </a:lnSpc>
              <a:spcBef>
                <a:spcPct val="0"/>
              </a:spcBef>
              <a:spcAft>
                <a:spcPct val="0"/>
              </a:spcAft>
              <a:buClr>
                <a:schemeClr val="accent1"/>
              </a:buClr>
              <a:buFont typeface="Wingdings" charset="0"/>
              <a:buChar char="§"/>
              <a:defRPr>
                <a:solidFill>
                  <a:schemeClr val="tx1"/>
                </a:solidFill>
                <a:latin typeface="+mn-lt"/>
                <a:ea typeface="+mn-ea"/>
              </a:defRPr>
            </a:lvl9pPr>
          </a:lstStyle>
          <a:p>
            <a:r>
              <a:rPr lang="en-US" sz="1400" kern="0">
                <a:latin typeface="Symbol" panose="05050102010706020507" pitchFamily="18" charset="2"/>
              </a:rPr>
              <a:t>a</a:t>
            </a:r>
            <a:r>
              <a:rPr lang="en-US" sz="1400" kern="0"/>
              <a:t> = Learning Rate</a:t>
            </a:r>
          </a:p>
          <a:p>
            <a:endParaRPr lang="en-US" sz="1600" kern="0"/>
          </a:p>
        </p:txBody>
      </p:sp>
      <p:sp>
        <p:nvSpPr>
          <p:cNvPr id="11" name="Rechteck 10">
            <a:extLst>
              <a:ext uri="{FF2B5EF4-FFF2-40B4-BE49-F238E27FC236}">
                <a16:creationId xmlns:a16="http://schemas.microsoft.com/office/drawing/2014/main" id="{6B53970D-1790-441B-AA72-BEDA0975EF88}"/>
              </a:ext>
            </a:extLst>
          </p:cNvPr>
          <p:cNvSpPr/>
          <p:nvPr/>
        </p:nvSpPr>
        <p:spPr bwMode="auto">
          <a:xfrm>
            <a:off x="7827367" y="5643246"/>
            <a:ext cx="4212468" cy="1044116"/>
          </a:xfrm>
          <a:prstGeom prst="rect">
            <a:avLst/>
          </a:prstGeom>
          <a:noFill/>
          <a:ln>
            <a:noFill/>
          </a:ln>
          <a:effectLst/>
        </p:spPr>
        <p:txBody>
          <a:bodyPr wrap="square" lIns="108000" tIns="54000" rIns="108000" bIns="54000" numCol="1" spcCol="72000" rtlCol="0" anchor="ctr">
            <a:noAutofit/>
          </a:bodyPr>
          <a:lstStyle/>
          <a:p>
            <a:pPr algn="ctr">
              <a:lnSpc>
                <a:spcPct val="110000"/>
              </a:lnSpc>
              <a:spcBef>
                <a:spcPct val="0"/>
              </a:spcBef>
            </a:pPr>
            <a:r>
              <a:rPr lang="en-US" sz="1000">
                <a:solidFill>
                  <a:schemeClr val="tx1"/>
                </a:solidFill>
                <a:latin typeface="+mn-lt"/>
                <a:ea typeface="Arial Unicode MS" panose="020B0604020202020204" pitchFamily="34" charset="-128"/>
                <a:cs typeface="Arial Unicode MS" panose="020B0604020202020204" pitchFamily="34" charset="-128"/>
              </a:rPr>
              <a:t>Adapted from: </a:t>
            </a:r>
            <a:r>
              <a:rPr lang="en-US" sz="1000">
                <a:solidFill>
                  <a:schemeClr val="tx1"/>
                </a:solidFill>
                <a:ea typeface="Arial Unicode MS" panose="020B0604020202020204" pitchFamily="34" charset="-128"/>
                <a:cs typeface="Arial Unicode MS" panose="020B0604020202020204" pitchFamily="34" charset="-128"/>
              </a:rPr>
              <a:t>Tariq Rashid “</a:t>
            </a:r>
            <a:r>
              <a:rPr lang="en-US" sz="1000">
                <a:solidFill>
                  <a:schemeClr val="tx1"/>
                </a:solidFill>
                <a:latin typeface="+mn-lt"/>
                <a:ea typeface="Arial Unicode MS" panose="020B0604020202020204" pitchFamily="34" charset="-128"/>
                <a:cs typeface="Arial Unicode MS" panose="020B0604020202020204" pitchFamily="34" charset="-128"/>
              </a:rPr>
              <a:t> Make Your Own Neural Network”</a:t>
            </a:r>
          </a:p>
        </p:txBody>
      </p:sp>
    </p:spTree>
    <p:extLst>
      <p:ext uri="{BB962C8B-B14F-4D97-AF65-F5344CB8AC3E}">
        <p14:creationId xmlns:p14="http://schemas.microsoft.com/office/powerpoint/2010/main" val="3131508494"/>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7BA7AE2-3569-4E9C-A854-5A76FC617844}"/>
              </a:ext>
            </a:extLst>
          </p:cNvPr>
          <p:cNvSpPr>
            <a:spLocks noGrp="1"/>
          </p:cNvSpPr>
          <p:nvPr>
            <p:ph type="title"/>
          </p:nvPr>
        </p:nvSpPr>
        <p:spPr/>
        <p:txBody>
          <a:bodyPr/>
          <a:lstStyle/>
          <a:p>
            <a:r>
              <a:rPr lang="en-US" sz="2000"/>
              <a:t>Review: Basic Steps of Training a Neural Network with Sigmoid Activation Function Using Statistical Gradient Descent (SGD) Solver</a:t>
            </a:r>
            <a:endParaRPr lang="en-US" sz="2000">
              <a:solidFill>
                <a:srgbClr val="FF0000"/>
              </a:solidFill>
            </a:endParaRPr>
          </a:p>
        </p:txBody>
      </p:sp>
      <p:sp>
        <p:nvSpPr>
          <p:cNvPr id="3" name="Inhaltsplatzhalter 2">
            <a:extLst>
              <a:ext uri="{FF2B5EF4-FFF2-40B4-BE49-F238E27FC236}">
                <a16:creationId xmlns:a16="http://schemas.microsoft.com/office/drawing/2014/main" id="{795015EB-C1D3-4164-9B69-8D7D1F1E7AD9}"/>
              </a:ext>
            </a:extLst>
          </p:cNvPr>
          <p:cNvSpPr>
            <a:spLocks noGrp="1"/>
          </p:cNvSpPr>
          <p:nvPr>
            <p:ph sz="half" idx="1"/>
          </p:nvPr>
        </p:nvSpPr>
        <p:spPr>
          <a:xfrm>
            <a:off x="627063" y="1439999"/>
            <a:ext cx="7308316" cy="4752000"/>
          </a:xfrm>
        </p:spPr>
        <p:txBody>
          <a:bodyPr/>
          <a:lstStyle/>
          <a:p>
            <a:pPr marL="342900" indent="-342900">
              <a:lnSpc>
                <a:spcPct val="100000"/>
              </a:lnSpc>
              <a:spcBef>
                <a:spcPts val="2400"/>
              </a:spcBef>
              <a:buFont typeface="+mj-lt"/>
              <a:buAutoNum type="alphaLcParenR"/>
            </a:pPr>
            <a:r>
              <a:rPr lang="en-US" sz="1600"/>
              <a:t>Select first element from the training data set: X</a:t>
            </a:r>
            <a:r>
              <a:rPr lang="en-US" sz="1600" baseline="-25000"/>
              <a:t>1</a:t>
            </a:r>
            <a:r>
              <a:rPr lang="en-US" sz="1600"/>
              <a:t> (Inputs) and Y</a:t>
            </a:r>
            <a:r>
              <a:rPr lang="en-US" sz="1600" baseline="-25000"/>
              <a:t>1</a:t>
            </a:r>
            <a:r>
              <a:rPr lang="en-US" sz="1600"/>
              <a:t> (Outputs)</a:t>
            </a:r>
          </a:p>
          <a:p>
            <a:pPr marL="701675" lvl="2" indent="-342900">
              <a:lnSpc>
                <a:spcPct val="100000"/>
              </a:lnSpc>
              <a:spcBef>
                <a:spcPts val="2400"/>
              </a:spcBef>
              <a:buFont typeface="+mj-lt"/>
              <a:buAutoNum type="arabicPeriod"/>
            </a:pPr>
            <a:r>
              <a:rPr lang="en-US" sz="1600"/>
              <a:t>Start with random weights (some restrictions apply) -&gt; NN</a:t>
            </a:r>
            <a:r>
              <a:rPr lang="en-US" sz="1600" baseline="-25000"/>
              <a:t>1</a:t>
            </a:r>
          </a:p>
          <a:p>
            <a:pPr marL="701675" lvl="2" indent="-342900">
              <a:lnSpc>
                <a:spcPct val="100000"/>
              </a:lnSpc>
              <a:spcBef>
                <a:spcPts val="2400"/>
              </a:spcBef>
              <a:buFont typeface="+mj-lt"/>
              <a:buAutoNum type="arabicPeriod"/>
            </a:pPr>
            <a:r>
              <a:rPr lang="en-US" sz="1600"/>
              <a:t>Calculate predicted output O</a:t>
            </a:r>
            <a:r>
              <a:rPr lang="en-US" sz="1600" baseline="-25000"/>
              <a:t>1 </a:t>
            </a:r>
            <a:r>
              <a:rPr lang="en-US" sz="1600"/>
              <a:t>using NN</a:t>
            </a:r>
            <a:r>
              <a:rPr lang="en-US" sz="1600" baseline="-25000"/>
              <a:t>1 </a:t>
            </a:r>
            <a:r>
              <a:rPr lang="en-US" sz="1600"/>
              <a:t>and first element </a:t>
            </a:r>
          </a:p>
          <a:p>
            <a:pPr marL="701675" lvl="2" indent="-342900">
              <a:lnSpc>
                <a:spcPct val="100000"/>
              </a:lnSpc>
              <a:spcBef>
                <a:spcPts val="2400"/>
              </a:spcBef>
              <a:buFont typeface="+mj-lt"/>
              <a:buAutoNum type="arabicPeriod"/>
            </a:pPr>
            <a:r>
              <a:rPr lang="en-US" sz="1600"/>
              <a:t>Calculate loss function (Error) E</a:t>
            </a:r>
            <a:r>
              <a:rPr lang="en-US" sz="1600" baseline="-25000"/>
              <a:t>1 </a:t>
            </a:r>
            <a:r>
              <a:rPr lang="en-US" sz="1600"/>
              <a:t>= O</a:t>
            </a:r>
            <a:r>
              <a:rPr lang="en-US" sz="1600" baseline="-25000"/>
              <a:t>1</a:t>
            </a:r>
            <a:r>
              <a:rPr lang="en-US" sz="1600"/>
              <a:t> - Y</a:t>
            </a:r>
            <a:r>
              <a:rPr lang="en-US" sz="1600" baseline="-25000"/>
              <a:t>1 </a:t>
            </a:r>
            <a:r>
              <a:rPr lang="en-US" sz="1600"/>
              <a:t>and back propagate to weights</a:t>
            </a:r>
          </a:p>
          <a:p>
            <a:pPr marL="701675" lvl="2" indent="-342900">
              <a:lnSpc>
                <a:spcPct val="100000"/>
              </a:lnSpc>
              <a:spcBef>
                <a:spcPts val="2400"/>
              </a:spcBef>
              <a:buFont typeface="+mj-lt"/>
              <a:buAutoNum type="arabicPeriod"/>
            </a:pPr>
            <a:r>
              <a:rPr lang="en-US" sz="1600"/>
              <a:t>Recalculate weights based on error -&gt; NN</a:t>
            </a:r>
            <a:r>
              <a:rPr lang="en-US" sz="1600" baseline="-25000"/>
              <a:t>2</a:t>
            </a:r>
            <a:endParaRPr lang="en-US" sz="1600"/>
          </a:p>
          <a:p>
            <a:pPr marL="342900" indent="-342900">
              <a:lnSpc>
                <a:spcPct val="100000"/>
              </a:lnSpc>
              <a:spcBef>
                <a:spcPts val="2400"/>
              </a:spcBef>
              <a:buFont typeface="+mj-lt"/>
              <a:buAutoNum type="alphaLcParenR"/>
            </a:pPr>
            <a:r>
              <a:rPr lang="en-US" sz="1600"/>
              <a:t>Repeat step 2-4 with all elements from the training data set</a:t>
            </a:r>
          </a:p>
          <a:p>
            <a:pPr marL="342900" indent="-342900">
              <a:lnSpc>
                <a:spcPct val="100000"/>
              </a:lnSpc>
              <a:spcBef>
                <a:spcPts val="2400"/>
              </a:spcBef>
              <a:buFont typeface="+mj-lt"/>
              <a:buAutoNum type="alphaLcParenR"/>
            </a:pPr>
            <a:r>
              <a:rPr lang="en-US" sz="1600"/>
              <a:t>Iterate through all data several times (steps a) and b)) until weights converge to one value</a:t>
            </a:r>
          </a:p>
          <a:p>
            <a:endParaRPr lang="en-US"/>
          </a:p>
        </p:txBody>
      </p:sp>
      <p:pic>
        <p:nvPicPr>
          <p:cNvPr id="6" name="Grafik 5">
            <a:extLst>
              <a:ext uri="{FF2B5EF4-FFF2-40B4-BE49-F238E27FC236}">
                <a16:creationId xmlns:a16="http://schemas.microsoft.com/office/drawing/2014/main" id="{F7AE1EEF-CB36-4EBA-8501-AB50A5B74B12}"/>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537148" y="1439999"/>
            <a:ext cx="2341303" cy="1813437"/>
          </a:xfrm>
          <a:prstGeom prst="rect">
            <a:avLst/>
          </a:prstGeom>
        </p:spPr>
      </p:pic>
      <p:pic>
        <p:nvPicPr>
          <p:cNvPr id="7" name="Grafik 6">
            <a:extLst>
              <a:ext uri="{FF2B5EF4-FFF2-40B4-BE49-F238E27FC236}">
                <a16:creationId xmlns:a16="http://schemas.microsoft.com/office/drawing/2014/main" id="{2F6B2555-3557-48F0-8315-B7CD7299522C}"/>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8304675" y="3320988"/>
            <a:ext cx="2691044" cy="2410461"/>
          </a:xfrm>
          <a:prstGeom prst="rect">
            <a:avLst/>
          </a:prstGeom>
        </p:spPr>
      </p:pic>
    </p:spTree>
    <p:extLst>
      <p:ext uri="{BB962C8B-B14F-4D97-AF65-F5344CB8AC3E}">
        <p14:creationId xmlns:p14="http://schemas.microsoft.com/office/powerpoint/2010/main" val="4132933014"/>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F02795A-4072-475B-85AA-BE82A449DFBD}"/>
              </a:ext>
            </a:extLst>
          </p:cNvPr>
          <p:cNvSpPr>
            <a:spLocks noGrp="1"/>
          </p:cNvSpPr>
          <p:nvPr>
            <p:ph type="title"/>
          </p:nvPr>
        </p:nvSpPr>
        <p:spPr/>
        <p:txBody>
          <a:bodyPr/>
          <a:lstStyle/>
          <a:p>
            <a:r>
              <a:rPr lang="en-US"/>
              <a:t>Optimized Weight Updating Methods</a:t>
            </a:r>
          </a:p>
        </p:txBody>
      </p:sp>
      <p:sp>
        <p:nvSpPr>
          <p:cNvPr id="3" name="Inhaltsplatzhalter 2">
            <a:extLst>
              <a:ext uri="{FF2B5EF4-FFF2-40B4-BE49-F238E27FC236}">
                <a16:creationId xmlns:a16="http://schemas.microsoft.com/office/drawing/2014/main" id="{B3B602A6-7B42-4024-B97C-84FA2FC7DAD1}"/>
              </a:ext>
            </a:extLst>
          </p:cNvPr>
          <p:cNvSpPr>
            <a:spLocks noGrp="1"/>
          </p:cNvSpPr>
          <p:nvPr>
            <p:ph sz="half" idx="1"/>
          </p:nvPr>
        </p:nvSpPr>
        <p:spPr>
          <a:xfrm>
            <a:off x="627063" y="1440000"/>
            <a:ext cx="4572012" cy="4752000"/>
          </a:xfrm>
        </p:spPr>
        <p:txBody>
          <a:bodyPr/>
          <a:lstStyle/>
          <a:p>
            <a:pPr marL="342900" indent="-342900">
              <a:buFont typeface="+mj-lt"/>
              <a:buAutoNum type="arabicPeriod"/>
            </a:pPr>
            <a:r>
              <a:rPr lang="en-US"/>
              <a:t>Stochastic Gradient Descent (</a:t>
            </a:r>
            <a:r>
              <a:rPr lang="en-US" b="1"/>
              <a:t>SGD</a:t>
            </a:r>
            <a:r>
              <a:rPr lang="en-US"/>
              <a:t>):</a:t>
            </a:r>
          </a:p>
          <a:p>
            <a:pPr marL="701675" lvl="2" indent="-342900"/>
            <a:r>
              <a:rPr lang="en-US"/>
              <a:t>replaces the actual gradient (calculated from the entire data set) by an estimate thereof (calculated from a randomly selected subset of the data)</a:t>
            </a:r>
          </a:p>
          <a:p>
            <a:pPr marL="701675" lvl="2" indent="-342900"/>
            <a:endParaRPr lang="en-US"/>
          </a:p>
          <a:p>
            <a:pPr marL="342900" indent="-342900">
              <a:buFont typeface="+mj-lt"/>
              <a:buAutoNum type="arabicPeriod"/>
            </a:pPr>
            <a:r>
              <a:rPr lang="en-US" b="1"/>
              <a:t>Adam</a:t>
            </a:r>
            <a:r>
              <a:rPr lang="en-US"/>
              <a:t>:</a:t>
            </a:r>
          </a:p>
          <a:p>
            <a:pPr marL="701675" lvl="2" indent="-342900"/>
            <a:r>
              <a:rPr lang="en-US"/>
              <a:t>SGD based (with adapted LR, momentum: remembers last derivatives…)</a:t>
            </a:r>
          </a:p>
          <a:p>
            <a:pPr marL="342900" indent="-342900">
              <a:buFont typeface="+mj-lt"/>
              <a:buAutoNum type="arabicPeriod"/>
            </a:pPr>
            <a:endParaRPr lang="en-US"/>
          </a:p>
          <a:p>
            <a:endParaRPr lang="en-US"/>
          </a:p>
        </p:txBody>
      </p:sp>
      <p:sp>
        <p:nvSpPr>
          <p:cNvPr id="5" name="Bildplatzhalter 4">
            <a:extLst>
              <a:ext uri="{FF2B5EF4-FFF2-40B4-BE49-F238E27FC236}">
                <a16:creationId xmlns:a16="http://schemas.microsoft.com/office/drawing/2014/main" id="{3C12057F-8CD5-492C-A8D9-D4ABEF629AF3}"/>
              </a:ext>
            </a:extLst>
          </p:cNvPr>
          <p:cNvSpPr>
            <a:spLocks noGrp="1"/>
          </p:cNvSpPr>
          <p:nvPr>
            <p:ph type="pic" sz="quarter" idx="11"/>
          </p:nvPr>
        </p:nvSpPr>
        <p:spPr/>
      </p:sp>
      <p:pic>
        <p:nvPicPr>
          <p:cNvPr id="6" name="Grafik 5">
            <a:extLst>
              <a:ext uri="{FF2B5EF4-FFF2-40B4-BE49-F238E27FC236}">
                <a16:creationId xmlns:a16="http://schemas.microsoft.com/office/drawing/2014/main" id="{A1AD8F93-4805-43AC-A428-3CC41EF2D266}"/>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5826138" y="1287551"/>
            <a:ext cx="5974690" cy="2600449"/>
          </a:xfrm>
          <a:prstGeom prst="rect">
            <a:avLst/>
          </a:prstGeom>
        </p:spPr>
      </p:pic>
    </p:spTree>
    <p:extLst>
      <p:ext uri="{BB962C8B-B14F-4D97-AF65-F5344CB8AC3E}">
        <p14:creationId xmlns:p14="http://schemas.microsoft.com/office/powerpoint/2010/main" val="2118577474"/>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36B77116-5487-430B-A931-AE8AA50CAE50}"/>
              </a:ext>
            </a:extLst>
          </p:cNvPr>
          <p:cNvSpPr>
            <a:spLocks noGrp="1"/>
          </p:cNvSpPr>
          <p:nvPr>
            <p:ph type="title"/>
          </p:nvPr>
        </p:nvSpPr>
        <p:spPr/>
        <p:txBody>
          <a:bodyPr/>
          <a:lstStyle/>
          <a:p>
            <a:r>
              <a:rPr lang="en-US"/>
              <a:t>Preparing X and Y for Sigmoid Based NNs</a:t>
            </a:r>
          </a:p>
        </p:txBody>
      </p:sp>
      <p:sp>
        <p:nvSpPr>
          <p:cNvPr id="3" name="Inhaltsplatzhalter 2">
            <a:extLst>
              <a:ext uri="{FF2B5EF4-FFF2-40B4-BE49-F238E27FC236}">
                <a16:creationId xmlns:a16="http://schemas.microsoft.com/office/drawing/2014/main" id="{C06252BB-069D-4EA2-8BC6-D94534ECF703}"/>
              </a:ext>
            </a:extLst>
          </p:cNvPr>
          <p:cNvSpPr>
            <a:spLocks noGrp="1"/>
          </p:cNvSpPr>
          <p:nvPr>
            <p:ph sz="half" idx="1"/>
          </p:nvPr>
        </p:nvSpPr>
        <p:spPr/>
        <p:txBody>
          <a:bodyPr/>
          <a:lstStyle/>
          <a:p>
            <a:pPr>
              <a:lnSpc>
                <a:spcPct val="150000"/>
              </a:lnSpc>
            </a:pPr>
            <a:r>
              <a:rPr lang="en-US"/>
              <a:t>Standardize your data!</a:t>
            </a:r>
          </a:p>
          <a:p>
            <a:pPr>
              <a:lnSpc>
                <a:spcPct val="150000"/>
              </a:lnSpc>
            </a:pPr>
            <a:r>
              <a:rPr lang="en-US"/>
              <a:t>X:</a:t>
            </a:r>
          </a:p>
          <a:p>
            <a:pPr marL="285750" indent="-285750">
              <a:lnSpc>
                <a:spcPct val="150000"/>
              </a:lnSpc>
              <a:buFont typeface="Arial" panose="020B0604020202020204" pitchFamily="34" charset="0"/>
              <a:buChar char="•"/>
            </a:pPr>
            <a:r>
              <a:rPr lang="en-US"/>
              <a:t>X should be not too large, otherwise Y does not move a lot -&gt; little learning (“lost gradient problem”)</a:t>
            </a:r>
          </a:p>
          <a:p>
            <a:pPr marL="285750" indent="-285750">
              <a:lnSpc>
                <a:spcPct val="150000"/>
              </a:lnSpc>
              <a:buFont typeface="Arial" panose="020B0604020202020204" pitchFamily="34" charset="0"/>
              <a:buChar char="•"/>
            </a:pPr>
            <a:r>
              <a:rPr lang="en-US"/>
              <a:t>Common: Mean of 0 and standard deviation of 1</a:t>
            </a:r>
          </a:p>
          <a:p>
            <a:pPr>
              <a:lnSpc>
                <a:spcPct val="150000"/>
              </a:lnSpc>
            </a:pPr>
            <a:endParaRPr lang="en-US"/>
          </a:p>
          <a:p>
            <a:pPr>
              <a:lnSpc>
                <a:spcPct val="150000"/>
              </a:lnSpc>
            </a:pPr>
            <a:r>
              <a:rPr lang="en-US"/>
              <a:t>Y for Regression: </a:t>
            </a:r>
          </a:p>
          <a:p>
            <a:pPr marL="285750" indent="-285750">
              <a:lnSpc>
                <a:spcPct val="150000"/>
              </a:lnSpc>
              <a:buFont typeface="Arial" panose="020B0604020202020204" pitchFamily="34" charset="0"/>
              <a:buChar char="•"/>
            </a:pPr>
            <a:r>
              <a:rPr lang="en-US"/>
              <a:t>Y should be between 0 and 1</a:t>
            </a:r>
          </a:p>
          <a:p>
            <a:pPr>
              <a:lnSpc>
                <a:spcPct val="150000"/>
              </a:lnSpc>
            </a:pPr>
            <a:endParaRPr lang="en-US"/>
          </a:p>
          <a:p>
            <a:pPr>
              <a:lnSpc>
                <a:spcPct val="150000"/>
              </a:lnSpc>
            </a:pPr>
            <a:r>
              <a:rPr lang="en-US" sz="1100"/>
              <a:t>More information: </a:t>
            </a:r>
            <a:r>
              <a:rPr lang="en-US" sz="1100">
                <a:hlinkClick r:id="rId2"/>
              </a:rPr>
              <a:t>https://scikit-learn.org/stable/modules/generated/sklearn.preprocessing.StandardScaler.html#sklearn.preprocessing.StandardScaler</a:t>
            </a:r>
            <a:endParaRPr lang="en-US" sz="1100"/>
          </a:p>
        </p:txBody>
      </p:sp>
      <p:sp>
        <p:nvSpPr>
          <p:cNvPr id="4" name="Bildplatzhalter 3">
            <a:extLst>
              <a:ext uri="{FF2B5EF4-FFF2-40B4-BE49-F238E27FC236}">
                <a16:creationId xmlns:a16="http://schemas.microsoft.com/office/drawing/2014/main" id="{59ED0A14-AD8B-42FE-ADD7-EBC7D08AE816}"/>
              </a:ext>
            </a:extLst>
          </p:cNvPr>
          <p:cNvSpPr>
            <a:spLocks noGrp="1"/>
          </p:cNvSpPr>
          <p:nvPr>
            <p:ph type="pic" sz="quarter" idx="10"/>
          </p:nvPr>
        </p:nvSpPr>
        <p:spPr/>
      </p:sp>
      <p:sp>
        <p:nvSpPr>
          <p:cNvPr id="5" name="Bildplatzhalter 4">
            <a:extLst>
              <a:ext uri="{FF2B5EF4-FFF2-40B4-BE49-F238E27FC236}">
                <a16:creationId xmlns:a16="http://schemas.microsoft.com/office/drawing/2014/main" id="{9E786F3D-F366-4B89-A9D8-50329CAD5973}"/>
              </a:ext>
            </a:extLst>
          </p:cNvPr>
          <p:cNvSpPr>
            <a:spLocks noGrp="1"/>
          </p:cNvSpPr>
          <p:nvPr>
            <p:ph type="pic" sz="quarter" idx="11"/>
          </p:nvPr>
        </p:nvSpPr>
        <p:spPr/>
      </p:sp>
      <p:pic>
        <p:nvPicPr>
          <p:cNvPr id="6" name="Grafik 5">
            <a:extLst>
              <a:ext uri="{FF2B5EF4-FFF2-40B4-BE49-F238E27FC236}">
                <a16:creationId xmlns:a16="http://schemas.microsoft.com/office/drawing/2014/main" id="{F06260E8-E662-4562-B1B1-4D7398220385}"/>
              </a:ext>
            </a:extLst>
          </p:cNvPr>
          <p:cNvPicPr>
            <a:picLocks noChangeAspect="1"/>
          </p:cNvPicPr>
          <p:nvPr/>
        </p:nvPicPr>
        <p:blipFill rotWithShape="1">
          <a:blip r:embed="rId3" cstate="screen">
            <a:extLst>
              <a:ext uri="{28A0092B-C50C-407E-A947-70E740481C1C}">
                <a14:useLocalDpi xmlns:a14="http://schemas.microsoft.com/office/drawing/2010/main"/>
              </a:ext>
            </a:extLst>
          </a:blip>
          <a:srcRect l="5429" t="8435" r="6860" b="4803"/>
          <a:stretch/>
        </p:blipFill>
        <p:spPr>
          <a:xfrm>
            <a:off x="6243638" y="1443038"/>
            <a:ext cx="5472112" cy="2628292"/>
          </a:xfrm>
          <a:prstGeom prst="rect">
            <a:avLst/>
          </a:prstGeom>
        </p:spPr>
      </p:pic>
    </p:spTree>
    <p:extLst>
      <p:ext uri="{BB962C8B-B14F-4D97-AF65-F5344CB8AC3E}">
        <p14:creationId xmlns:p14="http://schemas.microsoft.com/office/powerpoint/2010/main" val="91808838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err="1"/>
              <a:t>Overview</a:t>
            </a:r>
            <a:r>
              <a:rPr lang="de-DE"/>
              <a:t>: </a:t>
            </a:r>
            <a:r>
              <a:rPr lang="de-DE" err="1"/>
              <a:t>what</a:t>
            </a:r>
            <a:r>
              <a:rPr lang="de-DE"/>
              <a:t> </a:t>
            </a:r>
            <a:r>
              <a:rPr lang="de-DE" err="1"/>
              <a:t>we</a:t>
            </a:r>
            <a:r>
              <a:rPr lang="de-DE"/>
              <a:t> </a:t>
            </a:r>
            <a:r>
              <a:rPr lang="de-DE" err="1"/>
              <a:t>achieved</a:t>
            </a:r>
            <a:r>
              <a:rPr lang="de-DE"/>
              <a:t> so </a:t>
            </a:r>
            <a:r>
              <a:rPr lang="de-DE" err="1"/>
              <a:t>far</a:t>
            </a:r>
            <a:endParaRPr lang="de-DE"/>
          </a:p>
        </p:txBody>
      </p:sp>
      <p:graphicFrame>
        <p:nvGraphicFramePr>
          <p:cNvPr id="8" name="Tabelle 8">
            <a:extLst>
              <a:ext uri="{FF2B5EF4-FFF2-40B4-BE49-F238E27FC236}">
                <a16:creationId xmlns:a16="http://schemas.microsoft.com/office/drawing/2014/main" id="{5F58DBC5-4155-48F7-BDFF-6C068F155D8D}"/>
              </a:ext>
            </a:extLst>
          </p:cNvPr>
          <p:cNvGraphicFramePr>
            <a:graphicFrameLocks noGrp="1"/>
          </p:cNvGraphicFramePr>
          <p:nvPr/>
        </p:nvGraphicFramePr>
        <p:xfrm>
          <a:off x="626567" y="1601995"/>
          <a:ext cx="10693188" cy="2839720"/>
        </p:xfrm>
        <a:graphic>
          <a:graphicData uri="http://schemas.openxmlformats.org/drawingml/2006/table">
            <a:tbl>
              <a:tblPr firstRow="1" bandRow="1">
                <a:tableStyleId>{5C22544A-7EE6-4342-B048-85BDC9FD1C3A}</a:tableStyleId>
              </a:tblPr>
              <a:tblGrid>
                <a:gridCol w="1782198">
                  <a:extLst>
                    <a:ext uri="{9D8B030D-6E8A-4147-A177-3AD203B41FA5}">
                      <a16:colId xmlns:a16="http://schemas.microsoft.com/office/drawing/2014/main" val="2087970704"/>
                    </a:ext>
                  </a:extLst>
                </a:gridCol>
                <a:gridCol w="1437070">
                  <a:extLst>
                    <a:ext uri="{9D8B030D-6E8A-4147-A177-3AD203B41FA5}">
                      <a16:colId xmlns:a16="http://schemas.microsoft.com/office/drawing/2014/main" val="1708460055"/>
                    </a:ext>
                  </a:extLst>
                </a:gridCol>
                <a:gridCol w="2127326">
                  <a:extLst>
                    <a:ext uri="{9D8B030D-6E8A-4147-A177-3AD203B41FA5}">
                      <a16:colId xmlns:a16="http://schemas.microsoft.com/office/drawing/2014/main" val="1810983359"/>
                    </a:ext>
                  </a:extLst>
                </a:gridCol>
                <a:gridCol w="1975662">
                  <a:extLst>
                    <a:ext uri="{9D8B030D-6E8A-4147-A177-3AD203B41FA5}">
                      <a16:colId xmlns:a16="http://schemas.microsoft.com/office/drawing/2014/main" val="4033084280"/>
                    </a:ext>
                  </a:extLst>
                </a:gridCol>
                <a:gridCol w="1588734">
                  <a:extLst>
                    <a:ext uri="{9D8B030D-6E8A-4147-A177-3AD203B41FA5}">
                      <a16:colId xmlns:a16="http://schemas.microsoft.com/office/drawing/2014/main" val="4045622136"/>
                    </a:ext>
                  </a:extLst>
                </a:gridCol>
                <a:gridCol w="1782198">
                  <a:extLst>
                    <a:ext uri="{9D8B030D-6E8A-4147-A177-3AD203B41FA5}">
                      <a16:colId xmlns:a16="http://schemas.microsoft.com/office/drawing/2014/main" val="3988611160"/>
                    </a:ext>
                  </a:extLst>
                </a:gridCol>
              </a:tblGrid>
              <a:tr h="370840">
                <a:tc>
                  <a:txBody>
                    <a:bodyPr/>
                    <a:lstStyle/>
                    <a:p>
                      <a:endParaRPr lang="de-DE"/>
                    </a:p>
                  </a:txBody>
                  <a:tcPr/>
                </a:tc>
                <a:tc>
                  <a:txBody>
                    <a:bodyPr/>
                    <a:lstStyle/>
                    <a:p>
                      <a:r>
                        <a:rPr lang="de-DE"/>
                        <a:t>Target </a:t>
                      </a:r>
                      <a:r>
                        <a:rPr lang="de-DE" err="1"/>
                        <a:t>values</a:t>
                      </a:r>
                      <a:endParaRPr lang="de-DE"/>
                    </a:p>
                  </a:txBody>
                  <a:tcPr/>
                </a:tc>
                <a:tc>
                  <a:txBody>
                    <a:bodyPr/>
                    <a:lstStyle/>
                    <a:p>
                      <a:r>
                        <a:rPr lang="de-DE"/>
                        <a:t>Loss </a:t>
                      </a:r>
                      <a:r>
                        <a:rPr lang="de-DE" err="1"/>
                        <a:t>function</a:t>
                      </a:r>
                      <a:endParaRPr lang="de-DE"/>
                    </a:p>
                  </a:txBody>
                  <a:tcPr/>
                </a:tc>
                <a:tc>
                  <a:txBody>
                    <a:bodyPr/>
                    <a:lstStyle/>
                    <a:p>
                      <a:r>
                        <a:rPr lang="de-DE"/>
                        <a:t>Error </a:t>
                      </a:r>
                      <a:r>
                        <a:rPr lang="de-DE" err="1"/>
                        <a:t>metric</a:t>
                      </a:r>
                      <a:endParaRPr lang="de-DE"/>
                    </a:p>
                  </a:txBody>
                  <a:tcPr>
                    <a:lnR w="12700" cap="flat" cmpd="sng" algn="ctr">
                      <a:solidFill>
                        <a:schemeClr val="tx1"/>
                      </a:solidFill>
                      <a:prstDash val="solid"/>
                      <a:round/>
                      <a:headEnd type="none" w="med" len="med"/>
                      <a:tailEnd type="none" w="med" len="med"/>
                    </a:lnR>
                  </a:tcPr>
                </a:tc>
                <a:tc>
                  <a:txBody>
                    <a:bodyPr/>
                    <a:lstStyle/>
                    <a:p>
                      <a:r>
                        <a:rPr lang="de-DE"/>
                        <a:t>Act </a:t>
                      </a:r>
                      <a:r>
                        <a:rPr lang="de-DE" err="1"/>
                        <a:t>function</a:t>
                      </a:r>
                      <a:r>
                        <a:rPr lang="de-DE"/>
                        <a:t> last </a:t>
                      </a:r>
                      <a:r>
                        <a:rPr lang="de-DE" err="1"/>
                        <a:t>layer</a:t>
                      </a:r>
                      <a:endParaRPr lang="de-DE"/>
                    </a:p>
                  </a:txBody>
                  <a:tcPr>
                    <a:lnL w="12700" cap="flat" cmpd="sng" algn="ctr">
                      <a:solidFill>
                        <a:schemeClr val="tx1"/>
                      </a:solidFill>
                      <a:prstDash val="solid"/>
                      <a:round/>
                      <a:headEnd type="none" w="med" len="med"/>
                      <a:tailEnd type="none" w="med" len="med"/>
                    </a:lnL>
                  </a:tcPr>
                </a:tc>
                <a:tc>
                  <a:txBody>
                    <a:bodyPr/>
                    <a:lstStyle/>
                    <a:p>
                      <a:r>
                        <a:rPr lang="de-DE"/>
                        <a:t>Act </a:t>
                      </a:r>
                      <a:r>
                        <a:rPr lang="de-DE" err="1"/>
                        <a:t>func</a:t>
                      </a:r>
                      <a:r>
                        <a:rPr lang="de-DE"/>
                        <a:t> </a:t>
                      </a:r>
                      <a:r>
                        <a:rPr lang="de-DE" err="1"/>
                        <a:t>hidden</a:t>
                      </a:r>
                      <a:r>
                        <a:rPr lang="de-DE"/>
                        <a:t> </a:t>
                      </a:r>
                      <a:r>
                        <a:rPr lang="de-DE" err="1"/>
                        <a:t>layers</a:t>
                      </a:r>
                      <a:endParaRPr lang="de-DE"/>
                    </a:p>
                  </a:txBody>
                  <a:tcPr/>
                </a:tc>
                <a:extLst>
                  <a:ext uri="{0D108BD9-81ED-4DB2-BD59-A6C34878D82A}">
                    <a16:rowId xmlns:a16="http://schemas.microsoft.com/office/drawing/2014/main" val="1837334432"/>
                  </a:ext>
                </a:extLst>
              </a:tr>
              <a:tr h="370840">
                <a:tc>
                  <a:txBody>
                    <a:bodyPr/>
                    <a:lstStyle/>
                    <a:p>
                      <a:r>
                        <a:rPr lang="de-DE"/>
                        <a:t>Regression</a:t>
                      </a:r>
                    </a:p>
                  </a:txBody>
                  <a:tcPr>
                    <a:lnB w="12700" cap="flat" cmpd="sng" algn="ctr">
                      <a:solidFill>
                        <a:schemeClr val="tx1"/>
                      </a:solidFill>
                      <a:prstDash val="solid"/>
                      <a:round/>
                      <a:headEnd type="none" w="med" len="med"/>
                      <a:tailEnd type="none" w="med" len="med"/>
                    </a:lnB>
                  </a:tcPr>
                </a:tc>
                <a:tc>
                  <a:txBody>
                    <a:bodyPr/>
                    <a:lstStyle/>
                    <a:p>
                      <a:r>
                        <a:rPr lang="de-DE" err="1"/>
                        <a:t>Continous</a:t>
                      </a:r>
                      <a:endParaRPr lang="de-DE"/>
                    </a:p>
                  </a:txBody>
                  <a:tcPr>
                    <a:lnB w="12700" cap="flat" cmpd="sng" algn="ctr">
                      <a:solidFill>
                        <a:schemeClr val="tx1"/>
                      </a:solidFill>
                      <a:prstDash val="solid"/>
                      <a:round/>
                      <a:headEnd type="none" w="med" len="med"/>
                      <a:tailEnd type="none" w="med" len="med"/>
                    </a:lnB>
                  </a:tcPr>
                </a:tc>
                <a:tc>
                  <a:txBody>
                    <a:bodyPr/>
                    <a:lstStyle/>
                    <a:p>
                      <a:r>
                        <a:rPr lang="de-DE"/>
                        <a:t>MSE, R², MAE,…</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MSE, R², MAE,…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de-DE"/>
                        <a:t>Linear/ </a:t>
                      </a:r>
                      <a:r>
                        <a:rPr lang="de-DE" err="1"/>
                        <a:t>ReLu</a:t>
                      </a:r>
                      <a:endParaRPr lang="de-DE"/>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de-DE" err="1"/>
                        <a:t>ReLu</a:t>
                      </a:r>
                      <a:endParaRPr lang="de-DE"/>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49673"/>
                  </a:ext>
                </a:extLst>
              </a:tr>
              <a:tr h="370840">
                <a:tc>
                  <a:txBody>
                    <a:bodyPr/>
                    <a:lstStyle/>
                    <a:p>
                      <a:r>
                        <a:rPr lang="de-DE"/>
                        <a:t>Classification</a:t>
                      </a:r>
                    </a:p>
                  </a:txBody>
                  <a:tcPr>
                    <a:lnT w="12700" cap="flat" cmpd="sng" algn="ctr">
                      <a:solidFill>
                        <a:schemeClr val="tx1"/>
                      </a:solidFill>
                      <a:prstDash val="solid"/>
                      <a:round/>
                      <a:headEnd type="none" w="med" len="med"/>
                      <a:tailEnd type="none" w="med" len="med"/>
                    </a:lnT>
                  </a:tcPr>
                </a:tc>
                <a:tc>
                  <a:txBody>
                    <a:bodyPr/>
                    <a:lstStyle/>
                    <a:p>
                      <a:r>
                        <a:rPr lang="de-DE"/>
                        <a:t>Binary</a:t>
                      </a:r>
                    </a:p>
                  </a:txBody>
                  <a:tcPr>
                    <a:lnT w="12700" cap="flat" cmpd="sng" algn="ctr">
                      <a:solidFill>
                        <a:schemeClr val="tx1"/>
                      </a:solidFill>
                      <a:prstDash val="solid"/>
                      <a:round/>
                      <a:headEnd type="none" w="med" len="med"/>
                      <a:tailEnd type="none" w="med" len="med"/>
                    </a:lnT>
                  </a:tcPr>
                </a:tc>
                <a:tc>
                  <a:txBody>
                    <a:bodyPr/>
                    <a:lstStyle/>
                    <a:p>
                      <a:r>
                        <a:rPr lang="de-DE"/>
                        <a:t>Binary </a:t>
                      </a:r>
                      <a:r>
                        <a:rPr lang="de-DE" err="1"/>
                        <a:t>cross</a:t>
                      </a:r>
                      <a:r>
                        <a:rPr lang="de-DE"/>
                        <a:t> </a:t>
                      </a:r>
                      <a:r>
                        <a:rPr lang="de-DE" err="1"/>
                        <a:t>entropy</a:t>
                      </a:r>
                      <a:endParaRPr lang="de-DE"/>
                    </a:p>
                  </a:txBody>
                  <a:tcPr>
                    <a:lnT w="12700" cap="flat" cmpd="sng" algn="ctr">
                      <a:solidFill>
                        <a:schemeClr val="tx1"/>
                      </a:solidFill>
                      <a:prstDash val="solid"/>
                      <a:round/>
                      <a:headEnd type="none" w="med" len="med"/>
                      <a:tailEnd type="none" w="med" len="med"/>
                    </a:lnT>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de-DE"/>
                        <a:t>Sigmoid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de-DE" err="1"/>
                        <a:t>ReLu</a:t>
                      </a:r>
                      <a:endParaRPr lang="de-DE"/>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53496704"/>
                  </a:ext>
                </a:extLst>
              </a:tr>
              <a:tr h="370840">
                <a:tc>
                  <a:txBody>
                    <a:bodyPr/>
                    <a:lstStyle/>
                    <a:p>
                      <a:endParaRPr lang="de-DE"/>
                    </a:p>
                  </a:txBody>
                  <a:tcPr/>
                </a:tc>
                <a:tc>
                  <a:txBody>
                    <a:bodyPr/>
                    <a:lstStyle/>
                    <a:p>
                      <a:r>
                        <a:rPr lang="de-DE"/>
                        <a:t>multiple </a:t>
                      </a:r>
                      <a:r>
                        <a:rPr lang="de-DE" err="1"/>
                        <a:t>classes</a:t>
                      </a:r>
                      <a:endParaRPr lang="de-DE"/>
                    </a:p>
                  </a:txBody>
                  <a:tcPr/>
                </a:tc>
                <a:tc>
                  <a:txBody>
                    <a:bodyPr/>
                    <a:lstStyle/>
                    <a:p>
                      <a:r>
                        <a:rPr lang="de-DE" err="1"/>
                        <a:t>categorical</a:t>
                      </a:r>
                      <a:r>
                        <a:rPr lang="de-DE"/>
                        <a:t> </a:t>
                      </a:r>
                      <a:r>
                        <a:rPr lang="de-DE" err="1"/>
                        <a:t>cross</a:t>
                      </a:r>
                      <a:r>
                        <a:rPr lang="de-DE"/>
                        <a:t> </a:t>
                      </a:r>
                      <a:r>
                        <a:rPr lang="de-DE" err="1"/>
                        <a:t>entropy</a:t>
                      </a:r>
                      <a:endParaRPr lang="de-DE"/>
                    </a:p>
                  </a:txBody>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tcPr>
                </a:tc>
                <a:tc>
                  <a:txBody>
                    <a:bodyPr/>
                    <a:lstStyle/>
                    <a:p>
                      <a:r>
                        <a:rPr lang="de-DE" err="1"/>
                        <a:t>softmax</a:t>
                      </a:r>
                      <a:endParaRPr lang="de-DE"/>
                    </a:p>
                  </a:txBody>
                  <a:tcPr>
                    <a:lnL w="12700" cap="flat" cmpd="sng" algn="ctr">
                      <a:solidFill>
                        <a:schemeClr val="tx1"/>
                      </a:solidFill>
                      <a:prstDash val="solid"/>
                      <a:round/>
                      <a:headEnd type="none" w="med" len="med"/>
                      <a:tailEnd type="none" w="med" len="med"/>
                    </a:lnL>
                  </a:tcPr>
                </a:tc>
                <a:tc>
                  <a:txBody>
                    <a:bodyPr/>
                    <a:lstStyle/>
                    <a:p>
                      <a:r>
                        <a:rPr lang="de-DE" err="1"/>
                        <a:t>ReLu</a:t>
                      </a:r>
                      <a:endParaRPr lang="de-DE"/>
                    </a:p>
                  </a:txBody>
                  <a:tcPr/>
                </a:tc>
                <a:extLst>
                  <a:ext uri="{0D108BD9-81ED-4DB2-BD59-A6C34878D82A}">
                    <a16:rowId xmlns:a16="http://schemas.microsoft.com/office/drawing/2014/main" val="4206115666"/>
                  </a:ext>
                </a:extLst>
              </a:tr>
            </a:tbl>
          </a:graphicData>
        </a:graphic>
      </p:graphicFrame>
      <p:graphicFrame>
        <p:nvGraphicFramePr>
          <p:cNvPr id="10" name="Tabelle 10">
            <a:extLst>
              <a:ext uri="{FF2B5EF4-FFF2-40B4-BE49-F238E27FC236}">
                <a16:creationId xmlns:a16="http://schemas.microsoft.com/office/drawing/2014/main" id="{1D6B67EA-476B-4CCB-B75D-E65AB8EDAFD8}"/>
              </a:ext>
            </a:extLst>
          </p:cNvPr>
          <p:cNvGraphicFramePr>
            <a:graphicFrameLocks noGrp="1"/>
          </p:cNvGraphicFramePr>
          <p:nvPr/>
        </p:nvGraphicFramePr>
        <p:xfrm>
          <a:off x="624909" y="4603711"/>
          <a:ext cx="10693188" cy="1752600"/>
        </p:xfrm>
        <a:graphic>
          <a:graphicData uri="http://schemas.openxmlformats.org/drawingml/2006/table">
            <a:tbl>
              <a:tblPr firstRow="1" bandRow="1">
                <a:tableStyleId>{5C22544A-7EE6-4342-B048-85BDC9FD1C3A}</a:tableStyleId>
              </a:tblPr>
              <a:tblGrid>
                <a:gridCol w="1801858">
                  <a:extLst>
                    <a:ext uri="{9D8B030D-6E8A-4147-A177-3AD203B41FA5}">
                      <a16:colId xmlns:a16="http://schemas.microsoft.com/office/drawing/2014/main" val="2422419246"/>
                    </a:ext>
                  </a:extLst>
                </a:gridCol>
                <a:gridCol w="3564396">
                  <a:extLst>
                    <a:ext uri="{9D8B030D-6E8A-4147-A177-3AD203B41FA5}">
                      <a16:colId xmlns:a16="http://schemas.microsoft.com/office/drawing/2014/main" val="2997731740"/>
                    </a:ext>
                  </a:extLst>
                </a:gridCol>
                <a:gridCol w="5326934">
                  <a:extLst>
                    <a:ext uri="{9D8B030D-6E8A-4147-A177-3AD203B41FA5}">
                      <a16:colId xmlns:a16="http://schemas.microsoft.com/office/drawing/2014/main" val="666087568"/>
                    </a:ext>
                  </a:extLst>
                </a:gridCol>
              </a:tblGrid>
              <a:tr h="370840">
                <a:tc>
                  <a:txBody>
                    <a:bodyPr/>
                    <a:lstStyle/>
                    <a:p>
                      <a:endParaRPr lang="de-DE"/>
                    </a:p>
                  </a:txBody>
                  <a:tcPr/>
                </a:tc>
                <a:tc>
                  <a:txBody>
                    <a:bodyPr/>
                    <a:lstStyle/>
                    <a:p>
                      <a:r>
                        <a:rPr lang="de-DE" err="1"/>
                        <a:t>Decision</a:t>
                      </a:r>
                      <a:r>
                        <a:rPr lang="de-DE"/>
                        <a:t> </a:t>
                      </a:r>
                      <a:r>
                        <a:rPr lang="de-DE" err="1"/>
                        <a:t>Trees</a:t>
                      </a:r>
                      <a:endParaRPr lang="de-DE"/>
                    </a:p>
                  </a:txBody>
                  <a:tcPr/>
                </a:tc>
                <a:tc>
                  <a:txBody>
                    <a:bodyPr/>
                    <a:lstStyle/>
                    <a:p>
                      <a:r>
                        <a:rPr lang="de-DE" err="1"/>
                        <a:t>Artificial</a:t>
                      </a:r>
                      <a:r>
                        <a:rPr lang="de-DE"/>
                        <a:t> </a:t>
                      </a:r>
                      <a:r>
                        <a:rPr lang="de-DE" err="1"/>
                        <a:t>Neural</a:t>
                      </a:r>
                      <a:r>
                        <a:rPr lang="de-DE"/>
                        <a:t> Nets</a:t>
                      </a:r>
                    </a:p>
                  </a:txBody>
                  <a:tcPr/>
                </a:tc>
                <a:extLst>
                  <a:ext uri="{0D108BD9-81ED-4DB2-BD59-A6C34878D82A}">
                    <a16:rowId xmlns:a16="http://schemas.microsoft.com/office/drawing/2014/main" val="2726745514"/>
                  </a:ext>
                </a:extLst>
              </a:tr>
              <a:tr h="370840">
                <a:tc>
                  <a:txBody>
                    <a:bodyPr/>
                    <a:lstStyle/>
                    <a:p>
                      <a:r>
                        <a:rPr lang="de-DE" err="1"/>
                        <a:t>Tabular</a:t>
                      </a:r>
                      <a:r>
                        <a:rPr lang="de-DE"/>
                        <a:t> </a:t>
                      </a:r>
                      <a:r>
                        <a:rPr lang="de-DE" err="1"/>
                        <a:t>data</a:t>
                      </a:r>
                      <a:endParaRPr lang="de-DE"/>
                    </a:p>
                  </a:txBody>
                  <a:tcPr/>
                </a:tc>
                <a:tc>
                  <a:txBody>
                    <a:bodyPr/>
                    <a:lstStyle/>
                    <a:p>
                      <a:r>
                        <a:rPr lang="de-DE"/>
                        <a:t>Ensemble </a:t>
                      </a:r>
                      <a:r>
                        <a:rPr lang="de-DE" err="1"/>
                        <a:t>methods</a:t>
                      </a:r>
                      <a:r>
                        <a:rPr lang="de-DE"/>
                        <a:t>: Random Forest, </a:t>
                      </a:r>
                      <a:r>
                        <a:rPr lang="de-DE" err="1"/>
                        <a:t>Boosting</a:t>
                      </a:r>
                      <a:endParaRPr lang="de-DE"/>
                    </a:p>
                  </a:txBody>
                  <a:tcPr/>
                </a:tc>
                <a:tc>
                  <a:txBody>
                    <a:bodyPr/>
                    <a:lstStyle/>
                    <a:p>
                      <a:r>
                        <a:rPr lang="de-DE" err="1"/>
                        <a:t>Starting</a:t>
                      </a:r>
                      <a:r>
                        <a:rPr lang="de-DE"/>
                        <a:t> </a:t>
                      </a:r>
                      <a:r>
                        <a:rPr lang="de-DE" err="1"/>
                        <a:t>from</a:t>
                      </a:r>
                      <a:r>
                        <a:rPr lang="de-DE"/>
                        <a:t> simple </a:t>
                      </a:r>
                      <a:r>
                        <a:rPr lang="de-DE" err="1"/>
                        <a:t>architectures</a:t>
                      </a:r>
                      <a:endParaRPr lang="de-DE"/>
                    </a:p>
                  </a:txBody>
                  <a:tcPr/>
                </a:tc>
                <a:extLst>
                  <a:ext uri="{0D108BD9-81ED-4DB2-BD59-A6C34878D82A}">
                    <a16:rowId xmlns:a16="http://schemas.microsoft.com/office/drawing/2014/main" val="1605544526"/>
                  </a:ext>
                </a:extLst>
              </a:tr>
              <a:tr h="370840">
                <a:tc>
                  <a:txBody>
                    <a:bodyPr/>
                    <a:lstStyle/>
                    <a:p>
                      <a:r>
                        <a:rPr lang="de-DE"/>
                        <a:t>Text</a:t>
                      </a:r>
                    </a:p>
                  </a:txBody>
                  <a:tcPr/>
                </a:tc>
                <a:tc>
                  <a:txBody>
                    <a:bodyPr/>
                    <a:lstStyle/>
                    <a:p>
                      <a:r>
                        <a:rPr lang="de-DE"/>
                        <a:t>-</a:t>
                      </a:r>
                    </a:p>
                  </a:txBody>
                  <a:tcPr/>
                </a:tc>
                <a:tc>
                  <a:txBody>
                    <a:bodyPr/>
                    <a:lstStyle/>
                    <a:p>
                      <a:r>
                        <a:rPr lang="de-DE"/>
                        <a:t>Transformers (</a:t>
                      </a:r>
                      <a:r>
                        <a:rPr lang="de-DE" err="1"/>
                        <a:t>encoding</a:t>
                      </a:r>
                      <a:r>
                        <a:rPr lang="de-DE"/>
                        <a:t>, </a:t>
                      </a:r>
                      <a:r>
                        <a:rPr lang="de-DE" err="1"/>
                        <a:t>decoding</a:t>
                      </a:r>
                      <a:r>
                        <a:rPr lang="de-DE"/>
                        <a:t>, </a:t>
                      </a:r>
                      <a:r>
                        <a:rPr lang="de-DE" err="1"/>
                        <a:t>attention</a:t>
                      </a:r>
                      <a:r>
                        <a:rPr lang="de-DE"/>
                        <a:t>)</a:t>
                      </a:r>
                    </a:p>
                  </a:txBody>
                  <a:tcPr/>
                </a:tc>
                <a:extLst>
                  <a:ext uri="{0D108BD9-81ED-4DB2-BD59-A6C34878D82A}">
                    <a16:rowId xmlns:a16="http://schemas.microsoft.com/office/drawing/2014/main" val="2472260996"/>
                  </a:ext>
                </a:extLst>
              </a:tr>
              <a:tr h="370840">
                <a:tc>
                  <a:txBody>
                    <a:bodyPr/>
                    <a:lstStyle/>
                    <a:p>
                      <a:r>
                        <a:rPr lang="de-DE"/>
                        <a:t>Images</a:t>
                      </a:r>
                    </a:p>
                  </a:txBody>
                  <a:tcPr/>
                </a:tc>
                <a:tc>
                  <a:txBody>
                    <a:bodyPr/>
                    <a:lstStyle/>
                    <a:p>
                      <a:r>
                        <a:rPr lang="de-DE"/>
                        <a:t>-</a:t>
                      </a:r>
                    </a:p>
                  </a:txBody>
                  <a:tcPr/>
                </a:tc>
                <a:tc>
                  <a:txBody>
                    <a:bodyPr/>
                    <a:lstStyle/>
                    <a:p>
                      <a:r>
                        <a:rPr lang="de-DE"/>
                        <a:t>CNNs</a:t>
                      </a:r>
                    </a:p>
                  </a:txBody>
                  <a:tcPr/>
                </a:tc>
                <a:extLst>
                  <a:ext uri="{0D108BD9-81ED-4DB2-BD59-A6C34878D82A}">
                    <a16:rowId xmlns:a16="http://schemas.microsoft.com/office/drawing/2014/main" val="3245338458"/>
                  </a:ext>
                </a:extLst>
              </a:tr>
            </a:tbl>
          </a:graphicData>
        </a:graphic>
      </p:graphicFrame>
    </p:spTree>
    <p:extLst>
      <p:ext uri="{BB962C8B-B14F-4D97-AF65-F5344CB8AC3E}">
        <p14:creationId xmlns:p14="http://schemas.microsoft.com/office/powerpoint/2010/main" val="339141453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Elements and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03119" y="5301208"/>
            <a:ext cx="7539335" cy="504056"/>
          </a:xfrm>
          <a:prstGeom prst="rect">
            <a:avLst/>
          </a:prstGeom>
          <a:noFill/>
          <a:ln w="57150">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de-DE"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195358569"/>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C1723FA4-4533-44AE-B533-7468747AE79D}"/>
              </a:ext>
            </a:extLst>
          </p:cNvPr>
          <p:cNvSpPr>
            <a:spLocks noGrp="1"/>
          </p:cNvSpPr>
          <p:nvPr>
            <p:ph type="title"/>
          </p:nvPr>
        </p:nvSpPr>
        <p:spPr/>
        <p:txBody>
          <a:bodyPr/>
          <a:lstStyle/>
          <a:p>
            <a:r>
              <a:rPr lang="en-US"/>
              <a:t>Exercise 3: Neural Network</a:t>
            </a:r>
          </a:p>
        </p:txBody>
      </p:sp>
      <p:sp>
        <p:nvSpPr>
          <p:cNvPr id="3" name="Inhaltsplatzhalter 2">
            <a:extLst>
              <a:ext uri="{FF2B5EF4-FFF2-40B4-BE49-F238E27FC236}">
                <a16:creationId xmlns:a16="http://schemas.microsoft.com/office/drawing/2014/main" id="{625AB2C8-6173-4286-91AC-A32BB2F99F1E}"/>
              </a:ext>
            </a:extLst>
          </p:cNvPr>
          <p:cNvSpPr>
            <a:spLocks noGrp="1"/>
          </p:cNvSpPr>
          <p:nvPr>
            <p:ph sz="half" idx="1"/>
          </p:nvPr>
        </p:nvSpPr>
        <p:spPr>
          <a:xfrm>
            <a:off x="627063" y="1440000"/>
            <a:ext cx="4283980" cy="4752000"/>
          </a:xfrm>
        </p:spPr>
        <p:txBody>
          <a:bodyPr/>
          <a:lstStyle/>
          <a:p>
            <a:pPr marL="342900" indent="-342900">
              <a:spcBef>
                <a:spcPts val="600"/>
              </a:spcBef>
              <a:spcAft>
                <a:spcPts val="600"/>
              </a:spcAft>
              <a:buAutoNum type="arabicPeriod"/>
            </a:pPr>
            <a:r>
              <a:rPr lang="en-US" sz="1600"/>
              <a:t>Go to Exercise 3: Neural Network</a:t>
            </a:r>
          </a:p>
          <a:p>
            <a:pPr marL="342900" indent="-342900">
              <a:spcBef>
                <a:spcPts val="600"/>
              </a:spcBef>
              <a:spcAft>
                <a:spcPts val="600"/>
              </a:spcAft>
              <a:buAutoNum type="arabicPeriod"/>
            </a:pPr>
            <a:r>
              <a:rPr lang="en-US" sz="1600"/>
              <a:t>Build different neural networks by changing #hiddenLayers, #neurons and learning rate. You can also change the activation function</a:t>
            </a:r>
            <a:r>
              <a:rPr lang="en-US" sz="1600" b="1"/>
              <a:t> (Only logistic or ReLU)</a:t>
            </a:r>
          </a:p>
          <a:p>
            <a:pPr marL="342900" indent="-342900">
              <a:spcBef>
                <a:spcPts val="600"/>
              </a:spcBef>
              <a:spcAft>
                <a:spcPts val="600"/>
              </a:spcAft>
              <a:buFont typeface="Arial" pitchFamily="34" charset="0"/>
              <a:buAutoNum type="arabicPeriod"/>
            </a:pPr>
            <a:r>
              <a:rPr lang="en-US" sz="1600"/>
              <a:t>To get a look at your results run through </a:t>
            </a:r>
            <a:r>
              <a:rPr lang="en-US" sz="1600" b="1"/>
              <a:t>result for logistic </a:t>
            </a:r>
            <a:r>
              <a:rPr lang="en-US" sz="1600"/>
              <a:t>and </a:t>
            </a:r>
            <a:r>
              <a:rPr lang="en-US" sz="1600" b="1"/>
              <a:t>result for relu</a:t>
            </a:r>
          </a:p>
          <a:p>
            <a:pPr lvl="2" indent="0">
              <a:spcBef>
                <a:spcPts val="600"/>
              </a:spcBef>
              <a:spcAft>
                <a:spcPts val="600"/>
              </a:spcAft>
              <a:buNone/>
            </a:pPr>
            <a:r>
              <a:rPr lang="en-US" sz="1600" b="1">
                <a:solidFill>
                  <a:srgbClr val="7030A0"/>
                </a:solidFill>
              </a:rPr>
              <a:t>Blue/Purple – Low test accuracy</a:t>
            </a:r>
          </a:p>
          <a:p>
            <a:pPr lvl="2" indent="0">
              <a:spcBef>
                <a:spcPts val="600"/>
              </a:spcBef>
              <a:spcAft>
                <a:spcPts val="600"/>
              </a:spcAft>
              <a:buNone/>
            </a:pPr>
            <a:r>
              <a:rPr lang="en-US" sz="1600" b="1">
                <a:solidFill>
                  <a:srgbClr val="00B050"/>
                </a:solidFill>
              </a:rPr>
              <a:t>Green – Mid test accuracy</a:t>
            </a:r>
          </a:p>
          <a:p>
            <a:pPr lvl="2" indent="0">
              <a:spcBef>
                <a:spcPts val="600"/>
              </a:spcBef>
              <a:spcAft>
                <a:spcPts val="600"/>
              </a:spcAft>
              <a:buNone/>
            </a:pPr>
            <a:r>
              <a:rPr lang="en-US" sz="1600" b="1">
                <a:solidFill>
                  <a:srgbClr val="FFC000"/>
                </a:solidFill>
              </a:rPr>
              <a:t>Yellow – High test accuracy</a:t>
            </a:r>
          </a:p>
          <a:p>
            <a:pPr>
              <a:spcBef>
                <a:spcPts val="600"/>
              </a:spcBef>
              <a:spcAft>
                <a:spcPts val="600"/>
              </a:spcAft>
            </a:pPr>
            <a:endParaRPr lang="en-US"/>
          </a:p>
        </p:txBody>
      </p:sp>
      <p:pic>
        <p:nvPicPr>
          <p:cNvPr id="11" name="Inhaltsplatzhalter 10">
            <a:extLst>
              <a:ext uri="{FF2B5EF4-FFF2-40B4-BE49-F238E27FC236}">
                <a16:creationId xmlns:a16="http://schemas.microsoft.com/office/drawing/2014/main" id="{716D1922-D0DA-403B-87A8-D95B4C7F7175}"/>
              </a:ext>
            </a:extLst>
          </p:cNvPr>
          <p:cNvPicPr>
            <a:picLocks noGrp="1" noChangeAspect="1"/>
          </p:cNvPicPr>
          <p:nvPr>
            <p:ph sz="half" idx="2"/>
          </p:nvPr>
        </p:nvPicPr>
        <p:blipFill rotWithShape="1">
          <a:blip r:embed="rId3" cstate="screen">
            <a:extLst>
              <a:ext uri="{28A0092B-C50C-407E-A947-70E740481C1C}">
                <a14:useLocalDpi xmlns:a14="http://schemas.microsoft.com/office/drawing/2010/main"/>
              </a:ext>
            </a:extLst>
          </a:blip>
          <a:srcRect/>
          <a:stretch/>
        </p:blipFill>
        <p:spPr>
          <a:xfrm>
            <a:off x="5606828" y="1443038"/>
            <a:ext cx="6114353" cy="4600017"/>
          </a:xfrm>
          <a:prstGeom prst="rect">
            <a:avLst/>
          </a:prstGeom>
        </p:spPr>
      </p:pic>
      <p:cxnSp>
        <p:nvCxnSpPr>
          <p:cNvPr id="22" name="Gerade Verbindung mit Pfeil 21">
            <a:extLst>
              <a:ext uri="{FF2B5EF4-FFF2-40B4-BE49-F238E27FC236}">
                <a16:creationId xmlns:a16="http://schemas.microsoft.com/office/drawing/2014/main" id="{729013DB-05A3-43E2-9FB4-DF4CB0D22B9F}"/>
              </a:ext>
            </a:extLst>
          </p:cNvPr>
          <p:cNvCxnSpPr/>
          <p:nvPr/>
        </p:nvCxnSpPr>
        <p:spPr bwMode="auto">
          <a:xfrm>
            <a:off x="4586288" y="2816932"/>
            <a:ext cx="1152847" cy="1332148"/>
          </a:xfrm>
          <a:prstGeom prst="straightConnector1">
            <a:avLst/>
          </a:prstGeom>
          <a:solidFill>
            <a:schemeClr val="tx2"/>
          </a:solidFill>
          <a:ln w="5715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14" name="Rechteck 13">
            <a:extLst>
              <a:ext uri="{FF2B5EF4-FFF2-40B4-BE49-F238E27FC236}">
                <a16:creationId xmlns:a16="http://schemas.microsoft.com/office/drawing/2014/main" id="{E3270315-1D6C-4920-AE6E-092B2F774ED9}"/>
              </a:ext>
            </a:extLst>
          </p:cNvPr>
          <p:cNvSpPr/>
          <p:nvPr/>
        </p:nvSpPr>
        <p:spPr bwMode="auto">
          <a:xfrm>
            <a:off x="5667127" y="4247288"/>
            <a:ext cx="2412268" cy="1053920"/>
          </a:xfrm>
          <a:prstGeom prst="rect">
            <a:avLst/>
          </a:prstGeom>
          <a:noFill/>
          <a:ln>
            <a:solidFill>
              <a:srgbClr val="FF0000"/>
            </a:solidFill>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en-US" sz="1800">
              <a:solidFill>
                <a:schemeClr val="tx1"/>
              </a:solidFill>
              <a:latin typeface="+mn-lt"/>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2214995847"/>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E3DECA9-7A22-4599-9C6F-C81100E40350}"/>
              </a:ext>
            </a:extLst>
          </p:cNvPr>
          <p:cNvSpPr>
            <a:spLocks noGrp="1"/>
          </p:cNvSpPr>
          <p:nvPr>
            <p:ph type="title"/>
          </p:nvPr>
        </p:nvSpPr>
        <p:spPr/>
        <p:txBody>
          <a:bodyPr/>
          <a:lstStyle/>
          <a:p>
            <a:r>
              <a:rPr lang="en-US"/>
              <a:t>Observed Parameters for Neural Network</a:t>
            </a:r>
          </a:p>
        </p:txBody>
      </p:sp>
      <p:sp>
        <p:nvSpPr>
          <p:cNvPr id="5" name="Rechteck 4">
            <a:extLst>
              <a:ext uri="{FF2B5EF4-FFF2-40B4-BE49-F238E27FC236}">
                <a16:creationId xmlns:a16="http://schemas.microsoft.com/office/drawing/2014/main" id="{4C5217EB-D4A3-4BF4-ACFF-3DD1CAAC994D}"/>
              </a:ext>
            </a:extLst>
          </p:cNvPr>
          <p:cNvSpPr/>
          <p:nvPr/>
        </p:nvSpPr>
        <p:spPr bwMode="auto">
          <a:xfrm>
            <a:off x="1131714" y="1711729"/>
            <a:ext cx="9418649" cy="1121866"/>
          </a:xfrm>
          <a:prstGeom prst="rect">
            <a:avLst/>
          </a:prstGeom>
          <a:solidFill>
            <a:schemeClr val="accent2">
              <a:lumMod val="40000"/>
              <a:lumOff val="60000"/>
            </a:schemeClr>
          </a:solidFill>
          <a:ln>
            <a:noFill/>
          </a:ln>
          <a:effectLst/>
        </p:spPr>
        <p:txBody>
          <a:bodyPr wrap="square" lIns="108000" tIns="54000" rIns="108000" bIns="54000" numCol="1" spcCol="72000" rtlCol="0" anchor="ctr">
            <a:noAutofit/>
          </a:bodyPr>
          <a:lstStyle/>
          <a:p>
            <a:pPr>
              <a:lnSpc>
                <a:spcPct val="110000"/>
              </a:lnSpc>
              <a:spcBef>
                <a:spcPct val="0"/>
              </a:spcBef>
              <a:buFont typeface="Wingdings" charset="0"/>
              <a:buNone/>
            </a:pPr>
            <a:r>
              <a:rPr lang="en-US" sz="1600">
                <a:solidFill>
                  <a:schemeClr val="tx1"/>
                </a:solidFill>
                <a:latin typeface="+mn-lt"/>
                <a:ea typeface="Arial Unicode MS" panose="020B0604020202020204" pitchFamily="34" charset="-128"/>
                <a:cs typeface="Arial Unicode MS" panose="020B0604020202020204" pitchFamily="34" charset="-128"/>
              </a:rPr>
              <a:t>from sklearn.neural_network import MLPClassifier</a:t>
            </a:r>
          </a:p>
          <a:p>
            <a:pPr>
              <a:lnSpc>
                <a:spcPct val="110000"/>
              </a:lnSpc>
              <a:spcBef>
                <a:spcPct val="0"/>
              </a:spcBef>
              <a:buFont typeface="Wingdings" charset="0"/>
              <a:buNone/>
            </a:pPr>
            <a:endParaRPr lang="en-US" sz="1600">
              <a:solidFill>
                <a:schemeClr val="tx1"/>
              </a:solidFill>
              <a:latin typeface="+mn-lt"/>
              <a:ea typeface="Arial Unicode MS" panose="020B0604020202020204" pitchFamily="34" charset="-128"/>
              <a:cs typeface="Arial Unicode MS" panose="020B0604020202020204" pitchFamily="34" charset="-128"/>
            </a:endParaRPr>
          </a:p>
          <a:p>
            <a:pPr>
              <a:lnSpc>
                <a:spcPct val="110000"/>
              </a:lnSpc>
              <a:spcBef>
                <a:spcPct val="0"/>
              </a:spcBef>
              <a:buFont typeface="Wingdings" charset="0"/>
              <a:buNone/>
            </a:pPr>
            <a:r>
              <a:rPr lang="en-US" sz="1600" b="1">
                <a:solidFill>
                  <a:schemeClr val="tx1"/>
                </a:solidFill>
                <a:latin typeface="+mn-lt"/>
                <a:ea typeface="Arial Unicode MS" panose="020B0604020202020204" pitchFamily="34" charset="-128"/>
                <a:cs typeface="Arial Unicode MS" panose="020B0604020202020204" pitchFamily="34" charset="-128"/>
              </a:rPr>
              <a:t>MLPClassifier</a:t>
            </a:r>
            <a:r>
              <a:rPr lang="en-US" sz="1600">
                <a:solidFill>
                  <a:schemeClr val="tx1"/>
                </a:solidFill>
                <a:latin typeface="+mn-lt"/>
                <a:ea typeface="Arial Unicode MS" panose="020B0604020202020204" pitchFamily="34" charset="-128"/>
                <a:cs typeface="Arial Unicode MS" panose="020B0604020202020204" pitchFamily="34" charset="-128"/>
              </a:rPr>
              <a:t>(hidden_layer_sizes=(10, ),activation=‘logistic',solver=‘sgd',learning_rate_init=0.0001)</a:t>
            </a:r>
          </a:p>
        </p:txBody>
      </p:sp>
      <p:sp>
        <p:nvSpPr>
          <p:cNvPr id="8" name="Textfeld 7">
            <a:extLst>
              <a:ext uri="{FF2B5EF4-FFF2-40B4-BE49-F238E27FC236}">
                <a16:creationId xmlns:a16="http://schemas.microsoft.com/office/drawing/2014/main" id="{22F13C48-3CF0-42A6-B7FE-480141DA98B2}"/>
              </a:ext>
            </a:extLst>
          </p:cNvPr>
          <p:cNvSpPr txBox="1"/>
          <p:nvPr/>
        </p:nvSpPr>
        <p:spPr>
          <a:xfrm>
            <a:off x="1131714" y="3013595"/>
            <a:ext cx="4427400" cy="1565809"/>
          </a:xfrm>
          <a:prstGeom prst="rect">
            <a:avLst/>
          </a:prstGeom>
          <a:solidFill>
            <a:schemeClr val="accent2">
              <a:lumMod val="50000"/>
            </a:schemeClr>
          </a:solidFill>
        </p:spPr>
        <p:txBody>
          <a:bodyPr wrap="square" lIns="72000" tIns="0" rIns="0" bIns="0" rtlCol="0" anchor="ctr">
            <a:noAutofit/>
          </a:bodyPr>
          <a:lstStyle/>
          <a:p>
            <a:pPr>
              <a:lnSpc>
                <a:spcPct val="110000"/>
              </a:lnSpc>
              <a:spcBef>
                <a:spcPts val="0"/>
              </a:spcBef>
            </a:pPr>
            <a:r>
              <a:rPr lang="en-US" sz="1600" b="1">
                <a:solidFill>
                  <a:schemeClr val="bg1"/>
                </a:solidFill>
                <a:latin typeface="+mn-lt"/>
                <a:ea typeface="Arial Unicode MS" panose="020B0604020202020204" pitchFamily="34" charset="-128"/>
                <a:cs typeface="Arial Unicode MS" panose="020B0604020202020204" pitchFamily="34" charset="-128"/>
              </a:rPr>
              <a:t>Structure of hidden layers (default: (100,) )</a:t>
            </a:r>
          </a:p>
          <a:p>
            <a:pPr>
              <a:lnSpc>
                <a:spcPct val="110000"/>
              </a:lnSpc>
              <a:spcBef>
                <a:spcPts val="0"/>
              </a:spcBef>
            </a:pPr>
            <a:r>
              <a:rPr lang="en-US" sz="1400" b="1">
                <a:solidFill>
                  <a:schemeClr val="bg1"/>
                </a:solidFill>
                <a:latin typeface="+mn-lt"/>
                <a:ea typeface="Arial Unicode MS" panose="020B0604020202020204" pitchFamily="34" charset="-128"/>
                <a:cs typeface="Arial Unicode MS" panose="020B0604020202020204" pitchFamily="34" charset="-128"/>
              </a:rPr>
              <a:t>Determines the number of hidden Layers and the number of neurons in each layer</a:t>
            </a:r>
          </a:p>
          <a:p>
            <a:pPr>
              <a:lnSpc>
                <a:spcPct val="110000"/>
              </a:lnSpc>
              <a:spcBef>
                <a:spcPts val="0"/>
              </a:spcBef>
            </a:pPr>
            <a:endParaRPr lang="en-US" sz="1100" b="1">
              <a:solidFill>
                <a:schemeClr val="bg1"/>
              </a:solidFill>
              <a:latin typeface="+mn-lt"/>
              <a:ea typeface="Arial Unicode MS" panose="020B0604020202020204" pitchFamily="34" charset="-128"/>
              <a:cs typeface="Arial Unicode MS" panose="020B0604020202020204" pitchFamily="34" charset="-128"/>
            </a:endParaRPr>
          </a:p>
          <a:p>
            <a:pPr>
              <a:lnSpc>
                <a:spcPct val="110000"/>
              </a:lnSpc>
              <a:spcBef>
                <a:spcPts val="0"/>
              </a:spcBef>
            </a:pPr>
            <a:r>
              <a:rPr lang="en-US" sz="1100" b="1">
                <a:solidFill>
                  <a:schemeClr val="bg1"/>
                </a:solidFill>
                <a:latin typeface="+mn-lt"/>
                <a:ea typeface="Arial Unicode MS" panose="020B0604020202020204" pitchFamily="34" charset="-128"/>
                <a:cs typeface="Arial Unicode MS" panose="020B0604020202020204" pitchFamily="34" charset="-128"/>
              </a:rPr>
              <a:t>For 1 hidden Layer with 10 neurons (10,)</a:t>
            </a:r>
          </a:p>
          <a:p>
            <a:pPr>
              <a:lnSpc>
                <a:spcPct val="110000"/>
              </a:lnSpc>
              <a:spcBef>
                <a:spcPts val="0"/>
              </a:spcBef>
            </a:pPr>
            <a:r>
              <a:rPr lang="en-US" sz="1100" b="1">
                <a:solidFill>
                  <a:schemeClr val="bg1"/>
                </a:solidFill>
                <a:latin typeface="+mn-lt"/>
                <a:ea typeface="Arial Unicode MS" panose="020B0604020202020204" pitchFamily="34" charset="-128"/>
                <a:cs typeface="Arial Unicode MS" panose="020B0604020202020204" pitchFamily="34" charset="-128"/>
              </a:rPr>
              <a:t>For 3 hidden layers with each 5 neurons (5,5,5)</a:t>
            </a:r>
          </a:p>
        </p:txBody>
      </p:sp>
      <p:sp>
        <p:nvSpPr>
          <p:cNvPr id="9" name="Textfeld 8">
            <a:extLst>
              <a:ext uri="{FF2B5EF4-FFF2-40B4-BE49-F238E27FC236}">
                <a16:creationId xmlns:a16="http://schemas.microsoft.com/office/drawing/2014/main" id="{1949CBBE-06DD-4536-8CDF-30029F97AB59}"/>
              </a:ext>
            </a:extLst>
          </p:cNvPr>
          <p:cNvSpPr txBox="1"/>
          <p:nvPr/>
        </p:nvSpPr>
        <p:spPr>
          <a:xfrm>
            <a:off x="5416953" y="4759404"/>
            <a:ext cx="3562542" cy="360000"/>
          </a:xfrm>
          <a:prstGeom prst="rect">
            <a:avLst/>
          </a:prstGeom>
          <a:solidFill>
            <a:schemeClr val="accent2">
              <a:lumMod val="50000"/>
            </a:schemeClr>
          </a:solidFill>
        </p:spPr>
        <p:txBody>
          <a:bodyPr wrap="none" lIns="0" tIns="0" rIns="0" bIns="0" rtlCol="0" anchor="ctr">
            <a:noAutofit/>
          </a:bodyPr>
          <a:lstStyle/>
          <a:p>
            <a:pPr algn="ctr">
              <a:lnSpc>
                <a:spcPct val="110000"/>
              </a:lnSpc>
              <a:spcBef>
                <a:spcPts val="0"/>
              </a:spcBef>
            </a:pPr>
            <a:r>
              <a:rPr lang="en-US" sz="1600" b="1">
                <a:solidFill>
                  <a:schemeClr val="bg1"/>
                </a:solidFill>
                <a:latin typeface="+mn-lt"/>
                <a:ea typeface="Arial Unicode MS" panose="020B0604020202020204" pitchFamily="34" charset="-128"/>
                <a:cs typeface="Arial Unicode MS" panose="020B0604020202020204" pitchFamily="34" charset="-128"/>
              </a:rPr>
              <a:t>Activation function (default ‘relu’)</a:t>
            </a:r>
          </a:p>
        </p:txBody>
      </p:sp>
      <p:sp>
        <p:nvSpPr>
          <p:cNvPr id="13" name="Textfeld 12">
            <a:extLst>
              <a:ext uri="{FF2B5EF4-FFF2-40B4-BE49-F238E27FC236}">
                <a16:creationId xmlns:a16="http://schemas.microsoft.com/office/drawing/2014/main" id="{A744179B-4E75-4771-B64D-20043A3857EA}"/>
              </a:ext>
            </a:extLst>
          </p:cNvPr>
          <p:cNvSpPr txBox="1"/>
          <p:nvPr/>
        </p:nvSpPr>
        <p:spPr>
          <a:xfrm>
            <a:off x="640956" y="5696098"/>
            <a:ext cx="11074793" cy="605772"/>
          </a:xfrm>
          <a:prstGeom prst="rect">
            <a:avLst/>
          </a:prstGeom>
          <a:noFill/>
          <a:ln w="28575">
            <a:solidFill>
              <a:srgbClr val="00646E"/>
            </a:solidFill>
          </a:ln>
        </p:spPr>
        <p:txBody>
          <a:bodyPr wrap="non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There are a lot more parameters you can variate to perfect your model. But therefore it‘s not always easy </a:t>
            </a:r>
          </a:p>
          <a:p>
            <a:pPr algn="ct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to find a very good combination of parameters.</a:t>
            </a:r>
          </a:p>
        </p:txBody>
      </p:sp>
      <p:cxnSp>
        <p:nvCxnSpPr>
          <p:cNvPr id="21" name="Gerade Verbindung mit Pfeil 20">
            <a:extLst>
              <a:ext uri="{FF2B5EF4-FFF2-40B4-BE49-F238E27FC236}">
                <a16:creationId xmlns:a16="http://schemas.microsoft.com/office/drawing/2014/main" id="{8EBAA87C-5DA0-47E0-A8DA-8C094A86E4A7}"/>
              </a:ext>
            </a:extLst>
          </p:cNvPr>
          <p:cNvCxnSpPr>
            <a:cxnSpLocks/>
          </p:cNvCxnSpPr>
          <p:nvPr/>
        </p:nvCxnSpPr>
        <p:spPr bwMode="auto">
          <a:xfrm flipV="1">
            <a:off x="3171398" y="2726298"/>
            <a:ext cx="0" cy="28729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
        <p:nvSpPr>
          <p:cNvPr id="48" name="Textfeld 47">
            <a:extLst>
              <a:ext uri="{FF2B5EF4-FFF2-40B4-BE49-F238E27FC236}">
                <a16:creationId xmlns:a16="http://schemas.microsoft.com/office/drawing/2014/main" id="{87347268-8EEA-4B8E-8355-AE1FAA2F0383}"/>
              </a:ext>
            </a:extLst>
          </p:cNvPr>
          <p:cNvSpPr txBox="1"/>
          <p:nvPr/>
        </p:nvSpPr>
        <p:spPr>
          <a:xfrm>
            <a:off x="627063" y="5299404"/>
            <a:ext cx="10534782" cy="163956"/>
          </a:xfrm>
          <a:prstGeom prst="rect">
            <a:avLst/>
          </a:prstGeom>
          <a:noFill/>
        </p:spPr>
        <p:txBody>
          <a:bodyPr wrap="square" lIns="0" tIns="0" rIns="0" bIns="0" rtlCol="0">
            <a:spAutoFit/>
          </a:bodyPr>
          <a:lstStyle/>
          <a:p>
            <a:pPr>
              <a:lnSpc>
                <a:spcPct val="110000"/>
              </a:lnSpc>
              <a:spcBef>
                <a:spcPts val="0"/>
              </a:spcBef>
            </a:pPr>
            <a:r>
              <a:rPr lang="en-US" sz="1050">
                <a:solidFill>
                  <a:schemeClr val="tx1"/>
                </a:solidFill>
                <a:latin typeface="+mn-lt"/>
                <a:ea typeface="Arial Unicode MS" panose="020B0604020202020204" pitchFamily="34" charset="-128"/>
                <a:cs typeface="Arial Unicode MS" panose="020B0604020202020204" pitchFamily="34" charset="-128"/>
              </a:rPr>
              <a:t>For more information go to: </a:t>
            </a:r>
            <a:r>
              <a:rPr lang="en-US" sz="1050">
                <a:hlinkClick r:id="rId2"/>
              </a:rPr>
              <a:t>https://scikit-learn.org/stable/modules/generated/sklearn.neural_network.MLPClassifier.html#sklearn.neural_network.MLPClassifier</a:t>
            </a:r>
            <a:endParaRPr lang="en-US" sz="1050">
              <a:solidFill>
                <a:schemeClr val="tx1"/>
              </a:solidFill>
              <a:latin typeface="+mn-lt"/>
              <a:ea typeface="Arial Unicode MS" panose="020B0604020202020204" pitchFamily="34" charset="-128"/>
              <a:cs typeface="Arial Unicode MS" panose="020B0604020202020204" pitchFamily="34" charset="-128"/>
            </a:endParaRPr>
          </a:p>
        </p:txBody>
      </p:sp>
      <p:sp>
        <p:nvSpPr>
          <p:cNvPr id="20" name="Textfeld 19">
            <a:extLst>
              <a:ext uri="{FF2B5EF4-FFF2-40B4-BE49-F238E27FC236}">
                <a16:creationId xmlns:a16="http://schemas.microsoft.com/office/drawing/2014/main" id="{C21E4E0C-4F42-4603-8DA5-317701FA4142}"/>
              </a:ext>
            </a:extLst>
          </p:cNvPr>
          <p:cNvSpPr txBox="1"/>
          <p:nvPr/>
        </p:nvSpPr>
        <p:spPr>
          <a:xfrm>
            <a:off x="6855259" y="3917328"/>
            <a:ext cx="2376265" cy="360000"/>
          </a:xfrm>
          <a:prstGeom prst="rect">
            <a:avLst/>
          </a:prstGeom>
          <a:solidFill>
            <a:schemeClr val="accent2">
              <a:lumMod val="50000"/>
            </a:schemeClr>
          </a:solidFill>
        </p:spPr>
        <p:txBody>
          <a:bodyPr wrap="none" lIns="0" tIns="0" rIns="0" bIns="0" rtlCol="0" anchor="ctr">
            <a:noAutofit/>
          </a:bodyPr>
          <a:lstStyle/>
          <a:p>
            <a:pPr algn="ctr">
              <a:lnSpc>
                <a:spcPct val="110000"/>
              </a:lnSpc>
              <a:spcBef>
                <a:spcPts val="0"/>
              </a:spcBef>
            </a:pPr>
            <a:r>
              <a:rPr lang="en-US" sz="1600" b="1">
                <a:solidFill>
                  <a:schemeClr val="bg1"/>
                </a:solidFill>
                <a:latin typeface="+mn-lt"/>
                <a:ea typeface="Arial Unicode MS" panose="020B0604020202020204" pitchFamily="34" charset="-128"/>
                <a:cs typeface="Arial Unicode MS" panose="020B0604020202020204" pitchFamily="34" charset="-128"/>
              </a:rPr>
              <a:t>Solver (default: ‘adam’)</a:t>
            </a:r>
          </a:p>
        </p:txBody>
      </p:sp>
      <p:sp>
        <p:nvSpPr>
          <p:cNvPr id="22" name="Textfeld 21">
            <a:extLst>
              <a:ext uri="{FF2B5EF4-FFF2-40B4-BE49-F238E27FC236}">
                <a16:creationId xmlns:a16="http://schemas.microsoft.com/office/drawing/2014/main" id="{2C825AD6-0BB3-4847-8334-EBCD55BA8E96}"/>
              </a:ext>
            </a:extLst>
          </p:cNvPr>
          <p:cNvSpPr txBox="1"/>
          <p:nvPr/>
        </p:nvSpPr>
        <p:spPr>
          <a:xfrm>
            <a:off x="8475439" y="3291945"/>
            <a:ext cx="3060331" cy="360000"/>
          </a:xfrm>
          <a:prstGeom prst="rect">
            <a:avLst/>
          </a:prstGeom>
          <a:solidFill>
            <a:schemeClr val="accent2">
              <a:lumMod val="50000"/>
            </a:schemeClr>
          </a:solidFill>
        </p:spPr>
        <p:txBody>
          <a:bodyPr wrap="none" lIns="0" tIns="0" rIns="0" bIns="0" rtlCol="0" anchor="ctr">
            <a:noAutofit/>
          </a:bodyPr>
          <a:lstStyle/>
          <a:p>
            <a:pPr algn="ctr">
              <a:lnSpc>
                <a:spcPct val="110000"/>
              </a:lnSpc>
              <a:spcBef>
                <a:spcPts val="0"/>
              </a:spcBef>
            </a:pPr>
            <a:r>
              <a:rPr lang="en-US" sz="1600" b="1">
                <a:solidFill>
                  <a:schemeClr val="bg1"/>
                </a:solidFill>
                <a:latin typeface="+mn-lt"/>
                <a:ea typeface="Arial Unicode MS" panose="020B0604020202020204" pitchFamily="34" charset="-128"/>
                <a:cs typeface="Arial Unicode MS" panose="020B0604020202020204" pitchFamily="34" charset="-128"/>
              </a:rPr>
              <a:t>Learning rate (default: 0.001)</a:t>
            </a:r>
          </a:p>
        </p:txBody>
      </p:sp>
      <p:cxnSp>
        <p:nvCxnSpPr>
          <p:cNvPr id="23" name="Gerade Verbindung mit Pfeil 22">
            <a:extLst>
              <a:ext uri="{FF2B5EF4-FFF2-40B4-BE49-F238E27FC236}">
                <a16:creationId xmlns:a16="http://schemas.microsoft.com/office/drawing/2014/main" id="{8D58ABB3-12D3-4ED3-A257-DC87F1880CD8}"/>
              </a:ext>
            </a:extLst>
          </p:cNvPr>
          <p:cNvCxnSpPr/>
          <p:nvPr/>
        </p:nvCxnSpPr>
        <p:spPr bwMode="auto">
          <a:xfrm flipV="1">
            <a:off x="5739135" y="2726298"/>
            <a:ext cx="0" cy="2033106"/>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7" name="Gerade Verbindung mit Pfeil 26">
            <a:extLst>
              <a:ext uri="{FF2B5EF4-FFF2-40B4-BE49-F238E27FC236}">
                <a16:creationId xmlns:a16="http://schemas.microsoft.com/office/drawing/2014/main" id="{F65C21E6-914F-4203-B788-6B8D6B3A8C3C}"/>
              </a:ext>
            </a:extLst>
          </p:cNvPr>
          <p:cNvCxnSpPr/>
          <p:nvPr/>
        </p:nvCxnSpPr>
        <p:spPr bwMode="auto">
          <a:xfrm flipV="1">
            <a:off x="7071283" y="2726299"/>
            <a:ext cx="0" cy="1191029"/>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29" name="Gerade Verbindung mit Pfeil 28">
            <a:extLst>
              <a:ext uri="{FF2B5EF4-FFF2-40B4-BE49-F238E27FC236}">
                <a16:creationId xmlns:a16="http://schemas.microsoft.com/office/drawing/2014/main" id="{6EA5A406-F5B9-42DB-9A4A-4BF1E14460B9}"/>
              </a:ext>
            </a:extLst>
          </p:cNvPr>
          <p:cNvCxnSpPr/>
          <p:nvPr/>
        </p:nvCxnSpPr>
        <p:spPr bwMode="auto">
          <a:xfrm flipV="1">
            <a:off x="8745469" y="2726298"/>
            <a:ext cx="0" cy="565647"/>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2947490560"/>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2ED2F5C3-ACAB-4619-90EE-D123B804D86B}"/>
              </a:ext>
            </a:extLst>
          </p:cNvPr>
          <p:cNvSpPr>
            <a:spLocks noGrp="1"/>
          </p:cNvSpPr>
          <p:nvPr>
            <p:ph type="title"/>
          </p:nvPr>
        </p:nvSpPr>
        <p:spPr/>
        <p:txBody>
          <a:bodyPr/>
          <a:lstStyle/>
          <a:p>
            <a:r>
              <a:rPr lang="en-US"/>
              <a:t>Learning on Additional Data / Updating a Model</a:t>
            </a:r>
          </a:p>
        </p:txBody>
      </p:sp>
      <p:sp>
        <p:nvSpPr>
          <p:cNvPr id="3" name="Inhaltsplatzhalter 2">
            <a:extLst>
              <a:ext uri="{FF2B5EF4-FFF2-40B4-BE49-F238E27FC236}">
                <a16:creationId xmlns:a16="http://schemas.microsoft.com/office/drawing/2014/main" id="{FD124EB9-FDA3-4C82-B99B-5A0B609F0C60}"/>
              </a:ext>
            </a:extLst>
          </p:cNvPr>
          <p:cNvSpPr>
            <a:spLocks noGrp="1"/>
          </p:cNvSpPr>
          <p:nvPr>
            <p:ph idx="1"/>
          </p:nvPr>
        </p:nvSpPr>
        <p:spPr>
          <a:xfrm>
            <a:off x="627062" y="1440000"/>
            <a:ext cx="11088687" cy="4752000"/>
          </a:xfrm>
        </p:spPr>
        <p:txBody>
          <a:bodyPr/>
          <a:lstStyle/>
          <a:p>
            <a:pPr>
              <a:spcBef>
                <a:spcPts val="600"/>
              </a:spcBef>
              <a:spcAft>
                <a:spcPts val="600"/>
              </a:spcAft>
            </a:pPr>
            <a:r>
              <a:rPr lang="en-US" sz="1400"/>
              <a:t>Train a model with additional data should be easy, but</a:t>
            </a:r>
          </a:p>
          <a:p>
            <a:pPr>
              <a:spcBef>
                <a:spcPts val="600"/>
              </a:spcBef>
              <a:spcAft>
                <a:spcPts val="600"/>
              </a:spcAft>
            </a:pPr>
            <a:r>
              <a:rPr lang="en-US" sz="1400" b="1"/>
              <a:t>PROBLEM: We usually use many iterations to train the model, should we run through all data or just the additional data?</a:t>
            </a:r>
          </a:p>
          <a:p>
            <a:pPr marL="342900" indent="-342900">
              <a:spcBef>
                <a:spcPts val="600"/>
              </a:spcBef>
              <a:spcAft>
                <a:spcPts val="600"/>
              </a:spcAft>
              <a:buAutoNum type="arabicPeriod"/>
            </a:pPr>
            <a:r>
              <a:rPr lang="en-US" sz="1400"/>
              <a:t>Run through all data again:</a:t>
            </a:r>
          </a:p>
          <a:p>
            <a:pPr marL="701675" lvl="2" indent="-342900">
              <a:spcBef>
                <a:spcPts val="600"/>
              </a:spcBef>
              <a:spcAft>
                <a:spcPts val="600"/>
              </a:spcAft>
            </a:pPr>
            <a:r>
              <a:rPr lang="en-US" sz="1400"/>
              <a:t>Gives better model</a:t>
            </a:r>
          </a:p>
          <a:p>
            <a:pPr marL="701675" lvl="2" indent="-342900">
              <a:spcBef>
                <a:spcPts val="600"/>
              </a:spcBef>
              <a:spcAft>
                <a:spcPts val="600"/>
              </a:spcAft>
            </a:pPr>
            <a:r>
              <a:rPr lang="en-US" sz="1400"/>
              <a:t>Take a lot of calculation time</a:t>
            </a:r>
          </a:p>
          <a:p>
            <a:pPr marL="342900" indent="-342900">
              <a:spcBef>
                <a:spcPts val="600"/>
              </a:spcBef>
              <a:spcAft>
                <a:spcPts val="600"/>
              </a:spcAft>
              <a:buAutoNum type="arabicPeriod"/>
            </a:pPr>
            <a:r>
              <a:rPr lang="en-US" sz="1400"/>
              <a:t>Just run through additional data:</a:t>
            </a:r>
          </a:p>
          <a:p>
            <a:pPr marL="701675" lvl="2" indent="-342900">
              <a:spcBef>
                <a:spcPts val="600"/>
              </a:spcBef>
              <a:spcAft>
                <a:spcPts val="600"/>
              </a:spcAft>
            </a:pPr>
            <a:r>
              <a:rPr lang="en-US" sz="1400" b="1"/>
              <a:t>Goes fast, but with how many iterations?</a:t>
            </a:r>
          </a:p>
          <a:p>
            <a:pPr marL="1003300" lvl="4" indent="-285750">
              <a:spcBef>
                <a:spcPts val="600"/>
              </a:spcBef>
              <a:spcAft>
                <a:spcPts val="600"/>
              </a:spcAft>
              <a:buFont typeface="Arial" panose="020B0604020202020204" pitchFamily="34" charset="0"/>
              <a:buChar char="•"/>
            </a:pPr>
            <a:r>
              <a:rPr lang="en-US" sz="1400"/>
              <a:t>Too less: the new data don’t really have an impact on the model</a:t>
            </a:r>
          </a:p>
          <a:p>
            <a:pPr marL="1003300" lvl="4" indent="-285750">
              <a:spcBef>
                <a:spcPts val="600"/>
              </a:spcBef>
              <a:spcAft>
                <a:spcPts val="600"/>
              </a:spcAft>
              <a:buFont typeface="Arial" panose="020B0604020202020204" pitchFamily="34" charset="0"/>
              <a:buChar char="•"/>
            </a:pPr>
            <a:r>
              <a:rPr lang="en-US" sz="1400"/>
              <a:t>Too much: the model won’t remember the old data</a:t>
            </a:r>
          </a:p>
          <a:p>
            <a:pPr marL="285750" indent="-285750">
              <a:spcBef>
                <a:spcPts val="600"/>
              </a:spcBef>
              <a:spcAft>
                <a:spcPts val="600"/>
              </a:spcAft>
              <a:buFont typeface="Arial" panose="020B0604020202020204" pitchFamily="34" charset="0"/>
              <a:buChar char="•"/>
            </a:pPr>
            <a:endParaRPr lang="en-US" sz="1400"/>
          </a:p>
          <a:p>
            <a:pPr>
              <a:spcBef>
                <a:spcPts val="600"/>
              </a:spcBef>
              <a:spcAft>
                <a:spcPts val="600"/>
              </a:spcAft>
            </a:pPr>
            <a:r>
              <a:rPr lang="en-US" sz="1400"/>
              <a:t>Example: Updating an existing model from the dataset with 630 train data with 300 new train data</a:t>
            </a:r>
          </a:p>
        </p:txBody>
      </p:sp>
      <p:sp>
        <p:nvSpPr>
          <p:cNvPr id="4" name="Textfeld 3">
            <a:extLst>
              <a:ext uri="{FF2B5EF4-FFF2-40B4-BE49-F238E27FC236}">
                <a16:creationId xmlns:a16="http://schemas.microsoft.com/office/drawing/2014/main" id="{E65CCA19-5A5F-4627-8047-5484E7F6F229}"/>
              </a:ext>
            </a:extLst>
          </p:cNvPr>
          <p:cNvSpPr txBox="1"/>
          <p:nvPr/>
        </p:nvSpPr>
        <p:spPr>
          <a:xfrm>
            <a:off x="640956" y="5696098"/>
            <a:ext cx="11074793" cy="605772"/>
          </a:xfrm>
          <a:prstGeom prst="rect">
            <a:avLst/>
          </a:prstGeom>
          <a:noFill/>
          <a:ln w="28575">
            <a:solidFill>
              <a:srgbClr val="00646E"/>
            </a:solidFill>
          </a:ln>
        </p:spPr>
        <p:txBody>
          <a:bodyPr wrap="none" lIns="0" tIns="0" rIns="0" bIns="0" rtlCol="0" anchor="ctr">
            <a:noAutofit/>
          </a:bodyPr>
          <a:lstStyle/>
          <a:p>
            <a:pPr algn="ct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There is no standard for updating an existing model. This must be solved individually.</a:t>
            </a:r>
          </a:p>
        </p:txBody>
      </p:sp>
    </p:spTree>
    <p:extLst>
      <p:ext uri="{BB962C8B-B14F-4D97-AF65-F5344CB8AC3E}">
        <p14:creationId xmlns:p14="http://schemas.microsoft.com/office/powerpoint/2010/main" val="1392069664"/>
      </p:ext>
    </p:extLst>
  </p:cSld>
  <p:clrMapOvr>
    <a:masterClrMapping/>
  </p:clrMapOvr>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82090D6C-7FA2-4842-8E08-EA259B777B8B}"/>
              </a:ext>
            </a:extLst>
          </p:cNvPr>
          <p:cNvSpPr>
            <a:spLocks noGrp="1"/>
          </p:cNvSpPr>
          <p:nvPr>
            <p:ph type="title"/>
          </p:nvPr>
        </p:nvSpPr>
        <p:spPr/>
        <p:txBody>
          <a:bodyPr/>
          <a:lstStyle/>
          <a:p>
            <a:r>
              <a:rPr lang="en-US"/>
              <a:t>Machine Learning in Python (Back Up)</a:t>
            </a:r>
          </a:p>
        </p:txBody>
      </p:sp>
      <p:sp>
        <p:nvSpPr>
          <p:cNvPr id="3" name="Inhaltsplatzhalter 2">
            <a:extLst>
              <a:ext uri="{FF2B5EF4-FFF2-40B4-BE49-F238E27FC236}">
                <a16:creationId xmlns:a16="http://schemas.microsoft.com/office/drawing/2014/main" id="{0EF4D9C8-AFC7-479B-AE2E-17CACAC811C0}"/>
              </a:ext>
            </a:extLst>
          </p:cNvPr>
          <p:cNvSpPr>
            <a:spLocks noGrp="1"/>
          </p:cNvSpPr>
          <p:nvPr>
            <p:ph idx="1"/>
          </p:nvPr>
        </p:nvSpPr>
        <p:spPr>
          <a:xfrm>
            <a:off x="627063" y="1440000"/>
            <a:ext cx="8820484" cy="4752000"/>
          </a:xfrm>
        </p:spPr>
        <p:txBody>
          <a:bodyPr/>
          <a:lstStyle/>
          <a:p>
            <a:pPr marL="285750" indent="-285750">
              <a:spcBef>
                <a:spcPts val="600"/>
              </a:spcBef>
              <a:spcAft>
                <a:spcPts val="600"/>
              </a:spcAft>
              <a:buFont typeface="Arial" panose="020B0604020202020204" pitchFamily="34" charset="0"/>
              <a:buChar char="•"/>
            </a:pPr>
            <a:r>
              <a:rPr lang="en-US"/>
              <a:t>In the MLinPython.ipynb script you have examples for the code of different Machine Learning algorithms:</a:t>
            </a:r>
          </a:p>
          <a:p>
            <a:pPr marL="285750" indent="-285750">
              <a:spcBef>
                <a:spcPts val="600"/>
              </a:spcBef>
              <a:spcAft>
                <a:spcPts val="600"/>
              </a:spcAft>
              <a:buFont typeface="Arial" panose="020B0604020202020204" pitchFamily="34" charset="0"/>
              <a:buChar char="•"/>
            </a:pPr>
            <a:endParaRPr lang="en-US"/>
          </a:p>
          <a:p>
            <a:pPr marL="465138" lvl="1" indent="-285750">
              <a:spcBef>
                <a:spcPts val="600"/>
              </a:spcBef>
              <a:spcAft>
                <a:spcPts val="600"/>
              </a:spcAft>
              <a:buFont typeface="Arial" panose="020B0604020202020204" pitchFamily="34" charset="0"/>
              <a:buChar char="•"/>
            </a:pPr>
            <a:r>
              <a:rPr lang="en-US"/>
              <a:t>Decision Tree – Classification (using Iris): </a:t>
            </a:r>
            <a:r>
              <a:rPr lang="en-US" b="1"/>
              <a:t>DecisionTreeClassifier</a:t>
            </a:r>
          </a:p>
          <a:p>
            <a:pPr marL="465138" lvl="1" indent="-285750">
              <a:spcBef>
                <a:spcPts val="600"/>
              </a:spcBef>
              <a:spcAft>
                <a:spcPts val="600"/>
              </a:spcAft>
              <a:buFont typeface="Arial" panose="020B0604020202020204" pitchFamily="34" charset="0"/>
              <a:buChar char="•"/>
            </a:pPr>
            <a:r>
              <a:rPr lang="en-US"/>
              <a:t>Random Forest – Classification (using Iris): </a:t>
            </a:r>
            <a:r>
              <a:rPr lang="en-US" b="1"/>
              <a:t>RandomForestClassifier</a:t>
            </a:r>
          </a:p>
          <a:p>
            <a:pPr marL="465138" lvl="1" indent="-285750">
              <a:spcBef>
                <a:spcPts val="600"/>
              </a:spcBef>
              <a:spcAft>
                <a:spcPts val="600"/>
              </a:spcAft>
              <a:buFont typeface="Arial" panose="020B0604020202020204" pitchFamily="34" charset="0"/>
              <a:buChar char="•"/>
            </a:pPr>
            <a:r>
              <a:rPr lang="en-US"/>
              <a:t>Neural Network – Classification (using Iris): </a:t>
            </a:r>
            <a:r>
              <a:rPr lang="en-US" b="1"/>
              <a:t>MLPClassifier</a:t>
            </a:r>
          </a:p>
          <a:p>
            <a:pPr marL="465138" lvl="1" indent="-285750">
              <a:spcBef>
                <a:spcPts val="600"/>
              </a:spcBef>
              <a:spcAft>
                <a:spcPts val="600"/>
              </a:spcAft>
              <a:buFont typeface="Arial" panose="020B0604020202020204" pitchFamily="34" charset="0"/>
              <a:buChar char="•"/>
            </a:pPr>
            <a:endParaRPr lang="en-US"/>
          </a:p>
          <a:p>
            <a:pPr marL="465138" lvl="1" indent="-285750">
              <a:spcBef>
                <a:spcPts val="600"/>
              </a:spcBef>
              <a:spcAft>
                <a:spcPts val="600"/>
              </a:spcAft>
              <a:buFont typeface="Arial" panose="020B0604020202020204" pitchFamily="34" charset="0"/>
              <a:buChar char="•"/>
            </a:pPr>
            <a:r>
              <a:rPr lang="en-US"/>
              <a:t>Decision Tree – Regression (using Bike Sharing): </a:t>
            </a:r>
            <a:r>
              <a:rPr lang="en-US" b="1"/>
              <a:t>DecisionTreeRegressor</a:t>
            </a:r>
          </a:p>
          <a:p>
            <a:pPr marL="465138" lvl="1" indent="-285750">
              <a:spcBef>
                <a:spcPts val="600"/>
              </a:spcBef>
              <a:spcAft>
                <a:spcPts val="600"/>
              </a:spcAft>
              <a:buFont typeface="Arial" panose="020B0604020202020204" pitchFamily="34" charset="0"/>
              <a:buChar char="•"/>
            </a:pPr>
            <a:r>
              <a:rPr lang="en-US"/>
              <a:t>Random Forest – Regression (using Bike Sharing): </a:t>
            </a:r>
            <a:r>
              <a:rPr lang="en-US" b="1"/>
              <a:t>RandomForestRegressor</a:t>
            </a:r>
          </a:p>
          <a:p>
            <a:pPr marL="465138" lvl="1" indent="-285750">
              <a:spcBef>
                <a:spcPts val="600"/>
              </a:spcBef>
              <a:spcAft>
                <a:spcPts val="600"/>
              </a:spcAft>
              <a:buFont typeface="Arial" panose="020B0604020202020204" pitchFamily="34" charset="0"/>
              <a:buChar char="•"/>
            </a:pPr>
            <a:r>
              <a:rPr lang="en-US"/>
              <a:t>Neural Network – Regression (using Bike Sharing): </a:t>
            </a:r>
            <a:r>
              <a:rPr lang="en-US" b="1"/>
              <a:t>MLPRegressor</a:t>
            </a:r>
          </a:p>
          <a:p>
            <a:pPr lvl="1" indent="0">
              <a:spcBef>
                <a:spcPts val="600"/>
              </a:spcBef>
              <a:spcAft>
                <a:spcPts val="600"/>
              </a:spcAft>
              <a:buNone/>
            </a:pPr>
            <a:endParaRPr lang="en-US"/>
          </a:p>
          <a:p>
            <a:pPr marL="465138" lvl="1" indent="-285750">
              <a:buFont typeface="Arial" panose="020B0604020202020204" pitchFamily="34" charset="0"/>
              <a:buChar char="•"/>
            </a:pPr>
            <a:endParaRPr lang="en-US"/>
          </a:p>
        </p:txBody>
      </p:sp>
      <p:sp>
        <p:nvSpPr>
          <p:cNvPr id="4" name="Rechteck 3">
            <a:extLst>
              <a:ext uri="{FF2B5EF4-FFF2-40B4-BE49-F238E27FC236}">
                <a16:creationId xmlns:a16="http://schemas.microsoft.com/office/drawing/2014/main" id="{5451DBE2-675A-4C23-9439-0031597B6348}"/>
              </a:ext>
            </a:extLst>
          </p:cNvPr>
          <p:cNvSpPr/>
          <p:nvPr/>
        </p:nvSpPr>
        <p:spPr bwMode="auto">
          <a:xfrm>
            <a:off x="0" y="6652933"/>
            <a:ext cx="1270000" cy="156133"/>
          </a:xfrm>
          <a:prstGeom prst="rect">
            <a:avLst/>
          </a:prstGeom>
          <a:noFill/>
          <a:ln>
            <a:noFill/>
          </a:ln>
          <a:effectLst/>
          <a:extLst>
            <a:ext uri="{909E8E84-426E-40DD-AFC4-6F175D3DCCD1}">
              <a14:hiddenFill xmlns:a14="http://schemas.microsoft.com/office/drawing/2010/main">
                <a:solidFill>
                  <a:schemeClr val="accent2"/>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0" tIns="0" rIns="0" bIns="0" numCol="1" spcCol="72000" rtlCol="0" anchor="ctr">
            <a:spAutoFit/>
          </a:bodyPr>
          <a:lstStyle/>
          <a:p>
            <a:pPr algn="ctr">
              <a:lnSpc>
                <a:spcPct val="110000"/>
              </a:lnSpc>
              <a:spcBef>
                <a:spcPct val="0"/>
              </a:spcBef>
              <a:buFont typeface="Wingdings" charset="0"/>
              <a:buNone/>
            </a:pPr>
            <a:r>
              <a:rPr lang="en-US" sz="1000">
                <a:solidFill>
                  <a:srgbClr val="000000"/>
                </a:solidFill>
                <a:latin typeface="+mn-lt"/>
                <a:ea typeface="Arial Unicode MS" panose="020B0604020202020204" pitchFamily="34" charset="-128"/>
                <a:cs typeface="Arial Unicode MS" panose="020B0604020202020204" pitchFamily="34" charset="-128"/>
              </a:rPr>
              <a:t>Intern</a:t>
            </a:r>
          </a:p>
        </p:txBody>
      </p:sp>
    </p:spTree>
    <p:extLst>
      <p:ext uri="{BB962C8B-B14F-4D97-AF65-F5344CB8AC3E}">
        <p14:creationId xmlns:p14="http://schemas.microsoft.com/office/powerpoint/2010/main" val="1797941104"/>
      </p:ext>
    </p:extLst>
  </p:cSld>
  <p:clrMapOvr>
    <a:masterClrMapping/>
  </p:clrMapOvr>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D9DB1B11-0B50-415A-9CBA-C1CDD7E1D6F9}"/>
              </a:ext>
            </a:extLst>
          </p:cNvPr>
          <p:cNvSpPr>
            <a:spLocks noGrp="1"/>
          </p:cNvSpPr>
          <p:nvPr>
            <p:ph type="title"/>
          </p:nvPr>
        </p:nvSpPr>
        <p:spPr/>
        <p:txBody>
          <a:bodyPr/>
          <a:lstStyle/>
          <a:p>
            <a:r>
              <a:rPr lang="en-US"/>
              <a:t>Machine Learning in Python (back up)</a:t>
            </a:r>
          </a:p>
        </p:txBody>
      </p:sp>
      <p:sp>
        <p:nvSpPr>
          <p:cNvPr id="3" name="Inhaltsplatzhalter 2">
            <a:extLst>
              <a:ext uri="{FF2B5EF4-FFF2-40B4-BE49-F238E27FC236}">
                <a16:creationId xmlns:a16="http://schemas.microsoft.com/office/drawing/2014/main" id="{35081057-F2F7-4F96-A4E3-DB5541F93CB3}"/>
              </a:ext>
            </a:extLst>
          </p:cNvPr>
          <p:cNvSpPr>
            <a:spLocks noGrp="1"/>
          </p:cNvSpPr>
          <p:nvPr>
            <p:ph idx="1"/>
          </p:nvPr>
        </p:nvSpPr>
        <p:spPr>
          <a:xfrm>
            <a:off x="627063" y="1440000"/>
            <a:ext cx="8892492" cy="1160908"/>
          </a:xfrm>
        </p:spPr>
        <p:txBody>
          <a:bodyPr/>
          <a:lstStyle/>
          <a:p>
            <a:pPr marL="285750" indent="-285750">
              <a:buFont typeface="Arial" panose="020B0604020202020204" pitchFamily="34" charset="0"/>
              <a:buChar char="•"/>
            </a:pPr>
            <a:r>
              <a:rPr lang="en-US"/>
              <a:t>For more details go to: </a:t>
            </a:r>
            <a:r>
              <a:rPr lang="en-US">
                <a:hlinkClick r:id="rId2"/>
              </a:rPr>
              <a:t>https://scikit-learn.org/stable/</a:t>
            </a:r>
            <a:endParaRPr lang="en-US"/>
          </a:p>
          <a:p>
            <a:pPr marL="285750" indent="-285750">
              <a:buFont typeface="Arial" panose="020B0604020202020204" pitchFamily="34" charset="0"/>
              <a:buChar char="•"/>
            </a:pPr>
            <a:r>
              <a:rPr lang="en-US"/>
              <a:t>Here you get an overview about the different tools and detailed descriptions of the different tools</a:t>
            </a:r>
          </a:p>
        </p:txBody>
      </p:sp>
      <p:pic>
        <p:nvPicPr>
          <p:cNvPr id="4" name="Grafik 3">
            <a:extLst>
              <a:ext uri="{FF2B5EF4-FFF2-40B4-BE49-F238E27FC236}">
                <a16:creationId xmlns:a16="http://schemas.microsoft.com/office/drawing/2014/main" id="{3AFD985B-77F4-4776-A24E-9761ACC93C7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627063" y="2418804"/>
            <a:ext cx="7353155" cy="3676578"/>
          </a:xfrm>
          <a:prstGeom prst="rect">
            <a:avLst/>
          </a:prstGeom>
        </p:spPr>
      </p:pic>
      <p:sp>
        <p:nvSpPr>
          <p:cNvPr id="5" name="Textfeld 4">
            <a:extLst>
              <a:ext uri="{FF2B5EF4-FFF2-40B4-BE49-F238E27FC236}">
                <a16:creationId xmlns:a16="http://schemas.microsoft.com/office/drawing/2014/main" id="{4E830EFA-D876-4E55-884B-C4292A935DDA}"/>
              </a:ext>
            </a:extLst>
          </p:cNvPr>
          <p:cNvSpPr txBox="1"/>
          <p:nvPr/>
        </p:nvSpPr>
        <p:spPr>
          <a:xfrm>
            <a:off x="8436292" y="2832100"/>
            <a:ext cx="914400" cy="914400"/>
          </a:xfrm>
          <a:prstGeom prst="rect">
            <a:avLst/>
          </a:prstGeom>
          <a:noFill/>
        </p:spPr>
        <p:txBody>
          <a:bodyPr wrap="non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Exact</a:t>
            </a:r>
            <a:r>
              <a:rPr lang="de-DE">
                <a:solidFill>
                  <a:schemeClr val="tx1"/>
                </a:solidFill>
                <a:latin typeface="+mn-lt"/>
                <a:ea typeface="Arial Unicode MS" panose="020B0604020202020204" pitchFamily="34" charset="-128"/>
                <a:cs typeface="Arial Unicode MS" panose="020B0604020202020204" pitchFamily="34" charset="-128"/>
              </a:rPr>
              <a:t> code</a:t>
            </a:r>
            <a:endParaRPr lang="en-US">
              <a:solidFill>
                <a:schemeClr val="tx1"/>
              </a:solidFill>
              <a:latin typeface="+mn-lt"/>
              <a:ea typeface="Arial Unicode MS" panose="020B0604020202020204" pitchFamily="34" charset="-128"/>
              <a:cs typeface="Arial Unicode MS" panose="020B0604020202020204" pitchFamily="34" charset="-128"/>
            </a:endParaRPr>
          </a:p>
        </p:txBody>
      </p:sp>
      <p:sp>
        <p:nvSpPr>
          <p:cNvPr id="6" name="Textfeld 5">
            <a:extLst>
              <a:ext uri="{FF2B5EF4-FFF2-40B4-BE49-F238E27FC236}">
                <a16:creationId xmlns:a16="http://schemas.microsoft.com/office/drawing/2014/main" id="{520DF9CA-78A1-4DFC-B342-A9CD3DA18064}"/>
              </a:ext>
            </a:extLst>
          </p:cNvPr>
          <p:cNvSpPr txBox="1"/>
          <p:nvPr/>
        </p:nvSpPr>
        <p:spPr>
          <a:xfrm>
            <a:off x="7616351" y="3695002"/>
            <a:ext cx="914400" cy="914400"/>
          </a:xfrm>
          <a:prstGeom prst="rect">
            <a:avLst/>
          </a:prstGeom>
          <a:noFill/>
        </p:spPr>
        <p:txBody>
          <a:bodyPr wrap="non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Possible parameters and default values</a:t>
            </a:r>
          </a:p>
        </p:txBody>
      </p:sp>
      <p:sp>
        <p:nvSpPr>
          <p:cNvPr id="7" name="Textfeld 6">
            <a:extLst>
              <a:ext uri="{FF2B5EF4-FFF2-40B4-BE49-F238E27FC236}">
                <a16:creationId xmlns:a16="http://schemas.microsoft.com/office/drawing/2014/main" id="{DE9B7AE2-D1BA-4D18-99CB-1451AD95329E}"/>
              </a:ext>
            </a:extLst>
          </p:cNvPr>
          <p:cNvSpPr txBox="1"/>
          <p:nvPr/>
        </p:nvSpPr>
        <p:spPr>
          <a:xfrm>
            <a:off x="7159151" y="4791042"/>
            <a:ext cx="914400" cy="914400"/>
          </a:xfrm>
          <a:prstGeom prst="rect">
            <a:avLst/>
          </a:prstGeom>
          <a:noFill/>
        </p:spPr>
        <p:txBody>
          <a:bodyPr wrap="non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Description of the parameters</a:t>
            </a:r>
          </a:p>
        </p:txBody>
      </p:sp>
      <p:sp>
        <p:nvSpPr>
          <p:cNvPr id="8" name="Textfeld 7">
            <a:extLst>
              <a:ext uri="{FF2B5EF4-FFF2-40B4-BE49-F238E27FC236}">
                <a16:creationId xmlns:a16="http://schemas.microsoft.com/office/drawing/2014/main" id="{A4AA9799-21A3-49AD-8579-21B7E56B82EA}"/>
              </a:ext>
            </a:extLst>
          </p:cNvPr>
          <p:cNvSpPr txBox="1"/>
          <p:nvPr/>
        </p:nvSpPr>
        <p:spPr>
          <a:xfrm>
            <a:off x="674352" y="4543692"/>
            <a:ext cx="914400" cy="914400"/>
          </a:xfrm>
          <a:prstGeom prst="rect">
            <a:avLst/>
          </a:prstGeom>
          <a:noFill/>
        </p:spPr>
        <p:txBody>
          <a:bodyPr wrap="none" lIns="0" tIns="0" rIns="0" bIns="0" rtlCol="0">
            <a:noAutofit/>
          </a:bodyPr>
          <a:lstStyle/>
          <a:p>
            <a:pPr>
              <a:lnSpc>
                <a:spcPct val="110000"/>
              </a:lnSpc>
              <a:spcBef>
                <a:spcPts val="0"/>
              </a:spcBef>
            </a:pPr>
            <a:r>
              <a:rPr lang="en-US">
                <a:solidFill>
                  <a:schemeClr val="tx1"/>
                </a:solidFill>
                <a:latin typeface="+mn-lt"/>
                <a:ea typeface="Arial Unicode MS" panose="020B0604020202020204" pitchFamily="34" charset="-128"/>
                <a:cs typeface="Arial Unicode MS" panose="020B0604020202020204" pitchFamily="34" charset="-128"/>
              </a:rPr>
              <a:t>Examples</a:t>
            </a:r>
          </a:p>
        </p:txBody>
      </p:sp>
      <p:sp>
        <p:nvSpPr>
          <p:cNvPr id="9" name="Textfeld 8">
            <a:extLst>
              <a:ext uri="{FF2B5EF4-FFF2-40B4-BE49-F238E27FC236}">
                <a16:creationId xmlns:a16="http://schemas.microsoft.com/office/drawing/2014/main" id="{CC70BD3F-CE49-4008-BE0D-59892FA1BF30}"/>
              </a:ext>
            </a:extLst>
          </p:cNvPr>
          <p:cNvSpPr txBox="1"/>
          <p:nvPr/>
        </p:nvSpPr>
        <p:spPr>
          <a:xfrm>
            <a:off x="5451103" y="6196013"/>
            <a:ext cx="914400" cy="914400"/>
          </a:xfrm>
          <a:prstGeom prst="rect">
            <a:avLst/>
          </a:prstGeom>
          <a:noFill/>
        </p:spPr>
        <p:txBody>
          <a:bodyPr wrap="none" lIns="0" tIns="0" rIns="0" bIns="0" rtlCol="0">
            <a:noAutofit/>
          </a:bodyPr>
          <a:lstStyle/>
          <a:p>
            <a:pPr>
              <a:lnSpc>
                <a:spcPct val="110000"/>
              </a:lnSpc>
              <a:spcBef>
                <a:spcPts val="0"/>
              </a:spcBef>
            </a:pPr>
            <a:r>
              <a:rPr lang="en-US" sz="1200">
                <a:hlinkClick r:id="rId4"/>
              </a:rPr>
              <a:t>https://scikit-learn.org/stable/modules/generated/sklearn.neural_network.MLPRegressor.html</a:t>
            </a:r>
            <a:endParaRPr lang="en-US" sz="1200">
              <a:solidFill>
                <a:schemeClr val="tx1"/>
              </a:solidFill>
              <a:latin typeface="+mn-lt"/>
              <a:ea typeface="Arial Unicode MS" panose="020B0604020202020204" pitchFamily="34" charset="-128"/>
              <a:cs typeface="Arial Unicode MS" panose="020B0604020202020204" pitchFamily="34" charset="-128"/>
            </a:endParaRPr>
          </a:p>
        </p:txBody>
      </p:sp>
      <p:cxnSp>
        <p:nvCxnSpPr>
          <p:cNvPr id="11" name="Gerade Verbindung mit Pfeil 10">
            <a:extLst>
              <a:ext uri="{FF2B5EF4-FFF2-40B4-BE49-F238E27FC236}">
                <a16:creationId xmlns:a16="http://schemas.microsoft.com/office/drawing/2014/main" id="{55D121F5-E3FA-45A1-A61F-FB7601207013}"/>
              </a:ext>
            </a:extLst>
          </p:cNvPr>
          <p:cNvCxnSpPr/>
          <p:nvPr/>
        </p:nvCxnSpPr>
        <p:spPr bwMode="auto">
          <a:xfrm flipH="1" flipV="1">
            <a:off x="6365503" y="2832100"/>
            <a:ext cx="2020516" cy="128848"/>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2" name="Gerade Verbindung mit Pfeil 11">
            <a:extLst>
              <a:ext uri="{FF2B5EF4-FFF2-40B4-BE49-F238E27FC236}">
                <a16:creationId xmlns:a16="http://schemas.microsoft.com/office/drawing/2014/main" id="{7573E082-6037-44E3-AE4D-EE231D51F254}"/>
              </a:ext>
            </a:extLst>
          </p:cNvPr>
          <p:cNvCxnSpPr/>
          <p:nvPr/>
        </p:nvCxnSpPr>
        <p:spPr bwMode="auto">
          <a:xfrm flipH="1" flipV="1">
            <a:off x="6243638" y="3429000"/>
            <a:ext cx="1279380" cy="367777"/>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4" name="Gerade Verbindung mit Pfeil 13">
            <a:extLst>
              <a:ext uri="{FF2B5EF4-FFF2-40B4-BE49-F238E27FC236}">
                <a16:creationId xmlns:a16="http://schemas.microsoft.com/office/drawing/2014/main" id="{3D90EB03-60E1-4A56-AF37-8E8851573080}"/>
              </a:ext>
            </a:extLst>
          </p:cNvPr>
          <p:cNvCxnSpPr/>
          <p:nvPr/>
        </p:nvCxnSpPr>
        <p:spPr bwMode="auto">
          <a:xfrm flipH="1" flipV="1">
            <a:off x="6099175" y="4624870"/>
            <a:ext cx="966644" cy="321210"/>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cxnSp>
        <p:nvCxnSpPr>
          <p:cNvPr id="17" name="Gerade Verbindung mit Pfeil 16">
            <a:extLst>
              <a:ext uri="{FF2B5EF4-FFF2-40B4-BE49-F238E27FC236}">
                <a16:creationId xmlns:a16="http://schemas.microsoft.com/office/drawing/2014/main" id="{BA31D674-57A3-437E-AC78-96786D28EAE7}"/>
              </a:ext>
            </a:extLst>
          </p:cNvPr>
          <p:cNvCxnSpPr/>
          <p:nvPr/>
        </p:nvCxnSpPr>
        <p:spPr bwMode="auto">
          <a:xfrm flipH="1" flipV="1">
            <a:off x="1187695" y="3942110"/>
            <a:ext cx="1" cy="567010"/>
          </a:xfrm>
          <a:prstGeom prst="straightConnector1">
            <a:avLst/>
          </a:prstGeom>
          <a:solidFill>
            <a:schemeClr val="tx2"/>
          </a:solidFill>
          <a:ln w="38100" cap="flat" cmpd="sng" algn="ctr">
            <a:solidFill>
              <a:schemeClr val="tx1"/>
            </a:solidFill>
            <a:prstDash val="solid"/>
            <a:round/>
            <a:headEnd type="none" w="med" len="med"/>
            <a:tailEnd type="triangle"/>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p:spPr>
      </p:cxnSp>
    </p:spTree>
    <p:extLst>
      <p:ext uri="{BB962C8B-B14F-4D97-AF65-F5344CB8AC3E}">
        <p14:creationId xmlns:p14="http://schemas.microsoft.com/office/powerpoint/2010/main" val="2398275837"/>
      </p:ext>
    </p:extLst>
  </p:cSld>
  <p:clrMapOvr>
    <a:masterClrMapping/>
  </p:clrMapOvr>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Elements and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
        <p:nvSpPr>
          <p:cNvPr id="5" name="Rechteck 4">
            <a:extLst>
              <a:ext uri="{FF2B5EF4-FFF2-40B4-BE49-F238E27FC236}">
                <a16:creationId xmlns:a16="http://schemas.microsoft.com/office/drawing/2014/main" id="{7768D6C3-4CD9-4596-ABD2-260F601C8C07}"/>
              </a:ext>
            </a:extLst>
          </p:cNvPr>
          <p:cNvSpPr/>
          <p:nvPr/>
        </p:nvSpPr>
        <p:spPr bwMode="auto">
          <a:xfrm>
            <a:off x="4659614" y="5769260"/>
            <a:ext cx="7539335" cy="720080"/>
          </a:xfrm>
          <a:prstGeom prst="rect">
            <a:avLst/>
          </a:prstGeom>
          <a:noFill/>
          <a:ln w="57150">
            <a:solidFill>
              <a:srgbClr val="50BED7"/>
            </a:solidFill>
          </a:ln>
          <a:effectLst/>
        </p:spPr>
        <p:txBody>
          <a:bodyPr wrap="square" lIns="108000" tIns="54000" rIns="108000" bIns="54000" numCol="1" spcCol="72000" rtlCol="0" anchor="ctr">
            <a:noAutofit/>
          </a:bodyPr>
          <a:lstStyle/>
          <a:p>
            <a:pPr marL="0" marR="0" lvl="0" indent="0" algn="ctr" defTabSz="914400" rtl="0" eaLnBrk="1" fontAlgn="base" latinLnBrk="0" hangingPunct="1">
              <a:lnSpc>
                <a:spcPct val="110000"/>
              </a:lnSpc>
              <a:spcBef>
                <a:spcPct val="0"/>
              </a:spcBef>
              <a:spcAft>
                <a:spcPct val="0"/>
              </a:spcAft>
              <a:buClrTx/>
              <a:buSzTx/>
              <a:buFont typeface="Wingdings" charset="0"/>
              <a:buNone/>
              <a:tabLst/>
              <a:defRPr/>
            </a:pPr>
            <a:endParaRPr kumimoji="0" lang="de-DE" sz="1800" b="0" i="0" u="none" strike="noStrike" kern="1200" cap="none" spc="0" normalizeH="0" baseline="0" noProof="0">
              <a:ln>
                <a:noFill/>
              </a:ln>
              <a:solidFill>
                <a:srgbClr val="000000"/>
              </a:solidFill>
              <a:effectLst/>
              <a:uLnTx/>
              <a:uFillTx/>
              <a:latin typeface="Arial"/>
              <a:ea typeface="Arial Unicode MS" panose="020B0604020202020204" pitchFamily="34" charset="-128"/>
              <a:cs typeface="Arial Unicode MS" panose="020B0604020202020204" pitchFamily="34" charset="-128"/>
            </a:endParaRPr>
          </a:p>
        </p:txBody>
      </p:sp>
    </p:spTree>
    <p:extLst>
      <p:ext uri="{BB962C8B-B14F-4D97-AF65-F5344CB8AC3E}">
        <p14:creationId xmlns:p14="http://schemas.microsoft.com/office/powerpoint/2010/main" val="3185347492"/>
      </p:ext>
    </p:extLst>
  </p:cSld>
  <p:clrMapOvr>
    <a:masterClrMapping/>
  </p:clrMapOvr>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9C16F536-ED44-43F5-9F0F-986E515A09FB}"/>
              </a:ext>
            </a:extLst>
          </p:cNvPr>
          <p:cNvSpPr>
            <a:spLocks noGrp="1"/>
          </p:cNvSpPr>
          <p:nvPr>
            <p:ph type="title"/>
          </p:nvPr>
        </p:nvSpPr>
        <p:spPr/>
        <p:txBody>
          <a:bodyPr/>
          <a:lstStyle/>
          <a:p>
            <a:r>
              <a:rPr lang="en-US"/>
              <a:t>What Could Be an Application in Your Business?</a:t>
            </a:r>
          </a:p>
        </p:txBody>
      </p:sp>
      <p:pic>
        <p:nvPicPr>
          <p:cNvPr id="10" name="Grafik 9">
            <a:extLst>
              <a:ext uri="{FF2B5EF4-FFF2-40B4-BE49-F238E27FC236}">
                <a16:creationId xmlns:a16="http://schemas.microsoft.com/office/drawing/2014/main" id="{07A95160-1D11-4C21-8D79-CBB232D10372}"/>
              </a:ext>
            </a:extLst>
          </p:cNvPr>
          <p:cNvPicPr>
            <a:picLocks noChangeAspect="1"/>
          </p:cNvPicPr>
          <p:nvPr/>
        </p:nvPicPr>
        <p:blipFill>
          <a:blip r:embed="rId2"/>
          <a:stretch>
            <a:fillRect/>
          </a:stretch>
        </p:blipFill>
        <p:spPr>
          <a:xfrm>
            <a:off x="664969" y="1592796"/>
            <a:ext cx="3438525" cy="866775"/>
          </a:xfrm>
          <a:prstGeom prst="rect">
            <a:avLst/>
          </a:prstGeom>
        </p:spPr>
      </p:pic>
      <p:pic>
        <p:nvPicPr>
          <p:cNvPr id="11" name="Grafik 10">
            <a:extLst>
              <a:ext uri="{FF2B5EF4-FFF2-40B4-BE49-F238E27FC236}">
                <a16:creationId xmlns:a16="http://schemas.microsoft.com/office/drawing/2014/main" id="{94B0AD8A-CDEF-4167-BC09-FA68FA382BF0}"/>
              </a:ext>
            </a:extLst>
          </p:cNvPr>
          <p:cNvPicPr>
            <a:picLocks noChangeAspect="1"/>
          </p:cNvPicPr>
          <p:nvPr/>
        </p:nvPicPr>
        <p:blipFill>
          <a:blip r:embed="rId3"/>
          <a:stretch>
            <a:fillRect/>
          </a:stretch>
        </p:blipFill>
        <p:spPr>
          <a:xfrm>
            <a:off x="4371987" y="1334947"/>
            <a:ext cx="1409700" cy="838200"/>
          </a:xfrm>
          <a:prstGeom prst="rect">
            <a:avLst/>
          </a:prstGeom>
        </p:spPr>
      </p:pic>
      <p:pic>
        <p:nvPicPr>
          <p:cNvPr id="12" name="Grafik 11">
            <a:extLst>
              <a:ext uri="{FF2B5EF4-FFF2-40B4-BE49-F238E27FC236}">
                <a16:creationId xmlns:a16="http://schemas.microsoft.com/office/drawing/2014/main" id="{5970C568-0ED1-4270-B6D2-2205612D3D18}"/>
              </a:ext>
            </a:extLst>
          </p:cNvPr>
          <p:cNvPicPr>
            <a:picLocks noChangeAspect="1"/>
          </p:cNvPicPr>
          <p:nvPr/>
        </p:nvPicPr>
        <p:blipFill>
          <a:blip r:embed="rId4"/>
          <a:stretch>
            <a:fillRect/>
          </a:stretch>
        </p:blipFill>
        <p:spPr>
          <a:xfrm>
            <a:off x="121864" y="2640027"/>
            <a:ext cx="2905125" cy="752475"/>
          </a:xfrm>
          <a:prstGeom prst="rect">
            <a:avLst/>
          </a:prstGeom>
        </p:spPr>
      </p:pic>
      <p:pic>
        <p:nvPicPr>
          <p:cNvPr id="13" name="Grafik 12">
            <a:extLst>
              <a:ext uri="{FF2B5EF4-FFF2-40B4-BE49-F238E27FC236}">
                <a16:creationId xmlns:a16="http://schemas.microsoft.com/office/drawing/2014/main" id="{928C75D0-AE44-40E4-B964-FBDB7790403F}"/>
              </a:ext>
            </a:extLst>
          </p:cNvPr>
          <p:cNvPicPr>
            <a:picLocks noChangeAspect="1"/>
          </p:cNvPicPr>
          <p:nvPr/>
        </p:nvPicPr>
        <p:blipFill>
          <a:blip r:embed="rId5"/>
          <a:stretch>
            <a:fillRect/>
          </a:stretch>
        </p:blipFill>
        <p:spPr>
          <a:xfrm>
            <a:off x="3084766" y="2455492"/>
            <a:ext cx="1647825" cy="847725"/>
          </a:xfrm>
          <a:prstGeom prst="rect">
            <a:avLst/>
          </a:prstGeom>
        </p:spPr>
      </p:pic>
      <p:pic>
        <p:nvPicPr>
          <p:cNvPr id="14" name="Grafik 13">
            <a:extLst>
              <a:ext uri="{FF2B5EF4-FFF2-40B4-BE49-F238E27FC236}">
                <a16:creationId xmlns:a16="http://schemas.microsoft.com/office/drawing/2014/main" id="{E4EF361B-2E8F-4CF6-AE88-357693B57EB0}"/>
              </a:ext>
            </a:extLst>
          </p:cNvPr>
          <p:cNvPicPr>
            <a:picLocks noChangeAspect="1"/>
          </p:cNvPicPr>
          <p:nvPr/>
        </p:nvPicPr>
        <p:blipFill>
          <a:blip r:embed="rId6"/>
          <a:stretch>
            <a:fillRect/>
          </a:stretch>
        </p:blipFill>
        <p:spPr>
          <a:xfrm>
            <a:off x="304180" y="3600284"/>
            <a:ext cx="3057525" cy="1133475"/>
          </a:xfrm>
          <a:prstGeom prst="rect">
            <a:avLst/>
          </a:prstGeom>
        </p:spPr>
      </p:pic>
      <p:pic>
        <p:nvPicPr>
          <p:cNvPr id="15" name="Grafik 14">
            <a:extLst>
              <a:ext uri="{FF2B5EF4-FFF2-40B4-BE49-F238E27FC236}">
                <a16:creationId xmlns:a16="http://schemas.microsoft.com/office/drawing/2014/main" id="{BA2EE134-BCD3-4AD0-A330-FDA71BAC39CD}"/>
              </a:ext>
            </a:extLst>
          </p:cNvPr>
          <p:cNvPicPr>
            <a:picLocks noChangeAspect="1"/>
          </p:cNvPicPr>
          <p:nvPr/>
        </p:nvPicPr>
        <p:blipFill>
          <a:blip r:embed="rId7"/>
          <a:stretch>
            <a:fillRect/>
          </a:stretch>
        </p:blipFill>
        <p:spPr>
          <a:xfrm>
            <a:off x="6010287" y="1073683"/>
            <a:ext cx="2943225" cy="1038225"/>
          </a:xfrm>
          <a:prstGeom prst="rect">
            <a:avLst/>
          </a:prstGeom>
        </p:spPr>
      </p:pic>
      <p:pic>
        <p:nvPicPr>
          <p:cNvPr id="16" name="Grafik 15">
            <a:extLst>
              <a:ext uri="{FF2B5EF4-FFF2-40B4-BE49-F238E27FC236}">
                <a16:creationId xmlns:a16="http://schemas.microsoft.com/office/drawing/2014/main" id="{858F7B6E-52D8-46A0-83CF-656C95E4EADD}"/>
              </a:ext>
            </a:extLst>
          </p:cNvPr>
          <p:cNvPicPr>
            <a:picLocks noChangeAspect="1"/>
          </p:cNvPicPr>
          <p:nvPr/>
        </p:nvPicPr>
        <p:blipFill>
          <a:blip r:embed="rId8"/>
          <a:stretch>
            <a:fillRect/>
          </a:stretch>
        </p:blipFill>
        <p:spPr>
          <a:xfrm>
            <a:off x="4701427" y="2308891"/>
            <a:ext cx="1866900" cy="847725"/>
          </a:xfrm>
          <a:prstGeom prst="rect">
            <a:avLst/>
          </a:prstGeom>
        </p:spPr>
      </p:pic>
      <p:pic>
        <p:nvPicPr>
          <p:cNvPr id="17" name="Grafik 16">
            <a:extLst>
              <a:ext uri="{FF2B5EF4-FFF2-40B4-BE49-F238E27FC236}">
                <a16:creationId xmlns:a16="http://schemas.microsoft.com/office/drawing/2014/main" id="{8243EA78-F3E7-4E75-9297-6D99520BB7D4}"/>
              </a:ext>
            </a:extLst>
          </p:cNvPr>
          <p:cNvPicPr>
            <a:picLocks noChangeAspect="1"/>
          </p:cNvPicPr>
          <p:nvPr/>
        </p:nvPicPr>
        <p:blipFill>
          <a:blip r:embed="rId9"/>
          <a:stretch>
            <a:fillRect/>
          </a:stretch>
        </p:blipFill>
        <p:spPr>
          <a:xfrm>
            <a:off x="3502507" y="3426794"/>
            <a:ext cx="1819275" cy="571500"/>
          </a:xfrm>
          <a:prstGeom prst="rect">
            <a:avLst/>
          </a:prstGeom>
        </p:spPr>
      </p:pic>
      <p:pic>
        <p:nvPicPr>
          <p:cNvPr id="18" name="Grafik 17">
            <a:extLst>
              <a:ext uri="{FF2B5EF4-FFF2-40B4-BE49-F238E27FC236}">
                <a16:creationId xmlns:a16="http://schemas.microsoft.com/office/drawing/2014/main" id="{78D2E144-446F-492F-9D57-13E72D5D494A}"/>
              </a:ext>
            </a:extLst>
          </p:cNvPr>
          <p:cNvPicPr>
            <a:picLocks noChangeAspect="1"/>
          </p:cNvPicPr>
          <p:nvPr/>
        </p:nvPicPr>
        <p:blipFill>
          <a:blip r:embed="rId10"/>
          <a:stretch>
            <a:fillRect/>
          </a:stretch>
        </p:blipFill>
        <p:spPr>
          <a:xfrm>
            <a:off x="9096387" y="1537366"/>
            <a:ext cx="2657475" cy="771525"/>
          </a:xfrm>
          <a:prstGeom prst="rect">
            <a:avLst/>
          </a:prstGeom>
        </p:spPr>
      </p:pic>
      <p:pic>
        <p:nvPicPr>
          <p:cNvPr id="19" name="Grafik 18">
            <a:extLst>
              <a:ext uri="{FF2B5EF4-FFF2-40B4-BE49-F238E27FC236}">
                <a16:creationId xmlns:a16="http://schemas.microsoft.com/office/drawing/2014/main" id="{CF436D68-3BFE-4E34-8058-BFCD961ED0E4}"/>
              </a:ext>
            </a:extLst>
          </p:cNvPr>
          <p:cNvPicPr>
            <a:picLocks noChangeAspect="1"/>
          </p:cNvPicPr>
          <p:nvPr/>
        </p:nvPicPr>
        <p:blipFill>
          <a:blip r:embed="rId11"/>
          <a:stretch>
            <a:fillRect/>
          </a:stretch>
        </p:blipFill>
        <p:spPr>
          <a:xfrm>
            <a:off x="6577440" y="2117489"/>
            <a:ext cx="3228975" cy="790575"/>
          </a:xfrm>
          <a:prstGeom prst="rect">
            <a:avLst/>
          </a:prstGeom>
        </p:spPr>
      </p:pic>
      <p:pic>
        <p:nvPicPr>
          <p:cNvPr id="20" name="Grafik 19">
            <a:extLst>
              <a:ext uri="{FF2B5EF4-FFF2-40B4-BE49-F238E27FC236}">
                <a16:creationId xmlns:a16="http://schemas.microsoft.com/office/drawing/2014/main" id="{936EC222-FC67-4FF0-9D20-E4017CA4BB9C}"/>
              </a:ext>
            </a:extLst>
          </p:cNvPr>
          <p:cNvPicPr>
            <a:picLocks noChangeAspect="1"/>
          </p:cNvPicPr>
          <p:nvPr/>
        </p:nvPicPr>
        <p:blipFill>
          <a:blip r:embed="rId12"/>
          <a:stretch>
            <a:fillRect/>
          </a:stretch>
        </p:blipFill>
        <p:spPr>
          <a:xfrm>
            <a:off x="5696787" y="3172172"/>
            <a:ext cx="3171825" cy="781050"/>
          </a:xfrm>
          <a:prstGeom prst="rect">
            <a:avLst/>
          </a:prstGeom>
        </p:spPr>
      </p:pic>
      <p:pic>
        <p:nvPicPr>
          <p:cNvPr id="21" name="Grafik 20">
            <a:extLst>
              <a:ext uri="{FF2B5EF4-FFF2-40B4-BE49-F238E27FC236}">
                <a16:creationId xmlns:a16="http://schemas.microsoft.com/office/drawing/2014/main" id="{C1659025-B1FC-45E6-A1D6-D1D2B7DE68DA}"/>
              </a:ext>
            </a:extLst>
          </p:cNvPr>
          <p:cNvPicPr>
            <a:picLocks noChangeAspect="1"/>
          </p:cNvPicPr>
          <p:nvPr/>
        </p:nvPicPr>
        <p:blipFill>
          <a:blip r:embed="rId13"/>
          <a:stretch>
            <a:fillRect/>
          </a:stretch>
        </p:blipFill>
        <p:spPr>
          <a:xfrm>
            <a:off x="3377698" y="4102081"/>
            <a:ext cx="2876550" cy="819150"/>
          </a:xfrm>
          <a:prstGeom prst="rect">
            <a:avLst/>
          </a:prstGeom>
        </p:spPr>
      </p:pic>
      <p:pic>
        <p:nvPicPr>
          <p:cNvPr id="22" name="Grafik 21">
            <a:extLst>
              <a:ext uri="{FF2B5EF4-FFF2-40B4-BE49-F238E27FC236}">
                <a16:creationId xmlns:a16="http://schemas.microsoft.com/office/drawing/2014/main" id="{A7175C21-8487-4A14-B3EC-AC5921CFC5B8}"/>
              </a:ext>
            </a:extLst>
          </p:cNvPr>
          <p:cNvPicPr>
            <a:picLocks noChangeAspect="1"/>
          </p:cNvPicPr>
          <p:nvPr/>
        </p:nvPicPr>
        <p:blipFill>
          <a:blip r:embed="rId14"/>
          <a:stretch>
            <a:fillRect/>
          </a:stretch>
        </p:blipFill>
        <p:spPr>
          <a:xfrm>
            <a:off x="702452" y="4702754"/>
            <a:ext cx="2190750" cy="1533525"/>
          </a:xfrm>
          <a:prstGeom prst="rect">
            <a:avLst/>
          </a:prstGeom>
        </p:spPr>
      </p:pic>
      <p:pic>
        <p:nvPicPr>
          <p:cNvPr id="23" name="Grafik 22">
            <a:extLst>
              <a:ext uri="{FF2B5EF4-FFF2-40B4-BE49-F238E27FC236}">
                <a16:creationId xmlns:a16="http://schemas.microsoft.com/office/drawing/2014/main" id="{AAE6CD36-66B8-4438-AF63-252130B37F09}"/>
              </a:ext>
            </a:extLst>
          </p:cNvPr>
          <p:cNvPicPr>
            <a:picLocks noChangeAspect="1"/>
          </p:cNvPicPr>
          <p:nvPr/>
        </p:nvPicPr>
        <p:blipFill>
          <a:blip r:embed="rId15"/>
          <a:stretch>
            <a:fillRect/>
          </a:stretch>
        </p:blipFill>
        <p:spPr>
          <a:xfrm>
            <a:off x="9096387" y="2750958"/>
            <a:ext cx="2514600" cy="1019175"/>
          </a:xfrm>
          <a:prstGeom prst="rect">
            <a:avLst/>
          </a:prstGeom>
        </p:spPr>
      </p:pic>
      <p:pic>
        <p:nvPicPr>
          <p:cNvPr id="24" name="Grafik 23">
            <a:extLst>
              <a:ext uri="{FF2B5EF4-FFF2-40B4-BE49-F238E27FC236}">
                <a16:creationId xmlns:a16="http://schemas.microsoft.com/office/drawing/2014/main" id="{228DF32B-2C0F-4BF5-9DD1-9141C35FC2F0}"/>
              </a:ext>
            </a:extLst>
          </p:cNvPr>
          <p:cNvPicPr>
            <a:picLocks noChangeAspect="1"/>
          </p:cNvPicPr>
          <p:nvPr/>
        </p:nvPicPr>
        <p:blipFill>
          <a:blip r:embed="rId16"/>
          <a:stretch>
            <a:fillRect/>
          </a:stretch>
        </p:blipFill>
        <p:spPr>
          <a:xfrm>
            <a:off x="3102168" y="5909197"/>
            <a:ext cx="1390650" cy="790575"/>
          </a:xfrm>
          <a:prstGeom prst="rect">
            <a:avLst/>
          </a:prstGeom>
        </p:spPr>
      </p:pic>
      <p:pic>
        <p:nvPicPr>
          <p:cNvPr id="25" name="Grafik 24">
            <a:extLst>
              <a:ext uri="{FF2B5EF4-FFF2-40B4-BE49-F238E27FC236}">
                <a16:creationId xmlns:a16="http://schemas.microsoft.com/office/drawing/2014/main" id="{BAF8A795-2A8C-4F1B-A2A5-DAA9FE92E6EC}"/>
              </a:ext>
            </a:extLst>
          </p:cNvPr>
          <p:cNvPicPr>
            <a:picLocks noChangeAspect="1"/>
          </p:cNvPicPr>
          <p:nvPr/>
        </p:nvPicPr>
        <p:blipFill>
          <a:blip r:embed="rId17"/>
          <a:stretch>
            <a:fillRect/>
          </a:stretch>
        </p:blipFill>
        <p:spPr>
          <a:xfrm>
            <a:off x="3063640" y="5025018"/>
            <a:ext cx="2486025" cy="742950"/>
          </a:xfrm>
          <a:prstGeom prst="rect">
            <a:avLst/>
          </a:prstGeom>
        </p:spPr>
      </p:pic>
      <p:pic>
        <p:nvPicPr>
          <p:cNvPr id="26" name="Grafik 25">
            <a:extLst>
              <a:ext uri="{FF2B5EF4-FFF2-40B4-BE49-F238E27FC236}">
                <a16:creationId xmlns:a16="http://schemas.microsoft.com/office/drawing/2014/main" id="{7F5C4E22-748B-4BA3-B7D4-EFE0AE6B6E8F}"/>
              </a:ext>
            </a:extLst>
          </p:cNvPr>
          <p:cNvPicPr>
            <a:picLocks noChangeAspect="1"/>
          </p:cNvPicPr>
          <p:nvPr/>
        </p:nvPicPr>
        <p:blipFill>
          <a:blip r:embed="rId18"/>
          <a:stretch>
            <a:fillRect/>
          </a:stretch>
        </p:blipFill>
        <p:spPr>
          <a:xfrm>
            <a:off x="2382698" y="1167581"/>
            <a:ext cx="1905000" cy="361950"/>
          </a:xfrm>
          <a:prstGeom prst="rect">
            <a:avLst/>
          </a:prstGeom>
        </p:spPr>
      </p:pic>
      <p:pic>
        <p:nvPicPr>
          <p:cNvPr id="27" name="Grafik 26">
            <a:extLst>
              <a:ext uri="{FF2B5EF4-FFF2-40B4-BE49-F238E27FC236}">
                <a16:creationId xmlns:a16="http://schemas.microsoft.com/office/drawing/2014/main" id="{E4D69A02-BADD-4580-A7ED-DF086F64F14B}"/>
              </a:ext>
            </a:extLst>
          </p:cNvPr>
          <p:cNvPicPr>
            <a:picLocks noChangeAspect="1"/>
          </p:cNvPicPr>
          <p:nvPr/>
        </p:nvPicPr>
        <p:blipFill>
          <a:blip r:embed="rId19"/>
          <a:stretch>
            <a:fillRect/>
          </a:stretch>
        </p:blipFill>
        <p:spPr>
          <a:xfrm>
            <a:off x="5756755" y="4873758"/>
            <a:ext cx="2257425" cy="923925"/>
          </a:xfrm>
          <a:prstGeom prst="rect">
            <a:avLst/>
          </a:prstGeom>
        </p:spPr>
      </p:pic>
      <p:pic>
        <p:nvPicPr>
          <p:cNvPr id="29" name="Grafik 28">
            <a:extLst>
              <a:ext uri="{FF2B5EF4-FFF2-40B4-BE49-F238E27FC236}">
                <a16:creationId xmlns:a16="http://schemas.microsoft.com/office/drawing/2014/main" id="{1A6F9B7C-5543-4EB2-A43B-703F86D9F45D}"/>
              </a:ext>
            </a:extLst>
          </p:cNvPr>
          <p:cNvPicPr>
            <a:picLocks noChangeAspect="1"/>
          </p:cNvPicPr>
          <p:nvPr/>
        </p:nvPicPr>
        <p:blipFill>
          <a:blip r:embed="rId20"/>
          <a:stretch>
            <a:fillRect/>
          </a:stretch>
        </p:blipFill>
        <p:spPr>
          <a:xfrm>
            <a:off x="8233533" y="5120069"/>
            <a:ext cx="3914775" cy="1066800"/>
          </a:xfrm>
          <a:prstGeom prst="rect">
            <a:avLst/>
          </a:prstGeom>
        </p:spPr>
      </p:pic>
      <p:pic>
        <p:nvPicPr>
          <p:cNvPr id="30" name="Grafik 29">
            <a:extLst>
              <a:ext uri="{FF2B5EF4-FFF2-40B4-BE49-F238E27FC236}">
                <a16:creationId xmlns:a16="http://schemas.microsoft.com/office/drawing/2014/main" id="{2D8CC7B8-7198-48F9-B890-51C203768368}"/>
              </a:ext>
            </a:extLst>
          </p:cNvPr>
          <p:cNvPicPr>
            <a:picLocks noChangeAspect="1"/>
          </p:cNvPicPr>
          <p:nvPr/>
        </p:nvPicPr>
        <p:blipFill>
          <a:blip r:embed="rId21"/>
          <a:stretch>
            <a:fillRect/>
          </a:stretch>
        </p:blipFill>
        <p:spPr>
          <a:xfrm>
            <a:off x="4511872" y="5943242"/>
            <a:ext cx="4000500" cy="752475"/>
          </a:xfrm>
          <a:prstGeom prst="rect">
            <a:avLst/>
          </a:prstGeom>
        </p:spPr>
      </p:pic>
      <p:pic>
        <p:nvPicPr>
          <p:cNvPr id="31" name="Grafik 30">
            <a:extLst>
              <a:ext uri="{FF2B5EF4-FFF2-40B4-BE49-F238E27FC236}">
                <a16:creationId xmlns:a16="http://schemas.microsoft.com/office/drawing/2014/main" id="{041156BD-D93C-464B-AEC3-E5FC0B17280C}"/>
              </a:ext>
            </a:extLst>
          </p:cNvPr>
          <p:cNvPicPr>
            <a:picLocks noChangeAspect="1"/>
          </p:cNvPicPr>
          <p:nvPr/>
        </p:nvPicPr>
        <p:blipFill>
          <a:blip r:embed="rId22"/>
          <a:stretch>
            <a:fillRect/>
          </a:stretch>
        </p:blipFill>
        <p:spPr>
          <a:xfrm>
            <a:off x="9364402" y="3914279"/>
            <a:ext cx="2647950" cy="1181100"/>
          </a:xfrm>
          <a:prstGeom prst="rect">
            <a:avLst/>
          </a:prstGeom>
        </p:spPr>
      </p:pic>
      <p:pic>
        <p:nvPicPr>
          <p:cNvPr id="28" name="Grafik 27">
            <a:extLst>
              <a:ext uri="{FF2B5EF4-FFF2-40B4-BE49-F238E27FC236}">
                <a16:creationId xmlns:a16="http://schemas.microsoft.com/office/drawing/2014/main" id="{8D2B9EF1-A2C9-4C7C-9F01-54FCE1DECC27}"/>
              </a:ext>
            </a:extLst>
          </p:cNvPr>
          <p:cNvPicPr>
            <a:picLocks noChangeAspect="1"/>
          </p:cNvPicPr>
          <p:nvPr/>
        </p:nvPicPr>
        <p:blipFill>
          <a:blip r:embed="rId23"/>
          <a:stretch>
            <a:fillRect/>
          </a:stretch>
        </p:blipFill>
        <p:spPr>
          <a:xfrm>
            <a:off x="6577440" y="4136310"/>
            <a:ext cx="2676525" cy="838200"/>
          </a:xfrm>
          <a:prstGeom prst="rect">
            <a:avLst/>
          </a:prstGeom>
        </p:spPr>
      </p:pic>
    </p:spTree>
    <p:extLst>
      <p:ext uri="{BB962C8B-B14F-4D97-AF65-F5344CB8AC3E}">
        <p14:creationId xmlns:p14="http://schemas.microsoft.com/office/powerpoint/2010/main" val="2115524367"/>
      </p:ext>
    </p:extLst>
  </p:cSld>
  <p:clrMapOvr>
    <a:masterClrMapping/>
  </p:clrMapOvr>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7A00FC-F6FA-442A-B717-9468BF7A288F}"/>
              </a:ext>
            </a:extLst>
          </p:cNvPr>
          <p:cNvSpPr>
            <a:spLocks noGrp="1"/>
          </p:cNvSpPr>
          <p:nvPr>
            <p:ph type="title"/>
          </p:nvPr>
        </p:nvSpPr>
        <p:spPr/>
        <p:txBody>
          <a:bodyPr/>
          <a:lstStyle/>
          <a:p>
            <a:pPr>
              <a:lnSpc>
                <a:spcPct val="125000"/>
              </a:lnSpc>
            </a:pPr>
            <a:r>
              <a:rPr lang="en-US" sz="1400"/>
              <a:t>3. Application Insights</a:t>
            </a:r>
            <a:br>
              <a:rPr lang="en-US"/>
            </a:br>
            <a:r>
              <a:rPr lang="en-US"/>
              <a:t>Challenges of Machine Learning Application in Turbine Eng.</a:t>
            </a:r>
          </a:p>
        </p:txBody>
      </p:sp>
      <p:sp>
        <p:nvSpPr>
          <p:cNvPr id="5" name="Titel 1">
            <a:extLst>
              <a:ext uri="{FF2B5EF4-FFF2-40B4-BE49-F238E27FC236}">
                <a16:creationId xmlns:a16="http://schemas.microsoft.com/office/drawing/2014/main" id="{1C27725D-D437-4821-9504-6CB88F6AD93F}"/>
              </a:ext>
            </a:extLst>
          </p:cNvPr>
          <p:cNvSpPr txBox="1">
            <a:spLocks/>
          </p:cNvSpPr>
          <p:nvPr/>
        </p:nvSpPr>
        <p:spPr bwMode="auto">
          <a:xfrm>
            <a:off x="627113" y="5796000"/>
            <a:ext cx="11088686" cy="396000"/>
          </a:xfrm>
          <a:prstGeom prst="rect">
            <a:avLst/>
          </a:prstGeom>
          <a:noFill/>
          <a:ln w="9525">
            <a:solidFill>
              <a:schemeClr val="accent1"/>
            </a:solidFill>
            <a:miter lim="800000"/>
            <a:headEnd/>
            <a:tailEnd/>
          </a:ln>
        </p:spPr>
        <p:txBody>
          <a:bodyPr vert="horz" wrap="square" lIns="180000" tIns="432000" rIns="180000" bIns="432000" numCol="1" anchor="ctr" anchorCtr="0" compatLnSpc="1">
            <a:prstTxWarp prst="textNoShape">
              <a:avLst/>
            </a:prstTxWarp>
            <a:noAutofit/>
          </a:bodyPr>
          <a:lstStyle>
            <a:lvl1pPr algn="l" rtl="0" fontAlgn="base">
              <a:spcBef>
                <a:spcPct val="0"/>
              </a:spcBef>
              <a:spcAft>
                <a:spcPct val="0"/>
              </a:spcAft>
              <a:defRPr sz="2200" b="1">
                <a:solidFill>
                  <a:srgbClr val="00646E"/>
                </a:solidFill>
                <a:latin typeface="Arial" pitchFamily="34" charset="0"/>
                <a:ea typeface="+mj-ea"/>
                <a:cs typeface="Arial" pitchFamily="34" charset="0"/>
              </a:defRPr>
            </a:lvl1pPr>
            <a:lvl2pPr algn="l" rtl="0" fontAlgn="base">
              <a:spcBef>
                <a:spcPct val="0"/>
              </a:spcBef>
              <a:spcAft>
                <a:spcPct val="0"/>
              </a:spcAft>
              <a:defRPr sz="2000" b="1">
                <a:solidFill>
                  <a:schemeClr val="tx1"/>
                </a:solidFill>
                <a:latin typeface="Arial" charset="0"/>
                <a:ea typeface="ＭＳ Ｐゴシック" charset="-128"/>
              </a:defRPr>
            </a:lvl2pPr>
            <a:lvl3pPr algn="l" rtl="0" fontAlgn="base">
              <a:spcBef>
                <a:spcPct val="0"/>
              </a:spcBef>
              <a:spcAft>
                <a:spcPct val="0"/>
              </a:spcAft>
              <a:defRPr sz="2000" b="1">
                <a:solidFill>
                  <a:schemeClr val="tx1"/>
                </a:solidFill>
                <a:latin typeface="Arial" charset="0"/>
                <a:ea typeface="ＭＳ Ｐゴシック" charset="-128"/>
              </a:defRPr>
            </a:lvl3pPr>
            <a:lvl4pPr algn="l" rtl="0" fontAlgn="base">
              <a:spcBef>
                <a:spcPct val="0"/>
              </a:spcBef>
              <a:spcAft>
                <a:spcPct val="0"/>
              </a:spcAft>
              <a:defRPr sz="2000" b="1">
                <a:solidFill>
                  <a:schemeClr val="tx1"/>
                </a:solidFill>
                <a:latin typeface="Arial" charset="0"/>
                <a:ea typeface="ＭＳ Ｐゴシック" charset="-128"/>
              </a:defRPr>
            </a:lvl4pPr>
            <a:lvl5pPr algn="l" rtl="0" fontAlgn="base">
              <a:spcBef>
                <a:spcPct val="0"/>
              </a:spcBef>
              <a:spcAft>
                <a:spcPct val="0"/>
              </a:spcAft>
              <a:defRPr sz="2000" b="1">
                <a:solidFill>
                  <a:schemeClr val="tx1"/>
                </a:solidFill>
                <a:latin typeface="Arial" charset="0"/>
                <a:ea typeface="ＭＳ Ｐゴシック" charset="-128"/>
              </a:defRPr>
            </a:lvl5pPr>
            <a:lvl6pPr marL="457200" algn="l" rtl="0" eaLnBrk="1" fontAlgn="base" hangingPunct="1">
              <a:spcBef>
                <a:spcPct val="0"/>
              </a:spcBef>
              <a:spcAft>
                <a:spcPct val="0"/>
              </a:spcAft>
              <a:defRPr sz="2000" b="1">
                <a:solidFill>
                  <a:schemeClr val="tx1"/>
                </a:solidFill>
                <a:latin typeface="Arial" charset="0"/>
                <a:ea typeface="ヒラギノ角ゴ Pro W3" charset="0"/>
              </a:defRPr>
            </a:lvl6pPr>
            <a:lvl7pPr marL="914400" algn="l" rtl="0" eaLnBrk="1" fontAlgn="base" hangingPunct="1">
              <a:spcBef>
                <a:spcPct val="0"/>
              </a:spcBef>
              <a:spcAft>
                <a:spcPct val="0"/>
              </a:spcAft>
              <a:defRPr sz="2000" b="1">
                <a:solidFill>
                  <a:schemeClr val="tx1"/>
                </a:solidFill>
                <a:latin typeface="Arial" charset="0"/>
                <a:ea typeface="ヒラギノ角ゴ Pro W3" charset="0"/>
              </a:defRPr>
            </a:lvl7pPr>
            <a:lvl8pPr marL="1371600" algn="l" rtl="0" eaLnBrk="1" fontAlgn="base" hangingPunct="1">
              <a:spcBef>
                <a:spcPct val="0"/>
              </a:spcBef>
              <a:spcAft>
                <a:spcPct val="0"/>
              </a:spcAft>
              <a:defRPr sz="2000" b="1">
                <a:solidFill>
                  <a:schemeClr val="tx1"/>
                </a:solidFill>
                <a:latin typeface="Arial" charset="0"/>
                <a:ea typeface="ヒラギノ角ゴ Pro W3" charset="0"/>
              </a:defRPr>
            </a:lvl8pPr>
            <a:lvl9pPr marL="1828800" algn="l" rtl="0" eaLnBrk="1" fontAlgn="base" hangingPunct="1">
              <a:spcBef>
                <a:spcPct val="0"/>
              </a:spcBef>
              <a:spcAft>
                <a:spcPct val="0"/>
              </a:spcAft>
              <a:defRPr sz="2000" b="1">
                <a:solidFill>
                  <a:schemeClr val="tx1"/>
                </a:solidFill>
                <a:latin typeface="Arial" charset="0"/>
                <a:ea typeface="ヒラギノ角ゴ Pro W3" charset="0"/>
              </a:defRPr>
            </a:lvl9pPr>
          </a:lstStyle>
          <a:p>
            <a:pPr algn="ctr"/>
            <a:r>
              <a:rPr lang="en-US" sz="1800"/>
              <a:t>Machine Learning is best applied if an output variable is measured (“labeled data”).</a:t>
            </a:r>
          </a:p>
        </p:txBody>
      </p:sp>
      <p:grpSp>
        <p:nvGrpSpPr>
          <p:cNvPr id="6" name="Gruppieren 5">
            <a:extLst>
              <a:ext uri="{FF2B5EF4-FFF2-40B4-BE49-F238E27FC236}">
                <a16:creationId xmlns:a16="http://schemas.microsoft.com/office/drawing/2014/main" id="{C23AB45D-50E2-4430-9888-DD5A9940E685}"/>
              </a:ext>
            </a:extLst>
          </p:cNvPr>
          <p:cNvGrpSpPr/>
          <p:nvPr/>
        </p:nvGrpSpPr>
        <p:grpSpPr>
          <a:xfrm>
            <a:off x="487645" y="1662255"/>
            <a:ext cx="5467468" cy="4439583"/>
            <a:chOff x="6243638" y="1662255"/>
            <a:chExt cx="5467468" cy="4439583"/>
          </a:xfrm>
        </p:grpSpPr>
        <p:grpSp>
          <p:nvGrpSpPr>
            <p:cNvPr id="3" name="Gruppieren 2">
              <a:extLst>
                <a:ext uri="{FF2B5EF4-FFF2-40B4-BE49-F238E27FC236}">
                  <a16:creationId xmlns:a16="http://schemas.microsoft.com/office/drawing/2014/main" id="{3917EA90-3AC8-413A-B654-6CEA6FE8FAFE}"/>
                </a:ext>
              </a:extLst>
            </p:cNvPr>
            <p:cNvGrpSpPr/>
            <p:nvPr/>
          </p:nvGrpSpPr>
          <p:grpSpPr>
            <a:xfrm>
              <a:off x="6383106" y="1662255"/>
              <a:ext cx="5328000" cy="3977952"/>
              <a:chOff x="6383106" y="1662255"/>
              <a:chExt cx="5328000" cy="3977952"/>
            </a:xfrm>
          </p:grpSpPr>
          <p:grpSp>
            <p:nvGrpSpPr>
              <p:cNvPr id="15" name="Gruppieren 14">
                <a:extLst>
                  <a:ext uri="{FF2B5EF4-FFF2-40B4-BE49-F238E27FC236}">
                    <a16:creationId xmlns:a16="http://schemas.microsoft.com/office/drawing/2014/main" id="{F4B8FF6A-C0B3-4FB7-941F-D5825247317C}"/>
                  </a:ext>
                </a:extLst>
              </p:cNvPr>
              <p:cNvGrpSpPr/>
              <p:nvPr/>
            </p:nvGrpSpPr>
            <p:grpSpPr>
              <a:xfrm>
                <a:off x="6383106" y="1662255"/>
                <a:ext cx="5328000" cy="3977952"/>
                <a:chOff x="627063" y="2826270"/>
                <a:chExt cx="11088685" cy="2016002"/>
              </a:xfrm>
            </p:grpSpPr>
            <p:sp>
              <p:nvSpPr>
                <p:cNvPr id="16" name="Rechteck 15">
                  <a:extLst>
                    <a:ext uri="{FF2B5EF4-FFF2-40B4-BE49-F238E27FC236}">
                      <a16:creationId xmlns:a16="http://schemas.microsoft.com/office/drawing/2014/main" id="{E446252E-1AF3-464D-B68B-62212512A01D}"/>
                    </a:ext>
                  </a:extLst>
                </p:cNvPr>
                <p:cNvSpPr/>
                <p:nvPr/>
              </p:nvSpPr>
              <p:spPr bwMode="auto">
                <a:xfrm>
                  <a:off x="627063" y="2826272"/>
                  <a:ext cx="11088685" cy="2016000"/>
                </a:xfrm>
                <a:prstGeom prst="rect">
                  <a:avLst/>
                </a:prstGeom>
                <a:solidFill>
                  <a:schemeClr val="bg1"/>
                </a:solidFill>
                <a:ln>
                  <a:solidFill>
                    <a:schemeClr val="accent1"/>
                  </a:solidFill>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t">
                  <a:normAutofit/>
                </a:bodyPr>
                <a:lstStyle/>
                <a:p>
                  <a:pPr marL="285750" indent="-285750">
                    <a:spcBef>
                      <a:spcPts val="600"/>
                    </a:spcBef>
                    <a:buFont typeface="Arial" panose="020B0604020202020204" pitchFamily="34" charset="0"/>
                    <a:buChar char="•"/>
                  </a:pPr>
                  <a:endParaRPr lang="en-US" sz="1600">
                    <a:solidFill>
                      <a:schemeClr val="tx1"/>
                    </a:solidFill>
                  </a:endParaRPr>
                </a:p>
                <a:p>
                  <a:pPr>
                    <a:spcBef>
                      <a:spcPts val="600"/>
                    </a:spcBef>
                  </a:pPr>
                  <a:endParaRPr lang="en-US" sz="1600">
                    <a:solidFill>
                      <a:schemeClr val="tx1"/>
                    </a:solidFill>
                  </a:endParaRPr>
                </a:p>
                <a:p>
                  <a:pPr>
                    <a:spcBef>
                      <a:spcPts val="600"/>
                    </a:spcBef>
                  </a:pPr>
                  <a:endParaRPr lang="en-US" sz="200">
                    <a:solidFill>
                      <a:schemeClr val="tx1"/>
                    </a:solidFill>
                  </a:endParaRPr>
                </a:p>
                <a:p>
                  <a:pPr marL="285750" indent="-285750">
                    <a:lnSpc>
                      <a:spcPct val="100000"/>
                    </a:lnSpc>
                    <a:buFont typeface="Arial" panose="020B0604020202020204" pitchFamily="34" charset="0"/>
                    <a:buChar char="•"/>
                  </a:pPr>
                  <a:r>
                    <a:rPr lang="en-US" sz="1400">
                      <a:solidFill>
                        <a:schemeClr val="tx1"/>
                      </a:solidFill>
                    </a:rPr>
                    <a:t>Little knowledge about consumer.</a:t>
                  </a:r>
                </a:p>
                <a:p>
                  <a:pPr marL="285750" indent="-285750">
                    <a:lnSpc>
                      <a:spcPct val="100000"/>
                    </a:lnSpc>
                    <a:buFont typeface="Arial" panose="020B0604020202020204" pitchFamily="34" charset="0"/>
                    <a:buChar char="•"/>
                  </a:pPr>
                  <a:r>
                    <a:rPr lang="en-US" sz="1400">
                      <a:solidFill>
                        <a:schemeClr val="tx1"/>
                      </a:solidFill>
                    </a:rPr>
                    <a:t>Users can be tracked very closely.</a:t>
                  </a:r>
                </a:p>
                <a:p>
                  <a:pPr algn="ctr">
                    <a:lnSpc>
                      <a:spcPct val="110000"/>
                    </a:lnSpc>
                    <a:spcBef>
                      <a:spcPct val="0"/>
                    </a:spcBef>
                  </a:pPr>
                  <a:endParaRPr lang="de-DE" sz="1200" b="1">
                    <a:solidFill>
                      <a:schemeClr val="tx1"/>
                    </a:solidFill>
                    <a:ea typeface="Arial Unicode MS" panose="020B0604020202020204" pitchFamily="34" charset="-128"/>
                  </a:endParaRPr>
                </a:p>
              </p:txBody>
            </p:sp>
            <p:sp>
              <p:nvSpPr>
                <p:cNvPr id="17" name="Rechteck 16">
                  <a:extLst>
                    <a:ext uri="{FF2B5EF4-FFF2-40B4-BE49-F238E27FC236}">
                      <a16:creationId xmlns:a16="http://schemas.microsoft.com/office/drawing/2014/main" id="{BC37B771-14D1-4729-960B-C96CBE644CD2}"/>
                    </a:ext>
                  </a:extLst>
                </p:cNvPr>
                <p:cNvSpPr/>
                <p:nvPr/>
              </p:nvSpPr>
              <p:spPr bwMode="auto">
                <a:xfrm>
                  <a:off x="627063" y="2826270"/>
                  <a:ext cx="11088685" cy="360000"/>
                </a:xfrm>
                <a:prstGeom prst="rect">
                  <a:avLst/>
                </a:prstGeom>
                <a:solidFill>
                  <a:schemeClr val="accent2"/>
                </a:solid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pPr>
                  <a:r>
                    <a:rPr lang="en-US" b="1">
                      <a:solidFill>
                        <a:schemeClr val="tx1"/>
                      </a:solidFill>
                      <a:latin typeface="+mn-lt"/>
                      <a:ea typeface="Arial Unicode MS" panose="020B0604020202020204" pitchFamily="34" charset="-128"/>
                    </a:rPr>
                    <a:t>Consumer Data Analysis</a:t>
                  </a:r>
                </a:p>
              </p:txBody>
            </p:sp>
          </p:grpSp>
          <p:pic>
            <p:nvPicPr>
              <p:cNvPr id="21" name="Grafik 20">
                <a:extLst>
                  <a:ext uri="{FF2B5EF4-FFF2-40B4-BE49-F238E27FC236}">
                    <a16:creationId xmlns:a16="http://schemas.microsoft.com/office/drawing/2014/main" id="{D7E5AD94-6FB7-4E01-8245-ABF2F1AF6D48}"/>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8645109" y="3374542"/>
                <a:ext cx="1036016" cy="1036016"/>
              </a:xfrm>
              <a:prstGeom prst="rect">
                <a:avLst/>
              </a:prstGeom>
            </p:spPr>
          </p:pic>
        </p:grpSp>
        <p:pic>
          <p:nvPicPr>
            <p:cNvPr id="23" name="Grafik 22">
              <a:extLst>
                <a:ext uri="{FF2B5EF4-FFF2-40B4-BE49-F238E27FC236}">
                  <a16:creationId xmlns:a16="http://schemas.microsoft.com/office/drawing/2014/main" id="{2D076AE8-C433-484C-94B3-A3E767F8A8A5}"/>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9345944" y="3984011"/>
              <a:ext cx="2117827" cy="2117827"/>
            </a:xfrm>
            <a:prstGeom prst="rect">
              <a:avLst/>
            </a:prstGeom>
          </p:spPr>
        </p:pic>
        <p:pic>
          <p:nvPicPr>
            <p:cNvPr id="25" name="Grafik 24">
              <a:extLst>
                <a:ext uri="{FF2B5EF4-FFF2-40B4-BE49-F238E27FC236}">
                  <a16:creationId xmlns:a16="http://schemas.microsoft.com/office/drawing/2014/main" id="{F14E949D-09B0-48C1-8D92-0B008909666B}"/>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43638" y="3344988"/>
              <a:ext cx="2545927" cy="2545927"/>
            </a:xfrm>
            <a:prstGeom prst="rect">
              <a:avLst/>
            </a:prstGeom>
          </p:spPr>
        </p:pic>
      </p:grpSp>
      <p:grpSp>
        <p:nvGrpSpPr>
          <p:cNvPr id="7" name="Gruppieren 6">
            <a:extLst>
              <a:ext uri="{FF2B5EF4-FFF2-40B4-BE49-F238E27FC236}">
                <a16:creationId xmlns:a16="http://schemas.microsoft.com/office/drawing/2014/main" id="{0EF300EE-5C12-4F81-9802-6D601D1D9B68}"/>
              </a:ext>
            </a:extLst>
          </p:cNvPr>
          <p:cNvGrpSpPr/>
          <p:nvPr/>
        </p:nvGrpSpPr>
        <p:grpSpPr>
          <a:xfrm>
            <a:off x="6389955" y="1662255"/>
            <a:ext cx="5328000" cy="3977957"/>
            <a:chOff x="6389955" y="1653390"/>
            <a:chExt cx="5328000" cy="3977957"/>
          </a:xfrm>
        </p:grpSpPr>
        <p:grpSp>
          <p:nvGrpSpPr>
            <p:cNvPr id="4" name="Gruppieren 3">
              <a:extLst>
                <a:ext uri="{FF2B5EF4-FFF2-40B4-BE49-F238E27FC236}">
                  <a16:creationId xmlns:a16="http://schemas.microsoft.com/office/drawing/2014/main" id="{BD5B835A-FC4F-4401-9970-87D91C2C8FCA}"/>
                </a:ext>
              </a:extLst>
            </p:cNvPr>
            <p:cNvGrpSpPr/>
            <p:nvPr/>
          </p:nvGrpSpPr>
          <p:grpSpPr>
            <a:xfrm>
              <a:off x="6389955" y="1653390"/>
              <a:ext cx="5328000" cy="3977957"/>
              <a:chOff x="627063" y="2826270"/>
              <a:chExt cx="11106065" cy="2016002"/>
            </a:xfrm>
          </p:grpSpPr>
          <p:sp>
            <p:nvSpPr>
              <p:cNvPr id="11" name="Rechteck 10">
                <a:extLst>
                  <a:ext uri="{FF2B5EF4-FFF2-40B4-BE49-F238E27FC236}">
                    <a16:creationId xmlns:a16="http://schemas.microsoft.com/office/drawing/2014/main" id="{C67B9CE3-A83A-4E32-95E8-559D50F30E19}"/>
                  </a:ext>
                </a:extLst>
              </p:cNvPr>
              <p:cNvSpPr/>
              <p:nvPr/>
            </p:nvSpPr>
            <p:spPr bwMode="auto">
              <a:xfrm>
                <a:off x="627063" y="2826272"/>
                <a:ext cx="11106065" cy="2016000"/>
              </a:xfrm>
              <a:prstGeom prst="rect">
                <a:avLst/>
              </a:prstGeom>
              <a:solidFill>
                <a:schemeClr val="bg1"/>
              </a:solidFill>
              <a:ln>
                <a:solidFill>
                  <a:schemeClr val="accent1"/>
                </a:solidFill>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t">
                <a:normAutofit/>
              </a:bodyPr>
              <a:lstStyle/>
              <a:p>
                <a:pPr marL="285750" indent="-285750">
                  <a:spcBef>
                    <a:spcPts val="600"/>
                  </a:spcBef>
                  <a:buFont typeface="Arial" panose="020B0604020202020204" pitchFamily="34" charset="0"/>
                  <a:buChar char="•"/>
                </a:pPr>
                <a:endParaRPr lang="en-US" sz="1600">
                  <a:solidFill>
                    <a:schemeClr val="tx1"/>
                  </a:solidFill>
                </a:endParaRPr>
              </a:p>
              <a:p>
                <a:pPr>
                  <a:spcBef>
                    <a:spcPts val="600"/>
                  </a:spcBef>
                </a:pPr>
                <a:endParaRPr lang="en-US" sz="1600">
                  <a:solidFill>
                    <a:schemeClr val="tx1"/>
                  </a:solidFill>
                </a:endParaRPr>
              </a:p>
              <a:p>
                <a:pPr marL="285750" indent="-285750">
                  <a:spcBef>
                    <a:spcPts val="600"/>
                  </a:spcBef>
                  <a:buFont typeface="Arial" panose="020B0604020202020204" pitchFamily="34" charset="0"/>
                  <a:buChar char="•"/>
                </a:pPr>
                <a:endParaRPr lang="en-US" sz="200">
                  <a:solidFill>
                    <a:schemeClr val="tx1"/>
                  </a:solidFill>
                </a:endParaRPr>
              </a:p>
              <a:p>
                <a:pPr marL="285750" indent="-285750">
                  <a:spcBef>
                    <a:spcPts val="600"/>
                  </a:spcBef>
                  <a:buFont typeface="Arial" panose="020B0604020202020204" pitchFamily="34" charset="0"/>
                  <a:buChar char="•"/>
                </a:pPr>
                <a:r>
                  <a:rPr lang="en-US" sz="1400">
                    <a:solidFill>
                      <a:schemeClr val="tx1"/>
                    </a:solidFill>
                  </a:rPr>
                  <a:t>Starting from deep understanding -&gt; very difficult to add value on top.</a:t>
                </a:r>
              </a:p>
              <a:p>
                <a:pPr marL="285750" indent="-285750">
                  <a:spcBef>
                    <a:spcPts val="600"/>
                  </a:spcBef>
                  <a:buFont typeface="Arial" panose="020B0604020202020204" pitchFamily="34" charset="0"/>
                  <a:buChar char="•"/>
                </a:pPr>
                <a:r>
                  <a:rPr lang="en-US" sz="1400">
                    <a:solidFill>
                      <a:schemeClr val="tx1"/>
                    </a:solidFill>
                  </a:rPr>
                  <a:t>Limited number of engines + change in time, operating conditions, ambient conditions.</a:t>
                </a:r>
              </a:p>
              <a:p>
                <a:pPr marL="285750" indent="-285750">
                  <a:spcBef>
                    <a:spcPts val="600"/>
                  </a:spcBef>
                  <a:buFont typeface="Arial" panose="020B0604020202020204" pitchFamily="34" charset="0"/>
                  <a:buChar char="•"/>
                </a:pPr>
                <a:r>
                  <a:rPr lang="en-US" sz="1400">
                    <a:solidFill>
                      <a:schemeClr val="tx1"/>
                    </a:solidFill>
                  </a:rPr>
                  <a:t>ML tools work best when “output data” exists (“supervised” vs. “unsupervised” learning).</a:t>
                </a:r>
              </a:p>
              <a:p>
                <a:pPr algn="ctr">
                  <a:lnSpc>
                    <a:spcPct val="110000"/>
                  </a:lnSpc>
                  <a:spcBef>
                    <a:spcPct val="0"/>
                  </a:spcBef>
                </a:pPr>
                <a:endParaRPr lang="de-DE" sz="1200" b="1">
                  <a:solidFill>
                    <a:schemeClr val="tx1"/>
                  </a:solidFill>
                  <a:ea typeface="Arial Unicode MS" panose="020B0604020202020204" pitchFamily="34" charset="-128"/>
                </a:endParaRPr>
              </a:p>
            </p:txBody>
          </p:sp>
          <p:sp>
            <p:nvSpPr>
              <p:cNvPr id="12" name="Rechteck 11">
                <a:extLst>
                  <a:ext uri="{FF2B5EF4-FFF2-40B4-BE49-F238E27FC236}">
                    <a16:creationId xmlns:a16="http://schemas.microsoft.com/office/drawing/2014/main" id="{86CD7FE6-6492-45BC-87FA-D77CE9BC8328}"/>
                  </a:ext>
                </a:extLst>
              </p:cNvPr>
              <p:cNvSpPr/>
              <p:nvPr/>
            </p:nvSpPr>
            <p:spPr bwMode="auto">
              <a:xfrm>
                <a:off x="627063" y="2826270"/>
                <a:ext cx="11088685" cy="360000"/>
              </a:xfrm>
              <a:prstGeom prst="rect">
                <a:avLst/>
              </a:prstGeom>
              <a:solidFill>
                <a:schemeClr val="accent2"/>
              </a:solidFill>
              <a:ln w="9525">
                <a:solidFill>
                  <a:schemeClr val="accent1"/>
                </a:solidFill>
                <a:miter lim="800000"/>
                <a:headEnd/>
                <a:tailEnd/>
              </a:ln>
              <a:effectLst/>
              <a:extLs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p:spPr>
            <p:txBody>
              <a:bodyPr wrap="square" lIns="108000" tIns="54000" rIns="108000" bIns="54000" numCol="1" spcCol="72000" rtlCol="0" anchor="ctr">
                <a:noAutofit/>
              </a:bodyPr>
              <a:lstStyle/>
              <a:p>
                <a:pPr algn="ctr">
                  <a:lnSpc>
                    <a:spcPct val="110000"/>
                  </a:lnSpc>
                  <a:spcBef>
                    <a:spcPct val="0"/>
                  </a:spcBef>
                </a:pPr>
                <a:r>
                  <a:rPr lang="en-US" b="1">
                    <a:solidFill>
                      <a:schemeClr val="tx1"/>
                    </a:solidFill>
                    <a:latin typeface="+mn-lt"/>
                    <a:ea typeface="Arial Unicode MS" panose="020B0604020202020204" pitchFamily="34" charset="-128"/>
                  </a:rPr>
                  <a:t>Turbine Data Analysis</a:t>
                </a:r>
              </a:p>
            </p:txBody>
          </p:sp>
        </p:grpSp>
        <p:pic>
          <p:nvPicPr>
            <p:cNvPr id="13" name="Grafik 12">
              <a:extLst>
                <a:ext uri="{FF2B5EF4-FFF2-40B4-BE49-F238E27FC236}">
                  <a16:creationId xmlns:a16="http://schemas.microsoft.com/office/drawing/2014/main" id="{F2BFE579-6F31-42FE-8A39-EB2471E668FB}"/>
                </a:ext>
              </a:extLst>
            </p:cNvPr>
            <p:cNvPicPr>
              <a:picLocks noChangeAspect="1"/>
            </p:cNvPicPr>
            <p:nvPr/>
          </p:nvPicPr>
          <p:blipFill rotWithShape="1">
            <a:blip r:embed="rId5" cstate="screen">
              <a:extLst>
                <a:ext uri="{28A0092B-C50C-407E-A947-70E740481C1C}">
                  <a14:useLocalDpi xmlns:a14="http://schemas.microsoft.com/office/drawing/2010/main"/>
                </a:ext>
              </a:extLst>
            </a:blip>
            <a:srcRect l="-3299"/>
            <a:stretch/>
          </p:blipFill>
          <p:spPr>
            <a:xfrm>
              <a:off x="7035279" y="4000787"/>
              <a:ext cx="4029014" cy="1508274"/>
            </a:xfrm>
            <a:prstGeom prst="rect">
              <a:avLst/>
            </a:prstGeom>
          </p:spPr>
        </p:pic>
      </p:grpSp>
    </p:spTree>
    <p:extLst>
      <p:ext uri="{BB962C8B-B14F-4D97-AF65-F5344CB8AC3E}">
        <p14:creationId xmlns:p14="http://schemas.microsoft.com/office/powerpoint/2010/main" val="4174271742"/>
      </p:ext>
    </p:extLst>
  </p:cSld>
  <p:clrMapOvr>
    <a:masterClrMapping/>
  </p:clrMapOvr>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llipse 1">
            <a:extLst>
              <a:ext uri="{FF2B5EF4-FFF2-40B4-BE49-F238E27FC236}">
                <a16:creationId xmlns:a16="http://schemas.microsoft.com/office/drawing/2014/main" id="{37CDBFF5-A162-4EB5-8885-518A4E126941}"/>
              </a:ext>
            </a:extLst>
          </p:cNvPr>
          <p:cNvSpPr/>
          <p:nvPr/>
        </p:nvSpPr>
        <p:spPr bwMode="auto">
          <a:xfrm>
            <a:off x="2805256" y="1974186"/>
            <a:ext cx="6876764" cy="3219010"/>
          </a:xfrm>
          <a:prstGeom prst="ellipse">
            <a:avLst/>
          </a:prstGeom>
          <a:noFill/>
          <a:ln w="76200">
            <a:solidFill>
              <a:schemeClr val="bg2"/>
            </a:solidFill>
            <a:miter lim="800000"/>
            <a:headEnd/>
            <a:tailEnd/>
          </a:ln>
          <a:effectLst/>
        </p:spPr>
        <p:txBody>
          <a:bodyPr wrap="square" lIns="108000" tIns="54000" rIns="108000" bIns="54000" numCol="1" spcCol="72000" rtlCol="0" anchor="ctr">
            <a:noAutofit/>
          </a:bodyPr>
          <a:lstStyle/>
          <a:p>
            <a:pPr algn="ctr">
              <a:lnSpc>
                <a:spcPct val="110000"/>
              </a:lnSpc>
              <a:spcBef>
                <a:spcPct val="0"/>
              </a:spcBef>
              <a:buFont typeface="Wingdings" charset="0"/>
              <a:buNone/>
            </a:pPr>
            <a:endParaRPr lang="de-DE" sz="1800">
              <a:solidFill>
                <a:schemeClr val="tx1"/>
              </a:solidFill>
              <a:latin typeface="+mn-lt"/>
              <a:ea typeface="Arial Unicode MS" panose="020B0604020202020204" pitchFamily="34" charset="-128"/>
              <a:cs typeface="Arial Unicode MS" panose="020B0604020202020204" pitchFamily="34" charset="-128"/>
            </a:endParaRPr>
          </a:p>
        </p:txBody>
      </p:sp>
      <p:sp>
        <p:nvSpPr>
          <p:cNvPr id="3" name="Titel 2">
            <a:extLst>
              <a:ext uri="{FF2B5EF4-FFF2-40B4-BE49-F238E27FC236}">
                <a16:creationId xmlns:a16="http://schemas.microsoft.com/office/drawing/2014/main" id="{52B473F3-EBCB-47C3-AD52-F4C90D43773E}"/>
              </a:ext>
            </a:extLst>
          </p:cNvPr>
          <p:cNvSpPr>
            <a:spLocks noGrp="1"/>
          </p:cNvSpPr>
          <p:nvPr>
            <p:ph type="title"/>
          </p:nvPr>
        </p:nvSpPr>
        <p:spPr/>
        <p:txBody>
          <a:bodyPr/>
          <a:lstStyle/>
          <a:p>
            <a:pPr>
              <a:lnSpc>
                <a:spcPct val="125000"/>
              </a:lnSpc>
            </a:pPr>
            <a:r>
              <a:rPr lang="en-US" sz="1400"/>
              <a:t>3. Application Insights</a:t>
            </a:r>
            <a:br>
              <a:rPr lang="en-US" sz="2400"/>
            </a:br>
            <a:r>
              <a:rPr lang="en-US" sz="2400"/>
              <a:t>D</a:t>
            </a:r>
            <a:r>
              <a:rPr lang="en-US"/>
              <a:t>ata Science Is an Iterative Process.</a:t>
            </a:r>
            <a:endParaRPr lang="de-DE"/>
          </a:p>
        </p:txBody>
      </p:sp>
      <p:graphicFrame>
        <p:nvGraphicFramePr>
          <p:cNvPr id="5" name="Inhaltsplatzhalter 4">
            <a:extLst>
              <a:ext uri="{FF2B5EF4-FFF2-40B4-BE49-F238E27FC236}">
                <a16:creationId xmlns:a16="http://schemas.microsoft.com/office/drawing/2014/main" id="{ACAB0922-58FE-4DD2-A881-C2A256492994}"/>
              </a:ext>
            </a:extLst>
          </p:cNvPr>
          <p:cNvGraphicFramePr>
            <a:graphicFrameLocks noGrp="1"/>
          </p:cNvGraphicFramePr>
          <p:nvPr>
            <p:ph idx="1"/>
          </p:nvPr>
        </p:nvGraphicFramePr>
        <p:xfrm>
          <a:off x="1850976" y="1101713"/>
          <a:ext cx="8640959" cy="46198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39966700"/>
      </p:ext>
    </p:extLst>
  </p:cSld>
  <p:clrMapOvr>
    <a:masterClrMapping/>
  </p:clrMapOvr>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A834356C-1477-4E1F-B4E4-D1FFC0D48C87}"/>
              </a:ext>
            </a:extLst>
          </p:cNvPr>
          <p:cNvSpPr>
            <a:spLocks noGrp="1"/>
          </p:cNvSpPr>
          <p:nvPr>
            <p:ph type="title"/>
          </p:nvPr>
        </p:nvSpPr>
        <p:spPr/>
        <p:txBody>
          <a:bodyPr/>
          <a:lstStyle/>
          <a:p>
            <a:r>
              <a:rPr lang="en-US"/>
              <a:t>Exercise 2:</a:t>
            </a:r>
            <a:br>
              <a:rPr lang="en-US"/>
            </a:br>
            <a:r>
              <a:rPr lang="en-US"/>
              <a:t>Brainstorming on Pros and Cons of Machine Learning</a:t>
            </a:r>
          </a:p>
        </p:txBody>
      </p:sp>
      <p:pic>
        <p:nvPicPr>
          <p:cNvPr id="5" name="Grafik 4">
            <a:extLst>
              <a:ext uri="{FF2B5EF4-FFF2-40B4-BE49-F238E27FC236}">
                <a16:creationId xmlns:a16="http://schemas.microsoft.com/office/drawing/2014/main" id="{5A24A127-D671-4184-BD89-2B7FE925D23C}"/>
              </a:ext>
            </a:extLst>
          </p:cNvPr>
          <p:cNvPicPr>
            <a:picLocks noChangeAspect="1"/>
          </p:cNvPicPr>
          <p:nvPr/>
        </p:nvPicPr>
        <p:blipFill>
          <a:blip r:embed="rId2"/>
          <a:stretch>
            <a:fillRect/>
          </a:stretch>
        </p:blipFill>
        <p:spPr>
          <a:xfrm>
            <a:off x="1094619" y="1379347"/>
            <a:ext cx="9648825" cy="4933950"/>
          </a:xfrm>
          <a:prstGeom prst="rect">
            <a:avLst/>
          </a:prstGeom>
        </p:spPr>
      </p:pic>
    </p:spTree>
    <p:extLst>
      <p:ext uri="{BB962C8B-B14F-4D97-AF65-F5344CB8AC3E}">
        <p14:creationId xmlns:p14="http://schemas.microsoft.com/office/powerpoint/2010/main" val="1223747202"/>
      </p:ext>
    </p:extLst>
  </p:cSld>
  <p:clrMapOvr>
    <a:masterClrMapping/>
  </p:clrMapOvr>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a:t>Agenda</a:t>
            </a:r>
          </a:p>
        </p:txBody>
      </p:sp>
      <p:sp>
        <p:nvSpPr>
          <p:cNvPr id="3" name="Textplatzhalter 2">
            <a:extLst>
              <a:ext uri="{FF2B5EF4-FFF2-40B4-BE49-F238E27FC236}">
                <a16:creationId xmlns:a16="http://schemas.microsoft.com/office/drawing/2014/main" id="{B35E2A3A-5EDC-4B36-98A6-53CDE34DFDCC}"/>
              </a:ext>
            </a:extLst>
          </p:cNvPr>
          <p:cNvSpPr>
            <a:spLocks noGrp="1"/>
          </p:cNvSpPr>
          <p:nvPr>
            <p:ph type="body" sz="quarter" idx="14"/>
          </p:nvPr>
        </p:nvSpPr>
        <p:spPr>
          <a:xfrm>
            <a:off x="4586288" y="1196752"/>
            <a:ext cx="7612062" cy="5292588"/>
          </a:xfrm>
        </p:spPr>
        <p:txBody>
          <a:bodyPr/>
          <a:lstStyle/>
          <a:p>
            <a:pPr marL="457200" indent="-457200">
              <a:buFont typeface="Arial" panose="020B0604020202020204" pitchFamily="34" charset="0"/>
              <a:buChar char="•"/>
            </a:pPr>
            <a:r>
              <a:rPr lang="en-US" sz="2400"/>
              <a:t>Review ML1</a:t>
            </a:r>
          </a:p>
          <a:p>
            <a:pPr marL="457200" indent="-457200">
              <a:buFont typeface="Arial" panose="020B0604020202020204" pitchFamily="34" charset="0"/>
              <a:buChar char="•"/>
            </a:pPr>
            <a:r>
              <a:rPr lang="en-US" sz="2400"/>
              <a:t>Model Evaluation:</a:t>
            </a:r>
          </a:p>
          <a:p>
            <a:pPr marL="635000" lvl="1" indent="-457200"/>
            <a:r>
              <a:rPr lang="en-US" sz="2000"/>
              <a:t>Regression Quality Metrics </a:t>
            </a:r>
          </a:p>
          <a:p>
            <a:pPr marL="635000" lvl="1" indent="-457200"/>
            <a:r>
              <a:rPr lang="en-US" sz="2000" spc="-1">
                <a:latin typeface="Arial"/>
              </a:rPr>
              <a:t>Classification Quality Metrics</a:t>
            </a:r>
            <a:endParaRPr lang="en-US" sz="2000"/>
          </a:p>
          <a:p>
            <a:pPr marL="635000" lvl="1" indent="-457200"/>
            <a:r>
              <a:rPr lang="en-US" sz="2000"/>
              <a:t>The Bias-Variance Trade-Off</a:t>
            </a:r>
          </a:p>
          <a:p>
            <a:pPr marL="457200" indent="-457200">
              <a:buFont typeface="Arial" panose="020B0604020202020204" pitchFamily="34" charset="0"/>
              <a:buChar char="•"/>
            </a:pPr>
            <a:r>
              <a:rPr lang="en-US" sz="2400"/>
              <a:t>Model Types:</a:t>
            </a:r>
          </a:p>
          <a:p>
            <a:pPr marL="635000" lvl="1" indent="-457200"/>
            <a:r>
              <a:rPr lang="en-US" sz="2000"/>
              <a:t>Decision Trees (Ensemble: Random Forrest)</a:t>
            </a:r>
          </a:p>
          <a:p>
            <a:pPr marL="635000" lvl="1" indent="-457200"/>
            <a:r>
              <a:rPr lang="en-US" sz="2000"/>
              <a:t>Neural Networks</a:t>
            </a:r>
          </a:p>
          <a:p>
            <a:pPr marL="814388" lvl="3" indent="-457200"/>
            <a:r>
              <a:rPr lang="en-US"/>
              <a:t>Basic Elements and Steps of Training a Neural Network</a:t>
            </a:r>
          </a:p>
          <a:p>
            <a:pPr marL="814388" lvl="3" indent="-457200"/>
            <a:r>
              <a:rPr lang="en-US"/>
              <a:t>Neural Network Exercise</a:t>
            </a:r>
          </a:p>
          <a:p>
            <a:pPr marL="457200" indent="-457200">
              <a:buFont typeface="Arial" panose="020B0604020202020204" pitchFamily="34" charset="0"/>
              <a:buChar char="•"/>
            </a:pPr>
            <a:r>
              <a:rPr lang="en-US" sz="2400"/>
              <a:t>Application of Machine Learning in Our Business</a:t>
            </a:r>
          </a:p>
        </p:txBody>
      </p:sp>
      <p:pic>
        <p:nvPicPr>
          <p:cNvPr id="1026" name="Picture 2" descr="Bildergebnis fÃ¼r machine learning">
            <a:extLst>
              <a:ext uri="{FF2B5EF4-FFF2-40B4-BE49-F238E27FC236}">
                <a16:creationId xmlns:a16="http://schemas.microsoft.com/office/drawing/2014/main" id="{EFA5390F-FD40-4D7F-8299-52036C74AAFD}"/>
              </a:ext>
            </a:extLst>
          </p:cNvPr>
          <p:cNvPicPr>
            <a:picLocks noGrp="1" noChangeAspect="1" noChangeArrowheads="1"/>
          </p:cNvPicPr>
          <p:nvPr>
            <p:ph type="pic" sz="quarter" idx="15"/>
          </p:nvPr>
        </p:nvPicPr>
        <p:blipFill>
          <a:blip r:embed="rId2" cstate="screen">
            <a:extLst>
              <a:ext uri="{28A0092B-C50C-407E-A947-70E740481C1C}">
                <a14:useLocalDpi xmlns:a14="http://schemas.microsoft.com/office/drawing/2010/main"/>
              </a:ext>
            </a:extLst>
          </a:blip>
          <a:srcRect l="2489" r="2489"/>
          <a:stretch>
            <a:fillRect/>
          </a:stretch>
        </p:blipFill>
        <p:spPr bwMode="auto">
          <a:xfrm>
            <a:off x="144615" y="1439999"/>
            <a:ext cx="4370384" cy="4752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46820260"/>
      </p:ext>
    </p:extLst>
  </p:cSld>
  <p:clrMapOvr>
    <a:masterClrMapping/>
  </p:clrMapOvr>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93E917A-5197-48A2-A8B9-0BFAA169F0DF}"/>
              </a:ext>
            </a:extLst>
          </p:cNvPr>
          <p:cNvSpPr>
            <a:spLocks noGrp="1"/>
          </p:cNvSpPr>
          <p:nvPr>
            <p:ph type="title"/>
          </p:nvPr>
        </p:nvSpPr>
        <p:spPr/>
        <p:txBody>
          <a:bodyPr/>
          <a:lstStyle/>
          <a:p>
            <a:r>
              <a:rPr lang="de-DE" err="1"/>
              <a:t>Overview</a:t>
            </a:r>
            <a:endParaRPr lang="de-DE"/>
          </a:p>
        </p:txBody>
      </p:sp>
      <p:graphicFrame>
        <p:nvGraphicFramePr>
          <p:cNvPr id="8" name="Tabelle 8">
            <a:extLst>
              <a:ext uri="{FF2B5EF4-FFF2-40B4-BE49-F238E27FC236}">
                <a16:creationId xmlns:a16="http://schemas.microsoft.com/office/drawing/2014/main" id="{5F58DBC5-4155-48F7-BDFF-6C068F155D8D}"/>
              </a:ext>
            </a:extLst>
          </p:cNvPr>
          <p:cNvGraphicFramePr>
            <a:graphicFrameLocks noGrp="1"/>
          </p:cNvGraphicFramePr>
          <p:nvPr/>
        </p:nvGraphicFramePr>
        <p:xfrm>
          <a:off x="626567" y="1601995"/>
          <a:ext cx="10693188" cy="2839720"/>
        </p:xfrm>
        <a:graphic>
          <a:graphicData uri="http://schemas.openxmlformats.org/drawingml/2006/table">
            <a:tbl>
              <a:tblPr firstRow="1" bandRow="1">
                <a:tableStyleId>{5C22544A-7EE6-4342-B048-85BDC9FD1C3A}</a:tableStyleId>
              </a:tblPr>
              <a:tblGrid>
                <a:gridCol w="1782198">
                  <a:extLst>
                    <a:ext uri="{9D8B030D-6E8A-4147-A177-3AD203B41FA5}">
                      <a16:colId xmlns:a16="http://schemas.microsoft.com/office/drawing/2014/main" val="2087970704"/>
                    </a:ext>
                  </a:extLst>
                </a:gridCol>
                <a:gridCol w="1437070">
                  <a:extLst>
                    <a:ext uri="{9D8B030D-6E8A-4147-A177-3AD203B41FA5}">
                      <a16:colId xmlns:a16="http://schemas.microsoft.com/office/drawing/2014/main" val="1708460055"/>
                    </a:ext>
                  </a:extLst>
                </a:gridCol>
                <a:gridCol w="2127326">
                  <a:extLst>
                    <a:ext uri="{9D8B030D-6E8A-4147-A177-3AD203B41FA5}">
                      <a16:colId xmlns:a16="http://schemas.microsoft.com/office/drawing/2014/main" val="1810983359"/>
                    </a:ext>
                  </a:extLst>
                </a:gridCol>
                <a:gridCol w="1975662">
                  <a:extLst>
                    <a:ext uri="{9D8B030D-6E8A-4147-A177-3AD203B41FA5}">
                      <a16:colId xmlns:a16="http://schemas.microsoft.com/office/drawing/2014/main" val="4033084280"/>
                    </a:ext>
                  </a:extLst>
                </a:gridCol>
                <a:gridCol w="1588734">
                  <a:extLst>
                    <a:ext uri="{9D8B030D-6E8A-4147-A177-3AD203B41FA5}">
                      <a16:colId xmlns:a16="http://schemas.microsoft.com/office/drawing/2014/main" val="4045622136"/>
                    </a:ext>
                  </a:extLst>
                </a:gridCol>
                <a:gridCol w="1782198">
                  <a:extLst>
                    <a:ext uri="{9D8B030D-6E8A-4147-A177-3AD203B41FA5}">
                      <a16:colId xmlns:a16="http://schemas.microsoft.com/office/drawing/2014/main" val="3988611160"/>
                    </a:ext>
                  </a:extLst>
                </a:gridCol>
              </a:tblGrid>
              <a:tr h="370840">
                <a:tc>
                  <a:txBody>
                    <a:bodyPr/>
                    <a:lstStyle/>
                    <a:p>
                      <a:endParaRPr lang="de-DE"/>
                    </a:p>
                  </a:txBody>
                  <a:tcPr/>
                </a:tc>
                <a:tc>
                  <a:txBody>
                    <a:bodyPr/>
                    <a:lstStyle/>
                    <a:p>
                      <a:r>
                        <a:rPr lang="de-DE"/>
                        <a:t>Target </a:t>
                      </a:r>
                      <a:r>
                        <a:rPr lang="de-DE" err="1"/>
                        <a:t>values</a:t>
                      </a:r>
                      <a:endParaRPr lang="de-DE"/>
                    </a:p>
                  </a:txBody>
                  <a:tcPr/>
                </a:tc>
                <a:tc>
                  <a:txBody>
                    <a:bodyPr/>
                    <a:lstStyle/>
                    <a:p>
                      <a:r>
                        <a:rPr lang="de-DE"/>
                        <a:t>Loss </a:t>
                      </a:r>
                      <a:r>
                        <a:rPr lang="de-DE" err="1"/>
                        <a:t>function</a:t>
                      </a:r>
                      <a:endParaRPr lang="de-DE"/>
                    </a:p>
                  </a:txBody>
                  <a:tcPr/>
                </a:tc>
                <a:tc>
                  <a:txBody>
                    <a:bodyPr/>
                    <a:lstStyle/>
                    <a:p>
                      <a:r>
                        <a:rPr lang="de-DE"/>
                        <a:t>Error </a:t>
                      </a:r>
                      <a:r>
                        <a:rPr lang="de-DE" err="1"/>
                        <a:t>metric</a:t>
                      </a:r>
                      <a:endParaRPr lang="de-DE"/>
                    </a:p>
                  </a:txBody>
                  <a:tcPr>
                    <a:lnR w="12700" cap="flat" cmpd="sng" algn="ctr">
                      <a:solidFill>
                        <a:schemeClr val="tx1"/>
                      </a:solidFill>
                      <a:prstDash val="solid"/>
                      <a:round/>
                      <a:headEnd type="none" w="med" len="med"/>
                      <a:tailEnd type="none" w="med" len="med"/>
                    </a:lnR>
                  </a:tcPr>
                </a:tc>
                <a:tc>
                  <a:txBody>
                    <a:bodyPr/>
                    <a:lstStyle/>
                    <a:p>
                      <a:r>
                        <a:rPr lang="de-DE"/>
                        <a:t>Act </a:t>
                      </a:r>
                      <a:r>
                        <a:rPr lang="de-DE" err="1"/>
                        <a:t>function</a:t>
                      </a:r>
                      <a:r>
                        <a:rPr lang="de-DE"/>
                        <a:t> last </a:t>
                      </a:r>
                      <a:r>
                        <a:rPr lang="de-DE" err="1"/>
                        <a:t>layer</a:t>
                      </a:r>
                      <a:endParaRPr lang="de-DE"/>
                    </a:p>
                  </a:txBody>
                  <a:tcPr>
                    <a:lnL w="12700" cap="flat" cmpd="sng" algn="ctr">
                      <a:solidFill>
                        <a:schemeClr val="tx1"/>
                      </a:solidFill>
                      <a:prstDash val="solid"/>
                      <a:round/>
                      <a:headEnd type="none" w="med" len="med"/>
                      <a:tailEnd type="none" w="med" len="med"/>
                    </a:lnL>
                  </a:tcPr>
                </a:tc>
                <a:tc>
                  <a:txBody>
                    <a:bodyPr/>
                    <a:lstStyle/>
                    <a:p>
                      <a:r>
                        <a:rPr lang="de-DE"/>
                        <a:t>Act </a:t>
                      </a:r>
                      <a:r>
                        <a:rPr lang="de-DE" err="1"/>
                        <a:t>func</a:t>
                      </a:r>
                      <a:r>
                        <a:rPr lang="de-DE"/>
                        <a:t> </a:t>
                      </a:r>
                      <a:r>
                        <a:rPr lang="de-DE" err="1"/>
                        <a:t>hidden</a:t>
                      </a:r>
                      <a:r>
                        <a:rPr lang="de-DE"/>
                        <a:t> </a:t>
                      </a:r>
                      <a:r>
                        <a:rPr lang="de-DE" err="1"/>
                        <a:t>layers</a:t>
                      </a:r>
                      <a:endParaRPr lang="de-DE"/>
                    </a:p>
                  </a:txBody>
                  <a:tcPr/>
                </a:tc>
                <a:extLst>
                  <a:ext uri="{0D108BD9-81ED-4DB2-BD59-A6C34878D82A}">
                    <a16:rowId xmlns:a16="http://schemas.microsoft.com/office/drawing/2014/main" val="1837334432"/>
                  </a:ext>
                </a:extLst>
              </a:tr>
              <a:tr h="370840">
                <a:tc>
                  <a:txBody>
                    <a:bodyPr/>
                    <a:lstStyle/>
                    <a:p>
                      <a:r>
                        <a:rPr lang="de-DE"/>
                        <a:t>Regression</a:t>
                      </a:r>
                    </a:p>
                  </a:txBody>
                  <a:tcPr>
                    <a:lnB w="12700" cap="flat" cmpd="sng" algn="ctr">
                      <a:solidFill>
                        <a:schemeClr val="tx1"/>
                      </a:solidFill>
                      <a:prstDash val="solid"/>
                      <a:round/>
                      <a:headEnd type="none" w="med" len="med"/>
                      <a:tailEnd type="none" w="med" len="med"/>
                    </a:lnB>
                  </a:tcPr>
                </a:tc>
                <a:tc>
                  <a:txBody>
                    <a:bodyPr/>
                    <a:lstStyle/>
                    <a:p>
                      <a:r>
                        <a:rPr lang="de-DE" err="1"/>
                        <a:t>Continous</a:t>
                      </a:r>
                      <a:endParaRPr lang="de-DE"/>
                    </a:p>
                  </a:txBody>
                  <a:tcPr>
                    <a:lnB w="12700" cap="flat" cmpd="sng" algn="ctr">
                      <a:solidFill>
                        <a:schemeClr val="tx1"/>
                      </a:solidFill>
                      <a:prstDash val="solid"/>
                      <a:round/>
                      <a:headEnd type="none" w="med" len="med"/>
                      <a:tailEnd type="none" w="med" len="med"/>
                    </a:lnB>
                  </a:tcPr>
                </a:tc>
                <a:tc>
                  <a:txBody>
                    <a:bodyPr/>
                    <a:lstStyle/>
                    <a:p>
                      <a:r>
                        <a:rPr lang="de-DE"/>
                        <a:t>MSE, R², MAE,…</a:t>
                      </a:r>
                    </a:p>
                  </a:txBody>
                  <a:tcPr>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de-DE"/>
                        <a:t>MSE, R², MAE,…</a:t>
                      </a:r>
                    </a:p>
                  </a:txBody>
                  <a:tcP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r>
                        <a:rPr lang="de-DE"/>
                        <a:t>Linear/ </a:t>
                      </a:r>
                      <a:r>
                        <a:rPr lang="de-DE" err="1"/>
                        <a:t>ReLu</a:t>
                      </a:r>
                      <a:endParaRPr lang="de-DE"/>
                    </a:p>
                  </a:txBody>
                  <a:tcP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tc>
                  <a:txBody>
                    <a:bodyPr/>
                    <a:lstStyle/>
                    <a:p>
                      <a:r>
                        <a:rPr lang="de-DE" err="1"/>
                        <a:t>ReLu</a:t>
                      </a:r>
                      <a:endParaRPr lang="de-DE"/>
                    </a:p>
                  </a:txBody>
                  <a:tcPr>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226949673"/>
                  </a:ext>
                </a:extLst>
              </a:tr>
              <a:tr h="370840">
                <a:tc>
                  <a:txBody>
                    <a:bodyPr/>
                    <a:lstStyle/>
                    <a:p>
                      <a:r>
                        <a:rPr lang="de-DE"/>
                        <a:t>Classification</a:t>
                      </a:r>
                    </a:p>
                  </a:txBody>
                  <a:tcPr>
                    <a:lnT w="12700" cap="flat" cmpd="sng" algn="ctr">
                      <a:solidFill>
                        <a:schemeClr val="tx1"/>
                      </a:solidFill>
                      <a:prstDash val="solid"/>
                      <a:round/>
                      <a:headEnd type="none" w="med" len="med"/>
                      <a:tailEnd type="none" w="med" len="med"/>
                    </a:lnT>
                  </a:tcPr>
                </a:tc>
                <a:tc>
                  <a:txBody>
                    <a:bodyPr/>
                    <a:lstStyle/>
                    <a:p>
                      <a:r>
                        <a:rPr lang="de-DE"/>
                        <a:t>Binary</a:t>
                      </a:r>
                    </a:p>
                  </a:txBody>
                  <a:tcPr>
                    <a:lnT w="12700" cap="flat" cmpd="sng" algn="ctr">
                      <a:solidFill>
                        <a:schemeClr val="tx1"/>
                      </a:solidFill>
                      <a:prstDash val="solid"/>
                      <a:round/>
                      <a:headEnd type="none" w="med" len="med"/>
                      <a:tailEnd type="none" w="med" len="med"/>
                    </a:lnT>
                  </a:tcPr>
                </a:tc>
                <a:tc>
                  <a:txBody>
                    <a:bodyPr/>
                    <a:lstStyle/>
                    <a:p>
                      <a:r>
                        <a:rPr lang="de-DE"/>
                        <a:t>Binary </a:t>
                      </a:r>
                      <a:r>
                        <a:rPr lang="de-DE" err="1"/>
                        <a:t>cross</a:t>
                      </a:r>
                      <a:r>
                        <a:rPr lang="de-DE"/>
                        <a:t> </a:t>
                      </a:r>
                      <a:r>
                        <a:rPr lang="de-DE" err="1"/>
                        <a:t>entropy</a:t>
                      </a:r>
                      <a:endParaRPr lang="de-DE"/>
                    </a:p>
                  </a:txBody>
                  <a:tcPr>
                    <a:lnT w="12700" cap="flat" cmpd="sng" algn="ctr">
                      <a:solidFill>
                        <a:schemeClr val="tx1"/>
                      </a:solidFill>
                      <a:prstDash val="solid"/>
                      <a:round/>
                      <a:headEnd type="none" w="med" len="med"/>
                      <a:tailEnd type="none" w="med" len="med"/>
                    </a:lnT>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de-DE"/>
                        <a:t>Sigmoid</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tc>
                  <a:txBody>
                    <a:bodyPr/>
                    <a:lstStyle/>
                    <a:p>
                      <a:r>
                        <a:rPr lang="de-DE" err="1"/>
                        <a:t>ReLu</a:t>
                      </a:r>
                      <a:endParaRPr lang="de-DE"/>
                    </a:p>
                  </a:txBody>
                  <a:tcPr>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2153496704"/>
                  </a:ext>
                </a:extLst>
              </a:tr>
              <a:tr h="370840">
                <a:tc>
                  <a:txBody>
                    <a:bodyPr/>
                    <a:lstStyle/>
                    <a:p>
                      <a:endParaRPr lang="de-DE"/>
                    </a:p>
                  </a:txBody>
                  <a:tcPr/>
                </a:tc>
                <a:tc>
                  <a:txBody>
                    <a:bodyPr/>
                    <a:lstStyle/>
                    <a:p>
                      <a:r>
                        <a:rPr lang="de-DE"/>
                        <a:t>multiple </a:t>
                      </a:r>
                      <a:r>
                        <a:rPr lang="de-DE" err="1"/>
                        <a:t>classes</a:t>
                      </a:r>
                      <a:endParaRPr lang="de-DE"/>
                    </a:p>
                  </a:txBody>
                  <a:tcPr/>
                </a:tc>
                <a:tc>
                  <a:txBody>
                    <a:bodyPr/>
                    <a:lstStyle/>
                    <a:p>
                      <a:r>
                        <a:rPr lang="de-DE" err="1"/>
                        <a:t>categorical</a:t>
                      </a:r>
                      <a:r>
                        <a:rPr lang="de-DE"/>
                        <a:t> </a:t>
                      </a:r>
                      <a:r>
                        <a:rPr lang="de-DE" err="1"/>
                        <a:t>cross</a:t>
                      </a:r>
                      <a:r>
                        <a:rPr lang="de-DE"/>
                        <a:t> </a:t>
                      </a:r>
                      <a:r>
                        <a:rPr lang="de-DE" err="1"/>
                        <a:t>entropy</a:t>
                      </a:r>
                      <a:endParaRPr lang="de-DE"/>
                    </a:p>
                  </a:txBody>
                  <a:tcPr/>
                </a:tc>
                <a:tc>
                  <a:txBody>
                    <a:bodyPr/>
                    <a:lstStyle/>
                    <a:p>
                      <a:r>
                        <a:rPr lang="de-DE"/>
                        <a:t>F1 score, </a:t>
                      </a:r>
                      <a:r>
                        <a:rPr lang="de-DE" err="1"/>
                        <a:t>precision</a:t>
                      </a:r>
                      <a:r>
                        <a:rPr lang="de-DE"/>
                        <a:t>, </a:t>
                      </a:r>
                      <a:r>
                        <a:rPr lang="de-DE" err="1"/>
                        <a:t>recall</a:t>
                      </a:r>
                      <a:r>
                        <a:rPr lang="de-DE"/>
                        <a:t>, ROC-</a:t>
                      </a:r>
                      <a:r>
                        <a:rPr lang="de-DE" err="1"/>
                        <a:t>curve</a:t>
                      </a:r>
                      <a:endParaRPr lang="de-DE"/>
                    </a:p>
                  </a:txBody>
                  <a:tcPr>
                    <a:lnR w="12700" cap="flat" cmpd="sng" algn="ctr">
                      <a:solidFill>
                        <a:schemeClr val="tx1"/>
                      </a:solidFill>
                      <a:prstDash val="solid"/>
                      <a:round/>
                      <a:headEnd type="none" w="med" len="med"/>
                      <a:tailEnd type="none" w="med" len="med"/>
                    </a:lnR>
                  </a:tcPr>
                </a:tc>
                <a:tc>
                  <a:txBody>
                    <a:bodyPr/>
                    <a:lstStyle/>
                    <a:p>
                      <a:r>
                        <a:rPr lang="de-DE" err="1"/>
                        <a:t>softmax</a:t>
                      </a:r>
                      <a:endParaRPr lang="de-DE"/>
                    </a:p>
                  </a:txBody>
                  <a:tcPr>
                    <a:lnL w="12700" cap="flat" cmpd="sng" algn="ctr">
                      <a:solidFill>
                        <a:schemeClr val="tx1"/>
                      </a:solidFill>
                      <a:prstDash val="solid"/>
                      <a:round/>
                      <a:headEnd type="none" w="med" len="med"/>
                      <a:tailEnd type="none" w="med" len="med"/>
                    </a:lnL>
                  </a:tcPr>
                </a:tc>
                <a:tc>
                  <a:txBody>
                    <a:bodyPr/>
                    <a:lstStyle/>
                    <a:p>
                      <a:r>
                        <a:rPr lang="de-DE" err="1"/>
                        <a:t>ReLu</a:t>
                      </a:r>
                      <a:endParaRPr lang="de-DE"/>
                    </a:p>
                  </a:txBody>
                  <a:tcPr/>
                </a:tc>
                <a:extLst>
                  <a:ext uri="{0D108BD9-81ED-4DB2-BD59-A6C34878D82A}">
                    <a16:rowId xmlns:a16="http://schemas.microsoft.com/office/drawing/2014/main" val="4206115666"/>
                  </a:ext>
                </a:extLst>
              </a:tr>
            </a:tbl>
          </a:graphicData>
        </a:graphic>
      </p:graphicFrame>
      <p:graphicFrame>
        <p:nvGraphicFramePr>
          <p:cNvPr id="10" name="Tabelle 10">
            <a:extLst>
              <a:ext uri="{FF2B5EF4-FFF2-40B4-BE49-F238E27FC236}">
                <a16:creationId xmlns:a16="http://schemas.microsoft.com/office/drawing/2014/main" id="{1D6B67EA-476B-4CCB-B75D-E65AB8EDAFD8}"/>
              </a:ext>
            </a:extLst>
          </p:cNvPr>
          <p:cNvGraphicFramePr>
            <a:graphicFrameLocks noGrp="1"/>
          </p:cNvGraphicFramePr>
          <p:nvPr/>
        </p:nvGraphicFramePr>
        <p:xfrm>
          <a:off x="624909" y="4603711"/>
          <a:ext cx="10693188" cy="1752600"/>
        </p:xfrm>
        <a:graphic>
          <a:graphicData uri="http://schemas.openxmlformats.org/drawingml/2006/table">
            <a:tbl>
              <a:tblPr firstRow="1" bandRow="1">
                <a:tableStyleId>{5C22544A-7EE6-4342-B048-85BDC9FD1C3A}</a:tableStyleId>
              </a:tblPr>
              <a:tblGrid>
                <a:gridCol w="1801858">
                  <a:extLst>
                    <a:ext uri="{9D8B030D-6E8A-4147-A177-3AD203B41FA5}">
                      <a16:colId xmlns:a16="http://schemas.microsoft.com/office/drawing/2014/main" val="2422419246"/>
                    </a:ext>
                  </a:extLst>
                </a:gridCol>
                <a:gridCol w="3564396">
                  <a:extLst>
                    <a:ext uri="{9D8B030D-6E8A-4147-A177-3AD203B41FA5}">
                      <a16:colId xmlns:a16="http://schemas.microsoft.com/office/drawing/2014/main" val="2997731740"/>
                    </a:ext>
                  </a:extLst>
                </a:gridCol>
                <a:gridCol w="5326934">
                  <a:extLst>
                    <a:ext uri="{9D8B030D-6E8A-4147-A177-3AD203B41FA5}">
                      <a16:colId xmlns:a16="http://schemas.microsoft.com/office/drawing/2014/main" val="666087568"/>
                    </a:ext>
                  </a:extLst>
                </a:gridCol>
              </a:tblGrid>
              <a:tr h="370840">
                <a:tc>
                  <a:txBody>
                    <a:bodyPr/>
                    <a:lstStyle/>
                    <a:p>
                      <a:endParaRPr lang="de-DE"/>
                    </a:p>
                  </a:txBody>
                  <a:tcPr/>
                </a:tc>
                <a:tc>
                  <a:txBody>
                    <a:bodyPr/>
                    <a:lstStyle/>
                    <a:p>
                      <a:r>
                        <a:rPr lang="de-DE" err="1"/>
                        <a:t>Decision</a:t>
                      </a:r>
                      <a:r>
                        <a:rPr lang="de-DE"/>
                        <a:t> </a:t>
                      </a:r>
                      <a:r>
                        <a:rPr lang="de-DE" err="1"/>
                        <a:t>Trees</a:t>
                      </a:r>
                      <a:endParaRPr lang="de-DE"/>
                    </a:p>
                  </a:txBody>
                  <a:tcPr/>
                </a:tc>
                <a:tc>
                  <a:txBody>
                    <a:bodyPr/>
                    <a:lstStyle/>
                    <a:p>
                      <a:r>
                        <a:rPr lang="de-DE" err="1"/>
                        <a:t>Artificial</a:t>
                      </a:r>
                      <a:r>
                        <a:rPr lang="de-DE"/>
                        <a:t> </a:t>
                      </a:r>
                      <a:r>
                        <a:rPr lang="de-DE" err="1"/>
                        <a:t>Neural</a:t>
                      </a:r>
                      <a:r>
                        <a:rPr lang="de-DE"/>
                        <a:t> Nets</a:t>
                      </a:r>
                    </a:p>
                  </a:txBody>
                  <a:tcPr/>
                </a:tc>
                <a:extLst>
                  <a:ext uri="{0D108BD9-81ED-4DB2-BD59-A6C34878D82A}">
                    <a16:rowId xmlns:a16="http://schemas.microsoft.com/office/drawing/2014/main" val="2726745514"/>
                  </a:ext>
                </a:extLst>
              </a:tr>
              <a:tr h="370840">
                <a:tc>
                  <a:txBody>
                    <a:bodyPr/>
                    <a:lstStyle/>
                    <a:p>
                      <a:r>
                        <a:rPr lang="de-DE" err="1"/>
                        <a:t>Tabular</a:t>
                      </a:r>
                      <a:r>
                        <a:rPr lang="de-DE"/>
                        <a:t> </a:t>
                      </a:r>
                      <a:r>
                        <a:rPr lang="de-DE" err="1"/>
                        <a:t>data</a:t>
                      </a:r>
                      <a:endParaRPr lang="de-DE"/>
                    </a:p>
                  </a:txBody>
                  <a:tcPr/>
                </a:tc>
                <a:tc>
                  <a:txBody>
                    <a:bodyPr/>
                    <a:lstStyle/>
                    <a:p>
                      <a:r>
                        <a:rPr lang="de-DE"/>
                        <a:t>Ensemble </a:t>
                      </a:r>
                      <a:r>
                        <a:rPr lang="de-DE" err="1"/>
                        <a:t>methods</a:t>
                      </a:r>
                      <a:r>
                        <a:rPr lang="de-DE"/>
                        <a:t>: Random Forest, </a:t>
                      </a:r>
                      <a:r>
                        <a:rPr lang="de-DE" err="1"/>
                        <a:t>Boosting</a:t>
                      </a:r>
                      <a:endParaRPr lang="de-DE"/>
                    </a:p>
                  </a:txBody>
                  <a:tcPr/>
                </a:tc>
                <a:tc>
                  <a:txBody>
                    <a:bodyPr/>
                    <a:lstStyle/>
                    <a:p>
                      <a:r>
                        <a:rPr lang="de-DE" err="1"/>
                        <a:t>Starting</a:t>
                      </a:r>
                      <a:r>
                        <a:rPr lang="de-DE"/>
                        <a:t> </a:t>
                      </a:r>
                      <a:r>
                        <a:rPr lang="de-DE" err="1"/>
                        <a:t>from</a:t>
                      </a:r>
                      <a:r>
                        <a:rPr lang="de-DE"/>
                        <a:t> simple </a:t>
                      </a:r>
                      <a:r>
                        <a:rPr lang="de-DE" err="1"/>
                        <a:t>architectures</a:t>
                      </a:r>
                      <a:endParaRPr lang="de-DE"/>
                    </a:p>
                  </a:txBody>
                  <a:tcPr/>
                </a:tc>
                <a:extLst>
                  <a:ext uri="{0D108BD9-81ED-4DB2-BD59-A6C34878D82A}">
                    <a16:rowId xmlns:a16="http://schemas.microsoft.com/office/drawing/2014/main" val="1605544526"/>
                  </a:ext>
                </a:extLst>
              </a:tr>
              <a:tr h="370840">
                <a:tc>
                  <a:txBody>
                    <a:bodyPr/>
                    <a:lstStyle/>
                    <a:p>
                      <a:r>
                        <a:rPr lang="de-DE"/>
                        <a:t>Text</a:t>
                      </a:r>
                    </a:p>
                  </a:txBody>
                  <a:tcPr/>
                </a:tc>
                <a:tc>
                  <a:txBody>
                    <a:bodyPr/>
                    <a:lstStyle/>
                    <a:p>
                      <a:r>
                        <a:rPr lang="de-DE"/>
                        <a:t>-</a:t>
                      </a:r>
                    </a:p>
                  </a:txBody>
                  <a:tcPr/>
                </a:tc>
                <a:tc>
                  <a:txBody>
                    <a:bodyPr/>
                    <a:lstStyle/>
                    <a:p>
                      <a:r>
                        <a:rPr lang="de-DE"/>
                        <a:t>Transformers (</a:t>
                      </a:r>
                      <a:r>
                        <a:rPr lang="de-DE" err="1"/>
                        <a:t>encoding</a:t>
                      </a:r>
                      <a:r>
                        <a:rPr lang="de-DE"/>
                        <a:t>, </a:t>
                      </a:r>
                      <a:r>
                        <a:rPr lang="de-DE" err="1"/>
                        <a:t>decoding</a:t>
                      </a:r>
                      <a:r>
                        <a:rPr lang="de-DE"/>
                        <a:t>, </a:t>
                      </a:r>
                      <a:r>
                        <a:rPr lang="de-DE" err="1"/>
                        <a:t>attention</a:t>
                      </a:r>
                      <a:r>
                        <a:rPr lang="de-DE"/>
                        <a:t>)</a:t>
                      </a:r>
                    </a:p>
                  </a:txBody>
                  <a:tcPr/>
                </a:tc>
                <a:extLst>
                  <a:ext uri="{0D108BD9-81ED-4DB2-BD59-A6C34878D82A}">
                    <a16:rowId xmlns:a16="http://schemas.microsoft.com/office/drawing/2014/main" val="2472260996"/>
                  </a:ext>
                </a:extLst>
              </a:tr>
              <a:tr h="370840">
                <a:tc>
                  <a:txBody>
                    <a:bodyPr/>
                    <a:lstStyle/>
                    <a:p>
                      <a:r>
                        <a:rPr lang="de-DE"/>
                        <a:t>Images</a:t>
                      </a:r>
                    </a:p>
                  </a:txBody>
                  <a:tcPr/>
                </a:tc>
                <a:tc>
                  <a:txBody>
                    <a:bodyPr/>
                    <a:lstStyle/>
                    <a:p>
                      <a:r>
                        <a:rPr lang="de-DE"/>
                        <a:t>-</a:t>
                      </a:r>
                    </a:p>
                  </a:txBody>
                  <a:tcPr/>
                </a:tc>
                <a:tc>
                  <a:txBody>
                    <a:bodyPr/>
                    <a:lstStyle/>
                    <a:p>
                      <a:r>
                        <a:rPr lang="de-DE"/>
                        <a:t>CNNs</a:t>
                      </a:r>
                    </a:p>
                  </a:txBody>
                  <a:tcPr/>
                </a:tc>
                <a:extLst>
                  <a:ext uri="{0D108BD9-81ED-4DB2-BD59-A6C34878D82A}">
                    <a16:rowId xmlns:a16="http://schemas.microsoft.com/office/drawing/2014/main" val="3245338458"/>
                  </a:ext>
                </a:extLst>
              </a:tr>
            </a:tbl>
          </a:graphicData>
        </a:graphic>
      </p:graphicFrame>
    </p:spTree>
    <p:extLst>
      <p:ext uri="{BB962C8B-B14F-4D97-AF65-F5344CB8AC3E}">
        <p14:creationId xmlns:p14="http://schemas.microsoft.com/office/powerpoint/2010/main" val="1406536868"/>
      </p:ext>
    </p:extLst>
  </p:cSld>
  <p:clrMapOvr>
    <a:masterClrMapping/>
  </p:clrMapOvr>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a:extLst>
              <a:ext uri="{FF2B5EF4-FFF2-40B4-BE49-F238E27FC236}">
                <a16:creationId xmlns:a16="http://schemas.microsoft.com/office/drawing/2014/main" id="{0CB793D4-EC53-45EA-8D6A-9C397530E29D}"/>
              </a:ext>
            </a:extLst>
          </p:cNvPr>
          <p:cNvSpPr>
            <a:spLocks noGrp="1"/>
          </p:cNvSpPr>
          <p:nvPr>
            <p:ph type="title"/>
          </p:nvPr>
        </p:nvSpPr>
        <p:spPr/>
        <p:txBody>
          <a:bodyPr/>
          <a:lstStyle/>
          <a:p>
            <a:r>
              <a:rPr lang="en-US"/>
              <a:t>Please Give Us Feedback!</a:t>
            </a:r>
          </a:p>
        </p:txBody>
      </p:sp>
      <p:sp>
        <p:nvSpPr>
          <p:cNvPr id="3" name="Textfeld 2">
            <a:extLst>
              <a:ext uri="{FF2B5EF4-FFF2-40B4-BE49-F238E27FC236}">
                <a16:creationId xmlns:a16="http://schemas.microsoft.com/office/drawing/2014/main" id="{140ABB90-1C37-4037-BEEB-EA0B417705F2}"/>
              </a:ext>
            </a:extLst>
          </p:cNvPr>
          <p:cNvSpPr txBox="1"/>
          <p:nvPr/>
        </p:nvSpPr>
        <p:spPr>
          <a:xfrm>
            <a:off x="627062" y="1461922"/>
            <a:ext cx="11088687" cy="4775366"/>
          </a:xfrm>
          <a:prstGeom prst="rect">
            <a:avLst/>
          </a:prstGeom>
          <a:noFill/>
        </p:spPr>
        <p:txBody>
          <a:bodyPr wrap="square" lIns="0" tIns="0" rIns="0" bIns="0" rtlCol="0">
            <a:noAutofit/>
          </a:bodyPr>
          <a:lstStyle/>
          <a:p>
            <a:pPr marL="171450" indent="-171450">
              <a:lnSpc>
                <a:spcPct val="110000"/>
              </a:lnSpc>
              <a:spcBef>
                <a:spcPts val="0"/>
              </a:spcBef>
              <a:buFont typeface="Arial" panose="020B0604020202020204" pitchFamily="34" charset="0"/>
              <a:buChar char="•"/>
            </a:pPr>
            <a:r>
              <a:rPr lang="en-US" b="1" dirty="0">
                <a:solidFill>
                  <a:schemeClr val="tx1"/>
                </a:solidFill>
                <a:latin typeface="+mn-lt"/>
                <a:ea typeface="Arial Unicode MS" panose="020B0604020202020204" pitchFamily="34" charset="-128"/>
                <a:cs typeface="Arial Unicode MS" panose="020B0604020202020204" pitchFamily="34" charset="-128"/>
              </a:rPr>
              <a:t>Feedback is very important for us. This course is free, but we need to know if this is beneficial for you. </a:t>
            </a:r>
          </a:p>
          <a:p>
            <a:pPr marL="171450" indent="-171450">
              <a:lnSpc>
                <a:spcPct val="110000"/>
              </a:lnSpc>
              <a:spcBef>
                <a:spcPts val="0"/>
              </a:spcBef>
              <a:buFont typeface="Arial" panose="020B0604020202020204" pitchFamily="34" charset="0"/>
              <a:buChar char="•"/>
            </a:pPr>
            <a:r>
              <a:rPr lang="en-US" b="1" dirty="0">
                <a:solidFill>
                  <a:schemeClr val="tx1"/>
                </a:solidFill>
                <a:latin typeface="+mn-lt"/>
                <a:ea typeface="Arial Unicode MS" panose="020B0604020202020204" pitchFamily="34" charset="-128"/>
                <a:cs typeface="Arial Unicode MS" panose="020B0604020202020204" pitchFamily="34" charset="-128"/>
              </a:rPr>
              <a:t>Based on your feedback, we will continue to offer this, develop additional courses – or not.</a:t>
            </a:r>
          </a:p>
          <a:p>
            <a:pPr marL="171450" indent="-171450">
              <a:lnSpc>
                <a:spcPct val="110000"/>
              </a:lnSpc>
              <a:spcBef>
                <a:spcPts val="0"/>
              </a:spcBef>
              <a:buFont typeface="Arial" panose="020B0604020202020204" pitchFamily="34" charset="0"/>
              <a:buChar char="•"/>
            </a:pPr>
            <a:endParaRPr lang="en-US" dirty="0">
              <a:solidFill>
                <a:schemeClr val="tx1"/>
              </a:solidFill>
              <a:latin typeface="+mn-lt"/>
              <a:ea typeface="Arial Unicode MS" panose="020B0604020202020204" pitchFamily="34" charset="-128"/>
              <a:cs typeface="Arial Unicode MS" panose="020B0604020202020204" pitchFamily="34" charset="-128"/>
            </a:endParaRPr>
          </a:p>
          <a:p>
            <a:pPr marL="171450" indent="-171450">
              <a:lnSpc>
                <a:spcPct val="110000"/>
              </a:lnSpc>
              <a:spcBef>
                <a:spcPts val="0"/>
              </a:spcBef>
              <a:buFont typeface="Arial" panose="020B0604020202020204" pitchFamily="34" charset="0"/>
              <a:buChar char="•"/>
            </a:pPr>
            <a:r>
              <a:rPr lang="en-US" sz="1600" dirty="0">
                <a:solidFill>
                  <a:schemeClr val="tx1"/>
                </a:solidFill>
                <a:latin typeface="+mn-lt"/>
                <a:ea typeface="Arial Unicode MS" panose="020B0604020202020204" pitchFamily="34" charset="-128"/>
                <a:cs typeface="Arial Unicode MS" panose="020B0604020202020204" pitchFamily="34" charset="-128"/>
              </a:rPr>
              <a:t>Please visit at the end of this course the following website: </a:t>
            </a:r>
            <a:r>
              <a:rPr lang="en-US" sz="1600" dirty="0">
                <a:solidFill>
                  <a:schemeClr val="tx1"/>
                </a:solidFill>
                <a:latin typeface="+mn-lt"/>
                <a:ea typeface="Arial Unicode MS" panose="020B0604020202020204" pitchFamily="34" charset="-128"/>
                <a:cs typeface="Arial Unicode MS" panose="020B0604020202020204" pitchFamily="34" charset="-128"/>
                <a:hlinkClick r:id="rId3"/>
              </a:rPr>
              <a:t>https://forms.office.com/Pages/ResponsePage.aspx?id=PqlLJW8f80iQ5uJ2ZmS0d-5LdjYRShZEhN3YmsD7St9UMFZZTFFVQjFSUUxTMzhQNTM3S1hSM0ExVS4u</a:t>
            </a:r>
            <a:r>
              <a:rPr lang="en-US" sz="1600" dirty="0">
                <a:solidFill>
                  <a:schemeClr val="tx1"/>
                </a:solidFill>
                <a:latin typeface="+mn-lt"/>
                <a:ea typeface="Arial Unicode MS" panose="020B0604020202020204" pitchFamily="34" charset="-128"/>
                <a:cs typeface="Arial Unicode MS" panose="020B0604020202020204" pitchFamily="34" charset="-128"/>
              </a:rPr>
              <a:t> </a:t>
            </a:r>
          </a:p>
        </p:txBody>
      </p:sp>
    </p:spTree>
    <p:extLst>
      <p:ext uri="{BB962C8B-B14F-4D97-AF65-F5344CB8AC3E}">
        <p14:creationId xmlns:p14="http://schemas.microsoft.com/office/powerpoint/2010/main" val="15316700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CDT_VERSION" val="4.1.2.0"/>
  <p:tag name="CDT_CREATORVERSION" val="4.1.2.0"/>
  <p:tag name="CDT_TEMPLATEVERSION" val="2.0.0"/>
  <p:tag name="CDT_FONTSET" val="Arial"/>
  <p:tag name="CDT_CUSTOMER" val="Siemens_2016_16x9"/>
  <p:tag name="CDT_CUSTOMER_NAME" val="Siemens AG (Corporate Design Update 2016)"/>
  <p:tag name="CDT_LANGUAGE" val="1033"/>
</p:tagLst>
</file>

<file path=ppt/tags/tag2.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DELETE_ONEVENT_NEWPRES" val="False"/>
  <p:tag name="CDT_PROT" val="2"/>
  <p:tag name="CDT_PROT_TOP" val="0"/>
  <p:tag name="CDT_PROT_LEFT" val="0"/>
  <p:tag name="CDT_PROT_WIDTH" val="960,5"/>
  <p:tag name="CDT_PROT_HEIGHT" val="99,87504"/>
</p:tagLst>
</file>

<file path=ppt/tags/tag3.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4.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5:0-0-326,7-960,5"/>
  <p:tag name="CDT_MASTERSHAPE2" val="11:0-0-326,7-960,5"/>
  <p:tag name="CDT_MASTERSHAPE3" val="57350:326,7-26,62496-68,50504-933,8749"/>
  <p:tag name="CDT_MASTERSHAPE4" val="57351:295,7487-26,62496-30,95134-933,8749"/>
  <p:tag name="CDT_MASTERSHAPE5" val="12:0-480,25-0,1250394-0,1250394"/>
  <p:tag name="CDT_MASTERSHAPE6" val="13:0-49,37504-76,20732-136,063"/>
  <p:tag name="CDT_MASTERSHAPE7" val="14:485,5-0-34-960,5"/>
  <p:tag name="CDT_MASTERSHAPE8" val="10:485,5-695,75-34-264,75"/>
</p:tagLst>
</file>

<file path=ppt/tags/tag5.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406,08-960,5"/>
  <p:tag name="CDT_MASTERSHAPE2" val="13:0-0-406,08-960,5"/>
  <p:tag name="CDT_MASTERSHAPE3" val="57350:337,575-26,62496-68,50504-933,8749"/>
  <p:tag name="CDT_MASTERSHAPE4" val="57351:406,08-26,62496-30,95134-933,8749"/>
  <p:tag name="CDT_MASTERSHAPE5" val="11:0-480,25-0,1250394-0,1250394"/>
  <p:tag name="CDT_MASTERSHAPE6" val="14:0-49,37504-76,20732-136,063"/>
  <p:tag name="CDT_MASTERSHAPE7" val="15:485,5-0-34-960,5"/>
  <p:tag name="CDT_MASTERSHAPE8" val="12:485,5-695,75-34-264,75"/>
</p:tagLst>
</file>

<file path=ppt/tags/tag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540-960,5"/>
  <p:tag name="CDT_MASTERSHAPE2" val="14:0-0-540-960,5"/>
  <p:tag name="CDT_MASTERSHAPE3" val="57350:190,6199-26,62496-99,70441-933,8749"/>
  <p:tag name="CDT_MASTERSHAPE4" val="11:0-480,25-0,1250394-0,1250394"/>
  <p:tag name="CDT_MASTERSHAPE5" val="12:0-49,37504-76,20732-136,063"/>
  <p:tag name="CDT_MASTERSHAPE6" val="15:485,5-0-34-960,5"/>
  <p:tag name="CDT_MASTERSHAPE7" val="57351:190,62-26,62504-30,95134-933,8749"/>
  <p:tag name="CDT_MASTERSHAPE8" val="13:485,5-695,75-34-264,75"/>
</p:tagLst>
</file>

<file path=ppt/tags/tag7.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6:0-0-540-960,5"/>
  <p:tag name="CDT_MASTERSHAPE2" val="14:0-0-540-960,5"/>
  <p:tag name="CDT_MASTERSHAPE3" val="57350:235,2668-26,62496-99,70441-933,8749"/>
  <p:tag name="CDT_MASTERSHAPE4" val="11:0-480,25-0,1250394-0,1250394"/>
  <p:tag name="CDT_MASTERSHAPE5" val="13:0-49,37504-76,20732-136,063"/>
  <p:tag name="CDT_MASTERSHAPE6" val="15:485,5-0-34-960,5"/>
  <p:tag name="CDT_MASTERSHAPE7" val="57351:304-26,62504-30,95134-933,8749"/>
  <p:tag name="CDT_MASTERSHAPE8" val="12:485,5-695,75-34-264,75"/>
</p:tagLst>
</file>

<file path=ppt/tags/tag8.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7:0-0-326,75-960,5"/>
  <p:tag name="CDT_MASTERSHAPE2" val="57350:326,7-26,62504-68,50504-933,8749"/>
  <p:tag name="CDT_MASTERSHAPE3" val="57351:295,7487-26,62504-30,95134-933,8749"/>
  <p:tag name="CDT_MASTERSHAPE4" val="6:0-480,25-0,1250394-0,1250394"/>
  <p:tag name="CDT_MASTERSHAPE5" val="8:0-809,1249-63,37504-113,375"/>
</p:tagLst>
</file>

<file path=ppt/tags/tag9.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7:0-0-406,5005-960,5"/>
  <p:tag name="CDT_MASTERSHAPE2" val="57350:337,575-26,62504-68,50504-933,8749"/>
  <p:tag name="CDT_MASTERSHAPE3" val="57351:406,08-26,62504-30,95134-933,8749"/>
  <p:tag name="CDT_MASTERSHAPE4" val="6:0-480,25-0,1250394-0,1250394"/>
  <p:tag name="CDT_MASTERSHAPE5" val="9:0-809,1249-63,37504-113,375"/>
</p:tagLst>
</file>

<file path=ppt/tags/tag10.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5:111,25-366,85-374,25-593,65"/>
  <p:tag name="CDT_MASTERSHAPE2" val="13:111,25-366,8501-374,25-593,6499"/>
  <p:tag name="CDT_MASTERSHAPE3" val="2:0-0-99,87504-960,5"/>
  <p:tag name="CDT_MASTERSHAPE4" val="11:111,25-0-374,25-355,51"/>
</p:tagLst>
</file>

<file path=ppt/tags/tag11.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13:111,25-49,37504-374,25-306,1349"/>
  <p:tag name="CDT_MASTERSHAPE3" val="5:111,25-366,85-374,25-593,65"/>
</p:tagLst>
</file>

<file path=ppt/tags/tag12.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Lst>
</file>

<file path=ppt/tags/tag13.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646,3749"/>
</p:tagLst>
</file>

<file path=ppt/tags/tag14.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532,9134"/>
</p:tagLst>
</file>

<file path=ppt/tags/tag15.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430,875"/>
  <p:tag name="CDT_MASTERSHAPE3" val="4:111,25-491,625-374,25-430,875"/>
</p:tagLst>
</file>

<file path=ppt/tags/tag1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646,3749"/>
  <p:tag name="CDT_MASTERSHAPE3" val="13:304-49,37504-181,5-646,3749"/>
</p:tagLst>
</file>

<file path=ppt/tags/tag17.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283,5"/>
  <p:tag name="CDT_MASTERSHAPE3" val="13:111,25-344,125-374,25-283,4646"/>
  <p:tag name="CDT_MASTERSHAPE4" val="12:111,25-639,0355-374,25-283,4646"/>
</p:tagLst>
</file>

<file path=ppt/tags/tag18.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430,875"/>
  <p:tag name="CDT_MASTERSHAPE3" val="4:111,25-491,625-181,375-430,875"/>
  <p:tag name="CDT_MASTERSHAPE4" val="5:304-49,37504-181,5-430,875"/>
  <p:tag name="CDT_MASTERSHAPE5" val="6:304-491,625-181,5-430,875"/>
</p:tagLst>
</file>

<file path=ppt/tags/tag19.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5:111,25-820,4528-374,25-102,0472"/>
</p:tagLst>
</file>

<file path=ppt/tags/tag20.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646,3749"/>
  <p:tag name="CDT_MASTERSHAPE3" val="5:111,25-820,4528-374,25-102,0472"/>
</p:tagLst>
</file>

<file path=ppt/tags/tag21.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532,9134"/>
  <p:tag name="CDT_MASTERSHAPE3" val="6:111,25-820,4528-374,25-102,0472"/>
</p:tagLst>
</file>

<file path=ppt/tags/tag22.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317,4803"/>
  <p:tag name="CDT_MASTERSHAPE3" val="13:111,25-378,2697-374,25-317,4803"/>
  <p:tag name="CDT_MASTERSHAPE4" val="6:111,25-820,4528-374,25-102,0472"/>
</p:tagLst>
</file>

<file path=ppt/tags/tag23.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49,37504-374,25-204,0945"/>
  <p:tag name="CDT_MASTERSHAPE3" val="13:111,25-264,7559-374,25-215,4941"/>
  <p:tag name="CDT_MASTERSHAPE4" val="12:111,25-491,625-374,25-204,125"/>
  <p:tag name="CDT_MASTERSHAPE5" val="7:111,25-820,4528-374,25-102,0472"/>
</p:tagLst>
</file>

<file path=ppt/tags/tag24.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646,3749"/>
  <p:tag name="CDT_MASTERSHAPE3" val="13:304-49,37504-181,5-646,3749"/>
  <p:tag name="CDT_MASTERSHAPE4" val="6:111,25-820,4528-374,25-102,0472"/>
</p:tagLst>
</file>

<file path=ppt/tags/tag25.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2:0-0-99,87504-960,5"/>
  <p:tag name="CDT_MASTERSHAPE2" val="3:111,2501-49,37504-181,375-317,4803"/>
  <p:tag name="CDT_MASTERSHAPE3" val="13:111,25-378,2696-181,375-317,4803"/>
  <p:tag name="CDT_MASTERSHAPE4" val="12:304-49,37504-181,5-317,4803"/>
  <p:tag name="CDT_MASTERSHAPE5" val="15:304-378,2697-181,5-317,4803"/>
  <p:tag name="CDT_MASTERSHAPE6" val="10:111,25-820,4528-374,25-102,0472"/>
</p:tagLst>
</file>

<file path=ppt/tags/tag26.xml><?xml version="1.0" encoding="utf-8"?>
<p:tagLst xmlns:a="http://schemas.openxmlformats.org/drawingml/2006/main" xmlns:r="http://schemas.openxmlformats.org/officeDocument/2006/relationships" xmlns:p="http://schemas.openxmlformats.org/presentationml/2006/main">
  <p:tag name="CDT_PROT" val="3"/>
  <p:tag name="CDT_PROT_TOP" val="0"/>
  <p:tag name="CDT_PROT_LEFT" val="0"/>
  <p:tag name="CDT_PROT_WIDTH" val="0"/>
  <p:tag name="CDT_PROT_HEIGHT" val="0"/>
  <p:tag name="CDT_LINEUNVISIBLE" val="True"/>
  <p:tag name="CDT_LINEFIXED" val="True"/>
  <p:tag name="CDT_DESIGN_NAME" val="Siemens 2013 – 16:9"/>
  <p:tag name="CDT_MASTERSHAPE1" val="15:0-0-99,87504-960,5"/>
  <p:tag name="CDT_MASTERSHAPE2" val="3078:0-0-99,87504-960,5"/>
  <p:tag name="CDT_MASTERSHAPE3" val="3079:111,25-49,37504-374,25-646,3749"/>
  <p:tag name="CDT_MASTERSHAPE4" val="10:0-809,1142-63,50622-113,3858"/>
  <p:tag name="CDT_MASTERSHAPE5" val="16:485,5-0-34-960,5"/>
  <p:tag name="CDT_MASTERSHAPE6" val="17:519,5-0-20,5-309,6244"/>
  <p:tag name="CDT_MASTERSHAPE7" val="18:519,5-0-20,5-138,9988"/>
  <p:tag name="CDT_MASTERSHAPE8" val="19:519,5-298,2492-20,5-662,2507"/>
  <p:tag name="CDT_MASTERSHAPE9" val="20:0-480,25-0,1250394-0,1250394"/>
  <p:tag name="CDT_MASTERSHAPE10" val="3072:0-0-0-0"/>
  <p:tag name="CDT_MASTERSHAPE11" val="3073:0-0-0-0"/>
  <p:tag name="CDT_MASTERSHAPE12" val="3074:0-0-0-0"/>
  <p:tag name="CDT_MASTERSHAPE13" val="3075:0-0-0-0"/>
  <p:tag name="CDT_MASTERSHAPE14" val="3076:0-0-0-0"/>
  <p:tag name="CDT_MASTERSHAPE15" val="3077:0-0-0-0"/>
  <p:tag name="CDT_MASTERSHAPE16" val="3080:0-0-0-0"/>
  <p:tag name="CDT_MASTERSHAPE17" val="3081:0-0-0-0"/>
  <p:tag name="CDT_MASTERSHAPE18" val="3082:0-0-0-0"/>
  <p:tag name="CDT_MASTERSHAPE19" val="3083:0-0-0-0"/>
  <p:tag name="CDT_MASTERSHAPE20" val="3084:0-0-0-0"/>
  <p:tag name="CDT_MASTERSHAPE21" val="3085:0-0-0-0"/>
  <p:tag name="CDT_MASTERSHAPE22" val="3086:0-0-0-0"/>
  <p:tag name="CDT_MASTERSHAPE23" val="3087:0-0-0-0"/>
  <p:tag name="CDT_MASTERSHAPE24" val="3088:0-0-0-0"/>
  <p:tag name="CDT_MASTERSHAPE25" val="3089:0-0-0-0"/>
  <p:tag name="CDT_MASTERSHAPE26" val="3090:0-0-0-0"/>
  <p:tag name="CDT_MASTERSHAPE27" val="3091:0-0-0-0"/>
  <p:tag name="CDT_MASTERSHAPE28" val="3092:0-0-0-0"/>
  <p:tag name="CDT_MASTERSHAPE29" val="3093:0-0-0-0"/>
  <p:tag name="CDT_MASTERSHAPE30" val="3094:0-0-0-0"/>
  <p:tag name="CDT_MASTERSHAPE31" val="3095:0-0-0-0"/>
  <p:tag name="CDT_MASTERSHAPE32" val="3096:0-0-0-0"/>
</p:tagLst>
</file>

<file path=ppt/tags/tag27.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4"/>
  <p:tag name="CDT_TARGETSHAPE_NEW" val="1"/>
  <p:tag name="CDT_PROT" val="3"/>
  <p:tag name="CDT_PROT_TOP" val="485,5"/>
  <p:tag name="CDT_PROT_LEFT" val="0"/>
  <p:tag name="CDT_PROT_WIDTH" val="960,5"/>
  <p:tag name="CDT_PROT_HEIGHT" val="34"/>
</p:tagLst>
</file>

<file path=ppt/tags/tag28.xml><?xml version="1.0" encoding="utf-8"?>
<p:tagLst xmlns:a="http://schemas.openxmlformats.org/drawingml/2006/main" xmlns:r="http://schemas.openxmlformats.org/officeDocument/2006/relationships" xmlns:p="http://schemas.openxmlformats.org/presentationml/2006/main">
  <p:tag name="CDT_AUTODIALOG" val="1"/>
  <p:tag name="CDT_FILLFIXED" val="True"/>
  <p:tag name="CDT_LINEFIXED" val="True"/>
  <p:tag name="CDT_FILLUNVISIBLE" val="True"/>
  <p:tag name="CDT_LINEUNVISIBLE" val="True"/>
  <p:tag name="CDT_EXTCOL" val="True"/>
  <p:tag name="CDT_COLTX_NEW" val="25"/>
  <p:tag name="CDT_TARGETSHAPE_NEW" val="8"/>
  <p:tag name="CDT_PROT" val="3"/>
  <p:tag name="CDT_PROT_TOP" val="519,5"/>
  <p:tag name="CDT_PROT_LEFT" val="0"/>
  <p:tag name="CDT_PROT_WIDTH" val="309,6244"/>
  <p:tag name="CDT_PROT_HEIGHT" val="20,5"/>
</p:tagLst>
</file>

<file path=ppt/tags/tag29.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5"/>
  <p:tag name="CDT_TARGETSHAPE_NEW" val="7"/>
  <p:tag name="CDT_PROT" val="3"/>
  <p:tag name="CDT_PROT_TOP" val="519,5"/>
  <p:tag name="CDT_PROT_LEFT" val="0"/>
  <p:tag name="CDT_PROT_WIDTH" val="138,9988"/>
  <p:tag name="CDT_PROT_HEIGHT" val="20,5"/>
</p:tagLst>
</file>

<file path=ppt/tags/tag30.xml><?xml version="1.0" encoding="utf-8"?>
<p:tagLst xmlns:a="http://schemas.openxmlformats.org/drawingml/2006/main" xmlns:r="http://schemas.openxmlformats.org/officeDocument/2006/relationships" xmlns:p="http://schemas.openxmlformats.org/presentationml/2006/main">
  <p:tag name="CDT_AUTODIALOG" val="1"/>
  <p:tag name="CDT_FILLFIXED" val="True"/>
  <p:tag name="CDT_LINEFIXED" val="True"/>
  <p:tag name="CDT_FILLUNVISIBLE" val="True"/>
  <p:tag name="CDT_LINEUNVISIBLE" val="True"/>
  <p:tag name="CDT_EXTCOL" val="True"/>
  <p:tag name="CDT_COLTX_NEW" val="25"/>
  <p:tag name="CDT_TARGETSHAPE_NEW" val="9"/>
  <p:tag name="CDT_PROT" val="3"/>
  <p:tag name="CDT_PROT_TOP" val="519,5"/>
  <p:tag name="CDT_PROT_LEFT" val="298,2492"/>
  <p:tag name="CDT_PROT_WIDTH" val="662,2507"/>
  <p:tag name="CDT_PROT_HEIGHT" val="20,5"/>
</p:tagLst>
</file>

<file path=ppt/tags/tag31.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2.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3.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4.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5.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6.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7.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38.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39.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40.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41.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1"/>
  <p:tag name="CDT_EXTCOL" val="True"/>
  <p:tag name="CDT_COLTX_NEW" val="26"/>
  <p:tag name="CDT_TARGETSHAPE_NEW" val="2"/>
  <p:tag name="CDT_PROT" val="3"/>
  <p:tag name="CDT_PROT_TOP" val="0"/>
  <p:tag name="CDT_PROT_LEFT" val="480,25"/>
  <p:tag name="CDT_PROT_WIDTH" val="0,1250394"/>
  <p:tag name="CDT_PROT_HEIGHT" val="0,1250394"/>
  <p:tag name="CDT_DELETE_ONEVENT_NEWPRES" val="False"/>
</p:tagLst>
</file>

<file path=ppt/tags/tag42.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19"/>
  <p:tag name="CDT_COLFF_NEW" val="19"/>
  <p:tag name="CDT_EXTCOL" val="True"/>
  <p:tag name="CDT_COLTX_NEW" val="20"/>
  <p:tag name="CDT_TARGETSHAPE_NEW" val="3"/>
  <p:tag name="CDT_PROT" val="4"/>
  <p:tag name="CDT_PROT_TOP" val="235,2668"/>
  <p:tag name="CDT_PROT_LEFT" val="26,62496"/>
  <p:tag name="CDT_PROT_WIDTH" val="933,8749"/>
  <p:tag name="CDT_PROT_HEIGHT" val="99,70441"/>
  <p:tag name="CDT_DELETE_ONEVENT_NEWPRES" val="False"/>
</p:tagLst>
</file>

<file path=ppt/tags/tag43.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21"/>
  <p:tag name="CDT_COLFF_NEW" val="21"/>
  <p:tag name="CDT_EXTCOL" val="True"/>
  <p:tag name="CDT_COLTX_NEW" val="22"/>
  <p:tag name="CDT_TARGETSHAPE_NEW" val="20"/>
  <p:tag name="CDT_DELETE_ONEVENT_NEWPRES" val="False"/>
  <p:tag name="CDT_PROT" val="2"/>
  <p:tag name="CDT_PROT_TOP" val="111,25"/>
  <p:tag name="CDT_PROT_LEFT" val="366,8501"/>
  <p:tag name="CDT_PROT_WIDTH" val="593,6499"/>
  <p:tag name="CDT_PROT_HEIGHT" val="374,25"/>
</p:tagLst>
</file>

<file path=ppt/tags/tag44.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45.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306,1349"/>
  <p:tag name="CDT_PROT_HEIGHT" val="374,25"/>
</p:tagLst>
</file>

<file path=ppt/tags/tag46.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21"/>
  <p:tag name="CDT_COLFF_NEW" val="21"/>
  <p:tag name="CDT_EXTCOL" val="True"/>
  <p:tag name="CDT_COLTX_NEW" val="22"/>
  <p:tag name="CDT_DELETE_ONEVENT_NEWPRES" val="False"/>
  <p:tag name="CDT_PROT" val="2"/>
  <p:tag name="CDT_PROT_TOP" val="111,25"/>
  <p:tag name="CDT_PROT_LEFT" val="366,85"/>
  <p:tag name="CDT_PROT_WIDTH" val="593,65"/>
  <p:tag name="CDT_PROT_HEIGHT" val="374,25"/>
</p:tagLst>
</file>

<file path=ppt/tags/tag47.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48.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49.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50.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51.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532,9134"/>
  <p:tag name="CDT_PROT_HEIGHT" val="374,25"/>
</p:tagLst>
</file>

<file path=ppt/tags/tag52.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53.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430,875"/>
  <p:tag name="CDT_PROT_HEIGHT" val="374,25"/>
</p:tagLst>
</file>

<file path=ppt/tags/tag54.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1,625"/>
  <p:tag name="CDT_PROT_WIDTH" val="430,875"/>
  <p:tag name="CDT_PROT_HEIGHT" val="374,25"/>
</p:tagLst>
</file>

<file path=ppt/tags/tag55.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430,875"/>
  <p:tag name="CDT_PROT_HEIGHT" val="374,25"/>
</p:tagLst>
</file>

<file path=ppt/tags/tag56.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430,875"/>
  <p:tag name="CDT_PROT_HEIGHT" val="374,25"/>
</p:tagLst>
</file>

<file path=ppt/tags/tag57.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58.xml><?xml version="1.0" encoding="utf-8"?>
<p:tagLst xmlns:a="http://schemas.openxmlformats.org/drawingml/2006/main" xmlns:r="http://schemas.openxmlformats.org/officeDocument/2006/relationships" xmlns:p="http://schemas.openxmlformats.org/presentationml/2006/main">
  <p:tag name="CDT_PROT" val="2"/>
  <p:tag name="CDT_PROT_TOP" val="111,2501"/>
  <p:tag name="CDT_PROT_LEFT" val="49,37504"/>
  <p:tag name="CDT_PROT_WIDTH" val="646,3749"/>
  <p:tag name="CDT_PROT_HEIGHT" val="181,375"/>
</p:tagLst>
</file>

<file path=ppt/tags/tag59.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37504"/>
  <p:tag name="CDT_PROT_WIDTH" val="646,3749"/>
  <p:tag name="CDT_PROT_HEIGHT" val="181,5"/>
</p:tagLst>
</file>

<file path=ppt/tags/tag60.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61.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283,5"/>
  <p:tag name="CDT_PROT_HEIGHT" val="374,25"/>
</p:tagLst>
</file>

<file path=ppt/tags/tag62.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344,125"/>
  <p:tag name="CDT_PROT_WIDTH" val="283,4646"/>
  <p:tag name="CDT_PROT_HEIGHT" val="374,25"/>
</p:tagLst>
</file>

<file path=ppt/tags/tag63.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639,0355"/>
  <p:tag name="CDT_PROT_WIDTH" val="283,4646"/>
  <p:tag name="CDT_PROT_HEIGHT" val="374,25"/>
</p:tagLst>
</file>

<file path=ppt/tags/tag64.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65.xml><?xml version="1.0" encoding="utf-8"?>
<p:tagLst xmlns:a="http://schemas.openxmlformats.org/drawingml/2006/main" xmlns:r="http://schemas.openxmlformats.org/officeDocument/2006/relationships" xmlns:p="http://schemas.openxmlformats.org/presentationml/2006/main">
  <p:tag name="CDT_PROT" val="2"/>
  <p:tag name="CDT_PROT_TOP" val="111,2501"/>
  <p:tag name="CDT_PROT_LEFT" val="49,37504"/>
  <p:tag name="CDT_PROT_WIDTH" val="430,875"/>
  <p:tag name="CDT_PROT_HEIGHT" val="181,375"/>
</p:tagLst>
</file>

<file path=ppt/tags/tag66.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1,625"/>
  <p:tag name="CDT_PROT_WIDTH" val="430,875"/>
  <p:tag name="CDT_PROT_HEIGHT" val="181,375"/>
</p:tagLst>
</file>

<file path=ppt/tags/tag67.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37504"/>
  <p:tag name="CDT_PROT_WIDTH" val="430,875"/>
  <p:tag name="CDT_PROT_HEIGHT" val="181,5"/>
</p:tagLst>
</file>

<file path=ppt/tags/tag68.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1,625"/>
  <p:tag name="CDT_PROT_WIDTH" val="430,875"/>
  <p:tag name="CDT_PROT_HEIGHT" val="181,5"/>
</p:tagLst>
</file>

<file path=ppt/tags/tag69.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70.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71.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72.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646,3749"/>
  <p:tag name="CDT_PROT_HEIGHT" val="374,25"/>
</p:tagLst>
</file>

<file path=ppt/tags/tag73.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74.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75.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532,9134"/>
  <p:tag name="CDT_PROT_HEIGHT" val="374,25"/>
</p:tagLst>
</file>

<file path=ppt/tags/tag76.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77.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78.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317,4803"/>
  <p:tag name="CDT_PROT_HEIGHT" val="374,25"/>
</p:tagLst>
</file>

<file path=ppt/tags/tag79.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378,2697"/>
  <p:tag name="CDT_PROT_WIDTH" val="317,4803"/>
  <p:tag name="CDT_PROT_HEIGHT" val="374,25"/>
</p:tagLst>
</file>

<file path=ppt/tags/tag80.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81.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82.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37504"/>
  <p:tag name="CDT_PROT_WIDTH" val="204,0945"/>
  <p:tag name="CDT_PROT_HEIGHT" val="374,25"/>
</p:tagLst>
</file>

<file path=ppt/tags/tag83.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264,7559"/>
  <p:tag name="CDT_PROT_WIDTH" val="215,4941"/>
  <p:tag name="CDT_PROT_HEIGHT" val="374,25"/>
</p:tagLst>
</file>

<file path=ppt/tags/tag84.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491,625"/>
  <p:tag name="CDT_PROT_WIDTH" val="204,125"/>
  <p:tag name="CDT_PROT_HEIGHT" val="374,25"/>
</p:tagLst>
</file>

<file path=ppt/tags/tag85.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86.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87.xml><?xml version="1.0" encoding="utf-8"?>
<p:tagLst xmlns:a="http://schemas.openxmlformats.org/drawingml/2006/main" xmlns:r="http://schemas.openxmlformats.org/officeDocument/2006/relationships" xmlns:p="http://schemas.openxmlformats.org/presentationml/2006/main">
  <p:tag name="CDT_PROT" val="2"/>
  <p:tag name="CDT_PROT_TOP" val="111,2501"/>
  <p:tag name="CDT_PROT_LEFT" val="49,37504"/>
  <p:tag name="CDT_PROT_WIDTH" val="646,3749"/>
  <p:tag name="CDT_PROT_HEIGHT" val="181,375"/>
</p:tagLst>
</file>

<file path=ppt/tags/tag88.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37504"/>
  <p:tag name="CDT_PROT_WIDTH" val="646,3749"/>
  <p:tag name="CDT_PROT_HEIGHT" val="181,5"/>
</p:tagLst>
</file>

<file path=ppt/tags/tag89.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90.xml><?xml version="1.0" encoding="utf-8"?>
<p:tagLst xmlns:a="http://schemas.openxmlformats.org/drawingml/2006/main" xmlns:r="http://schemas.openxmlformats.org/officeDocument/2006/relationships" xmlns:p="http://schemas.openxmlformats.org/presentationml/2006/main">
  <p:tag name="CDT_PROT" val="2"/>
  <p:tag name="CDT_PROT_TOP" val="0"/>
  <p:tag name="CDT_PROT_LEFT" val="0"/>
  <p:tag name="CDT_PROT_WIDTH" val="960,5"/>
  <p:tag name="CDT_PROT_HEIGHT" val="99,87504"/>
</p:tagLst>
</file>

<file path=ppt/tags/tag91.xml><?xml version="1.0" encoding="utf-8"?>
<p:tagLst xmlns:a="http://schemas.openxmlformats.org/drawingml/2006/main" xmlns:r="http://schemas.openxmlformats.org/officeDocument/2006/relationships" xmlns:p="http://schemas.openxmlformats.org/presentationml/2006/main">
  <p:tag name="CDT_PROT" val="2"/>
  <p:tag name="CDT_PROT_TOP" val="111,2501"/>
  <p:tag name="CDT_PROT_LEFT" val="49,37504"/>
  <p:tag name="CDT_PROT_WIDTH" val="317,4803"/>
  <p:tag name="CDT_PROT_HEIGHT" val="181,375"/>
</p:tagLst>
</file>

<file path=ppt/tags/tag92.xml><?xml version="1.0" encoding="utf-8"?>
<p:tagLst xmlns:a="http://schemas.openxmlformats.org/drawingml/2006/main" xmlns:r="http://schemas.openxmlformats.org/officeDocument/2006/relationships" xmlns:p="http://schemas.openxmlformats.org/presentationml/2006/main">
  <p:tag name="CDT_PROT" val="2"/>
  <p:tag name="CDT_PROT_TOP" val="111,25"/>
  <p:tag name="CDT_PROT_LEFT" val="378,2696"/>
  <p:tag name="CDT_PROT_WIDTH" val="317,4803"/>
  <p:tag name="CDT_PROT_HEIGHT" val="181,375"/>
</p:tagLst>
</file>

<file path=ppt/tags/tag93.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49,37504"/>
  <p:tag name="CDT_PROT_WIDTH" val="317,4803"/>
  <p:tag name="CDT_PROT_HEIGHT" val="181,5"/>
</p:tagLst>
</file>

<file path=ppt/tags/tag94.xml><?xml version="1.0" encoding="utf-8"?>
<p:tagLst xmlns:a="http://schemas.openxmlformats.org/drawingml/2006/main" xmlns:r="http://schemas.openxmlformats.org/officeDocument/2006/relationships" xmlns:p="http://schemas.openxmlformats.org/presentationml/2006/main">
  <p:tag name="CDT_PROT" val="2"/>
  <p:tag name="CDT_PROT_TOP" val="304"/>
  <p:tag name="CDT_PROT_LEFT" val="378,2697"/>
  <p:tag name="CDT_PROT_WIDTH" val="317,4803"/>
  <p:tag name="CDT_PROT_HEIGHT" val="181,5"/>
</p:tagLst>
</file>

<file path=ppt/tags/tag95.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True"/>
  <p:tag name="CDT_LINEUNVISIBLE" val="True"/>
  <p:tag name="CDT_AUTODIALOG" val="3"/>
  <p:tag name="CDT_TARGETSHAPE_NEW" val="6"/>
  <p:tag name="CDT_PROT" val="2"/>
  <p:tag name="CDT_PROT_TOP" val="111,25"/>
  <p:tag name="CDT_PROT_LEFT" val="820,4528"/>
  <p:tag name="CDT_PROT_WIDTH" val="102,0472"/>
  <p:tag name="CDT_PROT_HEIGHT" val="374,25"/>
</p:tagLst>
</file>

<file path=ppt/tags/tag96.xml><?xml version="1.0" encoding="utf-8"?>
<p:tagLst xmlns:a="http://schemas.openxmlformats.org/drawingml/2006/main" xmlns:r="http://schemas.openxmlformats.org/officeDocument/2006/relationships" xmlns:p="http://schemas.openxmlformats.org/presentationml/2006/main">
  <p:tag name="CDT_FILLFIXED" val="True"/>
  <p:tag name="CDT_LINEFIXED" val="True"/>
  <p:tag name="CDT_FILLUNVISIBLE" val="False"/>
  <p:tag name="CDT_LINEUNVISIBLE" val="True"/>
  <p:tag name="CDT_COLBF_NEW" val="21"/>
  <p:tag name="CDT_COLFF_NEW" val="21"/>
  <p:tag name="CDT_EXTCOL" val="True"/>
  <p:tag name="CDT_COLTX_NEW" val="22"/>
  <p:tag name="CDT_TARGETSHAPE_NEW" val="20"/>
  <p:tag name="CDT_DELETE_ONEVENT_NEWPRES" val="False"/>
  <p:tag name="CDT_PROT" val="2"/>
  <p:tag name="CDT_PROT_TOP" val="111,25"/>
  <p:tag name="CDT_PROT_LEFT" val="366,8501"/>
  <p:tag name="CDT_PROT_WIDTH" val="593,6499"/>
  <p:tag name="CDT_PROT_HEIGHT" val="374,25"/>
</p:tagLst>
</file>

<file path=ppt/tags/tag97.xml><?xml version="1.0" encoding="utf-8"?>
<p:tagLst xmlns:a="http://schemas.openxmlformats.org/drawingml/2006/main" xmlns:r="http://schemas.openxmlformats.org/officeDocument/2006/relationships" xmlns:p="http://schemas.openxmlformats.org/presentationml/2006/main">
  <p:tag name="CDT_NAVBARONTHISSLIDE" val="True"/>
  <p:tag name="CDT_INTERSECT_SLIDE" val="False"/>
  <p:tag name="CDT_DESIGNS_NAME" val="Siemens 2013 – 16:9"/>
  <p:tag name="CDT_MASTERS_NAME" val="One object (small) + Navigation"/>
  <p:tag name="CDT_LAYOUT_TYPE" val="32"/>
  <p:tag name="CDT_ORIGINAL_DESIGNS_NAME" val="Siemens 2013 – 16:9"/>
  <p:tag name="CDT_ORIGINAL_MASTERS_NAME" val="One object (small) + Navigation"/>
  <p:tag name="CDT_ORIGINAL_LAYOUT_TYPE" val="32"/>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oeZc2Y0arxb5lyJNyeUIkA"/>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pG3_kxDX5bU6PnY77TVcEqQ"/>
  <p:tag name="MIO_GUID" val="3b15ad15-3566-432a-a4f1-1de02496ecf9"/>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pSfEETpZB4EWxrIOCYtKuDw"/>
  <p:tag name="MIO_GUID" val="dfe1a771-1a8c-4650-9fa6-fb30f5a8afac"/>
</p:tagLst>
</file>

<file path=ppt/theme/theme1.xml><?xml version="1.0" encoding="utf-8"?>
<a:theme xmlns:a="http://schemas.openxmlformats.org/drawingml/2006/main" name="Siemens 2016 – 16:9">
  <a:themeElements>
    <a:clrScheme name="Siemens">
      <a:dk1>
        <a:srgbClr val="000000"/>
      </a:dk1>
      <a:lt1>
        <a:srgbClr val="FFFFFF"/>
      </a:lt1>
      <a:dk2>
        <a:srgbClr val="000000"/>
      </a:dk2>
      <a:lt2>
        <a:srgbClr val="ADBECB"/>
      </a:lt2>
      <a:accent1>
        <a:srgbClr val="879BAA"/>
      </a:accent1>
      <a:accent2>
        <a:srgbClr val="BECDD7"/>
      </a:accent2>
      <a:accent3>
        <a:srgbClr val="EB780A"/>
      </a:accent3>
      <a:accent4>
        <a:srgbClr val="641946"/>
      </a:accent4>
      <a:accent5>
        <a:srgbClr val="005F87"/>
      </a:accent5>
      <a:accent6>
        <a:srgbClr val="647D2D"/>
      </a:accent6>
      <a:hlink>
        <a:srgbClr val="EB780A"/>
      </a:hlink>
      <a:folHlink>
        <a:srgbClr val="641946"/>
      </a:folHlink>
    </a:clrScheme>
    <a:fontScheme name="Siemens">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blurRad="63500" dist="38099" dir="2700000" algn="ctr" rotWithShape="0">
                  <a:schemeClr val="bg2">
                    <a:alpha val="74998"/>
                  </a:schemeClr>
                </a:outerShdw>
              </a:effectLst>
            </a14:hiddenEffects>
          </a:ext>
        </a:extLst>
      </a:spPr>
      <a:bodyPr wrap="square" lIns="108000" tIns="54000" rIns="108000" bIns="54000" numCol="1" spcCol="72000" rtlCol="0" anchor="ctr">
        <a:noAutofit/>
      </a:bodyPr>
      <a:lstStyle>
        <a:defPPr algn="ctr">
          <a:lnSpc>
            <a:spcPct val="110000"/>
          </a:lnSpc>
          <a:spcBef>
            <a:spcPct val="0"/>
          </a:spcBef>
          <a:buFont typeface="Wingdings" charset="0"/>
          <a:buNone/>
          <a:defRPr sz="1800" dirty="0" smtClean="0">
            <a:solidFill>
              <a:schemeClr val="tx1"/>
            </a:solidFill>
            <a:latin typeface="+mn-lt"/>
            <a:ea typeface="Arial Unicode MS" panose="020B0604020202020204" pitchFamily="34" charset="-128"/>
            <a:cs typeface="Arial Unicode MS" panose="020B0604020202020204" pitchFamily="34" charset="-128"/>
          </a:defRPr>
        </a:defPPr>
      </a:lstStyle>
    </a:spDef>
    <a:lnDef>
      <a:spPr bwMode="auto">
        <a:xfrm>
          <a:off x="0" y="0"/>
          <a:ext cx="1" cy="1"/>
        </a:xfrm>
        <a:custGeom>
          <a:avLst/>
          <a:gdLst/>
          <a:ahLst/>
          <a:cxnLst/>
          <a:rect l="0" t="0" r="0" b="0"/>
          <a:pathLst/>
        </a:custGeom>
        <a:solidFill>
          <a:schemeClr val="tx2"/>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blurRad="63500" dist="35921" dir="2700000" algn="ctr" rotWithShape="0">
                  <a:schemeClr val="bg2"/>
                </a:outerShdw>
              </a:effectLst>
            </a14:hiddenEffects>
          </a:ext>
        </a:extLst>
      </a:spPr>
      <a:bodyPr vert="horz" wrap="square" lIns="0" tIns="0" rIns="0" bIns="0" numCol="1" anchor="t" anchorCtr="0" compatLnSpc="1">
        <a:prstTxWarp prst="textNoShape">
          <a:avLst/>
        </a:prstTxWarp>
        <a:spAutoFit/>
      </a:bodyPr>
      <a:lstStyle>
        <a:defPPr marL="0" marR="0" indent="0" algn="l" defTabSz="914400" rtl="0" eaLnBrk="1" fontAlgn="base" latinLnBrk="0" hangingPunct="1">
          <a:lnSpc>
            <a:spcPct val="100000"/>
          </a:lnSpc>
          <a:spcBef>
            <a:spcPct val="50000"/>
          </a:spcBef>
          <a:spcAft>
            <a:spcPct val="0"/>
          </a:spcAft>
          <a:buClrTx/>
          <a:buSzTx/>
          <a:buFontTx/>
          <a:buNone/>
          <a:tabLst/>
          <a:defRPr kumimoji="0" lang="de-DE" sz="2400" b="0" i="0" u="none" strike="noStrike" cap="none" normalizeH="0" baseline="0">
            <a:ln>
              <a:noFill/>
            </a:ln>
            <a:solidFill>
              <a:srgbClr val="000000"/>
            </a:solidFill>
            <a:effectLst/>
            <a:latin typeface="Arial" charset="0"/>
            <a:ea typeface="ヒラギノ角ゴ Pro W3" charset="0"/>
          </a:defRPr>
        </a:defPPr>
      </a:lstStyle>
    </a:lnDef>
    <a:txDef>
      <a:spPr>
        <a:noFill/>
      </a:spPr>
      <a:bodyPr wrap="square" lIns="0" tIns="0" rIns="0" bIns="0" rtlCol="0">
        <a:noAutofit/>
      </a:bodyPr>
      <a:lstStyle>
        <a:defPPr>
          <a:lnSpc>
            <a:spcPct val="110000"/>
          </a:lnSpc>
          <a:spcBef>
            <a:spcPts val="0"/>
          </a:spcBef>
          <a:defRPr sz="1200" dirty="0" smtClean="0">
            <a:solidFill>
              <a:schemeClr val="tx1"/>
            </a:solidFill>
            <a:latin typeface="+mn-lt"/>
            <a:ea typeface="Arial Unicode MS" panose="020B0604020202020204" pitchFamily="34" charset="-128"/>
            <a:cs typeface="Arial Unicode MS" panose="020B0604020202020204" pitchFamily="34" charset="-128"/>
          </a:defRPr>
        </a:defPPr>
      </a:lstStyle>
    </a:tx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ppt/theme/theme2.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ppt/theme/theme3.xml><?xml version="1.0" encoding="utf-8"?>
<a:theme xmlns:a="http://schemas.openxmlformats.org/drawingml/2006/main" name="Office-Design">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custClrLst>
    <a:custClr name="Siemens Snow">
      <a:srgbClr val="FFFFFF"/>
    </a:custClr>
    <a:custClr name="Siemens Accent Yellow dark">
      <a:srgbClr val="EB780A"/>
    </a:custClr>
    <a:custClr name="Siemens Yellow light">
      <a:srgbClr val="FFB900"/>
    </a:custClr>
    <a:custClr name="Siemens Stone (1)">
      <a:srgbClr val="3C464B"/>
    </a:custClr>
    <a:custClr name="Siemens Sand (1)">
      <a:srgbClr val="73645A"/>
    </a:custClr>
    <a:custClr name="Siemens Accent Teal (1)">
      <a:srgbClr val="00646E"/>
    </a:custClr>
    <a:custClr name="Siemens Accent Yellow (1)">
      <a:srgbClr val="7D2D1E"/>
    </a:custClr>
    <a:custClr name="Siemens Accent Red (1)">
      <a:srgbClr val="411432"/>
    </a:custClr>
    <a:custClr name="Siemens Accent Blue (1)">
      <a:srgbClr val="004669"/>
    </a:custClr>
    <a:custClr name="Siemens Accent Green (1)">
      <a:srgbClr val="465F19"/>
    </a:custClr>
    <a:custClr name="True Black">
      <a:srgbClr val="000000"/>
    </a:custClr>
    <a:custClr name="Siemens Accent Red dark">
      <a:srgbClr val="641946"/>
    </a:custClr>
    <a:custClr name="Siemens Red light">
      <a:srgbClr val="AF235F"/>
    </a:custClr>
    <a:custClr name="Siemens Stone (2)">
      <a:srgbClr val="788791"/>
    </a:custClr>
    <a:custClr name="Siemens Sand (2)">
      <a:srgbClr val="9B9682"/>
    </a:custClr>
    <a:custClr name="Siemens Accent Teal (2)">
      <a:srgbClr val="0F8287"/>
    </a:custClr>
    <a:custClr name="Siemens Accent Yellow (2)">
      <a:srgbClr val="C85A1E"/>
    </a:custClr>
    <a:custClr name="Siemens Accent Red (2)">
      <a:srgbClr val="641946"/>
    </a:custClr>
    <a:custClr name="Siemens Accent Blue (2)">
      <a:srgbClr val="005F87"/>
    </a:custClr>
    <a:custClr name="Siemens Accent Green (2)">
      <a:srgbClr val="647D2D"/>
    </a:custClr>
    <a:custClr name="Siemens Stone light">
      <a:srgbClr val="879BAA"/>
    </a:custClr>
    <a:custClr name="Siemens Accent Blue dark">
      <a:srgbClr val="005F87"/>
    </a:custClr>
    <a:custClr name="Siemens Accent Blue light">
      <a:srgbClr val="50BED7"/>
    </a:custClr>
    <a:custClr name="Siemens Stone (3)">
      <a:srgbClr val="9BAFBE"/>
    </a:custClr>
    <a:custClr name="Siemens Sand (3)">
      <a:srgbClr val="B9B9A5"/>
    </a:custClr>
    <a:custClr name="Siemens Accent Teal (3)">
      <a:srgbClr val="32A0A0"/>
    </a:custClr>
    <a:custClr name="Siemens Accent Yellow (3)">
      <a:srgbClr val="EB780A"/>
    </a:custClr>
    <a:custClr name="Siemens Accent Red (3)">
      <a:srgbClr val="871E50"/>
    </a:custClr>
    <a:custClr name="Siemens Accent Blue (3)">
      <a:srgbClr val="2387AA"/>
    </a:custClr>
    <a:custClr name="Siemens Accent Green (3)">
      <a:srgbClr val="879628"/>
    </a:custClr>
    <a:custClr name="Siemens Stone light 35%">
      <a:srgbClr val="BECDD7"/>
    </a:custClr>
    <a:custClr name="Siemens Accent Green">
      <a:srgbClr val="647D2D"/>
    </a:custClr>
    <a:custClr name="Siemens Accent Green light">
      <a:srgbClr val="AAB414"/>
    </a:custClr>
    <a:custClr name="Siemens Stone (4)">
      <a:srgbClr val="BECDD7"/>
    </a:custClr>
    <a:custClr name="Siemens Sand (4)">
      <a:srgbClr val="D7D7CD"/>
    </a:custClr>
    <a:custClr name="Siemens Accent Teal (4)">
      <a:srgbClr val="4BB9B9"/>
    </a:custClr>
    <a:custClr name="Siemens Accent Yellow (4)">
      <a:srgbClr val="FFB900"/>
    </a:custClr>
    <a:custClr name="Siemens Accent Red (4)">
      <a:srgbClr val="AF235F"/>
    </a:custClr>
    <a:custClr name="Siemens Accent Blue (4)">
      <a:srgbClr val="41AAC8"/>
    </a:custClr>
    <a:custClr name="Siemens Accent Green (4)">
      <a:srgbClr val="AAB414"/>
    </a:custClr>
    <a:custClr name="Siemens Sand 35%">
      <a:srgbClr val="D7D7CD"/>
    </a:custClr>
    <a:custClr name="Siemens Accent Teal dark">
      <a:srgbClr val="00646E"/>
    </a:custClr>
    <a:custClr name="Siemens Accent Teal light">
      <a:srgbClr val="41AAAA"/>
    </a:custClr>
    <a:custClr name="Siemens Stone (5)">
      <a:srgbClr val="CDD9E1"/>
    </a:custClr>
    <a:custClr name="Siemens Sand (5)">
      <a:srgbClr val="E1E1D7"/>
    </a:custClr>
    <a:custClr name="Siemens Accent Teal (5)">
      <a:srgbClr val="A5E1E1"/>
    </a:custClr>
    <a:custClr name="Siemens Accent Yellow (5)">
      <a:srgbClr val="FFE178"/>
    </a:custClr>
    <a:custClr name="Siemens Accent Red (5)">
      <a:srgbClr val="D7698C"/>
    </a:custClr>
    <a:custClr name="Siemens Accent Blue(5)">
      <a:srgbClr val="7DD2E6"/>
    </a:custClr>
    <a:custClr name="Siemens Accent Green (5)">
      <a:srgbClr val="D2D741"/>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_rels/item5.xml.rels><?xml version="1.0" encoding="UTF-8" standalone="yes"?>
<Relationships xmlns="http://schemas.openxmlformats.org/package/2006/relationships"><Relationship Id="rId1" Type="http://schemas.openxmlformats.org/officeDocument/2006/relationships/customXmlProps" Target="itemProps5.xml"/></Relationships>
</file>

<file path=customXml/_rels/item6.xml.rels><?xml version="1.0" encoding="UTF-8" standalone="yes"?>
<Relationships xmlns="http://schemas.openxmlformats.org/package/2006/relationships"><Relationship Id="rId1" Type="http://schemas.openxmlformats.org/officeDocument/2006/relationships/customXmlProps" Target="itemProps6.xml"/></Relationships>
</file>

<file path=customXml/_rels/item7.xml.rels><?xml version="1.0" encoding="UTF-8" standalone="yes"?>
<Relationships xmlns="http://schemas.openxmlformats.org/package/2006/relationships"><Relationship Id="rId1" Type="http://schemas.openxmlformats.org/officeDocument/2006/relationships/customXmlProps" Target="itemProps7.xml"/></Relationships>
</file>

<file path=customXml/_rels/item8.xml.rels><?xml version="1.0" encoding="UTF-8" standalone="yes"?>
<Relationships xmlns="http://schemas.openxmlformats.org/package/2006/relationships"><Relationship Id="rId1" Type="http://schemas.openxmlformats.org/officeDocument/2006/relationships/customXmlProps" Target="itemProps8.xml"/></Relationships>
</file>

<file path=customXml/_rels/item9.xml.rels><?xml version="1.0" encoding="UTF-8" standalone="yes"?>
<Relationships xmlns="http://schemas.openxmlformats.org/package/2006/relationships"><Relationship Id="rId1" Type="http://schemas.openxmlformats.org/officeDocument/2006/relationships/customXmlProps" Target="itemProps9.xml"/></Relationships>
</file>

<file path=customXml/_rels/item10.xml.rels><?xml version="1.0" encoding="UTF-8" standalone="yes"?>
<Relationships xmlns="http://schemas.openxmlformats.org/package/2006/relationships"><Relationship Id="rId1" Type="http://schemas.openxmlformats.org/officeDocument/2006/relationships/customXmlProps" Target="itemProps10.xml"/></Relationships>
</file>

<file path=customXml/_rels/item11.xml.rels><?xml version="1.0" encoding="UTF-8" standalone="yes"?>
<Relationships xmlns="http://schemas.openxmlformats.org/package/2006/relationships"><Relationship Id="rId1" Type="http://schemas.openxmlformats.org/officeDocument/2006/relationships/customXmlProps" Target="itemProps11.xml"/></Relationships>
</file>

<file path=customXml/_rels/item12.xml.rels><?xml version="1.0" encoding="UTF-8" standalone="yes"?>
<Relationships xmlns="http://schemas.openxmlformats.org/package/2006/relationships"><Relationship Id="rId1" Type="http://schemas.openxmlformats.org/officeDocument/2006/relationships/customXmlProps" Target="itemProps12.xml"/></Relationships>
</file>

<file path=customXml/_rels/item13.xml.rels><?xml version="1.0" encoding="UTF-8" standalone="yes"?>
<Relationships xmlns="http://schemas.openxmlformats.org/package/2006/relationships"><Relationship Id="rId1" Type="http://schemas.openxmlformats.org/officeDocument/2006/relationships/customXmlProps" Target="itemProps13.xml"/></Relationships>
</file>

<file path=customXml/_rels/item14.xml.rels><?xml version="1.0" encoding="UTF-8" standalone="yes"?>
<Relationships xmlns="http://schemas.openxmlformats.org/package/2006/relationships"><Relationship Id="rId1" Type="http://schemas.openxmlformats.org/officeDocument/2006/relationships/customXmlProps" Target="itemProps14.xml"/></Relationships>
</file>

<file path=customXml/_rels/item15.xml.rels><?xml version="1.0" encoding="UTF-8" standalone="yes"?>
<Relationships xmlns="http://schemas.openxmlformats.org/package/2006/relationships"><Relationship Id="rId1" Type="http://schemas.openxmlformats.org/officeDocument/2006/relationships/customXmlProps" Target="itemProps15.xml"/></Relationships>
</file>

<file path=customXml/_rels/item16.xml.rels><?xml version="1.0" encoding="UTF-8" standalone="yes"?>
<Relationships xmlns="http://schemas.openxmlformats.org/package/2006/relationships"><Relationship Id="rId1" Type="http://schemas.openxmlformats.org/officeDocument/2006/relationships/customXmlProps" Target="itemProps16.xml"/></Relationships>
</file>

<file path=customXml/item1.xml><?xml version="1.0" encoding="utf-8"?>
<p4ppTags>
  <Name>Text + Index</Name>
  <PpLayout>32</PpLayout>
  <Index>8</Index>
</p4ppTags>
</file>

<file path=customXml/item2.xml><?xml version="1.0" encoding="utf-8"?>
<p4ppTags>
  <Name>Free Content</Name>
  <PpLayout>11</PpLayout>
  <Index>9</Index>
</p4ppTags>
</file>

<file path=customXml/item3.xml><?xml version="1.0" encoding="utf-8"?>
<p4ppTags>
  <Name>One object (large)</Name>
  <PpLayout>16</PpLayout>
  <Index>10</Index>
</p4ppTags>
</file>

<file path=customXml/item4.xml><?xml version="1.0" encoding="utf-8"?>
<p4ppTags>
  <Name>One object (small)</Name>
  <PpLayout>16</PpLayout>
  <Index>11</Index>
</p4ppTags>
</file>

<file path=customXml/item5.xml><?xml version="1.0" encoding="utf-8"?>
<p4ppTags>
  <Name>Two columns</Name>
  <PpLayout>29</PpLayout>
  <Index>12</Index>
</p4ppTags>
</file>

<file path=customXml/item6.xml><?xml version="1.0" encoding="utf-8"?>
<p4ppTags>
  <Name>Two rows</Name>
  <PpLayout>32</PpLayout>
  <Index>13</Index>
</p4ppTags>
</file>

<file path=customXml/item7.xml><?xml version="1.0" encoding="utf-8"?>
<p4ppTags>
  <Name>Three columns</Name>
  <PpLayout>32</PpLayout>
  <Index>14</Index>
</p4ppTags>
</file>

<file path=customXml/item8.xml><?xml version="1.0" encoding="utf-8"?>
<p4ppTags>
  <Name>Four objects</Name>
  <PpLayout>24</PpLayout>
  <Index>15</Index>
</p4ppTags>
</file>

<file path=customXml/item9.xml><?xml version="1.0" encoding="utf-8"?>
<p4ppTags>
  <Name>Free Content + Navigation</Name>
  <PpLayout>32</PpLayout>
  <Index>16</Index>
</p4ppTags>
</file>

<file path=customXml/item10.xml><?xml version="1.0" encoding="utf-8"?>
<p4ppTags>
  <Name>One object (large) + Navigation</Name>
  <PpLayout>32</PpLayout>
  <Index>17</Index>
</p4ppTags>
</file>

<file path=customXml/item11.xml><?xml version="1.0" encoding="utf-8"?>
<p4ppTags>
  <Name>One object (small) + Navigation</Name>
  <PpLayout>32</PpLayout>
  <Index>18</Index>
</p4ppTags>
</file>

<file path=customXml/item12.xml><?xml version="1.0" encoding="utf-8"?>
<p4ppTags>
  <Name>Two columns + Navigation</Name>
  <PpLayout>32</PpLayout>
  <Index>19</Index>
</p4ppTags>
</file>

<file path=customXml/item13.xml><?xml version="1.0" encoding="utf-8"?>
<p4ppTags>
  <Name>Three columns + Navigation</Name>
  <PpLayout>32</PpLayout>
  <Index>20</Index>
</p4ppTags>
</file>

<file path=customXml/item14.xml><?xml version="1.0" encoding="utf-8"?>
<p4ppTags>
  <Name>Two rows + Navigation</Name>
  <PpLayout>32</PpLayout>
  <Index>21</Index>
</p4ppTags>
</file>

<file path=customXml/item15.xml><?xml version="1.0" encoding="utf-8"?>
<p4ppTags>
  <Name>Four objects + Navigation</Name>
  <PpLayout>32</PpLayout>
  <Index>22</Index>
</p4ppTags>
</file>

<file path=customXml/item16.xml><?xml version="1.0" encoding="utf-8"?>
<p4ppTags/>
</file>

<file path=customXml/itemProps1.xml><?xml version="1.0" encoding="utf-8"?>
<ds:datastoreItem xmlns:ds="http://schemas.openxmlformats.org/officeDocument/2006/customXml" ds:itemID="{7E35FEDB-1F0E-4D67-A313-4AC59C26FF29}">
  <ds:schemaRefs/>
</ds:datastoreItem>
</file>

<file path=customXml/itemProps2.xml><?xml version="1.0" encoding="utf-8"?>
<ds:datastoreItem xmlns:ds="http://schemas.openxmlformats.org/officeDocument/2006/customXml" ds:itemID="{D8097D0C-BE3E-4AEC-9593-65CFCCB19297}">
  <ds:schemaRefs/>
</ds:datastoreItem>
</file>

<file path=customXml/itemProps3.xml><?xml version="1.0" encoding="utf-8"?>
<ds:datastoreItem xmlns:ds="http://schemas.openxmlformats.org/officeDocument/2006/customXml" ds:itemID="{80661B8B-A327-44F9-823B-4D9EE0B3EC78}">
  <ds:schemaRefs/>
</ds:datastoreItem>
</file>

<file path=customXml/itemProps4.xml><?xml version="1.0" encoding="utf-8"?>
<ds:datastoreItem xmlns:ds="http://schemas.openxmlformats.org/officeDocument/2006/customXml" ds:itemID="{1618AA06-B22E-4D19-9680-0D7830426729}">
  <ds:schemaRefs/>
</ds:datastoreItem>
</file>

<file path=customXml/itemProps5.xml><?xml version="1.0" encoding="utf-8"?>
<ds:datastoreItem xmlns:ds="http://schemas.openxmlformats.org/officeDocument/2006/customXml" ds:itemID="{1666F4C2-68F5-4840-A44A-1A646C0925A1}">
  <ds:schemaRefs/>
</ds:datastoreItem>
</file>

<file path=customXml/itemProps6.xml><?xml version="1.0" encoding="utf-8"?>
<ds:datastoreItem xmlns:ds="http://schemas.openxmlformats.org/officeDocument/2006/customXml" ds:itemID="{38AB8DE4-FD9B-4166-BEC3-3F1753596133}">
  <ds:schemaRefs/>
</ds:datastoreItem>
</file>

<file path=customXml/itemProps7.xml><?xml version="1.0" encoding="utf-8"?>
<ds:datastoreItem xmlns:ds="http://schemas.openxmlformats.org/officeDocument/2006/customXml" ds:itemID="{15CF3461-70D1-4B54-AFAB-DAFDA0A238CD}">
  <ds:schemaRefs/>
</ds:datastoreItem>
</file>

<file path=customXml/itemProps8.xml><?xml version="1.0" encoding="utf-8"?>
<ds:datastoreItem xmlns:ds="http://schemas.openxmlformats.org/officeDocument/2006/customXml" ds:itemID="{1581BFFB-B4CE-47A8-BE77-DC1339B1E5A7}">
  <ds:schemaRefs/>
</ds:datastoreItem>
</file>

<file path=customXml/itemProps9.xml><?xml version="1.0" encoding="utf-8"?>
<ds:datastoreItem xmlns:ds="http://schemas.openxmlformats.org/officeDocument/2006/customXml" ds:itemID="{7CC5F709-E74B-4E5F-A728-923D5062EBEF}">
  <ds:schemaRefs/>
</ds:datastoreItem>
</file>

<file path=customXml/itemProps10.xml><?xml version="1.0" encoding="utf-8"?>
<ds:datastoreItem xmlns:ds="http://schemas.openxmlformats.org/officeDocument/2006/customXml" ds:itemID="{B27F640E-84DF-4F97-BC70-D045F1E6594F}">
  <ds:schemaRefs/>
</ds:datastoreItem>
</file>

<file path=customXml/itemProps11.xml><?xml version="1.0" encoding="utf-8"?>
<ds:datastoreItem xmlns:ds="http://schemas.openxmlformats.org/officeDocument/2006/customXml" ds:itemID="{D9FE249F-833E-4CF0-BECB-552D01D7DC9E}">
  <ds:schemaRefs/>
</ds:datastoreItem>
</file>

<file path=customXml/itemProps12.xml><?xml version="1.0" encoding="utf-8"?>
<ds:datastoreItem xmlns:ds="http://schemas.openxmlformats.org/officeDocument/2006/customXml" ds:itemID="{D7BABA95-BFFE-422B-8591-3271669EEA88}">
  <ds:schemaRefs/>
</ds:datastoreItem>
</file>

<file path=customXml/itemProps13.xml><?xml version="1.0" encoding="utf-8"?>
<ds:datastoreItem xmlns:ds="http://schemas.openxmlformats.org/officeDocument/2006/customXml" ds:itemID="{85D77EE6-52B7-48BE-9EDB-748F1EBB53DE}">
  <ds:schemaRefs/>
</ds:datastoreItem>
</file>

<file path=customXml/itemProps14.xml><?xml version="1.0" encoding="utf-8"?>
<ds:datastoreItem xmlns:ds="http://schemas.openxmlformats.org/officeDocument/2006/customXml" ds:itemID="{6C79E4F8-DCFB-483C-880A-AEEC6AAFC838}">
  <ds:schemaRefs/>
</ds:datastoreItem>
</file>

<file path=customXml/itemProps15.xml><?xml version="1.0" encoding="utf-8"?>
<ds:datastoreItem xmlns:ds="http://schemas.openxmlformats.org/officeDocument/2006/customXml" ds:itemID="{EAB520BC-C6EC-457E-8AB5-55DB67C86858}">
  <ds:schemaRefs/>
</ds:datastoreItem>
</file>

<file path=customXml/itemProps16.xml><?xml version="1.0" encoding="utf-8"?>
<ds:datastoreItem xmlns:ds="http://schemas.openxmlformats.org/officeDocument/2006/customXml" ds:itemID="{572FBA73-6DBF-45DA-8282-9342320CFAB0}">
  <ds:schemaRefs/>
</ds:datastoreItem>
</file>

<file path=docProps/app.xml><?xml version="1.0" encoding="utf-8"?>
<Properties xmlns="http://schemas.openxmlformats.org/officeDocument/2006/extended-properties" xmlns:vt="http://schemas.openxmlformats.org/officeDocument/2006/docPropsVTypes">
  <Template>SIM_PPT_2007_16x9_DEU_V2_0_0_BASIC.pptx</Template>
  <TotalTime>0</TotalTime>
  <Words>10333</Words>
  <Application>Microsoft Office PowerPoint</Application>
  <PresentationFormat>Benutzerdefiniert</PresentationFormat>
  <Paragraphs>1951</Paragraphs>
  <Slides>138</Slides>
  <Notes>38</Notes>
  <HiddenSlides>21</HiddenSlides>
  <MMClips>0</MMClips>
  <ScaleCrop>false</ScaleCrop>
  <HeadingPairs>
    <vt:vector size="8" baseType="variant">
      <vt:variant>
        <vt:lpstr>Verwendete Schriftarten</vt:lpstr>
      </vt:variant>
      <vt:variant>
        <vt:i4>9</vt:i4>
      </vt:variant>
      <vt:variant>
        <vt:lpstr>Design</vt:lpstr>
      </vt:variant>
      <vt:variant>
        <vt:i4>1</vt:i4>
      </vt:variant>
      <vt:variant>
        <vt:lpstr>Eingebettete OLE-Server</vt:lpstr>
      </vt:variant>
      <vt:variant>
        <vt:i4>1</vt:i4>
      </vt:variant>
      <vt:variant>
        <vt:lpstr>Folientitel</vt:lpstr>
      </vt:variant>
      <vt:variant>
        <vt:i4>138</vt:i4>
      </vt:variant>
    </vt:vector>
  </HeadingPairs>
  <TitlesOfParts>
    <vt:vector size="149" baseType="lpstr">
      <vt:lpstr>Arial</vt:lpstr>
      <vt:lpstr>Brush Script MT</vt:lpstr>
      <vt:lpstr>Cambria Math</vt:lpstr>
      <vt:lpstr>Courier New</vt:lpstr>
      <vt:lpstr>IBM Plex Sans</vt:lpstr>
      <vt:lpstr>Symbol</vt:lpstr>
      <vt:lpstr>Times New Roman</vt:lpstr>
      <vt:lpstr>Vijaya</vt:lpstr>
      <vt:lpstr>Wingdings</vt:lpstr>
      <vt:lpstr>Siemens 2016 – 16:9</vt:lpstr>
      <vt:lpstr>think-cell Folie</vt:lpstr>
      <vt:lpstr>Introduction to Machine Learning 2: Adding Background  SE G QPI QM P</vt:lpstr>
      <vt:lpstr>Training Objective</vt:lpstr>
      <vt:lpstr>How This Training Works</vt:lpstr>
      <vt:lpstr>Please Give Us Feedback!</vt:lpstr>
      <vt:lpstr>Agenda</vt:lpstr>
      <vt:lpstr>Overview</vt:lpstr>
      <vt:lpstr>We Are Using EnergyAI as a Tool to Run Machine Learning Algorithms</vt:lpstr>
      <vt:lpstr>Go to Analyse</vt:lpstr>
      <vt:lpstr>Click on Shared</vt:lpstr>
      <vt:lpstr>Click on Users</vt:lpstr>
      <vt:lpstr>Search for kay.toepfer@siemens.com</vt:lpstr>
      <vt:lpstr>Click on Machine Learning Workshop</vt:lpstr>
      <vt:lpstr>Copy All Files in Your Own Folder</vt:lpstr>
      <vt:lpstr>Matthias Groh, Your Instructor</vt:lpstr>
      <vt:lpstr>SE G QPI QM P – Improvement Projects The Team</vt:lpstr>
      <vt:lpstr>Please Quickly Introduce Yourself</vt:lpstr>
      <vt:lpstr>Agenda</vt:lpstr>
      <vt:lpstr>Learning Types</vt:lpstr>
      <vt:lpstr>Having a „Supervised Learning“ Approach, We Should Distinguish between the Different Data Types of the Target Variable</vt:lpstr>
      <vt:lpstr>Agenda</vt:lpstr>
      <vt:lpstr>2 Questions to be answered by a Model</vt:lpstr>
      <vt:lpstr>Agenda</vt:lpstr>
      <vt:lpstr>MSE Mean Squared Error as Error Metric and Loss Function</vt:lpstr>
      <vt:lpstr>R-Square/ “Determination Coefficient”</vt:lpstr>
      <vt:lpstr>Overview: what we achieved so far</vt:lpstr>
      <vt:lpstr>Agenda</vt:lpstr>
      <vt:lpstr>Classification by Decision Trees (Review ML1)</vt:lpstr>
      <vt:lpstr>Main Idea How a Decision Tree Is Build (Review ML1): Which Loss Function to be minimized?</vt:lpstr>
      <vt:lpstr>Uncertainty of a Dataset (Review ML1)</vt:lpstr>
      <vt:lpstr>Loss Function: Entropy Measures Uncertainty of a Dataset</vt:lpstr>
      <vt:lpstr>Loss Function: Entropy Measures Uncertainty of a Dataset</vt:lpstr>
      <vt:lpstr>Loss Function: Entropy Measures Uncertainty of a Dataset</vt:lpstr>
      <vt:lpstr>Loss Function: Entropy Measures Uncertainty of a Dataset</vt:lpstr>
      <vt:lpstr>Loss Function: Entropy Measures Uncertainty of a Dataset</vt:lpstr>
      <vt:lpstr>Loss Function: Entropy Measures Uncertainty of a Dataset</vt:lpstr>
      <vt:lpstr>Entropy Measures Impurity of a Dataset</vt:lpstr>
      <vt:lpstr>Entropy Measures Impurity of a Dataset</vt:lpstr>
      <vt:lpstr>Gini-Index vs. Entropy to Measure Impurity of a Dataset</vt:lpstr>
      <vt:lpstr>How to use the Entropy as a Loss Function? Information Gain (=Uncertainty reduction)  as a Criteria for a Good Split </vt:lpstr>
      <vt:lpstr>Information Gain as a Criteria for a Good Split </vt:lpstr>
      <vt:lpstr>Information Gain as a Criteria for a Good Split </vt:lpstr>
      <vt:lpstr>Information Gain as a Criteria for a Good Split </vt:lpstr>
      <vt:lpstr>Information Gain as a Criteria for a Good Split </vt:lpstr>
      <vt:lpstr>Information Gain as a Criteria for a Good Split </vt:lpstr>
      <vt:lpstr>Information Gain as a Criteria for a Good Split </vt:lpstr>
      <vt:lpstr>Information Gain as a Criteria for a Good Split </vt:lpstr>
      <vt:lpstr>Information Gain as a Criteria for a Good Split </vt:lpstr>
      <vt:lpstr>Information Gain as a Criteria for a Good Split (Loss Function) </vt:lpstr>
      <vt:lpstr>Towards an Error Metric for Classification: Confusion Matrix</vt:lpstr>
      <vt:lpstr>Towards an Error Metric for Classification: Confusion Matrix</vt:lpstr>
      <vt:lpstr>Towards an Error Metric for Classification: Confusion Matrix</vt:lpstr>
      <vt:lpstr>Towards an Error Metric for Classification: Confusion Matrix</vt:lpstr>
      <vt:lpstr>Towards an Error Metric for Classification: Confusion Matrix</vt:lpstr>
      <vt:lpstr>Error Metric: Accuracy</vt:lpstr>
      <vt:lpstr>Error Metric: Accuracy</vt:lpstr>
      <vt:lpstr>Problems with Accuracy</vt:lpstr>
      <vt:lpstr>Error Metric: Precision</vt:lpstr>
      <vt:lpstr>Error Metric: Recall</vt:lpstr>
      <vt:lpstr>Model Quality: Precision</vt:lpstr>
      <vt:lpstr>Model Quality: Recall</vt:lpstr>
      <vt:lpstr>Model Quality: Recall</vt:lpstr>
      <vt:lpstr>Error Metric: F1 Score</vt:lpstr>
      <vt:lpstr>Error Metric: F1 Score</vt:lpstr>
      <vt:lpstr>Error Metrics: Accuracy, Precision, Recall and F1 Score</vt:lpstr>
      <vt:lpstr>Error Metrics: Accuracy, Precision, Recall and F1 Score</vt:lpstr>
      <vt:lpstr>Exercise 1.1: Quiz</vt:lpstr>
      <vt:lpstr>Overview: what we achieved so far</vt:lpstr>
      <vt:lpstr>Agenda</vt:lpstr>
      <vt:lpstr>Limitations for generalization of Model (known and unknown data) Overview (New Compared to ML1 in Red)</vt:lpstr>
      <vt:lpstr>Bias-Variance Trade-Off</vt:lpstr>
      <vt:lpstr>Model Selection: Under- and Overfitting for Numerical and Categorical Target Variables </vt:lpstr>
      <vt:lpstr>Machine Learning Libraries Offer Countless Model Options Some of Them Tend to Have Bias, Other May Tend to Overfitting</vt:lpstr>
      <vt:lpstr>How to Prevent Overfitting 1:  Split Dataset into Training and Test Data</vt:lpstr>
      <vt:lpstr>How to Prevent Overfitting 2:  k-Fold Cross Validation</vt:lpstr>
      <vt:lpstr>Exercise 1.2: Quiz</vt:lpstr>
      <vt:lpstr>Model Limitations (Review)</vt:lpstr>
      <vt:lpstr>Overview: what we achieved so far</vt:lpstr>
      <vt:lpstr>Agenda</vt:lpstr>
      <vt:lpstr>Overview: what comes next</vt:lpstr>
      <vt:lpstr>Agenda</vt:lpstr>
      <vt:lpstr>PowerPoint-Präsentation</vt:lpstr>
      <vt:lpstr>Classification and Regression Tree (CART): Pros and Cons </vt:lpstr>
      <vt:lpstr>Ensemble Methods: Improve Decision Trees by Model Averaging</vt:lpstr>
      <vt:lpstr>PowerPoint-Präsentation</vt:lpstr>
      <vt:lpstr>PowerPoint-Präsentation</vt:lpstr>
      <vt:lpstr>PowerPoint-Präsentation</vt:lpstr>
      <vt:lpstr>PowerPoint-Präsentation</vt:lpstr>
      <vt:lpstr>Recall Number Recognition Example from ML1</vt:lpstr>
      <vt:lpstr>Exercise 2.1: Random Forest Vs. Decision Trees</vt:lpstr>
      <vt:lpstr>Exercise 2.1: Random Forest Vs. Decision Trees</vt:lpstr>
      <vt:lpstr>Exercise 2.2: Explore the Influence of #Estimators (#Models/Subsamples) of Random Forests</vt:lpstr>
      <vt:lpstr>Exercise 2.2: Explore the Influence of #Estimators of                         Random Forests</vt:lpstr>
      <vt:lpstr>Observed Parameters for Decision Tree and Random Forest  in Python</vt:lpstr>
      <vt:lpstr>Excursus: Boosting </vt:lpstr>
      <vt:lpstr>Decision Tree Algorithms: Sum up</vt:lpstr>
      <vt:lpstr>Overview: what we achieved so far</vt:lpstr>
      <vt:lpstr>Agenda</vt:lpstr>
      <vt:lpstr>Review: Artificial Neural Nets (ANN) Are Highly Complex Models Inspired by the Biological Neural Networks that Constitute Brains</vt:lpstr>
      <vt:lpstr>Neural Networks Take Key Inspirations from Biological Brains:  1. Create a Net of Many Input-Output Connections</vt:lpstr>
      <vt:lpstr>Neural Networks Take Key Inspirations from Biological Brains: 2. Use Activation Function to Differentiate btw. Important and Unimportant Inputs</vt:lpstr>
      <vt:lpstr>List of theoretically possible Activation Functions </vt:lpstr>
      <vt:lpstr>Mostly used Activation Functions: hidden and output layer</vt:lpstr>
      <vt:lpstr>Review: Analogies between Human and Artificial Neural Nets</vt:lpstr>
      <vt:lpstr>The Learning Rate (LR) (Review)</vt:lpstr>
      <vt:lpstr>Agenda</vt:lpstr>
      <vt:lpstr>Basic Steps of Training a Neural Network with Sigmoid Activation Function Using Statistical Gradient Descent (SGD) Solver</vt:lpstr>
      <vt:lpstr>1. Start with Random Weights -&gt; NN1 </vt:lpstr>
      <vt:lpstr>2. Calculate predicted output O1 using NN1 See following slides for details </vt:lpstr>
      <vt:lpstr>Passing Input Values to Input Layer</vt:lpstr>
      <vt:lpstr>The Node Connections between Input Layer and Hidden Layer Are Weighted</vt:lpstr>
      <vt:lpstr>The Weightings are Used to Determine the Input for  the Hidden Layer</vt:lpstr>
      <vt:lpstr>The Weightings Can Be Used to Determine the Input for  the Hidden Layer</vt:lpstr>
      <vt:lpstr>The Weightings Can Be Used to Determine the Input for  the Hidden Layer</vt:lpstr>
      <vt:lpstr>The Output of the Hidden Layers Is Calculated with  the Activation Function</vt:lpstr>
      <vt:lpstr>The Output of the Hidden Layers Is Calculated with  the Activation Function</vt:lpstr>
      <vt:lpstr>Same Procedure between Hidden and Output Layer  Result is the Entire Neural Network</vt:lpstr>
      <vt:lpstr>3. Calculate Error and Back Propagate to Weights: How to Get from Attributive to Numerical Data Output Data</vt:lpstr>
      <vt:lpstr>3. Calculate Error and Back Propagate to Weights How to calculate Prediction and Error in the Output Layer</vt:lpstr>
      <vt:lpstr>3. Calculate Error: Back Propagate Error</vt:lpstr>
      <vt:lpstr>4. Recalculate Weights Based on Error -&gt; NN2 Gradient Descent Method:</vt:lpstr>
      <vt:lpstr>Review: Basic Steps of Training a Neural Network with Sigmoid Activation Function Using Statistical Gradient Descent (SGD) Solver</vt:lpstr>
      <vt:lpstr>Optimized Weight Updating Methods</vt:lpstr>
      <vt:lpstr>Preparing X and Y for Sigmoid Based NNs</vt:lpstr>
      <vt:lpstr>Overview: what we achieved so far</vt:lpstr>
      <vt:lpstr>Agenda</vt:lpstr>
      <vt:lpstr>Exercise 3: Neural Network</vt:lpstr>
      <vt:lpstr>Observed Parameters for Neural Network</vt:lpstr>
      <vt:lpstr>Learning on Additional Data / Updating a Model</vt:lpstr>
      <vt:lpstr>Machine Learning in Python (Back Up)</vt:lpstr>
      <vt:lpstr>Machine Learning in Python (back up)</vt:lpstr>
      <vt:lpstr>Agenda</vt:lpstr>
      <vt:lpstr>What Could Be an Application in Your Business?</vt:lpstr>
      <vt:lpstr>3. Application Insights Challenges of Machine Learning Application in Turbine Eng.</vt:lpstr>
      <vt:lpstr>3. Application Insights Data Science Is an Iterative Process.</vt:lpstr>
      <vt:lpstr>Exercise 2: Brainstorming on Pros and Cons of Machine Learning</vt:lpstr>
      <vt:lpstr>Agenda</vt:lpstr>
      <vt:lpstr>Overview</vt:lpstr>
      <vt:lpstr>Please Give Us Feedback!</vt:lpstr>
    </vt:vector>
  </TitlesOfParts>
  <Company>SIEMENS AG</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Siemens On-stage PowerPoint-Template</dc:title>
  <dc:creator>Over, Maarten (PG GT QPI QM OE)</dc:creator>
  <cp:keywords>C_Restricted</cp:keywords>
  <cp:lastModifiedBy>Kanan, Amin (SE GP G QPI QM P)</cp:lastModifiedBy>
  <cp:revision>1</cp:revision>
  <cp:lastPrinted>2020-07-01T18:38:07Z</cp:lastPrinted>
  <dcterms:created xsi:type="dcterms:W3CDTF">2006-04-07T10:01:45Z</dcterms:created>
  <dcterms:modified xsi:type="dcterms:W3CDTF">2021-10-13T12:35:27Z</dcterms:modified>
  <dc:language>English</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nguage">
    <vt:lpwstr>English</vt:lpwstr>
  </property>
  <property fmtid="{D5CDD505-2E9C-101B-9397-08002B2CF9AE}" pid="3" name="Release date">
    <vt:lpwstr>February 2017</vt:lpwstr>
  </property>
  <property fmtid="{D5CDD505-2E9C-101B-9397-08002B2CF9AE}" pid="4" name="Office version">
    <vt:lpwstr>2007 and higher</vt:lpwstr>
  </property>
  <property fmtid="{D5CDD505-2E9C-101B-9397-08002B2CF9AE}" pid="5" name="Release version">
    <vt:lpwstr>1.1</vt:lpwstr>
  </property>
  <property fmtid="{D5CDD505-2E9C-101B-9397-08002B2CF9AE}" pid="6" name="_NewReviewCycle">
    <vt:lpwstr/>
  </property>
  <property fmtid="{D5CDD505-2E9C-101B-9397-08002B2CF9AE}" pid="7" name="Document Confidentiality">
    <vt:lpwstr>Restricted</vt:lpwstr>
  </property>
  <property fmtid="{D5CDD505-2E9C-101B-9397-08002B2CF9AE}" pid="8" name="sodocoClasLang">
    <vt:lpwstr>Intern</vt:lpwstr>
  </property>
  <property fmtid="{D5CDD505-2E9C-101B-9397-08002B2CF9AE}" pid="9" name="sodocoClasLangId">
    <vt:i4>0</vt:i4>
  </property>
  <property fmtid="{D5CDD505-2E9C-101B-9397-08002B2CF9AE}" pid="10" name="sodocoClasId">
    <vt:i4>1</vt:i4>
  </property>
  <property fmtid="{D5CDD505-2E9C-101B-9397-08002B2CF9AE}" pid="11" name="Document_Confidentiality">
    <vt:lpwstr>Restricted</vt:lpwstr>
  </property>
</Properties>
</file>